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334" r:id="rId2"/>
    <p:sldId id="335" r:id="rId3"/>
    <p:sldId id="339" r:id="rId4"/>
    <p:sldId id="336" r:id="rId5"/>
    <p:sldId id="337" r:id="rId6"/>
    <p:sldId id="33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07"/>
    <p:restoredTop sz="94570"/>
  </p:normalViewPr>
  <p:slideViewPr>
    <p:cSldViewPr snapToGrid="0" snapToObjects="1">
      <p:cViewPr varScale="1">
        <p:scale>
          <a:sx n="108" d="100"/>
          <a:sy n="108" d="100"/>
        </p:scale>
        <p:origin x="6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4/15/21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4/15/21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/B_testing" TargetMode="External"/><Relationship Id="rId2" Type="http://schemas.openxmlformats.org/officeDocument/2006/relationships/hyperlink" Target="https://towardsdatascience.com/the-art-of-a-b-testing-5a10c9bb70a4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tiff"/><Relationship Id="rId5" Type="http://schemas.openxmlformats.org/officeDocument/2006/relationships/image" Target="../media/image1.jpeg"/><Relationship Id="rId4" Type="http://schemas.openxmlformats.org/officeDocument/2006/relationships/hyperlink" Target="https://www.youtube.com/watch?v=JEAsoUrX6KQ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Z-test" TargetMode="External"/><Relationship Id="rId3" Type="http://schemas.openxmlformats.org/officeDocument/2006/relationships/hyperlink" Target="https://en.wikipedia.org/wiki/Kolmogorov%E2%80%93Smirnov_test" TargetMode="External"/><Relationship Id="rId7" Type="http://schemas.openxmlformats.org/officeDocument/2006/relationships/hyperlink" Target="https://en.wikipedia.org/wiki/Gibbs_sampling" TargetMode="External"/><Relationship Id="rId2" Type="http://schemas.openxmlformats.org/officeDocument/2006/relationships/hyperlink" Target="https://www.kdnuggets.com/tag/ab-test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n.wikipedia.org/wiki/Mann%E2%80%93Whitney_U_test" TargetMode="External"/><Relationship Id="rId5" Type="http://schemas.openxmlformats.org/officeDocument/2006/relationships/hyperlink" Target="https://en.wikipedia.org/wiki/Barnard%27s_test" TargetMode="External"/><Relationship Id="rId4" Type="http://schemas.openxmlformats.org/officeDocument/2006/relationships/hyperlink" Target="https://en.wikipedia.org/wiki/Welch%27s_t-test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76402"/>
            <a:ext cx="2221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A/B Split Test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EA9DD-F532-E844-9109-9810BD2F6D66}"/>
              </a:ext>
            </a:extLst>
          </p:cNvPr>
          <p:cNvSpPr txBox="1"/>
          <p:nvPr/>
        </p:nvSpPr>
        <p:spPr>
          <a:xfrm>
            <a:off x="0" y="722733"/>
            <a:ext cx="565573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Importance of A/B Split testing:</a:t>
            </a:r>
          </a:p>
          <a:p>
            <a:endParaRPr lang="en-US" sz="1400" dirty="0"/>
          </a:p>
          <a:p>
            <a:r>
              <a:rPr lang="en-US" sz="1400" dirty="0"/>
              <a:t>In 2012, a </a:t>
            </a:r>
            <a:r>
              <a:rPr lang="en-US" sz="1400" b="1" dirty="0">
                <a:solidFill>
                  <a:srgbClr val="FF0000"/>
                </a:solidFill>
              </a:rPr>
              <a:t>Microsoft</a:t>
            </a:r>
            <a:r>
              <a:rPr lang="en-US" sz="1400" dirty="0"/>
              <a:t> employee working on the search engine </a:t>
            </a:r>
            <a:r>
              <a:rPr lang="en-US" sz="1400" b="1" dirty="0">
                <a:solidFill>
                  <a:srgbClr val="FF0000"/>
                </a:solidFill>
              </a:rPr>
              <a:t>Bing</a:t>
            </a:r>
            <a:r>
              <a:rPr lang="en-US" sz="1400" dirty="0"/>
              <a:t> created an experiment to test different ways of displaying advertising headlines. </a:t>
            </a:r>
          </a:p>
          <a:p>
            <a:endParaRPr lang="en-US" sz="1400" dirty="0"/>
          </a:p>
          <a:p>
            <a:r>
              <a:rPr lang="en-US" sz="1400" dirty="0"/>
              <a:t>Within hours, the alternative format produced a revenue increase of 12% with no impact on user-experience metrics. </a:t>
            </a:r>
          </a:p>
          <a:p>
            <a:endParaRPr lang="en-US" sz="1400" dirty="0"/>
          </a:p>
          <a:p>
            <a:r>
              <a:rPr lang="en-US" sz="1400" dirty="0"/>
              <a:t>Today, companies like Microsoft and Google each conduct over 10,000 A/B tests annually.</a:t>
            </a:r>
          </a:p>
          <a:p>
            <a:endParaRPr lang="en-US" sz="1400" dirty="0"/>
          </a:p>
          <a:p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https://towardsdatascience.com/the-art-of-a-b-testing-5a10c9bb70a4</a:t>
            </a:r>
            <a:r>
              <a:rPr lang="en-US" sz="1400" dirty="0"/>
              <a:t> 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https://en.wikipedia.org/wiki/A/B_testing</a:t>
            </a:r>
            <a:r>
              <a:rPr lang="en-US" sz="1400" dirty="0"/>
              <a:t> </a:t>
            </a:r>
          </a:p>
          <a:p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5B8E9-39AB-D945-BE08-302996794FCE}"/>
              </a:ext>
            </a:extLst>
          </p:cNvPr>
          <p:cNvSpPr txBox="1"/>
          <p:nvPr/>
        </p:nvSpPr>
        <p:spPr>
          <a:xfrm>
            <a:off x="6796334" y="291624"/>
            <a:ext cx="5369256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Suppose we have two samples A and B, </a:t>
            </a:r>
          </a:p>
          <a:p>
            <a:r>
              <a:rPr lang="en-US" sz="1400" dirty="0"/>
              <a:t>each has "n" points, where n is relatively large (100+ points), </a:t>
            </a:r>
          </a:p>
          <a:p>
            <a:r>
              <a:rPr lang="en-US" sz="1400" dirty="0"/>
              <a:t>and distributions on both sides have "normal" shape </a:t>
            </a:r>
          </a:p>
          <a:p>
            <a:r>
              <a:rPr lang="en-US" sz="1400" dirty="0"/>
              <a:t>with same sample standard deviation "</a:t>
            </a:r>
            <a:r>
              <a:rPr lang="en-US" sz="1400" b="1" dirty="0">
                <a:solidFill>
                  <a:srgbClr val="FF0000"/>
                </a:solidFill>
              </a:rPr>
              <a:t>s</a:t>
            </a:r>
            <a:r>
              <a:rPr lang="en-US" sz="1400" dirty="0"/>
              <a:t>".</a:t>
            </a:r>
          </a:p>
          <a:p>
            <a:endParaRPr lang="en-US" sz="1400" dirty="0"/>
          </a:p>
          <a:p>
            <a:r>
              <a:rPr lang="en-US" sz="1400" dirty="0"/>
              <a:t>The mean values are </a:t>
            </a:r>
            <a:r>
              <a:rPr lang="en-US" sz="1400" b="1" dirty="0">
                <a:solidFill>
                  <a:srgbClr val="FF0000"/>
                </a:solidFill>
              </a:rPr>
              <a:t>m</a:t>
            </a:r>
            <a:r>
              <a:rPr lang="en-US" sz="1400" b="1" baseline="-25000" dirty="0">
                <a:solidFill>
                  <a:srgbClr val="FF0000"/>
                </a:solidFill>
              </a:rPr>
              <a:t>A</a:t>
            </a:r>
            <a:r>
              <a:rPr lang="en-US" sz="1400" dirty="0"/>
              <a:t> and </a:t>
            </a:r>
            <a:r>
              <a:rPr lang="en-US" sz="1400" b="1" dirty="0" err="1">
                <a:solidFill>
                  <a:srgbClr val="FF0000"/>
                </a:solidFill>
              </a:rPr>
              <a:t>m</a:t>
            </a:r>
            <a:r>
              <a:rPr lang="en-US" sz="1400" b="1" baseline="-25000" dirty="0" err="1">
                <a:solidFill>
                  <a:srgbClr val="FF0000"/>
                </a:solidFill>
              </a:rPr>
              <a:t>B</a:t>
            </a:r>
            <a:endParaRPr lang="en-US" sz="1400" b="1" baseline="-25000" dirty="0">
              <a:solidFill>
                <a:srgbClr val="FF0000"/>
              </a:solidFill>
            </a:endParaRPr>
          </a:p>
          <a:p>
            <a:endParaRPr lang="en-US" sz="1400" dirty="0"/>
          </a:p>
          <a:p>
            <a:r>
              <a:rPr lang="en-US" sz="1400" dirty="0"/>
              <a:t>The standard error of the mean</a:t>
            </a:r>
          </a:p>
          <a:p>
            <a:endParaRPr lang="en-US" sz="1400" dirty="0"/>
          </a:p>
          <a:p>
            <a:r>
              <a:rPr lang="en-US" sz="1400" dirty="0"/>
              <a:t>                </a:t>
            </a:r>
            <a:r>
              <a:rPr lang="en-US" sz="2000" b="1" dirty="0" err="1">
                <a:solidFill>
                  <a:srgbClr val="FF0000"/>
                </a:solidFill>
              </a:rPr>
              <a:t>sem</a:t>
            </a:r>
            <a:r>
              <a:rPr lang="en-US" sz="2000" b="1" dirty="0">
                <a:solidFill>
                  <a:srgbClr val="FF0000"/>
                </a:solidFill>
              </a:rPr>
              <a:t> = s/sqrt(n)</a:t>
            </a:r>
          </a:p>
          <a:p>
            <a:endParaRPr lang="en-US" sz="1400" dirty="0"/>
          </a:p>
          <a:p>
            <a:r>
              <a:rPr lang="en-US" b="1" dirty="0">
                <a:solidFill>
                  <a:srgbClr val="00B050"/>
                </a:solidFill>
              </a:rPr>
              <a:t>How big should be number of points </a:t>
            </a:r>
          </a:p>
          <a:p>
            <a:r>
              <a:rPr lang="en-US" b="1" dirty="0">
                <a:solidFill>
                  <a:srgbClr val="00B050"/>
                </a:solidFill>
              </a:rPr>
              <a:t>so that we can say that the means differ? </a:t>
            </a:r>
          </a:p>
          <a:p>
            <a:r>
              <a:rPr lang="en-US" sz="1400" b="1" dirty="0"/>
              <a:t>Here is a 3-minute explanation:</a:t>
            </a:r>
          </a:p>
          <a:p>
            <a:r>
              <a:rPr lang="en-US" sz="1400" b="1" dirty="0"/>
              <a:t> - </a:t>
            </a:r>
            <a:r>
              <a:rPr lang="en-US" sz="1400" b="1" dirty="0">
                <a:solidFill>
                  <a:srgbClr val="00B050"/>
                </a:solidFill>
                <a:hlinkClick r:id="rId4"/>
              </a:rPr>
              <a:t>https://www.youtube.com/watch?v=JEAsoUrX6KQ</a:t>
            </a:r>
            <a:r>
              <a:rPr lang="en-US" sz="1400" b="1" dirty="0">
                <a:solidFill>
                  <a:srgbClr val="00B050"/>
                </a:solidFill>
              </a:rPr>
              <a:t> </a:t>
            </a:r>
          </a:p>
          <a:p>
            <a:endParaRPr lang="en-US" sz="1400" dirty="0"/>
          </a:p>
          <a:p>
            <a:r>
              <a:rPr lang="en-US" sz="1400" dirty="0"/>
              <a:t>We can demand that we have </a:t>
            </a:r>
            <a:r>
              <a:rPr lang="en-US" sz="1400" b="1" dirty="0">
                <a:solidFill>
                  <a:srgbClr val="00B050"/>
                </a:solidFill>
              </a:rPr>
              <a:t>4 "</a:t>
            </a:r>
            <a:r>
              <a:rPr lang="en-US" sz="1400" b="1" dirty="0" err="1">
                <a:solidFill>
                  <a:srgbClr val="00B050"/>
                </a:solidFill>
              </a:rPr>
              <a:t>sigmas</a:t>
            </a:r>
            <a:r>
              <a:rPr lang="en-US" sz="1400" b="1" dirty="0">
                <a:solidFill>
                  <a:srgbClr val="00B050"/>
                </a:solidFill>
              </a:rPr>
              <a:t>"</a:t>
            </a:r>
            <a:r>
              <a:rPr lang="en-US" sz="1400" dirty="0"/>
              <a:t> between them</a:t>
            </a:r>
          </a:p>
          <a:p>
            <a:endParaRPr lang="en-US" sz="1400" dirty="0"/>
          </a:p>
          <a:p>
            <a:r>
              <a:rPr lang="en-US" sz="1400" dirty="0"/>
              <a:t>                </a:t>
            </a:r>
            <a:r>
              <a:rPr lang="el-GR" sz="2000" b="1" dirty="0">
                <a:solidFill>
                  <a:srgbClr val="FF0000"/>
                </a:solidFill>
              </a:rPr>
              <a:t>δ </a:t>
            </a:r>
            <a:r>
              <a:rPr lang="en-US" sz="2000" b="1" dirty="0">
                <a:solidFill>
                  <a:srgbClr val="FF0000"/>
                </a:solidFill>
              </a:rPr>
              <a:t>  </a:t>
            </a:r>
            <a:r>
              <a:rPr lang="el-GR" sz="2000" b="1" dirty="0">
                <a:solidFill>
                  <a:srgbClr val="FF0000"/>
                </a:solidFill>
              </a:rPr>
              <a:t>=</a:t>
            </a:r>
            <a:r>
              <a:rPr lang="en-US" sz="2000" b="1" dirty="0">
                <a:solidFill>
                  <a:srgbClr val="FF0000"/>
                </a:solidFill>
              </a:rPr>
              <a:t>  </a:t>
            </a:r>
            <a:r>
              <a:rPr lang="el-GR" sz="2000" b="1" dirty="0">
                <a:solidFill>
                  <a:srgbClr val="FF0000"/>
                </a:solidFill>
              </a:rPr>
              <a:t> |</a:t>
            </a:r>
            <a:r>
              <a:rPr lang="en-US" sz="2000" b="1" dirty="0">
                <a:solidFill>
                  <a:srgbClr val="FF0000"/>
                </a:solidFill>
              </a:rPr>
              <a:t>m</a:t>
            </a:r>
            <a:r>
              <a:rPr lang="en-US" sz="2000" b="1" baseline="-25000" dirty="0">
                <a:solidFill>
                  <a:srgbClr val="FF0000"/>
                </a:solidFill>
              </a:rPr>
              <a:t>A</a:t>
            </a:r>
            <a:r>
              <a:rPr lang="en-US" sz="2000" b="1" dirty="0">
                <a:solidFill>
                  <a:srgbClr val="FF0000"/>
                </a:solidFill>
              </a:rPr>
              <a:t> - </a:t>
            </a:r>
            <a:r>
              <a:rPr lang="en-US" sz="2000" b="1" dirty="0" err="1">
                <a:solidFill>
                  <a:srgbClr val="FF0000"/>
                </a:solidFill>
              </a:rPr>
              <a:t>m</a:t>
            </a:r>
            <a:r>
              <a:rPr lang="en-US" sz="2000" b="1" baseline="-25000" dirty="0" err="1">
                <a:solidFill>
                  <a:srgbClr val="FF0000"/>
                </a:solidFill>
              </a:rPr>
              <a:t>B</a:t>
            </a:r>
            <a:r>
              <a:rPr lang="en-US" sz="2000" b="1" dirty="0">
                <a:solidFill>
                  <a:srgbClr val="FF0000"/>
                </a:solidFill>
              </a:rPr>
              <a:t>|   &gt;=   4*</a:t>
            </a:r>
            <a:r>
              <a:rPr lang="en-US" sz="2000" b="1" dirty="0" err="1">
                <a:solidFill>
                  <a:srgbClr val="FF0000"/>
                </a:solidFill>
              </a:rPr>
              <a:t>sem</a:t>
            </a:r>
            <a:r>
              <a:rPr lang="en-US" sz="2000" b="1" dirty="0">
                <a:solidFill>
                  <a:srgbClr val="FF0000"/>
                </a:solidFill>
              </a:rPr>
              <a:t>   =   4s/sqrt(n)</a:t>
            </a:r>
          </a:p>
          <a:p>
            <a:endParaRPr lang="en-US" sz="1400" b="1" dirty="0">
              <a:solidFill>
                <a:srgbClr val="FF0000"/>
              </a:solidFill>
            </a:endParaRPr>
          </a:p>
          <a:p>
            <a:r>
              <a:rPr lang="en-US" sz="1400" dirty="0"/>
              <a:t>Or</a:t>
            </a:r>
          </a:p>
          <a:p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b="1" dirty="0">
                <a:solidFill>
                  <a:srgbClr val="FF0000"/>
                </a:solidFill>
              </a:rPr>
              <a:t>         </a:t>
            </a:r>
            <a:r>
              <a:rPr lang="en-US" sz="2000" b="1" dirty="0">
                <a:solidFill>
                  <a:srgbClr val="FF0000"/>
                </a:solidFill>
              </a:rPr>
              <a:t> n   &gt;=   16s</a:t>
            </a:r>
            <a:r>
              <a:rPr lang="en-US" sz="2000" b="1" baseline="30000" dirty="0">
                <a:solidFill>
                  <a:srgbClr val="FF0000"/>
                </a:solidFill>
              </a:rPr>
              <a:t>2</a:t>
            </a:r>
            <a:r>
              <a:rPr lang="en-US" sz="2000" b="1" dirty="0">
                <a:solidFill>
                  <a:srgbClr val="FF0000"/>
                </a:solidFill>
              </a:rPr>
              <a:t>/</a:t>
            </a:r>
            <a:r>
              <a:rPr lang="el-GR" sz="2000" b="1" dirty="0">
                <a:solidFill>
                  <a:srgbClr val="FF0000"/>
                </a:solidFill>
              </a:rPr>
              <a:t>δ</a:t>
            </a:r>
            <a:r>
              <a:rPr lang="el-GR" sz="2000" b="1" baseline="30000" dirty="0">
                <a:solidFill>
                  <a:srgbClr val="FF0000"/>
                </a:solidFill>
              </a:rPr>
              <a:t>2</a:t>
            </a:r>
            <a:endParaRPr lang="en-US" sz="2000" b="1" baseline="30000" dirty="0">
              <a:solidFill>
                <a:srgbClr val="FF000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693E1B1-6206-BF48-82D5-04C79E9CC4FA}"/>
              </a:ext>
            </a:extLst>
          </p:cNvPr>
          <p:cNvGrpSpPr/>
          <p:nvPr/>
        </p:nvGrpSpPr>
        <p:grpSpPr>
          <a:xfrm>
            <a:off x="2221044" y="4061220"/>
            <a:ext cx="2448817" cy="1458655"/>
            <a:chOff x="529389" y="4535701"/>
            <a:chExt cx="2448817" cy="1458655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58B545B-5321-DD40-90AA-F902759D511F}"/>
                </a:ext>
              </a:extLst>
            </p:cNvPr>
            <p:cNvSpPr/>
            <p:nvPr/>
          </p:nvSpPr>
          <p:spPr>
            <a:xfrm>
              <a:off x="529389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1D80834-2FB3-7142-949B-7DE699C83799}"/>
                </a:ext>
              </a:extLst>
            </p:cNvPr>
            <p:cNvSpPr/>
            <p:nvPr/>
          </p:nvSpPr>
          <p:spPr>
            <a:xfrm>
              <a:off x="1149406" y="4550566"/>
              <a:ext cx="1828800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72BA7204-8495-D045-9258-8F533DC86B62}"/>
                </a:ext>
              </a:extLst>
            </p:cNvPr>
            <p:cNvSpPr/>
            <p:nvPr/>
          </p:nvSpPr>
          <p:spPr>
            <a:xfrm>
              <a:off x="1328104" y="4550566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A418E3F3-A30D-8049-81AC-2959A0592DD8}"/>
                </a:ext>
              </a:extLst>
            </p:cNvPr>
            <p:cNvSpPr/>
            <p:nvPr/>
          </p:nvSpPr>
          <p:spPr>
            <a:xfrm>
              <a:off x="1937961" y="4535701"/>
              <a:ext cx="323238" cy="1443790"/>
            </a:xfrm>
            <a:custGeom>
              <a:avLst/>
              <a:gdLst>
                <a:gd name="connsiteX0" fmla="*/ 0 w 1828800"/>
                <a:gd name="connsiteY0" fmla="*/ 1443790 h 1443790"/>
                <a:gd name="connsiteX1" fmla="*/ 112295 w 1828800"/>
                <a:gd name="connsiteY1" fmla="*/ 1411706 h 1443790"/>
                <a:gd name="connsiteX2" fmla="*/ 160422 w 1828800"/>
                <a:gd name="connsiteY2" fmla="*/ 1395664 h 1443790"/>
                <a:gd name="connsiteX3" fmla="*/ 256674 w 1828800"/>
                <a:gd name="connsiteY3" fmla="*/ 1347537 h 1443790"/>
                <a:gd name="connsiteX4" fmla="*/ 320843 w 1828800"/>
                <a:gd name="connsiteY4" fmla="*/ 1251285 h 1443790"/>
                <a:gd name="connsiteX5" fmla="*/ 352927 w 1828800"/>
                <a:gd name="connsiteY5" fmla="*/ 1219200 h 1443790"/>
                <a:gd name="connsiteX6" fmla="*/ 417095 w 1828800"/>
                <a:gd name="connsiteY6" fmla="*/ 1122948 h 1443790"/>
                <a:gd name="connsiteX7" fmla="*/ 449179 w 1828800"/>
                <a:gd name="connsiteY7" fmla="*/ 1074821 h 1443790"/>
                <a:gd name="connsiteX8" fmla="*/ 497306 w 1828800"/>
                <a:gd name="connsiteY8" fmla="*/ 978569 h 1443790"/>
                <a:gd name="connsiteX9" fmla="*/ 561474 w 1828800"/>
                <a:gd name="connsiteY9" fmla="*/ 866274 h 1443790"/>
                <a:gd name="connsiteX10" fmla="*/ 609600 w 1828800"/>
                <a:gd name="connsiteY10" fmla="*/ 705853 h 1443790"/>
                <a:gd name="connsiteX11" fmla="*/ 625643 w 1828800"/>
                <a:gd name="connsiteY11" fmla="*/ 657727 h 1443790"/>
                <a:gd name="connsiteX12" fmla="*/ 657727 w 1828800"/>
                <a:gd name="connsiteY12" fmla="*/ 625642 h 1443790"/>
                <a:gd name="connsiteX13" fmla="*/ 689811 w 1828800"/>
                <a:gd name="connsiteY13" fmla="*/ 465221 h 1443790"/>
                <a:gd name="connsiteX14" fmla="*/ 721895 w 1828800"/>
                <a:gd name="connsiteY14" fmla="*/ 368969 h 1443790"/>
                <a:gd name="connsiteX15" fmla="*/ 737937 w 1828800"/>
                <a:gd name="connsiteY15" fmla="*/ 320842 h 1443790"/>
                <a:gd name="connsiteX16" fmla="*/ 770022 w 1828800"/>
                <a:gd name="connsiteY16" fmla="*/ 224590 h 1443790"/>
                <a:gd name="connsiteX17" fmla="*/ 834190 w 1828800"/>
                <a:gd name="connsiteY17" fmla="*/ 128337 h 1443790"/>
                <a:gd name="connsiteX18" fmla="*/ 850232 w 1828800"/>
                <a:gd name="connsiteY18" fmla="*/ 80211 h 1443790"/>
                <a:gd name="connsiteX19" fmla="*/ 914400 w 1828800"/>
                <a:gd name="connsiteY19" fmla="*/ 0 h 1443790"/>
                <a:gd name="connsiteX20" fmla="*/ 1026695 w 1828800"/>
                <a:gd name="connsiteY20" fmla="*/ 16042 h 1443790"/>
                <a:gd name="connsiteX21" fmla="*/ 1058779 w 1828800"/>
                <a:gd name="connsiteY21" fmla="*/ 112295 h 1443790"/>
                <a:gd name="connsiteX22" fmla="*/ 1106906 w 1828800"/>
                <a:gd name="connsiteY22" fmla="*/ 256674 h 1443790"/>
                <a:gd name="connsiteX23" fmla="*/ 1122948 w 1828800"/>
                <a:gd name="connsiteY23" fmla="*/ 304800 h 1443790"/>
                <a:gd name="connsiteX24" fmla="*/ 1155032 w 1828800"/>
                <a:gd name="connsiteY24" fmla="*/ 336885 h 1443790"/>
                <a:gd name="connsiteX25" fmla="*/ 1203158 w 1828800"/>
                <a:gd name="connsiteY25" fmla="*/ 481264 h 1443790"/>
                <a:gd name="connsiteX26" fmla="*/ 1219200 w 1828800"/>
                <a:gd name="connsiteY26" fmla="*/ 529390 h 1443790"/>
                <a:gd name="connsiteX27" fmla="*/ 1251285 w 1828800"/>
                <a:gd name="connsiteY27" fmla="*/ 657727 h 1443790"/>
                <a:gd name="connsiteX28" fmla="*/ 1267327 w 1828800"/>
                <a:gd name="connsiteY28" fmla="*/ 705853 h 1443790"/>
                <a:gd name="connsiteX29" fmla="*/ 1283369 w 1828800"/>
                <a:gd name="connsiteY29" fmla="*/ 770021 h 1443790"/>
                <a:gd name="connsiteX30" fmla="*/ 1299411 w 1828800"/>
                <a:gd name="connsiteY30" fmla="*/ 818148 h 1443790"/>
                <a:gd name="connsiteX31" fmla="*/ 1347537 w 1828800"/>
                <a:gd name="connsiteY31" fmla="*/ 978569 h 1443790"/>
                <a:gd name="connsiteX32" fmla="*/ 1379622 w 1828800"/>
                <a:gd name="connsiteY32" fmla="*/ 1010653 h 1443790"/>
                <a:gd name="connsiteX33" fmla="*/ 1411706 w 1828800"/>
                <a:gd name="connsiteY33" fmla="*/ 1106906 h 1443790"/>
                <a:gd name="connsiteX34" fmla="*/ 1443790 w 1828800"/>
                <a:gd name="connsiteY34" fmla="*/ 1155032 h 1443790"/>
                <a:gd name="connsiteX35" fmla="*/ 1459832 w 1828800"/>
                <a:gd name="connsiteY35" fmla="*/ 1203158 h 1443790"/>
                <a:gd name="connsiteX36" fmla="*/ 1540043 w 1828800"/>
                <a:gd name="connsiteY36" fmla="*/ 1283369 h 1443790"/>
                <a:gd name="connsiteX37" fmla="*/ 1620253 w 1828800"/>
                <a:gd name="connsiteY37" fmla="*/ 1363579 h 1443790"/>
                <a:gd name="connsiteX38" fmla="*/ 1764632 w 1828800"/>
                <a:gd name="connsiteY38" fmla="*/ 1411706 h 1443790"/>
                <a:gd name="connsiteX39" fmla="*/ 1828800 w 1828800"/>
                <a:gd name="connsiteY39" fmla="*/ 1443790 h 14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828800" h="1443790">
                  <a:moveTo>
                    <a:pt x="0" y="1443790"/>
                  </a:moveTo>
                  <a:lnTo>
                    <a:pt x="112295" y="1411706"/>
                  </a:lnTo>
                  <a:cubicBezTo>
                    <a:pt x="128492" y="1406847"/>
                    <a:pt x="145297" y="1403226"/>
                    <a:pt x="160422" y="1395664"/>
                  </a:cubicBezTo>
                  <a:cubicBezTo>
                    <a:pt x="284817" y="1333466"/>
                    <a:pt x="135705" y="1387860"/>
                    <a:pt x="256674" y="1347537"/>
                  </a:cubicBezTo>
                  <a:cubicBezTo>
                    <a:pt x="278064" y="1315453"/>
                    <a:pt x="293577" y="1278552"/>
                    <a:pt x="320843" y="1251285"/>
                  </a:cubicBezTo>
                  <a:cubicBezTo>
                    <a:pt x="331538" y="1240590"/>
                    <a:pt x="343852" y="1231300"/>
                    <a:pt x="352927" y="1219200"/>
                  </a:cubicBezTo>
                  <a:cubicBezTo>
                    <a:pt x="376063" y="1188352"/>
                    <a:pt x="395706" y="1155032"/>
                    <a:pt x="417095" y="1122948"/>
                  </a:cubicBezTo>
                  <a:cubicBezTo>
                    <a:pt x="427790" y="1106906"/>
                    <a:pt x="443082" y="1093112"/>
                    <a:pt x="449179" y="1074821"/>
                  </a:cubicBezTo>
                  <a:cubicBezTo>
                    <a:pt x="478594" y="986581"/>
                    <a:pt x="447547" y="1065647"/>
                    <a:pt x="497306" y="978569"/>
                  </a:cubicBezTo>
                  <a:cubicBezTo>
                    <a:pt x="578718" y="836096"/>
                    <a:pt x="483307" y="983525"/>
                    <a:pt x="561474" y="866274"/>
                  </a:cubicBezTo>
                  <a:cubicBezTo>
                    <a:pt x="585717" y="769303"/>
                    <a:pt x="570547" y="823011"/>
                    <a:pt x="609600" y="705853"/>
                  </a:cubicBezTo>
                  <a:cubicBezTo>
                    <a:pt x="614947" y="689811"/>
                    <a:pt x="613686" y="669684"/>
                    <a:pt x="625643" y="657727"/>
                  </a:cubicBezTo>
                  <a:lnTo>
                    <a:pt x="657727" y="625642"/>
                  </a:lnTo>
                  <a:cubicBezTo>
                    <a:pt x="668567" y="560602"/>
                    <a:pt x="671863" y="525047"/>
                    <a:pt x="689811" y="465221"/>
                  </a:cubicBezTo>
                  <a:cubicBezTo>
                    <a:pt x="699529" y="432828"/>
                    <a:pt x="711200" y="401053"/>
                    <a:pt x="721895" y="368969"/>
                  </a:cubicBezTo>
                  <a:lnTo>
                    <a:pt x="737937" y="320842"/>
                  </a:lnTo>
                  <a:cubicBezTo>
                    <a:pt x="737939" y="320837"/>
                    <a:pt x="770019" y="224594"/>
                    <a:pt x="770022" y="224590"/>
                  </a:cubicBezTo>
                  <a:cubicBezTo>
                    <a:pt x="791411" y="192506"/>
                    <a:pt x="821996" y="164919"/>
                    <a:pt x="834190" y="128337"/>
                  </a:cubicBezTo>
                  <a:cubicBezTo>
                    <a:pt x="839537" y="112295"/>
                    <a:pt x="842670" y="95336"/>
                    <a:pt x="850232" y="80211"/>
                  </a:cubicBezTo>
                  <a:cubicBezTo>
                    <a:pt x="870468" y="39739"/>
                    <a:pt x="884559" y="29842"/>
                    <a:pt x="914400" y="0"/>
                  </a:cubicBezTo>
                  <a:cubicBezTo>
                    <a:pt x="951832" y="5347"/>
                    <a:pt x="996848" y="-7172"/>
                    <a:pt x="1026695" y="16042"/>
                  </a:cubicBezTo>
                  <a:cubicBezTo>
                    <a:pt x="1053391" y="36805"/>
                    <a:pt x="1048084" y="80211"/>
                    <a:pt x="1058779" y="112295"/>
                  </a:cubicBezTo>
                  <a:lnTo>
                    <a:pt x="1106906" y="256674"/>
                  </a:lnTo>
                  <a:cubicBezTo>
                    <a:pt x="1112253" y="272716"/>
                    <a:pt x="1110991" y="292843"/>
                    <a:pt x="1122948" y="304800"/>
                  </a:cubicBezTo>
                  <a:lnTo>
                    <a:pt x="1155032" y="336885"/>
                  </a:lnTo>
                  <a:lnTo>
                    <a:pt x="1203158" y="481264"/>
                  </a:lnTo>
                  <a:cubicBezTo>
                    <a:pt x="1208505" y="497306"/>
                    <a:pt x="1215099" y="512985"/>
                    <a:pt x="1219200" y="529390"/>
                  </a:cubicBezTo>
                  <a:cubicBezTo>
                    <a:pt x="1229895" y="572169"/>
                    <a:pt x="1237341" y="615894"/>
                    <a:pt x="1251285" y="657727"/>
                  </a:cubicBezTo>
                  <a:cubicBezTo>
                    <a:pt x="1256632" y="673769"/>
                    <a:pt x="1262682" y="689594"/>
                    <a:pt x="1267327" y="705853"/>
                  </a:cubicBezTo>
                  <a:cubicBezTo>
                    <a:pt x="1273384" y="727052"/>
                    <a:pt x="1277312" y="748822"/>
                    <a:pt x="1283369" y="770021"/>
                  </a:cubicBezTo>
                  <a:cubicBezTo>
                    <a:pt x="1288015" y="786280"/>
                    <a:pt x="1294765" y="801889"/>
                    <a:pt x="1299411" y="818148"/>
                  </a:cubicBezTo>
                  <a:cubicBezTo>
                    <a:pt x="1308135" y="848682"/>
                    <a:pt x="1332289" y="963321"/>
                    <a:pt x="1347537" y="978569"/>
                  </a:cubicBezTo>
                  <a:lnTo>
                    <a:pt x="1379622" y="1010653"/>
                  </a:lnTo>
                  <a:cubicBezTo>
                    <a:pt x="1390317" y="1042737"/>
                    <a:pt x="1392946" y="1078766"/>
                    <a:pt x="1411706" y="1106906"/>
                  </a:cubicBezTo>
                  <a:cubicBezTo>
                    <a:pt x="1422401" y="1122948"/>
                    <a:pt x="1435168" y="1137787"/>
                    <a:pt x="1443790" y="1155032"/>
                  </a:cubicBezTo>
                  <a:cubicBezTo>
                    <a:pt x="1451352" y="1170157"/>
                    <a:pt x="1449686" y="1189630"/>
                    <a:pt x="1459832" y="1203158"/>
                  </a:cubicBezTo>
                  <a:cubicBezTo>
                    <a:pt x="1482519" y="1233407"/>
                    <a:pt x="1519069" y="1251908"/>
                    <a:pt x="1540043" y="1283369"/>
                  </a:cubicBezTo>
                  <a:cubicBezTo>
                    <a:pt x="1569313" y="1327274"/>
                    <a:pt x="1569594" y="1341064"/>
                    <a:pt x="1620253" y="1363579"/>
                  </a:cubicBezTo>
                  <a:cubicBezTo>
                    <a:pt x="1620260" y="1363582"/>
                    <a:pt x="1740565" y="1403684"/>
                    <a:pt x="1764632" y="1411706"/>
                  </a:cubicBezTo>
                  <a:cubicBezTo>
                    <a:pt x="1819932" y="1430139"/>
                    <a:pt x="1800801" y="1415791"/>
                    <a:pt x="1828800" y="1443790"/>
                  </a:cubicBezTo>
                </a:path>
              </a:pathLst>
            </a:custGeom>
            <a:noFill/>
            <a:ln w="508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0547DEF-8605-3046-917E-52225B3D0EF5}"/>
              </a:ext>
            </a:extLst>
          </p:cNvPr>
          <p:cNvSpPr txBox="1"/>
          <p:nvPr/>
        </p:nvSpPr>
        <p:spPr>
          <a:xfrm>
            <a:off x="1247582" y="5258106"/>
            <a:ext cx="949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Standard </a:t>
            </a:r>
          </a:p>
          <a:p>
            <a:pPr algn="ctr"/>
            <a:r>
              <a:rPr lang="en-US" sz="1400" dirty="0"/>
              <a:t>Deviation</a:t>
            </a:r>
          </a:p>
          <a:p>
            <a:pPr algn="ctr"/>
            <a:r>
              <a:rPr lang="en-US" sz="1400" dirty="0"/>
              <a:t>(blue)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13E6B1-7F5C-9849-AF72-0A4118C2F778}"/>
              </a:ext>
            </a:extLst>
          </p:cNvPr>
          <p:cNvSpPr txBox="1"/>
          <p:nvPr/>
        </p:nvSpPr>
        <p:spPr>
          <a:xfrm>
            <a:off x="2970708" y="6119336"/>
            <a:ext cx="12761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Standard Error of the Mean</a:t>
            </a:r>
          </a:p>
          <a:p>
            <a:pPr algn="ctr"/>
            <a:r>
              <a:rPr lang="en-US" sz="1400" dirty="0"/>
              <a:t>(orange)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C6BD108-DAEA-BF47-B01A-E4EC375F3965}"/>
              </a:ext>
            </a:extLst>
          </p:cNvPr>
          <p:cNvSpPr/>
          <p:nvPr/>
        </p:nvSpPr>
        <p:spPr>
          <a:xfrm rot="9442603">
            <a:off x="3302891" y="5636610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own Arrow 18">
            <a:extLst>
              <a:ext uri="{FF2B5EF4-FFF2-40B4-BE49-F238E27FC236}">
                <a16:creationId xmlns:a16="http://schemas.microsoft.com/office/drawing/2014/main" id="{FC7DB8A0-2D06-1247-847E-3891FF9F78F2}"/>
              </a:ext>
            </a:extLst>
          </p:cNvPr>
          <p:cNvSpPr/>
          <p:nvPr/>
        </p:nvSpPr>
        <p:spPr>
          <a:xfrm rot="11812451">
            <a:off x="3549927" y="5627940"/>
            <a:ext cx="141171" cy="467360"/>
          </a:xfrm>
          <a:prstGeom prst="downArrow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8C06C2-82BB-AA4C-83EB-97D3BE4F4252}"/>
              </a:ext>
            </a:extLst>
          </p:cNvPr>
          <p:cNvSpPr txBox="1"/>
          <p:nvPr/>
        </p:nvSpPr>
        <p:spPr>
          <a:xfrm>
            <a:off x="2753494" y="3506813"/>
            <a:ext cx="14621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 A   B</a:t>
            </a:r>
          </a:p>
        </p:txBody>
      </p:sp>
      <p:pic>
        <p:nvPicPr>
          <p:cNvPr id="1027" name="Picture 3" descr="Formula">
            <a:extLst>
              <a:ext uri="{FF2B5EF4-FFF2-40B4-BE49-F238E27FC236}">
                <a16:creationId xmlns:a16="http://schemas.microsoft.com/office/drawing/2014/main" id="{D09CFC74-D803-1043-AE3D-38F0A5D75C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630389" y="5565609"/>
            <a:ext cx="1450536" cy="1183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330FEFD-2DC4-CE46-B5F4-22F4B0BCD30E}"/>
              </a:ext>
            </a:extLst>
          </p:cNvPr>
          <p:cNvSpPr txBox="1"/>
          <p:nvPr/>
        </p:nvSpPr>
        <p:spPr>
          <a:xfrm>
            <a:off x="9902255" y="5926480"/>
            <a:ext cx="7281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n &gt;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5ACC3B-32DB-2F4E-9438-BAE4840C957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6016" y="3560454"/>
            <a:ext cx="1809750" cy="1200150"/>
          </a:xfrm>
          <a:prstGeom prst="rect">
            <a:avLst/>
          </a:prstGeom>
        </p:spPr>
      </p:pic>
      <p:sp>
        <p:nvSpPr>
          <p:cNvPr id="24" name="Left Brace 23">
            <a:extLst>
              <a:ext uri="{FF2B5EF4-FFF2-40B4-BE49-F238E27FC236}">
                <a16:creationId xmlns:a16="http://schemas.microsoft.com/office/drawing/2014/main" id="{73B7F054-9992-3646-8121-AAD83B09326C}"/>
              </a:ext>
            </a:extLst>
          </p:cNvPr>
          <p:cNvSpPr/>
          <p:nvPr/>
        </p:nvSpPr>
        <p:spPr>
          <a:xfrm rot="16200000">
            <a:off x="5785535" y="4515214"/>
            <a:ext cx="174462" cy="75841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E89DD9-5126-6341-ADA0-EB750DB7E2D9}"/>
              </a:ext>
            </a:extLst>
          </p:cNvPr>
          <p:cNvSpPr txBox="1"/>
          <p:nvPr/>
        </p:nvSpPr>
        <p:spPr>
          <a:xfrm>
            <a:off x="5580642" y="4920347"/>
            <a:ext cx="58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l-GR" b="1" dirty="0">
                <a:solidFill>
                  <a:srgbClr val="FF0000"/>
                </a:solidFill>
              </a:rPr>
              <a:t>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2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DB40528-5D60-204B-B343-7C8B467B55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938879"/>
              </p:ext>
            </p:extLst>
          </p:nvPr>
        </p:nvGraphicFramePr>
        <p:xfrm>
          <a:off x="1294410" y="1218042"/>
          <a:ext cx="9303000" cy="2436198"/>
        </p:xfrm>
        <a:graphic>
          <a:graphicData uri="http://schemas.openxmlformats.org/drawingml/2006/table">
            <a:tbl>
              <a:tblPr/>
              <a:tblGrid>
                <a:gridCol w="2325750">
                  <a:extLst>
                    <a:ext uri="{9D8B030D-6E8A-4147-A177-3AD203B41FA5}">
                      <a16:colId xmlns:a16="http://schemas.microsoft.com/office/drawing/2014/main" val="511701535"/>
                    </a:ext>
                  </a:extLst>
                </a:gridCol>
                <a:gridCol w="2637313">
                  <a:extLst>
                    <a:ext uri="{9D8B030D-6E8A-4147-A177-3AD203B41FA5}">
                      <a16:colId xmlns:a16="http://schemas.microsoft.com/office/drawing/2014/main" val="673333880"/>
                    </a:ext>
                  </a:extLst>
                </a:gridCol>
                <a:gridCol w="2801166">
                  <a:extLst>
                    <a:ext uri="{9D8B030D-6E8A-4147-A177-3AD203B41FA5}">
                      <a16:colId xmlns:a16="http://schemas.microsoft.com/office/drawing/2014/main" val="3311816561"/>
                    </a:ext>
                  </a:extLst>
                </a:gridCol>
                <a:gridCol w="1538771">
                  <a:extLst>
                    <a:ext uri="{9D8B030D-6E8A-4147-A177-3AD203B41FA5}">
                      <a16:colId xmlns:a16="http://schemas.microsoft.com/office/drawing/2014/main" val="2056402211"/>
                    </a:ext>
                  </a:extLst>
                </a:gridCol>
              </a:tblGrid>
              <a:tr h="246411"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b="1">
                          <a:effectLst/>
                        </a:rPr>
                        <a:t>Assumed Distribution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b="1">
                          <a:effectLst/>
                        </a:rPr>
                        <a:t>Example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b="1">
                          <a:effectLst/>
                        </a:rPr>
                        <a:t>Standard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b="1">
                          <a:effectLst/>
                        </a:rPr>
                        <a:t>Alternative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5281"/>
                  </a:ext>
                </a:extLst>
              </a:tr>
              <a:tr h="425619"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Gaussian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Average revenue per user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Welch's t-test (Unpaired t-test)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Student's t-test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6921847"/>
                  </a:ext>
                </a:extLst>
              </a:tr>
              <a:tr h="246411"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Binomial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Click-through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Fisher's exact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Barnard's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650949"/>
                  </a:ext>
                </a:extLst>
              </a:tr>
              <a:tr h="425619"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Poisson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Transactions per paying user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E-test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C-test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78518"/>
                  </a:ext>
                </a:extLst>
              </a:tr>
              <a:tr h="425619"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Multinomial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Number of each product purchased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Chi-squared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sz="1600"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2306248"/>
                  </a:ext>
                </a:extLst>
              </a:tr>
              <a:tr h="246411"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Unknown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sz="1600"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>
                          <a:effectLst/>
                        </a:rPr>
                        <a:t>Mann–Whitney U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600" dirty="0">
                          <a:effectLst/>
                        </a:rPr>
                        <a:t>Gibbs sampling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39958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90BE65-37E1-E345-AB83-E3F456BE5694}"/>
              </a:ext>
            </a:extLst>
          </p:cNvPr>
          <p:cNvSpPr txBox="1"/>
          <p:nvPr/>
        </p:nvSpPr>
        <p:spPr>
          <a:xfrm>
            <a:off x="-1" y="76402"/>
            <a:ext cx="4726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Non-Gaussian Distributions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43F425-25C9-0341-B33B-E448627E4753}"/>
              </a:ext>
            </a:extLst>
          </p:cNvPr>
          <p:cNvSpPr txBox="1"/>
          <p:nvPr/>
        </p:nvSpPr>
        <p:spPr>
          <a:xfrm>
            <a:off x="0" y="599622"/>
            <a:ext cx="47263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What methods of testing should we use </a:t>
            </a:r>
          </a:p>
          <a:p>
            <a:r>
              <a:rPr lang="en-US" sz="1600" dirty="0"/>
              <a:t>if distributions of data for A and B are not Gaussian?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D514B8-788D-4A47-B18D-E513192EAA1B}"/>
              </a:ext>
            </a:extLst>
          </p:cNvPr>
          <p:cNvSpPr txBox="1"/>
          <p:nvPr/>
        </p:nvSpPr>
        <p:spPr>
          <a:xfrm>
            <a:off x="1294410" y="3807802"/>
            <a:ext cx="960713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links :</a:t>
            </a:r>
          </a:p>
          <a:p>
            <a:endParaRPr lang="en-US" sz="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2"/>
              </a:rPr>
              <a:t>https://www.kdnuggets.com/tag/ab-testing</a:t>
            </a:r>
            <a:r>
              <a:rPr lang="en-US" sz="1400" dirty="0"/>
              <a:t> - </a:t>
            </a:r>
            <a:endParaRPr lang="en-US" sz="1400" dirty="0">
              <a:hlinkClick r:id="rId3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4"/>
              </a:rPr>
              <a:t>https://en.wikipedia.org/wiki/Welch%27s_t-test</a:t>
            </a:r>
            <a:r>
              <a:rPr lang="en-US" sz="1400" dirty="0"/>
              <a:t> 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5"/>
              </a:rPr>
              <a:t>https://en.wikipedia.org/wiki/Barnard%27s_test</a:t>
            </a:r>
            <a:r>
              <a:rPr lang="en-US" sz="1400" dirty="0"/>
              <a:t> 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https://en.wikipedia.org/wiki/Mann%E2%80%93Whitney_U_test</a:t>
            </a:r>
            <a:r>
              <a:rPr lang="en-US" sz="1400" dirty="0"/>
              <a:t> 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7"/>
              </a:rPr>
              <a:t>https://en.wikipedia.org/wiki/Gibbs_sampling</a:t>
            </a:r>
            <a:r>
              <a:rPr lang="en-US" sz="1400" dirty="0"/>
              <a:t> 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8"/>
              </a:rPr>
              <a:t>https://en.wikipedia.org/wiki/Z-test</a:t>
            </a:r>
            <a:r>
              <a:rPr lang="en-US" sz="1400" dirty="0"/>
              <a:t> 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3"/>
              </a:rPr>
              <a:t>https://en.wikipedia.org/wiki/Kolmogorov%E2%80%93Smirnov_test</a:t>
            </a:r>
            <a:r>
              <a:rPr lang="en-US" sz="1400" dirty="0"/>
              <a:t> - test of the equality of 1-dim probability distributions</a:t>
            </a:r>
          </a:p>
        </p:txBody>
      </p:sp>
    </p:spTree>
    <p:extLst>
      <p:ext uri="{BB962C8B-B14F-4D97-AF65-F5344CB8AC3E}">
        <p14:creationId xmlns:p14="http://schemas.microsoft.com/office/powerpoint/2010/main" val="562934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90BE65-37E1-E345-AB83-E3F456BE5694}"/>
              </a:ext>
            </a:extLst>
          </p:cNvPr>
          <p:cNvSpPr txBox="1"/>
          <p:nvPr/>
        </p:nvSpPr>
        <p:spPr>
          <a:xfrm>
            <a:off x="29980" y="31432"/>
            <a:ext cx="1019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Bias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D514B8-788D-4A47-B18D-E513192EAA1B}"/>
              </a:ext>
            </a:extLst>
          </p:cNvPr>
          <p:cNvSpPr txBox="1"/>
          <p:nvPr/>
        </p:nvSpPr>
        <p:spPr>
          <a:xfrm>
            <a:off x="1156190" y="800424"/>
            <a:ext cx="810442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need to make sure you are comparing "apples to apples".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Buckets should be same size, same composition.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include people who could've been affected.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A/B split test may give different or opposite results for different segments.</a:t>
            </a:r>
          </a:p>
        </p:txBody>
      </p:sp>
      <p:pic>
        <p:nvPicPr>
          <p:cNvPr id="1026" name="Picture 2" descr="Bias AB testing">
            <a:extLst>
              <a:ext uri="{FF2B5EF4-FFF2-40B4-BE49-F238E27FC236}">
                <a16:creationId xmlns:a16="http://schemas.microsoft.com/office/drawing/2014/main" id="{2D950953-48A6-B744-88C6-768ACA4DA7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727325" y="3819107"/>
            <a:ext cx="6737350" cy="2617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12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5B8E9-39AB-D945-BE08-302996794FCE}"/>
              </a:ext>
            </a:extLst>
          </p:cNvPr>
          <p:cNvSpPr txBox="1"/>
          <p:nvPr/>
        </p:nvSpPr>
        <p:spPr>
          <a:xfrm>
            <a:off x="74950" y="743510"/>
            <a:ext cx="62579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randomly select users for A &amp; B groups.</a:t>
            </a:r>
          </a:p>
          <a:p>
            <a:r>
              <a:rPr lang="en-US" sz="1400" dirty="0"/>
              <a:t>We expect each user is independent and no interference between A &amp; B.</a:t>
            </a:r>
          </a:p>
          <a:p>
            <a:r>
              <a:rPr lang="en-US" sz="1400" dirty="0"/>
              <a:t>But in some situations there may be interference.</a:t>
            </a:r>
          </a:p>
          <a:p>
            <a:r>
              <a:rPr lang="en-US" sz="1400" dirty="0"/>
              <a:t>For example, for social media like Facebook, </a:t>
            </a:r>
            <a:r>
              <a:rPr lang="en-US" sz="1400" dirty="0" err="1"/>
              <a:t>Linkedin</a:t>
            </a:r>
            <a:r>
              <a:rPr lang="en-US" sz="1400" dirty="0"/>
              <a:t>, and Twitter,</a:t>
            </a:r>
          </a:p>
          <a:p>
            <a:r>
              <a:rPr lang="en-US" sz="1400" dirty="0"/>
              <a:t>or two-sided markets like Uber, Lyft, and Airbnb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One-sided markets</a:t>
            </a:r>
          </a:p>
          <a:p>
            <a:r>
              <a:rPr lang="en-US" sz="1400" dirty="0"/>
              <a:t>For example, if you testing a new feature on Facebook, and get 1% difference between A &amp; B,</a:t>
            </a:r>
          </a:p>
          <a:p>
            <a:r>
              <a:rPr lang="en-US" sz="1400" dirty="0"/>
              <a:t>what do you expect to happen after the new feature is launched to all users? </a:t>
            </a:r>
          </a:p>
          <a:p>
            <a:r>
              <a:rPr lang="en-US" sz="1400" dirty="0"/>
              <a:t>You can actually expect a value larger than 1%, because users’ behavior may be</a:t>
            </a:r>
          </a:p>
          <a:p>
            <a:r>
              <a:rPr lang="en-US" sz="1400" dirty="0"/>
              <a:t>impacted by that of people in their social circles. That is called a network effect. </a:t>
            </a:r>
          </a:p>
          <a:p>
            <a:r>
              <a:rPr lang="en-US" sz="1400" dirty="0"/>
              <a:t>It is "cooperation" effect.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For two-sided markets</a:t>
            </a:r>
          </a:p>
          <a:p>
            <a:r>
              <a:rPr lang="en-US" sz="1400" dirty="0"/>
              <a:t>(Uber, Lyft, </a:t>
            </a:r>
            <a:r>
              <a:rPr lang="en-US" sz="1400" dirty="0" err="1"/>
              <a:t>ebay</a:t>
            </a:r>
            <a:r>
              <a:rPr lang="en-US" sz="1400" dirty="0"/>
              <a:t>, and Airbnb) the effect may be opposite ("competition" effect).</a:t>
            </a:r>
          </a:p>
          <a:p>
            <a:r>
              <a:rPr lang="en-US" sz="1400" dirty="0"/>
              <a:t>This is because resources are shared among control and treatment groups, </a:t>
            </a:r>
          </a:p>
          <a:p>
            <a:r>
              <a:rPr lang="en-US" sz="1400" dirty="0"/>
              <a:t>meaning that control and treatment groups will compete for the same resources.</a:t>
            </a:r>
          </a:p>
          <a:p>
            <a:endParaRPr lang="en-US" sz="1400" dirty="0"/>
          </a:p>
          <a:p>
            <a:r>
              <a:rPr lang="en-US" sz="1400" dirty="0"/>
              <a:t>Unlike social networks where the treatment effect underestimates the real benefit of a new product, in two-sided markets, the treatment effect overestimates the actual effect.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4F5605-7E99-674E-BDB8-617462202A59}"/>
              </a:ext>
            </a:extLst>
          </p:cNvPr>
          <p:cNvSpPr txBox="1"/>
          <p:nvPr/>
        </p:nvSpPr>
        <p:spPr>
          <a:xfrm>
            <a:off x="0" y="0"/>
            <a:ext cx="4404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Interference between A &amp; 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ADE1E5-660F-B646-9B16-50348AFCB746}"/>
              </a:ext>
            </a:extLst>
          </p:cNvPr>
          <p:cNvSpPr txBox="1"/>
          <p:nvPr/>
        </p:nvSpPr>
        <p:spPr>
          <a:xfrm>
            <a:off x="7052405" y="1005056"/>
            <a:ext cx="44042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to avoid interference? </a:t>
            </a:r>
          </a:p>
          <a:p>
            <a:r>
              <a:rPr lang="en-US" sz="2400" dirty="0"/>
              <a:t>How to avoid spillover?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9364DC-BBFC-A44C-A7F3-F9A0F21D1E95}"/>
              </a:ext>
            </a:extLst>
          </p:cNvPr>
          <p:cNvSpPr txBox="1"/>
          <p:nvPr/>
        </p:nvSpPr>
        <p:spPr>
          <a:xfrm>
            <a:off x="6925457" y="2243073"/>
            <a:ext cx="514662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Identify </a:t>
            </a:r>
            <a:r>
              <a:rPr lang="en-US" sz="1400" b="1" dirty="0">
                <a:solidFill>
                  <a:srgbClr val="FF0000"/>
                </a:solidFill>
              </a:rPr>
              <a:t>groups (clusters)</a:t>
            </a:r>
            <a:r>
              <a:rPr lang="en-US" sz="1400" dirty="0"/>
              <a:t> of users who are more likely to interact only withing the group. Split into A &amp; B groups.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Ego-cluster randomization </a:t>
            </a:r>
            <a:r>
              <a:rPr lang="en-US" sz="1400" dirty="0"/>
              <a:t>(</a:t>
            </a:r>
            <a:r>
              <a:rPr lang="en-US" sz="1400" dirty="0" err="1"/>
              <a:t>Linkedin</a:t>
            </a:r>
            <a:r>
              <a:rPr lang="en-US" sz="1400" dirty="0"/>
              <a:t>). Measuring the one-out network effect, meaning the effect of a user’s immediate connection’s treatment on that user, then each user either has the feature or does not.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DA02E6-5C7C-F347-B61D-9911EA3FE9CD}"/>
              </a:ext>
            </a:extLst>
          </p:cNvPr>
          <p:cNvSpPr txBox="1"/>
          <p:nvPr/>
        </p:nvSpPr>
        <p:spPr>
          <a:xfrm>
            <a:off x="6925457" y="4037062"/>
            <a:ext cx="51466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Geo-based randomization</a:t>
            </a:r>
            <a:r>
              <a:rPr lang="en-US" sz="1400" dirty="0"/>
              <a:t>. For example A – in New York, B – in San Francisco Bay Area. This pitfall of this approach - each market is unique in certain ways through things such as the customer’s behavior, competitors,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Time-based randomization</a:t>
            </a:r>
            <a:r>
              <a:rPr lang="en-US" sz="1400" dirty="0"/>
              <a:t>. We select a random time, for example, a day of a week, and assign all users to either A or B. It works when the treatment effect only lasts for a short amount of time. </a:t>
            </a:r>
          </a:p>
        </p:txBody>
      </p:sp>
    </p:spTree>
    <p:extLst>
      <p:ext uri="{BB962C8B-B14F-4D97-AF65-F5344CB8AC3E}">
        <p14:creationId xmlns:p14="http://schemas.microsoft.com/office/powerpoint/2010/main" val="229699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5B8E9-39AB-D945-BE08-302996794FCE}"/>
              </a:ext>
            </a:extLst>
          </p:cNvPr>
          <p:cNvSpPr txBox="1"/>
          <p:nvPr/>
        </p:nvSpPr>
        <p:spPr>
          <a:xfrm>
            <a:off x="869427" y="743510"/>
            <a:ext cx="6235909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When there’s a change in the product, people react differently: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some people welcome changes (novelty effect)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some people don't like change (primacy effect or change aversion)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For example, the test may show positive effect simply because of the novelty effect (or exclusivity). The effect may completely disappear over time after rolling it out to everyone.</a:t>
            </a:r>
          </a:p>
          <a:p>
            <a:endParaRPr lang="en-US" sz="1400" dirty="0"/>
          </a:p>
          <a:p>
            <a:r>
              <a:rPr lang="en-US" sz="1400" dirty="0"/>
              <a:t>How to deal with effects?</a:t>
            </a:r>
          </a:p>
          <a:p>
            <a:endParaRPr lang="en-US" sz="1400" dirty="0"/>
          </a:p>
          <a:p>
            <a:r>
              <a:rPr lang="en-US" sz="1400" dirty="0"/>
              <a:t>Novelty effect and primacy effect only apply to existing users who react to change.</a:t>
            </a:r>
          </a:p>
          <a:p>
            <a:r>
              <a:rPr lang="en-US" sz="1400" dirty="0"/>
              <a:t>So we could run tests only on new users - to them these effects do not apply.</a:t>
            </a:r>
          </a:p>
          <a:p>
            <a:endParaRPr lang="en-US" sz="1400" dirty="0"/>
          </a:p>
          <a:p>
            <a:r>
              <a:rPr lang="en-US" sz="1400" dirty="0"/>
              <a:t>Or we can compare "new" and "old" separately:</a:t>
            </a:r>
          </a:p>
          <a:p>
            <a:endParaRPr lang="en-US" sz="1400" dirty="0"/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A_new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B_new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A_old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B_old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We can compare: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A      :  B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A_new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: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B_new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A_old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: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B_old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A_new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: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A_old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B_new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: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B_old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4F5605-7E99-674E-BDB8-617462202A59}"/>
              </a:ext>
            </a:extLst>
          </p:cNvPr>
          <p:cNvSpPr txBox="1"/>
          <p:nvPr/>
        </p:nvSpPr>
        <p:spPr>
          <a:xfrm>
            <a:off x="0" y="0"/>
            <a:ext cx="4404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Novelty and Primacy Effects</a:t>
            </a:r>
          </a:p>
        </p:txBody>
      </p:sp>
    </p:spTree>
    <p:extLst>
      <p:ext uri="{BB962C8B-B14F-4D97-AF65-F5344CB8AC3E}">
        <p14:creationId xmlns:p14="http://schemas.microsoft.com/office/powerpoint/2010/main" val="569212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5B8E9-39AB-D945-BE08-302996794FCE}"/>
              </a:ext>
            </a:extLst>
          </p:cNvPr>
          <p:cNvSpPr txBox="1"/>
          <p:nvPr/>
        </p:nvSpPr>
        <p:spPr>
          <a:xfrm>
            <a:off x="354701" y="689788"/>
            <a:ext cx="6235909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Multivariate testing (MVT)—Full and Functional Factorial Design</a:t>
            </a:r>
          </a:p>
          <a:p>
            <a:endParaRPr lang="en-US" sz="1400" dirty="0"/>
          </a:p>
          <a:p>
            <a:r>
              <a:rPr lang="en-US" sz="1400" dirty="0"/>
              <a:t>We run multiple tests (not just two (A &amp; B) but more (A,B,C,D,...).</a:t>
            </a:r>
          </a:p>
          <a:p>
            <a:r>
              <a:rPr lang="en-US" sz="1400" dirty="0"/>
              <a:t>For example, we test different colors – to select the best one.</a:t>
            </a:r>
          </a:p>
          <a:p>
            <a:r>
              <a:rPr lang="en-US" sz="1400" dirty="0"/>
              <a:t>Or 10 versions of the same web page.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Bonferroni correction</a:t>
            </a:r>
          </a:p>
          <a:p>
            <a:r>
              <a:rPr lang="en-US" sz="1400" dirty="0"/>
              <a:t>When comparing these cases the 0.05 test is not enough. </a:t>
            </a:r>
          </a:p>
          <a:p>
            <a:r>
              <a:rPr lang="en-US" sz="1400" dirty="0"/>
              <a:t>We need to adjust for multitude of cases.</a:t>
            </a:r>
          </a:p>
          <a:p>
            <a:r>
              <a:rPr lang="en-US" sz="1400" dirty="0"/>
              <a:t>For example, use Bonferroni correction – and require 0.05/10 = 0.005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FDR</a:t>
            </a:r>
          </a:p>
          <a:p>
            <a:r>
              <a:rPr lang="en-US" sz="1400" dirty="0"/>
              <a:t>Another method is to control the false discovery rate (FDR):</a:t>
            </a:r>
          </a:p>
          <a:p>
            <a:r>
              <a:rPr lang="en-US" sz="1400" dirty="0"/>
              <a:t>    FDR = E[# of false positive / # of rejections]</a:t>
            </a:r>
          </a:p>
          <a:p>
            <a:endParaRPr lang="en-US" sz="1400" dirty="0"/>
          </a:p>
          <a:p>
            <a:r>
              <a:rPr lang="en-US" sz="1400" dirty="0"/>
              <a:t>It measures out of </a:t>
            </a:r>
            <a:r>
              <a:rPr lang="en-US" sz="1400" b="1" dirty="0">
                <a:solidFill>
                  <a:srgbClr val="0070C0"/>
                </a:solidFill>
              </a:rPr>
              <a:t>all of the rejections of the null hypothesis</a:t>
            </a:r>
            <a:r>
              <a:rPr lang="en-US" sz="1400" dirty="0"/>
              <a:t>, that is, all the metrics that you declare to have a statistically significant difference. </a:t>
            </a:r>
          </a:p>
          <a:p>
            <a:r>
              <a:rPr lang="en-US" sz="1400" dirty="0"/>
              <a:t>How many of them had a real difference as opposed to how many were false positives. </a:t>
            </a:r>
          </a:p>
          <a:p>
            <a:endParaRPr lang="en-US" sz="1400" dirty="0"/>
          </a:p>
          <a:p>
            <a:r>
              <a:rPr lang="en-US" sz="1400" dirty="0"/>
              <a:t>This only makes sense if you have a huge number of metrics, say hundreds. </a:t>
            </a:r>
          </a:p>
          <a:p>
            <a:endParaRPr lang="en-US" sz="1400" dirty="0"/>
          </a:p>
          <a:p>
            <a:r>
              <a:rPr lang="en-US" sz="1400" dirty="0"/>
              <a:t>Suppose we have 200 metrics and cap FDR at 0.05. </a:t>
            </a:r>
          </a:p>
          <a:p>
            <a:r>
              <a:rPr lang="en-US" sz="1400" dirty="0"/>
              <a:t>This means we’re okay with seeing false positives 5 of the time. </a:t>
            </a:r>
          </a:p>
          <a:p>
            <a:r>
              <a:rPr lang="en-US" sz="1400" dirty="0"/>
              <a:t>We will observe at least 10 false positive in those 200 metrics every time.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4F5605-7E99-674E-BDB8-617462202A59}"/>
              </a:ext>
            </a:extLst>
          </p:cNvPr>
          <p:cNvSpPr txBox="1"/>
          <p:nvPr/>
        </p:nvSpPr>
        <p:spPr>
          <a:xfrm>
            <a:off x="0" y="0"/>
            <a:ext cx="4404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Multiple testing problem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DCA09C-42E8-204F-BE23-2C1BE74889EE}"/>
              </a:ext>
            </a:extLst>
          </p:cNvPr>
          <p:cNvSpPr txBox="1"/>
          <p:nvPr/>
        </p:nvSpPr>
        <p:spPr>
          <a:xfrm>
            <a:off x="7562603" y="24770"/>
            <a:ext cx="4404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Multivariate Testing (MVT)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6E59FC09-4BD3-0147-8298-919C2958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2603" y="3383742"/>
            <a:ext cx="4162634" cy="245196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75DC493-AA58-FF40-9569-43AEB17F5125}"/>
              </a:ext>
            </a:extLst>
          </p:cNvPr>
          <p:cNvSpPr txBox="1"/>
          <p:nvPr/>
        </p:nvSpPr>
        <p:spPr>
          <a:xfrm>
            <a:off x="7562603" y="1022296"/>
            <a:ext cx="420584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Multivariate testing is a technique for testing a  hypothesis in which multiple variables are modified.</a:t>
            </a:r>
          </a:p>
          <a:p>
            <a:endParaRPr lang="en-US" sz="1400" dirty="0"/>
          </a:p>
          <a:p>
            <a:r>
              <a:rPr lang="en-US" sz="1400" dirty="0"/>
              <a:t>The goal of multivariate testing is to determine which combination of variations</a:t>
            </a:r>
          </a:p>
          <a:p>
            <a:r>
              <a:rPr lang="en-US" sz="1400" dirty="0"/>
              <a:t>performs the best out of all of the possible</a:t>
            </a:r>
          </a:p>
          <a:p>
            <a:r>
              <a:rPr lang="en-US" sz="1400" dirty="0"/>
              <a:t>Combinations</a:t>
            </a:r>
          </a:p>
        </p:txBody>
      </p:sp>
    </p:spTree>
    <p:extLst>
      <p:ext uri="{BB962C8B-B14F-4D97-AF65-F5344CB8AC3E}">
        <p14:creationId xmlns:p14="http://schemas.microsoft.com/office/powerpoint/2010/main" val="2302599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</TotalTime>
  <Words>1308</Words>
  <Application>Microsoft Macintosh PowerPoint</Application>
  <PresentationFormat>Widescreen</PresentationFormat>
  <Paragraphs>169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175</cp:revision>
  <dcterms:created xsi:type="dcterms:W3CDTF">2018-10-10T17:24:46Z</dcterms:created>
  <dcterms:modified xsi:type="dcterms:W3CDTF">2021-04-15T18:45:00Z</dcterms:modified>
</cp:coreProperties>
</file>