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59" r:id="rId5"/>
    <p:sldId id="258" r:id="rId6"/>
    <p:sldId id="261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/>
    <p:restoredTop sz="94640"/>
  </p:normalViewPr>
  <p:slideViewPr>
    <p:cSldViewPr snapToGrid="0" snapToObjects="1">
      <p:cViewPr varScale="1">
        <p:scale>
          <a:sx n="87" d="100"/>
          <a:sy n="87" d="100"/>
        </p:scale>
        <p:origin x="6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916F0-5243-E446-B61C-9A9EE75423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3832ED-8A7F-694A-9BDE-2B0A450FC3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F6894-9F95-F04A-B7FD-B6A8A7709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0ECA2-AAB4-9D43-837B-F614C9835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C8B8F-AFE8-9C4D-875B-24425E161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503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66059-1598-8E49-9DE4-E7AE4EE6C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0AD40-FE68-514A-9710-1BA175FB0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E6F35-2EDA-9846-80D6-EBF52A84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7BBCC-33DE-1742-BA09-68AD8BAD9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CA6DD5-F2D9-2F42-A6E7-503B067A0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598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3BE6E-BF11-994D-95BE-34FD81CA1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03006E-A93F-2C40-B80A-1EA79235D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61FE6-B90A-DC42-8AD1-9ABE4E591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FAB50F-CC7A-BA49-BD24-DBA96FCAB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C133F-162C-1042-9FBB-B7EDF7BA8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859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98DB1-6FFA-7840-B1CF-BB1E6E0C0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7CE1C-031C-E341-83ED-F14AD10A8A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768A3D-4B2E-8748-B4C7-F65042E288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2FB99E-D1AA-7B45-A822-EDADC260A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507C7-2581-5348-B01E-82B798324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EA96A-865E-DC4F-A4E1-34F9C58FD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131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0DE55-D5FF-DE48-9498-020C4106E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7FC2A1-01FE-9B4A-8654-6290D09CD0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8B565-ED26-8C42-88F4-9FA202E9C9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784C44-AFE0-B049-8D98-ADA550C5BD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314072-FF82-0E42-BA6A-354FBC89E5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373675-A1CB-174C-B904-8173D1926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9D6D42-B268-5B4E-A310-6D5D4AAE0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540AD2-E4C5-634D-A109-001622DD9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11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28AB0-79D6-A34B-9CA6-E16008036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F6D91E-BD8D-6242-AFC3-73AA086C7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874E4C-000E-9545-90A0-C3EF61314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A2595-965A-5044-9F6E-CDE7CECAD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404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DB023E-82B1-E54B-92E7-0E2B3CEE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50710C-22E6-804C-B870-862419208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9F46-2EC1-E74E-978F-C2F0D118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787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3095D-5909-D54A-AB7A-EFF9819B6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22B55-8B2D-3D48-810C-C831EB70B5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E7775C-D224-A54F-AFEC-66EAF8EBD5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2EDD84-4505-A749-992E-75284CD83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4D4CE0-3A4C-9448-B673-60DAE9D60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E15C4A-16A1-464D-8CB0-4DD1F6AE4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136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3F2D-D035-724E-B016-0D6BB0199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3C05EC-0CCE-B241-8B5A-363178C328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D8B0D3-F269-5546-ABA8-781B2743B9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A368DB-FDE0-6E41-BE3F-F67FDAB13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F93B0C-E3E3-0D42-BE77-F77A0FD4F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9A6914-E082-7E42-B7E6-FBAF4E3A1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197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D4D8D-5D00-624C-838D-363A2BDC2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8C693A-D352-D842-AB9F-7E211BF1BF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D58F6-C930-9D4C-B0BA-48B0E7D10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07E38-EBA0-384C-BF11-81C619023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A3126-4AA3-3743-B239-7F9A6BB92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318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5B6CC1-FF9E-B844-89CF-473B77F68E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0F608B-1F86-7D40-80D2-90853403C6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50EE8-B9C8-0A4E-9E3D-F7AF73F59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F65E81-F8FD-694B-B8A4-2A771BBAF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4A061-985E-894A-8CED-8F35B0230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988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F3FEED-D3CE-3A48-88EE-357E861F2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8B24A-F09F-CA4C-9D09-6E3853ABB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B70BC-FE2B-D640-81B0-E88A886834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8D1CD-1A59-F94B-81B8-988E63CA1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A31D1-4CBD-8744-9D1D-7B8B1EBBA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06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1.01142.pdf" TargetMode="External"/><Relationship Id="rId2" Type="http://schemas.openxmlformats.org/officeDocument/2006/relationships/hyperlink" Target="https://llvm.org/docs/LibFuzzer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hyperlink" Target="https://medium.com/syncedreview/google-brain-tensorfuzz-debugs-neural-networks-with-coverage-guided-fuzzing-89843346fcda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proceedings.mlr.press/v97/odena19a/odena19a.pdf" TargetMode="External"/><Relationship Id="rId4" Type="http://schemas.openxmlformats.org/officeDocument/2006/relationships/image" Target="../media/image3.tif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8672949" TargetMode="External"/><Relationship Id="rId7" Type="http://schemas.openxmlformats.org/officeDocument/2006/relationships/image" Target="../media/image4.tiff"/><Relationship Id="rId2" Type="http://schemas.openxmlformats.org/officeDocument/2006/relationships/hyperlink" Target="https://arxiv.org/pdf/1908.01262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001.03662.pdf" TargetMode="External"/><Relationship Id="rId5" Type="http://schemas.openxmlformats.org/officeDocument/2006/relationships/hyperlink" Target="https://www.ntu.edu.sg/home/yi_li/files/ase19-deephunter.pdf" TargetMode="External"/><Relationship Id="rId4" Type="http://schemas.openxmlformats.org/officeDocument/2006/relationships/hyperlink" Target="https://www.microsoft.com/en-us/research/blog/neural-fuzzing/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B2D122-A95C-E44C-AB7D-5C6EBCF3B815}"/>
              </a:ext>
            </a:extLst>
          </p:cNvPr>
          <p:cNvSpPr txBox="1"/>
          <p:nvPr/>
        </p:nvSpPr>
        <p:spPr>
          <a:xfrm>
            <a:off x="0" y="0"/>
            <a:ext cx="709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Fuzzing for Test Automation.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1CA9C-8A9A-FC41-8B91-48104A9FA516}"/>
              </a:ext>
            </a:extLst>
          </p:cNvPr>
          <p:cNvSpPr txBox="1"/>
          <p:nvPr/>
        </p:nvSpPr>
        <p:spPr>
          <a:xfrm>
            <a:off x="4970204" y="685599"/>
            <a:ext cx="424753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Fuzzing or fuzz testing - test software by feeding it with random data – was done since 1950s.</a:t>
            </a:r>
          </a:p>
          <a:p>
            <a:endParaRPr lang="en-US" dirty="0"/>
          </a:p>
          <a:p>
            <a:r>
              <a:rPr lang="en-US" dirty="0"/>
              <a:t>The term "fuzzing" originates from a 1988 class project (fuzz testing </a:t>
            </a:r>
            <a:r>
              <a:rPr lang="en-US" dirty="0" err="1"/>
              <a:t>unix</a:t>
            </a:r>
            <a:r>
              <a:rPr lang="en-US" dirty="0"/>
              <a:t> utilities) taught by Barton Miller at the University of Wisconsin.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71D54C-E528-7C40-A256-F1E929980CC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94466" y="109741"/>
            <a:ext cx="2668037" cy="28841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31C0BDE-160A-9445-84C2-51BCFBACF66A}"/>
              </a:ext>
            </a:extLst>
          </p:cNvPr>
          <p:cNvSpPr txBox="1"/>
          <p:nvPr/>
        </p:nvSpPr>
        <p:spPr>
          <a:xfrm>
            <a:off x="9900059" y="3085244"/>
            <a:ext cx="21493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Prof. Barton P. Miller</a:t>
            </a:r>
          </a:p>
          <a:p>
            <a:r>
              <a:rPr lang="en-US" dirty="0"/>
              <a:t>Univ. of Wisconsin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33769E-9323-B34B-B1B1-B891294792A4}"/>
              </a:ext>
            </a:extLst>
          </p:cNvPr>
          <p:cNvSpPr txBox="1"/>
          <p:nvPr/>
        </p:nvSpPr>
        <p:spPr>
          <a:xfrm>
            <a:off x="44244" y="3392128"/>
            <a:ext cx="887852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2012 – </a:t>
            </a:r>
            <a:r>
              <a:rPr lang="en-US" dirty="0" err="1"/>
              <a:t>ClusterFuzz</a:t>
            </a:r>
            <a:r>
              <a:rPr lang="en-US" dirty="0"/>
              <a:t> (Google cloud-based fuzzing infrastructure)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2014 – </a:t>
            </a:r>
            <a:r>
              <a:rPr lang="en-US" dirty="0" err="1"/>
              <a:t>fuzzer</a:t>
            </a:r>
            <a:r>
              <a:rPr lang="en-US" dirty="0"/>
              <a:t> AFL success in disclosing </a:t>
            </a:r>
            <a:r>
              <a:rPr lang="en-US" dirty="0" err="1"/>
              <a:t>Sellchock</a:t>
            </a:r>
            <a:r>
              <a:rPr lang="en-US" dirty="0"/>
              <a:t> bugs in Unix Bash shell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2014-15 – </a:t>
            </a:r>
            <a:r>
              <a:rPr lang="en-US" dirty="0" err="1"/>
              <a:t>fuzzer</a:t>
            </a:r>
            <a:r>
              <a:rPr lang="en-US" dirty="0"/>
              <a:t> AFL disclosed the Heartbleed vulnerability in OpenSSL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2016 – DARPA (Defense Advanced Research Projects Agency) competition for developing automatic defense systems that can discover, exploit, and correct software flaws in real-time – used fuzzing as offense strategy to discover flaws in the software of the opponents.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2016 - Project Springfield (</a:t>
            </a:r>
            <a:r>
              <a:rPr lang="en-US" dirty="0" err="1"/>
              <a:t>Mocrosoft</a:t>
            </a:r>
            <a:r>
              <a:rPr lang="en-US" dirty="0"/>
              <a:t> cloud-based fuzz testing service for finding security critical bugs in software.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2016 - OSS-Fuzz (Google) - continuous fuzzing of security-critical open-source projects.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2018 - At Black Hat 2018, Christopher </a:t>
            </a:r>
            <a:r>
              <a:rPr lang="en-US" dirty="0" err="1"/>
              <a:t>Domas</a:t>
            </a:r>
            <a:r>
              <a:rPr lang="en-US" dirty="0"/>
              <a:t> demonstrated the use of fuzzing to expose the existence of a hidden RISC core in a </a:t>
            </a:r>
            <a:r>
              <a:rPr lang="en-US" dirty="0" err="1"/>
              <a:t>processor.This</a:t>
            </a:r>
            <a:r>
              <a:rPr lang="en-US" dirty="0"/>
              <a:t> core was able to bypass existing security checks to execute Ring 0 commands from Ring 3.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3FB33D-71FB-1749-8809-EC398CDEF345}"/>
              </a:ext>
            </a:extLst>
          </p:cNvPr>
          <p:cNvSpPr txBox="1"/>
          <p:nvPr/>
        </p:nvSpPr>
        <p:spPr>
          <a:xfrm>
            <a:off x="235974" y="825910"/>
            <a:ext cx="1120878" cy="923330"/>
          </a:xfrm>
          <a:prstGeom prst="rect">
            <a:avLst/>
          </a:prstGeom>
          <a:noFill/>
          <a:ln w="508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Fuzzer</a:t>
            </a:r>
            <a:br>
              <a:rPr lang="en-US" dirty="0"/>
            </a:br>
            <a:r>
              <a:rPr lang="en-US" dirty="0"/>
              <a:t>generate</a:t>
            </a:r>
          </a:p>
          <a:p>
            <a:r>
              <a:rPr lang="en-US" dirty="0"/>
              <a:t>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5094BC-D7B7-2B49-86B4-4E283F7E2A6E}"/>
              </a:ext>
            </a:extLst>
          </p:cNvPr>
          <p:cNvSpPr txBox="1"/>
          <p:nvPr/>
        </p:nvSpPr>
        <p:spPr>
          <a:xfrm>
            <a:off x="1971911" y="884275"/>
            <a:ext cx="1120878" cy="646331"/>
          </a:xfrm>
          <a:prstGeom prst="rect">
            <a:avLst/>
          </a:prstGeom>
          <a:noFill/>
          <a:ln w="508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System</a:t>
            </a:r>
          </a:p>
          <a:p>
            <a:r>
              <a:rPr lang="en-US" dirty="0"/>
              <a:t>test</a:t>
            </a:r>
          </a:p>
        </p:txBody>
      </p:sp>
      <p:sp>
        <p:nvSpPr>
          <p:cNvPr id="12" name="U-Turn Arrow 11">
            <a:extLst>
              <a:ext uri="{FF2B5EF4-FFF2-40B4-BE49-F238E27FC236}">
                <a16:creationId xmlns:a16="http://schemas.microsoft.com/office/drawing/2014/main" id="{4B12FA65-FA84-6E4A-B199-048B3853DB9D}"/>
              </a:ext>
            </a:extLst>
          </p:cNvPr>
          <p:cNvSpPr/>
          <p:nvPr/>
        </p:nvSpPr>
        <p:spPr>
          <a:xfrm rot="10800000">
            <a:off x="505839" y="1551831"/>
            <a:ext cx="2140085" cy="1035725"/>
          </a:xfrm>
          <a:prstGeom prst="uturn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939536C4-C3D1-2446-BF4C-9248CBF297EF}"/>
              </a:ext>
            </a:extLst>
          </p:cNvPr>
          <p:cNvSpPr/>
          <p:nvPr/>
        </p:nvSpPr>
        <p:spPr>
          <a:xfrm>
            <a:off x="3131699" y="992222"/>
            <a:ext cx="547825" cy="441109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6A4F8-338C-E242-8FD7-17B80B10EC1A}"/>
              </a:ext>
            </a:extLst>
          </p:cNvPr>
          <p:cNvSpPr txBox="1"/>
          <p:nvPr/>
        </p:nvSpPr>
        <p:spPr>
          <a:xfrm>
            <a:off x="3725515" y="1003319"/>
            <a:ext cx="967966" cy="369332"/>
          </a:xfrm>
          <a:prstGeom prst="rect">
            <a:avLst/>
          </a:prstGeom>
          <a:noFill/>
          <a:ln w="508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Report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B2AD90B3-89F2-7F4A-ADF5-96861DBBB423}"/>
              </a:ext>
            </a:extLst>
          </p:cNvPr>
          <p:cNvSpPr/>
          <p:nvPr/>
        </p:nvSpPr>
        <p:spPr>
          <a:xfrm>
            <a:off x="1382314" y="988170"/>
            <a:ext cx="547825" cy="441109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7A6118-6903-CD41-8E71-6BE904A24A5F}"/>
              </a:ext>
            </a:extLst>
          </p:cNvPr>
          <p:cNvSpPr txBox="1"/>
          <p:nvPr/>
        </p:nvSpPr>
        <p:spPr>
          <a:xfrm>
            <a:off x="1110218" y="2276295"/>
            <a:ext cx="109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768187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B2D122-A95C-E44C-AB7D-5C6EBCF3B815}"/>
              </a:ext>
            </a:extLst>
          </p:cNvPr>
          <p:cNvSpPr txBox="1"/>
          <p:nvPr/>
        </p:nvSpPr>
        <p:spPr>
          <a:xfrm>
            <a:off x="0" y="0"/>
            <a:ext cx="709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Types of Fuzzes: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818B0F-141F-4447-9FC6-D750B2ACED16}"/>
              </a:ext>
            </a:extLst>
          </p:cNvPr>
          <p:cNvSpPr txBox="1"/>
          <p:nvPr/>
        </p:nvSpPr>
        <p:spPr>
          <a:xfrm>
            <a:off x="1" y="796413"/>
            <a:ext cx="56338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generation-based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- input data generated from scratch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mutation-based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-input data generated by modifying existing data – and then select the best inputs (test suite reduction)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dumb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– not aware of input structure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smart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– aware of structure of input data. For example, a smart generation-based </a:t>
            </a:r>
            <a:r>
              <a:rPr lang="en-US" dirty="0" err="1"/>
              <a:t>fuzzer</a:t>
            </a:r>
            <a:r>
              <a:rPr lang="en-US" dirty="0"/>
              <a:t> takes the input model or protocol that was provided by the user to generate new inputs.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865B6A-EBD2-2E4C-962A-3337C248321E}"/>
              </a:ext>
            </a:extLst>
          </p:cNvPr>
          <p:cNvSpPr txBox="1"/>
          <p:nvPr/>
        </p:nvSpPr>
        <p:spPr>
          <a:xfrm>
            <a:off x="6194325" y="934911"/>
            <a:ext cx="5737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black-box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– doesn't know anything about program structure, thus generally can not guarantee </a:t>
            </a:r>
          </a:p>
          <a:p>
            <a:r>
              <a:rPr lang="en-US" dirty="0"/>
              <a:t>good code coverage for testing. But tests are fast and can be done in parallel.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white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– analyzes program structure. May use symbolic execution to systematically explore different paths in the program. Much slower than black-box </a:t>
            </a:r>
            <a:r>
              <a:rPr lang="en-US" dirty="0" err="1"/>
              <a:t>fuzzer</a:t>
            </a:r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grey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– in-between white and black-box. Use lightweight instrumentation to trace basic block transitions. This leads to a reasonable performance overhead, while informing the </a:t>
            </a:r>
            <a:r>
              <a:rPr lang="en-US" dirty="0" err="1"/>
              <a:t>fuzzer</a:t>
            </a:r>
            <a:r>
              <a:rPr lang="en-US" dirty="0"/>
              <a:t> about the increase in code coverage during fuzzing. This makes gray-box </a:t>
            </a:r>
            <a:r>
              <a:rPr lang="en-US" dirty="0" err="1"/>
              <a:t>fuzzers</a:t>
            </a:r>
            <a:r>
              <a:rPr lang="en-US" dirty="0"/>
              <a:t> extremely efficient. Examples - </a:t>
            </a:r>
            <a:r>
              <a:rPr lang="en-US" b="1" dirty="0">
                <a:solidFill>
                  <a:srgbClr val="0070C0"/>
                </a:solidFill>
              </a:rPr>
              <a:t>AFL</a:t>
            </a:r>
            <a:r>
              <a:rPr lang="en-US" dirty="0"/>
              <a:t> and </a:t>
            </a:r>
            <a:r>
              <a:rPr lang="en-US" b="1" dirty="0" err="1">
                <a:solidFill>
                  <a:srgbClr val="0070C0"/>
                </a:solidFill>
              </a:rPr>
              <a:t>libFuzzer</a:t>
            </a:r>
            <a:r>
              <a:rPr lang="en-US" dirty="0"/>
              <a:t> 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97ABA-2896-4848-81C6-7EFF5D0438E1}"/>
              </a:ext>
            </a:extLst>
          </p:cNvPr>
          <p:cNvCxnSpPr>
            <a:cxnSpLocks/>
          </p:cNvCxnSpPr>
          <p:nvPr/>
        </p:nvCxnSpPr>
        <p:spPr>
          <a:xfrm>
            <a:off x="5781368" y="796413"/>
            <a:ext cx="0" cy="6061587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C73DAF1-3B19-204E-BD37-0A47E9FC12FD}"/>
              </a:ext>
            </a:extLst>
          </p:cNvPr>
          <p:cNvCxnSpPr>
            <a:cxnSpLocks/>
          </p:cNvCxnSpPr>
          <p:nvPr/>
        </p:nvCxnSpPr>
        <p:spPr>
          <a:xfrm flipH="1">
            <a:off x="0" y="3279058"/>
            <a:ext cx="5771536" cy="0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8591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2A4CC70-5A08-8445-A9C6-DED41086EAE6}"/>
              </a:ext>
            </a:extLst>
          </p:cNvPr>
          <p:cNvSpPr txBox="1"/>
          <p:nvPr/>
        </p:nvSpPr>
        <p:spPr>
          <a:xfrm>
            <a:off x="-1" y="0"/>
            <a:ext cx="71206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Evolutionary Fuzzing: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F6F9A-AC0B-CD48-8201-02D7B8BE409D}"/>
              </a:ext>
            </a:extLst>
          </p:cNvPr>
          <p:cNvSpPr txBox="1"/>
          <p:nvPr/>
        </p:nvSpPr>
        <p:spPr>
          <a:xfrm>
            <a:off x="117988" y="584775"/>
            <a:ext cx="1193144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Evolutionary fuzzing - converging towards the discovery of weaknesses. </a:t>
            </a:r>
          </a:p>
          <a:p>
            <a:r>
              <a:rPr lang="en-US" dirty="0"/>
              <a:t>It uses genetic algorithms in order to produce successive generations of test cases populations.</a:t>
            </a:r>
          </a:p>
          <a:p>
            <a:endParaRPr lang="en-US" dirty="0"/>
          </a:p>
          <a:p>
            <a:r>
              <a:rPr lang="en-US" dirty="0"/>
              <a:t>Evolutionary fuzzing - use feedback from each test case to learn the format of the input over time. </a:t>
            </a:r>
            <a:br>
              <a:rPr lang="en-US" dirty="0"/>
            </a:br>
            <a:r>
              <a:rPr lang="en-US" dirty="0"/>
              <a:t>For example, by measuring the code coverage of each test case, the </a:t>
            </a:r>
            <a:r>
              <a:rPr lang="en-US" dirty="0" err="1"/>
              <a:t>fuzzer</a:t>
            </a:r>
            <a:r>
              <a:rPr lang="en-US" dirty="0"/>
              <a:t> can work out which properties of the test case exercise a given area of code, and gradually evolve a set of test cases that cover the majority of the program code. </a:t>
            </a:r>
          </a:p>
          <a:p>
            <a:endParaRPr lang="en-US" dirty="0"/>
          </a:p>
          <a:p>
            <a:r>
              <a:rPr lang="en-US" dirty="0"/>
              <a:t>Evolutionary fuzzing often relies on other techniques similar to genetic algorithms and may require some form of binary instrumentation to operate correctly.</a:t>
            </a:r>
          </a:p>
          <a:p>
            <a:endParaRPr lang="en-US" dirty="0"/>
          </a:p>
          <a:p>
            <a:r>
              <a:rPr lang="en-US" dirty="0" err="1"/>
              <a:t>libFuzzer</a:t>
            </a:r>
            <a:r>
              <a:rPr lang="en-US" dirty="0"/>
              <a:t> – a library for coverage-guided fuzz testing. </a:t>
            </a:r>
            <a:r>
              <a:rPr lang="en-US" dirty="0" err="1"/>
              <a:t>LibFuzzer</a:t>
            </a:r>
            <a:r>
              <a:rPr lang="en-US" dirty="0"/>
              <a:t> is in-process, coverage-guided, evolutionary fuzzing engine. </a:t>
            </a:r>
            <a:r>
              <a:rPr lang="en-US" dirty="0" err="1"/>
              <a:t>LibFuzzer</a:t>
            </a:r>
            <a:r>
              <a:rPr lang="en-US" dirty="0"/>
              <a:t> is linked with the library under test, and feeds fuzzed inputs to the library via a specific fuzzing </a:t>
            </a:r>
            <a:r>
              <a:rPr lang="en-US" dirty="0" err="1"/>
              <a:t>entrypoint</a:t>
            </a:r>
            <a:r>
              <a:rPr lang="en-US" dirty="0"/>
              <a:t> (aka “target function”); the </a:t>
            </a:r>
            <a:r>
              <a:rPr lang="en-US" dirty="0" err="1"/>
              <a:t>fuzzer</a:t>
            </a:r>
            <a:r>
              <a:rPr lang="en-US" dirty="0"/>
              <a:t> then tracks which areas of the code are reached, and generates mutations on the corpus of input data in order to maximize the code coverage. The code coverage information for </a:t>
            </a:r>
            <a:r>
              <a:rPr lang="en-US" dirty="0" err="1"/>
              <a:t>libFuzzer</a:t>
            </a:r>
            <a:r>
              <a:rPr lang="en-US" dirty="0"/>
              <a:t> is provided by LLVM’s </a:t>
            </a:r>
            <a:r>
              <a:rPr lang="en-US" dirty="0" err="1"/>
              <a:t>SanitizerCoverage</a:t>
            </a:r>
            <a:r>
              <a:rPr lang="en-US" dirty="0"/>
              <a:t> instrumentation.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https://llvm.org/docs/LibFuzzer.html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V-Fuzz: Vulnerability-Oriented Evolutionary Fuzzing</a:t>
            </a:r>
          </a:p>
          <a:p>
            <a:r>
              <a:rPr lang="en-US" dirty="0" err="1"/>
              <a:t>Yuwei</a:t>
            </a:r>
            <a:r>
              <a:rPr lang="en-US" dirty="0"/>
              <a:t> Li, </a:t>
            </a:r>
            <a:r>
              <a:rPr lang="en-US" dirty="0" err="1"/>
              <a:t>Shouling</a:t>
            </a:r>
            <a:r>
              <a:rPr lang="en-US" dirty="0"/>
              <a:t> Ji, </a:t>
            </a:r>
            <a:r>
              <a:rPr lang="en-US" dirty="0" err="1"/>
              <a:t>Chenyang</a:t>
            </a:r>
            <a:r>
              <a:rPr lang="en-US" dirty="0"/>
              <a:t> </a:t>
            </a:r>
            <a:r>
              <a:rPr lang="en-US" dirty="0" err="1"/>
              <a:t>Lv</a:t>
            </a:r>
            <a:r>
              <a:rPr lang="en-US" dirty="0"/>
              <a:t>, Yuan Chen, </a:t>
            </a:r>
            <a:r>
              <a:rPr lang="en-US" dirty="0" err="1"/>
              <a:t>Jianhai</a:t>
            </a:r>
            <a:r>
              <a:rPr lang="en-US" dirty="0"/>
              <a:t> Chen, </a:t>
            </a:r>
            <a:r>
              <a:rPr lang="en-US" dirty="0" err="1"/>
              <a:t>Qinchen</a:t>
            </a:r>
            <a:r>
              <a:rPr lang="en-US" dirty="0"/>
              <a:t> Gu, and </a:t>
            </a:r>
            <a:r>
              <a:rPr lang="en-US" dirty="0" err="1"/>
              <a:t>Chunming</a:t>
            </a:r>
            <a:r>
              <a:rPr lang="en-US" dirty="0"/>
              <a:t> Wu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https://arxiv.org/pdf/1901.01142.pdf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4792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908DDB-E503-6B4F-A20C-26E06F933931}"/>
              </a:ext>
            </a:extLst>
          </p:cNvPr>
          <p:cNvSpPr txBox="1"/>
          <p:nvPr/>
        </p:nvSpPr>
        <p:spPr>
          <a:xfrm>
            <a:off x="0" y="0"/>
            <a:ext cx="642025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Google Brain </a:t>
            </a:r>
            <a:r>
              <a:rPr lang="en-US" sz="3200" b="1" dirty="0" err="1">
                <a:solidFill>
                  <a:srgbClr val="0070C0"/>
                </a:solidFill>
              </a:rPr>
              <a:t>TensorFuzz</a:t>
            </a:r>
            <a:r>
              <a:rPr lang="en-US" sz="3200" b="1" dirty="0"/>
              <a:t> </a:t>
            </a:r>
            <a:br>
              <a:rPr lang="en-US" sz="3200" b="1" dirty="0"/>
            </a:br>
            <a:r>
              <a:rPr lang="en-US" sz="3200" b="1" dirty="0"/>
              <a:t>Debugs Neural Networks </a:t>
            </a:r>
            <a:br>
              <a:rPr lang="en-US" sz="3200" b="1" dirty="0"/>
            </a:br>
            <a:r>
              <a:rPr lang="en-US" sz="3200" b="1" dirty="0"/>
              <a:t>with </a:t>
            </a:r>
            <a:r>
              <a:rPr lang="en-US" sz="3200" b="1" dirty="0">
                <a:solidFill>
                  <a:srgbClr val="0070C0"/>
                </a:solidFill>
              </a:rPr>
              <a:t>Coverage-Guided Fuzzing (CGF) </a:t>
            </a:r>
            <a:br>
              <a:rPr lang="en-US" sz="3200" b="1" dirty="0"/>
            </a:br>
            <a:r>
              <a:rPr lang="en-US" sz="3200" b="1" dirty="0"/>
              <a:t>(</a:t>
            </a:r>
            <a:r>
              <a:rPr lang="en-US" sz="3200" b="1" dirty="0" err="1"/>
              <a:t>Odena</a:t>
            </a:r>
            <a:r>
              <a:rPr lang="en-US" sz="3200" b="1" dirty="0"/>
              <a:t> &amp; </a:t>
            </a:r>
            <a:r>
              <a:rPr lang="en-US" sz="3200" b="1" dirty="0" err="1"/>
              <a:t>Goodfellow</a:t>
            </a:r>
            <a:r>
              <a:rPr lang="en-US" sz="3200" b="1" dirty="0"/>
              <a:t>, 2018)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24731-D77F-494B-BCAC-A389F110E23D}"/>
              </a:ext>
            </a:extLst>
          </p:cNvPr>
          <p:cNvSpPr txBox="1"/>
          <p:nvPr/>
        </p:nvSpPr>
        <p:spPr>
          <a:xfrm>
            <a:off x="29182" y="2169573"/>
            <a:ext cx="7383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https://medium.com/syncedreview/google-brain-tensorfuzz-debugs-neural-networks-with-coverage-guided-fuzzing-89843346fcda</a:t>
            </a:r>
            <a:r>
              <a:rPr lang="en-US" dirty="0"/>
              <a:t>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6E224E0-E4AF-294D-8FE9-B92F262DFA7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38794" y="2908237"/>
            <a:ext cx="3832699" cy="39251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0391757-BA03-DD45-AD15-9B32B72A6F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6286" y="260188"/>
            <a:ext cx="3603829" cy="18019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F5609E-9B9B-214E-87DA-4C98A1276ED8}"/>
              </a:ext>
            </a:extLst>
          </p:cNvPr>
          <p:cNvSpPr txBox="1"/>
          <p:nvPr/>
        </p:nvSpPr>
        <p:spPr>
          <a:xfrm>
            <a:off x="8536285" y="2094032"/>
            <a:ext cx="360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Augustus </a:t>
            </a:r>
            <a:r>
              <a:rPr lang="en-US" dirty="0" err="1"/>
              <a:t>Odena</a:t>
            </a:r>
            <a:r>
              <a:rPr lang="en-US" dirty="0"/>
              <a:t>   &amp;   Ian </a:t>
            </a:r>
            <a:r>
              <a:rPr lang="en-US" dirty="0" err="1"/>
              <a:t>Goodfellow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2E94E-A869-F34F-85D2-7A3F6569FD46}"/>
              </a:ext>
            </a:extLst>
          </p:cNvPr>
          <p:cNvSpPr txBox="1"/>
          <p:nvPr/>
        </p:nvSpPr>
        <p:spPr>
          <a:xfrm>
            <a:off x="29180" y="3882822"/>
            <a:ext cx="786967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 err="1">
                <a:solidFill>
                  <a:srgbClr val="0070C0"/>
                </a:solidFill>
              </a:rPr>
              <a:t>TensorFuzz</a:t>
            </a:r>
            <a:r>
              <a:rPr lang="en-US" dirty="0"/>
              <a:t> tool </a:t>
            </a:r>
          </a:p>
          <a:p>
            <a:r>
              <a:rPr lang="en-US" dirty="0"/>
              <a:t>feeds inputs to an arbitrary TensorFlow graph </a:t>
            </a:r>
          </a:p>
          <a:p>
            <a:r>
              <a:rPr lang="en-US" dirty="0"/>
              <a:t>and measures coverage by looking at the “activations” of the computation graph.</a:t>
            </a:r>
          </a:p>
          <a:p>
            <a:endParaRPr lang="en-US" dirty="0"/>
          </a:p>
          <a:p>
            <a:r>
              <a:rPr lang="en-US" dirty="0"/>
              <a:t>In coverage-guided fuzzing, </a:t>
            </a:r>
          </a:p>
          <a:p>
            <a:r>
              <a:rPr lang="en-US" dirty="0"/>
              <a:t>random mutations of inputs to a neural network </a:t>
            </a:r>
          </a:p>
          <a:p>
            <a:r>
              <a:rPr lang="en-US" dirty="0"/>
              <a:t>are guided by a coverage metric </a:t>
            </a:r>
          </a:p>
          <a:p>
            <a:r>
              <a:rPr lang="en-US" dirty="0"/>
              <a:t>toward the goal of satisfying user-specified constraints.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75CE2D-A2C2-9A45-B27D-481CF184D1E3}"/>
              </a:ext>
            </a:extLst>
          </p:cNvPr>
          <p:cNvSpPr txBox="1"/>
          <p:nvPr/>
        </p:nvSpPr>
        <p:spPr>
          <a:xfrm>
            <a:off x="29180" y="3070000"/>
            <a:ext cx="5710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5"/>
              </a:rPr>
              <a:t>http://proceedings.mlr.press/v97/odena19a/odena19a.pdf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802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908DDB-E503-6B4F-A20C-26E06F933931}"/>
              </a:ext>
            </a:extLst>
          </p:cNvPr>
          <p:cNvSpPr txBox="1"/>
          <p:nvPr/>
        </p:nvSpPr>
        <p:spPr>
          <a:xfrm>
            <a:off x="-1" y="0"/>
            <a:ext cx="71206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Some Fuzz Testing Frameworks: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24731-D77F-494B-BCAC-A389F110E23D}"/>
              </a:ext>
            </a:extLst>
          </p:cNvPr>
          <p:cNvSpPr txBox="1"/>
          <p:nvPr/>
        </p:nvSpPr>
        <p:spPr>
          <a:xfrm>
            <a:off x="0" y="761755"/>
            <a:ext cx="120346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Radamsa</a:t>
            </a:r>
            <a:r>
              <a:rPr lang="en-US" sz="1600" dirty="0"/>
              <a:t> - designed to be easy to use and flexible. It attempts to “just work” for a variety of input types and contains a number of different fuzzing algorithms for mutation.</a:t>
            </a:r>
          </a:p>
          <a:p>
            <a:endParaRPr lang="en-US" sz="1600" dirty="0"/>
          </a:p>
          <a:p>
            <a:r>
              <a:rPr lang="en-US" sz="1600" dirty="0" err="1"/>
              <a:t>Sulley</a:t>
            </a:r>
            <a:r>
              <a:rPr lang="en-US" sz="1600" dirty="0"/>
              <a:t> - provides a comprehensive generation framework, allowing structured data to be represented for generation based fuzzing. It also contains components to help with recording test cases and detecting crashes.</a:t>
            </a:r>
          </a:p>
          <a:p>
            <a:endParaRPr lang="en-US" sz="1600" dirty="0"/>
          </a:p>
          <a:p>
            <a:r>
              <a:rPr lang="en-US" sz="1600" dirty="0"/>
              <a:t>Peach - framework can perform smart fuzzing for file formats and network protocols. It can perform both generation- and mutation-based fuzzing and contains components to help with modelling and monitoring the target.</a:t>
            </a:r>
          </a:p>
          <a:p>
            <a:endParaRPr lang="en-US" sz="1600" dirty="0"/>
          </a:p>
          <a:p>
            <a:r>
              <a:rPr lang="en-US" sz="1600" dirty="0"/>
              <a:t>SPIKE - a network protocol </a:t>
            </a:r>
            <a:r>
              <a:rPr lang="en-US" sz="1600" dirty="0" err="1"/>
              <a:t>fuzzer</a:t>
            </a:r>
            <a:r>
              <a:rPr lang="en-US" sz="1600" dirty="0"/>
              <a:t>. It requires good knowledge of C to use and is designed to run on Linux.</a:t>
            </a:r>
          </a:p>
          <a:p>
            <a:endParaRPr lang="en-US" sz="1600" dirty="0"/>
          </a:p>
          <a:p>
            <a:r>
              <a:rPr lang="en-US" sz="1600" dirty="0"/>
              <a:t>Grinder - a web browser </a:t>
            </a:r>
            <a:r>
              <a:rPr lang="en-US" sz="1600" dirty="0" err="1"/>
              <a:t>fuzzer</a:t>
            </a:r>
            <a:r>
              <a:rPr lang="en-US" sz="1600" dirty="0"/>
              <a:t>, which also has features to help in managing large numbers of crashes.</a:t>
            </a:r>
          </a:p>
          <a:p>
            <a:endParaRPr lang="en-US" sz="1600" dirty="0"/>
          </a:p>
          <a:p>
            <a:r>
              <a:rPr lang="en-US" sz="1600" dirty="0" err="1"/>
              <a:t>NodeFuzz</a:t>
            </a:r>
            <a:r>
              <a:rPr lang="en-US" sz="1600" dirty="0"/>
              <a:t> - a </a:t>
            </a:r>
            <a:r>
              <a:rPr lang="en-US" sz="1600" dirty="0" err="1"/>
              <a:t>node.js</a:t>
            </a:r>
            <a:r>
              <a:rPr lang="en-US" sz="1600" dirty="0"/>
              <a:t>-based harness for web browsers, which includes instrumentation modules to gain further information from the client side. </a:t>
            </a:r>
          </a:p>
          <a:p>
            <a:endParaRPr lang="en-US" sz="1600" dirty="0"/>
          </a:p>
          <a:p>
            <a:r>
              <a:rPr lang="en-US" sz="1600" dirty="0"/>
              <a:t>Burp Suite – Cybersecurity Software</a:t>
            </a:r>
          </a:p>
          <a:p>
            <a:endParaRPr lang="en-US" sz="1600" dirty="0"/>
          </a:p>
          <a:p>
            <a:r>
              <a:rPr lang="en-US" sz="1600" dirty="0" err="1"/>
              <a:t>Webscarab</a:t>
            </a:r>
            <a:r>
              <a:rPr lang="en-US" sz="1600" dirty="0"/>
              <a:t> – Java framework, http &amp; https, can be used as intercepting proxy</a:t>
            </a:r>
          </a:p>
          <a:p>
            <a:endParaRPr lang="en-US" sz="1600" dirty="0"/>
          </a:p>
          <a:p>
            <a:r>
              <a:rPr lang="en-US" sz="1600" dirty="0"/>
              <a:t>OWASP </a:t>
            </a:r>
            <a:r>
              <a:rPr lang="en-US" sz="1600" dirty="0" err="1"/>
              <a:t>WSFuzzer</a:t>
            </a:r>
            <a:r>
              <a:rPr lang="en-US" sz="1600" dirty="0"/>
              <a:t> – python, for HTTP based SOAP services</a:t>
            </a:r>
          </a:p>
        </p:txBody>
      </p:sp>
    </p:spTree>
    <p:extLst>
      <p:ext uri="{BB962C8B-B14F-4D97-AF65-F5344CB8AC3E}">
        <p14:creationId xmlns:p14="http://schemas.microsoft.com/office/powerpoint/2010/main" val="3258834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BDF33B-A00C-B74E-98E1-EEAE117B2A77}"/>
              </a:ext>
            </a:extLst>
          </p:cNvPr>
          <p:cNvSpPr txBox="1"/>
          <p:nvPr/>
        </p:nvSpPr>
        <p:spPr>
          <a:xfrm>
            <a:off x="-1" y="0"/>
            <a:ext cx="8549147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systematic review of fuzzing based on machine learning techniques</a:t>
            </a:r>
          </a:p>
          <a:p>
            <a:r>
              <a:rPr lang="en-US" dirty="0"/>
              <a:t>Yan </a:t>
            </a:r>
            <a:r>
              <a:rPr lang="en-US" dirty="0" err="1"/>
              <a:t>Wanga</a:t>
            </a:r>
            <a:r>
              <a:rPr lang="en-US" dirty="0"/>
              <a:t>, Peng </a:t>
            </a:r>
            <a:r>
              <a:rPr lang="en-US" dirty="0" err="1"/>
              <a:t>Jiaa</a:t>
            </a:r>
            <a:r>
              <a:rPr lang="en-US" dirty="0"/>
              <a:t>, </a:t>
            </a:r>
            <a:r>
              <a:rPr lang="en-US" dirty="0" err="1"/>
              <a:t>Luping</a:t>
            </a:r>
            <a:r>
              <a:rPr lang="en-US" dirty="0"/>
              <a:t> </a:t>
            </a:r>
            <a:r>
              <a:rPr lang="en-US" dirty="0" err="1"/>
              <a:t>Liub</a:t>
            </a:r>
            <a:r>
              <a:rPr lang="en-US" dirty="0"/>
              <a:t>, </a:t>
            </a:r>
            <a:r>
              <a:rPr lang="en-US" dirty="0" err="1"/>
              <a:t>Jiayong</a:t>
            </a:r>
            <a:r>
              <a:rPr lang="en-US" dirty="0"/>
              <a:t> Liua1</a:t>
            </a:r>
            <a:endParaRPr lang="en-US" dirty="0">
              <a:hlinkClick r:id="rId2"/>
            </a:endParaRP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https://arxiv.org/pdf/1908.01262.pdf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NeuFuzz</a:t>
            </a:r>
            <a:r>
              <a:rPr lang="en-US" dirty="0"/>
              <a:t>: Efficient Fuzzing With Deep Neural Network </a:t>
            </a:r>
          </a:p>
          <a:p>
            <a:r>
              <a:rPr lang="en-US" dirty="0" err="1"/>
              <a:t>Yunchao</a:t>
            </a:r>
            <a:r>
              <a:rPr lang="en-US" dirty="0"/>
              <a:t> Wang; </a:t>
            </a:r>
            <a:r>
              <a:rPr lang="en-US" dirty="0" err="1"/>
              <a:t>Zehui</a:t>
            </a:r>
            <a:r>
              <a:rPr lang="en-US" dirty="0"/>
              <a:t> Wu; </a:t>
            </a:r>
            <a:r>
              <a:rPr lang="en-US" dirty="0" err="1"/>
              <a:t>Qiang</a:t>
            </a:r>
            <a:r>
              <a:rPr lang="en-US" dirty="0"/>
              <a:t> Wei; </a:t>
            </a:r>
            <a:r>
              <a:rPr lang="en-US" dirty="0" err="1"/>
              <a:t>Qingxian</a:t>
            </a:r>
            <a:r>
              <a:rPr lang="en-US" dirty="0"/>
              <a:t> Wang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https://ieeexplore.ieee.org/document/8672949</a:t>
            </a:r>
            <a:endParaRPr lang="en-US" dirty="0"/>
          </a:p>
          <a:p>
            <a:endParaRPr lang="en-US" dirty="0"/>
          </a:p>
          <a:p>
            <a:r>
              <a:rPr lang="en-US" dirty="0"/>
              <a:t>Microsoft - Neural fuzzing: applying DNN to software security testing. Deep neural network (DNN) is used to learn the hidden vulnerability pattern from a large number of vulnerable and clean program paths to train a prediction model to classify whether paths are vulnerable. The </a:t>
            </a:r>
            <a:r>
              <a:rPr lang="en-US" dirty="0" err="1"/>
              <a:t>fuzzer</a:t>
            </a:r>
            <a:r>
              <a:rPr lang="en-US" dirty="0"/>
              <a:t> then prioritizes seed inputs that are capable of covering the vulnerable paths and assigns more mutation energy.  Overall, using neural fuzzing outperformed traditional AFL in most cases.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https://www.microsoft.com/en-us/research/blog/neural-fuzzing/</a:t>
            </a:r>
            <a:endParaRPr lang="en-US" dirty="0"/>
          </a:p>
          <a:p>
            <a:endParaRPr lang="en-US" dirty="0"/>
          </a:p>
          <a:p>
            <a:r>
              <a:rPr lang="en-US" dirty="0"/>
              <a:t>Coverage-guided Fuzzing for Feedforward Neural Networks</a:t>
            </a:r>
          </a:p>
          <a:p>
            <a:r>
              <a:rPr lang="en-US" dirty="0" err="1"/>
              <a:t>Xiaofei</a:t>
            </a:r>
            <a:r>
              <a:rPr lang="en-US" dirty="0"/>
              <a:t> </a:t>
            </a:r>
            <a:r>
              <a:rPr lang="en-US" dirty="0" err="1"/>
              <a:t>Xie</a:t>
            </a:r>
            <a:r>
              <a:rPr lang="en-US" dirty="0"/>
              <a:t>; </a:t>
            </a:r>
            <a:r>
              <a:rPr lang="en-US" dirty="0" err="1"/>
              <a:t>Hongxu</a:t>
            </a:r>
            <a:r>
              <a:rPr lang="en-US" dirty="0"/>
              <a:t> Chen; Yi Li; Lei Ma; Yang Liu; </a:t>
            </a:r>
            <a:r>
              <a:rPr lang="en-US" dirty="0" err="1"/>
              <a:t>Jianjun</a:t>
            </a:r>
            <a:r>
              <a:rPr lang="en-US" dirty="0"/>
              <a:t> Zhao - Singapore &amp; Japan</a:t>
            </a:r>
          </a:p>
          <a:p>
            <a:r>
              <a:rPr lang="en-US" dirty="0"/>
              <a:t> - </a:t>
            </a:r>
            <a:r>
              <a:rPr lang="en-US" dirty="0">
                <a:hlinkClick r:id="rId5"/>
              </a:rPr>
              <a:t>https://www.ntu.edu.sg/home/yi_li/files/ase19-deephunter.pdf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ReluDiff</a:t>
            </a:r>
            <a:r>
              <a:rPr lang="en-US" dirty="0"/>
              <a:t>: Differential Verification of Deep Neural Networks</a:t>
            </a:r>
          </a:p>
          <a:p>
            <a:r>
              <a:rPr lang="en-US" dirty="0"/>
              <a:t>Brandon Paulsen; </a:t>
            </a:r>
            <a:r>
              <a:rPr lang="en-US" dirty="0" err="1"/>
              <a:t>Jingbo</a:t>
            </a:r>
            <a:r>
              <a:rPr lang="en-US" dirty="0"/>
              <a:t> Wang; Chao Wang</a:t>
            </a:r>
          </a:p>
          <a:p>
            <a:r>
              <a:rPr lang="en-US" dirty="0"/>
              <a:t> - </a:t>
            </a:r>
            <a:r>
              <a:rPr lang="en-US" dirty="0">
                <a:hlinkClick r:id="rId6"/>
              </a:rPr>
              <a:t>https://arxiv.org/pdf/2001.03662.pdf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B085F6-B951-C042-8039-6B3F9835FC1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49147" y="386531"/>
            <a:ext cx="3642853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955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712138-F9BA-2142-A5BF-70E827EF4D7C}"/>
              </a:ext>
            </a:extLst>
          </p:cNvPr>
          <p:cNvSpPr txBox="1"/>
          <p:nvPr/>
        </p:nvSpPr>
        <p:spPr>
          <a:xfrm>
            <a:off x="383458" y="280219"/>
            <a:ext cx="960120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https://</a:t>
            </a:r>
            <a:r>
              <a:rPr lang="en-US" sz="1400" dirty="0" err="1"/>
              <a:t>lcamtuf.blogspot.com</a:t>
            </a:r>
            <a:r>
              <a:rPr lang="en-US" sz="1400" dirty="0"/>
              <a:t>/2014/11/</a:t>
            </a:r>
            <a:r>
              <a:rPr lang="en-US" sz="1400" dirty="0" err="1"/>
              <a:t>pulling-jpegs-out-of-thin-air.html?m</a:t>
            </a:r>
            <a:r>
              <a:rPr lang="en-US" sz="1400" dirty="0"/>
              <a:t>=1</a:t>
            </a:r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github.com</a:t>
            </a:r>
            <a:r>
              <a:rPr lang="en-US" sz="1400" dirty="0"/>
              <a:t>/</a:t>
            </a:r>
            <a:r>
              <a:rPr lang="en-US" sz="1400" dirty="0" err="1"/>
              <a:t>secfigo</a:t>
            </a:r>
            <a:r>
              <a:rPr lang="en-US" sz="1400" dirty="0"/>
              <a:t>/Awesome-Fuzzing</a:t>
            </a:r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hypothesis.readthedocs.io</a:t>
            </a:r>
            <a:r>
              <a:rPr lang="en-US" sz="1400" dirty="0"/>
              <a:t>/</a:t>
            </a:r>
            <a:r>
              <a:rPr lang="en-US" sz="1400" dirty="0" err="1"/>
              <a:t>en</a:t>
            </a:r>
            <a:r>
              <a:rPr lang="en-US" sz="1400" dirty="0"/>
              <a:t>/latest/</a:t>
            </a:r>
            <a:r>
              <a:rPr lang="en-US" sz="1400" dirty="0" err="1"/>
              <a:t>quickstart.html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en.m.wikipedia.org</a:t>
            </a:r>
            <a:r>
              <a:rPr lang="en-US" sz="1400" dirty="0"/>
              <a:t>/wiki/</a:t>
            </a:r>
            <a:r>
              <a:rPr lang="en-US" sz="1400" dirty="0" err="1"/>
              <a:t>Symbolic_execution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en.m.wikipedia.org</a:t>
            </a:r>
            <a:r>
              <a:rPr lang="en-US" sz="1400" dirty="0"/>
              <a:t>/wiki/</a:t>
            </a:r>
            <a:r>
              <a:rPr lang="en-US" sz="1400" dirty="0" err="1"/>
              <a:t>Dynamic_program_analysis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jaxenter.com</a:t>
            </a:r>
            <a:r>
              <a:rPr lang="en-US" sz="1400" dirty="0"/>
              <a:t>/clusterfuzz-open-sourced-155414.html</a:t>
            </a:r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www.google.com</a:t>
            </a:r>
            <a:r>
              <a:rPr lang="en-US" sz="1400" dirty="0"/>
              <a:t>/</a:t>
            </a:r>
            <a:r>
              <a:rPr lang="en-US" sz="1400" dirty="0" err="1"/>
              <a:t>url?sa</a:t>
            </a:r>
            <a:r>
              <a:rPr lang="en-US" sz="1400" dirty="0"/>
              <a:t>=</a:t>
            </a:r>
            <a:r>
              <a:rPr lang="en-US" sz="1400" dirty="0" err="1"/>
              <a:t>t&amp;source</a:t>
            </a:r>
            <a:r>
              <a:rPr lang="en-US" sz="1400" dirty="0"/>
              <a:t>=</a:t>
            </a:r>
            <a:r>
              <a:rPr lang="en-US" sz="1400" dirty="0" err="1"/>
              <a:t>web&amp;rct</a:t>
            </a:r>
            <a:r>
              <a:rPr lang="en-US" sz="1400" dirty="0"/>
              <a:t>=</a:t>
            </a:r>
            <a:r>
              <a:rPr lang="en-US" sz="1400" dirty="0" err="1"/>
              <a:t>j&amp;url</a:t>
            </a:r>
            <a:r>
              <a:rPr lang="en-US" sz="1400" dirty="0"/>
              <a:t>=https://</a:t>
            </a:r>
            <a:r>
              <a:rPr lang="en-US" sz="1400" dirty="0" err="1"/>
              <a:t>arxiv.org</a:t>
            </a:r>
            <a:r>
              <a:rPr lang="en-US" sz="1400" dirty="0"/>
              <a:t>/pdf/1807.05620&amp;ved=2ahUKEwjGq8DfhcPnAhXllnIEHeCxDFIQFjAMegQIAxAB&amp;usg=AOvVaw1iTCG09IstfMpmUwGnJMgO</a:t>
            </a:r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www.google.com</a:t>
            </a:r>
            <a:r>
              <a:rPr lang="en-US" sz="1400" dirty="0"/>
              <a:t>/</a:t>
            </a:r>
            <a:r>
              <a:rPr lang="en-US" sz="1400" dirty="0" err="1"/>
              <a:t>search?safe</a:t>
            </a:r>
            <a:r>
              <a:rPr lang="en-US" sz="1400" dirty="0"/>
              <a:t>=</a:t>
            </a:r>
            <a:r>
              <a:rPr lang="en-US" sz="1400" dirty="0" err="1"/>
              <a:t>off&amp;client</a:t>
            </a:r>
            <a:r>
              <a:rPr lang="en-US" sz="1400" dirty="0"/>
              <a:t>=</a:t>
            </a:r>
            <a:r>
              <a:rPr lang="en-US" sz="1400" dirty="0" err="1"/>
              <a:t>ms-android-verizon&amp;sxsrf</a:t>
            </a:r>
            <a:r>
              <a:rPr lang="en-US" sz="1400" dirty="0"/>
              <a:t>=ACYBGNTeNA2omSZuKgto098v76N3D5kPiA%3A1581202462479&amp;ei=Hjw_XufrHJyrytMPwtGa6AU&amp;q=</a:t>
            </a:r>
            <a:r>
              <a:rPr lang="en-US" sz="1400" dirty="0" err="1"/>
              <a:t>libfuzzer&amp;oq</a:t>
            </a:r>
            <a:r>
              <a:rPr lang="en-US" sz="1400" dirty="0"/>
              <a:t>=</a:t>
            </a:r>
            <a:r>
              <a:rPr lang="en-US" sz="1400" dirty="0" err="1"/>
              <a:t>libfuzzer&amp;gs_l</a:t>
            </a:r>
            <a:r>
              <a:rPr lang="en-US" sz="1400" dirty="0"/>
              <a:t>=mobile-gws-wiz-serp.3..0i67j0i20i263l2j0l5.12896.14945..15183...1.1..0.173.1139.0j9....2..0....1.......8..0i71j35i362i39j46i322i39i275j35i39j46i322i39j0i273j0i199i291j46i322i131j0i10i67j46i322i67j46i322j0i199i175i131i273j0i199i291i131.mFbC4fbnsIk#sbfbu=1&amp;pi=</a:t>
            </a:r>
            <a:r>
              <a:rPr lang="en-US" sz="1400" dirty="0" err="1"/>
              <a:t>libfuzzer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scholar.google.com</a:t>
            </a:r>
            <a:r>
              <a:rPr lang="en-US" sz="1400" dirty="0"/>
              <a:t>/</a:t>
            </a:r>
            <a:r>
              <a:rPr lang="en-US" sz="1400" dirty="0" err="1"/>
              <a:t>scholar?start</a:t>
            </a:r>
            <a:r>
              <a:rPr lang="en-US" sz="1400" dirty="0"/>
              <a:t>=10&amp;q=</a:t>
            </a:r>
            <a:r>
              <a:rPr lang="en-US" sz="1400" dirty="0" err="1"/>
              <a:t>fuzz+testing+libfuzzer&amp;hl</a:t>
            </a:r>
            <a:r>
              <a:rPr lang="en-US" sz="1400" dirty="0"/>
              <a:t>=</a:t>
            </a:r>
            <a:r>
              <a:rPr lang="en-US" sz="1400" dirty="0" err="1"/>
              <a:t>en&amp;as_sdt</a:t>
            </a:r>
            <a:r>
              <a:rPr lang="en-US" sz="1400" dirty="0"/>
              <a:t>=0,33</a:t>
            </a:r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github.com</a:t>
            </a:r>
            <a:r>
              <a:rPr lang="en-US" sz="1400" dirty="0"/>
              <a:t>/google/fuzzing/blob/master/tutorial/</a:t>
            </a:r>
            <a:r>
              <a:rPr lang="en-US" sz="1400" dirty="0" err="1"/>
              <a:t>libFuzzerTutorial.md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66429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1461</Words>
  <Application>Microsoft Macintosh PowerPoint</Application>
  <PresentationFormat>Widescreen</PresentationFormat>
  <Paragraphs>117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21</cp:revision>
  <dcterms:created xsi:type="dcterms:W3CDTF">2020-02-09T16:51:30Z</dcterms:created>
  <dcterms:modified xsi:type="dcterms:W3CDTF">2020-02-09T19:33:24Z</dcterms:modified>
</cp:coreProperties>
</file>