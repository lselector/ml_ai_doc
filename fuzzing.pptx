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4"/>
    <p:sldId id="264" r:id="rId5"/>
    <p:sldId id="262" r:id="rId6"/>
    <p:sldId id="259" r:id="rId7"/>
    <p:sldId id="258" r:id="rId8"/>
    <p:sldId id="261"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p:restoredTop sz="94640"/>
  </p:normalViewPr>
  <p:slideViewPr>
    <p:cSldViewPr snapToGrid="0" snapToObjects="1">
      <p:cViewPr varScale="1">
        <p:scale>
          <a:sx n="87" d="100"/>
          <a:sy n="87" d="100"/>
        </p:scale>
        <p:origin x="6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916F0-5243-E446-B61C-9A9EE75423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3832ED-8A7F-694A-9BDE-2B0A450FC3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8F6894-9F95-F04A-B7FD-B6A8A7709DF8}"/>
              </a:ext>
            </a:extLst>
          </p:cNvPr>
          <p:cNvSpPr>
            <a:spLocks noGrp="1"/>
          </p:cNvSpPr>
          <p:nvPr>
            <p:ph type="dt" sz="half" idx="10"/>
          </p:nvPr>
        </p:nvSpPr>
        <p:spPr/>
        <p:txBody>
          <a:bodyPr/>
          <a:lstStyle/>
          <a:p>
            <a:fld id="{F7C34817-32A6-8B49-A0F9-E5B31E458402}" type="datetimeFigureOut">
              <a:rPr lang="en-US" smtClean="0"/>
              <a:t>2/9/20</a:t>
            </a:fld>
            <a:endParaRPr lang="en-US"/>
          </a:p>
        </p:txBody>
      </p:sp>
      <p:sp>
        <p:nvSpPr>
          <p:cNvPr id="5" name="Footer Placeholder 4">
            <a:extLst>
              <a:ext uri="{FF2B5EF4-FFF2-40B4-BE49-F238E27FC236}">
                <a16:creationId xmlns:a16="http://schemas.microsoft.com/office/drawing/2014/main" id="{EEB0ECA2-AAB4-9D43-837B-F614C98351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FC8B8F-AFE8-9C4D-875B-24425E161F23}"/>
              </a:ext>
            </a:extLst>
          </p:cNvPr>
          <p:cNvSpPr>
            <a:spLocks noGrp="1"/>
          </p:cNvSpPr>
          <p:nvPr>
            <p:ph type="sldNum" sz="quarter" idx="12"/>
          </p:nvPr>
        </p:nvSpPr>
        <p:spPr/>
        <p:txBody>
          <a:bodyPr/>
          <a:lstStyle/>
          <a:p>
            <a:fld id="{B2705478-AFFB-6B45-9823-5457BC63999F}" type="slidenum">
              <a:rPr lang="en-US" smtClean="0"/>
              <a:t>‹#›</a:t>
            </a:fld>
            <a:endParaRPr lang="en-US"/>
          </a:p>
        </p:txBody>
      </p:sp>
    </p:spTree>
    <p:extLst>
      <p:ext uri="{BB962C8B-B14F-4D97-AF65-F5344CB8AC3E}">
        <p14:creationId xmlns:p14="http://schemas.microsoft.com/office/powerpoint/2010/main" val="4231503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66059-1598-8E49-9DE4-E7AE4EE6CC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30AD40-FE68-514A-9710-1BA175FB0A2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AE6F35-2EDA-9846-80D6-EBF52A845FC6}"/>
              </a:ext>
            </a:extLst>
          </p:cNvPr>
          <p:cNvSpPr>
            <a:spLocks noGrp="1"/>
          </p:cNvSpPr>
          <p:nvPr>
            <p:ph type="dt" sz="half" idx="10"/>
          </p:nvPr>
        </p:nvSpPr>
        <p:spPr/>
        <p:txBody>
          <a:bodyPr/>
          <a:lstStyle/>
          <a:p>
            <a:fld id="{F7C34817-32A6-8B49-A0F9-E5B31E458402}" type="datetimeFigureOut">
              <a:rPr lang="en-US" smtClean="0"/>
              <a:t>2/9/20</a:t>
            </a:fld>
            <a:endParaRPr lang="en-US"/>
          </a:p>
        </p:txBody>
      </p:sp>
      <p:sp>
        <p:nvSpPr>
          <p:cNvPr id="5" name="Footer Placeholder 4">
            <a:extLst>
              <a:ext uri="{FF2B5EF4-FFF2-40B4-BE49-F238E27FC236}">
                <a16:creationId xmlns:a16="http://schemas.microsoft.com/office/drawing/2014/main" id="{1987BBCC-33DE-1742-BA09-68AD8BAD9E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CA6DD5-F2D9-2F42-A6E7-503B067A0C15}"/>
              </a:ext>
            </a:extLst>
          </p:cNvPr>
          <p:cNvSpPr>
            <a:spLocks noGrp="1"/>
          </p:cNvSpPr>
          <p:nvPr>
            <p:ph type="sldNum" sz="quarter" idx="12"/>
          </p:nvPr>
        </p:nvSpPr>
        <p:spPr/>
        <p:txBody>
          <a:bodyPr/>
          <a:lstStyle/>
          <a:p>
            <a:fld id="{B2705478-AFFB-6B45-9823-5457BC63999F}" type="slidenum">
              <a:rPr lang="en-US" smtClean="0"/>
              <a:t>‹#›</a:t>
            </a:fld>
            <a:endParaRPr lang="en-US"/>
          </a:p>
        </p:txBody>
      </p:sp>
    </p:spTree>
    <p:extLst>
      <p:ext uri="{BB962C8B-B14F-4D97-AF65-F5344CB8AC3E}">
        <p14:creationId xmlns:p14="http://schemas.microsoft.com/office/powerpoint/2010/main" val="457598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3BE6E-BF11-994D-95BE-34FD81CA15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03006E-A93F-2C40-B80A-1EA79235D5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7561FE6-B90A-DC42-8AD1-9ABE4E59172A}"/>
              </a:ext>
            </a:extLst>
          </p:cNvPr>
          <p:cNvSpPr>
            <a:spLocks noGrp="1"/>
          </p:cNvSpPr>
          <p:nvPr>
            <p:ph type="dt" sz="half" idx="10"/>
          </p:nvPr>
        </p:nvSpPr>
        <p:spPr/>
        <p:txBody>
          <a:bodyPr/>
          <a:lstStyle/>
          <a:p>
            <a:fld id="{F7C34817-32A6-8B49-A0F9-E5B31E458402}" type="datetimeFigureOut">
              <a:rPr lang="en-US" smtClean="0"/>
              <a:t>2/9/20</a:t>
            </a:fld>
            <a:endParaRPr lang="en-US"/>
          </a:p>
        </p:txBody>
      </p:sp>
      <p:sp>
        <p:nvSpPr>
          <p:cNvPr id="5" name="Footer Placeholder 4">
            <a:extLst>
              <a:ext uri="{FF2B5EF4-FFF2-40B4-BE49-F238E27FC236}">
                <a16:creationId xmlns:a16="http://schemas.microsoft.com/office/drawing/2014/main" id="{ADFAB50F-CC7A-BA49-BD24-DBA96FCABD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C133F-162C-1042-9FBB-B7EDF7BA8B68}"/>
              </a:ext>
            </a:extLst>
          </p:cNvPr>
          <p:cNvSpPr>
            <a:spLocks noGrp="1"/>
          </p:cNvSpPr>
          <p:nvPr>
            <p:ph type="sldNum" sz="quarter" idx="12"/>
          </p:nvPr>
        </p:nvSpPr>
        <p:spPr/>
        <p:txBody>
          <a:bodyPr/>
          <a:lstStyle/>
          <a:p>
            <a:fld id="{B2705478-AFFB-6B45-9823-5457BC63999F}" type="slidenum">
              <a:rPr lang="en-US" smtClean="0"/>
              <a:t>‹#›</a:t>
            </a:fld>
            <a:endParaRPr lang="en-US"/>
          </a:p>
        </p:txBody>
      </p:sp>
    </p:spTree>
    <p:extLst>
      <p:ext uri="{BB962C8B-B14F-4D97-AF65-F5344CB8AC3E}">
        <p14:creationId xmlns:p14="http://schemas.microsoft.com/office/powerpoint/2010/main" val="1937859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98DB1-6FFA-7840-B1CF-BB1E6E0C0E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27CE1C-031C-E341-83ED-F14AD10A8A7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768A3D-4B2E-8748-B4C7-F65042E2886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2FB99E-D1AA-7B45-A822-EDADC260A297}"/>
              </a:ext>
            </a:extLst>
          </p:cNvPr>
          <p:cNvSpPr>
            <a:spLocks noGrp="1"/>
          </p:cNvSpPr>
          <p:nvPr>
            <p:ph type="dt" sz="half" idx="10"/>
          </p:nvPr>
        </p:nvSpPr>
        <p:spPr/>
        <p:txBody>
          <a:bodyPr/>
          <a:lstStyle/>
          <a:p>
            <a:fld id="{F7C34817-32A6-8B49-A0F9-E5B31E458402}" type="datetimeFigureOut">
              <a:rPr lang="en-US" smtClean="0"/>
              <a:t>2/9/20</a:t>
            </a:fld>
            <a:endParaRPr lang="en-US"/>
          </a:p>
        </p:txBody>
      </p:sp>
      <p:sp>
        <p:nvSpPr>
          <p:cNvPr id="6" name="Footer Placeholder 5">
            <a:extLst>
              <a:ext uri="{FF2B5EF4-FFF2-40B4-BE49-F238E27FC236}">
                <a16:creationId xmlns:a16="http://schemas.microsoft.com/office/drawing/2014/main" id="{738507C7-2581-5348-B01E-82B7983243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FEA96A-865E-DC4F-A4E1-34F9C58FD7E2}"/>
              </a:ext>
            </a:extLst>
          </p:cNvPr>
          <p:cNvSpPr>
            <a:spLocks noGrp="1"/>
          </p:cNvSpPr>
          <p:nvPr>
            <p:ph type="sldNum" sz="quarter" idx="12"/>
          </p:nvPr>
        </p:nvSpPr>
        <p:spPr/>
        <p:txBody>
          <a:bodyPr/>
          <a:lstStyle/>
          <a:p>
            <a:fld id="{B2705478-AFFB-6B45-9823-5457BC63999F}" type="slidenum">
              <a:rPr lang="en-US" smtClean="0"/>
              <a:t>‹#›</a:t>
            </a:fld>
            <a:endParaRPr lang="en-US"/>
          </a:p>
        </p:txBody>
      </p:sp>
    </p:spTree>
    <p:extLst>
      <p:ext uri="{BB962C8B-B14F-4D97-AF65-F5344CB8AC3E}">
        <p14:creationId xmlns:p14="http://schemas.microsoft.com/office/powerpoint/2010/main" val="2815131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0DE55-D5FF-DE48-9498-020C4106E2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37FC2A1-01FE-9B4A-8654-6290D09CD0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EC8B565-ED26-8C42-88F4-9FA202E9C9A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784C44-AFE0-B049-8D98-ADA550C5BD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B314072-FF82-0E42-BA6A-354FBC89E5B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373675-A1CB-174C-B904-8173D1926C1E}"/>
              </a:ext>
            </a:extLst>
          </p:cNvPr>
          <p:cNvSpPr>
            <a:spLocks noGrp="1"/>
          </p:cNvSpPr>
          <p:nvPr>
            <p:ph type="dt" sz="half" idx="10"/>
          </p:nvPr>
        </p:nvSpPr>
        <p:spPr/>
        <p:txBody>
          <a:bodyPr/>
          <a:lstStyle/>
          <a:p>
            <a:fld id="{F7C34817-32A6-8B49-A0F9-E5B31E458402}" type="datetimeFigureOut">
              <a:rPr lang="en-US" smtClean="0"/>
              <a:t>2/9/20</a:t>
            </a:fld>
            <a:endParaRPr lang="en-US"/>
          </a:p>
        </p:txBody>
      </p:sp>
      <p:sp>
        <p:nvSpPr>
          <p:cNvPr id="8" name="Footer Placeholder 7">
            <a:extLst>
              <a:ext uri="{FF2B5EF4-FFF2-40B4-BE49-F238E27FC236}">
                <a16:creationId xmlns:a16="http://schemas.microsoft.com/office/drawing/2014/main" id="{0E9D6D42-B268-5B4E-A310-6D5D4AAE09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540AD2-E4C5-634D-A109-001622DD9EF9}"/>
              </a:ext>
            </a:extLst>
          </p:cNvPr>
          <p:cNvSpPr>
            <a:spLocks noGrp="1"/>
          </p:cNvSpPr>
          <p:nvPr>
            <p:ph type="sldNum" sz="quarter" idx="12"/>
          </p:nvPr>
        </p:nvSpPr>
        <p:spPr/>
        <p:txBody>
          <a:bodyPr/>
          <a:lstStyle/>
          <a:p>
            <a:fld id="{B2705478-AFFB-6B45-9823-5457BC63999F}" type="slidenum">
              <a:rPr lang="en-US" smtClean="0"/>
              <a:t>‹#›</a:t>
            </a:fld>
            <a:endParaRPr lang="en-US"/>
          </a:p>
        </p:txBody>
      </p:sp>
    </p:spTree>
    <p:extLst>
      <p:ext uri="{BB962C8B-B14F-4D97-AF65-F5344CB8AC3E}">
        <p14:creationId xmlns:p14="http://schemas.microsoft.com/office/powerpoint/2010/main" val="1797011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28AB0-79D6-A34B-9CA6-E160080367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F6D91E-BD8D-6242-AFC3-73AA086C7316}"/>
              </a:ext>
            </a:extLst>
          </p:cNvPr>
          <p:cNvSpPr>
            <a:spLocks noGrp="1"/>
          </p:cNvSpPr>
          <p:nvPr>
            <p:ph type="dt" sz="half" idx="10"/>
          </p:nvPr>
        </p:nvSpPr>
        <p:spPr/>
        <p:txBody>
          <a:bodyPr/>
          <a:lstStyle/>
          <a:p>
            <a:fld id="{F7C34817-32A6-8B49-A0F9-E5B31E458402}" type="datetimeFigureOut">
              <a:rPr lang="en-US" smtClean="0"/>
              <a:t>2/9/20</a:t>
            </a:fld>
            <a:endParaRPr lang="en-US"/>
          </a:p>
        </p:txBody>
      </p:sp>
      <p:sp>
        <p:nvSpPr>
          <p:cNvPr id="4" name="Footer Placeholder 3">
            <a:extLst>
              <a:ext uri="{FF2B5EF4-FFF2-40B4-BE49-F238E27FC236}">
                <a16:creationId xmlns:a16="http://schemas.microsoft.com/office/drawing/2014/main" id="{CD874E4C-000E-9545-90A0-C3EF613146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5A2595-965A-5044-9F6E-CDE7CECADDCC}"/>
              </a:ext>
            </a:extLst>
          </p:cNvPr>
          <p:cNvSpPr>
            <a:spLocks noGrp="1"/>
          </p:cNvSpPr>
          <p:nvPr>
            <p:ph type="sldNum" sz="quarter" idx="12"/>
          </p:nvPr>
        </p:nvSpPr>
        <p:spPr/>
        <p:txBody>
          <a:bodyPr/>
          <a:lstStyle/>
          <a:p>
            <a:fld id="{B2705478-AFFB-6B45-9823-5457BC63999F}" type="slidenum">
              <a:rPr lang="en-US" smtClean="0"/>
              <a:t>‹#›</a:t>
            </a:fld>
            <a:endParaRPr lang="en-US"/>
          </a:p>
        </p:txBody>
      </p:sp>
    </p:spTree>
    <p:extLst>
      <p:ext uri="{BB962C8B-B14F-4D97-AF65-F5344CB8AC3E}">
        <p14:creationId xmlns:p14="http://schemas.microsoft.com/office/powerpoint/2010/main" val="3619404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DB023E-82B1-E54B-92E7-0E2B3CEE0B62}"/>
              </a:ext>
            </a:extLst>
          </p:cNvPr>
          <p:cNvSpPr>
            <a:spLocks noGrp="1"/>
          </p:cNvSpPr>
          <p:nvPr>
            <p:ph type="dt" sz="half" idx="10"/>
          </p:nvPr>
        </p:nvSpPr>
        <p:spPr/>
        <p:txBody>
          <a:bodyPr/>
          <a:lstStyle/>
          <a:p>
            <a:fld id="{F7C34817-32A6-8B49-A0F9-E5B31E458402}" type="datetimeFigureOut">
              <a:rPr lang="en-US" smtClean="0"/>
              <a:t>2/9/20</a:t>
            </a:fld>
            <a:endParaRPr lang="en-US"/>
          </a:p>
        </p:txBody>
      </p:sp>
      <p:sp>
        <p:nvSpPr>
          <p:cNvPr id="3" name="Footer Placeholder 2">
            <a:extLst>
              <a:ext uri="{FF2B5EF4-FFF2-40B4-BE49-F238E27FC236}">
                <a16:creationId xmlns:a16="http://schemas.microsoft.com/office/drawing/2014/main" id="{A250710C-22E6-804C-B870-862419208D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A89F46-2EC1-E74E-978F-C2F0D1180ADD}"/>
              </a:ext>
            </a:extLst>
          </p:cNvPr>
          <p:cNvSpPr>
            <a:spLocks noGrp="1"/>
          </p:cNvSpPr>
          <p:nvPr>
            <p:ph type="sldNum" sz="quarter" idx="12"/>
          </p:nvPr>
        </p:nvSpPr>
        <p:spPr/>
        <p:txBody>
          <a:bodyPr/>
          <a:lstStyle/>
          <a:p>
            <a:fld id="{B2705478-AFFB-6B45-9823-5457BC63999F}" type="slidenum">
              <a:rPr lang="en-US" smtClean="0"/>
              <a:t>‹#›</a:t>
            </a:fld>
            <a:endParaRPr lang="en-US"/>
          </a:p>
        </p:txBody>
      </p:sp>
    </p:spTree>
    <p:extLst>
      <p:ext uri="{BB962C8B-B14F-4D97-AF65-F5344CB8AC3E}">
        <p14:creationId xmlns:p14="http://schemas.microsoft.com/office/powerpoint/2010/main" val="2998787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3095D-5909-D54A-AB7A-EFF9819B6B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E22B55-8B2D-3D48-810C-C831EB70B5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E7775C-D224-A54F-AFEC-66EAF8EBD5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F2EDD84-4505-A749-992E-75284CD83E30}"/>
              </a:ext>
            </a:extLst>
          </p:cNvPr>
          <p:cNvSpPr>
            <a:spLocks noGrp="1"/>
          </p:cNvSpPr>
          <p:nvPr>
            <p:ph type="dt" sz="half" idx="10"/>
          </p:nvPr>
        </p:nvSpPr>
        <p:spPr/>
        <p:txBody>
          <a:bodyPr/>
          <a:lstStyle/>
          <a:p>
            <a:fld id="{F7C34817-32A6-8B49-A0F9-E5B31E458402}" type="datetimeFigureOut">
              <a:rPr lang="en-US" smtClean="0"/>
              <a:t>2/9/20</a:t>
            </a:fld>
            <a:endParaRPr lang="en-US"/>
          </a:p>
        </p:txBody>
      </p:sp>
      <p:sp>
        <p:nvSpPr>
          <p:cNvPr id="6" name="Footer Placeholder 5">
            <a:extLst>
              <a:ext uri="{FF2B5EF4-FFF2-40B4-BE49-F238E27FC236}">
                <a16:creationId xmlns:a16="http://schemas.microsoft.com/office/drawing/2014/main" id="{3D4D4CE0-3A4C-9448-B673-60DAE9D60A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E15C4A-16A1-464D-8CB0-4DD1F6AE4342}"/>
              </a:ext>
            </a:extLst>
          </p:cNvPr>
          <p:cNvSpPr>
            <a:spLocks noGrp="1"/>
          </p:cNvSpPr>
          <p:nvPr>
            <p:ph type="sldNum" sz="quarter" idx="12"/>
          </p:nvPr>
        </p:nvSpPr>
        <p:spPr/>
        <p:txBody>
          <a:bodyPr/>
          <a:lstStyle/>
          <a:p>
            <a:fld id="{B2705478-AFFB-6B45-9823-5457BC63999F}" type="slidenum">
              <a:rPr lang="en-US" smtClean="0"/>
              <a:t>‹#›</a:t>
            </a:fld>
            <a:endParaRPr lang="en-US"/>
          </a:p>
        </p:txBody>
      </p:sp>
    </p:spTree>
    <p:extLst>
      <p:ext uri="{BB962C8B-B14F-4D97-AF65-F5344CB8AC3E}">
        <p14:creationId xmlns:p14="http://schemas.microsoft.com/office/powerpoint/2010/main" val="85613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F3F2D-D035-724E-B016-0D6BB01995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3C05EC-0CCE-B241-8B5A-363178C328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D8B0D3-F269-5546-ABA8-781B2743B9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CA368DB-FDE0-6E41-BE3F-F67FDAB1342B}"/>
              </a:ext>
            </a:extLst>
          </p:cNvPr>
          <p:cNvSpPr>
            <a:spLocks noGrp="1"/>
          </p:cNvSpPr>
          <p:nvPr>
            <p:ph type="dt" sz="half" idx="10"/>
          </p:nvPr>
        </p:nvSpPr>
        <p:spPr/>
        <p:txBody>
          <a:bodyPr/>
          <a:lstStyle/>
          <a:p>
            <a:fld id="{F7C34817-32A6-8B49-A0F9-E5B31E458402}" type="datetimeFigureOut">
              <a:rPr lang="en-US" smtClean="0"/>
              <a:t>2/9/20</a:t>
            </a:fld>
            <a:endParaRPr lang="en-US"/>
          </a:p>
        </p:txBody>
      </p:sp>
      <p:sp>
        <p:nvSpPr>
          <p:cNvPr id="6" name="Footer Placeholder 5">
            <a:extLst>
              <a:ext uri="{FF2B5EF4-FFF2-40B4-BE49-F238E27FC236}">
                <a16:creationId xmlns:a16="http://schemas.microsoft.com/office/drawing/2014/main" id="{C2F93B0C-E3E3-0D42-BE77-F77A0FD4F6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9A6914-E082-7E42-B7E6-FBAF4E3A1225}"/>
              </a:ext>
            </a:extLst>
          </p:cNvPr>
          <p:cNvSpPr>
            <a:spLocks noGrp="1"/>
          </p:cNvSpPr>
          <p:nvPr>
            <p:ph type="sldNum" sz="quarter" idx="12"/>
          </p:nvPr>
        </p:nvSpPr>
        <p:spPr/>
        <p:txBody>
          <a:bodyPr/>
          <a:lstStyle/>
          <a:p>
            <a:fld id="{B2705478-AFFB-6B45-9823-5457BC63999F}" type="slidenum">
              <a:rPr lang="en-US" smtClean="0"/>
              <a:t>‹#›</a:t>
            </a:fld>
            <a:endParaRPr lang="en-US"/>
          </a:p>
        </p:txBody>
      </p:sp>
    </p:spTree>
    <p:extLst>
      <p:ext uri="{BB962C8B-B14F-4D97-AF65-F5344CB8AC3E}">
        <p14:creationId xmlns:p14="http://schemas.microsoft.com/office/powerpoint/2010/main" val="866197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D4D8D-5D00-624C-838D-363A2BDC22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8C693A-D352-D842-AB9F-7E211BF1BFE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4D58F6-C930-9D4C-B0BA-48B0E7D10EAE}"/>
              </a:ext>
            </a:extLst>
          </p:cNvPr>
          <p:cNvSpPr>
            <a:spLocks noGrp="1"/>
          </p:cNvSpPr>
          <p:nvPr>
            <p:ph type="dt" sz="half" idx="10"/>
          </p:nvPr>
        </p:nvSpPr>
        <p:spPr/>
        <p:txBody>
          <a:bodyPr/>
          <a:lstStyle/>
          <a:p>
            <a:fld id="{F7C34817-32A6-8B49-A0F9-E5B31E458402}" type="datetimeFigureOut">
              <a:rPr lang="en-US" smtClean="0"/>
              <a:t>2/9/20</a:t>
            </a:fld>
            <a:endParaRPr lang="en-US"/>
          </a:p>
        </p:txBody>
      </p:sp>
      <p:sp>
        <p:nvSpPr>
          <p:cNvPr id="5" name="Footer Placeholder 4">
            <a:extLst>
              <a:ext uri="{FF2B5EF4-FFF2-40B4-BE49-F238E27FC236}">
                <a16:creationId xmlns:a16="http://schemas.microsoft.com/office/drawing/2014/main" id="{40707E38-EBA0-384C-BF11-81C619023C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6A3126-4AA3-3743-B239-7F9A6BB9281F}"/>
              </a:ext>
            </a:extLst>
          </p:cNvPr>
          <p:cNvSpPr>
            <a:spLocks noGrp="1"/>
          </p:cNvSpPr>
          <p:nvPr>
            <p:ph type="sldNum" sz="quarter" idx="12"/>
          </p:nvPr>
        </p:nvSpPr>
        <p:spPr/>
        <p:txBody>
          <a:bodyPr/>
          <a:lstStyle/>
          <a:p>
            <a:fld id="{B2705478-AFFB-6B45-9823-5457BC63999F}" type="slidenum">
              <a:rPr lang="en-US" smtClean="0"/>
              <a:t>‹#›</a:t>
            </a:fld>
            <a:endParaRPr lang="en-US"/>
          </a:p>
        </p:txBody>
      </p:sp>
    </p:spTree>
    <p:extLst>
      <p:ext uri="{BB962C8B-B14F-4D97-AF65-F5344CB8AC3E}">
        <p14:creationId xmlns:p14="http://schemas.microsoft.com/office/powerpoint/2010/main" val="3561318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5B6CC1-FF9E-B844-89CF-473B77F68E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F0F608B-1F86-7D40-80D2-90853403C6A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550EE8-B9C8-0A4E-9E3D-F7AF73F594ED}"/>
              </a:ext>
            </a:extLst>
          </p:cNvPr>
          <p:cNvSpPr>
            <a:spLocks noGrp="1"/>
          </p:cNvSpPr>
          <p:nvPr>
            <p:ph type="dt" sz="half" idx="10"/>
          </p:nvPr>
        </p:nvSpPr>
        <p:spPr/>
        <p:txBody>
          <a:bodyPr/>
          <a:lstStyle/>
          <a:p>
            <a:fld id="{F7C34817-32A6-8B49-A0F9-E5B31E458402}" type="datetimeFigureOut">
              <a:rPr lang="en-US" smtClean="0"/>
              <a:t>2/9/20</a:t>
            </a:fld>
            <a:endParaRPr lang="en-US"/>
          </a:p>
        </p:txBody>
      </p:sp>
      <p:sp>
        <p:nvSpPr>
          <p:cNvPr id="5" name="Footer Placeholder 4">
            <a:extLst>
              <a:ext uri="{FF2B5EF4-FFF2-40B4-BE49-F238E27FC236}">
                <a16:creationId xmlns:a16="http://schemas.microsoft.com/office/drawing/2014/main" id="{5EF65E81-F8FD-694B-B8A4-2A771BBAF0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64A061-985E-894A-8CED-8F35B0230C8B}"/>
              </a:ext>
            </a:extLst>
          </p:cNvPr>
          <p:cNvSpPr>
            <a:spLocks noGrp="1"/>
          </p:cNvSpPr>
          <p:nvPr>
            <p:ph type="sldNum" sz="quarter" idx="12"/>
          </p:nvPr>
        </p:nvSpPr>
        <p:spPr/>
        <p:txBody>
          <a:bodyPr/>
          <a:lstStyle/>
          <a:p>
            <a:fld id="{B2705478-AFFB-6B45-9823-5457BC63999F}" type="slidenum">
              <a:rPr lang="en-US" smtClean="0"/>
              <a:t>‹#›</a:t>
            </a:fld>
            <a:endParaRPr lang="en-US"/>
          </a:p>
        </p:txBody>
      </p:sp>
    </p:spTree>
    <p:extLst>
      <p:ext uri="{BB962C8B-B14F-4D97-AF65-F5344CB8AC3E}">
        <p14:creationId xmlns:p14="http://schemas.microsoft.com/office/powerpoint/2010/main" val="2684988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F3FEED-D3CE-3A48-88EE-357E861F22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A8B24A-F09F-CA4C-9D09-6E3853ABBF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AB70BC-FE2B-D640-81B0-E88A886834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C34817-32A6-8B49-A0F9-E5B31E458402}" type="datetimeFigureOut">
              <a:rPr lang="en-US" smtClean="0"/>
              <a:t>2/9/20</a:t>
            </a:fld>
            <a:endParaRPr lang="en-US"/>
          </a:p>
        </p:txBody>
      </p:sp>
      <p:sp>
        <p:nvSpPr>
          <p:cNvPr id="5" name="Footer Placeholder 4">
            <a:extLst>
              <a:ext uri="{FF2B5EF4-FFF2-40B4-BE49-F238E27FC236}">
                <a16:creationId xmlns:a16="http://schemas.microsoft.com/office/drawing/2014/main" id="{8D98D1CD-1A59-F94B-81B8-988E63CA16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4DA31D1-4CBD-8744-9D1D-7B8B1EBBA1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705478-AFFB-6B45-9823-5457BC63999F}" type="slidenum">
              <a:rPr lang="en-US" smtClean="0"/>
              <a:t>‹#›</a:t>
            </a:fld>
            <a:endParaRPr lang="en-US"/>
          </a:p>
        </p:txBody>
      </p:sp>
    </p:spTree>
    <p:extLst>
      <p:ext uri="{BB962C8B-B14F-4D97-AF65-F5344CB8AC3E}">
        <p14:creationId xmlns:p14="http://schemas.microsoft.com/office/powerpoint/2010/main" val="1373065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google/AFL" TargetMode="External"/><Relationship Id="rId7" Type="http://schemas.openxmlformats.org/officeDocument/2006/relationships/hyperlink" Target="https://github.com/google/fuzzing/blob/master/tutorial/libFuzzerTutorial.md" TargetMode="External"/><Relationship Id="rId2" Type="http://schemas.openxmlformats.org/officeDocument/2006/relationships/hyperlink" Target="https://google.github.io/clusterfuzz/setting-up-fuzzing/libfuzzer-and-afl/" TargetMode="External"/><Relationship Id="rId1" Type="http://schemas.openxmlformats.org/officeDocument/2006/relationships/slideLayout" Target="../slideLayouts/slideLayout2.xml"/><Relationship Id="rId6" Type="http://schemas.openxmlformats.org/officeDocument/2006/relationships/hyperlink" Target="https://llvm.org/docs/LibFuzzer.html" TargetMode="External"/><Relationship Id="rId5" Type="http://schemas.openxmlformats.org/officeDocument/2006/relationships/hyperlink" Target="mailto:lcamtuf@google.com" TargetMode="External"/><Relationship Id="rId4" Type="http://schemas.openxmlformats.org/officeDocument/2006/relationships/hyperlink" Target="https://github.com/google/AFL/blob/master/docs/QuickStartGuide.txt"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link.springer.com/chapter/10.1007/978-3-030-31784-3_14"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arxiv.org/pdf/1901.01142.pdf" TargetMode="External"/><Relationship Id="rId2" Type="http://schemas.openxmlformats.org/officeDocument/2006/relationships/hyperlink" Target="https://llvm.org/docs/LibFuzzer.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hyperlink" Target="https://medium.com/syncedreview/google-brain-tensorfuzz-debugs-neural-networks-with-coverage-guided-fuzzing-89843346fcda" TargetMode="External"/><Relationship Id="rId1" Type="http://schemas.openxmlformats.org/officeDocument/2006/relationships/slideLayout" Target="../slideLayouts/slideLayout2.xml"/><Relationship Id="rId5" Type="http://schemas.openxmlformats.org/officeDocument/2006/relationships/hyperlink" Target="http://proceedings.mlr.press/v97/odena19a/odena19a.pdf" TargetMode="External"/><Relationship Id="rId4" Type="http://schemas.openxmlformats.org/officeDocument/2006/relationships/image" Target="../media/image3.tif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ieeexplore.ieee.org/document/8672949" TargetMode="External"/><Relationship Id="rId7" Type="http://schemas.openxmlformats.org/officeDocument/2006/relationships/image" Target="../media/image4.tiff"/><Relationship Id="rId2" Type="http://schemas.openxmlformats.org/officeDocument/2006/relationships/hyperlink" Target="https://arxiv.org/pdf/1908.01262.pdf" TargetMode="External"/><Relationship Id="rId1" Type="http://schemas.openxmlformats.org/officeDocument/2006/relationships/slideLayout" Target="../slideLayouts/slideLayout2.xml"/><Relationship Id="rId6" Type="http://schemas.openxmlformats.org/officeDocument/2006/relationships/hyperlink" Target="https://arxiv.org/pdf/2001.03662.pdf" TargetMode="External"/><Relationship Id="rId5" Type="http://schemas.openxmlformats.org/officeDocument/2006/relationships/hyperlink" Target="https://www.ntu.edu.sg/home/yi_li/files/ase19-deephunter.pdf" TargetMode="External"/><Relationship Id="rId4" Type="http://schemas.openxmlformats.org/officeDocument/2006/relationships/hyperlink" Target="https://www.microsoft.com/en-us/research/blog/neural-fuzzing/"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link.springer.com/chapter/10.1007/978-3-030-31784-3_14" TargetMode="External"/><Relationship Id="rId2" Type="http://schemas.openxmlformats.org/officeDocument/2006/relationships/hyperlink" Target="https://github.com/google/fuzzing/blob/master/tutorial/libFuzzerTutorial.md"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7B2D122-A95C-E44C-AB7D-5C6EBCF3B815}"/>
              </a:ext>
            </a:extLst>
          </p:cNvPr>
          <p:cNvSpPr txBox="1"/>
          <p:nvPr/>
        </p:nvSpPr>
        <p:spPr>
          <a:xfrm>
            <a:off x="0" y="0"/>
            <a:ext cx="7093974" cy="584775"/>
          </a:xfrm>
          <a:prstGeom prst="rect">
            <a:avLst/>
          </a:prstGeom>
          <a:noFill/>
        </p:spPr>
        <p:txBody>
          <a:bodyPr wrap="square" rtlCol="0">
            <a:spAutoFit/>
          </a:bodyPr>
          <a:lstStyle/>
          <a:p>
            <a:r>
              <a:rPr lang="en-US" sz="3200" b="1" dirty="0"/>
              <a:t>Fuzzing for Test Automation.</a:t>
            </a:r>
          </a:p>
        </p:txBody>
      </p:sp>
      <p:sp>
        <p:nvSpPr>
          <p:cNvPr id="5" name="TextBox 4">
            <a:extLst>
              <a:ext uri="{FF2B5EF4-FFF2-40B4-BE49-F238E27FC236}">
                <a16:creationId xmlns:a16="http://schemas.microsoft.com/office/drawing/2014/main" id="{6071CA9C-8A9A-FC41-8B91-48104A9FA516}"/>
              </a:ext>
            </a:extLst>
          </p:cNvPr>
          <p:cNvSpPr txBox="1"/>
          <p:nvPr/>
        </p:nvSpPr>
        <p:spPr>
          <a:xfrm>
            <a:off x="4970204" y="685599"/>
            <a:ext cx="4247539" cy="2308324"/>
          </a:xfrm>
          <a:prstGeom prst="rect">
            <a:avLst/>
          </a:prstGeom>
          <a:noFill/>
        </p:spPr>
        <p:txBody>
          <a:bodyPr wrap="square" rtlCol="0">
            <a:spAutoFit/>
          </a:bodyPr>
          <a:lstStyle/>
          <a:p>
            <a:r>
              <a:rPr lang="en-US" dirty="0"/>
              <a:t>Fuzzing or fuzz testing - test software by feeding it with random data – was done since 1950s.</a:t>
            </a:r>
          </a:p>
          <a:p>
            <a:endParaRPr lang="en-US" dirty="0"/>
          </a:p>
          <a:p>
            <a:r>
              <a:rPr lang="en-US" dirty="0"/>
              <a:t>The term "fuzzing" originates from a 1988 class project (fuzz testing </a:t>
            </a:r>
            <a:r>
              <a:rPr lang="en-US" dirty="0" err="1"/>
              <a:t>unix</a:t>
            </a:r>
            <a:r>
              <a:rPr lang="en-US" dirty="0"/>
              <a:t> utilities) taught by Barton Miller at the University of Wisconsin.</a:t>
            </a:r>
          </a:p>
        </p:txBody>
      </p:sp>
      <p:pic>
        <p:nvPicPr>
          <p:cNvPr id="6" name="Picture 5">
            <a:extLst>
              <a:ext uri="{FF2B5EF4-FFF2-40B4-BE49-F238E27FC236}">
                <a16:creationId xmlns:a16="http://schemas.microsoft.com/office/drawing/2014/main" id="{8971D54C-E528-7C40-A256-F1E929980CC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494466" y="109741"/>
            <a:ext cx="2668037" cy="2884182"/>
          </a:xfrm>
          <a:prstGeom prst="rect">
            <a:avLst/>
          </a:prstGeom>
        </p:spPr>
      </p:pic>
      <p:sp>
        <p:nvSpPr>
          <p:cNvPr id="7" name="TextBox 6">
            <a:extLst>
              <a:ext uri="{FF2B5EF4-FFF2-40B4-BE49-F238E27FC236}">
                <a16:creationId xmlns:a16="http://schemas.microsoft.com/office/drawing/2014/main" id="{331C0BDE-160A-9445-84C2-51BCFBACF66A}"/>
              </a:ext>
            </a:extLst>
          </p:cNvPr>
          <p:cNvSpPr txBox="1"/>
          <p:nvPr/>
        </p:nvSpPr>
        <p:spPr>
          <a:xfrm>
            <a:off x="9900059" y="3085244"/>
            <a:ext cx="2149373" cy="646331"/>
          </a:xfrm>
          <a:prstGeom prst="rect">
            <a:avLst/>
          </a:prstGeom>
          <a:noFill/>
        </p:spPr>
        <p:txBody>
          <a:bodyPr wrap="square" rtlCol="0">
            <a:spAutoFit/>
          </a:bodyPr>
          <a:lstStyle/>
          <a:p>
            <a:r>
              <a:rPr lang="en-US" dirty="0"/>
              <a:t>Prof. Barton P. Miller</a:t>
            </a:r>
          </a:p>
          <a:p>
            <a:r>
              <a:rPr lang="en-US" dirty="0"/>
              <a:t>Univ. of Wisconsin</a:t>
            </a:r>
          </a:p>
        </p:txBody>
      </p:sp>
      <p:sp>
        <p:nvSpPr>
          <p:cNvPr id="8" name="TextBox 7">
            <a:extLst>
              <a:ext uri="{FF2B5EF4-FFF2-40B4-BE49-F238E27FC236}">
                <a16:creationId xmlns:a16="http://schemas.microsoft.com/office/drawing/2014/main" id="{7933769E-9323-B34B-B1B1-B891294792A4}"/>
              </a:ext>
            </a:extLst>
          </p:cNvPr>
          <p:cNvSpPr txBox="1"/>
          <p:nvPr/>
        </p:nvSpPr>
        <p:spPr>
          <a:xfrm>
            <a:off x="44244" y="3392128"/>
            <a:ext cx="8878529" cy="3416320"/>
          </a:xfrm>
          <a:prstGeom prst="rect">
            <a:avLst/>
          </a:prstGeom>
          <a:noFill/>
        </p:spPr>
        <p:txBody>
          <a:bodyPr wrap="square" rtlCol="0">
            <a:spAutoFit/>
          </a:bodyPr>
          <a:lstStyle/>
          <a:p>
            <a:pPr marL="285750" indent="-285750">
              <a:buFont typeface="Arial" panose="020B0604020202020204" pitchFamily="34" charset="0"/>
              <a:buChar char="•"/>
            </a:pPr>
            <a:r>
              <a:rPr lang="en-US" dirty="0"/>
              <a:t>2012 – </a:t>
            </a:r>
            <a:r>
              <a:rPr lang="en-US" dirty="0" err="1"/>
              <a:t>ClusterFuzz</a:t>
            </a:r>
            <a:r>
              <a:rPr lang="en-US" dirty="0"/>
              <a:t> (Google cloud-based fuzzing infrastructure)</a:t>
            </a:r>
          </a:p>
          <a:p>
            <a:pPr marL="285750" indent="-285750">
              <a:buFont typeface="Arial" panose="020B0604020202020204" pitchFamily="34" charset="0"/>
              <a:buChar char="•"/>
            </a:pPr>
            <a:r>
              <a:rPr lang="en-US" dirty="0"/>
              <a:t>2014 – </a:t>
            </a:r>
            <a:r>
              <a:rPr lang="en-US" dirty="0" err="1"/>
              <a:t>fuzzer</a:t>
            </a:r>
            <a:r>
              <a:rPr lang="en-US" dirty="0"/>
              <a:t> AFL success in disclosing </a:t>
            </a:r>
            <a:r>
              <a:rPr lang="en-US" dirty="0" err="1"/>
              <a:t>Sellchock</a:t>
            </a:r>
            <a:r>
              <a:rPr lang="en-US" dirty="0"/>
              <a:t> bugs in Unix Bash shell</a:t>
            </a:r>
          </a:p>
          <a:p>
            <a:pPr marL="285750" indent="-285750">
              <a:buFont typeface="Arial" panose="020B0604020202020204" pitchFamily="34" charset="0"/>
              <a:buChar char="•"/>
            </a:pPr>
            <a:r>
              <a:rPr lang="en-US" dirty="0"/>
              <a:t>2014-15 – </a:t>
            </a:r>
            <a:r>
              <a:rPr lang="en-US" dirty="0" err="1"/>
              <a:t>fuzzer</a:t>
            </a:r>
            <a:r>
              <a:rPr lang="en-US" dirty="0"/>
              <a:t> AFL disclosed the Heartbleed vulnerability in OpenSSL</a:t>
            </a:r>
          </a:p>
          <a:p>
            <a:pPr marL="285750" indent="-285750">
              <a:buFont typeface="Arial" panose="020B0604020202020204" pitchFamily="34" charset="0"/>
              <a:buChar char="•"/>
            </a:pPr>
            <a:r>
              <a:rPr lang="en-US" dirty="0"/>
              <a:t>2016 – DARPA (Defense Advanced Research Projects Agency) competition for developing automatic defense systems that can discover, exploit, and correct software flaws in real-time – used fuzzing as offense strategy to discover flaws in the software of the opponents.</a:t>
            </a:r>
          </a:p>
          <a:p>
            <a:pPr marL="285750" indent="-285750">
              <a:buFont typeface="Arial" panose="020B0604020202020204" pitchFamily="34" charset="0"/>
              <a:buChar char="•"/>
            </a:pPr>
            <a:r>
              <a:rPr lang="en-US" dirty="0"/>
              <a:t>2016 - Project Springfield (</a:t>
            </a:r>
            <a:r>
              <a:rPr lang="en-US" dirty="0" err="1"/>
              <a:t>Mocrosoft</a:t>
            </a:r>
            <a:r>
              <a:rPr lang="en-US" dirty="0"/>
              <a:t> cloud-based fuzz testing service for finding security critical bugs in software.</a:t>
            </a:r>
          </a:p>
          <a:p>
            <a:pPr marL="285750" indent="-285750">
              <a:buFont typeface="Arial" panose="020B0604020202020204" pitchFamily="34" charset="0"/>
              <a:buChar char="•"/>
            </a:pPr>
            <a:r>
              <a:rPr lang="en-US" dirty="0"/>
              <a:t>2016 - OSS-Fuzz (Google) - continuous fuzzing of security-critical open-source projects.</a:t>
            </a:r>
          </a:p>
          <a:p>
            <a:pPr marL="285750" indent="-285750">
              <a:buFont typeface="Arial" panose="020B0604020202020204" pitchFamily="34" charset="0"/>
              <a:buChar char="•"/>
            </a:pPr>
            <a:r>
              <a:rPr lang="en-US" dirty="0"/>
              <a:t>2018 - At Black Hat 2018, Christopher </a:t>
            </a:r>
            <a:r>
              <a:rPr lang="en-US" dirty="0" err="1"/>
              <a:t>Domas</a:t>
            </a:r>
            <a:r>
              <a:rPr lang="en-US" dirty="0"/>
              <a:t> demonstrated the use of fuzzing to expose the existence of a hidden RISC core in a </a:t>
            </a:r>
            <a:r>
              <a:rPr lang="en-US" dirty="0" err="1"/>
              <a:t>processor.This</a:t>
            </a:r>
            <a:r>
              <a:rPr lang="en-US" dirty="0"/>
              <a:t> core was able to bypass existing security checks to execute Ring 0 commands from Ring 3.</a:t>
            </a:r>
          </a:p>
        </p:txBody>
      </p:sp>
      <p:sp>
        <p:nvSpPr>
          <p:cNvPr id="10" name="TextBox 9">
            <a:extLst>
              <a:ext uri="{FF2B5EF4-FFF2-40B4-BE49-F238E27FC236}">
                <a16:creationId xmlns:a16="http://schemas.microsoft.com/office/drawing/2014/main" id="{DF3FB33D-71FB-1749-8809-EC398CDEF345}"/>
              </a:ext>
            </a:extLst>
          </p:cNvPr>
          <p:cNvSpPr txBox="1"/>
          <p:nvPr/>
        </p:nvSpPr>
        <p:spPr>
          <a:xfrm>
            <a:off x="235974" y="766918"/>
            <a:ext cx="1120878" cy="923330"/>
          </a:xfrm>
          <a:prstGeom prst="rect">
            <a:avLst/>
          </a:prstGeom>
          <a:noFill/>
          <a:ln w="50800">
            <a:solidFill>
              <a:schemeClr val="accent1"/>
            </a:solidFill>
          </a:ln>
        </p:spPr>
        <p:txBody>
          <a:bodyPr wrap="square" rtlCol="0">
            <a:spAutoFit/>
          </a:bodyPr>
          <a:lstStyle/>
          <a:p>
            <a:r>
              <a:rPr lang="en-US" b="1" dirty="0" err="1">
                <a:solidFill>
                  <a:srgbClr val="FF0000"/>
                </a:solidFill>
              </a:rPr>
              <a:t>Fuzzer</a:t>
            </a:r>
            <a:br>
              <a:rPr lang="en-US" dirty="0"/>
            </a:br>
            <a:r>
              <a:rPr lang="en-US" dirty="0"/>
              <a:t>generate</a:t>
            </a:r>
          </a:p>
          <a:p>
            <a:r>
              <a:rPr lang="en-US" dirty="0"/>
              <a:t>data</a:t>
            </a:r>
          </a:p>
        </p:txBody>
      </p:sp>
      <p:sp>
        <p:nvSpPr>
          <p:cNvPr id="11" name="TextBox 10">
            <a:extLst>
              <a:ext uri="{FF2B5EF4-FFF2-40B4-BE49-F238E27FC236}">
                <a16:creationId xmlns:a16="http://schemas.microsoft.com/office/drawing/2014/main" id="{FC5094BC-D7B7-2B49-86B4-4E283F7E2A6E}"/>
              </a:ext>
            </a:extLst>
          </p:cNvPr>
          <p:cNvSpPr txBox="1"/>
          <p:nvPr/>
        </p:nvSpPr>
        <p:spPr>
          <a:xfrm>
            <a:off x="1971910" y="766291"/>
            <a:ext cx="1364517" cy="923330"/>
          </a:xfrm>
          <a:prstGeom prst="rect">
            <a:avLst/>
          </a:prstGeom>
          <a:noFill/>
          <a:ln w="50800">
            <a:solidFill>
              <a:schemeClr val="accent1"/>
            </a:solidFill>
          </a:ln>
        </p:spPr>
        <p:txBody>
          <a:bodyPr wrap="square" rtlCol="0">
            <a:spAutoFit/>
          </a:bodyPr>
          <a:lstStyle/>
          <a:p>
            <a:r>
              <a:rPr lang="en-US" b="1" dirty="0">
                <a:solidFill>
                  <a:srgbClr val="FF0000"/>
                </a:solidFill>
              </a:rPr>
              <a:t>SUT</a:t>
            </a:r>
          </a:p>
          <a:p>
            <a:r>
              <a:rPr lang="en-US" dirty="0"/>
              <a:t>System</a:t>
            </a:r>
          </a:p>
          <a:p>
            <a:r>
              <a:rPr lang="en-US" dirty="0"/>
              <a:t>Under Test</a:t>
            </a:r>
          </a:p>
        </p:txBody>
      </p:sp>
      <p:sp>
        <p:nvSpPr>
          <p:cNvPr id="12" name="U-Turn Arrow 11">
            <a:extLst>
              <a:ext uri="{FF2B5EF4-FFF2-40B4-BE49-F238E27FC236}">
                <a16:creationId xmlns:a16="http://schemas.microsoft.com/office/drawing/2014/main" id="{4B12FA65-FA84-6E4A-B199-048B3853DB9D}"/>
              </a:ext>
            </a:extLst>
          </p:cNvPr>
          <p:cNvSpPr/>
          <p:nvPr/>
        </p:nvSpPr>
        <p:spPr>
          <a:xfrm rot="10800000">
            <a:off x="564828" y="1724247"/>
            <a:ext cx="2140085" cy="760071"/>
          </a:xfrm>
          <a:prstGeom prst="uturnArrow">
            <a:avLst>
              <a:gd name="adj1" fmla="val 36097"/>
              <a:gd name="adj2" fmla="val 25000"/>
              <a:gd name="adj3" fmla="val 23060"/>
              <a:gd name="adj4" fmla="val 43750"/>
              <a:gd name="adj5" fmla="val 100000"/>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ight Arrow 12">
            <a:extLst>
              <a:ext uri="{FF2B5EF4-FFF2-40B4-BE49-F238E27FC236}">
                <a16:creationId xmlns:a16="http://schemas.microsoft.com/office/drawing/2014/main" id="{939536C4-C3D1-2446-BF4C-9248CBF297EF}"/>
              </a:ext>
            </a:extLst>
          </p:cNvPr>
          <p:cNvSpPr/>
          <p:nvPr/>
        </p:nvSpPr>
        <p:spPr>
          <a:xfrm>
            <a:off x="3382419" y="992222"/>
            <a:ext cx="547825" cy="441109"/>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3A6A4F8-338C-E242-8FD7-17B80B10EC1A}"/>
              </a:ext>
            </a:extLst>
          </p:cNvPr>
          <p:cNvSpPr txBox="1"/>
          <p:nvPr/>
        </p:nvSpPr>
        <p:spPr>
          <a:xfrm>
            <a:off x="3976235" y="1003319"/>
            <a:ext cx="967966" cy="369332"/>
          </a:xfrm>
          <a:prstGeom prst="rect">
            <a:avLst/>
          </a:prstGeom>
          <a:noFill/>
          <a:ln w="50800">
            <a:solidFill>
              <a:schemeClr val="accent1"/>
            </a:solidFill>
          </a:ln>
        </p:spPr>
        <p:txBody>
          <a:bodyPr wrap="square" rtlCol="0">
            <a:spAutoFit/>
          </a:bodyPr>
          <a:lstStyle/>
          <a:p>
            <a:r>
              <a:rPr lang="en-US" b="1" dirty="0">
                <a:solidFill>
                  <a:srgbClr val="FF0000"/>
                </a:solidFill>
              </a:rPr>
              <a:t>Report</a:t>
            </a:r>
          </a:p>
        </p:txBody>
      </p:sp>
      <p:sp>
        <p:nvSpPr>
          <p:cNvPr id="15" name="Right Arrow 14">
            <a:extLst>
              <a:ext uri="{FF2B5EF4-FFF2-40B4-BE49-F238E27FC236}">
                <a16:creationId xmlns:a16="http://schemas.microsoft.com/office/drawing/2014/main" id="{B2AD90B3-89F2-7F4A-ADF5-96861DBBB423}"/>
              </a:ext>
            </a:extLst>
          </p:cNvPr>
          <p:cNvSpPr/>
          <p:nvPr/>
        </p:nvSpPr>
        <p:spPr>
          <a:xfrm>
            <a:off x="1382856" y="988170"/>
            <a:ext cx="562032" cy="441109"/>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E7A6118-6903-CD41-8E71-6BE904A24A5F}"/>
              </a:ext>
            </a:extLst>
          </p:cNvPr>
          <p:cNvSpPr txBox="1"/>
          <p:nvPr/>
        </p:nvSpPr>
        <p:spPr>
          <a:xfrm>
            <a:off x="1169210" y="2158311"/>
            <a:ext cx="1090105" cy="369332"/>
          </a:xfrm>
          <a:prstGeom prst="rect">
            <a:avLst/>
          </a:prstGeom>
          <a:noFill/>
        </p:spPr>
        <p:txBody>
          <a:bodyPr wrap="square" rtlCol="0">
            <a:spAutoFit/>
          </a:bodyPr>
          <a:lstStyle/>
          <a:p>
            <a:r>
              <a:rPr lang="en-US" dirty="0"/>
              <a:t>Feedback</a:t>
            </a:r>
          </a:p>
        </p:txBody>
      </p:sp>
    </p:spTree>
    <p:extLst>
      <p:ext uri="{BB962C8B-B14F-4D97-AF65-F5344CB8AC3E}">
        <p14:creationId xmlns:p14="http://schemas.microsoft.com/office/powerpoint/2010/main" val="768187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7B2D122-A95C-E44C-AB7D-5C6EBCF3B815}"/>
              </a:ext>
            </a:extLst>
          </p:cNvPr>
          <p:cNvSpPr txBox="1"/>
          <p:nvPr/>
        </p:nvSpPr>
        <p:spPr>
          <a:xfrm>
            <a:off x="0" y="0"/>
            <a:ext cx="7093974" cy="584775"/>
          </a:xfrm>
          <a:prstGeom prst="rect">
            <a:avLst/>
          </a:prstGeom>
          <a:noFill/>
        </p:spPr>
        <p:txBody>
          <a:bodyPr wrap="square" rtlCol="0">
            <a:spAutoFit/>
          </a:bodyPr>
          <a:lstStyle/>
          <a:p>
            <a:r>
              <a:rPr lang="en-US" sz="3200" b="1" dirty="0"/>
              <a:t>Types of Fuzzes:</a:t>
            </a:r>
          </a:p>
        </p:txBody>
      </p:sp>
      <p:sp>
        <p:nvSpPr>
          <p:cNvPr id="2" name="TextBox 1">
            <a:extLst>
              <a:ext uri="{FF2B5EF4-FFF2-40B4-BE49-F238E27FC236}">
                <a16:creationId xmlns:a16="http://schemas.microsoft.com/office/drawing/2014/main" id="{0E818B0F-141F-4447-9FC6-D750B2ACED16}"/>
              </a:ext>
            </a:extLst>
          </p:cNvPr>
          <p:cNvSpPr txBox="1"/>
          <p:nvPr/>
        </p:nvSpPr>
        <p:spPr>
          <a:xfrm>
            <a:off x="1" y="796413"/>
            <a:ext cx="5633884" cy="4524315"/>
          </a:xfrm>
          <a:prstGeom prst="rect">
            <a:avLst/>
          </a:prstGeom>
          <a:noFill/>
        </p:spPr>
        <p:txBody>
          <a:bodyPr wrap="square" rtlCol="0">
            <a:spAutoFit/>
          </a:bodyPr>
          <a:lstStyle/>
          <a:p>
            <a:r>
              <a:rPr lang="en-US" b="1" dirty="0">
                <a:solidFill>
                  <a:srgbClr val="0070C0"/>
                </a:solidFill>
              </a:rPr>
              <a:t>generation-based </a:t>
            </a:r>
            <a:r>
              <a:rPr lang="en-US" b="1" dirty="0" err="1">
                <a:solidFill>
                  <a:srgbClr val="0070C0"/>
                </a:solidFill>
              </a:rPr>
              <a:t>fuzzer</a:t>
            </a:r>
            <a:r>
              <a:rPr lang="en-US" b="1" dirty="0">
                <a:solidFill>
                  <a:srgbClr val="0070C0"/>
                </a:solidFill>
              </a:rPr>
              <a:t> </a:t>
            </a:r>
            <a:r>
              <a:rPr lang="en-US" dirty="0"/>
              <a:t>- input data generated from scratch</a:t>
            </a:r>
          </a:p>
          <a:p>
            <a:endParaRPr lang="en-US" dirty="0"/>
          </a:p>
          <a:p>
            <a:r>
              <a:rPr lang="en-US" b="1" dirty="0">
                <a:solidFill>
                  <a:srgbClr val="0070C0"/>
                </a:solidFill>
              </a:rPr>
              <a:t>mutation-based </a:t>
            </a:r>
            <a:r>
              <a:rPr lang="en-US" b="1" dirty="0" err="1">
                <a:solidFill>
                  <a:srgbClr val="0070C0"/>
                </a:solidFill>
              </a:rPr>
              <a:t>fuzzer</a:t>
            </a:r>
            <a:r>
              <a:rPr lang="en-US" b="1" dirty="0">
                <a:solidFill>
                  <a:srgbClr val="0070C0"/>
                </a:solidFill>
              </a:rPr>
              <a:t> </a:t>
            </a:r>
            <a:r>
              <a:rPr lang="en-US" dirty="0"/>
              <a:t>-input data generated by modifying existing data – and then select the best inputs (test suite reduction)</a:t>
            </a:r>
          </a:p>
          <a:p>
            <a:endParaRPr lang="en-US" dirty="0"/>
          </a:p>
          <a:p>
            <a:endParaRPr lang="en-US" dirty="0"/>
          </a:p>
          <a:p>
            <a:endParaRPr lang="en-US" dirty="0"/>
          </a:p>
          <a:p>
            <a:endParaRPr lang="en-US" dirty="0"/>
          </a:p>
          <a:p>
            <a:r>
              <a:rPr lang="en-US" b="1" dirty="0">
                <a:solidFill>
                  <a:srgbClr val="0070C0"/>
                </a:solidFill>
              </a:rPr>
              <a:t>dumb </a:t>
            </a:r>
            <a:r>
              <a:rPr lang="en-US" b="1" dirty="0" err="1">
                <a:solidFill>
                  <a:srgbClr val="0070C0"/>
                </a:solidFill>
              </a:rPr>
              <a:t>fuzzer</a:t>
            </a:r>
            <a:r>
              <a:rPr lang="en-US" b="1" dirty="0">
                <a:solidFill>
                  <a:srgbClr val="0070C0"/>
                </a:solidFill>
              </a:rPr>
              <a:t> </a:t>
            </a:r>
            <a:r>
              <a:rPr lang="en-US" dirty="0"/>
              <a:t>– not aware of input structure</a:t>
            </a:r>
          </a:p>
          <a:p>
            <a:endParaRPr lang="en-US" dirty="0"/>
          </a:p>
          <a:p>
            <a:r>
              <a:rPr lang="en-US" b="1" dirty="0">
                <a:solidFill>
                  <a:srgbClr val="0070C0"/>
                </a:solidFill>
              </a:rPr>
              <a:t>smart </a:t>
            </a:r>
            <a:r>
              <a:rPr lang="en-US" b="1" dirty="0" err="1">
                <a:solidFill>
                  <a:srgbClr val="0070C0"/>
                </a:solidFill>
              </a:rPr>
              <a:t>fuzzer</a:t>
            </a:r>
            <a:r>
              <a:rPr lang="en-US" b="1" dirty="0">
                <a:solidFill>
                  <a:srgbClr val="0070C0"/>
                </a:solidFill>
              </a:rPr>
              <a:t> </a:t>
            </a:r>
            <a:r>
              <a:rPr lang="en-US" dirty="0"/>
              <a:t>– aware of structure of input data. For example, a smart generation-based </a:t>
            </a:r>
            <a:r>
              <a:rPr lang="en-US" dirty="0" err="1"/>
              <a:t>fuzzer</a:t>
            </a:r>
            <a:r>
              <a:rPr lang="en-US" dirty="0"/>
              <a:t> takes the input model or protocol that was provided by the user to generate new inputs.</a:t>
            </a:r>
          </a:p>
        </p:txBody>
      </p:sp>
      <p:sp>
        <p:nvSpPr>
          <p:cNvPr id="9" name="TextBox 8">
            <a:extLst>
              <a:ext uri="{FF2B5EF4-FFF2-40B4-BE49-F238E27FC236}">
                <a16:creationId xmlns:a16="http://schemas.microsoft.com/office/drawing/2014/main" id="{2D865B6A-EBD2-2E4C-962A-3337C248321E}"/>
              </a:ext>
            </a:extLst>
          </p:cNvPr>
          <p:cNvSpPr txBox="1"/>
          <p:nvPr/>
        </p:nvSpPr>
        <p:spPr>
          <a:xfrm>
            <a:off x="6194325" y="934911"/>
            <a:ext cx="5737122" cy="4247317"/>
          </a:xfrm>
          <a:prstGeom prst="rect">
            <a:avLst/>
          </a:prstGeom>
          <a:noFill/>
        </p:spPr>
        <p:txBody>
          <a:bodyPr wrap="square" rtlCol="0">
            <a:spAutoFit/>
          </a:bodyPr>
          <a:lstStyle/>
          <a:p>
            <a:r>
              <a:rPr lang="en-US" b="1" dirty="0">
                <a:solidFill>
                  <a:srgbClr val="0070C0"/>
                </a:solidFill>
              </a:rPr>
              <a:t>black-box </a:t>
            </a:r>
            <a:r>
              <a:rPr lang="en-US" b="1" dirty="0" err="1">
                <a:solidFill>
                  <a:srgbClr val="0070C0"/>
                </a:solidFill>
              </a:rPr>
              <a:t>fuzzer</a:t>
            </a:r>
            <a:r>
              <a:rPr lang="en-US" b="1" dirty="0">
                <a:solidFill>
                  <a:srgbClr val="0070C0"/>
                </a:solidFill>
              </a:rPr>
              <a:t> </a:t>
            </a:r>
            <a:r>
              <a:rPr lang="en-US" dirty="0"/>
              <a:t>– doesn't know anything about program structure, thus generally can not guarantee </a:t>
            </a:r>
          </a:p>
          <a:p>
            <a:r>
              <a:rPr lang="en-US" dirty="0"/>
              <a:t>good code coverage for testing. But tests are fast and can be done in parallel.</a:t>
            </a:r>
          </a:p>
          <a:p>
            <a:endParaRPr lang="en-US" dirty="0"/>
          </a:p>
          <a:p>
            <a:r>
              <a:rPr lang="en-US" b="1" dirty="0">
                <a:solidFill>
                  <a:srgbClr val="0070C0"/>
                </a:solidFill>
              </a:rPr>
              <a:t>white </a:t>
            </a:r>
            <a:r>
              <a:rPr lang="en-US" b="1" dirty="0" err="1">
                <a:solidFill>
                  <a:srgbClr val="0070C0"/>
                </a:solidFill>
              </a:rPr>
              <a:t>fuzzer</a:t>
            </a:r>
            <a:r>
              <a:rPr lang="en-US" b="1" dirty="0">
                <a:solidFill>
                  <a:srgbClr val="0070C0"/>
                </a:solidFill>
              </a:rPr>
              <a:t> </a:t>
            </a:r>
            <a:r>
              <a:rPr lang="en-US" dirty="0"/>
              <a:t>– analyzes program structure. May use symbolic execution to systematically explore different paths in the program. Much slower than black-box </a:t>
            </a:r>
            <a:r>
              <a:rPr lang="en-US" dirty="0" err="1"/>
              <a:t>fuzzer</a:t>
            </a:r>
            <a:endParaRPr lang="en-US" dirty="0"/>
          </a:p>
          <a:p>
            <a:endParaRPr lang="en-US" dirty="0"/>
          </a:p>
          <a:p>
            <a:r>
              <a:rPr lang="en-US" b="1" dirty="0">
                <a:solidFill>
                  <a:srgbClr val="0070C0"/>
                </a:solidFill>
              </a:rPr>
              <a:t>grey </a:t>
            </a:r>
            <a:r>
              <a:rPr lang="en-US" b="1" dirty="0" err="1">
                <a:solidFill>
                  <a:srgbClr val="0070C0"/>
                </a:solidFill>
              </a:rPr>
              <a:t>fuzzer</a:t>
            </a:r>
            <a:r>
              <a:rPr lang="en-US" b="1" dirty="0">
                <a:solidFill>
                  <a:srgbClr val="0070C0"/>
                </a:solidFill>
              </a:rPr>
              <a:t> </a:t>
            </a:r>
            <a:r>
              <a:rPr lang="en-US" dirty="0"/>
              <a:t>– in-between white and black-box. Use lightweight instrumentation to trace basic block transitions. This leads to a reasonable performance overhead, while informing the </a:t>
            </a:r>
            <a:r>
              <a:rPr lang="en-US" dirty="0" err="1"/>
              <a:t>fuzzer</a:t>
            </a:r>
            <a:r>
              <a:rPr lang="en-US" dirty="0"/>
              <a:t> about the increase in code coverage during fuzzing. This makes gray-box </a:t>
            </a:r>
            <a:r>
              <a:rPr lang="en-US" dirty="0" err="1"/>
              <a:t>fuzzers</a:t>
            </a:r>
            <a:r>
              <a:rPr lang="en-US" dirty="0"/>
              <a:t> extremely efficient. Examples - </a:t>
            </a:r>
            <a:r>
              <a:rPr lang="en-US" b="1" dirty="0">
                <a:solidFill>
                  <a:srgbClr val="0070C0"/>
                </a:solidFill>
              </a:rPr>
              <a:t>AFL</a:t>
            </a:r>
            <a:r>
              <a:rPr lang="en-US" dirty="0"/>
              <a:t> and </a:t>
            </a:r>
            <a:r>
              <a:rPr lang="en-US" b="1" dirty="0" err="1">
                <a:solidFill>
                  <a:srgbClr val="0070C0"/>
                </a:solidFill>
              </a:rPr>
              <a:t>libFuzzer</a:t>
            </a:r>
            <a:r>
              <a:rPr lang="en-US" dirty="0"/>
              <a:t> .</a:t>
            </a:r>
          </a:p>
        </p:txBody>
      </p:sp>
      <p:cxnSp>
        <p:nvCxnSpPr>
          <p:cNvPr id="10" name="Straight Connector 9">
            <a:extLst>
              <a:ext uri="{FF2B5EF4-FFF2-40B4-BE49-F238E27FC236}">
                <a16:creationId xmlns:a16="http://schemas.microsoft.com/office/drawing/2014/main" id="{51C97ABA-2896-4848-81C6-7EFF5D0438E1}"/>
              </a:ext>
            </a:extLst>
          </p:cNvPr>
          <p:cNvCxnSpPr>
            <a:cxnSpLocks/>
          </p:cNvCxnSpPr>
          <p:nvPr/>
        </p:nvCxnSpPr>
        <p:spPr>
          <a:xfrm>
            <a:off x="5781368" y="796413"/>
            <a:ext cx="0" cy="6061587"/>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73DAF1-3B19-204E-BD37-0A47E9FC12FD}"/>
              </a:ext>
            </a:extLst>
          </p:cNvPr>
          <p:cNvCxnSpPr>
            <a:cxnSpLocks/>
          </p:cNvCxnSpPr>
          <p:nvPr/>
        </p:nvCxnSpPr>
        <p:spPr>
          <a:xfrm flipH="1">
            <a:off x="0" y="3279058"/>
            <a:ext cx="5771536" cy="0"/>
          </a:xfrm>
          <a:prstGeom prst="line">
            <a:avLst/>
          </a:prstGeom>
          <a:ln w="508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8591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A90AF5-F99B-D94F-B642-78E8B6D6476F}"/>
              </a:ext>
            </a:extLst>
          </p:cNvPr>
          <p:cNvSpPr txBox="1"/>
          <p:nvPr/>
        </p:nvSpPr>
        <p:spPr>
          <a:xfrm>
            <a:off x="0" y="103236"/>
            <a:ext cx="12192000" cy="6370975"/>
          </a:xfrm>
          <a:prstGeom prst="rect">
            <a:avLst/>
          </a:prstGeom>
          <a:noFill/>
        </p:spPr>
        <p:txBody>
          <a:bodyPr wrap="square" rtlCol="0">
            <a:spAutoFit/>
          </a:bodyPr>
          <a:lstStyle/>
          <a:p>
            <a:r>
              <a:rPr lang="en-US" sz="1600" dirty="0"/>
              <a:t>This page walks you through setting up coverage guided fuzzing using </a:t>
            </a:r>
            <a:r>
              <a:rPr lang="en-US" sz="1600" b="1" dirty="0" err="1">
                <a:solidFill>
                  <a:srgbClr val="FF0000"/>
                </a:solidFill>
              </a:rPr>
              <a:t>libFuzzer</a:t>
            </a:r>
            <a:r>
              <a:rPr lang="en-US" sz="1600" dirty="0"/>
              <a:t> or </a:t>
            </a:r>
            <a:r>
              <a:rPr lang="en-US" sz="1600" b="1" dirty="0">
                <a:solidFill>
                  <a:srgbClr val="FF0000"/>
                </a:solidFill>
              </a:rPr>
              <a:t>AFL</a:t>
            </a:r>
            <a:r>
              <a:rPr lang="en-US" sz="1600" dirty="0"/>
              <a:t>:</a:t>
            </a:r>
          </a:p>
          <a:p>
            <a:r>
              <a:rPr lang="en-US" sz="1600" dirty="0"/>
              <a:t> - </a:t>
            </a:r>
            <a:r>
              <a:rPr lang="en-US" sz="1600" dirty="0">
                <a:hlinkClick r:id="rId2"/>
              </a:rPr>
              <a:t>https://google.github.io/clusterfuzz/setting-up-fuzzing/libfuzzer-and-afl/</a:t>
            </a:r>
            <a:endParaRPr lang="en-US" sz="1600" dirty="0"/>
          </a:p>
          <a:p>
            <a:r>
              <a:rPr lang="en-US" sz="1600" dirty="0"/>
              <a:t>The idea is to insert hooks into execution. Easiest method to achieve this is to compile source code using provided compiler to insert hooks. But it is also possible to decompile an executable file, or to target the LLVM </a:t>
            </a:r>
            <a:r>
              <a:rPr lang="en-US" sz="1600" dirty="0" err="1"/>
              <a:t>bitcode</a:t>
            </a:r>
            <a:r>
              <a:rPr lang="en-US" sz="1600" dirty="0"/>
              <a:t>.</a:t>
            </a:r>
          </a:p>
          <a:p>
            <a:endParaRPr lang="en-US" sz="1600" dirty="0"/>
          </a:p>
          <a:p>
            <a:r>
              <a:rPr lang="en-US" sz="2800" b="1" dirty="0"/>
              <a:t>AFL = American Fuzzy Lop </a:t>
            </a:r>
            <a:r>
              <a:rPr lang="en-US" sz="1600" dirty="0"/>
              <a:t>(lop := something that is lopped (cut-off), such as branches and twigs lopped off trees)</a:t>
            </a:r>
          </a:p>
          <a:p>
            <a:r>
              <a:rPr lang="en-US" sz="1600" dirty="0"/>
              <a:t>Read excellent intro here:    - </a:t>
            </a:r>
            <a:r>
              <a:rPr lang="en-US" sz="1600" dirty="0">
                <a:hlinkClick r:id="rId3"/>
              </a:rPr>
              <a:t>https://github.com/google/AFL</a:t>
            </a:r>
            <a:r>
              <a:rPr lang="en-US" sz="1600" dirty="0"/>
              <a:t> </a:t>
            </a:r>
          </a:p>
          <a:p>
            <a:r>
              <a:rPr lang="en-US" sz="1600" dirty="0"/>
              <a:t>Also </a:t>
            </a:r>
            <a:r>
              <a:rPr lang="en-US" sz="1600" dirty="0" err="1"/>
              <a:t>QuickStartGuide</a:t>
            </a:r>
            <a:r>
              <a:rPr lang="en-US" sz="1600" dirty="0"/>
              <a:t> here:  - </a:t>
            </a:r>
            <a:r>
              <a:rPr lang="en-US" sz="1600" dirty="0">
                <a:hlinkClick r:id="rId4"/>
              </a:rPr>
              <a:t>https://github.com/google/AFL/blob/master/docs/QuickStartGuide.txt</a:t>
            </a:r>
            <a:endParaRPr lang="en-US" sz="1600" dirty="0"/>
          </a:p>
          <a:p>
            <a:r>
              <a:rPr lang="en-US" sz="1600" dirty="0"/>
              <a:t>AFL is a security-oriented </a:t>
            </a:r>
            <a:r>
              <a:rPr lang="en-US" sz="1600" dirty="0" err="1"/>
              <a:t>fuzzer</a:t>
            </a:r>
            <a:r>
              <a:rPr lang="en-US" sz="1600" dirty="0"/>
              <a:t> originally developed at ~2013 by Michal </a:t>
            </a:r>
            <a:r>
              <a:rPr lang="en-US" sz="1600" dirty="0" err="1"/>
              <a:t>Zalewski</a:t>
            </a:r>
            <a:r>
              <a:rPr lang="en-US" sz="1600" dirty="0"/>
              <a:t> at Google:  </a:t>
            </a:r>
            <a:r>
              <a:rPr lang="en-US" sz="1600" dirty="0">
                <a:hlinkClick r:id="rId5"/>
              </a:rPr>
              <a:t>lcamtuf@google.com</a:t>
            </a:r>
            <a:r>
              <a:rPr lang="en-US" sz="1600" dirty="0"/>
              <a:t>.</a:t>
            </a:r>
          </a:p>
          <a:p>
            <a:r>
              <a:rPr lang="en-US" sz="1600" dirty="0"/>
              <a:t>Usage: compile source code of your system using AFL c-compiler (</a:t>
            </a:r>
            <a:r>
              <a:rPr lang="en-US" sz="1600" dirty="0" err="1"/>
              <a:t>gcc</a:t>
            </a:r>
            <a:r>
              <a:rPr lang="en-US" sz="1600" dirty="0"/>
              <a:t> of clang). This inserts hooks into the code, thus allowing  to detect place in the code where things happen, and to do adjustments using feedback.</a:t>
            </a:r>
          </a:p>
          <a:p>
            <a:endParaRPr lang="en-US" sz="1600" dirty="0"/>
          </a:p>
          <a:p>
            <a:r>
              <a:rPr lang="en-US" sz="2800" b="1" dirty="0" err="1"/>
              <a:t>libFuzzer</a:t>
            </a:r>
            <a:endParaRPr lang="en-US" sz="2800" b="1" dirty="0"/>
          </a:p>
          <a:p>
            <a:r>
              <a:rPr lang="en-US" sz="1600" dirty="0"/>
              <a:t> - </a:t>
            </a:r>
            <a:r>
              <a:rPr lang="en-US" sz="1600" dirty="0">
                <a:hlinkClick r:id="rId6"/>
              </a:rPr>
              <a:t>https://llvm.org/docs/LibFuzzer.html</a:t>
            </a:r>
            <a:endParaRPr lang="en-US" sz="1600" dirty="0"/>
          </a:p>
          <a:p>
            <a:r>
              <a:rPr lang="en-US" sz="1600" dirty="0"/>
              <a:t> - </a:t>
            </a:r>
            <a:r>
              <a:rPr lang="en-US" sz="1600" dirty="0">
                <a:hlinkClick r:id="rId7"/>
              </a:rPr>
              <a:t>https://github.com/google/fuzzing/blob/master/tutorial/libFuzzerTutorial.md</a:t>
            </a:r>
            <a:endParaRPr lang="en-US" sz="1600" dirty="0"/>
          </a:p>
          <a:p>
            <a:r>
              <a:rPr lang="en-US" sz="1600" dirty="0" err="1"/>
              <a:t>libFuzzer</a:t>
            </a:r>
            <a:r>
              <a:rPr lang="en-US" sz="1600" dirty="0"/>
              <a:t> is part of the LLVM compiler infrastructure project and comes built-in with the clang compiler. </a:t>
            </a:r>
          </a:p>
          <a:p>
            <a:r>
              <a:rPr lang="en-US" sz="1600" dirty="0"/>
              <a:t>So you compile your source code with it, for example:  </a:t>
            </a:r>
          </a:p>
          <a:p>
            <a:endParaRPr lang="en-US" sz="1600" dirty="0"/>
          </a:p>
          <a:p>
            <a:r>
              <a:rPr lang="en-US" sz="1600" dirty="0"/>
              <a:t>     clang -g -O1 -</a:t>
            </a:r>
            <a:r>
              <a:rPr lang="en-US" sz="1600" dirty="0" err="1"/>
              <a:t>fsanitize</a:t>
            </a:r>
            <a:r>
              <a:rPr lang="en-US" sz="1600" dirty="0"/>
              <a:t>=</a:t>
            </a:r>
            <a:r>
              <a:rPr lang="en-US" sz="1600" dirty="0" err="1"/>
              <a:t>fuzzer</a:t>
            </a:r>
            <a:r>
              <a:rPr lang="en-US" sz="1600" dirty="0"/>
              <a:t> </a:t>
            </a:r>
            <a:r>
              <a:rPr lang="en-US" sz="1600" dirty="0" err="1"/>
              <a:t>mytarget.c</a:t>
            </a:r>
            <a:endParaRPr lang="en-US" sz="1600" dirty="0"/>
          </a:p>
          <a:p>
            <a:endParaRPr lang="en-US" sz="1600" dirty="0"/>
          </a:p>
          <a:p>
            <a:r>
              <a:rPr lang="en-US" sz="1600" dirty="0" err="1"/>
              <a:t>libFuzzer</a:t>
            </a:r>
            <a:r>
              <a:rPr lang="en-US" sz="1600" dirty="0"/>
              <a:t> requires a bit more work to setup (comparing with AFL), </a:t>
            </a:r>
          </a:p>
          <a:p>
            <a:r>
              <a:rPr lang="en-US" sz="1600" dirty="0"/>
              <a:t>but it is ideal when it comes to fuzzing specific API calls in a library </a:t>
            </a:r>
          </a:p>
          <a:p>
            <a:r>
              <a:rPr lang="en-US" sz="1600" dirty="0"/>
              <a:t>as well as it has better support for different </a:t>
            </a:r>
            <a:r>
              <a:rPr lang="en-US" sz="1600" dirty="0" err="1"/>
              <a:t>sanitisers</a:t>
            </a:r>
            <a:r>
              <a:rPr lang="en-US" sz="1600" dirty="0"/>
              <a:t>. </a:t>
            </a:r>
          </a:p>
          <a:p>
            <a:r>
              <a:rPr lang="en-US" sz="1600" dirty="0"/>
              <a:t>Also It is possible to use AFL engine while using a target function like in </a:t>
            </a:r>
            <a:r>
              <a:rPr lang="en-US" sz="1600" dirty="0" err="1"/>
              <a:t>libFuzzer</a:t>
            </a:r>
            <a:r>
              <a:rPr lang="en-US" sz="1600" dirty="0"/>
              <a:t>.</a:t>
            </a:r>
          </a:p>
        </p:txBody>
      </p:sp>
    </p:spTree>
    <p:extLst>
      <p:ext uri="{BB962C8B-B14F-4D97-AF65-F5344CB8AC3E}">
        <p14:creationId xmlns:p14="http://schemas.microsoft.com/office/powerpoint/2010/main" val="134219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3EE57E-0B10-3541-B0D2-441230E34AB2}"/>
              </a:ext>
            </a:extLst>
          </p:cNvPr>
          <p:cNvSpPr txBox="1"/>
          <p:nvPr/>
        </p:nvSpPr>
        <p:spPr>
          <a:xfrm>
            <a:off x="280219" y="176981"/>
            <a:ext cx="7492181" cy="2031325"/>
          </a:xfrm>
          <a:prstGeom prst="rect">
            <a:avLst/>
          </a:prstGeom>
          <a:noFill/>
        </p:spPr>
        <p:txBody>
          <a:bodyPr wrap="square" rtlCol="0">
            <a:spAutoFit/>
          </a:bodyPr>
          <a:lstStyle/>
          <a:p>
            <a:r>
              <a:rPr lang="en-US" dirty="0"/>
              <a:t>KLUZZER: </a:t>
            </a:r>
            <a:r>
              <a:rPr lang="en-US" dirty="0" err="1"/>
              <a:t>Whitebox</a:t>
            </a:r>
            <a:r>
              <a:rPr lang="en-US" dirty="0"/>
              <a:t> Fuzzing on Top of LLVM </a:t>
            </a:r>
          </a:p>
          <a:p>
            <a:endParaRPr lang="en-US" dirty="0"/>
          </a:p>
          <a:p>
            <a:r>
              <a:rPr lang="en-US" dirty="0"/>
              <a:t>Targeting LLVM </a:t>
            </a:r>
            <a:r>
              <a:rPr lang="en-US" dirty="0" err="1"/>
              <a:t>bitcode</a:t>
            </a:r>
            <a:r>
              <a:rPr lang="en-US" dirty="0"/>
              <a:t> , easy to combine with </a:t>
            </a:r>
            <a:r>
              <a:rPr lang="en-US" dirty="0" err="1"/>
              <a:t>libFuzzer</a:t>
            </a:r>
            <a:br>
              <a:rPr lang="en-US" dirty="0"/>
            </a:br>
            <a:r>
              <a:rPr lang="en-US" dirty="0"/>
              <a:t>- </a:t>
            </a:r>
            <a:r>
              <a:rPr lang="en-US" dirty="0">
                <a:hlinkClick r:id="rId2"/>
              </a:rPr>
              <a:t>https://link.springer.com/chapter/10.1007/978-3-030-31784-3_14</a:t>
            </a:r>
            <a:r>
              <a:rPr lang="en-US" dirty="0"/>
              <a:t> </a:t>
            </a:r>
          </a:p>
          <a:p>
            <a:endParaRPr lang="en-US" dirty="0"/>
          </a:p>
          <a:p>
            <a:r>
              <a:rPr lang="en-US" dirty="0"/>
              <a:t>We need to buy this PDF (~$80)</a:t>
            </a:r>
          </a:p>
          <a:p>
            <a:endParaRPr lang="en-US" dirty="0"/>
          </a:p>
        </p:txBody>
      </p:sp>
    </p:spTree>
    <p:extLst>
      <p:ext uri="{BB962C8B-B14F-4D97-AF65-F5344CB8AC3E}">
        <p14:creationId xmlns:p14="http://schemas.microsoft.com/office/powerpoint/2010/main" val="731221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A4CC70-5A08-8445-A9C6-DED41086EAE6}"/>
              </a:ext>
            </a:extLst>
          </p:cNvPr>
          <p:cNvSpPr txBox="1"/>
          <p:nvPr/>
        </p:nvSpPr>
        <p:spPr>
          <a:xfrm>
            <a:off x="-1" y="0"/>
            <a:ext cx="7120647" cy="584775"/>
          </a:xfrm>
          <a:prstGeom prst="rect">
            <a:avLst/>
          </a:prstGeom>
          <a:noFill/>
        </p:spPr>
        <p:txBody>
          <a:bodyPr wrap="square" rtlCol="0">
            <a:spAutoFit/>
          </a:bodyPr>
          <a:lstStyle/>
          <a:p>
            <a:r>
              <a:rPr lang="en-US" sz="3200" b="1" dirty="0"/>
              <a:t>Evolutionary Fuzzing:</a:t>
            </a:r>
          </a:p>
        </p:txBody>
      </p:sp>
      <p:sp>
        <p:nvSpPr>
          <p:cNvPr id="5" name="TextBox 4">
            <a:extLst>
              <a:ext uri="{FF2B5EF4-FFF2-40B4-BE49-F238E27FC236}">
                <a16:creationId xmlns:a16="http://schemas.microsoft.com/office/drawing/2014/main" id="{BFDF6F9A-AC0B-CD48-8201-02D7B8BE409D}"/>
              </a:ext>
            </a:extLst>
          </p:cNvPr>
          <p:cNvSpPr txBox="1"/>
          <p:nvPr/>
        </p:nvSpPr>
        <p:spPr>
          <a:xfrm>
            <a:off x="117988" y="584775"/>
            <a:ext cx="11931444" cy="5632311"/>
          </a:xfrm>
          <a:prstGeom prst="rect">
            <a:avLst/>
          </a:prstGeom>
          <a:noFill/>
        </p:spPr>
        <p:txBody>
          <a:bodyPr wrap="square" rtlCol="0">
            <a:spAutoFit/>
          </a:bodyPr>
          <a:lstStyle/>
          <a:p>
            <a:r>
              <a:rPr lang="en-US" dirty="0"/>
              <a:t>Evolutionary fuzzing - converging towards the discovery of weaknesses. </a:t>
            </a:r>
          </a:p>
          <a:p>
            <a:r>
              <a:rPr lang="en-US" dirty="0"/>
              <a:t>It uses genetic algorithms in order to produce successive generations of test cases populations.</a:t>
            </a:r>
          </a:p>
          <a:p>
            <a:endParaRPr lang="en-US" dirty="0"/>
          </a:p>
          <a:p>
            <a:r>
              <a:rPr lang="en-US" dirty="0"/>
              <a:t>Evolutionary fuzzing - use feedback from each test case to learn the format of the input over time. </a:t>
            </a:r>
            <a:br>
              <a:rPr lang="en-US" dirty="0"/>
            </a:br>
            <a:r>
              <a:rPr lang="en-US" dirty="0"/>
              <a:t>For example, by measuring the code coverage of each test case, the </a:t>
            </a:r>
            <a:r>
              <a:rPr lang="en-US" dirty="0" err="1"/>
              <a:t>fuzzer</a:t>
            </a:r>
            <a:r>
              <a:rPr lang="en-US" dirty="0"/>
              <a:t> can work out which properties of the test case exercise a given area of code, and gradually evolve a set of test cases that cover the majority of the program code. </a:t>
            </a:r>
          </a:p>
          <a:p>
            <a:endParaRPr lang="en-US" dirty="0"/>
          </a:p>
          <a:p>
            <a:r>
              <a:rPr lang="en-US" dirty="0"/>
              <a:t>Evolutionary fuzzing often relies on other techniques similar to genetic algorithms and may require some form of binary instrumentation to operate correctly.</a:t>
            </a:r>
          </a:p>
          <a:p>
            <a:endParaRPr lang="en-US" dirty="0"/>
          </a:p>
          <a:p>
            <a:r>
              <a:rPr lang="en-US" dirty="0" err="1"/>
              <a:t>libFuzzer</a:t>
            </a:r>
            <a:r>
              <a:rPr lang="en-US" dirty="0"/>
              <a:t> – a library for coverage-guided fuzz testing. </a:t>
            </a:r>
            <a:r>
              <a:rPr lang="en-US" dirty="0" err="1"/>
              <a:t>LibFuzzer</a:t>
            </a:r>
            <a:r>
              <a:rPr lang="en-US" dirty="0"/>
              <a:t> is in-process, coverage-guided, evolutionary fuzzing engine. </a:t>
            </a:r>
            <a:r>
              <a:rPr lang="en-US" dirty="0" err="1"/>
              <a:t>LibFuzzer</a:t>
            </a:r>
            <a:r>
              <a:rPr lang="en-US" dirty="0"/>
              <a:t> is linked with the library under test, and feeds fuzzed inputs to the library via a specific fuzzing </a:t>
            </a:r>
            <a:r>
              <a:rPr lang="en-US" dirty="0" err="1"/>
              <a:t>entrypoint</a:t>
            </a:r>
            <a:r>
              <a:rPr lang="en-US" dirty="0"/>
              <a:t> (aka “target function”); the </a:t>
            </a:r>
            <a:r>
              <a:rPr lang="en-US" dirty="0" err="1"/>
              <a:t>fuzzer</a:t>
            </a:r>
            <a:r>
              <a:rPr lang="en-US" dirty="0"/>
              <a:t> then tracks which areas of the code are reached, and generates mutations on the corpus of input data in order to maximize the code coverage. The code coverage information for </a:t>
            </a:r>
            <a:r>
              <a:rPr lang="en-US" dirty="0" err="1"/>
              <a:t>libFuzzer</a:t>
            </a:r>
            <a:r>
              <a:rPr lang="en-US" dirty="0"/>
              <a:t> is provided by LLVM’s </a:t>
            </a:r>
            <a:r>
              <a:rPr lang="en-US" dirty="0" err="1"/>
              <a:t>SanitizerCoverage</a:t>
            </a:r>
            <a:r>
              <a:rPr lang="en-US" dirty="0"/>
              <a:t> instrumentation.</a:t>
            </a:r>
          </a:p>
          <a:p>
            <a:r>
              <a:rPr lang="en-US" dirty="0"/>
              <a:t> - </a:t>
            </a:r>
            <a:r>
              <a:rPr lang="en-US" dirty="0">
                <a:hlinkClick r:id="rId2"/>
              </a:rPr>
              <a:t>https://llvm.org/docs/LibFuzzer.html</a:t>
            </a:r>
            <a:endParaRPr lang="en-US" dirty="0"/>
          </a:p>
          <a:p>
            <a:endParaRPr lang="en-US" dirty="0"/>
          </a:p>
          <a:p>
            <a:r>
              <a:rPr lang="en-US" dirty="0"/>
              <a:t>V-Fuzz: Vulnerability-Oriented Evolutionary Fuzzing</a:t>
            </a:r>
          </a:p>
          <a:p>
            <a:r>
              <a:rPr lang="en-US" dirty="0" err="1"/>
              <a:t>Yuwei</a:t>
            </a:r>
            <a:r>
              <a:rPr lang="en-US" dirty="0"/>
              <a:t> Li, </a:t>
            </a:r>
            <a:r>
              <a:rPr lang="en-US" dirty="0" err="1"/>
              <a:t>Shouling</a:t>
            </a:r>
            <a:r>
              <a:rPr lang="en-US" dirty="0"/>
              <a:t> Ji, </a:t>
            </a:r>
            <a:r>
              <a:rPr lang="en-US" dirty="0" err="1"/>
              <a:t>Chenyang</a:t>
            </a:r>
            <a:r>
              <a:rPr lang="en-US" dirty="0"/>
              <a:t> </a:t>
            </a:r>
            <a:r>
              <a:rPr lang="en-US" dirty="0" err="1"/>
              <a:t>Lv</a:t>
            </a:r>
            <a:r>
              <a:rPr lang="en-US" dirty="0"/>
              <a:t>, Yuan Chen, </a:t>
            </a:r>
            <a:r>
              <a:rPr lang="en-US" dirty="0" err="1"/>
              <a:t>Jianhai</a:t>
            </a:r>
            <a:r>
              <a:rPr lang="en-US" dirty="0"/>
              <a:t> Chen, </a:t>
            </a:r>
            <a:r>
              <a:rPr lang="en-US" dirty="0" err="1"/>
              <a:t>Qinchen</a:t>
            </a:r>
            <a:r>
              <a:rPr lang="en-US" dirty="0"/>
              <a:t> Gu, and </a:t>
            </a:r>
            <a:r>
              <a:rPr lang="en-US" dirty="0" err="1"/>
              <a:t>Chunming</a:t>
            </a:r>
            <a:r>
              <a:rPr lang="en-US" dirty="0"/>
              <a:t> Wu</a:t>
            </a:r>
          </a:p>
          <a:p>
            <a:r>
              <a:rPr lang="en-US" dirty="0"/>
              <a:t> - </a:t>
            </a:r>
            <a:r>
              <a:rPr lang="en-US" dirty="0">
                <a:hlinkClick r:id="rId3"/>
              </a:rPr>
              <a:t>https://arxiv.org/pdf/1901.01142.pdf</a:t>
            </a:r>
            <a:r>
              <a:rPr lang="en-US" dirty="0"/>
              <a:t> </a:t>
            </a:r>
          </a:p>
        </p:txBody>
      </p:sp>
    </p:spTree>
    <p:extLst>
      <p:ext uri="{BB962C8B-B14F-4D97-AF65-F5344CB8AC3E}">
        <p14:creationId xmlns:p14="http://schemas.microsoft.com/office/powerpoint/2010/main" val="4134792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A908DDB-E503-6B4F-A20C-26E06F933931}"/>
              </a:ext>
            </a:extLst>
          </p:cNvPr>
          <p:cNvSpPr txBox="1"/>
          <p:nvPr/>
        </p:nvSpPr>
        <p:spPr>
          <a:xfrm>
            <a:off x="0" y="0"/>
            <a:ext cx="6420256" cy="2062103"/>
          </a:xfrm>
          <a:prstGeom prst="rect">
            <a:avLst/>
          </a:prstGeom>
          <a:noFill/>
        </p:spPr>
        <p:txBody>
          <a:bodyPr wrap="square" rtlCol="0">
            <a:spAutoFit/>
          </a:bodyPr>
          <a:lstStyle/>
          <a:p>
            <a:r>
              <a:rPr lang="en-US" sz="3200" b="1" dirty="0"/>
              <a:t>Google Brain </a:t>
            </a:r>
            <a:r>
              <a:rPr lang="en-US" sz="3200" b="1" dirty="0" err="1">
                <a:solidFill>
                  <a:srgbClr val="0070C0"/>
                </a:solidFill>
              </a:rPr>
              <a:t>TensorFuzz</a:t>
            </a:r>
            <a:r>
              <a:rPr lang="en-US" sz="3200" b="1" dirty="0"/>
              <a:t> </a:t>
            </a:r>
            <a:br>
              <a:rPr lang="en-US" sz="3200" b="1" dirty="0"/>
            </a:br>
            <a:r>
              <a:rPr lang="en-US" sz="3200" b="1" dirty="0"/>
              <a:t>Debugs Neural Networks </a:t>
            </a:r>
            <a:br>
              <a:rPr lang="en-US" sz="3200" b="1" dirty="0"/>
            </a:br>
            <a:r>
              <a:rPr lang="en-US" sz="3200" b="1" dirty="0"/>
              <a:t>with </a:t>
            </a:r>
            <a:r>
              <a:rPr lang="en-US" sz="3200" b="1" dirty="0">
                <a:solidFill>
                  <a:srgbClr val="0070C0"/>
                </a:solidFill>
              </a:rPr>
              <a:t>Coverage-Guided Fuzzing (CGF) </a:t>
            </a:r>
            <a:br>
              <a:rPr lang="en-US" sz="3200" b="1" dirty="0"/>
            </a:br>
            <a:r>
              <a:rPr lang="en-US" sz="3200" b="1" dirty="0"/>
              <a:t>(</a:t>
            </a:r>
            <a:r>
              <a:rPr lang="en-US" sz="3200" b="1" dirty="0" err="1"/>
              <a:t>Odena</a:t>
            </a:r>
            <a:r>
              <a:rPr lang="en-US" sz="3200" b="1" dirty="0"/>
              <a:t> &amp; </a:t>
            </a:r>
            <a:r>
              <a:rPr lang="en-US" sz="3200" b="1" dirty="0" err="1"/>
              <a:t>Goodfellow</a:t>
            </a:r>
            <a:r>
              <a:rPr lang="en-US" sz="3200" b="1" dirty="0"/>
              <a:t>, 2018)</a:t>
            </a:r>
          </a:p>
        </p:txBody>
      </p:sp>
      <p:sp>
        <p:nvSpPr>
          <p:cNvPr id="5" name="TextBox 4">
            <a:extLst>
              <a:ext uri="{FF2B5EF4-FFF2-40B4-BE49-F238E27FC236}">
                <a16:creationId xmlns:a16="http://schemas.microsoft.com/office/drawing/2014/main" id="{03324731-D77F-494B-BCAC-A389F110E23D}"/>
              </a:ext>
            </a:extLst>
          </p:cNvPr>
          <p:cNvSpPr txBox="1"/>
          <p:nvPr/>
        </p:nvSpPr>
        <p:spPr>
          <a:xfrm>
            <a:off x="29182" y="2169573"/>
            <a:ext cx="7383296" cy="646331"/>
          </a:xfrm>
          <a:prstGeom prst="rect">
            <a:avLst/>
          </a:prstGeom>
          <a:noFill/>
        </p:spPr>
        <p:txBody>
          <a:bodyPr wrap="square" rtlCol="0">
            <a:spAutoFit/>
          </a:bodyPr>
          <a:lstStyle/>
          <a:p>
            <a:r>
              <a:rPr lang="en-US" dirty="0">
                <a:hlinkClick r:id="rId2"/>
              </a:rPr>
              <a:t>https://medium.com/syncedreview/google-brain-tensorfuzz-debugs-neural-networks-with-coverage-guided-fuzzing-89843346fcda</a:t>
            </a:r>
            <a:r>
              <a:rPr lang="en-US" dirty="0"/>
              <a:t>  </a:t>
            </a:r>
          </a:p>
        </p:txBody>
      </p:sp>
      <p:pic>
        <p:nvPicPr>
          <p:cNvPr id="2" name="Picture 1">
            <a:extLst>
              <a:ext uri="{FF2B5EF4-FFF2-40B4-BE49-F238E27FC236}">
                <a16:creationId xmlns:a16="http://schemas.microsoft.com/office/drawing/2014/main" id="{56E224E0-E4AF-294D-8FE9-B92F262DFA7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338794" y="2908237"/>
            <a:ext cx="3832699" cy="3925198"/>
          </a:xfrm>
          <a:prstGeom prst="rect">
            <a:avLst/>
          </a:prstGeom>
        </p:spPr>
      </p:pic>
      <p:pic>
        <p:nvPicPr>
          <p:cNvPr id="3" name="Picture 2">
            <a:extLst>
              <a:ext uri="{FF2B5EF4-FFF2-40B4-BE49-F238E27FC236}">
                <a16:creationId xmlns:a16="http://schemas.microsoft.com/office/drawing/2014/main" id="{20391757-BA03-DD45-AD15-9B32B72A6F7A}"/>
              </a:ext>
            </a:extLst>
          </p:cNvPr>
          <p:cNvPicPr>
            <a:picLocks noChangeAspect="1"/>
          </p:cNvPicPr>
          <p:nvPr/>
        </p:nvPicPr>
        <p:blipFill>
          <a:blip r:embed="rId4"/>
          <a:stretch>
            <a:fillRect/>
          </a:stretch>
        </p:blipFill>
        <p:spPr>
          <a:xfrm>
            <a:off x="8536286" y="260188"/>
            <a:ext cx="3603829" cy="1801915"/>
          </a:xfrm>
          <a:prstGeom prst="rect">
            <a:avLst/>
          </a:prstGeom>
        </p:spPr>
      </p:pic>
      <p:sp>
        <p:nvSpPr>
          <p:cNvPr id="6" name="TextBox 5">
            <a:extLst>
              <a:ext uri="{FF2B5EF4-FFF2-40B4-BE49-F238E27FC236}">
                <a16:creationId xmlns:a16="http://schemas.microsoft.com/office/drawing/2014/main" id="{41F5609E-9B9B-214E-87DA-4C98A1276ED8}"/>
              </a:ext>
            </a:extLst>
          </p:cNvPr>
          <p:cNvSpPr txBox="1"/>
          <p:nvPr/>
        </p:nvSpPr>
        <p:spPr>
          <a:xfrm>
            <a:off x="8536285" y="2094032"/>
            <a:ext cx="3603829" cy="369332"/>
          </a:xfrm>
          <a:prstGeom prst="rect">
            <a:avLst/>
          </a:prstGeom>
          <a:noFill/>
        </p:spPr>
        <p:txBody>
          <a:bodyPr wrap="square" rtlCol="0">
            <a:spAutoFit/>
          </a:bodyPr>
          <a:lstStyle/>
          <a:p>
            <a:r>
              <a:rPr lang="en-US" dirty="0"/>
              <a:t>Augustus </a:t>
            </a:r>
            <a:r>
              <a:rPr lang="en-US" dirty="0" err="1"/>
              <a:t>Odena</a:t>
            </a:r>
            <a:r>
              <a:rPr lang="en-US" dirty="0"/>
              <a:t>   &amp;   Ian </a:t>
            </a:r>
            <a:r>
              <a:rPr lang="en-US" dirty="0" err="1"/>
              <a:t>Goodfellow</a:t>
            </a:r>
            <a:endParaRPr lang="en-US" dirty="0"/>
          </a:p>
        </p:txBody>
      </p:sp>
      <p:sp>
        <p:nvSpPr>
          <p:cNvPr id="7" name="TextBox 6">
            <a:extLst>
              <a:ext uri="{FF2B5EF4-FFF2-40B4-BE49-F238E27FC236}">
                <a16:creationId xmlns:a16="http://schemas.microsoft.com/office/drawing/2014/main" id="{5A42E94E-A869-F34F-85D2-7A3F6569FD46}"/>
              </a:ext>
            </a:extLst>
          </p:cNvPr>
          <p:cNvSpPr txBox="1"/>
          <p:nvPr/>
        </p:nvSpPr>
        <p:spPr>
          <a:xfrm>
            <a:off x="29180" y="3823801"/>
            <a:ext cx="7869679" cy="2862322"/>
          </a:xfrm>
          <a:prstGeom prst="rect">
            <a:avLst/>
          </a:prstGeom>
          <a:noFill/>
        </p:spPr>
        <p:txBody>
          <a:bodyPr wrap="square" rtlCol="0">
            <a:spAutoFit/>
          </a:bodyPr>
          <a:lstStyle/>
          <a:p>
            <a:r>
              <a:rPr lang="en-US" dirty="0"/>
              <a:t>Fuzzing over TensorFlow graph.</a:t>
            </a:r>
          </a:p>
          <a:p>
            <a:endParaRPr lang="en-US" dirty="0"/>
          </a:p>
          <a:p>
            <a:r>
              <a:rPr lang="en-US" dirty="0"/>
              <a:t>The </a:t>
            </a:r>
            <a:r>
              <a:rPr lang="en-US" b="1" dirty="0" err="1">
                <a:solidFill>
                  <a:srgbClr val="0070C0"/>
                </a:solidFill>
              </a:rPr>
              <a:t>TensorFuzz</a:t>
            </a:r>
            <a:r>
              <a:rPr lang="en-US" dirty="0"/>
              <a:t> tool </a:t>
            </a:r>
          </a:p>
          <a:p>
            <a:r>
              <a:rPr lang="en-US" dirty="0"/>
              <a:t>feeds inputs to an arbitrary TensorFlow graph </a:t>
            </a:r>
          </a:p>
          <a:p>
            <a:r>
              <a:rPr lang="en-US" dirty="0"/>
              <a:t>and measures coverage by looking at the “activations” of the computation graph.</a:t>
            </a:r>
          </a:p>
          <a:p>
            <a:endParaRPr lang="en-US" dirty="0"/>
          </a:p>
          <a:p>
            <a:r>
              <a:rPr lang="en-US" dirty="0"/>
              <a:t>In coverage-guided fuzzing, </a:t>
            </a:r>
          </a:p>
          <a:p>
            <a:r>
              <a:rPr lang="en-US" dirty="0"/>
              <a:t>random mutations of inputs to a neural network </a:t>
            </a:r>
          </a:p>
          <a:p>
            <a:r>
              <a:rPr lang="en-US" dirty="0"/>
              <a:t>are guided by a coverage metric </a:t>
            </a:r>
          </a:p>
          <a:p>
            <a:r>
              <a:rPr lang="en-US" dirty="0"/>
              <a:t>toward the goal of satisfying user-specified constraints.</a:t>
            </a:r>
          </a:p>
        </p:txBody>
      </p:sp>
      <p:sp>
        <p:nvSpPr>
          <p:cNvPr id="8" name="TextBox 7">
            <a:extLst>
              <a:ext uri="{FF2B5EF4-FFF2-40B4-BE49-F238E27FC236}">
                <a16:creationId xmlns:a16="http://schemas.microsoft.com/office/drawing/2014/main" id="{BC75CE2D-A2C2-9A45-B27D-481CF184D1E3}"/>
              </a:ext>
            </a:extLst>
          </p:cNvPr>
          <p:cNvSpPr txBox="1"/>
          <p:nvPr/>
        </p:nvSpPr>
        <p:spPr>
          <a:xfrm>
            <a:off x="29180" y="3070000"/>
            <a:ext cx="5710218" cy="369332"/>
          </a:xfrm>
          <a:prstGeom prst="rect">
            <a:avLst/>
          </a:prstGeom>
          <a:noFill/>
        </p:spPr>
        <p:txBody>
          <a:bodyPr wrap="none" rtlCol="0">
            <a:spAutoFit/>
          </a:bodyPr>
          <a:lstStyle/>
          <a:p>
            <a:r>
              <a:rPr lang="en-US" dirty="0">
                <a:hlinkClick r:id="rId5"/>
              </a:rPr>
              <a:t>http://proceedings.mlr.press/v97/odena19a/odena19a.pdf</a:t>
            </a:r>
            <a:endParaRPr lang="en-US" dirty="0"/>
          </a:p>
        </p:txBody>
      </p:sp>
    </p:spTree>
    <p:extLst>
      <p:ext uri="{BB962C8B-B14F-4D97-AF65-F5344CB8AC3E}">
        <p14:creationId xmlns:p14="http://schemas.microsoft.com/office/powerpoint/2010/main" val="3803802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A908DDB-E503-6B4F-A20C-26E06F933931}"/>
              </a:ext>
            </a:extLst>
          </p:cNvPr>
          <p:cNvSpPr txBox="1"/>
          <p:nvPr/>
        </p:nvSpPr>
        <p:spPr>
          <a:xfrm>
            <a:off x="-1" y="0"/>
            <a:ext cx="7120647" cy="584775"/>
          </a:xfrm>
          <a:prstGeom prst="rect">
            <a:avLst/>
          </a:prstGeom>
          <a:noFill/>
        </p:spPr>
        <p:txBody>
          <a:bodyPr wrap="square" rtlCol="0">
            <a:spAutoFit/>
          </a:bodyPr>
          <a:lstStyle/>
          <a:p>
            <a:r>
              <a:rPr lang="en-US" sz="3200" b="1" dirty="0"/>
              <a:t>Some Fuzz Testing Frameworks:</a:t>
            </a:r>
          </a:p>
        </p:txBody>
      </p:sp>
      <p:sp>
        <p:nvSpPr>
          <p:cNvPr id="5" name="TextBox 4">
            <a:extLst>
              <a:ext uri="{FF2B5EF4-FFF2-40B4-BE49-F238E27FC236}">
                <a16:creationId xmlns:a16="http://schemas.microsoft.com/office/drawing/2014/main" id="{03324731-D77F-494B-BCAC-A389F110E23D}"/>
              </a:ext>
            </a:extLst>
          </p:cNvPr>
          <p:cNvSpPr txBox="1"/>
          <p:nvPr/>
        </p:nvSpPr>
        <p:spPr>
          <a:xfrm>
            <a:off x="0" y="761755"/>
            <a:ext cx="12034684" cy="5016758"/>
          </a:xfrm>
          <a:prstGeom prst="rect">
            <a:avLst/>
          </a:prstGeom>
          <a:noFill/>
        </p:spPr>
        <p:txBody>
          <a:bodyPr wrap="square" rtlCol="0">
            <a:spAutoFit/>
          </a:bodyPr>
          <a:lstStyle/>
          <a:p>
            <a:r>
              <a:rPr lang="en-US" sz="1600" dirty="0" err="1"/>
              <a:t>Radamsa</a:t>
            </a:r>
            <a:r>
              <a:rPr lang="en-US" sz="1600" dirty="0"/>
              <a:t> - designed to be easy to use and flexible. It attempts to “just work” for a variety of input types and contains a number of different fuzzing algorithms for mutation.</a:t>
            </a:r>
          </a:p>
          <a:p>
            <a:endParaRPr lang="en-US" sz="1600" dirty="0"/>
          </a:p>
          <a:p>
            <a:r>
              <a:rPr lang="en-US" sz="1600" dirty="0" err="1"/>
              <a:t>Sulley</a:t>
            </a:r>
            <a:r>
              <a:rPr lang="en-US" sz="1600" dirty="0"/>
              <a:t> - provides a comprehensive generation framework, allowing structured data to be represented for generation based fuzzing. It also contains components to help with recording test cases and detecting crashes.</a:t>
            </a:r>
          </a:p>
          <a:p>
            <a:endParaRPr lang="en-US" sz="1600" dirty="0"/>
          </a:p>
          <a:p>
            <a:r>
              <a:rPr lang="en-US" sz="1600" dirty="0"/>
              <a:t>Peach - framework can perform smart fuzzing for file formats and network protocols. It can perform both generation- and mutation-based fuzzing and contains components to help with modelling and monitoring the target.</a:t>
            </a:r>
          </a:p>
          <a:p>
            <a:endParaRPr lang="en-US" sz="1600" dirty="0"/>
          </a:p>
          <a:p>
            <a:r>
              <a:rPr lang="en-US" sz="1600" dirty="0"/>
              <a:t>SPIKE - a network protocol </a:t>
            </a:r>
            <a:r>
              <a:rPr lang="en-US" sz="1600" dirty="0" err="1"/>
              <a:t>fuzzer</a:t>
            </a:r>
            <a:r>
              <a:rPr lang="en-US" sz="1600" dirty="0"/>
              <a:t>. It requires good knowledge of C to use and is designed to run on Linux.</a:t>
            </a:r>
          </a:p>
          <a:p>
            <a:endParaRPr lang="en-US" sz="1600" dirty="0"/>
          </a:p>
          <a:p>
            <a:r>
              <a:rPr lang="en-US" sz="1600" dirty="0"/>
              <a:t>Grinder - a web browser </a:t>
            </a:r>
            <a:r>
              <a:rPr lang="en-US" sz="1600" dirty="0" err="1"/>
              <a:t>fuzzer</a:t>
            </a:r>
            <a:r>
              <a:rPr lang="en-US" sz="1600" dirty="0"/>
              <a:t>, which also has features to help in managing large numbers of crashes.</a:t>
            </a:r>
          </a:p>
          <a:p>
            <a:endParaRPr lang="en-US" sz="1600" dirty="0"/>
          </a:p>
          <a:p>
            <a:r>
              <a:rPr lang="en-US" sz="1600" dirty="0" err="1"/>
              <a:t>NodeFuzz</a:t>
            </a:r>
            <a:r>
              <a:rPr lang="en-US" sz="1600" dirty="0"/>
              <a:t> - a </a:t>
            </a:r>
            <a:r>
              <a:rPr lang="en-US" sz="1600" dirty="0" err="1"/>
              <a:t>node.js</a:t>
            </a:r>
            <a:r>
              <a:rPr lang="en-US" sz="1600" dirty="0"/>
              <a:t>-based harness for web browsers, which includes instrumentation modules to gain further information from the client side. </a:t>
            </a:r>
          </a:p>
          <a:p>
            <a:endParaRPr lang="en-US" sz="1600" dirty="0"/>
          </a:p>
          <a:p>
            <a:r>
              <a:rPr lang="en-US" sz="1600" dirty="0"/>
              <a:t>Burp Suite – Cybersecurity Software</a:t>
            </a:r>
          </a:p>
          <a:p>
            <a:endParaRPr lang="en-US" sz="1600" dirty="0"/>
          </a:p>
          <a:p>
            <a:r>
              <a:rPr lang="en-US" sz="1600" dirty="0" err="1"/>
              <a:t>Webscarab</a:t>
            </a:r>
            <a:r>
              <a:rPr lang="en-US" sz="1600" dirty="0"/>
              <a:t> – Java framework, http &amp; https, can be used as intercepting proxy</a:t>
            </a:r>
          </a:p>
          <a:p>
            <a:endParaRPr lang="en-US" sz="1600" dirty="0"/>
          </a:p>
          <a:p>
            <a:r>
              <a:rPr lang="en-US" sz="1600" dirty="0"/>
              <a:t>OWASP </a:t>
            </a:r>
            <a:r>
              <a:rPr lang="en-US" sz="1600" dirty="0" err="1"/>
              <a:t>WSFuzzer</a:t>
            </a:r>
            <a:r>
              <a:rPr lang="en-US" sz="1600" dirty="0"/>
              <a:t> – python, for HTTP based SOAP services</a:t>
            </a:r>
          </a:p>
        </p:txBody>
      </p:sp>
    </p:spTree>
    <p:extLst>
      <p:ext uri="{BB962C8B-B14F-4D97-AF65-F5344CB8AC3E}">
        <p14:creationId xmlns:p14="http://schemas.microsoft.com/office/powerpoint/2010/main" val="3258834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BDF33B-A00C-B74E-98E1-EEAE117B2A77}"/>
              </a:ext>
            </a:extLst>
          </p:cNvPr>
          <p:cNvSpPr txBox="1"/>
          <p:nvPr/>
        </p:nvSpPr>
        <p:spPr>
          <a:xfrm>
            <a:off x="-1" y="0"/>
            <a:ext cx="8549147" cy="6463308"/>
          </a:xfrm>
          <a:prstGeom prst="rect">
            <a:avLst/>
          </a:prstGeom>
          <a:noFill/>
        </p:spPr>
        <p:txBody>
          <a:bodyPr wrap="square" rtlCol="0">
            <a:spAutoFit/>
          </a:bodyPr>
          <a:lstStyle/>
          <a:p>
            <a:r>
              <a:rPr lang="en-US" dirty="0"/>
              <a:t>A systematic review of fuzzing based on machine learning techniques</a:t>
            </a:r>
          </a:p>
          <a:p>
            <a:r>
              <a:rPr lang="en-US" dirty="0"/>
              <a:t>Yan </a:t>
            </a:r>
            <a:r>
              <a:rPr lang="en-US" dirty="0" err="1"/>
              <a:t>Wanga</a:t>
            </a:r>
            <a:r>
              <a:rPr lang="en-US" dirty="0"/>
              <a:t>, Peng </a:t>
            </a:r>
            <a:r>
              <a:rPr lang="en-US" dirty="0" err="1"/>
              <a:t>Jiaa</a:t>
            </a:r>
            <a:r>
              <a:rPr lang="en-US" dirty="0"/>
              <a:t>, </a:t>
            </a:r>
            <a:r>
              <a:rPr lang="en-US" dirty="0" err="1"/>
              <a:t>Luping</a:t>
            </a:r>
            <a:r>
              <a:rPr lang="en-US" dirty="0"/>
              <a:t> </a:t>
            </a:r>
            <a:r>
              <a:rPr lang="en-US" dirty="0" err="1"/>
              <a:t>Liub</a:t>
            </a:r>
            <a:r>
              <a:rPr lang="en-US" dirty="0"/>
              <a:t>, </a:t>
            </a:r>
            <a:r>
              <a:rPr lang="en-US" dirty="0" err="1"/>
              <a:t>Jiayong</a:t>
            </a:r>
            <a:r>
              <a:rPr lang="en-US" dirty="0"/>
              <a:t> Liua1</a:t>
            </a:r>
            <a:endParaRPr lang="en-US" dirty="0">
              <a:hlinkClick r:id="rId2"/>
            </a:endParaRPr>
          </a:p>
          <a:p>
            <a:r>
              <a:rPr lang="en-US" dirty="0"/>
              <a:t> - </a:t>
            </a:r>
            <a:r>
              <a:rPr lang="en-US" dirty="0">
                <a:hlinkClick r:id="rId2"/>
              </a:rPr>
              <a:t>https://arxiv.org/pdf/1908.01262.pdf</a:t>
            </a:r>
            <a:endParaRPr lang="en-US" dirty="0"/>
          </a:p>
          <a:p>
            <a:endParaRPr lang="en-US" dirty="0"/>
          </a:p>
          <a:p>
            <a:r>
              <a:rPr lang="en-US" dirty="0" err="1"/>
              <a:t>NeuFuzz</a:t>
            </a:r>
            <a:r>
              <a:rPr lang="en-US" dirty="0"/>
              <a:t>: Efficient Fuzzing With Deep Neural Network </a:t>
            </a:r>
          </a:p>
          <a:p>
            <a:r>
              <a:rPr lang="en-US" dirty="0" err="1"/>
              <a:t>Yunchao</a:t>
            </a:r>
            <a:r>
              <a:rPr lang="en-US" dirty="0"/>
              <a:t> Wang; </a:t>
            </a:r>
            <a:r>
              <a:rPr lang="en-US" dirty="0" err="1"/>
              <a:t>Zehui</a:t>
            </a:r>
            <a:r>
              <a:rPr lang="en-US" dirty="0"/>
              <a:t> Wu; </a:t>
            </a:r>
            <a:r>
              <a:rPr lang="en-US" dirty="0" err="1"/>
              <a:t>Qiang</a:t>
            </a:r>
            <a:r>
              <a:rPr lang="en-US" dirty="0"/>
              <a:t> Wei; </a:t>
            </a:r>
            <a:r>
              <a:rPr lang="en-US" dirty="0" err="1"/>
              <a:t>Qingxian</a:t>
            </a:r>
            <a:r>
              <a:rPr lang="en-US" dirty="0"/>
              <a:t> Wang</a:t>
            </a:r>
          </a:p>
          <a:p>
            <a:r>
              <a:rPr lang="en-US" dirty="0"/>
              <a:t> - </a:t>
            </a:r>
            <a:r>
              <a:rPr lang="en-US" dirty="0">
                <a:hlinkClick r:id="rId3"/>
              </a:rPr>
              <a:t>https://ieeexplore.ieee.org/document/8672949</a:t>
            </a:r>
            <a:endParaRPr lang="en-US" dirty="0"/>
          </a:p>
          <a:p>
            <a:endParaRPr lang="en-US" dirty="0"/>
          </a:p>
          <a:p>
            <a:r>
              <a:rPr lang="en-US" dirty="0"/>
              <a:t>Microsoft - Neural fuzzing: applying DNN to software security testing. Deep neural network (DNN) is used to learn the hidden vulnerability pattern from a large number of vulnerable and clean program paths to train a prediction model to classify whether paths are vulnerable. The </a:t>
            </a:r>
            <a:r>
              <a:rPr lang="en-US" dirty="0" err="1"/>
              <a:t>fuzzer</a:t>
            </a:r>
            <a:r>
              <a:rPr lang="en-US" dirty="0"/>
              <a:t> then prioritizes seed inputs that are capable of covering the vulnerable paths and assigns more mutation energy.  Overall, using neural fuzzing outperformed traditional AFL in most cases.</a:t>
            </a:r>
          </a:p>
          <a:p>
            <a:r>
              <a:rPr lang="en-US" dirty="0"/>
              <a:t> - </a:t>
            </a:r>
            <a:r>
              <a:rPr lang="en-US" dirty="0">
                <a:hlinkClick r:id="rId4"/>
              </a:rPr>
              <a:t>https://www.microsoft.com/en-us/research/blog/neural-fuzzing/</a:t>
            </a:r>
            <a:endParaRPr lang="en-US" dirty="0"/>
          </a:p>
          <a:p>
            <a:endParaRPr lang="en-US" dirty="0"/>
          </a:p>
          <a:p>
            <a:r>
              <a:rPr lang="en-US" dirty="0"/>
              <a:t>Coverage-guided Fuzzing for Feedforward Neural Networks</a:t>
            </a:r>
          </a:p>
          <a:p>
            <a:r>
              <a:rPr lang="en-US" dirty="0" err="1"/>
              <a:t>Xiaofei</a:t>
            </a:r>
            <a:r>
              <a:rPr lang="en-US" dirty="0"/>
              <a:t> </a:t>
            </a:r>
            <a:r>
              <a:rPr lang="en-US" dirty="0" err="1"/>
              <a:t>Xie</a:t>
            </a:r>
            <a:r>
              <a:rPr lang="en-US" dirty="0"/>
              <a:t>; </a:t>
            </a:r>
            <a:r>
              <a:rPr lang="en-US" dirty="0" err="1"/>
              <a:t>Hongxu</a:t>
            </a:r>
            <a:r>
              <a:rPr lang="en-US" dirty="0"/>
              <a:t> Chen; Yi Li; Lei Ma; Yang Liu; </a:t>
            </a:r>
            <a:r>
              <a:rPr lang="en-US" dirty="0" err="1"/>
              <a:t>Jianjun</a:t>
            </a:r>
            <a:r>
              <a:rPr lang="en-US" dirty="0"/>
              <a:t> Zhao - Singapore &amp; Japan</a:t>
            </a:r>
          </a:p>
          <a:p>
            <a:r>
              <a:rPr lang="en-US" dirty="0"/>
              <a:t> - </a:t>
            </a:r>
            <a:r>
              <a:rPr lang="en-US" dirty="0">
                <a:hlinkClick r:id="rId5"/>
              </a:rPr>
              <a:t>https://www.ntu.edu.sg/home/yi_li/files/ase19-deephunter.pdf</a:t>
            </a:r>
            <a:endParaRPr lang="en-US" dirty="0"/>
          </a:p>
          <a:p>
            <a:endParaRPr lang="en-US" dirty="0"/>
          </a:p>
          <a:p>
            <a:r>
              <a:rPr lang="en-US" dirty="0" err="1"/>
              <a:t>ReluDiff</a:t>
            </a:r>
            <a:r>
              <a:rPr lang="en-US" dirty="0"/>
              <a:t>: Differential Verification of Deep Neural Networks</a:t>
            </a:r>
          </a:p>
          <a:p>
            <a:r>
              <a:rPr lang="en-US" dirty="0"/>
              <a:t>Brandon Paulsen; </a:t>
            </a:r>
            <a:r>
              <a:rPr lang="en-US" dirty="0" err="1"/>
              <a:t>Jingbo</a:t>
            </a:r>
            <a:r>
              <a:rPr lang="en-US" dirty="0"/>
              <a:t> Wang; Chao Wang</a:t>
            </a:r>
          </a:p>
          <a:p>
            <a:r>
              <a:rPr lang="en-US" dirty="0"/>
              <a:t> - </a:t>
            </a:r>
            <a:r>
              <a:rPr lang="en-US" dirty="0">
                <a:hlinkClick r:id="rId6"/>
              </a:rPr>
              <a:t>https://arxiv.org/pdf/2001.03662.pdf</a:t>
            </a:r>
            <a:endParaRPr lang="en-US" dirty="0"/>
          </a:p>
        </p:txBody>
      </p:sp>
      <p:pic>
        <p:nvPicPr>
          <p:cNvPr id="5" name="Picture 4">
            <a:extLst>
              <a:ext uri="{FF2B5EF4-FFF2-40B4-BE49-F238E27FC236}">
                <a16:creationId xmlns:a16="http://schemas.microsoft.com/office/drawing/2014/main" id="{93B085F6-B951-C042-8039-6B3F9835FC18}"/>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8549147" y="386531"/>
            <a:ext cx="3642853" cy="1866900"/>
          </a:xfrm>
          <a:prstGeom prst="rect">
            <a:avLst/>
          </a:prstGeom>
        </p:spPr>
      </p:pic>
    </p:spTree>
    <p:extLst>
      <p:ext uri="{BB962C8B-B14F-4D97-AF65-F5344CB8AC3E}">
        <p14:creationId xmlns:p14="http://schemas.microsoft.com/office/powerpoint/2010/main" val="2673955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712138-F9BA-2142-A5BF-70E827EF4D7C}"/>
              </a:ext>
            </a:extLst>
          </p:cNvPr>
          <p:cNvSpPr txBox="1"/>
          <p:nvPr/>
        </p:nvSpPr>
        <p:spPr>
          <a:xfrm>
            <a:off x="383458" y="280219"/>
            <a:ext cx="9601200" cy="6124754"/>
          </a:xfrm>
          <a:prstGeom prst="rect">
            <a:avLst/>
          </a:prstGeom>
          <a:noFill/>
        </p:spPr>
        <p:txBody>
          <a:bodyPr wrap="square" rtlCol="0">
            <a:spAutoFit/>
          </a:bodyPr>
          <a:lstStyle/>
          <a:p>
            <a:r>
              <a:rPr lang="en-US" sz="1400" dirty="0"/>
              <a:t>https://</a:t>
            </a:r>
            <a:r>
              <a:rPr lang="en-US" sz="1400" dirty="0" err="1"/>
              <a:t>lcamtuf.blogspot.com</a:t>
            </a:r>
            <a:r>
              <a:rPr lang="en-US" sz="1400" dirty="0"/>
              <a:t>/2014/11/</a:t>
            </a:r>
            <a:r>
              <a:rPr lang="en-US" sz="1400" dirty="0" err="1"/>
              <a:t>pulling-jpegs-out-of-thin-air.html?m</a:t>
            </a:r>
            <a:r>
              <a:rPr lang="en-US" sz="1400" dirty="0"/>
              <a:t>=1</a:t>
            </a:r>
          </a:p>
          <a:p>
            <a:endParaRPr lang="en-US" sz="1400" dirty="0"/>
          </a:p>
          <a:p>
            <a:r>
              <a:rPr lang="en-US" sz="1400" dirty="0"/>
              <a:t>https://</a:t>
            </a:r>
            <a:r>
              <a:rPr lang="en-US" sz="1400" dirty="0" err="1"/>
              <a:t>github.com</a:t>
            </a:r>
            <a:r>
              <a:rPr lang="en-US" sz="1400" dirty="0"/>
              <a:t>/</a:t>
            </a:r>
            <a:r>
              <a:rPr lang="en-US" sz="1400" dirty="0" err="1"/>
              <a:t>secfigo</a:t>
            </a:r>
            <a:r>
              <a:rPr lang="en-US" sz="1400" dirty="0"/>
              <a:t>/Awesome-Fuzzing</a:t>
            </a:r>
          </a:p>
          <a:p>
            <a:endParaRPr lang="en-US" sz="1400" dirty="0"/>
          </a:p>
          <a:p>
            <a:r>
              <a:rPr lang="en-US" sz="1400" dirty="0"/>
              <a:t>https://</a:t>
            </a:r>
            <a:r>
              <a:rPr lang="en-US" sz="1400" dirty="0" err="1"/>
              <a:t>hypothesis.readthedocs.io</a:t>
            </a:r>
            <a:r>
              <a:rPr lang="en-US" sz="1400" dirty="0"/>
              <a:t>/</a:t>
            </a:r>
            <a:r>
              <a:rPr lang="en-US" sz="1400" dirty="0" err="1"/>
              <a:t>en</a:t>
            </a:r>
            <a:r>
              <a:rPr lang="en-US" sz="1400" dirty="0"/>
              <a:t>/latest/</a:t>
            </a:r>
            <a:r>
              <a:rPr lang="en-US" sz="1400" dirty="0" err="1"/>
              <a:t>quickstart.html</a:t>
            </a:r>
            <a:endParaRPr lang="en-US" sz="1400" dirty="0"/>
          </a:p>
          <a:p>
            <a:endParaRPr lang="en-US" sz="1400" dirty="0"/>
          </a:p>
          <a:p>
            <a:r>
              <a:rPr lang="en-US" sz="1400" dirty="0"/>
              <a:t>https://</a:t>
            </a:r>
            <a:r>
              <a:rPr lang="en-US" sz="1400" dirty="0" err="1"/>
              <a:t>en.m.wikipedia.org</a:t>
            </a:r>
            <a:r>
              <a:rPr lang="en-US" sz="1400" dirty="0"/>
              <a:t>/wiki/</a:t>
            </a:r>
            <a:r>
              <a:rPr lang="en-US" sz="1400" dirty="0" err="1"/>
              <a:t>Symbolic_execution</a:t>
            </a:r>
            <a:endParaRPr lang="en-US" sz="1400" dirty="0"/>
          </a:p>
          <a:p>
            <a:endParaRPr lang="en-US" sz="1400" dirty="0"/>
          </a:p>
          <a:p>
            <a:r>
              <a:rPr lang="en-US" sz="1400" dirty="0"/>
              <a:t>https://</a:t>
            </a:r>
            <a:r>
              <a:rPr lang="en-US" sz="1400" dirty="0" err="1"/>
              <a:t>en.m.wikipedia.org</a:t>
            </a:r>
            <a:r>
              <a:rPr lang="en-US" sz="1400" dirty="0"/>
              <a:t>/wiki/</a:t>
            </a:r>
            <a:r>
              <a:rPr lang="en-US" sz="1400" dirty="0" err="1"/>
              <a:t>Dynamic_program_analysis</a:t>
            </a:r>
            <a:endParaRPr lang="en-US" sz="1400" dirty="0"/>
          </a:p>
          <a:p>
            <a:endParaRPr lang="en-US" sz="1400" dirty="0"/>
          </a:p>
          <a:p>
            <a:r>
              <a:rPr lang="en-US" sz="1400" dirty="0"/>
              <a:t>https://</a:t>
            </a:r>
            <a:r>
              <a:rPr lang="en-US" sz="1400" dirty="0" err="1"/>
              <a:t>jaxenter.com</a:t>
            </a:r>
            <a:r>
              <a:rPr lang="en-US" sz="1400" dirty="0"/>
              <a:t>/clusterfuzz-open-sourced-155414.html</a:t>
            </a:r>
          </a:p>
          <a:p>
            <a:endParaRPr lang="en-US" sz="1400" dirty="0"/>
          </a:p>
          <a:p>
            <a:r>
              <a:rPr lang="en-US" sz="1400" dirty="0"/>
              <a:t>https://</a:t>
            </a:r>
            <a:r>
              <a:rPr lang="en-US" sz="1400" dirty="0" err="1"/>
              <a:t>www.google.com</a:t>
            </a:r>
            <a:r>
              <a:rPr lang="en-US" sz="1400" dirty="0"/>
              <a:t>/</a:t>
            </a:r>
            <a:r>
              <a:rPr lang="en-US" sz="1400" dirty="0" err="1"/>
              <a:t>url?sa</a:t>
            </a:r>
            <a:r>
              <a:rPr lang="en-US" sz="1400" dirty="0"/>
              <a:t>=</a:t>
            </a:r>
            <a:r>
              <a:rPr lang="en-US" sz="1400" dirty="0" err="1"/>
              <a:t>t&amp;source</a:t>
            </a:r>
            <a:r>
              <a:rPr lang="en-US" sz="1400" dirty="0"/>
              <a:t>=</a:t>
            </a:r>
            <a:r>
              <a:rPr lang="en-US" sz="1400" dirty="0" err="1"/>
              <a:t>web&amp;rct</a:t>
            </a:r>
            <a:r>
              <a:rPr lang="en-US" sz="1400" dirty="0"/>
              <a:t>=</a:t>
            </a:r>
            <a:r>
              <a:rPr lang="en-US" sz="1400" dirty="0" err="1"/>
              <a:t>j&amp;url</a:t>
            </a:r>
            <a:r>
              <a:rPr lang="en-US" sz="1400" dirty="0"/>
              <a:t>=https://</a:t>
            </a:r>
            <a:r>
              <a:rPr lang="en-US" sz="1400" dirty="0" err="1"/>
              <a:t>arxiv.org</a:t>
            </a:r>
            <a:r>
              <a:rPr lang="en-US" sz="1400" dirty="0"/>
              <a:t>/pdf/1807.05620&amp;ved=2ahUKEwjGq8DfhcPnAhXllnIEHeCxDFIQFjAMegQIAxAB&amp;usg=AOvVaw1iTCG09IstfMpmUwGnJMgO</a:t>
            </a:r>
          </a:p>
          <a:p>
            <a:endParaRPr lang="en-US" sz="1400" dirty="0"/>
          </a:p>
          <a:p>
            <a:r>
              <a:rPr lang="en-US" sz="1400" dirty="0"/>
              <a:t>https://</a:t>
            </a:r>
            <a:r>
              <a:rPr lang="en-US" sz="1400" dirty="0" err="1"/>
              <a:t>www.google.com</a:t>
            </a:r>
            <a:r>
              <a:rPr lang="en-US" sz="1400" dirty="0"/>
              <a:t>/</a:t>
            </a:r>
            <a:r>
              <a:rPr lang="en-US" sz="1400" dirty="0" err="1"/>
              <a:t>search?safe</a:t>
            </a:r>
            <a:r>
              <a:rPr lang="en-US" sz="1400" dirty="0"/>
              <a:t>=</a:t>
            </a:r>
            <a:r>
              <a:rPr lang="en-US" sz="1400" dirty="0" err="1"/>
              <a:t>off&amp;client</a:t>
            </a:r>
            <a:r>
              <a:rPr lang="en-US" sz="1400" dirty="0"/>
              <a:t>=</a:t>
            </a:r>
            <a:r>
              <a:rPr lang="en-US" sz="1400" dirty="0" err="1"/>
              <a:t>ms-android-verizon&amp;sxsrf</a:t>
            </a:r>
            <a:r>
              <a:rPr lang="en-US" sz="1400" dirty="0"/>
              <a:t>=ACYBGNTeNA2omSZuKgto098v76N3D5kPiA%3A1581202462479&amp;ei=Hjw_XufrHJyrytMPwtGa6AU&amp;q=</a:t>
            </a:r>
            <a:r>
              <a:rPr lang="en-US" sz="1400" dirty="0" err="1"/>
              <a:t>libfuzzer&amp;oq</a:t>
            </a:r>
            <a:r>
              <a:rPr lang="en-US" sz="1400" dirty="0"/>
              <a:t>=</a:t>
            </a:r>
            <a:r>
              <a:rPr lang="en-US" sz="1400" dirty="0" err="1"/>
              <a:t>libfuzzer&amp;gs_l</a:t>
            </a:r>
            <a:r>
              <a:rPr lang="en-US" sz="1400" dirty="0"/>
              <a:t>=mobile-gws-wiz-serp.3..0i67j0i20i263l2j0l5.12896.14945..15183...1.1..0.173.1139.0j9....2..0....1.......8..0i71j35i362i39j46i322i39i275j35i39j46i322i39j0i273j0i199i291j46i322i131j0i10i67j46i322i67j46i322j0i199i175i131i273j0i199i291i131.mFbC4fbnsIk#sbfbu=1&amp;pi=</a:t>
            </a:r>
            <a:r>
              <a:rPr lang="en-US" sz="1400" dirty="0" err="1"/>
              <a:t>libfuzzer</a:t>
            </a:r>
            <a:endParaRPr lang="en-US" sz="1400" dirty="0"/>
          </a:p>
          <a:p>
            <a:endParaRPr lang="en-US" sz="1400" dirty="0"/>
          </a:p>
          <a:p>
            <a:r>
              <a:rPr lang="en-US" sz="1400" dirty="0"/>
              <a:t>https://</a:t>
            </a:r>
            <a:r>
              <a:rPr lang="en-US" sz="1400" dirty="0" err="1"/>
              <a:t>scholar.google.com</a:t>
            </a:r>
            <a:r>
              <a:rPr lang="en-US" sz="1400" dirty="0"/>
              <a:t>/</a:t>
            </a:r>
            <a:r>
              <a:rPr lang="en-US" sz="1400" dirty="0" err="1"/>
              <a:t>scholar?start</a:t>
            </a:r>
            <a:r>
              <a:rPr lang="en-US" sz="1400" dirty="0"/>
              <a:t>=10&amp;q=</a:t>
            </a:r>
            <a:r>
              <a:rPr lang="en-US" sz="1400" dirty="0" err="1"/>
              <a:t>fuzz+testing+libfuzzer&amp;hl</a:t>
            </a:r>
            <a:r>
              <a:rPr lang="en-US" sz="1400" dirty="0"/>
              <a:t>=</a:t>
            </a:r>
            <a:r>
              <a:rPr lang="en-US" sz="1400" dirty="0" err="1"/>
              <a:t>en&amp;as_sdt</a:t>
            </a:r>
            <a:r>
              <a:rPr lang="en-US" sz="1400" dirty="0"/>
              <a:t>=0,33</a:t>
            </a:r>
          </a:p>
          <a:p>
            <a:endParaRPr lang="en-US" sz="1400" dirty="0"/>
          </a:p>
          <a:p>
            <a:r>
              <a:rPr lang="en-US" sz="1400" dirty="0">
                <a:hlinkClick r:id="rId2"/>
              </a:rPr>
              <a:t>https://github.com/google/fuzzing/blob/master/tutorial/libFuzzerTutorial.md</a:t>
            </a:r>
            <a:endParaRPr lang="en-US" sz="1400" dirty="0"/>
          </a:p>
          <a:p>
            <a:endParaRPr lang="en-US" sz="1400" dirty="0"/>
          </a:p>
          <a:p>
            <a:endParaRPr lang="en-US" sz="1400" dirty="0"/>
          </a:p>
          <a:p>
            <a:r>
              <a:rPr lang="en-US" sz="1400" dirty="0"/>
              <a:t>KLUZZER: </a:t>
            </a:r>
            <a:r>
              <a:rPr lang="en-US" sz="1400" dirty="0" err="1"/>
              <a:t>Whitebox</a:t>
            </a:r>
            <a:r>
              <a:rPr lang="en-US" sz="1400" dirty="0"/>
              <a:t> Fuzzing on Top of LLVM </a:t>
            </a:r>
            <a:r>
              <a:rPr lang="en-US" sz="1400" dirty="0" err="1"/>
              <a:t>bitcode</a:t>
            </a:r>
            <a:r>
              <a:rPr lang="en-US" sz="1400" dirty="0"/>
              <a:t> - </a:t>
            </a:r>
            <a:r>
              <a:rPr lang="en-US" sz="1400" dirty="0">
                <a:hlinkClick r:id="rId3"/>
              </a:rPr>
              <a:t>https://link.springer.com/chapter/10.1007/978-3-030-31784-3_14</a:t>
            </a:r>
            <a:endParaRPr lang="en-US" sz="1400" dirty="0"/>
          </a:p>
        </p:txBody>
      </p:sp>
    </p:spTree>
    <p:extLst>
      <p:ext uri="{BB962C8B-B14F-4D97-AF65-F5344CB8AC3E}">
        <p14:creationId xmlns:p14="http://schemas.microsoft.com/office/powerpoint/2010/main" val="29664291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TotalTime>
  <Words>1864</Words>
  <Application>Microsoft Macintosh PowerPoint</Application>
  <PresentationFormat>Widescreen</PresentationFormat>
  <Paragraphs>150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29</cp:revision>
  <dcterms:created xsi:type="dcterms:W3CDTF">2020-02-09T16:51:30Z</dcterms:created>
  <dcterms:modified xsi:type="dcterms:W3CDTF">2020-02-09T21:37:22Z</dcterms:modified>
</cp:coreProperties>
</file>