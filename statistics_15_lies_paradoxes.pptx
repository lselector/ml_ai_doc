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5"/>
  </p:notesMasterIdLst>
  <p:sldIdLst>
    <p:sldId id="310" r:id="rId2"/>
    <p:sldId id="312" r:id="rId3"/>
    <p:sldId id="311" r:id="rId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669"/>
    <p:restoredTop sz="92169"/>
  </p:normalViewPr>
  <p:slideViewPr>
    <p:cSldViewPr snapToGrid="0" snapToObjects="1">
      <p:cViewPr varScale="1">
        <p:scale>
          <a:sx n="98" d="100"/>
          <a:sy n="98" d="100"/>
        </p:scale>
        <p:origin x="192" y="3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 Id="rId5" Type="http://schemas.openxmlformats.org/officeDocument/2006/relationships/image" Target="../media/image4.jpeg"/><Relationship Id="rId4" Type="http://schemas.openxmlformats.org/officeDocument/2006/relationships/image" Target="../media/image3.jpeg"/></Relationships>
</file>

<file path=ppt/slides/_rels/slide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hyperlink" Target="https://en.wikipedia.org/wiki/Data_dredging" TargetMode="Externa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4522214-AFB0-564D-BD12-807FFF240F75}"/>
              </a:ext>
            </a:extLst>
          </p:cNvPr>
          <p:cNvSpPr txBox="1"/>
          <p:nvPr/>
        </p:nvSpPr>
        <p:spPr>
          <a:xfrm>
            <a:off x="0" y="0"/>
            <a:ext cx="4364736" cy="523220"/>
          </a:xfrm>
          <a:prstGeom prst="rect">
            <a:avLst/>
          </a:prstGeom>
          <a:noFill/>
        </p:spPr>
        <p:txBody>
          <a:bodyPr wrap="square" rtlCol="0">
            <a:spAutoFit/>
          </a:bodyPr>
          <a:lstStyle/>
          <a:p>
            <a:r>
              <a:rPr lang="en-US" sz="2800" b="1" dirty="0"/>
              <a:t>How to lie with statistics</a:t>
            </a:r>
          </a:p>
        </p:txBody>
      </p:sp>
      <p:sp>
        <p:nvSpPr>
          <p:cNvPr id="5" name="TextBox 4">
            <a:extLst>
              <a:ext uri="{FF2B5EF4-FFF2-40B4-BE49-F238E27FC236}">
                <a16:creationId xmlns:a16="http://schemas.microsoft.com/office/drawing/2014/main" id="{27AD4B69-569A-F246-A34E-1020E0FF5EF7}"/>
              </a:ext>
            </a:extLst>
          </p:cNvPr>
          <p:cNvSpPr txBox="1"/>
          <p:nvPr/>
        </p:nvSpPr>
        <p:spPr>
          <a:xfrm>
            <a:off x="0" y="523220"/>
            <a:ext cx="6435524" cy="307777"/>
          </a:xfrm>
          <a:prstGeom prst="rect">
            <a:avLst/>
          </a:prstGeom>
          <a:noFill/>
        </p:spPr>
        <p:txBody>
          <a:bodyPr wrap="square" rtlCol="0">
            <a:spAutoFit/>
          </a:bodyPr>
          <a:lstStyle/>
          <a:p>
            <a:r>
              <a:rPr lang="en-US" dirty="0"/>
              <a:t>How to lie with statistics</a:t>
            </a:r>
          </a:p>
        </p:txBody>
      </p:sp>
      <p:pic>
        <p:nvPicPr>
          <p:cNvPr id="1026" name="Picture 2" descr="How to Lie with Statistics - Wikipedia">
            <a:extLst>
              <a:ext uri="{FF2B5EF4-FFF2-40B4-BE49-F238E27FC236}">
                <a16:creationId xmlns:a16="http://schemas.microsoft.com/office/drawing/2014/main" id="{F051567D-D9CA-2248-8CD7-A1835343DA4A}"/>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565912" y="1365250"/>
            <a:ext cx="1550271" cy="2290173"/>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How to Lie with Statistics Reissue, Huff, Darrell, Geis, Irving - Amazon.com">
            <a:extLst>
              <a:ext uri="{FF2B5EF4-FFF2-40B4-BE49-F238E27FC236}">
                <a16:creationId xmlns:a16="http://schemas.microsoft.com/office/drawing/2014/main" id="{B182DC7A-1882-3F43-A451-FF54C57D8F09}"/>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2451169" y="1365250"/>
            <a:ext cx="1518484" cy="2290173"/>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How to Lie with Statistics by Darrell Huff">
            <a:extLst>
              <a:ext uri="{FF2B5EF4-FFF2-40B4-BE49-F238E27FC236}">
                <a16:creationId xmlns:a16="http://schemas.microsoft.com/office/drawing/2014/main" id="{86B27759-FB16-6B42-815D-2338119DEFEA}"/>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6108950" y="1365250"/>
            <a:ext cx="1537926" cy="2290173"/>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How To Lie With COVID-19 – Hospitality Net">
            <a:extLst>
              <a:ext uri="{FF2B5EF4-FFF2-40B4-BE49-F238E27FC236}">
                <a16:creationId xmlns:a16="http://schemas.microsoft.com/office/drawing/2014/main" id="{C1C34B69-C719-6F4E-A3FA-FCA2FA1D25CC}"/>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4306276" y="1365250"/>
            <a:ext cx="1440462" cy="22901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798081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4522214-AFB0-564D-BD12-807FFF240F75}"/>
              </a:ext>
            </a:extLst>
          </p:cNvPr>
          <p:cNvSpPr txBox="1"/>
          <p:nvPr/>
        </p:nvSpPr>
        <p:spPr>
          <a:xfrm>
            <a:off x="0" y="0"/>
            <a:ext cx="4364736" cy="523220"/>
          </a:xfrm>
          <a:prstGeom prst="rect">
            <a:avLst/>
          </a:prstGeom>
          <a:noFill/>
        </p:spPr>
        <p:txBody>
          <a:bodyPr wrap="square" rtlCol="0">
            <a:spAutoFit/>
          </a:bodyPr>
          <a:lstStyle/>
          <a:p>
            <a:r>
              <a:rPr lang="en-US" sz="2800" b="1" dirty="0"/>
              <a:t>P-Hacking</a:t>
            </a:r>
          </a:p>
        </p:txBody>
      </p:sp>
      <p:sp>
        <p:nvSpPr>
          <p:cNvPr id="7" name="TextBox 6">
            <a:extLst>
              <a:ext uri="{FF2B5EF4-FFF2-40B4-BE49-F238E27FC236}">
                <a16:creationId xmlns:a16="http://schemas.microsoft.com/office/drawing/2014/main" id="{4172CC51-1B5A-A646-8C58-205561C474A9}"/>
              </a:ext>
            </a:extLst>
          </p:cNvPr>
          <p:cNvSpPr txBox="1"/>
          <p:nvPr/>
        </p:nvSpPr>
        <p:spPr>
          <a:xfrm>
            <a:off x="190282" y="2860061"/>
            <a:ext cx="6701246" cy="2031325"/>
          </a:xfrm>
          <a:prstGeom prst="rect">
            <a:avLst/>
          </a:prstGeom>
          <a:noFill/>
        </p:spPr>
        <p:txBody>
          <a:bodyPr wrap="square" rtlCol="0">
            <a:spAutoFit/>
          </a:bodyPr>
          <a:lstStyle/>
          <a:p>
            <a:r>
              <a:rPr lang="en-US" dirty="0"/>
              <a:t>Data dredging (or data fishing, data snooping, data butchery), also known as significance chasing, significance questing, selective inference, and p-hacking[1] is the misuse of data analysis to find patterns in data that can be presented as statistically significant, thus dramatically increasing and understating the risk of false positives. This is done by performing many statistical tests on the data and only reporting those that come back with significant results.[2]</a:t>
            </a:r>
          </a:p>
          <a:p>
            <a:endParaRPr lang="en-US" dirty="0"/>
          </a:p>
          <a:p>
            <a:r>
              <a:rPr lang="en-US" dirty="0">
                <a:hlinkClick r:id="rId2"/>
              </a:rPr>
              <a:t>https://en.wikipedia.org/wiki/Data_dredging</a:t>
            </a:r>
            <a:endParaRPr lang="en-US" dirty="0"/>
          </a:p>
          <a:p>
            <a:endParaRPr lang="en-US" dirty="0"/>
          </a:p>
        </p:txBody>
      </p:sp>
      <p:sp>
        <p:nvSpPr>
          <p:cNvPr id="8" name="TextBox 7">
            <a:extLst>
              <a:ext uri="{FF2B5EF4-FFF2-40B4-BE49-F238E27FC236}">
                <a16:creationId xmlns:a16="http://schemas.microsoft.com/office/drawing/2014/main" id="{A96ABF10-2D71-A043-8AAD-C9C1BBD18AF9}"/>
              </a:ext>
            </a:extLst>
          </p:cNvPr>
          <p:cNvSpPr txBox="1"/>
          <p:nvPr/>
        </p:nvSpPr>
        <p:spPr>
          <a:xfrm>
            <a:off x="190282" y="849086"/>
            <a:ext cx="5361432" cy="1600438"/>
          </a:xfrm>
          <a:prstGeom prst="rect">
            <a:avLst/>
          </a:prstGeom>
          <a:noFill/>
        </p:spPr>
        <p:txBody>
          <a:bodyPr wrap="square" rtlCol="0">
            <a:spAutoFit/>
          </a:bodyPr>
          <a:lstStyle/>
          <a:p>
            <a:r>
              <a:rPr lang="en-US" dirty="0"/>
              <a:t>Inflation bias</a:t>
            </a:r>
          </a:p>
          <a:p>
            <a:r>
              <a:rPr lang="en-US" dirty="0"/>
              <a:t>Inflation bias, also known as “p-hacking” or “selective reporting,” is the misreporting of true effect sizes in published studies. </a:t>
            </a:r>
          </a:p>
          <a:p>
            <a:endParaRPr lang="en-US" dirty="0"/>
          </a:p>
          <a:p>
            <a:r>
              <a:rPr lang="en-US" dirty="0"/>
              <a:t>It occurs when researchers try out several statistical analyses and/or data eligibility specifications and then selectively report those that produce significant results.</a:t>
            </a:r>
          </a:p>
        </p:txBody>
      </p:sp>
      <p:pic>
        <p:nvPicPr>
          <p:cNvPr id="3074" name="Picture 2" descr="p-hacking: What it is and how to avoid it! - YouTube">
            <a:extLst>
              <a:ext uri="{FF2B5EF4-FFF2-40B4-BE49-F238E27FC236}">
                <a16:creationId xmlns:a16="http://schemas.microsoft.com/office/drawing/2014/main" id="{38459C27-046D-5045-88B8-76B986EC94D8}"/>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p:blipFill>
        <p:spPr bwMode="auto">
          <a:xfrm>
            <a:off x="8046720" y="961865"/>
            <a:ext cx="3374571" cy="11673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510923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Simpson's paradox. Positive associations occur for two data groups... |  Download Scientific Diagram">
            <a:extLst>
              <a:ext uri="{FF2B5EF4-FFF2-40B4-BE49-F238E27FC236}">
                <a16:creationId xmlns:a16="http://schemas.microsoft.com/office/drawing/2014/main" id="{654C4C8E-AA14-A84C-8D06-FADA0A087F80}"/>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2299064" y="2195692"/>
            <a:ext cx="5523774" cy="309331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224011A-6B1D-2246-B582-BD528C4E7117}"/>
              </a:ext>
            </a:extLst>
          </p:cNvPr>
          <p:cNvSpPr txBox="1"/>
          <p:nvPr/>
        </p:nvSpPr>
        <p:spPr>
          <a:xfrm>
            <a:off x="0" y="0"/>
            <a:ext cx="3749040" cy="523220"/>
          </a:xfrm>
          <a:prstGeom prst="rect">
            <a:avLst/>
          </a:prstGeom>
          <a:noFill/>
        </p:spPr>
        <p:txBody>
          <a:bodyPr wrap="square" rtlCol="0">
            <a:spAutoFit/>
          </a:bodyPr>
          <a:lstStyle/>
          <a:p>
            <a:r>
              <a:rPr lang="en-US" sz="2800" b="1" dirty="0"/>
              <a:t>Simpson's paradox </a:t>
            </a:r>
          </a:p>
        </p:txBody>
      </p:sp>
    </p:spTree>
    <p:extLst>
      <p:ext uri="{BB962C8B-B14F-4D97-AF65-F5344CB8AC3E}">
        <p14:creationId xmlns:p14="http://schemas.microsoft.com/office/powerpoint/2010/main" val="3441590955"/>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2845</TotalTime>
  <Words>162</Words>
  <Application>Microsoft Macintosh PowerPoint</Application>
  <PresentationFormat>Widescreen</PresentationFormat>
  <Paragraphs>11</Paragraphs>
  <Slides>3</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277</cp:revision>
  <cp:lastPrinted>2020-09-21T17:22:59Z</cp:lastPrinted>
  <dcterms:modified xsi:type="dcterms:W3CDTF">2021-05-02T13:20:07Z</dcterms:modified>
</cp:coreProperties>
</file>