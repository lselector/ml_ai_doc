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75" r:id="rId2"/>
    <p:sldId id="280" r:id="rId3"/>
    <p:sldId id="281" r:id="rId4"/>
    <p:sldId id="282" r:id="rId5"/>
    <p:sldId id="283" r:id="rId6"/>
    <p:sldId id="284" r:id="rId7"/>
    <p:sldId id="288"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0"/>
    <p:restoredTop sz="92197"/>
  </p:normalViewPr>
  <p:slideViewPr>
    <p:cSldViewPr snapToGrid="0" snapToObjects="1">
      <p:cViewPr varScale="1">
        <p:scale>
          <a:sx n="69" d="100"/>
          <a:sy n="69" d="100"/>
        </p:scale>
        <p:origin x="208"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4"/>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3" Type="http://schemas.openxmlformats.org/officeDocument/2006/relationships/image" Target="../media/image1.tiff"/><Relationship Id="rId7" Type="http://schemas.openxmlformats.org/officeDocument/2006/relationships/image" Target="../media/image5.tiff"/><Relationship Id="rId2" Type="http://schemas.openxmlformats.org/officeDocument/2006/relationships/hyperlink" Target="https://en.wikipedia.org/wiki/Student%27s_t-distribution" TargetMode="External"/><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image" Target="../media/image3.jpeg"/><Relationship Id="rId10" Type="http://schemas.openxmlformats.org/officeDocument/2006/relationships/image" Target="../media/image8.tiff"/><Relationship Id="rId4" Type="http://schemas.openxmlformats.org/officeDocument/2006/relationships/image" Target="../media/image2.tiff"/><Relationship Id="rId9" Type="http://schemas.openxmlformats.org/officeDocument/2006/relationships/image" Target="../media/image7.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0.png"/><Relationship Id="rId4" Type="http://schemas.openxmlformats.org/officeDocument/2006/relationships/image" Target="../media/image9.wmf"/></Relationships>
</file>

<file path=ppt/slides/_rels/slide4.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11.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18.png"/><Relationship Id="rId7" Type="http://schemas.openxmlformats.org/officeDocument/2006/relationships/image" Target="../media/image15.wmf"/><Relationship Id="rId12" Type="http://schemas.openxmlformats.org/officeDocument/2006/relationships/hyperlink" Target="https://en.wikipedia.org/wiki/Levene%27s_test" TargetMode="Externa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6.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3.wmf"/><Relationship Id="rId3" Type="http://schemas.openxmlformats.org/officeDocument/2006/relationships/image" Target="../media/image25.png"/><Relationship Id="rId7" Type="http://schemas.openxmlformats.org/officeDocument/2006/relationships/image" Target="../media/image20.wmf"/><Relationship Id="rId12"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0.bin"/><Relationship Id="rId11" Type="http://schemas.openxmlformats.org/officeDocument/2006/relationships/image" Target="../media/image22.wmf"/><Relationship Id="rId5" Type="http://schemas.openxmlformats.org/officeDocument/2006/relationships/image" Target="../media/image19.wmf"/><Relationship Id="rId15" Type="http://schemas.openxmlformats.org/officeDocument/2006/relationships/image" Target="../media/image24.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21.wmf"/><Relationship Id="rId14" Type="http://schemas.openxmlformats.org/officeDocument/2006/relationships/oleObject" Target="../embeddings/oleObject14.bin"/></Relationships>
</file>

<file path=ppt/slides/_rels/slide7.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9989AD-B381-BE48-B1F5-DEF24A56DF43}"/>
              </a:ext>
            </a:extLst>
          </p:cNvPr>
          <p:cNvSpPr txBox="1"/>
          <p:nvPr/>
        </p:nvSpPr>
        <p:spPr>
          <a:xfrm>
            <a:off x="312820" y="180474"/>
            <a:ext cx="4535905" cy="2554545"/>
          </a:xfrm>
          <a:prstGeom prst="rect">
            <a:avLst/>
          </a:prstGeom>
          <a:noFill/>
        </p:spPr>
        <p:txBody>
          <a:bodyPr wrap="square" rtlCol="0">
            <a:spAutoFit/>
          </a:bodyPr>
          <a:lstStyle/>
          <a:p>
            <a:r>
              <a:rPr lang="en-US" sz="2800" b="1" dirty="0"/>
              <a:t>Student's </a:t>
            </a:r>
            <a:r>
              <a:rPr lang="en-US" sz="2800" b="1" i="1" dirty="0"/>
              <a:t>t</a:t>
            </a:r>
            <a:r>
              <a:rPr lang="en-US" sz="2800" b="1" dirty="0"/>
              <a:t>-distribution </a:t>
            </a:r>
          </a:p>
          <a:p>
            <a:endParaRPr lang="en-US" sz="1200" b="1" dirty="0"/>
          </a:p>
          <a:p>
            <a:r>
              <a:rPr lang="en-US" sz="1200" dirty="0">
                <a:hlinkClick r:id="rId2"/>
              </a:rPr>
              <a:t>https://en.wikipedia.org/wiki/Student%27s_t-distribution</a:t>
            </a:r>
            <a:r>
              <a:rPr lang="en-US" sz="1200" dirty="0"/>
              <a:t>    </a:t>
            </a:r>
          </a:p>
          <a:p>
            <a:endParaRPr lang="en-US" sz="1200" dirty="0"/>
          </a:p>
          <a:p>
            <a:r>
              <a:rPr lang="en-US" sz="1200" dirty="0"/>
              <a:t>Student's t-distribution (or simply the t-distribution) </a:t>
            </a:r>
          </a:p>
          <a:p>
            <a:r>
              <a:rPr lang="en-US" sz="1200" dirty="0"/>
              <a:t>is any member of a family of continuous probability distributions that arises when </a:t>
            </a:r>
            <a:r>
              <a:rPr lang="en-US" sz="1200" b="1" dirty="0">
                <a:solidFill>
                  <a:srgbClr val="0070C0"/>
                </a:solidFill>
              </a:rPr>
              <a:t>estimating the mean of a normally distributed population </a:t>
            </a:r>
          </a:p>
          <a:p>
            <a:r>
              <a:rPr lang="en-US" sz="1200" dirty="0"/>
              <a:t>in situations </a:t>
            </a:r>
            <a:r>
              <a:rPr lang="en-US" sz="1200" b="1" dirty="0">
                <a:solidFill>
                  <a:srgbClr val="0070C0"/>
                </a:solidFill>
              </a:rPr>
              <a:t>where the sample size is small </a:t>
            </a:r>
          </a:p>
          <a:p>
            <a:r>
              <a:rPr lang="en-US" sz="1200" dirty="0"/>
              <a:t>and the population standard deviation is unknown. </a:t>
            </a:r>
          </a:p>
          <a:p>
            <a:r>
              <a:rPr lang="en-US" sz="1200" dirty="0"/>
              <a:t>It was developed by </a:t>
            </a:r>
            <a:r>
              <a:rPr lang="en-US" sz="1200" b="1" dirty="0">
                <a:solidFill>
                  <a:srgbClr val="0070C0"/>
                </a:solidFill>
              </a:rPr>
              <a:t>William Sealy </a:t>
            </a:r>
            <a:r>
              <a:rPr lang="en-US" sz="1200" b="1" dirty="0" err="1">
                <a:solidFill>
                  <a:srgbClr val="0070C0"/>
                </a:solidFill>
              </a:rPr>
              <a:t>Gosset</a:t>
            </a:r>
            <a:r>
              <a:rPr lang="en-US" sz="1200" b="1" dirty="0">
                <a:solidFill>
                  <a:srgbClr val="0070C0"/>
                </a:solidFill>
              </a:rPr>
              <a:t> </a:t>
            </a:r>
            <a:r>
              <a:rPr lang="en-US" sz="1200" dirty="0"/>
              <a:t>(1908)</a:t>
            </a:r>
          </a:p>
          <a:p>
            <a:r>
              <a:rPr lang="en-US" sz="1200" dirty="0"/>
              <a:t>under the pseudonym </a:t>
            </a:r>
            <a:r>
              <a:rPr lang="en-US" sz="1200" b="1" dirty="0">
                <a:solidFill>
                  <a:srgbClr val="0070C0"/>
                </a:solidFill>
              </a:rPr>
              <a:t>Student</a:t>
            </a:r>
            <a:r>
              <a:rPr lang="en-US" sz="1200" dirty="0"/>
              <a:t>.</a:t>
            </a:r>
          </a:p>
        </p:txBody>
      </p:sp>
      <p:pic>
        <p:nvPicPr>
          <p:cNvPr id="5" name="Picture 4">
            <a:extLst>
              <a:ext uri="{FF2B5EF4-FFF2-40B4-BE49-F238E27FC236}">
                <a16:creationId xmlns:a16="http://schemas.microsoft.com/office/drawing/2014/main" id="{68240771-AF9B-7A4E-AC57-79B1658958A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64500" y="7937"/>
            <a:ext cx="4127500" cy="3302000"/>
          </a:xfrm>
          <a:prstGeom prst="rect">
            <a:avLst/>
          </a:prstGeom>
        </p:spPr>
      </p:pic>
      <p:pic>
        <p:nvPicPr>
          <p:cNvPr id="7" name="Picture 6">
            <a:extLst>
              <a:ext uri="{FF2B5EF4-FFF2-40B4-BE49-F238E27FC236}">
                <a16:creationId xmlns:a16="http://schemas.microsoft.com/office/drawing/2014/main" id="{B921A455-CB47-6341-8361-A435C147E04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98740" y="3253749"/>
            <a:ext cx="3561509" cy="1090712"/>
          </a:xfrm>
          <a:prstGeom prst="rect">
            <a:avLst/>
          </a:prstGeom>
        </p:spPr>
      </p:pic>
      <p:pic>
        <p:nvPicPr>
          <p:cNvPr id="8" name="Picture 7">
            <a:extLst>
              <a:ext uri="{FF2B5EF4-FFF2-40B4-BE49-F238E27FC236}">
                <a16:creationId xmlns:a16="http://schemas.microsoft.com/office/drawing/2014/main" id="{E93B6F64-8303-CB4E-BE24-FB13FBF443D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474368" y="180474"/>
            <a:ext cx="1744578" cy="2587083"/>
          </a:xfrm>
          <a:prstGeom prst="rect">
            <a:avLst/>
          </a:prstGeom>
        </p:spPr>
      </p:pic>
      <p:sp>
        <p:nvSpPr>
          <p:cNvPr id="9" name="TextBox 8">
            <a:extLst>
              <a:ext uri="{FF2B5EF4-FFF2-40B4-BE49-F238E27FC236}">
                <a16:creationId xmlns:a16="http://schemas.microsoft.com/office/drawing/2014/main" id="{2BAA1AF7-2EFA-4940-AA88-B4782CE05245}"/>
              </a:ext>
            </a:extLst>
          </p:cNvPr>
          <p:cNvSpPr txBox="1"/>
          <p:nvPr/>
        </p:nvSpPr>
        <p:spPr>
          <a:xfrm>
            <a:off x="4766929" y="2767557"/>
            <a:ext cx="3326486" cy="1600438"/>
          </a:xfrm>
          <a:prstGeom prst="rect">
            <a:avLst/>
          </a:prstGeom>
          <a:noFill/>
        </p:spPr>
        <p:txBody>
          <a:bodyPr wrap="square" rtlCol="0">
            <a:spAutoFit/>
          </a:bodyPr>
          <a:lstStyle/>
          <a:p>
            <a:r>
              <a:rPr lang="en-US" b="1" dirty="0">
                <a:solidFill>
                  <a:srgbClr val="0070C0"/>
                </a:solidFill>
              </a:rPr>
              <a:t>William Sealy </a:t>
            </a:r>
            <a:r>
              <a:rPr lang="en-US" b="1" dirty="0" err="1">
                <a:solidFill>
                  <a:srgbClr val="0070C0"/>
                </a:solidFill>
              </a:rPr>
              <a:t>Gosset</a:t>
            </a:r>
            <a:r>
              <a:rPr lang="en-US" dirty="0"/>
              <a:t> used pseudonym "Student" because he was working for </a:t>
            </a:r>
            <a:r>
              <a:rPr lang="en-US" b="1" dirty="0">
                <a:solidFill>
                  <a:srgbClr val="0070C0"/>
                </a:solidFill>
              </a:rPr>
              <a:t>Guinness Beer Company</a:t>
            </a:r>
            <a:r>
              <a:rPr lang="en-US" dirty="0"/>
              <a:t> in England as a "</a:t>
            </a:r>
            <a:r>
              <a:rPr lang="en-US" b="1" dirty="0">
                <a:solidFill>
                  <a:srgbClr val="0070C0"/>
                </a:solidFill>
              </a:rPr>
              <a:t>Head Experimental Brewer</a:t>
            </a:r>
            <a:r>
              <a:rPr lang="en-US" dirty="0"/>
              <a:t>"  (working on cultivating barley), and the company didn't allow him to publish under his own name.</a:t>
            </a:r>
          </a:p>
        </p:txBody>
      </p:sp>
      <p:pic>
        <p:nvPicPr>
          <p:cNvPr id="10" name="Picture 9">
            <a:extLst>
              <a:ext uri="{FF2B5EF4-FFF2-40B4-BE49-F238E27FC236}">
                <a16:creationId xmlns:a16="http://schemas.microsoft.com/office/drawing/2014/main" id="{8A960005-DB86-C24B-9D90-977F32065D1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6875" y="3596516"/>
            <a:ext cx="1331161" cy="612140"/>
          </a:xfrm>
          <a:prstGeom prst="rect">
            <a:avLst/>
          </a:prstGeom>
        </p:spPr>
      </p:pic>
      <p:pic>
        <p:nvPicPr>
          <p:cNvPr id="11" name="Picture 10">
            <a:extLst>
              <a:ext uri="{FF2B5EF4-FFF2-40B4-BE49-F238E27FC236}">
                <a16:creationId xmlns:a16="http://schemas.microsoft.com/office/drawing/2014/main" id="{D72A8B16-E053-C44F-856E-288817E75747}"/>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96875" y="4248957"/>
            <a:ext cx="2377908" cy="613968"/>
          </a:xfrm>
          <a:prstGeom prst="rect">
            <a:avLst/>
          </a:prstGeom>
        </p:spPr>
      </p:pic>
      <p:pic>
        <p:nvPicPr>
          <p:cNvPr id="12" name="Picture 11">
            <a:extLst>
              <a:ext uri="{FF2B5EF4-FFF2-40B4-BE49-F238E27FC236}">
                <a16:creationId xmlns:a16="http://schemas.microsoft.com/office/drawing/2014/main" id="{4E967733-FA99-CD47-8F9D-1E8B70BFC5E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2820" y="5102941"/>
            <a:ext cx="702080" cy="616692"/>
          </a:xfrm>
          <a:prstGeom prst="rect">
            <a:avLst/>
          </a:prstGeom>
        </p:spPr>
      </p:pic>
      <p:pic>
        <p:nvPicPr>
          <p:cNvPr id="13" name="Picture 12">
            <a:extLst>
              <a:ext uri="{FF2B5EF4-FFF2-40B4-BE49-F238E27FC236}">
                <a16:creationId xmlns:a16="http://schemas.microsoft.com/office/drawing/2014/main" id="{6440922B-2E80-EF43-A53B-34AEA43D3846}"/>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12820" y="5959649"/>
            <a:ext cx="582886" cy="565991"/>
          </a:xfrm>
          <a:prstGeom prst="rect">
            <a:avLst/>
          </a:prstGeom>
        </p:spPr>
      </p:pic>
      <p:sp>
        <p:nvSpPr>
          <p:cNvPr id="14" name="TextBox 13">
            <a:extLst>
              <a:ext uri="{FF2B5EF4-FFF2-40B4-BE49-F238E27FC236}">
                <a16:creationId xmlns:a16="http://schemas.microsoft.com/office/drawing/2014/main" id="{C0D5B479-BD94-1741-AA72-3918F30A6760}"/>
              </a:ext>
            </a:extLst>
          </p:cNvPr>
          <p:cNvSpPr txBox="1"/>
          <p:nvPr/>
        </p:nvSpPr>
        <p:spPr>
          <a:xfrm>
            <a:off x="312820" y="2857852"/>
            <a:ext cx="3756694" cy="738664"/>
          </a:xfrm>
          <a:prstGeom prst="rect">
            <a:avLst/>
          </a:prstGeom>
          <a:noFill/>
        </p:spPr>
        <p:txBody>
          <a:bodyPr wrap="square" rtlCol="0">
            <a:spAutoFit/>
          </a:bodyPr>
          <a:lstStyle/>
          <a:p>
            <a:r>
              <a:rPr lang="en-US" dirty="0"/>
              <a:t>Let Xi be independently and identically drawn from the normal distribution with expected mean value</a:t>
            </a:r>
            <a:r>
              <a:rPr lang="el-GR" dirty="0"/>
              <a:t> </a:t>
            </a:r>
            <a:r>
              <a:rPr lang="el-GR" b="1" dirty="0">
                <a:solidFill>
                  <a:srgbClr val="0070C0"/>
                </a:solidFill>
              </a:rPr>
              <a:t>μ</a:t>
            </a:r>
            <a:r>
              <a:rPr lang="en-US" dirty="0"/>
              <a:t> and variance </a:t>
            </a:r>
            <a:r>
              <a:rPr lang="el-GR" b="1" dirty="0">
                <a:solidFill>
                  <a:srgbClr val="0070C0"/>
                </a:solidFill>
              </a:rPr>
              <a:t>σ</a:t>
            </a:r>
            <a:r>
              <a:rPr lang="en-US" b="1" baseline="30000" dirty="0">
                <a:solidFill>
                  <a:srgbClr val="0070C0"/>
                </a:solidFill>
              </a:rPr>
              <a:t>2</a:t>
            </a:r>
            <a:r>
              <a:rPr lang="en-US" baseline="30000" dirty="0"/>
              <a:t>  </a:t>
            </a:r>
            <a:endParaRPr lang="en-US" dirty="0"/>
          </a:p>
        </p:txBody>
      </p:sp>
      <p:sp>
        <p:nvSpPr>
          <p:cNvPr id="16" name="AutoShape 2" descr="{\textstyle X_{1},\ldots ,X_{n}}">
            <a:extLst>
              <a:ext uri="{FF2B5EF4-FFF2-40B4-BE49-F238E27FC236}">
                <a16:creationId xmlns:a16="http://schemas.microsoft.com/office/drawing/2014/main" id="{07D7F508-2895-A94E-9E0B-E77CD726ECD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3" descr="N(\mu ,\sigma ^{2})">
            <a:extLst>
              <a:ext uri="{FF2B5EF4-FFF2-40B4-BE49-F238E27FC236}">
                <a16:creationId xmlns:a16="http://schemas.microsoft.com/office/drawing/2014/main" id="{EE5C68D6-4509-A54A-A822-1CFBC52801D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4" descr="n">
            <a:extLst>
              <a:ext uri="{FF2B5EF4-FFF2-40B4-BE49-F238E27FC236}">
                <a16:creationId xmlns:a16="http://schemas.microsoft.com/office/drawing/2014/main" id="{D0A4039C-E933-6445-A80D-09E2AEB93AC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AutoShape 5" descr="\mu ">
            <a:extLst>
              <a:ext uri="{FF2B5EF4-FFF2-40B4-BE49-F238E27FC236}">
                <a16:creationId xmlns:a16="http://schemas.microsoft.com/office/drawing/2014/main" id="{501FB6EB-157D-BD4B-8779-3E4C3FBC047F}"/>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6" descr="\sigma ^{2}">
            <a:extLst>
              <a:ext uri="{FF2B5EF4-FFF2-40B4-BE49-F238E27FC236}">
                <a16:creationId xmlns:a16="http://schemas.microsoft.com/office/drawing/2014/main" id="{5301A393-B93D-AC48-9A19-60E0D81E073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AutoShape 8" descr="{\textstyle X_{1},\ldots ,X_{n}}">
            <a:extLst>
              <a:ext uri="{FF2B5EF4-FFF2-40B4-BE49-F238E27FC236}">
                <a16:creationId xmlns:a16="http://schemas.microsoft.com/office/drawing/2014/main" id="{248AC373-9C4F-EB4C-A2E6-D66AD78D10B4}"/>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AutoShape 9" descr="N(\mu ,\sigma ^{2})">
            <a:extLst>
              <a:ext uri="{FF2B5EF4-FFF2-40B4-BE49-F238E27FC236}">
                <a16:creationId xmlns:a16="http://schemas.microsoft.com/office/drawing/2014/main" id="{008618B9-6A7E-134E-A649-35D5383829E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0" descr="n">
            <a:extLst>
              <a:ext uri="{FF2B5EF4-FFF2-40B4-BE49-F238E27FC236}">
                <a16:creationId xmlns:a16="http://schemas.microsoft.com/office/drawing/2014/main" id="{CA603317-BFE0-7749-AB48-553CFC6CD063}"/>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11" descr="\mu ">
            <a:extLst>
              <a:ext uri="{FF2B5EF4-FFF2-40B4-BE49-F238E27FC236}">
                <a16:creationId xmlns:a16="http://schemas.microsoft.com/office/drawing/2014/main" id="{C0FD514A-0A73-7843-A5FA-74ABF61E7511}"/>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12" descr="\sigma ^{2}">
            <a:extLst>
              <a:ext uri="{FF2B5EF4-FFF2-40B4-BE49-F238E27FC236}">
                <a16:creationId xmlns:a16="http://schemas.microsoft.com/office/drawing/2014/main" id="{C6943DA6-E5CB-9741-AD9D-5E1AB734160C}"/>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14" descr="{\textstyle X_{1},\ldots ,X_{n}}">
            <a:extLst>
              <a:ext uri="{FF2B5EF4-FFF2-40B4-BE49-F238E27FC236}">
                <a16:creationId xmlns:a16="http://schemas.microsoft.com/office/drawing/2014/main" id="{5807CA11-FEC0-7E4B-BBCA-04CFE8DA35A6}"/>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15" descr="N(\mu ,\sigma ^{2})">
            <a:extLst>
              <a:ext uri="{FF2B5EF4-FFF2-40B4-BE49-F238E27FC236}">
                <a16:creationId xmlns:a16="http://schemas.microsoft.com/office/drawing/2014/main" id="{6334E346-9AFF-7844-8727-71065320839D}"/>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AutoShape 16" descr="n">
            <a:extLst>
              <a:ext uri="{FF2B5EF4-FFF2-40B4-BE49-F238E27FC236}">
                <a16:creationId xmlns:a16="http://schemas.microsoft.com/office/drawing/2014/main" id="{54E917FD-0239-3344-AA9F-056B86E7A6A8}"/>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AutoShape 17" descr="\mu ">
            <a:extLst>
              <a:ext uri="{FF2B5EF4-FFF2-40B4-BE49-F238E27FC236}">
                <a16:creationId xmlns:a16="http://schemas.microsoft.com/office/drawing/2014/main" id="{12033F84-97C7-9749-9B73-C3190C5DCA19}"/>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AutoShape 18" descr="\sigma ^{2}">
            <a:extLst>
              <a:ext uri="{FF2B5EF4-FFF2-40B4-BE49-F238E27FC236}">
                <a16:creationId xmlns:a16="http://schemas.microsoft.com/office/drawing/2014/main" id="{6665A26D-3C4B-794C-B3F4-AACAC7ADB6FA}"/>
              </a:ext>
            </a:extLst>
          </p:cNvPr>
          <p:cNvSpPr>
            <a:spLocks noChangeAspect="1" noChangeArrowheads="1"/>
          </p:cNvSpPr>
          <p:nvPr/>
        </p:nvSpPr>
        <p:spPr bwMode="auto">
          <a:xfrm>
            <a:off x="2444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TextBox 32">
            <a:extLst>
              <a:ext uri="{FF2B5EF4-FFF2-40B4-BE49-F238E27FC236}">
                <a16:creationId xmlns:a16="http://schemas.microsoft.com/office/drawing/2014/main" id="{D88C225F-74A8-284B-B086-528622A25343}"/>
              </a:ext>
            </a:extLst>
          </p:cNvPr>
          <p:cNvSpPr txBox="1"/>
          <p:nvPr/>
        </p:nvSpPr>
        <p:spPr>
          <a:xfrm>
            <a:off x="2855075" y="3739303"/>
            <a:ext cx="1214439" cy="523220"/>
          </a:xfrm>
          <a:prstGeom prst="rect">
            <a:avLst/>
          </a:prstGeom>
          <a:noFill/>
        </p:spPr>
        <p:txBody>
          <a:bodyPr wrap="square" rtlCol="0">
            <a:spAutoFit/>
          </a:bodyPr>
          <a:lstStyle/>
          <a:p>
            <a:r>
              <a:rPr lang="en-US" dirty="0"/>
              <a:t>----- Sample </a:t>
            </a:r>
          </a:p>
          <a:p>
            <a:r>
              <a:rPr lang="en-US" dirty="0"/>
              <a:t>       mean</a:t>
            </a:r>
          </a:p>
        </p:txBody>
      </p:sp>
      <p:sp>
        <p:nvSpPr>
          <p:cNvPr id="34" name="TextBox 33">
            <a:extLst>
              <a:ext uri="{FF2B5EF4-FFF2-40B4-BE49-F238E27FC236}">
                <a16:creationId xmlns:a16="http://schemas.microsoft.com/office/drawing/2014/main" id="{F58099A2-8589-4949-9C6D-F4D510DDFF0D}"/>
              </a:ext>
            </a:extLst>
          </p:cNvPr>
          <p:cNvSpPr txBox="1"/>
          <p:nvPr/>
        </p:nvSpPr>
        <p:spPr>
          <a:xfrm>
            <a:off x="2855075" y="4344461"/>
            <a:ext cx="1406529" cy="523220"/>
          </a:xfrm>
          <a:prstGeom prst="rect">
            <a:avLst/>
          </a:prstGeom>
          <a:noFill/>
        </p:spPr>
        <p:txBody>
          <a:bodyPr wrap="square" rtlCol="0">
            <a:spAutoFit/>
          </a:bodyPr>
          <a:lstStyle/>
          <a:p>
            <a:r>
              <a:rPr lang="en-US" dirty="0"/>
              <a:t>----- Sample </a:t>
            </a:r>
          </a:p>
          <a:p>
            <a:r>
              <a:rPr lang="en-US" dirty="0"/>
              <a:t>       variance</a:t>
            </a:r>
          </a:p>
        </p:txBody>
      </p:sp>
      <p:sp>
        <p:nvSpPr>
          <p:cNvPr id="35" name="TextBox 34">
            <a:extLst>
              <a:ext uri="{FF2B5EF4-FFF2-40B4-BE49-F238E27FC236}">
                <a16:creationId xmlns:a16="http://schemas.microsoft.com/office/drawing/2014/main" id="{24B9A98C-F3BB-7448-9ECD-80269D7A263C}"/>
              </a:ext>
            </a:extLst>
          </p:cNvPr>
          <p:cNvSpPr txBox="1"/>
          <p:nvPr/>
        </p:nvSpPr>
        <p:spPr>
          <a:xfrm>
            <a:off x="1318961" y="5252489"/>
            <a:ext cx="2143280" cy="523220"/>
          </a:xfrm>
          <a:prstGeom prst="rect">
            <a:avLst/>
          </a:prstGeom>
          <a:noFill/>
        </p:spPr>
        <p:txBody>
          <a:bodyPr wrap="square" rtlCol="0">
            <a:spAutoFit/>
          </a:bodyPr>
          <a:lstStyle/>
          <a:p>
            <a:r>
              <a:rPr lang="en-US" dirty="0"/>
              <a:t>----- Random variable, </a:t>
            </a:r>
          </a:p>
          <a:p>
            <a:r>
              <a:rPr lang="en-US" dirty="0"/>
              <a:t>       Normal distribution</a:t>
            </a:r>
          </a:p>
        </p:txBody>
      </p:sp>
      <p:sp>
        <p:nvSpPr>
          <p:cNvPr id="36" name="TextBox 35">
            <a:extLst>
              <a:ext uri="{FF2B5EF4-FFF2-40B4-BE49-F238E27FC236}">
                <a16:creationId xmlns:a16="http://schemas.microsoft.com/office/drawing/2014/main" id="{CAA20264-68BC-504C-9790-33B4CAD84579}"/>
              </a:ext>
            </a:extLst>
          </p:cNvPr>
          <p:cNvSpPr txBox="1"/>
          <p:nvPr/>
        </p:nvSpPr>
        <p:spPr>
          <a:xfrm>
            <a:off x="1318961" y="6068334"/>
            <a:ext cx="5081839" cy="738664"/>
          </a:xfrm>
          <a:prstGeom prst="rect">
            <a:avLst/>
          </a:prstGeom>
          <a:noFill/>
        </p:spPr>
        <p:txBody>
          <a:bodyPr wrap="square" rtlCol="0">
            <a:spAutoFit/>
          </a:bodyPr>
          <a:lstStyle/>
          <a:p>
            <a:r>
              <a:rPr lang="en-US" dirty="0"/>
              <a:t>----- Random variable, </a:t>
            </a:r>
            <a:r>
              <a:rPr lang="en-US" b="1" dirty="0">
                <a:solidFill>
                  <a:srgbClr val="0070C0"/>
                </a:solidFill>
              </a:rPr>
              <a:t>t-distribution</a:t>
            </a:r>
            <a:r>
              <a:rPr lang="en-US" dirty="0"/>
              <a:t>. It uses sample variance (because real sigma is unknown). This creates </a:t>
            </a:r>
            <a:r>
              <a:rPr lang="en-US" b="1" dirty="0">
                <a:solidFill>
                  <a:srgbClr val="0070C0"/>
                </a:solidFill>
              </a:rPr>
              <a:t>uncertainty</a:t>
            </a:r>
            <a:r>
              <a:rPr lang="en-US" dirty="0"/>
              <a:t> – and leads to the "</a:t>
            </a:r>
            <a:r>
              <a:rPr lang="en-US" b="1" dirty="0">
                <a:solidFill>
                  <a:srgbClr val="0070C0"/>
                </a:solidFill>
              </a:rPr>
              <a:t>fat tails</a:t>
            </a:r>
            <a:r>
              <a:rPr lang="en-US" dirty="0"/>
              <a:t>" in the t-distribution.</a:t>
            </a:r>
          </a:p>
        </p:txBody>
      </p:sp>
      <p:sp>
        <p:nvSpPr>
          <p:cNvPr id="2" name="TextBox 1">
            <a:extLst>
              <a:ext uri="{FF2B5EF4-FFF2-40B4-BE49-F238E27FC236}">
                <a16:creationId xmlns:a16="http://schemas.microsoft.com/office/drawing/2014/main" id="{2B7DC8C9-0AE4-1E40-8B75-0D4E51636D11}"/>
              </a:ext>
            </a:extLst>
          </p:cNvPr>
          <p:cNvSpPr txBox="1"/>
          <p:nvPr/>
        </p:nvSpPr>
        <p:spPr>
          <a:xfrm>
            <a:off x="8226926" y="4652238"/>
            <a:ext cx="3802647" cy="523220"/>
          </a:xfrm>
          <a:prstGeom prst="rect">
            <a:avLst/>
          </a:prstGeom>
          <a:noFill/>
        </p:spPr>
        <p:txBody>
          <a:bodyPr wrap="square" rtlCol="0">
            <a:spAutoFit/>
          </a:bodyPr>
          <a:lstStyle/>
          <a:p>
            <a:r>
              <a:rPr lang="en-US" dirty="0"/>
              <a:t>In Excel:    T.DIST(</a:t>
            </a:r>
            <a:r>
              <a:rPr lang="en-US" dirty="0" err="1"/>
              <a:t>x,DF,FALSE</a:t>
            </a:r>
            <a:r>
              <a:rPr lang="en-US" dirty="0"/>
              <a:t>)</a:t>
            </a:r>
          </a:p>
          <a:p>
            <a:r>
              <a:rPr lang="en-US" dirty="0"/>
              <a:t>where DF = Degrees of Freedom (Npoints-1)</a:t>
            </a:r>
          </a:p>
        </p:txBody>
      </p:sp>
      <p:pic>
        <p:nvPicPr>
          <p:cNvPr id="3" name="Picture 2">
            <a:extLst>
              <a:ext uri="{FF2B5EF4-FFF2-40B4-BE49-F238E27FC236}">
                <a16:creationId xmlns:a16="http://schemas.microsoft.com/office/drawing/2014/main" id="{52D632F6-3109-6E41-9B6D-6ADC96B70D74}"/>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0128249" y="5418839"/>
            <a:ext cx="1789363" cy="1192909"/>
          </a:xfrm>
          <a:prstGeom prst="rect">
            <a:avLst/>
          </a:prstGeom>
        </p:spPr>
      </p:pic>
      <p:sp>
        <p:nvSpPr>
          <p:cNvPr id="6" name="TextBox 5">
            <a:extLst>
              <a:ext uri="{FF2B5EF4-FFF2-40B4-BE49-F238E27FC236}">
                <a16:creationId xmlns:a16="http://schemas.microsoft.com/office/drawing/2014/main" id="{1D3B482B-8050-0945-999B-0F8D400BB574}"/>
              </a:ext>
            </a:extLst>
          </p:cNvPr>
          <p:cNvSpPr txBox="1"/>
          <p:nvPr/>
        </p:nvSpPr>
        <p:spPr>
          <a:xfrm>
            <a:off x="8848141" y="5699002"/>
            <a:ext cx="1206634" cy="738664"/>
          </a:xfrm>
          <a:prstGeom prst="rect">
            <a:avLst/>
          </a:prstGeom>
          <a:noFill/>
        </p:spPr>
        <p:txBody>
          <a:bodyPr wrap="square" rtlCol="0">
            <a:spAutoFit/>
          </a:bodyPr>
          <a:lstStyle/>
          <a:p>
            <a:r>
              <a:rPr lang="en-US" dirty="0"/>
              <a:t>95% confidence interval</a:t>
            </a:r>
          </a:p>
        </p:txBody>
      </p:sp>
    </p:spTree>
    <p:extLst>
      <p:ext uri="{BB962C8B-B14F-4D97-AF65-F5344CB8AC3E}">
        <p14:creationId xmlns:p14="http://schemas.microsoft.com/office/powerpoint/2010/main" val="3120259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6ADA5A-1275-E348-B8AA-BDC1A8F4791A}"/>
              </a:ext>
            </a:extLst>
          </p:cNvPr>
          <p:cNvSpPr txBox="1"/>
          <p:nvPr/>
        </p:nvSpPr>
        <p:spPr>
          <a:xfrm>
            <a:off x="312820" y="180474"/>
            <a:ext cx="4535905" cy="523220"/>
          </a:xfrm>
          <a:prstGeom prst="rect">
            <a:avLst/>
          </a:prstGeom>
          <a:noFill/>
        </p:spPr>
        <p:txBody>
          <a:bodyPr wrap="square" rtlCol="0">
            <a:spAutoFit/>
          </a:bodyPr>
          <a:lstStyle/>
          <a:p>
            <a:r>
              <a:rPr lang="en-US" sz="2800" b="1" dirty="0"/>
              <a:t>t-statistics vs z-statistics</a:t>
            </a:r>
          </a:p>
        </p:txBody>
      </p:sp>
      <p:sp>
        <p:nvSpPr>
          <p:cNvPr id="5" name="TextBox 4">
            <a:extLst>
              <a:ext uri="{FF2B5EF4-FFF2-40B4-BE49-F238E27FC236}">
                <a16:creationId xmlns:a16="http://schemas.microsoft.com/office/drawing/2014/main" id="{389464CD-B5A3-4A4B-A8CD-AB505BCA86E0}"/>
              </a:ext>
            </a:extLst>
          </p:cNvPr>
          <p:cNvSpPr txBox="1"/>
          <p:nvPr/>
        </p:nvSpPr>
        <p:spPr>
          <a:xfrm>
            <a:off x="312820" y="1053033"/>
            <a:ext cx="4946073" cy="4154984"/>
          </a:xfrm>
          <a:prstGeom prst="rect">
            <a:avLst/>
          </a:prstGeom>
          <a:noFill/>
        </p:spPr>
        <p:txBody>
          <a:bodyPr wrap="square" rtlCol="0">
            <a:spAutoFit/>
          </a:bodyPr>
          <a:lstStyle/>
          <a:p>
            <a:r>
              <a:rPr lang="en-US" sz="1200" b="1" dirty="0">
                <a:solidFill>
                  <a:srgbClr val="FF0000"/>
                </a:solidFill>
              </a:rPr>
              <a:t>z-statistics:</a:t>
            </a:r>
          </a:p>
          <a:p>
            <a:endParaRPr lang="en-US" sz="1200" dirty="0"/>
          </a:p>
          <a:p>
            <a:r>
              <a:rPr lang="en-US" sz="1200" dirty="0"/>
              <a:t>When sample size is big ( &gt; 30 ), then in many cases</a:t>
            </a:r>
          </a:p>
          <a:p>
            <a:r>
              <a:rPr lang="en-US" sz="1200" dirty="0"/>
              <a:t>sample distribution is close to gaussian. So we use gaussian distribution and z-statistics.</a:t>
            </a:r>
          </a:p>
          <a:p>
            <a:endParaRPr lang="en-US" sz="1200" dirty="0"/>
          </a:p>
          <a:p>
            <a:r>
              <a:rPr lang="en-US" sz="1200" dirty="0"/>
              <a:t>Suppose that variable x follows normal gaussian </a:t>
            </a:r>
          </a:p>
          <a:p>
            <a:r>
              <a:rPr lang="en-US" sz="1200" dirty="0"/>
              <a:t>distribution with mean value </a:t>
            </a:r>
            <a:r>
              <a:rPr lang="el-GR" sz="1200" b="1" dirty="0">
                <a:solidFill>
                  <a:srgbClr val="FF0000"/>
                </a:solidFill>
              </a:rPr>
              <a:t>μ</a:t>
            </a:r>
            <a:r>
              <a:rPr lang="en-US" sz="1200" dirty="0"/>
              <a:t> and standard deviation</a:t>
            </a:r>
            <a:r>
              <a:rPr lang="el-GR" sz="1200" b="1" dirty="0"/>
              <a:t> </a:t>
            </a:r>
            <a:r>
              <a:rPr lang="el-GR" sz="1200" b="1" dirty="0">
                <a:solidFill>
                  <a:srgbClr val="FF0000"/>
                </a:solidFill>
              </a:rPr>
              <a:t>σ</a:t>
            </a:r>
            <a:r>
              <a:rPr lang="en-US" sz="1200" dirty="0"/>
              <a:t>. </a:t>
            </a:r>
          </a:p>
          <a:p>
            <a:r>
              <a:rPr lang="en-US" sz="1200" dirty="0"/>
              <a:t>Then we can compose variable "z" which would follow </a:t>
            </a:r>
          </a:p>
          <a:p>
            <a:r>
              <a:rPr lang="en-US" sz="1200" dirty="0"/>
              <a:t>standard normalized distribution with zero mean </a:t>
            </a:r>
          </a:p>
          <a:p>
            <a:r>
              <a:rPr lang="en-US" sz="1200" dirty="0"/>
              <a:t>and standard deviation = 1 like this:</a:t>
            </a:r>
          </a:p>
          <a:p>
            <a:endParaRPr lang="en-US" sz="1200" dirty="0"/>
          </a:p>
          <a:p>
            <a:r>
              <a:rPr lang="en-US" sz="1200" dirty="0"/>
              <a:t>                 </a:t>
            </a:r>
            <a:r>
              <a:rPr lang="en-US" sz="1200" b="1" dirty="0">
                <a:solidFill>
                  <a:srgbClr val="FF0000"/>
                </a:solidFill>
              </a:rPr>
              <a:t>z = (x-</a:t>
            </a:r>
            <a:r>
              <a:rPr lang="el-GR" sz="1200" b="1" dirty="0">
                <a:solidFill>
                  <a:srgbClr val="FF0000"/>
                </a:solidFill>
              </a:rPr>
              <a:t>μ)/σ</a:t>
            </a:r>
            <a:endParaRPr lang="en-US" sz="1200" dirty="0">
              <a:solidFill>
                <a:srgbClr val="FF0000"/>
              </a:solidFill>
            </a:endParaRPr>
          </a:p>
          <a:p>
            <a:endParaRPr lang="en-US" sz="1200" dirty="0"/>
          </a:p>
          <a:p>
            <a:r>
              <a:rPr lang="en-US" sz="1200" dirty="0"/>
              <a:t>Z-score is simply the z-value which shows how far is </a:t>
            </a:r>
          </a:p>
          <a:p>
            <a:r>
              <a:rPr lang="en-US" sz="1200" dirty="0"/>
              <a:t>the value from the mean expressed in number of "</a:t>
            </a:r>
            <a:r>
              <a:rPr lang="en-US" sz="1200" dirty="0" err="1"/>
              <a:t>sigmas</a:t>
            </a:r>
            <a:r>
              <a:rPr lang="en-US" sz="1200" dirty="0"/>
              <a:t>". </a:t>
            </a:r>
          </a:p>
          <a:p>
            <a:r>
              <a:rPr lang="en-US" sz="1200" dirty="0"/>
              <a:t>For example, if  z &gt; 2, that means that the original</a:t>
            </a:r>
          </a:p>
          <a:p>
            <a:r>
              <a:rPr lang="en-US" sz="1200" dirty="0"/>
              <a:t>value is more than two </a:t>
            </a:r>
            <a:r>
              <a:rPr lang="en-US" sz="1200" dirty="0" err="1"/>
              <a:t>sigmas</a:t>
            </a:r>
            <a:r>
              <a:rPr lang="en-US" sz="1200" dirty="0"/>
              <a:t> away from the mean value.</a:t>
            </a:r>
          </a:p>
          <a:p>
            <a:endParaRPr lang="en-US" sz="1200" dirty="0"/>
          </a:p>
          <a:p>
            <a:r>
              <a:rPr lang="en-US" sz="1200" dirty="0"/>
              <a:t>For normal distribution this means that the probability</a:t>
            </a:r>
          </a:p>
          <a:p>
            <a:r>
              <a:rPr lang="en-US" sz="1200" dirty="0"/>
              <a:t>of this event is less than 0.05.</a:t>
            </a:r>
          </a:p>
          <a:p>
            <a:r>
              <a:rPr lang="en-US" sz="1200" dirty="0"/>
              <a:t>(to be precise, the exact z-score for 0.05 is 1.96)</a:t>
            </a:r>
          </a:p>
        </p:txBody>
      </p:sp>
      <p:sp>
        <p:nvSpPr>
          <p:cNvPr id="6" name="TextBox 5">
            <a:extLst>
              <a:ext uri="{FF2B5EF4-FFF2-40B4-BE49-F238E27FC236}">
                <a16:creationId xmlns:a16="http://schemas.microsoft.com/office/drawing/2014/main" id="{BB5D2126-527C-2B44-AE58-48AFB051834A}"/>
              </a:ext>
            </a:extLst>
          </p:cNvPr>
          <p:cNvSpPr txBox="1"/>
          <p:nvPr/>
        </p:nvSpPr>
        <p:spPr>
          <a:xfrm>
            <a:off x="6685911" y="222037"/>
            <a:ext cx="4946073" cy="5816977"/>
          </a:xfrm>
          <a:prstGeom prst="rect">
            <a:avLst/>
          </a:prstGeom>
          <a:noFill/>
        </p:spPr>
        <p:txBody>
          <a:bodyPr wrap="square" rtlCol="0">
            <a:spAutoFit/>
          </a:bodyPr>
          <a:lstStyle/>
          <a:p>
            <a:r>
              <a:rPr lang="en-US" sz="1200" b="1" dirty="0">
                <a:solidFill>
                  <a:srgbClr val="FF0000"/>
                </a:solidFill>
              </a:rPr>
              <a:t>t-statistics:</a:t>
            </a:r>
          </a:p>
          <a:p>
            <a:endParaRPr lang="en-US" sz="1200" dirty="0"/>
          </a:p>
          <a:p>
            <a:r>
              <a:rPr lang="en-US" sz="1200" dirty="0"/>
              <a:t>When sample size is small ( N &lt; 30 ), then even if we know that the underlying distribution is gaussian, we still can not evaluate the distribution's sigma with enough precision. In this case we need to use t-distribution and t-statistics.</a:t>
            </a:r>
          </a:p>
          <a:p>
            <a:endParaRPr lang="en-US" sz="1200" dirty="0"/>
          </a:p>
          <a:p>
            <a:r>
              <a:rPr lang="en-US" sz="1200" dirty="0"/>
              <a:t>                    </a:t>
            </a:r>
            <a:r>
              <a:rPr lang="en-US" sz="1200" b="1" dirty="0">
                <a:solidFill>
                  <a:srgbClr val="FF0000"/>
                </a:solidFill>
              </a:rPr>
              <a:t>t = (x-</a:t>
            </a:r>
            <a:r>
              <a:rPr lang="el-GR" sz="1200" b="1" dirty="0">
                <a:solidFill>
                  <a:srgbClr val="FF0000"/>
                </a:solidFill>
              </a:rPr>
              <a:t>μ)/</a:t>
            </a:r>
            <a:r>
              <a:rPr lang="en-US" sz="1200" b="1" dirty="0">
                <a:solidFill>
                  <a:srgbClr val="FF0000"/>
                </a:solidFill>
              </a:rPr>
              <a:t>s</a:t>
            </a:r>
          </a:p>
          <a:p>
            <a:endParaRPr lang="en-US" sz="1200" b="1" dirty="0"/>
          </a:p>
          <a:p>
            <a:r>
              <a:rPr lang="en-US" sz="1200" dirty="0"/>
              <a:t>Here </a:t>
            </a:r>
            <a:r>
              <a:rPr lang="en-US" sz="1200" b="1" dirty="0">
                <a:solidFill>
                  <a:srgbClr val="FF0000"/>
                </a:solidFill>
              </a:rPr>
              <a:t>s</a:t>
            </a:r>
            <a:r>
              <a:rPr lang="en-US" sz="1200" dirty="0"/>
              <a:t> is a sample mean.</a:t>
            </a:r>
          </a:p>
          <a:p>
            <a:endParaRPr lang="en-US" sz="1200" dirty="0"/>
          </a:p>
          <a:p>
            <a:r>
              <a:rPr lang="en-US" sz="1200" dirty="0"/>
              <a:t>t-distribution has "fat tails", so to get 95% confidence interval we need to use t-score larger than 2. How much larger depends on how many data points we have in the sample. </a:t>
            </a:r>
            <a:r>
              <a:rPr lang="en-US" sz="1200" b="1" dirty="0" err="1">
                <a:solidFill>
                  <a:srgbClr val="0070C0"/>
                </a:solidFill>
              </a:rPr>
              <a:t>df</a:t>
            </a:r>
            <a:r>
              <a:rPr lang="en-US" sz="1200" b="1" dirty="0">
                <a:solidFill>
                  <a:srgbClr val="0070C0"/>
                </a:solidFill>
              </a:rPr>
              <a:t> = degrees of freedom = N-1</a:t>
            </a:r>
          </a:p>
          <a:p>
            <a:endParaRPr lang="en-US" sz="1200" dirty="0"/>
          </a:p>
          <a:p>
            <a:r>
              <a:rPr lang="en-US" sz="1200" dirty="0">
                <a:latin typeface="Andale Mono" panose="020B0509000000000004" pitchFamily="49" charset="0"/>
              </a:rPr>
              <a:t>N-1    95% t-score</a:t>
            </a:r>
          </a:p>
          <a:p>
            <a:r>
              <a:rPr lang="en-US" sz="1200" dirty="0">
                <a:latin typeface="Andale Mono" panose="020B0509000000000004" pitchFamily="49" charset="0"/>
              </a:rPr>
              <a:t>------------------</a:t>
            </a:r>
          </a:p>
          <a:p>
            <a:r>
              <a:rPr lang="en-US" sz="1200" dirty="0">
                <a:latin typeface="Andale Mono" panose="020B0509000000000004" pitchFamily="49" charset="0"/>
              </a:rPr>
              <a:t> 1   : 12.71</a:t>
            </a:r>
          </a:p>
          <a:p>
            <a:r>
              <a:rPr lang="en-US" sz="1200" dirty="0">
                <a:latin typeface="Andale Mono" panose="020B0509000000000004" pitchFamily="49" charset="0"/>
              </a:rPr>
              <a:t> 2   :  4.30</a:t>
            </a:r>
          </a:p>
          <a:p>
            <a:r>
              <a:rPr lang="en-US" sz="1200" dirty="0">
                <a:latin typeface="Andale Mono" panose="020B0509000000000004" pitchFamily="49" charset="0"/>
              </a:rPr>
              <a:t> 3   :  3.18</a:t>
            </a:r>
          </a:p>
          <a:p>
            <a:r>
              <a:rPr lang="en-US" sz="1200" dirty="0">
                <a:latin typeface="Andale Mono" panose="020B0509000000000004" pitchFamily="49" charset="0"/>
              </a:rPr>
              <a:t> 5   :  2.57</a:t>
            </a:r>
          </a:p>
          <a:p>
            <a:r>
              <a:rPr lang="en-US" sz="1200" dirty="0">
                <a:latin typeface="Andale Mono" panose="020B0509000000000004" pitchFamily="49" charset="0"/>
              </a:rPr>
              <a:t>10   :  2.23</a:t>
            </a:r>
          </a:p>
          <a:p>
            <a:r>
              <a:rPr lang="en-US" sz="1200" dirty="0">
                <a:latin typeface="Andale Mono" panose="020B0509000000000004" pitchFamily="49" charset="0"/>
              </a:rPr>
              <a:t>20   :  2.09</a:t>
            </a:r>
          </a:p>
          <a:p>
            <a:r>
              <a:rPr lang="en-US" sz="1200" dirty="0">
                <a:latin typeface="Andale Mono" panose="020B0509000000000004" pitchFamily="49" charset="0"/>
              </a:rPr>
              <a:t>30   :  2.04</a:t>
            </a:r>
          </a:p>
          <a:p>
            <a:r>
              <a:rPr lang="en-US" sz="1200" dirty="0">
                <a:latin typeface="Andale Mono" panose="020B0509000000000004" pitchFamily="49" charset="0"/>
              </a:rPr>
              <a:t>60   :  2.00</a:t>
            </a:r>
          </a:p>
          <a:p>
            <a:r>
              <a:rPr lang="en-US" sz="1200" dirty="0">
                <a:latin typeface="Andale Mono" panose="020B0509000000000004" pitchFamily="49" charset="0"/>
              </a:rPr>
              <a:t>------------------</a:t>
            </a:r>
          </a:p>
          <a:p>
            <a:endParaRPr lang="en-US" sz="1200" dirty="0">
              <a:latin typeface="Andale Mono" panose="020B0509000000000004" pitchFamily="49" charset="0"/>
            </a:endParaRPr>
          </a:p>
          <a:p>
            <a:r>
              <a:rPr lang="en-US" sz="1000" dirty="0">
                <a:solidFill>
                  <a:srgbClr val="0070C0"/>
                </a:solidFill>
                <a:latin typeface="Andale Mono" panose="020B0509000000000004" pitchFamily="49" charset="0"/>
              </a:rPr>
              <a:t>from </a:t>
            </a:r>
            <a:r>
              <a:rPr lang="en-US" sz="1000" dirty="0" err="1">
                <a:solidFill>
                  <a:srgbClr val="0070C0"/>
                </a:solidFill>
                <a:latin typeface="Andale Mono" panose="020B0509000000000004" pitchFamily="49" charset="0"/>
              </a:rPr>
              <a:t>scipy</a:t>
            </a:r>
            <a:r>
              <a:rPr lang="en-US" sz="1000" dirty="0">
                <a:solidFill>
                  <a:srgbClr val="0070C0"/>
                </a:solidFill>
                <a:latin typeface="Andale Mono" panose="020B0509000000000004" pitchFamily="49" charset="0"/>
              </a:rPr>
              <a:t> import stats</a:t>
            </a:r>
          </a:p>
          <a:p>
            <a:r>
              <a:rPr lang="en-US" sz="1000" dirty="0">
                <a:solidFill>
                  <a:srgbClr val="00B050"/>
                </a:solidFill>
                <a:latin typeface="Andale Mono" panose="020B0509000000000004" pitchFamily="49" charset="0"/>
              </a:rPr>
              <a:t># Student, p&lt;0.05, 2-tail, same as Excel TINV(0.05,n-1)</a:t>
            </a:r>
            <a:endParaRPr lang="en-US" sz="1000" dirty="0">
              <a:solidFill>
                <a:srgbClr val="0070C0"/>
              </a:solidFill>
              <a:latin typeface="Andale Mono" panose="020B0509000000000004" pitchFamily="49" charset="0"/>
            </a:endParaRPr>
          </a:p>
          <a:p>
            <a:r>
              <a:rPr lang="en-US" sz="1000" dirty="0">
                <a:solidFill>
                  <a:srgbClr val="0070C0"/>
                </a:solidFill>
                <a:latin typeface="Andale Mono" panose="020B0509000000000004" pitchFamily="49" charset="0"/>
              </a:rPr>
              <a:t>for </a:t>
            </a:r>
            <a:r>
              <a:rPr lang="en-US" sz="1000" dirty="0" err="1">
                <a:solidFill>
                  <a:srgbClr val="0070C0"/>
                </a:solidFill>
                <a:latin typeface="Andale Mono" panose="020B0509000000000004" pitchFamily="49" charset="0"/>
              </a:rPr>
              <a:t>df</a:t>
            </a:r>
            <a:r>
              <a:rPr lang="en-US" sz="1000" dirty="0">
                <a:solidFill>
                  <a:srgbClr val="0070C0"/>
                </a:solidFill>
                <a:latin typeface="Andale Mono" panose="020B0509000000000004" pitchFamily="49" charset="0"/>
              </a:rPr>
              <a:t> in [1,2,3,5,10,20,30,60]:</a:t>
            </a:r>
          </a:p>
          <a:p>
            <a:r>
              <a:rPr lang="en-US" sz="1000" dirty="0">
                <a:solidFill>
                  <a:srgbClr val="0070C0"/>
                </a:solidFill>
                <a:latin typeface="Andale Mono" panose="020B0509000000000004" pitchFamily="49" charset="0"/>
              </a:rPr>
              <a:t>    </a:t>
            </a:r>
            <a:r>
              <a:rPr lang="en-US" sz="1000" dirty="0" err="1">
                <a:solidFill>
                  <a:srgbClr val="0070C0"/>
                </a:solidFill>
                <a:latin typeface="Andale Mono" panose="020B0509000000000004" pitchFamily="49" charset="0"/>
              </a:rPr>
              <a:t>t_score</a:t>
            </a:r>
            <a:r>
              <a:rPr lang="en-US" sz="1000" dirty="0">
                <a:solidFill>
                  <a:srgbClr val="0070C0"/>
                </a:solidFill>
                <a:latin typeface="Andale Mono" panose="020B0509000000000004" pitchFamily="49" charset="0"/>
              </a:rPr>
              <a:t> = </a:t>
            </a:r>
            <a:r>
              <a:rPr lang="en-US" sz="1000" dirty="0" err="1">
                <a:solidFill>
                  <a:srgbClr val="0070C0"/>
                </a:solidFill>
                <a:latin typeface="Andale Mono" panose="020B0509000000000004" pitchFamily="49" charset="0"/>
              </a:rPr>
              <a:t>stats.t.ppf</a:t>
            </a:r>
            <a:r>
              <a:rPr lang="en-US" sz="1000" dirty="0">
                <a:solidFill>
                  <a:srgbClr val="0070C0"/>
                </a:solidFill>
                <a:latin typeface="Andale Mono" panose="020B0509000000000004" pitchFamily="49" charset="0"/>
              </a:rPr>
              <a:t>(1-0.025, </a:t>
            </a:r>
            <a:r>
              <a:rPr lang="en-US" sz="1000" dirty="0" err="1">
                <a:solidFill>
                  <a:srgbClr val="0070C0"/>
                </a:solidFill>
                <a:latin typeface="Andale Mono" panose="020B0509000000000004" pitchFamily="49" charset="0"/>
              </a:rPr>
              <a:t>df</a:t>
            </a:r>
            <a:r>
              <a:rPr lang="en-US" sz="1000" dirty="0">
                <a:solidFill>
                  <a:srgbClr val="0070C0"/>
                </a:solidFill>
                <a:latin typeface="Andale Mono" panose="020B0509000000000004" pitchFamily="49" charset="0"/>
              </a:rPr>
              <a:t>)</a:t>
            </a:r>
          </a:p>
          <a:p>
            <a:r>
              <a:rPr lang="en-US" sz="1000" dirty="0">
                <a:solidFill>
                  <a:srgbClr val="0070C0"/>
                </a:solidFill>
                <a:latin typeface="Andale Mono" panose="020B0509000000000004" pitchFamily="49" charset="0"/>
              </a:rPr>
              <a:t>    print(f"{df:2}   : {t_score:5.2f}")</a:t>
            </a:r>
          </a:p>
        </p:txBody>
      </p:sp>
    </p:spTree>
    <p:extLst>
      <p:ext uri="{BB962C8B-B14F-4D97-AF65-F5344CB8AC3E}">
        <p14:creationId xmlns:p14="http://schemas.microsoft.com/office/powerpoint/2010/main" val="3730262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80108" y="131765"/>
            <a:ext cx="8070757" cy="809626"/>
          </a:xfrm>
          <a:noFill/>
        </p:spPr>
        <p:txBody>
          <a:bodyPr lIns="0" tIns="0" rIns="0" bIns="0" anchor="t" anchorCtr="0"/>
          <a:lstStyle/>
          <a:p>
            <a:r>
              <a:rPr lang="en-US" sz="4000" b="1" dirty="0">
                <a:solidFill>
                  <a:schemeClr val="tx1"/>
                </a:solidFill>
              </a:rPr>
              <a:t>Hypothesis Tests with the </a:t>
            </a:r>
            <a:r>
              <a:rPr lang="en-US" sz="4000" b="1" i="1" dirty="0">
                <a:solidFill>
                  <a:schemeClr val="tx1"/>
                </a:solidFill>
              </a:rPr>
              <a:t>t</a:t>
            </a:r>
            <a:r>
              <a:rPr lang="en-US" sz="4000" b="1" dirty="0">
                <a:solidFill>
                  <a:schemeClr val="tx1"/>
                </a:solidFill>
              </a:rPr>
              <a:t> Statistic</a:t>
            </a:r>
          </a:p>
        </p:txBody>
      </p:sp>
      <p:sp>
        <p:nvSpPr>
          <p:cNvPr id="4" name="Content Placeholder 2"/>
          <p:cNvSpPr>
            <a:spLocks noGrp="1"/>
          </p:cNvSpPr>
          <p:nvPr>
            <p:ph sz="half" idx="1"/>
          </p:nvPr>
        </p:nvSpPr>
        <p:spPr>
          <a:xfrm>
            <a:off x="75372" y="703840"/>
            <a:ext cx="6082148" cy="400079"/>
          </a:xfrm>
          <a:noFill/>
        </p:spPr>
        <p:txBody>
          <a:bodyPr wrap="square" rtlCol="0">
            <a:spAutoFit/>
          </a:bodyPr>
          <a:lstStyle/>
          <a:p>
            <a:pPr marL="50800" indent="0">
              <a:lnSpc>
                <a:spcPct val="100000"/>
              </a:lnSpc>
              <a:spcBef>
                <a:spcPts val="0"/>
              </a:spcBef>
              <a:buClr>
                <a:srgbClr val="000000"/>
              </a:buClr>
              <a:buNone/>
            </a:pPr>
            <a:r>
              <a:rPr lang="en-US" sz="1400" dirty="0">
                <a:solidFill>
                  <a:srgbClr val="000000"/>
                </a:solidFill>
                <a:latin typeface="Arial"/>
                <a:cs typeface="Arial"/>
                <a:sym typeface="Arial"/>
              </a:rPr>
              <a:t>The one-sample t test statistic (assuming the  null hypothesis is true)</a:t>
            </a:r>
          </a:p>
        </p:txBody>
      </p:sp>
      <p:graphicFrame>
        <p:nvGraphicFramePr>
          <p:cNvPr id="9" name="Object 3" descr="An equation reads t equals sample mean minus population mean divided by estimated standard error equals M minus mu divided by S subscript M equals 0."/>
          <p:cNvGraphicFramePr>
            <a:graphicFrameLocks noGrp="1" noChangeAspect="1"/>
          </p:cNvGraphicFramePr>
          <p:nvPr>
            <p:ph sz="half" idx="2"/>
            <p:extLst>
              <p:ext uri="{D42A27DB-BD31-4B8C-83A1-F6EECF244321}">
                <p14:modId xmlns:p14="http://schemas.microsoft.com/office/powerpoint/2010/main" val="309610310"/>
              </p:ext>
            </p:extLst>
          </p:nvPr>
        </p:nvGraphicFramePr>
        <p:xfrm>
          <a:off x="793142" y="1190979"/>
          <a:ext cx="4373746" cy="625083"/>
        </p:xfrm>
        <a:graphic>
          <a:graphicData uri="http://schemas.openxmlformats.org/presentationml/2006/ole">
            <mc:AlternateContent xmlns:mc="http://schemas.openxmlformats.org/markup-compatibility/2006">
              <mc:Choice xmlns:v="urn:schemas-microsoft-com:vml" Requires="v">
                <p:oleObj spid="_x0000_s1205" name="Equation" r:id="rId3" imgW="3022560" imgH="431640" progId="Equation.DSMT4">
                  <p:embed/>
                </p:oleObj>
              </mc:Choice>
              <mc:Fallback>
                <p:oleObj name="Equation" r:id="rId3" imgW="3022560" imgH="431640" progId="Equation.DSMT4">
                  <p:embed/>
                  <p:pic>
                    <p:nvPicPr>
                      <p:cNvPr id="9" name="Object 3" descr="An equation reads t equals sample mean minus population mean divided by estimated standard error equals M minus mu divided by S subscript M equals 0."/>
                      <p:cNvPicPr>
                        <a:picLocks noChangeAspect="1" noChangeArrowheads="1"/>
                      </p:cNvPicPr>
                      <p:nvPr/>
                    </p:nvPicPr>
                    <p:blipFill>
                      <a:blip r:embed="rId4"/>
                      <a:srcRect/>
                      <a:stretch>
                        <a:fillRect/>
                      </a:stretch>
                    </p:blipFill>
                    <p:spPr bwMode="auto">
                      <a:xfrm>
                        <a:off x="793142" y="1190979"/>
                        <a:ext cx="4373746" cy="625083"/>
                      </a:xfrm>
                      <a:prstGeom prst="rect">
                        <a:avLst/>
                      </a:prstGeom>
                      <a:noFill/>
                      <a:ln>
                        <a:noFill/>
                      </a:ln>
                      <a:extLst/>
                    </p:spPr>
                  </p:pic>
                </p:oleObj>
              </mc:Fallback>
            </mc:AlternateContent>
          </a:graphicData>
        </a:graphic>
      </p:graphicFrame>
      <p:sp>
        <p:nvSpPr>
          <p:cNvPr id="2" name="TextBox 1">
            <a:extLst>
              <a:ext uri="{FF2B5EF4-FFF2-40B4-BE49-F238E27FC236}">
                <a16:creationId xmlns:a16="http://schemas.microsoft.com/office/drawing/2014/main" id="{236EFD1A-BE48-7A49-9783-0CC260CDD205}"/>
              </a:ext>
            </a:extLst>
          </p:cNvPr>
          <p:cNvSpPr txBox="1"/>
          <p:nvPr/>
        </p:nvSpPr>
        <p:spPr>
          <a:xfrm>
            <a:off x="180107" y="2118117"/>
            <a:ext cx="3541287" cy="318977"/>
          </a:xfrm>
          <a:prstGeom prst="rect">
            <a:avLst/>
          </a:prstGeom>
          <a:noFill/>
        </p:spPr>
        <p:txBody>
          <a:bodyPr wrap="square" rtlCol="0">
            <a:spAutoFit/>
          </a:bodyPr>
          <a:lstStyle/>
          <a:p>
            <a:r>
              <a:rPr lang="en-US" dirty="0"/>
              <a:t>Basic Research Situation for t Statistic:</a:t>
            </a:r>
          </a:p>
        </p:txBody>
      </p:sp>
      <p:pic>
        <p:nvPicPr>
          <p:cNvPr id="6" name="Picture 2" descr="The basic research situation for using the t statistic hypothesis test. It is assumed that the parameter μ is known for the population before treatment. The purpose of the research study is to determine whether the treatment has an effect. Note that the population after treatment has unknown values for the mean and the variance. We will use a sample to test a hypothesis about the population mean." title="Figure 9.3  Basic research situation for t statistic ">
            <a:extLst>
              <a:ext uri="{FF2B5EF4-FFF2-40B4-BE49-F238E27FC236}">
                <a16:creationId xmlns:a16="http://schemas.microsoft.com/office/drawing/2014/main" id="{A528BCCA-9E1D-DC4B-B05E-B1CDE41289AB}"/>
              </a:ext>
            </a:extLst>
          </p:cNvPr>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249129" y="2515674"/>
            <a:ext cx="5461772" cy="250302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877B28-81C4-DA43-AE67-F6EF4E0C3EB7}"/>
              </a:ext>
            </a:extLst>
          </p:cNvPr>
          <p:cNvSpPr txBox="1"/>
          <p:nvPr/>
        </p:nvSpPr>
        <p:spPr>
          <a:xfrm>
            <a:off x="75373" y="5162943"/>
            <a:ext cx="5466446" cy="1384995"/>
          </a:xfrm>
          <a:prstGeom prst="rect">
            <a:avLst/>
          </a:prstGeom>
          <a:noFill/>
        </p:spPr>
        <p:txBody>
          <a:bodyPr wrap="square" rtlCol="0">
            <a:spAutoFit/>
          </a:bodyPr>
          <a:lstStyle/>
          <a:p>
            <a:r>
              <a:rPr lang="en-US" dirty="0"/>
              <a:t>Assumed that </a:t>
            </a:r>
            <a:r>
              <a:rPr lang="el-GR" dirty="0"/>
              <a:t>μ </a:t>
            </a:r>
            <a:r>
              <a:rPr lang="en-US" dirty="0"/>
              <a:t>is known for the population before treatment. </a:t>
            </a:r>
          </a:p>
          <a:p>
            <a:r>
              <a:rPr lang="en-US" dirty="0"/>
              <a:t>The purpose of the research study is to determine </a:t>
            </a:r>
          </a:p>
          <a:p>
            <a:r>
              <a:rPr lang="en-US" dirty="0"/>
              <a:t>whether the treatment has an effect. </a:t>
            </a:r>
          </a:p>
          <a:p>
            <a:r>
              <a:rPr lang="en-US" dirty="0"/>
              <a:t>Note that the population after treatment has unknown values </a:t>
            </a:r>
          </a:p>
          <a:p>
            <a:r>
              <a:rPr lang="en-US" dirty="0"/>
              <a:t>for the mean and the variance. So we will use a sample </a:t>
            </a:r>
          </a:p>
          <a:p>
            <a:r>
              <a:rPr lang="en-US" dirty="0"/>
              <a:t>to test a hypothesis about the population mean.</a:t>
            </a:r>
          </a:p>
        </p:txBody>
      </p:sp>
      <p:sp>
        <p:nvSpPr>
          <p:cNvPr id="7" name="TextBox 6">
            <a:extLst>
              <a:ext uri="{FF2B5EF4-FFF2-40B4-BE49-F238E27FC236}">
                <a16:creationId xmlns:a16="http://schemas.microsoft.com/office/drawing/2014/main" id="{E1651FCF-C8B8-B147-A9E8-56B390038799}"/>
              </a:ext>
            </a:extLst>
          </p:cNvPr>
          <p:cNvSpPr txBox="1"/>
          <p:nvPr/>
        </p:nvSpPr>
        <p:spPr>
          <a:xfrm>
            <a:off x="6442364" y="776446"/>
            <a:ext cx="5749636" cy="3108543"/>
          </a:xfrm>
          <a:prstGeom prst="rect">
            <a:avLst/>
          </a:prstGeom>
          <a:noFill/>
        </p:spPr>
        <p:txBody>
          <a:bodyPr wrap="square" rtlCol="0">
            <a:spAutoFit/>
          </a:bodyPr>
          <a:lstStyle/>
          <a:p>
            <a:r>
              <a:rPr lang="en-US" dirty="0"/>
              <a:t>Four (4) Steps of Hypothesis Testing:</a:t>
            </a:r>
          </a:p>
          <a:p>
            <a:endParaRPr lang="en-US" dirty="0"/>
          </a:p>
          <a:p>
            <a:pPr marL="342900" indent="-342900">
              <a:buFont typeface="+mj-lt"/>
              <a:buAutoNum type="arabicPeriod"/>
            </a:pPr>
            <a:r>
              <a:rPr lang="en-US" dirty="0"/>
              <a:t>State the null hypotheses  (H0) and alternative hypotheses, and select an alpha level</a:t>
            </a:r>
          </a:p>
          <a:p>
            <a:pPr marL="342900" indent="-342900">
              <a:buFont typeface="+mj-lt"/>
              <a:buAutoNum type="arabicPeriod"/>
            </a:pPr>
            <a:r>
              <a:rPr lang="en-US" dirty="0"/>
              <a:t>Locate the critical region using the t-distribution table and </a:t>
            </a:r>
            <a:r>
              <a:rPr lang="en-US" dirty="0" err="1"/>
              <a:t>df</a:t>
            </a:r>
            <a:endParaRPr lang="en-US" dirty="0"/>
          </a:p>
          <a:p>
            <a:pPr marL="342900" indent="-342900">
              <a:buFont typeface="+mj-lt"/>
              <a:buAutoNum type="arabicPeriod"/>
            </a:pPr>
            <a:r>
              <a:rPr lang="en-US" dirty="0"/>
              <a:t>Calculate the t test statistic</a:t>
            </a:r>
          </a:p>
          <a:p>
            <a:pPr marL="342900" indent="-342900">
              <a:buFont typeface="+mj-lt"/>
              <a:buAutoNum type="arabicPeriod"/>
            </a:pPr>
            <a:r>
              <a:rPr lang="en-US" dirty="0"/>
              <a:t>Make a decision regarding H0 (null hypothesis)</a:t>
            </a:r>
          </a:p>
          <a:p>
            <a:pPr marL="342900" indent="-342900">
              <a:buFont typeface="+mj-lt"/>
              <a:buAutoNum type="arabicPeriod"/>
            </a:pPr>
            <a:endParaRPr lang="en-US" dirty="0"/>
          </a:p>
          <a:p>
            <a:r>
              <a:rPr lang="en-US" dirty="0"/>
              <a:t>For example:</a:t>
            </a:r>
          </a:p>
          <a:p>
            <a:pPr marL="342900" indent="-342900">
              <a:buFont typeface="+mj-lt"/>
              <a:buAutoNum type="arabicPeriod"/>
            </a:pPr>
            <a:r>
              <a:rPr lang="en-US" dirty="0"/>
              <a:t>H0: no effect (same mean), two-tailed test, alpha = 0.01</a:t>
            </a:r>
          </a:p>
          <a:p>
            <a:pPr marL="342900" indent="-342900">
              <a:buFont typeface="+mj-lt"/>
              <a:buAutoNum type="arabicPeriod"/>
            </a:pPr>
            <a:r>
              <a:rPr lang="en-US" dirty="0"/>
              <a:t>For sample size 100, critical t-values = +/-2.6264</a:t>
            </a:r>
          </a:p>
          <a:p>
            <a:pPr marL="342900" indent="-342900">
              <a:buFont typeface="+mj-lt"/>
              <a:buAutoNum type="arabicPeriod"/>
            </a:pPr>
            <a:r>
              <a:rPr lang="en-US" dirty="0"/>
              <a:t>t-statistics = (</a:t>
            </a:r>
            <a:r>
              <a:rPr lang="en-US" dirty="0" err="1"/>
              <a:t>sample_mean</a:t>
            </a:r>
            <a:r>
              <a:rPr lang="en-US" dirty="0"/>
              <a:t> – </a:t>
            </a:r>
            <a:r>
              <a:rPr lang="en-US" dirty="0" err="1"/>
              <a:t>population_mean</a:t>
            </a:r>
            <a:r>
              <a:rPr lang="en-US" dirty="0"/>
              <a:t>) / s , where s is an estimated standard error (calculated from sample)</a:t>
            </a:r>
          </a:p>
          <a:p>
            <a:pPr marL="342900" indent="-342900">
              <a:buFont typeface="+mj-lt"/>
              <a:buAutoNum type="arabicPeriod"/>
            </a:pPr>
            <a:r>
              <a:rPr lang="en-US" dirty="0"/>
              <a:t>if || t-statistics ||  &gt; critical value, then we reject the H0</a:t>
            </a:r>
          </a:p>
        </p:txBody>
      </p:sp>
    </p:spTree>
    <p:extLst>
      <p:ext uri="{BB962C8B-B14F-4D97-AF65-F5344CB8AC3E}">
        <p14:creationId xmlns:p14="http://schemas.microsoft.com/office/powerpoint/2010/main" val="2664063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80108" y="131765"/>
            <a:ext cx="3962401" cy="612410"/>
          </a:xfrm>
          <a:noFill/>
        </p:spPr>
        <p:txBody>
          <a:bodyPr lIns="0" tIns="0" rIns="0" bIns="0" anchor="t" anchorCtr="0"/>
          <a:lstStyle/>
          <a:p>
            <a:r>
              <a:rPr lang="en-US" sz="4000" b="1" dirty="0">
                <a:solidFill>
                  <a:schemeClr val="tx1"/>
                </a:solidFill>
              </a:rPr>
              <a:t>t-test – continued</a:t>
            </a:r>
          </a:p>
        </p:txBody>
      </p:sp>
      <p:sp>
        <p:nvSpPr>
          <p:cNvPr id="10" name="TextBox 9">
            <a:extLst>
              <a:ext uri="{FF2B5EF4-FFF2-40B4-BE49-F238E27FC236}">
                <a16:creationId xmlns:a16="http://schemas.microsoft.com/office/drawing/2014/main" id="{22D107D3-8FA1-8B4E-969D-BEB6C13FABA8}"/>
              </a:ext>
            </a:extLst>
          </p:cNvPr>
          <p:cNvSpPr txBox="1"/>
          <p:nvPr/>
        </p:nvSpPr>
        <p:spPr>
          <a:xfrm>
            <a:off x="180108" y="941391"/>
            <a:ext cx="5749636" cy="2769989"/>
          </a:xfrm>
          <a:prstGeom prst="rect">
            <a:avLst/>
          </a:prstGeom>
          <a:noFill/>
        </p:spPr>
        <p:txBody>
          <a:bodyPr wrap="square" rtlCol="0">
            <a:spAutoFit/>
          </a:bodyPr>
          <a:lstStyle/>
          <a:p>
            <a:r>
              <a:rPr lang="en-US" sz="2000" b="1" dirty="0"/>
              <a:t>Effect size.</a:t>
            </a:r>
          </a:p>
          <a:p>
            <a:r>
              <a:rPr lang="en-US" dirty="0"/>
              <a:t>In addition to rejecting/accepting a Hypothesis, you can also estimate the size of the effect: </a:t>
            </a:r>
          </a:p>
          <a:p>
            <a:pPr marL="285750" lvl="3" indent="-285750">
              <a:buFont typeface="Arial" panose="020B0604020202020204" pitchFamily="34" charset="0"/>
              <a:buChar char="•"/>
            </a:pPr>
            <a:r>
              <a:rPr lang="en-US" b="1" dirty="0">
                <a:solidFill>
                  <a:srgbClr val="0070C0"/>
                </a:solidFill>
              </a:rPr>
              <a:t>Cohen's d</a:t>
            </a:r>
            <a:r>
              <a:rPr lang="en-US" dirty="0"/>
              <a:t>  - for comparing two samples/groups with same sizes and similar SDs.</a:t>
            </a:r>
          </a:p>
          <a:p>
            <a:pPr marL="285750" lvl="3" indent="-285750">
              <a:buFont typeface="Arial" panose="020B0604020202020204" pitchFamily="34" charset="0"/>
              <a:buChar char="•"/>
            </a:pPr>
            <a:r>
              <a:rPr lang="en-US" b="1" dirty="0">
                <a:solidFill>
                  <a:srgbClr val="0070C0"/>
                </a:solidFill>
              </a:rPr>
              <a:t>Glass's delta</a:t>
            </a:r>
            <a:r>
              <a:rPr lang="en-US" dirty="0"/>
              <a:t> - uses only the SD of the control group.</a:t>
            </a:r>
          </a:p>
          <a:p>
            <a:pPr marL="285750" lvl="3" indent="-285750">
              <a:buFont typeface="Arial" panose="020B0604020202020204" pitchFamily="34" charset="0"/>
              <a:buChar char="•"/>
            </a:pPr>
            <a:r>
              <a:rPr lang="en-US" b="1" dirty="0">
                <a:solidFill>
                  <a:srgbClr val="0070C0"/>
                </a:solidFill>
              </a:rPr>
              <a:t>Hedges' g </a:t>
            </a:r>
            <a:r>
              <a:rPr lang="en-US" dirty="0"/>
              <a:t>- for two groups with different sample sizes.</a:t>
            </a:r>
          </a:p>
          <a:p>
            <a:endParaRPr lang="en-US" dirty="0"/>
          </a:p>
          <a:p>
            <a:r>
              <a:rPr lang="en-US" dirty="0"/>
              <a:t>Example: for two groups with mean M and standard deviations SD :</a:t>
            </a:r>
          </a:p>
          <a:p>
            <a:r>
              <a:rPr lang="en-US" dirty="0"/>
              <a:t>             </a:t>
            </a:r>
            <a:r>
              <a:rPr lang="en-US" b="1" dirty="0">
                <a:solidFill>
                  <a:srgbClr val="0070C0"/>
                </a:solidFill>
              </a:rPr>
              <a:t>Cohen's d </a:t>
            </a:r>
            <a:r>
              <a:rPr lang="en-US" dirty="0"/>
              <a:t>= (M</a:t>
            </a:r>
            <a:r>
              <a:rPr lang="en-US" baseline="-25000" dirty="0"/>
              <a:t>2</a:t>
            </a:r>
            <a:r>
              <a:rPr lang="en-US" dirty="0"/>
              <a:t> - M</a:t>
            </a:r>
            <a:r>
              <a:rPr lang="en-US" baseline="-25000" dirty="0"/>
              <a:t>1</a:t>
            </a:r>
            <a:r>
              <a:rPr lang="en-US" dirty="0"/>
              <a:t>) ⁄ </a:t>
            </a:r>
            <a:r>
              <a:rPr lang="en-US" dirty="0" err="1"/>
              <a:t>SD</a:t>
            </a:r>
            <a:r>
              <a:rPr lang="en-US" baseline="-25000" dirty="0" err="1"/>
              <a:t>pooled</a:t>
            </a:r>
            <a:endParaRPr lang="en-US" baseline="-25000" dirty="0"/>
          </a:p>
          <a:p>
            <a:r>
              <a:rPr lang="en-US" dirty="0"/>
              <a:t>where</a:t>
            </a:r>
          </a:p>
          <a:p>
            <a:r>
              <a:rPr lang="en-US" dirty="0"/>
              <a:t>             </a:t>
            </a:r>
            <a:r>
              <a:rPr lang="en-US" dirty="0" err="1"/>
              <a:t>SD</a:t>
            </a:r>
            <a:r>
              <a:rPr lang="en-US" baseline="-25000" dirty="0" err="1"/>
              <a:t>pooled</a:t>
            </a:r>
            <a:r>
              <a:rPr lang="en-US" dirty="0"/>
              <a:t> = √((SD</a:t>
            </a:r>
            <a:r>
              <a:rPr lang="en-US" baseline="-25000" dirty="0"/>
              <a:t>1</a:t>
            </a:r>
            <a:r>
              <a:rPr lang="en-US" baseline="30000" dirty="0"/>
              <a:t>2</a:t>
            </a:r>
            <a:r>
              <a:rPr lang="en-US" dirty="0"/>
              <a:t> + SD</a:t>
            </a:r>
            <a:r>
              <a:rPr lang="en-US" baseline="-25000" dirty="0"/>
              <a:t>2</a:t>
            </a:r>
            <a:r>
              <a:rPr lang="en-US" baseline="30000" dirty="0"/>
              <a:t>2</a:t>
            </a:r>
            <a:r>
              <a:rPr lang="en-US" dirty="0"/>
              <a:t>) ⁄ 2)</a:t>
            </a:r>
          </a:p>
        </p:txBody>
      </p:sp>
      <p:sp>
        <p:nvSpPr>
          <p:cNvPr id="14" name="TextBox 13">
            <a:extLst>
              <a:ext uri="{FF2B5EF4-FFF2-40B4-BE49-F238E27FC236}">
                <a16:creationId xmlns:a16="http://schemas.microsoft.com/office/drawing/2014/main" id="{87D16553-8FC8-8346-903C-09D3BACBEFC8}"/>
              </a:ext>
            </a:extLst>
          </p:cNvPr>
          <p:cNvSpPr txBox="1"/>
          <p:nvPr/>
        </p:nvSpPr>
        <p:spPr>
          <a:xfrm>
            <a:off x="180108" y="3974617"/>
            <a:ext cx="6483928" cy="523220"/>
          </a:xfrm>
          <a:prstGeom prst="rect">
            <a:avLst/>
          </a:prstGeom>
          <a:noFill/>
        </p:spPr>
        <p:txBody>
          <a:bodyPr wrap="square" rtlCol="0">
            <a:spAutoFit/>
          </a:bodyPr>
          <a:lstStyle/>
          <a:p>
            <a:r>
              <a:rPr lang="en-US" dirty="0"/>
              <a:t>Determining the amount of variability in scores explained by the treatment effect is an alternative method for measuring effect size.</a:t>
            </a:r>
          </a:p>
        </p:txBody>
      </p:sp>
      <p:graphicFrame>
        <p:nvGraphicFramePr>
          <p:cNvPr id="15" name="Object 3" descr="An equation reads r square equals variability accounted for divided by total variability equals t square divided by t square plus df.">
            <a:extLst>
              <a:ext uri="{FF2B5EF4-FFF2-40B4-BE49-F238E27FC236}">
                <a16:creationId xmlns:a16="http://schemas.microsoft.com/office/drawing/2014/main" id="{114287D4-E80F-DA45-A988-680D58AA80D6}"/>
              </a:ext>
            </a:extLst>
          </p:cNvPr>
          <p:cNvGraphicFramePr>
            <a:graphicFrameLocks noChangeAspect="1"/>
          </p:cNvGraphicFramePr>
          <p:nvPr>
            <p:extLst>
              <p:ext uri="{D42A27DB-BD31-4B8C-83A1-F6EECF244321}">
                <p14:modId xmlns:p14="http://schemas.microsoft.com/office/powerpoint/2010/main" val="4094305578"/>
              </p:ext>
            </p:extLst>
          </p:nvPr>
        </p:nvGraphicFramePr>
        <p:xfrm>
          <a:off x="888696" y="4497837"/>
          <a:ext cx="4332459" cy="789709"/>
        </p:xfrm>
        <a:graphic>
          <a:graphicData uri="http://schemas.openxmlformats.org/presentationml/2006/ole">
            <mc:AlternateContent xmlns:mc="http://schemas.openxmlformats.org/markup-compatibility/2006">
              <mc:Choice xmlns:v="urn:schemas-microsoft-com:vml" Requires="v">
                <p:oleObj spid="_x0000_s2581" name="Equation" r:id="rId3" imgW="2438280" imgH="444240" progId="Equation.DSMT4">
                  <p:embed/>
                </p:oleObj>
              </mc:Choice>
              <mc:Fallback>
                <p:oleObj name="Equation" r:id="rId3" imgW="2438280" imgH="444240" progId="Equation.DSMT4">
                  <p:embed/>
                  <p:pic>
                    <p:nvPicPr>
                      <p:cNvPr id="8" name="Object 3" descr="An equation reads r square equals variability accounted for divided by total variability equals t square divided by t square plus df."/>
                      <p:cNvPicPr>
                        <a:picLocks noChangeAspect="1" noChangeArrowheads="1"/>
                      </p:cNvPicPr>
                      <p:nvPr/>
                    </p:nvPicPr>
                    <p:blipFill>
                      <a:blip r:embed="rId4"/>
                      <a:srcRect/>
                      <a:stretch>
                        <a:fillRect/>
                      </a:stretch>
                    </p:blipFill>
                    <p:spPr bwMode="auto">
                      <a:xfrm>
                        <a:off x="888696" y="4497837"/>
                        <a:ext cx="4332459" cy="789709"/>
                      </a:xfrm>
                      <a:prstGeom prst="rect">
                        <a:avLst/>
                      </a:prstGeom>
                      <a:noFill/>
                      <a:ln>
                        <a:noFill/>
                      </a:ln>
                      <a:extLst/>
                    </p:spPr>
                  </p:pic>
                </p:oleObj>
              </mc:Fallback>
            </mc:AlternateContent>
          </a:graphicData>
        </a:graphic>
      </p:graphicFrame>
      <p:sp>
        <p:nvSpPr>
          <p:cNvPr id="16" name="TextBox 15">
            <a:extLst>
              <a:ext uri="{FF2B5EF4-FFF2-40B4-BE49-F238E27FC236}">
                <a16:creationId xmlns:a16="http://schemas.microsoft.com/office/drawing/2014/main" id="{16680CE8-00CE-F94A-B85B-3775CFF09A70}"/>
              </a:ext>
            </a:extLst>
          </p:cNvPr>
          <p:cNvSpPr txBox="1"/>
          <p:nvPr/>
        </p:nvSpPr>
        <p:spPr>
          <a:xfrm>
            <a:off x="1399309" y="5569527"/>
            <a:ext cx="2479964" cy="738664"/>
          </a:xfrm>
          <a:prstGeom prst="rect">
            <a:avLst/>
          </a:prstGeom>
          <a:noFill/>
        </p:spPr>
        <p:txBody>
          <a:bodyPr wrap="square" rtlCol="0">
            <a:spAutoFit/>
          </a:bodyPr>
          <a:lstStyle/>
          <a:p>
            <a:r>
              <a:rPr lang="en-US" dirty="0"/>
              <a:t>r2 = 0.01   small effect</a:t>
            </a:r>
          </a:p>
          <a:p>
            <a:r>
              <a:rPr lang="en-US" dirty="0"/>
              <a:t>r2 = 0.09   medium effect</a:t>
            </a:r>
          </a:p>
          <a:p>
            <a:r>
              <a:rPr lang="en-US" dirty="0"/>
              <a:t>r2 = 0.25   large effect</a:t>
            </a:r>
          </a:p>
        </p:txBody>
      </p:sp>
      <p:sp>
        <p:nvSpPr>
          <p:cNvPr id="17" name="TextBox 16">
            <a:extLst>
              <a:ext uri="{FF2B5EF4-FFF2-40B4-BE49-F238E27FC236}">
                <a16:creationId xmlns:a16="http://schemas.microsoft.com/office/drawing/2014/main" id="{9D86BD0E-00EC-9D4F-A147-88125D7D69E5}"/>
              </a:ext>
            </a:extLst>
          </p:cNvPr>
          <p:cNvSpPr txBox="1"/>
          <p:nvPr/>
        </p:nvSpPr>
        <p:spPr>
          <a:xfrm>
            <a:off x="7245928" y="941391"/>
            <a:ext cx="3685309" cy="615553"/>
          </a:xfrm>
          <a:prstGeom prst="rect">
            <a:avLst/>
          </a:prstGeom>
          <a:noFill/>
        </p:spPr>
        <p:txBody>
          <a:bodyPr wrap="square" rtlCol="0">
            <a:spAutoFit/>
          </a:bodyPr>
          <a:lstStyle/>
          <a:p>
            <a:r>
              <a:rPr lang="en-US" sz="2000" b="1" dirty="0"/>
              <a:t>Estimating m from sample</a:t>
            </a:r>
          </a:p>
          <a:p>
            <a:r>
              <a:rPr lang="en-US" dirty="0"/>
              <a:t>(use sample mean and sample deviation)</a:t>
            </a:r>
          </a:p>
        </p:txBody>
      </p:sp>
      <p:graphicFrame>
        <p:nvGraphicFramePr>
          <p:cNvPr id="18" name="Object 3" descr="An equation reads t equals M minus mu divided by S subscript M.">
            <a:extLst>
              <a:ext uri="{FF2B5EF4-FFF2-40B4-BE49-F238E27FC236}">
                <a16:creationId xmlns:a16="http://schemas.microsoft.com/office/drawing/2014/main" id="{88184276-7E0D-074B-B382-F203C531A5B0}"/>
              </a:ext>
            </a:extLst>
          </p:cNvPr>
          <p:cNvGraphicFramePr>
            <a:graphicFrameLocks noChangeAspect="1"/>
          </p:cNvGraphicFramePr>
          <p:nvPr>
            <p:extLst>
              <p:ext uri="{D42A27DB-BD31-4B8C-83A1-F6EECF244321}">
                <p14:modId xmlns:p14="http://schemas.microsoft.com/office/powerpoint/2010/main" val="3328097911"/>
              </p:ext>
            </p:extLst>
          </p:nvPr>
        </p:nvGraphicFramePr>
        <p:xfrm>
          <a:off x="6954985" y="1775947"/>
          <a:ext cx="1182677" cy="773290"/>
        </p:xfrm>
        <a:graphic>
          <a:graphicData uri="http://schemas.openxmlformats.org/presentationml/2006/ole">
            <mc:AlternateContent xmlns:mc="http://schemas.openxmlformats.org/markup-compatibility/2006">
              <mc:Choice xmlns:v="urn:schemas-microsoft-com:vml" Requires="v">
                <p:oleObj spid="_x0000_s2582" name="Equation" r:id="rId5" imgW="660113" imgH="431613" progId="Equation.3">
                  <p:embed/>
                </p:oleObj>
              </mc:Choice>
              <mc:Fallback>
                <p:oleObj name="Equation" r:id="rId5" imgW="660113" imgH="431613" progId="Equation.3">
                  <p:embed/>
                  <p:pic>
                    <p:nvPicPr>
                      <p:cNvPr id="9" name="Object 3" descr="An equation reads t equals M minus mu divided by S subscript 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4985" y="1775947"/>
                        <a:ext cx="1182677" cy="773290"/>
                      </a:xfrm>
                      <a:prstGeom prst="rect">
                        <a:avLst/>
                      </a:prstGeom>
                      <a:noFill/>
                      <a:ln>
                        <a:noFill/>
                      </a:ln>
                      <a:extLst/>
                    </p:spPr>
                  </p:pic>
                </p:oleObj>
              </mc:Fallback>
            </mc:AlternateContent>
          </a:graphicData>
        </a:graphic>
      </p:graphicFrame>
      <p:graphicFrame>
        <p:nvGraphicFramePr>
          <p:cNvPr id="19" name="Object 5" descr="An equation reads mu equals M plus or minus ts subscript M.">
            <a:extLst>
              <a:ext uri="{FF2B5EF4-FFF2-40B4-BE49-F238E27FC236}">
                <a16:creationId xmlns:a16="http://schemas.microsoft.com/office/drawing/2014/main" id="{85814685-8D5A-BF47-9CBA-4F66B29B7383}"/>
              </a:ext>
            </a:extLst>
          </p:cNvPr>
          <p:cNvGraphicFramePr>
            <a:graphicFrameLocks noChangeAspect="1"/>
          </p:cNvGraphicFramePr>
          <p:nvPr>
            <p:extLst>
              <p:ext uri="{D42A27DB-BD31-4B8C-83A1-F6EECF244321}">
                <p14:modId xmlns:p14="http://schemas.microsoft.com/office/powerpoint/2010/main" val="3791869923"/>
              </p:ext>
            </p:extLst>
          </p:nvPr>
        </p:nvGraphicFramePr>
        <p:xfrm>
          <a:off x="9698182" y="1858320"/>
          <a:ext cx="1707061" cy="468065"/>
        </p:xfrm>
        <a:graphic>
          <a:graphicData uri="http://schemas.openxmlformats.org/presentationml/2006/ole">
            <mc:AlternateContent xmlns:mc="http://schemas.openxmlformats.org/markup-compatibility/2006">
              <mc:Choice xmlns:v="urn:schemas-microsoft-com:vml" Requires="v">
                <p:oleObj spid="_x0000_s2583" name="Equation" r:id="rId7" imgW="787058" imgH="215806" progId="Equation.3">
                  <p:embed/>
                </p:oleObj>
              </mc:Choice>
              <mc:Fallback>
                <p:oleObj name="Equation" r:id="rId7" imgW="787058" imgH="215806" progId="Equation.3">
                  <p:embed/>
                  <p:pic>
                    <p:nvPicPr>
                      <p:cNvPr id="11" name="Object 5" descr="An equation reads mu equals M plus or minus ts subscript 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98182" y="1858320"/>
                        <a:ext cx="1707061" cy="468065"/>
                      </a:xfrm>
                      <a:prstGeom prst="rect">
                        <a:avLst/>
                      </a:prstGeom>
                      <a:noFill/>
                      <a:ln>
                        <a:noFill/>
                      </a:ln>
                      <a:extLst/>
                    </p:spPr>
                  </p:pic>
                </p:oleObj>
              </mc:Fallback>
            </mc:AlternateContent>
          </a:graphicData>
        </a:graphic>
      </p:graphicFrame>
      <p:sp>
        <p:nvSpPr>
          <p:cNvPr id="20" name="Right Arrow 19">
            <a:extLst>
              <a:ext uri="{FF2B5EF4-FFF2-40B4-BE49-F238E27FC236}">
                <a16:creationId xmlns:a16="http://schemas.microsoft.com/office/drawing/2014/main" id="{F34A832A-FA54-2047-BBB7-9D09E4FAED55}"/>
              </a:ext>
            </a:extLst>
          </p:cNvPr>
          <p:cNvSpPr/>
          <p:nvPr/>
        </p:nvSpPr>
        <p:spPr>
          <a:xfrm>
            <a:off x="8534400" y="1939636"/>
            <a:ext cx="782782" cy="3867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0E32BF4-1CFE-8346-B044-0B865DCA9A8D}"/>
              </a:ext>
            </a:extLst>
          </p:cNvPr>
          <p:cNvSpPr txBox="1"/>
          <p:nvPr/>
        </p:nvSpPr>
        <p:spPr>
          <a:xfrm>
            <a:off x="7245928" y="2840182"/>
            <a:ext cx="4159315" cy="523220"/>
          </a:xfrm>
          <a:prstGeom prst="rect">
            <a:avLst/>
          </a:prstGeom>
          <a:noFill/>
        </p:spPr>
        <p:txBody>
          <a:bodyPr wrap="square" rtlCol="0">
            <a:spAutoFit/>
          </a:bodyPr>
          <a:lstStyle/>
          <a:p>
            <a:r>
              <a:rPr lang="en-US" dirty="0"/>
              <a:t>For any </a:t>
            </a:r>
            <a:r>
              <a:rPr lang="el-GR" dirty="0"/>
              <a:t>α </a:t>
            </a:r>
            <a:r>
              <a:rPr lang="en-US" dirty="0"/>
              <a:t>we know that (1 – </a:t>
            </a:r>
            <a:r>
              <a:rPr lang="el-GR" dirty="0"/>
              <a:t>α) </a:t>
            </a:r>
            <a:r>
              <a:rPr lang="en-US" dirty="0"/>
              <a:t>proportion of t values fall between ± t for the appropriate </a:t>
            </a:r>
            <a:r>
              <a:rPr lang="en-US" dirty="0" err="1"/>
              <a:t>df</a:t>
            </a:r>
            <a:r>
              <a:rPr lang="en-US" dirty="0"/>
              <a:t>.</a:t>
            </a:r>
          </a:p>
        </p:txBody>
      </p:sp>
    </p:spTree>
    <p:extLst>
      <p:ext uri="{BB962C8B-B14F-4D97-AF65-F5344CB8AC3E}">
        <p14:creationId xmlns:p14="http://schemas.microsoft.com/office/powerpoint/2010/main" val="4216787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532FDD-D102-2549-9743-0A74F0A87BE5}"/>
              </a:ext>
            </a:extLst>
          </p:cNvPr>
          <p:cNvSpPr>
            <a:spLocks noGrp="1"/>
          </p:cNvSpPr>
          <p:nvPr>
            <p:ph type="title"/>
          </p:nvPr>
        </p:nvSpPr>
        <p:spPr>
          <a:xfrm>
            <a:off x="180108" y="131765"/>
            <a:ext cx="8825347" cy="612410"/>
          </a:xfrm>
          <a:noFill/>
        </p:spPr>
        <p:txBody>
          <a:bodyPr lIns="0" tIns="0" rIns="0" bIns="0" anchor="t" anchorCtr="0"/>
          <a:lstStyle/>
          <a:p>
            <a:r>
              <a:rPr lang="en-US" sz="4000" b="1" dirty="0">
                <a:solidFill>
                  <a:schemeClr val="tx1"/>
                </a:solidFill>
              </a:rPr>
              <a:t>The t Test for Two Independent Samples</a:t>
            </a:r>
          </a:p>
        </p:txBody>
      </p:sp>
      <p:sp>
        <p:nvSpPr>
          <p:cNvPr id="6" name="TextBox 5">
            <a:extLst>
              <a:ext uri="{FF2B5EF4-FFF2-40B4-BE49-F238E27FC236}">
                <a16:creationId xmlns:a16="http://schemas.microsoft.com/office/drawing/2014/main" id="{5E4C2F89-D386-7D4F-9A7B-AE261A19D445}"/>
              </a:ext>
            </a:extLst>
          </p:cNvPr>
          <p:cNvSpPr txBox="1"/>
          <p:nvPr/>
        </p:nvSpPr>
        <p:spPr>
          <a:xfrm>
            <a:off x="180108" y="767722"/>
            <a:ext cx="5666510" cy="1169551"/>
          </a:xfrm>
          <a:prstGeom prst="rect">
            <a:avLst/>
          </a:prstGeom>
          <a:noFill/>
        </p:spPr>
        <p:txBody>
          <a:bodyPr wrap="square" rtlCol="0">
            <a:spAutoFit/>
          </a:bodyPr>
          <a:lstStyle/>
          <a:p>
            <a:r>
              <a:rPr lang="en-US" dirty="0"/>
              <a:t>Data comes from two completely different, independent groups.</a:t>
            </a:r>
          </a:p>
          <a:p>
            <a:r>
              <a:rPr lang="en-US" dirty="0"/>
              <a:t>Observations within each sample must be independent.</a:t>
            </a:r>
          </a:p>
          <a:p>
            <a:r>
              <a:rPr lang="en-US" dirty="0"/>
              <a:t>The two populations must be normal.</a:t>
            </a:r>
          </a:p>
          <a:p>
            <a:r>
              <a:rPr lang="en-US" dirty="0"/>
              <a:t>The two populations must have equal variances (called homogeneity of variance).</a:t>
            </a:r>
          </a:p>
        </p:txBody>
      </p:sp>
      <p:pic>
        <p:nvPicPr>
          <p:cNvPr id="7" name="Picture 2" descr="The structure of an independent-measures research study. Two separate samples are used to obtain information about two unknown populations or treatment conditions." title="Figure 10.1  Independent- Measures Research Design   ">
            <a:extLst>
              <a:ext uri="{FF2B5EF4-FFF2-40B4-BE49-F238E27FC236}">
                <a16:creationId xmlns:a16="http://schemas.microsoft.com/office/drawing/2014/main" id="{17B937B4-B889-7E43-8881-5ABA09FFB8B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457201" y="2211665"/>
            <a:ext cx="3692236" cy="31934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06A0A4C-96A2-FD4D-A51D-91E5DB678748}"/>
              </a:ext>
            </a:extLst>
          </p:cNvPr>
          <p:cNvSpPr txBox="1"/>
          <p:nvPr/>
        </p:nvSpPr>
        <p:spPr>
          <a:xfrm>
            <a:off x="457201" y="5652660"/>
            <a:ext cx="3976254" cy="304800"/>
          </a:xfrm>
          <a:prstGeom prst="rect">
            <a:avLst/>
          </a:prstGeom>
          <a:noFill/>
        </p:spPr>
        <p:txBody>
          <a:bodyPr wrap="square" rtlCol="0">
            <a:spAutoFit/>
          </a:bodyPr>
          <a:lstStyle/>
          <a:p>
            <a:r>
              <a:rPr lang="en-US" dirty="0"/>
              <a:t>Null hypothesis for independent-measures test:</a:t>
            </a:r>
          </a:p>
        </p:txBody>
      </p:sp>
      <p:graphicFrame>
        <p:nvGraphicFramePr>
          <p:cNvPr id="9" name="Object 3" descr="An equation reads, H subscript zero colon mu subscript 1 negative mu subscript 2 equals zero.">
            <a:extLst>
              <a:ext uri="{FF2B5EF4-FFF2-40B4-BE49-F238E27FC236}">
                <a16:creationId xmlns:a16="http://schemas.microsoft.com/office/drawing/2014/main" id="{62DBE416-8FDE-474D-9EE8-DAD948EAACCD}"/>
              </a:ext>
            </a:extLst>
          </p:cNvPr>
          <p:cNvGraphicFramePr>
            <a:graphicFrameLocks noChangeAspect="1"/>
          </p:cNvGraphicFramePr>
          <p:nvPr>
            <p:extLst>
              <p:ext uri="{D42A27DB-BD31-4B8C-83A1-F6EECF244321}">
                <p14:modId xmlns:p14="http://schemas.microsoft.com/office/powerpoint/2010/main" val="516743641"/>
              </p:ext>
            </p:extLst>
          </p:nvPr>
        </p:nvGraphicFramePr>
        <p:xfrm>
          <a:off x="1422863" y="6205014"/>
          <a:ext cx="1655733" cy="359070"/>
        </p:xfrm>
        <a:graphic>
          <a:graphicData uri="http://schemas.openxmlformats.org/presentationml/2006/ole">
            <mc:AlternateContent xmlns:mc="http://schemas.openxmlformats.org/markup-compatibility/2006">
              <mc:Choice xmlns:v="urn:schemas-microsoft-com:vml" Requires="v">
                <p:oleObj spid="_x0000_s3779" name="Equation" r:id="rId4" imgW="1054100" imgH="228600" progId="Equation.3">
                  <p:embed/>
                </p:oleObj>
              </mc:Choice>
              <mc:Fallback>
                <p:oleObj name="Equation" r:id="rId4" imgW="1054100" imgH="228600" progId="Equation.3">
                  <p:embed/>
                  <p:pic>
                    <p:nvPicPr>
                      <p:cNvPr id="13" name="Object 3" descr="An equation reads, H subscript zero colon mu subscript 1 negative mu subscript 2 equals zer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2863" y="6205014"/>
                        <a:ext cx="1655733" cy="359070"/>
                      </a:xfrm>
                      <a:prstGeom prst="rect">
                        <a:avLst/>
                      </a:prstGeom>
                      <a:noFill/>
                      <a:ln>
                        <a:noFill/>
                      </a:ln>
                      <a:extLst/>
                    </p:spPr>
                  </p:pic>
                </p:oleObj>
              </mc:Fallback>
            </mc:AlternateContent>
          </a:graphicData>
        </a:graphic>
      </p:graphicFrame>
      <p:sp>
        <p:nvSpPr>
          <p:cNvPr id="10" name="TextBox 9">
            <a:extLst>
              <a:ext uri="{FF2B5EF4-FFF2-40B4-BE49-F238E27FC236}">
                <a16:creationId xmlns:a16="http://schemas.microsoft.com/office/drawing/2014/main" id="{2AC5887E-8837-384C-8085-98026B586B92}"/>
              </a:ext>
            </a:extLst>
          </p:cNvPr>
          <p:cNvSpPr txBox="1"/>
          <p:nvPr/>
        </p:nvSpPr>
        <p:spPr>
          <a:xfrm>
            <a:off x="7135092" y="900091"/>
            <a:ext cx="2770909" cy="307777"/>
          </a:xfrm>
          <a:prstGeom prst="rect">
            <a:avLst/>
          </a:prstGeom>
          <a:noFill/>
        </p:spPr>
        <p:txBody>
          <a:bodyPr wrap="square" rtlCol="0">
            <a:spAutoFit/>
          </a:bodyPr>
          <a:lstStyle/>
          <a:p>
            <a:r>
              <a:rPr lang="en-US" dirty="0"/>
              <a:t>Basic structure of the t statistic</a:t>
            </a:r>
          </a:p>
        </p:txBody>
      </p:sp>
      <p:graphicFrame>
        <p:nvGraphicFramePr>
          <p:cNvPr id="11" name="Object 3" descr="An equation reads, t equals parentheses M subscript 1 negative M subscript 2 parentheses negative parentheses mu subscript 1 negative mu subscript 1 parentheses, divided by S subscript parentheses M subscript 1 negative M subscript 2 parentheses. ">
            <a:extLst>
              <a:ext uri="{FF2B5EF4-FFF2-40B4-BE49-F238E27FC236}">
                <a16:creationId xmlns:a16="http://schemas.microsoft.com/office/drawing/2014/main" id="{8ACD968C-C65B-9D43-BCD7-739469F10298}"/>
              </a:ext>
            </a:extLst>
          </p:cNvPr>
          <p:cNvGraphicFramePr>
            <a:graphicFrameLocks noChangeAspect="1"/>
          </p:cNvGraphicFramePr>
          <p:nvPr>
            <p:extLst>
              <p:ext uri="{D42A27DB-BD31-4B8C-83A1-F6EECF244321}">
                <p14:modId xmlns:p14="http://schemas.microsoft.com/office/powerpoint/2010/main" val="3437400185"/>
              </p:ext>
            </p:extLst>
          </p:nvPr>
        </p:nvGraphicFramePr>
        <p:xfrm>
          <a:off x="7135092" y="1267395"/>
          <a:ext cx="2805545" cy="816537"/>
        </p:xfrm>
        <a:graphic>
          <a:graphicData uri="http://schemas.openxmlformats.org/presentationml/2006/ole">
            <mc:AlternateContent xmlns:mc="http://schemas.openxmlformats.org/markup-compatibility/2006">
              <mc:Choice xmlns:v="urn:schemas-microsoft-com:vml" Requires="v">
                <p:oleObj spid="_x0000_s3780" name="Equation" r:id="rId6" imgW="1701800" imgH="495300" progId="Equation.3">
                  <p:embed/>
                </p:oleObj>
              </mc:Choice>
              <mc:Fallback>
                <p:oleObj name="Equation" r:id="rId6" imgW="1701800" imgH="495300" progId="Equation.3">
                  <p:embed/>
                  <p:pic>
                    <p:nvPicPr>
                      <p:cNvPr id="11" name="Object 3" descr="An equation reads, t equals parentheses M subscript 1 negative M subscript 2 parentheses negative parentheses mu subscript 1 negative mu subscript 1 parentheses, divided by S subscript parentheses M subscript 1 negative M subscript 2 parentheses. "/>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5092" y="1267395"/>
                        <a:ext cx="2805545" cy="816537"/>
                      </a:xfrm>
                      <a:prstGeom prst="rect">
                        <a:avLst/>
                      </a:prstGeom>
                      <a:noFill/>
                      <a:ln>
                        <a:noFill/>
                      </a:ln>
                      <a:extLst/>
                    </p:spPr>
                  </p:pic>
                </p:oleObj>
              </mc:Fallback>
            </mc:AlternateContent>
          </a:graphicData>
        </a:graphic>
      </p:graphicFrame>
      <p:graphicFrame>
        <p:nvGraphicFramePr>
          <p:cNvPr id="12" name="Object 3" descr="An equation reads, S subscript parentheses M subscript 1 negative M subscript 2 parentheses equals square root of S square subscript 1 by n subscript 1 plus S square subscript 2 by n subscript 2.">
            <a:extLst>
              <a:ext uri="{FF2B5EF4-FFF2-40B4-BE49-F238E27FC236}">
                <a16:creationId xmlns:a16="http://schemas.microsoft.com/office/drawing/2014/main" id="{6ECBAAFA-ACC7-F247-8416-A877C6C2CD7A}"/>
              </a:ext>
            </a:extLst>
          </p:cNvPr>
          <p:cNvGraphicFramePr>
            <a:graphicFrameLocks noChangeAspect="1"/>
          </p:cNvGraphicFramePr>
          <p:nvPr>
            <p:extLst>
              <p:ext uri="{D42A27DB-BD31-4B8C-83A1-F6EECF244321}">
                <p14:modId xmlns:p14="http://schemas.microsoft.com/office/powerpoint/2010/main" val="403903121"/>
              </p:ext>
            </p:extLst>
          </p:nvPr>
        </p:nvGraphicFramePr>
        <p:xfrm>
          <a:off x="7550728" y="2556164"/>
          <a:ext cx="1870363" cy="796295"/>
        </p:xfrm>
        <a:graphic>
          <a:graphicData uri="http://schemas.openxmlformats.org/presentationml/2006/ole">
            <mc:AlternateContent xmlns:mc="http://schemas.openxmlformats.org/markup-compatibility/2006">
              <mc:Choice xmlns:v="urn:schemas-microsoft-com:vml" Requires="v">
                <p:oleObj spid="_x0000_s3781" name="Equation" r:id="rId8" imgW="1282700" imgH="546100" progId="Equation.3">
                  <p:embed/>
                </p:oleObj>
              </mc:Choice>
              <mc:Fallback>
                <p:oleObj name="Equation" r:id="rId8" imgW="1282700" imgH="546100" progId="Equation.3">
                  <p:embed/>
                  <p:pic>
                    <p:nvPicPr>
                      <p:cNvPr id="9" name="Object 3" descr="An equation reads, S subscript parentheses M subscript 1 negative M subscript 2 parentheses equals square root of S square subscript 1 by n subscript 1 plus S square subscript 2 by n subscrip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0728" y="2556164"/>
                        <a:ext cx="1870363" cy="796295"/>
                      </a:xfrm>
                      <a:prstGeom prst="rect">
                        <a:avLst/>
                      </a:prstGeom>
                      <a:noFill/>
                      <a:ln>
                        <a:noFill/>
                      </a:ln>
                      <a:extLst/>
                    </p:spPr>
                  </p:pic>
                </p:oleObj>
              </mc:Fallback>
            </mc:AlternateContent>
          </a:graphicData>
        </a:graphic>
      </p:graphicFrame>
      <p:sp>
        <p:nvSpPr>
          <p:cNvPr id="13" name="TextBox 12">
            <a:extLst>
              <a:ext uri="{FF2B5EF4-FFF2-40B4-BE49-F238E27FC236}">
                <a16:creationId xmlns:a16="http://schemas.microsoft.com/office/drawing/2014/main" id="{3788774E-45A2-5941-A4B5-A0FA04C20A18}"/>
              </a:ext>
            </a:extLst>
          </p:cNvPr>
          <p:cNvSpPr txBox="1"/>
          <p:nvPr/>
        </p:nvSpPr>
        <p:spPr>
          <a:xfrm>
            <a:off x="7121232" y="2133151"/>
            <a:ext cx="4724404" cy="307777"/>
          </a:xfrm>
          <a:prstGeom prst="rect">
            <a:avLst/>
          </a:prstGeom>
          <a:noFill/>
        </p:spPr>
        <p:txBody>
          <a:bodyPr wrap="square" rtlCol="0">
            <a:spAutoFit/>
          </a:bodyPr>
          <a:lstStyle/>
          <a:p>
            <a:r>
              <a:rPr lang="en-US" dirty="0"/>
              <a:t>where estimated standard error (unbiased if n1=n2)</a:t>
            </a:r>
          </a:p>
        </p:txBody>
      </p:sp>
      <p:graphicFrame>
        <p:nvGraphicFramePr>
          <p:cNvPr id="14" name="Object 3" descr="An equation reads, S square subscript p equals SS subscript 1 plus SS subscript 2 divided by d function subscript 1 plus d function subscript 2.">
            <a:extLst>
              <a:ext uri="{FF2B5EF4-FFF2-40B4-BE49-F238E27FC236}">
                <a16:creationId xmlns:a16="http://schemas.microsoft.com/office/drawing/2014/main" id="{722E0022-938F-9841-9C2C-69E3411DF3A9}"/>
              </a:ext>
            </a:extLst>
          </p:cNvPr>
          <p:cNvGraphicFramePr>
            <a:graphicFrameLocks noChangeAspect="1"/>
          </p:cNvGraphicFramePr>
          <p:nvPr>
            <p:extLst>
              <p:ext uri="{D42A27DB-BD31-4B8C-83A1-F6EECF244321}">
                <p14:modId xmlns:p14="http://schemas.microsoft.com/office/powerpoint/2010/main" val="2191932838"/>
              </p:ext>
            </p:extLst>
          </p:nvPr>
        </p:nvGraphicFramePr>
        <p:xfrm>
          <a:off x="7612845" y="3985718"/>
          <a:ext cx="1413392" cy="658287"/>
        </p:xfrm>
        <a:graphic>
          <a:graphicData uri="http://schemas.openxmlformats.org/presentationml/2006/ole">
            <mc:AlternateContent xmlns:mc="http://schemas.openxmlformats.org/markup-compatibility/2006">
              <mc:Choice xmlns:v="urn:schemas-microsoft-com:vml" Requires="v">
                <p:oleObj spid="_x0000_s3782" name="Equation" r:id="rId10" imgW="927100" imgH="431800" progId="Equation.3">
                  <p:embed/>
                </p:oleObj>
              </mc:Choice>
              <mc:Fallback>
                <p:oleObj name="Equation" r:id="rId10" imgW="927100" imgH="431800" progId="Equation.3">
                  <p:embed/>
                  <p:pic>
                    <p:nvPicPr>
                      <p:cNvPr id="10" name="Object 3" descr="An equation reads, S square subscript p equals SS subscript 1 plus SS subscript 2 divided by d function subscript 1 plus d function subscrip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12845" y="3985718"/>
                        <a:ext cx="1413392" cy="658287"/>
                      </a:xfrm>
                      <a:prstGeom prst="rect">
                        <a:avLst/>
                      </a:prstGeom>
                      <a:noFill/>
                      <a:ln>
                        <a:noFill/>
                      </a:ln>
                      <a:extLst/>
                    </p:spPr>
                  </p:pic>
                </p:oleObj>
              </mc:Fallback>
            </mc:AlternateContent>
          </a:graphicData>
        </a:graphic>
      </p:graphicFrame>
      <p:sp>
        <p:nvSpPr>
          <p:cNvPr id="15" name="TextBox 14">
            <a:extLst>
              <a:ext uri="{FF2B5EF4-FFF2-40B4-BE49-F238E27FC236}">
                <a16:creationId xmlns:a16="http://schemas.microsoft.com/office/drawing/2014/main" id="{A54DF762-6012-4C42-8452-2EE83BDBB6C8}"/>
              </a:ext>
            </a:extLst>
          </p:cNvPr>
          <p:cNvSpPr txBox="1"/>
          <p:nvPr/>
        </p:nvSpPr>
        <p:spPr>
          <a:xfrm>
            <a:off x="7121232" y="3515200"/>
            <a:ext cx="4724404" cy="307777"/>
          </a:xfrm>
          <a:prstGeom prst="rect">
            <a:avLst/>
          </a:prstGeom>
          <a:noFill/>
        </p:spPr>
        <p:txBody>
          <a:bodyPr wrap="square" rtlCol="0">
            <a:spAutoFit/>
          </a:bodyPr>
          <a:lstStyle/>
          <a:p>
            <a:r>
              <a:rPr lang="en-US" dirty="0"/>
              <a:t>unbiased estimate:</a:t>
            </a:r>
          </a:p>
        </p:txBody>
      </p:sp>
      <p:sp>
        <p:nvSpPr>
          <p:cNvPr id="16" name="TextBox 15">
            <a:extLst>
              <a:ext uri="{FF2B5EF4-FFF2-40B4-BE49-F238E27FC236}">
                <a16:creationId xmlns:a16="http://schemas.microsoft.com/office/drawing/2014/main" id="{C14522A1-FC1A-C042-A252-FEB227F5C430}"/>
              </a:ext>
            </a:extLst>
          </p:cNvPr>
          <p:cNvSpPr txBox="1"/>
          <p:nvPr/>
        </p:nvSpPr>
        <p:spPr>
          <a:xfrm>
            <a:off x="7135092" y="4942178"/>
            <a:ext cx="4128653" cy="523220"/>
          </a:xfrm>
          <a:prstGeom prst="rect">
            <a:avLst/>
          </a:prstGeom>
          <a:noFill/>
        </p:spPr>
        <p:txBody>
          <a:bodyPr wrap="square" rtlCol="0">
            <a:spAutoFit/>
          </a:bodyPr>
          <a:lstStyle/>
          <a:p>
            <a:r>
              <a:rPr lang="en-US" dirty="0"/>
              <a:t>SS = Sum of Squares</a:t>
            </a:r>
            <a:br>
              <a:rPr lang="en-US" dirty="0"/>
            </a:br>
            <a:r>
              <a:rPr lang="en-US" dirty="0"/>
              <a:t>Degrees of freedom </a:t>
            </a:r>
            <a:r>
              <a:rPr lang="en-US" dirty="0" err="1"/>
              <a:t>df</a:t>
            </a:r>
            <a:r>
              <a:rPr lang="en-US" dirty="0"/>
              <a:t> = df</a:t>
            </a:r>
            <a:r>
              <a:rPr lang="en-US" baseline="-25000" dirty="0"/>
              <a:t>1</a:t>
            </a:r>
            <a:r>
              <a:rPr lang="en-US" dirty="0"/>
              <a:t>+df</a:t>
            </a:r>
            <a:r>
              <a:rPr lang="en-US" baseline="-25000" dirty="0"/>
              <a:t>2</a:t>
            </a:r>
            <a:r>
              <a:rPr lang="en-US" dirty="0"/>
              <a:t> = (n</a:t>
            </a:r>
            <a:r>
              <a:rPr lang="en-US" baseline="-25000" dirty="0"/>
              <a:t>1</a:t>
            </a:r>
            <a:r>
              <a:rPr lang="en-US" dirty="0"/>
              <a:t>-1) + (n</a:t>
            </a:r>
            <a:r>
              <a:rPr lang="en-US" baseline="-25000" dirty="0"/>
              <a:t>2</a:t>
            </a:r>
            <a:r>
              <a:rPr lang="en-US" dirty="0"/>
              <a:t>-1)</a:t>
            </a:r>
          </a:p>
        </p:txBody>
      </p:sp>
      <p:sp>
        <p:nvSpPr>
          <p:cNvPr id="18" name="TextBox 17">
            <a:extLst>
              <a:ext uri="{FF2B5EF4-FFF2-40B4-BE49-F238E27FC236}">
                <a16:creationId xmlns:a16="http://schemas.microsoft.com/office/drawing/2014/main" id="{5E97B13F-EFA6-C847-9A8B-CA0E7AB53FA2}"/>
              </a:ext>
            </a:extLst>
          </p:cNvPr>
          <p:cNvSpPr txBox="1"/>
          <p:nvPr/>
        </p:nvSpPr>
        <p:spPr>
          <a:xfrm>
            <a:off x="7121232" y="5609317"/>
            <a:ext cx="3893132" cy="738664"/>
          </a:xfrm>
          <a:prstGeom prst="rect">
            <a:avLst/>
          </a:prstGeom>
          <a:noFill/>
        </p:spPr>
        <p:txBody>
          <a:bodyPr wrap="square" rtlCol="0">
            <a:spAutoFit/>
          </a:bodyPr>
          <a:lstStyle/>
          <a:p>
            <a:r>
              <a:rPr lang="en-US" dirty="0"/>
              <a:t>Test for homogeneity of variance:</a:t>
            </a:r>
          </a:p>
          <a:p>
            <a:r>
              <a:rPr lang="en-US" dirty="0" err="1"/>
              <a:t>Levene's</a:t>
            </a:r>
            <a:r>
              <a:rPr lang="en-US" dirty="0"/>
              <a:t> test or Brown–Forsythe test</a:t>
            </a:r>
          </a:p>
          <a:p>
            <a:r>
              <a:rPr lang="en-US" dirty="0">
                <a:hlinkClick r:id="rId12"/>
              </a:rPr>
              <a:t>https://</a:t>
            </a:r>
            <a:r>
              <a:rPr lang="en-US" dirty="0" err="1">
                <a:hlinkClick r:id="rId12"/>
              </a:rPr>
              <a:t>en.wikipedia.org</a:t>
            </a:r>
            <a:r>
              <a:rPr lang="en-US" dirty="0">
                <a:hlinkClick r:id="rId12"/>
              </a:rPr>
              <a:t>/wiki/Levene%27s_test</a:t>
            </a:r>
            <a:endParaRPr lang="en-US" dirty="0"/>
          </a:p>
        </p:txBody>
      </p:sp>
    </p:spTree>
    <p:extLst>
      <p:ext uri="{BB962C8B-B14F-4D97-AF65-F5344CB8AC3E}">
        <p14:creationId xmlns:p14="http://schemas.microsoft.com/office/powerpoint/2010/main" val="1478084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5532FDD-D102-2549-9743-0A74F0A87BE5}"/>
              </a:ext>
            </a:extLst>
          </p:cNvPr>
          <p:cNvSpPr>
            <a:spLocks noGrp="1"/>
          </p:cNvSpPr>
          <p:nvPr>
            <p:ph type="title"/>
          </p:nvPr>
        </p:nvSpPr>
        <p:spPr>
          <a:xfrm>
            <a:off x="180108" y="131765"/>
            <a:ext cx="8825347" cy="612410"/>
          </a:xfrm>
          <a:noFill/>
        </p:spPr>
        <p:txBody>
          <a:bodyPr lIns="0" tIns="0" rIns="0" bIns="0" anchor="t" anchorCtr="0"/>
          <a:lstStyle/>
          <a:p>
            <a:r>
              <a:rPr lang="en-US" sz="4000" b="1" dirty="0">
                <a:solidFill>
                  <a:schemeClr val="tx1"/>
                </a:solidFill>
              </a:rPr>
              <a:t>The t Test for Repeated-Measures</a:t>
            </a:r>
          </a:p>
        </p:txBody>
      </p:sp>
      <p:sp>
        <p:nvSpPr>
          <p:cNvPr id="6" name="TextBox 5">
            <a:extLst>
              <a:ext uri="{FF2B5EF4-FFF2-40B4-BE49-F238E27FC236}">
                <a16:creationId xmlns:a16="http://schemas.microsoft.com/office/drawing/2014/main" id="{5E4C2F89-D386-7D4F-9A7B-AE261A19D445}"/>
              </a:ext>
            </a:extLst>
          </p:cNvPr>
          <p:cNvSpPr txBox="1"/>
          <p:nvPr/>
        </p:nvSpPr>
        <p:spPr>
          <a:xfrm>
            <a:off x="180108" y="767722"/>
            <a:ext cx="5666510" cy="2031325"/>
          </a:xfrm>
          <a:prstGeom prst="rect">
            <a:avLst/>
          </a:prstGeom>
          <a:noFill/>
        </p:spPr>
        <p:txBody>
          <a:bodyPr wrap="square" rtlCol="0">
            <a:spAutoFit/>
          </a:bodyPr>
          <a:lstStyle/>
          <a:p>
            <a:r>
              <a:rPr lang="en-US" dirty="0"/>
              <a:t>Repeated-measures design</a:t>
            </a:r>
          </a:p>
          <a:p>
            <a:r>
              <a:rPr lang="en-US" dirty="0"/>
              <a:t>(a.k.a. within-subjects design)</a:t>
            </a:r>
          </a:p>
          <a:p>
            <a:endParaRPr lang="en-US" dirty="0"/>
          </a:p>
          <a:p>
            <a:r>
              <a:rPr lang="en-US" dirty="0"/>
              <a:t>Two separate scores are obtained </a:t>
            </a:r>
            <a:r>
              <a:rPr lang="en-US" b="1" dirty="0">
                <a:solidFill>
                  <a:srgbClr val="0070C0"/>
                </a:solidFill>
              </a:rPr>
              <a:t>for each individual in the sample</a:t>
            </a:r>
          </a:p>
          <a:p>
            <a:endParaRPr lang="en-US" dirty="0"/>
          </a:p>
          <a:p>
            <a:r>
              <a:rPr lang="en-US" dirty="0"/>
              <a:t>Same subjects are used in both groups.</a:t>
            </a:r>
          </a:p>
          <a:p>
            <a:r>
              <a:rPr lang="en-US" dirty="0"/>
              <a:t>Observations within each treatment condition must be independent.</a:t>
            </a:r>
          </a:p>
          <a:p>
            <a:r>
              <a:rPr lang="en-US" dirty="0"/>
              <a:t>Population distribution of difference scores (D values) must be normally distributed.</a:t>
            </a:r>
          </a:p>
        </p:txBody>
      </p:sp>
      <p:pic>
        <p:nvPicPr>
          <p:cNvPr id="17" name="Picture 2" descr="FIGURE 11.1  A sample of n = 4 people is selected from the population. Each individual is measured twice, once in treatment I and once in treatment II, and a difference score, D, is computed for each individual. This sample of difference scores is intended to represent the population. Note that we are using a sample of difference scores to represent a population of difference scores. Note that the mean for the population of difference scores is unknown. The null hypothesis states that there is no consistent or systematic difference between the two treatment conditions, so the population mean difference is μD = 0.&#10;" title="Figure 11.1: Difference Scores for 4 People Measured Twice   ">
            <a:extLst>
              <a:ext uri="{FF2B5EF4-FFF2-40B4-BE49-F238E27FC236}">
                <a16:creationId xmlns:a16="http://schemas.microsoft.com/office/drawing/2014/main" id="{CF95CC67-AD27-CB4B-B595-4583A95E4ED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tretch>
            <a:fillRect/>
          </a:stretch>
        </p:blipFill>
        <p:spPr bwMode="auto">
          <a:xfrm>
            <a:off x="839372" y="3105613"/>
            <a:ext cx="3316992" cy="379749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007BE92-5AC2-B24D-969C-ADBF0A1CCF21}"/>
              </a:ext>
            </a:extLst>
          </p:cNvPr>
          <p:cNvSpPr txBox="1"/>
          <p:nvPr/>
        </p:nvSpPr>
        <p:spPr>
          <a:xfrm>
            <a:off x="8382000" y="131765"/>
            <a:ext cx="2770909" cy="738664"/>
          </a:xfrm>
          <a:prstGeom prst="rect">
            <a:avLst/>
          </a:prstGeom>
          <a:noFill/>
        </p:spPr>
        <p:txBody>
          <a:bodyPr wrap="square" rtlCol="0">
            <a:spAutoFit/>
          </a:bodyPr>
          <a:lstStyle/>
          <a:p>
            <a:r>
              <a:rPr lang="en-US" dirty="0"/>
              <a:t>Difference score = </a:t>
            </a:r>
            <a:r>
              <a:rPr lang="en-US" i="1" dirty="0"/>
              <a:t>D</a:t>
            </a:r>
            <a:r>
              <a:rPr lang="en-US" dirty="0"/>
              <a:t> = </a:t>
            </a:r>
            <a:r>
              <a:rPr lang="en-US" i="1" dirty="0"/>
              <a:t>X</a:t>
            </a:r>
            <a:r>
              <a:rPr lang="en-US" baseline="-25000" dirty="0"/>
              <a:t>2 </a:t>
            </a:r>
            <a:r>
              <a:rPr lang="en-US" dirty="0"/>
              <a:t>− </a:t>
            </a:r>
            <a:r>
              <a:rPr lang="en-US" i="1" dirty="0"/>
              <a:t>X</a:t>
            </a:r>
            <a:r>
              <a:rPr lang="en-US" baseline="-25000" dirty="0"/>
              <a:t>1 </a:t>
            </a:r>
          </a:p>
          <a:p>
            <a:endParaRPr lang="en-US" dirty="0"/>
          </a:p>
          <a:p>
            <a:r>
              <a:rPr lang="en-US" dirty="0"/>
              <a:t>Mean Difference:</a:t>
            </a:r>
          </a:p>
        </p:txBody>
      </p:sp>
      <p:graphicFrame>
        <p:nvGraphicFramePr>
          <p:cNvPr id="19" name="Object 3" descr="An equation reads, M subscript D equals sigma superscript D divided by n.">
            <a:extLst>
              <a:ext uri="{FF2B5EF4-FFF2-40B4-BE49-F238E27FC236}">
                <a16:creationId xmlns:a16="http://schemas.microsoft.com/office/drawing/2014/main" id="{DDE47DEB-E702-FA49-9F5B-F137A40C3F0B}"/>
              </a:ext>
            </a:extLst>
          </p:cNvPr>
          <p:cNvGraphicFramePr>
            <a:graphicFrameLocks noChangeAspect="1"/>
          </p:cNvGraphicFramePr>
          <p:nvPr>
            <p:extLst>
              <p:ext uri="{D42A27DB-BD31-4B8C-83A1-F6EECF244321}">
                <p14:modId xmlns:p14="http://schemas.microsoft.com/office/powerpoint/2010/main" val="1643180493"/>
              </p:ext>
            </p:extLst>
          </p:nvPr>
        </p:nvGraphicFramePr>
        <p:xfrm>
          <a:off x="10037618" y="591899"/>
          <a:ext cx="852054" cy="493294"/>
        </p:xfrm>
        <a:graphic>
          <a:graphicData uri="http://schemas.openxmlformats.org/presentationml/2006/ole">
            <mc:AlternateContent xmlns:mc="http://schemas.openxmlformats.org/markup-compatibility/2006">
              <mc:Choice xmlns:v="urn:schemas-microsoft-com:vml" Requires="v">
                <p:oleObj spid="_x0000_s16394" name="Equation" r:id="rId4" imgW="17373600" imgH="10058400" progId="Equation.3">
                  <p:embed/>
                </p:oleObj>
              </mc:Choice>
              <mc:Fallback>
                <p:oleObj name="Equation" r:id="rId4" imgW="17373600" imgH="10058400" progId="Equation.3">
                  <p:embed/>
                  <p:pic>
                    <p:nvPicPr>
                      <p:cNvPr id="6" name="Object 3" descr="An equation reads, M subscript D equals sigma superscript D divided by 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37618" y="591899"/>
                        <a:ext cx="852054" cy="493294"/>
                      </a:xfrm>
                      <a:prstGeom prst="rect">
                        <a:avLst/>
                      </a:prstGeom>
                      <a:noFill/>
                      <a:ln>
                        <a:noFill/>
                      </a:ln>
                      <a:extLst/>
                    </p:spPr>
                  </p:pic>
                </p:oleObj>
              </mc:Fallback>
            </mc:AlternateContent>
          </a:graphicData>
        </a:graphic>
      </p:graphicFrame>
      <p:sp>
        <p:nvSpPr>
          <p:cNvPr id="3" name="TextBox 2">
            <a:extLst>
              <a:ext uri="{FF2B5EF4-FFF2-40B4-BE49-F238E27FC236}">
                <a16:creationId xmlns:a16="http://schemas.microsoft.com/office/drawing/2014/main" id="{68E896FD-4CF0-E347-8E9B-731507E2A30B}"/>
              </a:ext>
            </a:extLst>
          </p:cNvPr>
          <p:cNvSpPr txBox="1"/>
          <p:nvPr/>
        </p:nvSpPr>
        <p:spPr>
          <a:xfrm>
            <a:off x="8382000" y="1311197"/>
            <a:ext cx="3380509" cy="307777"/>
          </a:xfrm>
          <a:prstGeom prst="rect">
            <a:avLst/>
          </a:prstGeom>
          <a:noFill/>
        </p:spPr>
        <p:txBody>
          <a:bodyPr wrap="square" rtlCol="0">
            <a:spAutoFit/>
          </a:bodyPr>
          <a:lstStyle/>
          <a:p>
            <a:r>
              <a:rPr lang="en-US" dirty="0"/>
              <a:t>Null Hypothesis H</a:t>
            </a:r>
            <a:r>
              <a:rPr lang="en-US" baseline="-25000" dirty="0"/>
              <a:t>0</a:t>
            </a:r>
            <a:r>
              <a:rPr lang="en-US" dirty="0"/>
              <a:t>:</a:t>
            </a:r>
            <a:r>
              <a:rPr lang="el-GR" dirty="0"/>
              <a:t>  μ</a:t>
            </a:r>
            <a:r>
              <a:rPr lang="en-US" baseline="-25000" dirty="0"/>
              <a:t>D</a:t>
            </a:r>
            <a:r>
              <a:rPr lang="en-US" dirty="0"/>
              <a:t> = 0</a:t>
            </a:r>
          </a:p>
        </p:txBody>
      </p:sp>
      <p:graphicFrame>
        <p:nvGraphicFramePr>
          <p:cNvPr id="20" name="Object 2" descr="An equation on the top reads, t equals M subscript D negative  mu subscript D divided by S subscript M subscript D.">
            <a:extLst>
              <a:ext uri="{FF2B5EF4-FFF2-40B4-BE49-F238E27FC236}">
                <a16:creationId xmlns:a16="http://schemas.microsoft.com/office/drawing/2014/main" id="{13C878AD-2916-494C-8EB7-8001E7407EE4}"/>
              </a:ext>
            </a:extLst>
          </p:cNvPr>
          <p:cNvGraphicFramePr>
            <a:graphicFrameLocks noChangeAspect="1"/>
          </p:cNvGraphicFramePr>
          <p:nvPr>
            <p:extLst>
              <p:ext uri="{D42A27DB-BD31-4B8C-83A1-F6EECF244321}">
                <p14:modId xmlns:p14="http://schemas.microsoft.com/office/powerpoint/2010/main" val="2160997818"/>
              </p:ext>
            </p:extLst>
          </p:nvPr>
        </p:nvGraphicFramePr>
        <p:xfrm>
          <a:off x="8520545" y="1636951"/>
          <a:ext cx="1517073" cy="845582"/>
        </p:xfrm>
        <a:graphic>
          <a:graphicData uri="http://schemas.openxmlformats.org/presentationml/2006/ole">
            <mc:AlternateContent xmlns:mc="http://schemas.openxmlformats.org/markup-compatibility/2006">
              <mc:Choice xmlns:v="urn:schemas-microsoft-com:vml" Requires="v">
                <p:oleObj spid="_x0000_s16395" name="Equation" r:id="rId6" imgW="18592800" imgH="10363200" progId="Equation.3">
                  <p:embed/>
                </p:oleObj>
              </mc:Choice>
              <mc:Fallback>
                <p:oleObj name="Equation" r:id="rId6" imgW="18592800" imgH="10363200" progId="Equation.3">
                  <p:embed/>
                  <p:pic>
                    <p:nvPicPr>
                      <p:cNvPr id="7" name="Object 2" descr="An equation on the top reads, t equals M subscript D negative  mu subscript D divided by S subscript M subscript 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20545" y="1636951"/>
                        <a:ext cx="1517073" cy="845582"/>
                      </a:xfrm>
                      <a:prstGeom prst="rect">
                        <a:avLst/>
                      </a:prstGeom>
                      <a:noFill/>
                      <a:ln>
                        <a:noFill/>
                      </a:ln>
                      <a:extLst/>
                    </p:spPr>
                  </p:pic>
                </p:oleObj>
              </mc:Fallback>
            </mc:AlternateContent>
          </a:graphicData>
        </a:graphic>
      </p:graphicFrame>
      <p:graphicFrame>
        <p:nvGraphicFramePr>
          <p:cNvPr id="21" name="Object 3" descr="An equation at the bottom reads, variance of D equals s square equals SS by d function. S subscript m subscript D equals square root of S square by n. ">
            <a:extLst>
              <a:ext uri="{FF2B5EF4-FFF2-40B4-BE49-F238E27FC236}">
                <a16:creationId xmlns:a16="http://schemas.microsoft.com/office/drawing/2014/main" id="{B097EAEE-DD2C-844F-A93D-B14D442E96AF}"/>
              </a:ext>
            </a:extLst>
          </p:cNvPr>
          <p:cNvGraphicFramePr>
            <a:graphicFrameLocks noChangeAspect="1"/>
          </p:cNvGraphicFramePr>
          <p:nvPr>
            <p:extLst>
              <p:ext uri="{D42A27DB-BD31-4B8C-83A1-F6EECF244321}">
                <p14:modId xmlns:p14="http://schemas.microsoft.com/office/powerpoint/2010/main" val="3909159249"/>
              </p:ext>
            </p:extLst>
          </p:nvPr>
        </p:nvGraphicFramePr>
        <p:xfrm>
          <a:off x="8520545" y="2482534"/>
          <a:ext cx="2244436" cy="1357978"/>
        </p:xfrm>
        <a:graphic>
          <a:graphicData uri="http://schemas.openxmlformats.org/presentationml/2006/ole">
            <mc:AlternateContent xmlns:mc="http://schemas.openxmlformats.org/markup-compatibility/2006">
              <mc:Choice xmlns:v="urn:schemas-microsoft-com:vml" Requires="v">
                <p:oleObj spid="_x0000_s16396" name="Equation" r:id="rId8" imgW="36271200" imgH="21945600" progId="Equation.3">
                  <p:embed/>
                </p:oleObj>
              </mc:Choice>
              <mc:Fallback>
                <p:oleObj name="Equation" r:id="rId8" imgW="36271200" imgH="21945600" progId="Equation.3">
                  <p:embed/>
                  <p:pic>
                    <p:nvPicPr>
                      <p:cNvPr id="8" name="Object 3" descr="An equation at the bottom reads, variance of D equals s square equals SS by d function. S subscript m subscript D equals square root of S square by n. "/>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20545" y="2482534"/>
                        <a:ext cx="2244436" cy="1357978"/>
                      </a:xfrm>
                      <a:prstGeom prst="rect">
                        <a:avLst/>
                      </a:prstGeom>
                      <a:noFill/>
                      <a:ln>
                        <a:noFill/>
                      </a:ln>
                      <a:extLst/>
                    </p:spPr>
                  </p:pic>
                </p:oleObj>
              </mc:Fallback>
            </mc:AlternateContent>
          </a:graphicData>
        </a:graphic>
      </p:graphicFrame>
      <p:graphicFrame>
        <p:nvGraphicFramePr>
          <p:cNvPr id="22" name="Object 2" descr="An equation on the top reads, estimated Cohen’s d equals M subscript D by s.">
            <a:extLst>
              <a:ext uri="{FF2B5EF4-FFF2-40B4-BE49-F238E27FC236}">
                <a16:creationId xmlns:a16="http://schemas.microsoft.com/office/drawing/2014/main" id="{5B85B1CC-3848-E147-803B-D51537DC3BA9}"/>
              </a:ext>
            </a:extLst>
          </p:cNvPr>
          <p:cNvGraphicFramePr>
            <a:graphicFrameLocks noChangeAspect="1"/>
          </p:cNvGraphicFramePr>
          <p:nvPr>
            <p:extLst>
              <p:ext uri="{D42A27DB-BD31-4B8C-83A1-F6EECF244321}">
                <p14:modId xmlns:p14="http://schemas.microsoft.com/office/powerpoint/2010/main" val="3102933350"/>
              </p:ext>
            </p:extLst>
          </p:nvPr>
        </p:nvGraphicFramePr>
        <p:xfrm>
          <a:off x="8382000" y="3840512"/>
          <a:ext cx="2712445" cy="624292"/>
        </p:xfrm>
        <a:graphic>
          <a:graphicData uri="http://schemas.openxmlformats.org/presentationml/2006/ole">
            <mc:AlternateContent xmlns:mc="http://schemas.openxmlformats.org/markup-compatibility/2006">
              <mc:Choice xmlns:v="urn:schemas-microsoft-com:vml" Requires="v">
                <p:oleObj spid="_x0000_s16397" name="Equation" r:id="rId10" imgW="38404800" imgH="8839200" progId="Equation.3">
                  <p:embed/>
                </p:oleObj>
              </mc:Choice>
              <mc:Fallback>
                <p:oleObj name="Equation" r:id="rId10" imgW="38404800" imgH="8839200" progId="Equation.3">
                  <p:embed/>
                  <p:pic>
                    <p:nvPicPr>
                      <p:cNvPr id="8" name="Object 2" descr="An equation on the top reads, estimated Cohen’s d equals M subscript D by s."/>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0" y="3840512"/>
                        <a:ext cx="2712445" cy="624292"/>
                      </a:xfrm>
                      <a:prstGeom prst="rect">
                        <a:avLst/>
                      </a:prstGeom>
                      <a:noFill/>
                      <a:ln>
                        <a:noFill/>
                      </a:ln>
                      <a:extLst/>
                    </p:spPr>
                  </p:pic>
                </p:oleObj>
              </mc:Fallback>
            </mc:AlternateContent>
          </a:graphicData>
        </a:graphic>
      </p:graphicFrame>
      <p:graphicFrame>
        <p:nvGraphicFramePr>
          <p:cNvPr id="23" name="Object 3" descr="An equation at the middle reads, r square equals t square by t square plus d function.">
            <a:extLst>
              <a:ext uri="{FF2B5EF4-FFF2-40B4-BE49-F238E27FC236}">
                <a16:creationId xmlns:a16="http://schemas.microsoft.com/office/drawing/2014/main" id="{57B44043-C306-5F42-BEFD-B59B0B1A7E3B}"/>
              </a:ext>
            </a:extLst>
          </p:cNvPr>
          <p:cNvGraphicFramePr>
            <a:graphicFrameLocks noChangeAspect="1"/>
          </p:cNvGraphicFramePr>
          <p:nvPr>
            <p:extLst>
              <p:ext uri="{D42A27DB-BD31-4B8C-83A1-F6EECF244321}">
                <p14:modId xmlns:p14="http://schemas.microsoft.com/office/powerpoint/2010/main" val="1145323178"/>
              </p:ext>
            </p:extLst>
          </p:nvPr>
        </p:nvGraphicFramePr>
        <p:xfrm>
          <a:off x="8381999" y="4514455"/>
          <a:ext cx="1205345" cy="686119"/>
        </p:xfrm>
        <a:graphic>
          <a:graphicData uri="http://schemas.openxmlformats.org/presentationml/2006/ole">
            <mc:AlternateContent xmlns:mc="http://schemas.openxmlformats.org/markup-compatibility/2006">
              <mc:Choice xmlns:v="urn:schemas-microsoft-com:vml" Requires="v">
                <p:oleObj spid="_x0000_s16398" name="Equation" r:id="rId12" imgW="19812000" imgH="11277600" progId="Equation.3">
                  <p:embed/>
                </p:oleObj>
              </mc:Choice>
              <mc:Fallback>
                <p:oleObj name="Equation" r:id="rId12" imgW="19812000" imgH="11277600" progId="Equation.3">
                  <p:embed/>
                  <p:pic>
                    <p:nvPicPr>
                      <p:cNvPr id="9" name="Object 3" descr="An equation at the middle reads, r square equals t square by t square plus d function."/>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81999" y="4514455"/>
                        <a:ext cx="1205345" cy="686119"/>
                      </a:xfrm>
                      <a:prstGeom prst="rect">
                        <a:avLst/>
                      </a:prstGeom>
                      <a:noFill/>
                      <a:ln>
                        <a:noFill/>
                      </a:ln>
                      <a:extLst/>
                    </p:spPr>
                  </p:pic>
                </p:oleObj>
              </mc:Fallback>
            </mc:AlternateContent>
          </a:graphicData>
        </a:graphic>
      </p:graphicFrame>
      <p:graphicFrame>
        <p:nvGraphicFramePr>
          <p:cNvPr id="24" name="Object 4" descr="An equation at the bottom reads, C.I. parentheses 1 negative alpha parentheses colon mu subscript D equals M subscript D plus or minus t subscript alpha S subscript M subscript D. ">
            <a:extLst>
              <a:ext uri="{FF2B5EF4-FFF2-40B4-BE49-F238E27FC236}">
                <a16:creationId xmlns:a16="http://schemas.microsoft.com/office/drawing/2014/main" id="{C8B41022-4037-AE43-A200-C3661490B53B}"/>
              </a:ext>
            </a:extLst>
          </p:cNvPr>
          <p:cNvGraphicFramePr>
            <a:graphicFrameLocks noChangeAspect="1"/>
          </p:cNvGraphicFramePr>
          <p:nvPr>
            <p:extLst>
              <p:ext uri="{D42A27DB-BD31-4B8C-83A1-F6EECF244321}">
                <p14:modId xmlns:p14="http://schemas.microsoft.com/office/powerpoint/2010/main" val="249197052"/>
              </p:ext>
            </p:extLst>
          </p:nvPr>
        </p:nvGraphicFramePr>
        <p:xfrm>
          <a:off x="8381999" y="6130972"/>
          <a:ext cx="3191297" cy="430030"/>
        </p:xfrm>
        <a:graphic>
          <a:graphicData uri="http://schemas.openxmlformats.org/presentationml/2006/ole">
            <mc:AlternateContent xmlns:mc="http://schemas.openxmlformats.org/markup-compatibility/2006">
              <mc:Choice xmlns:v="urn:schemas-microsoft-com:vml" Requires="v">
                <p:oleObj spid="_x0000_s16399" name="Equation" r:id="rId14" imgW="42976800" imgH="5791200" progId="Equation.3">
                  <p:embed/>
                </p:oleObj>
              </mc:Choice>
              <mc:Fallback>
                <p:oleObj name="Equation" r:id="rId14" imgW="42976800" imgH="5791200" progId="Equation.3">
                  <p:embed/>
                  <p:pic>
                    <p:nvPicPr>
                      <p:cNvPr id="10" name="Object 4" descr="An equation at the bottom reads, C.I. parentheses 1 negative alpha parentheses colon mu subscript D equals M subscript D plus or minus t subscript alpha S subscript M subscript D. "/>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81999" y="6130972"/>
                        <a:ext cx="3191297" cy="430030"/>
                      </a:xfrm>
                      <a:prstGeom prst="rect">
                        <a:avLst/>
                      </a:prstGeom>
                      <a:noFill/>
                      <a:ln>
                        <a:noFill/>
                      </a:ln>
                      <a:extLst/>
                    </p:spPr>
                  </p:pic>
                </p:oleObj>
              </mc:Fallback>
            </mc:AlternateContent>
          </a:graphicData>
        </a:graphic>
      </p:graphicFrame>
      <p:sp>
        <p:nvSpPr>
          <p:cNvPr id="25" name="TextBox 24">
            <a:extLst>
              <a:ext uri="{FF2B5EF4-FFF2-40B4-BE49-F238E27FC236}">
                <a16:creationId xmlns:a16="http://schemas.microsoft.com/office/drawing/2014/main" id="{3CC860BF-426F-4F4F-A36E-E7BD06A7F23D}"/>
              </a:ext>
            </a:extLst>
          </p:cNvPr>
          <p:cNvSpPr txBox="1"/>
          <p:nvPr/>
        </p:nvSpPr>
        <p:spPr>
          <a:xfrm>
            <a:off x="8323536" y="5668893"/>
            <a:ext cx="2770909" cy="307777"/>
          </a:xfrm>
          <a:prstGeom prst="rect">
            <a:avLst/>
          </a:prstGeom>
          <a:noFill/>
        </p:spPr>
        <p:txBody>
          <a:bodyPr wrap="square" rtlCol="0">
            <a:spAutoFit/>
          </a:bodyPr>
          <a:lstStyle/>
          <a:p>
            <a:r>
              <a:rPr lang="en-US" dirty="0"/>
              <a:t>Confidence Interval (C.I.):</a:t>
            </a:r>
          </a:p>
        </p:txBody>
      </p:sp>
    </p:spTree>
    <p:extLst>
      <p:ext uri="{BB962C8B-B14F-4D97-AF65-F5344CB8AC3E}">
        <p14:creationId xmlns:p14="http://schemas.microsoft.com/office/powerpoint/2010/main" val="362033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DED1DD-997E-D141-B98D-2F37BD78121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847109" y="-13253"/>
            <a:ext cx="6302229" cy="6858000"/>
          </a:xfrm>
          <a:prstGeom prst="rect">
            <a:avLst/>
          </a:prstGeom>
        </p:spPr>
      </p:pic>
      <p:sp>
        <p:nvSpPr>
          <p:cNvPr id="7" name="TextBox 6">
            <a:extLst>
              <a:ext uri="{FF2B5EF4-FFF2-40B4-BE49-F238E27FC236}">
                <a16:creationId xmlns:a16="http://schemas.microsoft.com/office/drawing/2014/main" id="{3217C073-20DB-B944-91DD-2321DCB46CFA}"/>
              </a:ext>
            </a:extLst>
          </p:cNvPr>
          <p:cNvSpPr txBox="1"/>
          <p:nvPr/>
        </p:nvSpPr>
        <p:spPr>
          <a:xfrm>
            <a:off x="5737429" y="212257"/>
            <a:ext cx="53002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t</a:t>
            </a:r>
            <a:endParaRPr lang="en-US" sz="4000" dirty="0"/>
          </a:p>
        </p:txBody>
      </p:sp>
      <p:sp>
        <p:nvSpPr>
          <p:cNvPr id="9" name="Oval 8">
            <a:extLst>
              <a:ext uri="{FF2B5EF4-FFF2-40B4-BE49-F238E27FC236}">
                <a16:creationId xmlns:a16="http://schemas.microsoft.com/office/drawing/2014/main" id="{A2E886D3-CA1A-0C49-92BC-93FD63588609}"/>
              </a:ext>
            </a:extLst>
          </p:cNvPr>
          <p:cNvSpPr/>
          <p:nvPr/>
        </p:nvSpPr>
        <p:spPr>
          <a:xfrm>
            <a:off x="5337362" y="98604"/>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495007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2783</TotalTime>
  <Words>1155</Words>
  <Application>Microsoft Macintosh PowerPoint</Application>
  <PresentationFormat>Widescreen</PresentationFormat>
  <Paragraphs>138</Paragraphs>
  <Slides>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3" baseType="lpstr">
      <vt:lpstr>Andale Mono</vt:lpstr>
      <vt:lpstr>Arial</vt:lpstr>
      <vt:lpstr>Calibri</vt:lpstr>
      <vt:lpstr>Times New Roman</vt:lpstr>
      <vt:lpstr>Office Theme</vt:lpstr>
      <vt:lpstr>Equation</vt:lpstr>
      <vt:lpstr>PowerPoint Presentation</vt:lpstr>
      <vt:lpstr>PowerPoint Presentation</vt:lpstr>
      <vt:lpstr>Hypothesis Tests with the t Statistic</vt:lpstr>
      <vt:lpstr>t-test – continued</vt:lpstr>
      <vt:lpstr>The t Test for Two Independent Samples</vt:lpstr>
      <vt:lpstr>The t Test for Repeated-Measures</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275</cp:revision>
  <cp:lastPrinted>2020-09-21T17:22:59Z</cp:lastPrinted>
  <dcterms:modified xsi:type="dcterms:W3CDTF">2020-10-13T23:43:09Z</dcterms:modified>
</cp:coreProperties>
</file>