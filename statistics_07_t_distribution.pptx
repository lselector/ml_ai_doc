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275" r:id="rId2"/>
    <p:sldId id="280" r:id="rId3"/>
    <p:sldId id="281" r:id="rId4"/>
    <p:sldId id="282" r:id="rId5"/>
    <p:sldId id="283" r:id="rId6"/>
    <p:sldId id="289" r:id="rId7"/>
    <p:sldId id="284" r:id="rId8"/>
    <p:sldId id="288"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12"/>
    <p:restoredTop sz="92169"/>
  </p:normalViewPr>
  <p:slideViewPr>
    <p:cSldViewPr snapToGrid="0" snapToObjects="1">
      <p:cViewPr varScale="1">
        <p:scale>
          <a:sx n="87" d="100"/>
          <a:sy n="87" d="100"/>
        </p:scale>
        <p:origin x="208" y="5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4" Type="http://schemas.openxmlformats.org/officeDocument/2006/relationships/image" Target="../media/image17.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 Id="rId6" Type="http://schemas.openxmlformats.org/officeDocument/2006/relationships/image" Target="../media/image25.wmf"/><Relationship Id="rId5" Type="http://schemas.openxmlformats.org/officeDocument/2006/relationships/image" Target="../media/image24.wmf"/><Relationship Id="rId4" Type="http://schemas.openxmlformats.org/officeDocument/2006/relationships/image" Target="../media/image2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statisticshowto.com/one-sample-t-test/" TargetMode="External"/><Relationship Id="rId1" Type="http://schemas.openxmlformats.org/officeDocument/2006/relationships/slideLayout" Target="../slideLayouts/slideLayout2.xml"/><Relationship Id="rId4" Type="http://schemas.openxmlformats.org/officeDocument/2006/relationships/image" Target="../media/image10.tiff"/></Relationships>
</file>

<file path=ppt/slides/_rels/slide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2.wmf"/><Relationship Id="rId5" Type="http://schemas.openxmlformats.org/officeDocument/2006/relationships/oleObject" Target="../embeddings/oleObject2.bin"/><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18.png"/><Relationship Id="rId7" Type="http://schemas.openxmlformats.org/officeDocument/2006/relationships/image" Target="../media/image15.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5.bin"/><Relationship Id="rId11" Type="http://schemas.openxmlformats.org/officeDocument/2006/relationships/image" Target="../media/image17.wmf"/><Relationship Id="rId5" Type="http://schemas.openxmlformats.org/officeDocument/2006/relationships/image" Target="../media/image14.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16.wmf"/></Relationships>
</file>

<file path=ppt/slides/_rels/slide6.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24.wmf"/><Relationship Id="rId3" Type="http://schemas.openxmlformats.org/officeDocument/2006/relationships/image" Target="../media/image26.png"/><Relationship Id="rId7" Type="http://schemas.openxmlformats.org/officeDocument/2006/relationships/image" Target="../media/image21.wmf"/><Relationship Id="rId12"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9.bin"/><Relationship Id="rId11" Type="http://schemas.openxmlformats.org/officeDocument/2006/relationships/image" Target="../media/image23.wmf"/><Relationship Id="rId5" Type="http://schemas.openxmlformats.org/officeDocument/2006/relationships/image" Target="../media/image20.wmf"/><Relationship Id="rId15" Type="http://schemas.openxmlformats.org/officeDocument/2006/relationships/image" Target="../media/image25.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22.wmf"/><Relationship Id="rId14" Type="http://schemas.openxmlformats.org/officeDocument/2006/relationships/oleObject" Target="../embeddings/oleObject13.bin"/></Relationships>
</file>

<file path=ppt/slides/_rels/slide8.xml.rels><?xml version="1.0" encoding="UTF-8" standalone="yes"?>
<Relationships xmlns="http://schemas.openxmlformats.org/package/2006/relationships"><Relationship Id="rId2" Type="http://schemas.openxmlformats.org/officeDocument/2006/relationships/image" Target="../media/image27.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1" y="5252489"/>
            <a:ext cx="2143280" cy="523220"/>
          </a:xfrm>
          <a:prstGeom prst="rect">
            <a:avLst/>
          </a:prstGeom>
          <a:noFill/>
        </p:spPr>
        <p:txBody>
          <a:bodyPr wrap="square" rtlCol="0">
            <a:spAutoFit/>
          </a:bodyPr>
          <a:lstStyle/>
          <a:p>
            <a:r>
              <a:rPr lang="en-US" dirty="0"/>
              <a:t>----- Random variable, </a:t>
            </a:r>
          </a:p>
          <a:p>
            <a:r>
              <a:rPr lang="en-US" dirty="0"/>
              <a:t>       Normal distribution</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312820" y="1053033"/>
            <a:ext cx="4946073" cy="4154984"/>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a:t>
            </a:r>
          </a:p>
          <a:p>
            <a:r>
              <a:rPr lang="en-US" sz="1200" dirty="0"/>
              <a:t>sample distribution is close to gaussian. So we use gaussian distribution and z-statistics.</a:t>
            </a:r>
          </a:p>
          <a:p>
            <a:endParaRPr lang="en-US" sz="1200" dirty="0"/>
          </a:p>
          <a:p>
            <a:r>
              <a:rPr lang="en-US" sz="1200" dirty="0"/>
              <a:t>Suppose that variable x follows normal gaussian </a:t>
            </a:r>
          </a:p>
          <a:p>
            <a:r>
              <a:rPr lang="en-US" sz="1200" dirty="0"/>
              <a:t>distribution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"z" which would follow </a:t>
            </a:r>
          </a:p>
          <a:p>
            <a:r>
              <a:rPr lang="en-US" sz="1200" dirty="0"/>
              <a:t>standard normalized distribution with zero mean </a:t>
            </a:r>
          </a:p>
          <a:p>
            <a:r>
              <a:rPr lang="en-US" sz="1200" dirty="0"/>
              <a:t>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μ)/σ</a:t>
            </a:r>
            <a:endParaRPr lang="en-US" sz="1200" dirty="0">
              <a:solidFill>
                <a:srgbClr val="FF0000"/>
              </a:solidFill>
            </a:endParaRPr>
          </a:p>
          <a:p>
            <a:endParaRPr lang="en-US" sz="1200" dirty="0"/>
          </a:p>
          <a:p>
            <a:r>
              <a:rPr lang="en-US" sz="1200" dirty="0"/>
              <a:t>Z-score is simply the z-value which shows how far is </a:t>
            </a:r>
          </a:p>
          <a:p>
            <a:r>
              <a:rPr lang="en-US" sz="1200" dirty="0"/>
              <a:t>the value from the mean expressed in number of "</a:t>
            </a:r>
            <a:r>
              <a:rPr lang="en-US" sz="1200" dirty="0" err="1"/>
              <a:t>sigmas</a:t>
            </a:r>
            <a:r>
              <a:rPr lang="en-US" sz="1200" dirty="0"/>
              <a:t>". </a:t>
            </a:r>
          </a:p>
          <a:p>
            <a:r>
              <a:rPr lang="en-US" sz="1200" dirty="0"/>
              <a:t>For example, if  z &gt; 2, that means that the original</a:t>
            </a:r>
          </a:p>
          <a:p>
            <a:r>
              <a:rPr lang="en-US" sz="1200" dirty="0"/>
              <a:t>value is more than two </a:t>
            </a:r>
            <a:r>
              <a:rPr lang="en-US" sz="1200" dirty="0" err="1"/>
              <a:t>sigmas</a:t>
            </a:r>
            <a:r>
              <a:rPr lang="en-US" sz="1200" dirty="0"/>
              <a:t> away from the mean value.</a:t>
            </a:r>
          </a:p>
          <a:p>
            <a:endParaRPr lang="en-US" sz="1200" dirty="0"/>
          </a:p>
          <a:p>
            <a:r>
              <a:rPr lang="en-US" sz="1200" dirty="0"/>
              <a:t>For normal distribution this means that the probability</a:t>
            </a:r>
          </a:p>
          <a:p>
            <a:r>
              <a:rPr lang="en-US" sz="1200" dirty="0"/>
              <a:t>of this event is less than 0.05.</a:t>
            </a:r>
          </a:p>
          <a:p>
            <a:r>
              <a:rPr lang="en-US" sz="1200" dirty="0"/>
              <a:t>(to be precise, the exact z-score for 0.05 is 1.96)</a:t>
            </a:r>
          </a:p>
        </p:txBody>
      </p:sp>
      <p:sp>
        <p:nvSpPr>
          <p:cNvPr id="6" name="TextBox 5">
            <a:extLst>
              <a:ext uri="{FF2B5EF4-FFF2-40B4-BE49-F238E27FC236}">
                <a16:creationId xmlns:a16="http://schemas.microsoft.com/office/drawing/2014/main" id="{BB5D2126-527C-2B44-AE58-48AFB051834A}"/>
              </a:ext>
            </a:extLst>
          </p:cNvPr>
          <p:cNvSpPr txBox="1"/>
          <p:nvPr/>
        </p:nvSpPr>
        <p:spPr>
          <a:xfrm>
            <a:off x="6685911" y="222037"/>
            <a:ext cx="4946073" cy="6217087"/>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 – </a:t>
            </a:r>
            <a:r>
              <a:rPr lang="el-GR" sz="1200" b="1" dirty="0">
                <a:solidFill>
                  <a:srgbClr val="FF0000"/>
                </a:solidFill>
              </a:rPr>
              <a:t>μ) / [ </a:t>
            </a:r>
            <a:r>
              <a:rPr lang="en-US" sz="1200" b="1" dirty="0">
                <a:solidFill>
                  <a:srgbClr val="FF0000"/>
                </a:solidFill>
              </a:rPr>
              <a:t>s/√(n) ]</a:t>
            </a:r>
          </a:p>
          <a:p>
            <a:endParaRPr lang="en-US" sz="1200" b="1" dirty="0"/>
          </a:p>
          <a:p>
            <a:r>
              <a:rPr lang="en-US" sz="1200" dirty="0"/>
              <a:t>Here </a:t>
            </a:r>
            <a:r>
              <a:rPr lang="el-GR" sz="1200" b="1" dirty="0">
                <a:solidFill>
                  <a:srgbClr val="FF0000"/>
                </a:solidFill>
              </a:rPr>
              <a:t>μ</a:t>
            </a:r>
            <a:r>
              <a:rPr lang="en-US" sz="1200" dirty="0"/>
              <a:t> is a sample mean, </a:t>
            </a:r>
            <a:r>
              <a:rPr lang="en-US" sz="1200" b="1" dirty="0">
                <a:solidFill>
                  <a:srgbClr val="FF0000"/>
                </a:solidFill>
              </a:rPr>
              <a:t>s</a:t>
            </a:r>
            <a:r>
              <a:rPr lang="en-US" sz="1200" dirty="0"/>
              <a:t> is a sample deviation.</a:t>
            </a:r>
          </a:p>
          <a:p>
            <a:endParaRPr lang="en-US" sz="1200" dirty="0"/>
          </a:p>
          <a:p>
            <a:r>
              <a:rPr lang="en-US" sz="1200" dirty="0"/>
              <a:t>Note that </a:t>
            </a:r>
            <a:r>
              <a:rPr lang="en-US" sz="1200" b="1" dirty="0">
                <a:solidFill>
                  <a:srgbClr val="FF0000"/>
                </a:solidFill>
              </a:rPr>
              <a:t>t ~ √(n)</a:t>
            </a:r>
          </a:p>
          <a:p>
            <a:endParaRPr lang="en-US" sz="1200" dirty="0"/>
          </a:p>
          <a:p>
            <a:r>
              <a:rPr lang="en-US" sz="1200" dirty="0"/>
              <a:t>t-distribution has "fat tails", so to get 95% confidence interval we need to use t-score larger than 2. How much larger depends on how many data points we have in the sample. </a:t>
            </a:r>
            <a:r>
              <a:rPr lang="en-US" sz="1200" b="1" dirty="0" err="1">
                <a:solidFill>
                  <a:srgbClr val="0070C0"/>
                </a:solidFill>
              </a:rPr>
              <a:t>df</a:t>
            </a:r>
            <a:r>
              <a:rPr lang="en-US" sz="1200" b="1" dirty="0">
                <a:solidFill>
                  <a:srgbClr val="0070C0"/>
                </a:solidFill>
              </a:rPr>
              <a:t>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a:t>
            </a:r>
          </a:p>
          <a:p>
            <a:r>
              <a:rPr lang="en-US" sz="1200" dirty="0">
                <a:latin typeface="Andale Mono" panose="020B0509000000000004" pitchFamily="49" charset="0"/>
              </a:rPr>
              <a:t>60   :  2.00</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809626"/>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0" y="698202"/>
            <a:ext cx="6727764"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from: </a:t>
            </a:r>
            <a:r>
              <a:rPr lang="en-US" sz="1400" dirty="0">
                <a:solidFill>
                  <a:srgbClr val="000000"/>
                </a:solidFill>
                <a:latin typeface="Arial"/>
                <a:cs typeface="Arial"/>
                <a:sym typeface="Arial"/>
                <a:hlinkClick r:id="rId2"/>
              </a:rPr>
              <a:t>https://www.statisticshowto.com/one-sample-t-test/</a:t>
            </a:r>
            <a:r>
              <a:rPr lang="en-US" sz="1400" dirty="0">
                <a:solidFill>
                  <a:srgbClr val="000000"/>
                </a:solidFill>
                <a:latin typeface="Arial"/>
                <a:cs typeface="Arial"/>
                <a:sym typeface="Arial"/>
              </a:rPr>
              <a:t>  </a:t>
            </a:r>
          </a:p>
        </p:txBody>
      </p:sp>
      <p:sp>
        <p:nvSpPr>
          <p:cNvPr id="2" name="TextBox 1">
            <a:extLst>
              <a:ext uri="{FF2B5EF4-FFF2-40B4-BE49-F238E27FC236}">
                <a16:creationId xmlns:a16="http://schemas.microsoft.com/office/drawing/2014/main" id="{236EFD1A-BE48-7A49-9783-0CC260CDD205}"/>
              </a:ext>
            </a:extLst>
          </p:cNvPr>
          <p:cNvSpPr txBox="1"/>
          <p:nvPr/>
        </p:nvSpPr>
        <p:spPr>
          <a:xfrm>
            <a:off x="6654856" y="2502654"/>
            <a:ext cx="3541287" cy="318977"/>
          </a:xfrm>
          <a:prstGeom prst="rect">
            <a:avLst/>
          </a:prstGeom>
          <a:noFill/>
        </p:spPr>
        <p:txBody>
          <a:bodyPr wrap="square" rtlCol="0">
            <a:spAutoFit/>
          </a:bodyPr>
          <a:lstStyle/>
          <a:p>
            <a:r>
              <a:rPr lang="en-US" dirty="0"/>
              <a:t>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6654856" y="2841296"/>
            <a:ext cx="5461772" cy="2503029"/>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6645498" y="5210542"/>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11" name="TextBox 10">
            <a:extLst>
              <a:ext uri="{FF2B5EF4-FFF2-40B4-BE49-F238E27FC236}">
                <a16:creationId xmlns:a16="http://schemas.microsoft.com/office/drawing/2014/main" id="{A3CEBD2E-DE8D-9248-A305-B38E9A451EA3}"/>
              </a:ext>
            </a:extLst>
          </p:cNvPr>
          <p:cNvSpPr txBox="1"/>
          <p:nvPr/>
        </p:nvSpPr>
        <p:spPr>
          <a:xfrm>
            <a:off x="70688" y="1005583"/>
            <a:ext cx="6452336" cy="3108543"/>
          </a:xfrm>
          <a:prstGeom prst="rect">
            <a:avLst/>
          </a:prstGeom>
          <a:noFill/>
        </p:spPr>
        <p:txBody>
          <a:bodyPr wrap="square" rtlCol="0">
            <a:spAutoFit/>
          </a:bodyPr>
          <a:lstStyle/>
          <a:p>
            <a:r>
              <a:rPr lang="en-US" dirty="0"/>
              <a:t>Your company wants to improve sales. Past sales data indicate that the average sale was $100 per transaction. After training your sales force, recent sales data (taken from a sample of 25 salesmen) indicates an average sale of $130, with a standard deviation of $15. </a:t>
            </a:r>
            <a:br>
              <a:rPr lang="en-US" dirty="0"/>
            </a:br>
            <a:r>
              <a:rPr lang="en-US" dirty="0"/>
              <a:t>Did the training work? Test your hypothesis at a 5% alpha level.</a:t>
            </a:r>
          </a:p>
          <a:p>
            <a:endParaRPr lang="en-US" dirty="0"/>
          </a:p>
          <a:p>
            <a:r>
              <a:rPr lang="en-US" dirty="0"/>
              <a:t>Step 1: Write your null hypothesis.  H0: </a:t>
            </a:r>
            <a:r>
              <a:rPr lang="el-GR" dirty="0"/>
              <a:t>μ = $100</a:t>
            </a:r>
            <a:r>
              <a:rPr lang="en-US" dirty="0"/>
              <a:t> , has not changed.</a:t>
            </a:r>
            <a:endParaRPr lang="el-GR" dirty="0"/>
          </a:p>
          <a:p>
            <a:r>
              <a:rPr lang="en-US" dirty="0"/>
              <a:t>Step 2: Write your alternate hypothesis. H1: </a:t>
            </a:r>
            <a:r>
              <a:rPr lang="el-GR" dirty="0"/>
              <a:t>μ &gt; $100</a:t>
            </a:r>
            <a:r>
              <a:rPr lang="en-US" dirty="0"/>
              <a:t> , increased.</a:t>
            </a:r>
            <a:endParaRPr lang="el-GR" dirty="0"/>
          </a:p>
          <a:p>
            <a:r>
              <a:rPr lang="en-US" dirty="0"/>
              <a:t>Step 3: Calculate some items:</a:t>
            </a:r>
          </a:p>
          <a:p>
            <a:r>
              <a:rPr lang="en-US" dirty="0"/>
              <a:t>     The sample mean(x̄). This is given in the question as $130.</a:t>
            </a:r>
          </a:p>
          <a:p>
            <a:r>
              <a:rPr lang="en-US" dirty="0"/>
              <a:t>     The population mean(</a:t>
            </a:r>
            <a:r>
              <a:rPr lang="el-GR" dirty="0"/>
              <a:t>μ). </a:t>
            </a:r>
            <a:r>
              <a:rPr lang="en-US" dirty="0"/>
              <a:t>Given as $100 (from past data).</a:t>
            </a:r>
          </a:p>
          <a:p>
            <a:r>
              <a:rPr lang="en-US" dirty="0"/>
              <a:t>     The sample standard deviation(s) = $15.</a:t>
            </a:r>
          </a:p>
          <a:p>
            <a:r>
              <a:rPr lang="en-US" dirty="0"/>
              <a:t>     Number of observations(n) = 25.</a:t>
            </a:r>
          </a:p>
          <a:p>
            <a:r>
              <a:rPr lang="en-US" dirty="0"/>
              <a:t>Step 4: Insert the items from above into the t score formula.</a:t>
            </a:r>
          </a:p>
        </p:txBody>
      </p:sp>
      <p:pic>
        <p:nvPicPr>
          <p:cNvPr id="12" name="Picture 11">
            <a:extLst>
              <a:ext uri="{FF2B5EF4-FFF2-40B4-BE49-F238E27FC236}">
                <a16:creationId xmlns:a16="http://schemas.microsoft.com/office/drawing/2014/main" id="{9B2564E7-5A3F-D04E-A99B-FD18F0F9D7A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12088" y="4092811"/>
            <a:ext cx="1149092" cy="808373"/>
          </a:xfrm>
          <a:prstGeom prst="rect">
            <a:avLst/>
          </a:prstGeom>
        </p:spPr>
      </p:pic>
      <p:sp>
        <p:nvSpPr>
          <p:cNvPr id="13" name="TextBox 12">
            <a:extLst>
              <a:ext uri="{FF2B5EF4-FFF2-40B4-BE49-F238E27FC236}">
                <a16:creationId xmlns:a16="http://schemas.microsoft.com/office/drawing/2014/main" id="{1522FEED-884D-CA41-9ED2-F831DAFAB007}"/>
              </a:ext>
            </a:extLst>
          </p:cNvPr>
          <p:cNvSpPr txBox="1"/>
          <p:nvPr/>
        </p:nvSpPr>
        <p:spPr>
          <a:xfrm>
            <a:off x="75372" y="4901184"/>
            <a:ext cx="5749635" cy="1815882"/>
          </a:xfrm>
          <a:prstGeom prst="rect">
            <a:avLst/>
          </a:prstGeom>
          <a:noFill/>
        </p:spPr>
        <p:txBody>
          <a:bodyPr wrap="square" rtlCol="0">
            <a:spAutoFit/>
          </a:bodyPr>
          <a:lstStyle/>
          <a:p>
            <a:r>
              <a:rPr lang="en-US" dirty="0"/>
              <a:t>t = (130 – 100) / ((15 / √(25)) = 30/3 = 10</a:t>
            </a:r>
          </a:p>
          <a:p>
            <a:endParaRPr lang="en-US" dirty="0"/>
          </a:p>
          <a:p>
            <a:r>
              <a:rPr lang="en-US" dirty="0"/>
              <a:t>Step 5: Find the t-table value for alpha = 5% </a:t>
            </a:r>
          </a:p>
          <a:p>
            <a:r>
              <a:rPr lang="en-US" dirty="0"/>
              <a:t>and degrees of freedom = Number of observations – 1 = 24. </a:t>
            </a:r>
          </a:p>
          <a:p>
            <a:r>
              <a:rPr lang="en-US" dirty="0"/>
              <a:t>The intersection is 1.711 . This is your one-tailed critical t-value. </a:t>
            </a:r>
          </a:p>
          <a:p>
            <a:r>
              <a:rPr lang="en-US" dirty="0"/>
              <a:t>As 10 &gt; 1.711, we reject the null hypothesis. it’s highly likely that the mean sale has become greater. The sales training was probably a success.</a:t>
            </a:r>
          </a:p>
        </p:txBody>
      </p:sp>
      <p:cxnSp>
        <p:nvCxnSpPr>
          <p:cNvPr id="15" name="Straight Connector 14">
            <a:extLst>
              <a:ext uri="{FF2B5EF4-FFF2-40B4-BE49-F238E27FC236}">
                <a16:creationId xmlns:a16="http://schemas.microsoft.com/office/drawing/2014/main" id="{9ACEF70A-E15C-754B-9FAE-A5AECDA6E552}"/>
              </a:ext>
            </a:extLst>
          </p:cNvPr>
          <p:cNvCxnSpPr/>
          <p:nvPr/>
        </p:nvCxnSpPr>
        <p:spPr>
          <a:xfrm>
            <a:off x="6494202" y="1950720"/>
            <a:ext cx="0" cy="4766346"/>
          </a:xfrm>
          <a:prstGeom prst="line">
            <a:avLst/>
          </a:prstGeom>
          <a:ln w="635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605"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r2 = 0.01   small effect</a:t>
            </a:r>
          </a:p>
          <a:p>
            <a:r>
              <a:rPr lang="en-US" dirty="0"/>
              <a:t>r2 = 0.09   medium effect</a:t>
            </a:r>
          </a:p>
          <a:p>
            <a:r>
              <a:rPr lang="en-US" dirty="0"/>
              <a:t>r2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3685309" cy="615553"/>
          </a:xfrm>
          <a:prstGeom prst="rect">
            <a:avLst/>
          </a:prstGeom>
          <a:noFill/>
        </p:spPr>
        <p:txBody>
          <a:bodyPr wrap="square" rtlCol="0">
            <a:spAutoFit/>
          </a:bodyPr>
          <a:lstStyle/>
          <a:p>
            <a:r>
              <a:rPr lang="en-US" sz="2000" b="1" dirty="0"/>
              <a:t>Estimating m from sample</a:t>
            </a:r>
          </a:p>
          <a:p>
            <a:r>
              <a:rPr lang="en-US" dirty="0"/>
              <a:t>(use sample mean and sample deviation)</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606"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607"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811"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812"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813"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814"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7F806F-C963-C443-8137-5603A474DE43}"/>
              </a:ext>
            </a:extLst>
          </p:cNvPr>
          <p:cNvSpPr txBox="1"/>
          <p:nvPr/>
        </p:nvSpPr>
        <p:spPr>
          <a:xfrm>
            <a:off x="329184" y="512064"/>
            <a:ext cx="5291328" cy="738664"/>
          </a:xfrm>
          <a:prstGeom prst="rect">
            <a:avLst/>
          </a:prstGeom>
          <a:noFill/>
        </p:spPr>
        <p:txBody>
          <a:bodyPr wrap="square" rtlCol="0">
            <a:spAutoFit/>
          </a:bodyPr>
          <a:lstStyle/>
          <a:p>
            <a:r>
              <a:rPr lang="en-US" dirty="0"/>
              <a:t>When the two independent samples are assumed to be drawn </a:t>
            </a:r>
          </a:p>
          <a:p>
            <a:r>
              <a:rPr lang="en-US" dirty="0"/>
              <a:t>from populations with unequal variances</a:t>
            </a:r>
            <a:r>
              <a:rPr lang="el-GR" dirty="0"/>
              <a:t>, </a:t>
            </a:r>
            <a:endParaRPr lang="en-US" dirty="0"/>
          </a:p>
          <a:p>
            <a:r>
              <a:rPr lang="en-US" dirty="0"/>
              <a:t>the test statistic t is computed as:</a:t>
            </a:r>
          </a:p>
        </p:txBody>
      </p:sp>
      <p:sp>
        <p:nvSpPr>
          <p:cNvPr id="8" name="TextBox 7">
            <a:extLst>
              <a:ext uri="{FF2B5EF4-FFF2-40B4-BE49-F238E27FC236}">
                <a16:creationId xmlns:a16="http://schemas.microsoft.com/office/drawing/2014/main" id="{22DAE4BB-2800-A14E-A6C3-02DE368C36A6}"/>
              </a:ext>
            </a:extLst>
          </p:cNvPr>
          <p:cNvSpPr txBox="1"/>
          <p:nvPr/>
        </p:nvSpPr>
        <p:spPr>
          <a:xfrm>
            <a:off x="329184" y="3928634"/>
            <a:ext cx="5606288" cy="1384995"/>
          </a:xfrm>
          <a:prstGeom prst="rect">
            <a:avLst/>
          </a:prstGeom>
          <a:noFill/>
        </p:spPr>
        <p:txBody>
          <a:bodyPr wrap="square" rtlCol="0">
            <a:spAutoFit/>
          </a:bodyPr>
          <a:lstStyle/>
          <a:p>
            <a:r>
              <a:rPr lang="en-US" dirty="0"/>
              <a:t>x¯</a:t>
            </a:r>
            <a:r>
              <a:rPr lang="en-US" baseline="-25000" dirty="0"/>
              <a:t>1</a:t>
            </a:r>
            <a:r>
              <a:rPr lang="en-US" dirty="0"/>
              <a:t> = Mean of first sample</a:t>
            </a:r>
          </a:p>
          <a:p>
            <a:r>
              <a:rPr lang="en-US" dirty="0"/>
              <a:t>x¯</a:t>
            </a:r>
            <a:r>
              <a:rPr lang="en-US" baseline="-25000" dirty="0"/>
              <a:t>2</a:t>
            </a:r>
            <a:r>
              <a:rPr lang="en-US" dirty="0"/>
              <a:t> = Mean of second sample</a:t>
            </a:r>
          </a:p>
          <a:p>
            <a:r>
              <a:rPr lang="en-US" dirty="0"/>
              <a:t>n</a:t>
            </a:r>
            <a:r>
              <a:rPr lang="en-US" baseline="-25000" dirty="0"/>
              <a:t>1</a:t>
            </a:r>
            <a:r>
              <a:rPr lang="en-US" dirty="0"/>
              <a:t> = Sample size (i.e., number of observations) of first sample</a:t>
            </a:r>
          </a:p>
          <a:p>
            <a:r>
              <a:rPr lang="en-US" dirty="0"/>
              <a:t>n</a:t>
            </a:r>
            <a:r>
              <a:rPr lang="en-US" baseline="-25000" dirty="0"/>
              <a:t>2</a:t>
            </a:r>
            <a:r>
              <a:rPr lang="en-US" dirty="0"/>
              <a:t> = Sample size (i.e., number of observations) of second sample</a:t>
            </a:r>
          </a:p>
          <a:p>
            <a:r>
              <a:rPr lang="en-US" dirty="0"/>
              <a:t>s</a:t>
            </a:r>
            <a:r>
              <a:rPr lang="en-US" baseline="-25000" dirty="0"/>
              <a:t>1</a:t>
            </a:r>
            <a:r>
              <a:rPr lang="en-US" dirty="0"/>
              <a:t> = Standard deviation of first sample</a:t>
            </a:r>
          </a:p>
          <a:p>
            <a:r>
              <a:rPr lang="en-US" dirty="0"/>
              <a:t>s</a:t>
            </a:r>
            <a:r>
              <a:rPr lang="en-US" baseline="-25000" dirty="0"/>
              <a:t>2</a:t>
            </a:r>
            <a:r>
              <a:rPr lang="en-US" dirty="0"/>
              <a:t> = Standard deviation of second sample</a:t>
            </a:r>
          </a:p>
        </p:txBody>
      </p:sp>
      <p:sp>
        <p:nvSpPr>
          <p:cNvPr id="9" name="TextBox 8">
            <a:extLst>
              <a:ext uri="{FF2B5EF4-FFF2-40B4-BE49-F238E27FC236}">
                <a16:creationId xmlns:a16="http://schemas.microsoft.com/office/drawing/2014/main" id="{D3D314F0-7B71-354C-970C-65F2B47262EB}"/>
              </a:ext>
            </a:extLst>
          </p:cNvPr>
          <p:cNvSpPr txBox="1"/>
          <p:nvPr/>
        </p:nvSpPr>
        <p:spPr>
          <a:xfrm>
            <a:off x="243840" y="3525552"/>
            <a:ext cx="1011936" cy="307777"/>
          </a:xfrm>
          <a:prstGeom prst="rect">
            <a:avLst/>
          </a:prstGeom>
          <a:noFill/>
        </p:spPr>
        <p:txBody>
          <a:bodyPr wrap="square" rtlCol="0">
            <a:spAutoFit/>
          </a:bodyPr>
          <a:lstStyle/>
          <a:p>
            <a:r>
              <a:rPr lang="en-US" dirty="0"/>
              <a:t>Where:</a:t>
            </a:r>
          </a:p>
        </p:txBody>
      </p:sp>
      <p:sp>
        <p:nvSpPr>
          <p:cNvPr id="10" name="TextBox 9">
            <a:extLst>
              <a:ext uri="{FF2B5EF4-FFF2-40B4-BE49-F238E27FC236}">
                <a16:creationId xmlns:a16="http://schemas.microsoft.com/office/drawing/2014/main" id="{2132E263-18B8-1547-A9D9-02886A939AE9}"/>
              </a:ext>
            </a:extLst>
          </p:cNvPr>
          <p:cNvSpPr txBox="1"/>
          <p:nvPr/>
        </p:nvSpPr>
        <p:spPr>
          <a:xfrm>
            <a:off x="7546848" y="725535"/>
            <a:ext cx="4401312" cy="2462213"/>
          </a:xfrm>
          <a:prstGeom prst="rect">
            <a:avLst/>
          </a:prstGeom>
          <a:noFill/>
        </p:spPr>
        <p:txBody>
          <a:bodyPr wrap="square" rtlCol="0">
            <a:spAutoFit/>
          </a:bodyPr>
          <a:lstStyle/>
          <a:p>
            <a:r>
              <a:rPr lang="en-US" dirty="0"/>
              <a:t>Suppose that standard deviations are about the same</a:t>
            </a:r>
          </a:p>
          <a:p>
            <a:r>
              <a:rPr lang="en-US" dirty="0"/>
              <a:t>(s</a:t>
            </a:r>
            <a:r>
              <a:rPr lang="en-US" baseline="-25000" dirty="0"/>
              <a:t>1</a:t>
            </a:r>
            <a:r>
              <a:rPr lang="en-US" dirty="0"/>
              <a:t> = s</a:t>
            </a:r>
            <a:r>
              <a:rPr lang="en-US" baseline="-25000" dirty="0"/>
              <a:t>2</a:t>
            </a:r>
            <a:r>
              <a:rPr lang="en-US" dirty="0"/>
              <a:t> = s)</a:t>
            </a:r>
          </a:p>
          <a:p>
            <a:endParaRPr lang="en-US" dirty="0"/>
          </a:p>
          <a:p>
            <a:r>
              <a:rPr lang="en-US" dirty="0"/>
              <a:t>and numbers observations are equal and big</a:t>
            </a:r>
          </a:p>
          <a:p>
            <a:r>
              <a:rPr lang="en-US" dirty="0"/>
              <a:t>(n</a:t>
            </a:r>
            <a:r>
              <a:rPr lang="en-US" baseline="-25000" dirty="0"/>
              <a:t>1</a:t>
            </a:r>
            <a:r>
              <a:rPr lang="en-US" dirty="0"/>
              <a:t> = n</a:t>
            </a:r>
            <a:r>
              <a:rPr lang="en-US" baseline="-25000" dirty="0"/>
              <a:t>2</a:t>
            </a:r>
            <a:r>
              <a:rPr lang="en-US" dirty="0"/>
              <a:t> = n)</a:t>
            </a:r>
          </a:p>
          <a:p>
            <a:endParaRPr lang="en-US" dirty="0"/>
          </a:p>
          <a:p>
            <a:r>
              <a:rPr lang="en-US" dirty="0"/>
              <a:t>Then t-statistics simplifies to:</a:t>
            </a:r>
          </a:p>
          <a:p>
            <a:endParaRPr lang="en-US" dirty="0"/>
          </a:p>
          <a:p>
            <a:r>
              <a:rPr lang="en-US" dirty="0"/>
              <a:t>      t = (x¯1 - x¯2) / ( s*√(2/n) )</a:t>
            </a:r>
          </a:p>
          <a:p>
            <a:endParaRPr lang="en-US" dirty="0"/>
          </a:p>
          <a:p>
            <a:r>
              <a:rPr lang="en-US" dirty="0"/>
              <a:t>so  t  grows as √(n)</a:t>
            </a:r>
          </a:p>
        </p:txBody>
      </p:sp>
      <p:pic>
        <p:nvPicPr>
          <p:cNvPr id="11" name="Picture 10">
            <a:extLst>
              <a:ext uri="{FF2B5EF4-FFF2-40B4-BE49-F238E27FC236}">
                <a16:creationId xmlns:a16="http://schemas.microsoft.com/office/drawing/2014/main" id="{0FC688BB-FA34-104C-A9D4-A1591AE65B4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457706" y="1328928"/>
            <a:ext cx="2400300" cy="1460500"/>
          </a:xfrm>
          <a:prstGeom prst="rect">
            <a:avLst/>
          </a:prstGeom>
        </p:spPr>
      </p:pic>
    </p:spTree>
    <p:extLst>
      <p:ext uri="{BB962C8B-B14F-4D97-AF65-F5344CB8AC3E}">
        <p14:creationId xmlns:p14="http://schemas.microsoft.com/office/powerpoint/2010/main" val="395336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442"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443"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444"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445"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446"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447"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2880</TotalTime>
  <Words>1488</Words>
  <Application>Microsoft Macintosh PowerPoint</Application>
  <PresentationFormat>Widescreen</PresentationFormat>
  <Paragraphs>165</Paragraphs>
  <Slides>8</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8</vt:i4>
      </vt:variant>
    </vt:vector>
  </HeadingPairs>
  <TitlesOfParts>
    <vt:vector size="14"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t-test – continued</vt:lpstr>
      <vt:lpstr>The t Test for Two Independent Samples</vt:lpstr>
      <vt:lpstr>PowerPoint Presentation</vt:lpstr>
      <vt:lpstr>The t Test for Repeated-Measures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284</cp:revision>
  <cp:lastPrinted>2020-09-21T17:22:59Z</cp:lastPrinted>
  <dcterms:modified xsi:type="dcterms:W3CDTF">2021-01-20T13:50:05Z</dcterms:modified>
</cp:coreProperties>
</file>