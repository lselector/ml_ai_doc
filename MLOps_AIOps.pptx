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340" r:id="rId2"/>
    <p:sldId id="334" r:id="rId3"/>
    <p:sldId id="335" r:id="rId4"/>
    <p:sldId id="336" r:id="rId5"/>
    <p:sldId id="337" r:id="rId6"/>
    <p:sldId id="338" r:id="rId7"/>
    <p:sldId id="33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90"/>
    <p:restoredTop sz="94578"/>
  </p:normalViewPr>
  <p:slideViewPr>
    <p:cSldViewPr snapToGrid="0" snapToObjects="1">
      <p:cViewPr varScale="1">
        <p:scale>
          <a:sx n="108" d="100"/>
          <a:sy n="108" d="100"/>
        </p:scale>
        <p:origin x="80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15B94-D9E4-E149-8081-23A720D1EE5F}" type="datetimeFigureOut">
              <a:rPr lang="en-US" smtClean="0"/>
              <a:t>5/6/21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959602-CC24-7346-B914-9B1E8A8A6B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7895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99F67-75F2-EF4B-9DE0-21FDAEC663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E99639-B854-674D-ACBA-338D63DD4F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E4296-DC2B-AF42-91B6-17E3997BE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880F47-3B0E-704C-82F4-47CA2458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39331-61D1-E44D-8C43-197AE4B19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90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B43CF-BFB5-3546-88C9-3F4ABDF5B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71888-698C-3048-9E3A-79F283DAC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6CAAE-7E6E-094F-B838-A8D599C7A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36779-3E6E-F94D-A52C-89DB20E89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2DD567-48AE-8943-81DD-9156637A4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3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634C6-BE59-C74D-A804-601DBAECC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95D0D-E2F3-024E-8F35-A32E5235C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32F36-110F-AB45-AACD-B967692D6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DE42B-76C3-C74B-87BA-EC1966BC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2EF09-A125-6A46-98CE-4F27BBF2D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1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2FF95-09A5-AD4A-BF49-549FDD4AE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BA89D-12BA-364D-9D8E-653BBF7F0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5FDF43-F591-C34C-A19D-72C756D41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354CF-BB33-C943-A730-FC383D9A5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13A25-E3C8-964A-A037-7E3FD27AD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AB8329-5603-654D-A660-FFCA319FE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30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CAAB5-2A11-8B46-A36E-45DDB8812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41C71-F1A6-554A-BAD7-8A45038F18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7A02E-E166-EF46-9DEE-108AEC16E0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3CE42-B52C-2942-9A4A-0E4F45F1D8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58C1D2-B4E4-AD4A-B8B1-F8B44B8785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72365E-B55D-7344-998C-79153FB40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5/6/21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75CC9F-B7E5-914A-B6F0-00ADC6CAD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BF07D-E313-CA4B-BB34-30A3407D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40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C080-AE3B-2D44-8F1B-F94E3E24C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FEBD38-3EC2-604B-8909-0751DE753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5/6/21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F0E821-C95F-7943-8614-AE9CB9DF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A9F50-050E-B643-A486-F0E340093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589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DF785-C2CE-4F41-9244-07C54AA90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5/6/21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5C8366-9719-1346-8CA9-FA98FA13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4423BB-263D-BA4B-8180-9360C24F3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936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E274-4263-3C44-A67A-88743FEA2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4D437-E545-9241-9B1A-D82348625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25DD7-587D-2243-8C7B-87745F2B63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65333-9154-4F43-AB04-7653AB896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DF337-B84B-0D43-B9B3-C5C52986D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3FC9BB-65AC-144D-8509-7666472A5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7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35F18-71F5-404F-976D-621F648F9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249791-DC9D-A945-8D0D-D4A907986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5D363C-D267-8D4B-B5E3-457DC9389F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AEDA4-C4FB-564B-ADE2-E7A90751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C4D42D-FF74-9246-94C3-9723BF58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69DFD-0B4D-FA4F-9E71-D5181F1C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68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91E7-7FB4-4546-8157-28938279D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29B9C2-E777-4348-BBC7-2890721ED3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7FA6D-4975-5148-9D0D-4F743D24F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0D166-568E-2649-9F37-88DC38AA8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5E222-16A1-C947-8B1E-3ACF3F5C5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12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AC76A-2B25-1A44-91BB-8088E2CC1C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8DD8B-CC03-0745-B893-EEF2A385F3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F2342-838E-764F-89C0-BB769EE41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852D7-E694-214E-8A12-510E0A0329D2}" type="datetimeFigureOut">
              <a:rPr lang="en-US" smtClean="0"/>
              <a:t>5/6/21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EDFEC-4C70-7847-9681-6C3761311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3DA2E-AD95-AF44-A7A2-774479195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012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955CD2-8FD3-CA4C-99C9-299FEE54E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91F3E-101C-5342-8747-F474CDCDA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CD303-CF65-3444-86AC-DDE065E379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D852D7-E694-214E-8A12-510E0A0329D2}" type="datetimeFigureOut">
              <a:rPr lang="en-US" smtClean="0"/>
              <a:t>5/6/21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BF9CF-381B-8F4B-B04A-1BC917405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8A368C-50DB-5A48-AFBA-3B62FEFE9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0461C-F457-184F-826F-99E566ED8E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34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yticsinsight.net/delivering-aiops-microsoft-azure-cloud-platform/" TargetMode="External"/><Relationship Id="rId2" Type="http://schemas.openxmlformats.org/officeDocument/2006/relationships/hyperlink" Target="https://www.ibm.com/cloud/learn/aiops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ibm.com/cloud/learn/hybrid-cloud" TargetMode="External"/><Relationship Id="rId5" Type="http://schemas.openxmlformats.org/officeDocument/2006/relationships/hyperlink" Target="https://www.moogsoft.com/moogsoft-aiops-in-microsoft-azure/" TargetMode="External"/><Relationship Id="rId4" Type="http://schemas.openxmlformats.org/officeDocument/2006/relationships/hyperlink" Target="https://www.analyticsinsight.net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medium.com/dataseries/machine-learning-reference-architectures-from-google-facebook-uber-databricks-and-others-58191cf82b98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kdd.org/kdd2017/papers/view/tfx-a-tensorflow-based-production-scale-machine-learning-platform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-1" y="76402"/>
            <a:ext cx="2778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MLOps</a:t>
            </a:r>
            <a:r>
              <a:rPr lang="en-US" sz="2800" b="1" dirty="0"/>
              <a:t> vs AIOps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F6344-25D1-214F-A75E-373DADD0E10F}"/>
              </a:ext>
            </a:extLst>
          </p:cNvPr>
          <p:cNvSpPr txBox="1"/>
          <p:nvPr/>
        </p:nvSpPr>
        <p:spPr>
          <a:xfrm>
            <a:off x="13846629" y="66739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12C7A5-24FB-2144-BC6C-F091E2630966}"/>
              </a:ext>
            </a:extLst>
          </p:cNvPr>
          <p:cNvSpPr txBox="1"/>
          <p:nvPr/>
        </p:nvSpPr>
        <p:spPr>
          <a:xfrm>
            <a:off x="296882" y="748326"/>
            <a:ext cx="760021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/>
            </a:lvl1pPr>
          </a:lstStyle>
          <a:p>
            <a:r>
              <a:rPr lang="en-US" b="1" dirty="0" err="1">
                <a:solidFill>
                  <a:srgbClr val="FF0000"/>
                </a:solidFill>
              </a:rPr>
              <a:t>MLOps</a:t>
            </a:r>
            <a:r>
              <a:rPr lang="en-US" b="1" dirty="0">
                <a:solidFill>
                  <a:srgbClr val="FF0000"/>
                </a:solidFill>
              </a:rPr>
              <a:t> = Machine Learning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 Tools/frameworks to manage all stages of ML lifecycle as ongoing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basically DevOps for ML pipelines.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covers building, scaling, deploying, monitoring, re-training ML products.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Google, Facebook, and other companies have their own frameworks (architectures) for that.</a:t>
            </a:r>
          </a:p>
          <a:p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AIOps = Artificial Intelligence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 to analyze, optimize, and automate the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data, analytics, and machine learning to analyze and improve IT infrastructure &amp; operations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Makes IT more efficient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Effectively automates DevOps and </a:t>
            </a:r>
            <a:r>
              <a:rPr lang="en-US" dirty="0" err="1"/>
              <a:t>DataOps</a:t>
            </a:r>
            <a:r>
              <a:rPr lang="en-US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86D151-A598-3246-9296-63C2CE94BB4D}"/>
              </a:ext>
            </a:extLst>
          </p:cNvPr>
          <p:cNvSpPr txBox="1"/>
          <p:nvPr/>
        </p:nvSpPr>
        <p:spPr>
          <a:xfrm>
            <a:off x="320634" y="3429000"/>
            <a:ext cx="695894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2"/>
              </a:rPr>
              <a:t>https://www.ibm.com/cloud/learn/aiops</a:t>
            </a:r>
            <a:r>
              <a:rPr lang="en-US" sz="1400" dirty="0"/>
              <a:t>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3"/>
              </a:rPr>
              <a:t>https://www.analyticsinsight.net/delivering-aiops-microsoft-azure-cloud-platform/</a:t>
            </a:r>
            <a:r>
              <a:rPr lang="en-US" sz="1400" dirty="0"/>
              <a:t>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4"/>
              </a:rPr>
              <a:t>https://www.analyticsinsight.net/</a:t>
            </a:r>
            <a:r>
              <a:rPr lang="en-US" sz="1400" dirty="0"/>
              <a:t>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5"/>
              </a:rPr>
              <a:t>https://www.moogsoft.com/moogsoft-aiops-in-microsoft-azure/</a:t>
            </a:r>
            <a:r>
              <a:rPr lang="en-US" sz="1400" dirty="0"/>
              <a:t>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hlinkClick r:id="rId6"/>
              </a:rPr>
              <a:t>https://www.ibm.com/cloud/learn/hybrid-cloud</a:t>
            </a:r>
            <a:r>
              <a:rPr lang="en-US" sz="1400" dirty="0"/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3151898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1E58F78-8F27-2D4A-BD36-154CD23B3E50}"/>
              </a:ext>
            </a:extLst>
          </p:cNvPr>
          <p:cNvSpPr txBox="1"/>
          <p:nvPr/>
        </p:nvSpPr>
        <p:spPr>
          <a:xfrm>
            <a:off x="-1" y="76402"/>
            <a:ext cx="80870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Machine Learning Reference Architectures </a:t>
            </a:r>
          </a:p>
          <a:p>
            <a:r>
              <a:rPr lang="en-US" sz="2800" b="1" dirty="0"/>
              <a:t>from Google, Facebook, Uber, </a:t>
            </a:r>
            <a:r>
              <a:rPr lang="en-US" sz="2800" b="1" dirty="0" err="1"/>
              <a:t>DataBricks</a:t>
            </a:r>
            <a:r>
              <a:rPr lang="en-US" sz="2800" b="1" dirty="0"/>
              <a:t> and Others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CF6344-25D1-214F-A75E-373DADD0E10F}"/>
              </a:ext>
            </a:extLst>
          </p:cNvPr>
          <p:cNvSpPr txBox="1"/>
          <p:nvPr/>
        </p:nvSpPr>
        <p:spPr>
          <a:xfrm>
            <a:off x="13846629" y="66739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5EA9DD-F532-E844-9109-9810BD2F6D66}"/>
              </a:ext>
            </a:extLst>
          </p:cNvPr>
          <p:cNvSpPr txBox="1"/>
          <p:nvPr/>
        </p:nvSpPr>
        <p:spPr>
          <a:xfrm>
            <a:off x="118752" y="1430863"/>
            <a:ext cx="589016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Nice Review about </a:t>
            </a:r>
            <a:r>
              <a:rPr lang="en-US" sz="1400" dirty="0" err="1"/>
              <a:t>MLOps</a:t>
            </a:r>
            <a:r>
              <a:rPr lang="en-US" sz="1400" dirty="0"/>
              <a:t> Reference Architectures</a:t>
            </a:r>
          </a:p>
          <a:p>
            <a:r>
              <a:rPr lang="en-US" sz="1400" dirty="0">
                <a:hlinkClick r:id="rId2"/>
              </a:rPr>
              <a:t>https://medium.com/dataseries/machine-learning-reference-architectures-from-google-facebook-uber-databricks-and-others-58191cf82b98</a:t>
            </a:r>
            <a:r>
              <a:rPr lang="en-US" sz="1400" dirty="0"/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56B02F-94E8-4B46-80C2-7EE52FCA10C1}"/>
              </a:ext>
            </a:extLst>
          </p:cNvPr>
          <p:cNvSpPr txBox="1"/>
          <p:nvPr/>
        </p:nvSpPr>
        <p:spPr>
          <a:xfrm>
            <a:off x="118752" y="2386937"/>
            <a:ext cx="430194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The lifecycle of Machine Learning solutions is </a:t>
            </a:r>
          </a:p>
          <a:p>
            <a:r>
              <a:rPr lang="en-US" sz="1400" dirty="0"/>
              <a:t>fundamentally different than other software disciplines, </a:t>
            </a:r>
          </a:p>
          <a:p>
            <a:r>
              <a:rPr lang="en-US" sz="1400" dirty="0"/>
              <a:t>because </a:t>
            </a:r>
            <a:r>
              <a:rPr lang="en-US" sz="1400" b="1" dirty="0">
                <a:solidFill>
                  <a:srgbClr val="FF0000"/>
                </a:solidFill>
              </a:rPr>
              <a:t>the deployed model needs to be constantly </a:t>
            </a:r>
          </a:p>
          <a:p>
            <a:r>
              <a:rPr lang="en-US" sz="1400" b="1" dirty="0">
                <a:solidFill>
                  <a:srgbClr val="FF0000"/>
                </a:solidFill>
              </a:rPr>
              <a:t>re-trained and optimized</a:t>
            </a:r>
            <a:r>
              <a:rPr lang="en-US" sz="1400" dirty="0"/>
              <a:t>.</a:t>
            </a:r>
          </a:p>
        </p:txBody>
      </p:sp>
      <p:pic>
        <p:nvPicPr>
          <p:cNvPr id="1028" name="Picture 4" descr="Machine Learning Life Cycle - Tutorial And Example">
            <a:extLst>
              <a:ext uri="{FF2B5EF4-FFF2-40B4-BE49-F238E27FC236}">
                <a16:creationId xmlns:a16="http://schemas.microsoft.com/office/drawing/2014/main" id="{0AABADB4-276E-024A-9E29-661C35E15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11438" y="2169527"/>
            <a:ext cx="3891478" cy="3852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25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3D92-CF62-5144-A00B-55BE4F360FBF}"/>
              </a:ext>
            </a:extLst>
          </p:cNvPr>
          <p:cNvSpPr txBox="1"/>
          <p:nvPr/>
        </p:nvSpPr>
        <p:spPr>
          <a:xfrm>
            <a:off x="-1" y="76402"/>
            <a:ext cx="3550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Stanford’s DAWN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7604FC-F221-3B44-93BB-1E77B222281C}"/>
              </a:ext>
            </a:extLst>
          </p:cNvPr>
          <p:cNvSpPr txBox="1"/>
          <p:nvPr/>
        </p:nvSpPr>
        <p:spPr>
          <a:xfrm>
            <a:off x="-1" y="616811"/>
            <a:ext cx="58901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Stanford’s DAWN - a series of tools, frameworks and an architecture reference </a:t>
            </a:r>
          </a:p>
          <a:p>
            <a:r>
              <a:rPr lang="en-US" sz="1400" dirty="0"/>
              <a:t>to streamline ML workflows. Includes projects such as training (Snorkel), </a:t>
            </a:r>
          </a:p>
          <a:p>
            <a:r>
              <a:rPr lang="en-US" sz="1400" dirty="0"/>
              <a:t>continuous analytics (</a:t>
            </a:r>
            <a:r>
              <a:rPr lang="en-US" sz="1400" dirty="0" err="1"/>
              <a:t>MacroBase</a:t>
            </a:r>
            <a:r>
              <a:rPr lang="en-US" sz="1400" dirty="0"/>
              <a:t>) or data computation(Weld).</a:t>
            </a:r>
          </a:p>
          <a:p>
            <a:r>
              <a:rPr lang="en-US" sz="1400" dirty="0"/>
              <a:t> - https://</a:t>
            </a:r>
            <a:r>
              <a:rPr lang="en-US" sz="1400" dirty="0" err="1"/>
              <a:t>dawn.cs.stanford.edu</a:t>
            </a:r>
            <a:r>
              <a:rPr lang="en-US" sz="1400" dirty="0"/>
              <a:t>/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F723B10-58B9-1645-BC15-6D926DED7D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98320" y="1642310"/>
            <a:ext cx="8395360" cy="5139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5680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3D92-CF62-5144-A00B-55BE4F360FBF}"/>
              </a:ext>
            </a:extLst>
          </p:cNvPr>
          <p:cNvSpPr txBox="1"/>
          <p:nvPr/>
        </p:nvSpPr>
        <p:spPr>
          <a:xfrm>
            <a:off x="-1" y="76402"/>
            <a:ext cx="3550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Uber’s Michelangelo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7604FC-F221-3B44-93BB-1E77B222281C}"/>
              </a:ext>
            </a:extLst>
          </p:cNvPr>
          <p:cNvSpPr txBox="1"/>
          <p:nvPr/>
        </p:nvSpPr>
        <p:spPr>
          <a:xfrm>
            <a:off x="-1" y="599622"/>
            <a:ext cx="72558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Uber’s Michelangelo – powers hundreds of ML workflows at Uber. </a:t>
            </a:r>
          </a:p>
          <a:p>
            <a:r>
              <a:rPr lang="en-US" sz="1400" dirty="0"/>
              <a:t>Works with other ML tools like </a:t>
            </a:r>
            <a:r>
              <a:rPr lang="en-US" sz="1400" dirty="0" err="1"/>
              <a:t>Horovod</a:t>
            </a:r>
            <a:r>
              <a:rPr lang="en-US" sz="1400" dirty="0"/>
              <a:t>, </a:t>
            </a:r>
            <a:r>
              <a:rPr lang="en-US" sz="1400" dirty="0" err="1"/>
              <a:t>PyML</a:t>
            </a:r>
            <a:r>
              <a:rPr lang="en-US" sz="1400" dirty="0"/>
              <a:t> or Pyro.</a:t>
            </a:r>
          </a:p>
          <a:p>
            <a:r>
              <a:rPr lang="en-US" sz="1400" dirty="0"/>
              <a:t> - https://</a:t>
            </a:r>
            <a:r>
              <a:rPr lang="en-US" sz="1400" dirty="0" err="1"/>
              <a:t>eng.uber.com</a:t>
            </a:r>
            <a:r>
              <a:rPr lang="en-US" sz="1400" dirty="0"/>
              <a:t>/</a:t>
            </a:r>
            <a:r>
              <a:rPr lang="en-US" sz="1400" dirty="0" err="1"/>
              <a:t>michelangelo</a:t>
            </a:r>
            <a:r>
              <a:rPr lang="en-US" sz="1400" dirty="0"/>
              <a:t>-machine-learning-platform/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3A9BC4D-B74A-C846-8E8D-5944DBE43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991106" y="1712718"/>
            <a:ext cx="7742692" cy="4361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8177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3D92-CF62-5144-A00B-55BE4F360FBF}"/>
              </a:ext>
            </a:extLst>
          </p:cNvPr>
          <p:cNvSpPr txBox="1"/>
          <p:nvPr/>
        </p:nvSpPr>
        <p:spPr>
          <a:xfrm>
            <a:off x="-1" y="52652"/>
            <a:ext cx="35507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/>
              <a:t>DataBricks’</a:t>
            </a:r>
            <a:r>
              <a:rPr lang="en-US" sz="2800" b="1" dirty="0"/>
              <a:t> </a:t>
            </a:r>
            <a:r>
              <a:rPr lang="en-US" sz="2800" b="1" dirty="0" err="1"/>
              <a:t>MLflow</a:t>
            </a:r>
            <a:endParaRPr lang="en-US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7604FC-F221-3B44-93BB-1E77B222281C}"/>
              </a:ext>
            </a:extLst>
          </p:cNvPr>
          <p:cNvSpPr txBox="1"/>
          <p:nvPr/>
        </p:nvSpPr>
        <p:spPr>
          <a:xfrm>
            <a:off x="-1" y="599622"/>
            <a:ext cx="78970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DataBricks’</a:t>
            </a:r>
            <a:r>
              <a:rPr lang="en-US" sz="1400" dirty="0"/>
              <a:t> </a:t>
            </a:r>
            <a:r>
              <a:rPr lang="en-US" sz="1400" dirty="0" err="1"/>
              <a:t>MLflow</a:t>
            </a:r>
            <a:r>
              <a:rPr lang="en-US" sz="1400" dirty="0"/>
              <a:t> is an open source platform for automating the lifecycle of machine learning solutions. </a:t>
            </a:r>
          </a:p>
          <a:p>
            <a:r>
              <a:rPr lang="en-US" sz="1400" dirty="0"/>
              <a:t>The project focuses on training, project packaging and model serving. </a:t>
            </a:r>
          </a:p>
          <a:p>
            <a:r>
              <a:rPr lang="en-US" sz="1400" dirty="0" err="1"/>
              <a:t>MLflow</a:t>
            </a:r>
            <a:r>
              <a:rPr lang="en-US" sz="1400" dirty="0"/>
              <a:t> integrates well with many development frameworks.</a:t>
            </a:r>
          </a:p>
          <a:p>
            <a:r>
              <a:rPr lang="en-US" sz="1400" dirty="0" err="1"/>
              <a:t>MLflow</a:t>
            </a:r>
            <a:r>
              <a:rPr lang="en-US" sz="1400" dirty="0"/>
              <a:t> integrates well with runtime infrastructures.</a:t>
            </a:r>
          </a:p>
          <a:p>
            <a:r>
              <a:rPr lang="en-US" sz="1400" dirty="0"/>
              <a:t> - https://</a:t>
            </a:r>
            <a:r>
              <a:rPr lang="en-US" sz="1400" dirty="0" err="1"/>
              <a:t>www.mlflow.org</a:t>
            </a:r>
            <a:r>
              <a:rPr lang="en-US" sz="1400" dirty="0"/>
              <a:t>/</a:t>
            </a:r>
          </a:p>
        </p:txBody>
      </p:sp>
      <p:pic>
        <p:nvPicPr>
          <p:cNvPr id="4098" name="Picture 2" descr="How to Share and Control ML Model Access with MLflow Model Registry">
            <a:extLst>
              <a:ext uri="{FF2B5EF4-FFF2-40B4-BE49-F238E27FC236}">
                <a16:creationId xmlns:a16="http://schemas.microsoft.com/office/drawing/2014/main" id="{753516CB-FF6B-594D-BCDE-9F361B453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21830" y="1900053"/>
            <a:ext cx="9138345" cy="4797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9814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3D92-CF62-5144-A00B-55BE4F360FBF}"/>
              </a:ext>
            </a:extLst>
          </p:cNvPr>
          <p:cNvSpPr txBox="1"/>
          <p:nvPr/>
        </p:nvSpPr>
        <p:spPr>
          <a:xfrm>
            <a:off x="-1" y="76402"/>
            <a:ext cx="47390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Facebook’s </a:t>
            </a:r>
            <a:r>
              <a:rPr lang="en-US" sz="2800" b="1" dirty="0" err="1"/>
              <a:t>FBLearner</a:t>
            </a:r>
            <a:r>
              <a:rPr lang="en-US" sz="2800" b="1" dirty="0"/>
              <a:t>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7604FC-F221-3B44-93BB-1E77B222281C}"/>
              </a:ext>
            </a:extLst>
          </p:cNvPr>
          <p:cNvSpPr txBox="1"/>
          <p:nvPr/>
        </p:nvSpPr>
        <p:spPr>
          <a:xfrm>
            <a:off x="-1" y="599622"/>
            <a:ext cx="895399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Facebook’s </a:t>
            </a:r>
            <a:r>
              <a:rPr lang="en-US" sz="1400" dirty="0" err="1"/>
              <a:t>FBLearner</a:t>
            </a:r>
            <a:r>
              <a:rPr lang="en-US" sz="1400" dirty="0"/>
              <a:t> Flow automates feature extraction, training, model evaluation and inference. </a:t>
            </a:r>
            <a:br>
              <a:rPr lang="en-US" sz="1400" dirty="0"/>
            </a:br>
            <a:r>
              <a:rPr lang="en-US" sz="1400" dirty="0" err="1"/>
              <a:t>FBLearner</a:t>
            </a:r>
            <a:r>
              <a:rPr lang="en-US" sz="1400" dirty="0"/>
              <a:t> Flow integrates with Facebook’s own Caffe2, </a:t>
            </a:r>
            <a:r>
              <a:rPr lang="en-US" sz="1400" dirty="0" err="1"/>
              <a:t>PyTorch</a:t>
            </a:r>
            <a:r>
              <a:rPr lang="en-US" sz="1400" dirty="0"/>
              <a:t> and ONNX.</a:t>
            </a:r>
          </a:p>
          <a:p>
            <a:r>
              <a:rPr lang="en-US" sz="1400" dirty="0"/>
              <a:t> - https://</a:t>
            </a:r>
            <a:r>
              <a:rPr lang="en-US" sz="1400" dirty="0" err="1"/>
              <a:t>engineering.fb.com</a:t>
            </a:r>
            <a:r>
              <a:rPr lang="en-US" sz="1400" dirty="0"/>
              <a:t>/ml-applications/introducing-</a:t>
            </a:r>
            <a:r>
              <a:rPr lang="en-US" sz="1400" dirty="0" err="1"/>
              <a:t>fblearner</a:t>
            </a:r>
            <a:r>
              <a:rPr lang="en-US" sz="1400" dirty="0"/>
              <a:t>-flow-</a:t>
            </a:r>
            <a:r>
              <a:rPr lang="en-US" sz="1400" dirty="0" err="1"/>
              <a:t>facebook</a:t>
            </a:r>
            <a:r>
              <a:rPr lang="en-US" sz="1400" dirty="0"/>
              <a:t>-s-ai-backbone/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3790401-0A71-064A-8349-CD0A239D0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66526" y="2180163"/>
            <a:ext cx="8375002" cy="3439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51033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9D3D92-CF62-5144-A00B-55BE4F360FBF}"/>
              </a:ext>
            </a:extLst>
          </p:cNvPr>
          <p:cNvSpPr txBox="1"/>
          <p:nvPr/>
        </p:nvSpPr>
        <p:spPr>
          <a:xfrm>
            <a:off x="0" y="76402"/>
            <a:ext cx="2369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Google’s TFX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7604FC-F221-3B44-93BB-1E77B222281C}"/>
              </a:ext>
            </a:extLst>
          </p:cNvPr>
          <p:cNvSpPr txBox="1"/>
          <p:nvPr/>
        </p:nvSpPr>
        <p:spPr>
          <a:xfrm>
            <a:off x="0" y="599622"/>
            <a:ext cx="92271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Google’s TFX - architecture for executing machine learning workflows using TensorFlow programs. </a:t>
            </a:r>
          </a:p>
          <a:p>
            <a:r>
              <a:rPr lang="en-US" sz="1400" dirty="0"/>
              <a:t>TFX includes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learner for generating models based on training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modules for analyzing and validating both data as well as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infrastructure for serving models in production</a:t>
            </a:r>
          </a:p>
          <a:p>
            <a:r>
              <a:rPr lang="en-US" sz="1400" dirty="0"/>
              <a:t> - </a:t>
            </a:r>
            <a:r>
              <a:rPr lang="en-US" sz="1400" dirty="0">
                <a:hlinkClick r:id="rId2"/>
              </a:rPr>
              <a:t>https://www.kdd.org/kdd2017/papers/view/tfx-a-tensorflow-based-production-scale-machine-learning-platform</a:t>
            </a:r>
            <a:r>
              <a:rPr lang="en-US" sz="1400" dirty="0"/>
              <a:t> 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6505F18-2919-5446-A57B-3F68BA499A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1254" y="2257099"/>
            <a:ext cx="9598308" cy="437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8230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1193</TotalTime>
  <Words>467</Words>
  <Application>Microsoft Macintosh PowerPoint</Application>
  <PresentationFormat>Widescreen</PresentationFormat>
  <Paragraphs>50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 Selector</dc:creator>
  <cp:lastModifiedBy>Lev Selector</cp:lastModifiedBy>
  <cp:revision>163</cp:revision>
  <dcterms:created xsi:type="dcterms:W3CDTF">2018-10-10T17:24:46Z</dcterms:created>
  <dcterms:modified xsi:type="dcterms:W3CDTF">2021-05-07T02:22:51Z</dcterms:modified>
</cp:coreProperties>
</file>