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333" r:id="rId2"/>
    <p:sldId id="336" r:id="rId3"/>
    <p:sldId id="334" r:id="rId4"/>
    <p:sldId id="344" r:id="rId5"/>
    <p:sldId id="335" r:id="rId6"/>
    <p:sldId id="339" r:id="rId7"/>
    <p:sldId id="338" r:id="rId8"/>
    <p:sldId id="341" r:id="rId9"/>
    <p:sldId id="340" r:id="rId10"/>
    <p:sldId id="343" r:id="rId11"/>
    <p:sldId id="342" r:id="rId12"/>
    <p:sldId id="33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443"/>
    <p:restoredTop sz="94582"/>
  </p:normalViewPr>
  <p:slideViewPr>
    <p:cSldViewPr snapToGrid="0" snapToObjects="1">
      <p:cViewPr varScale="1">
        <p:scale>
          <a:sx n="105" d="100"/>
          <a:sy n="105" d="100"/>
        </p:scale>
        <p:origin x="328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15B94-D9E4-E149-8081-23A720D1EE5F}" type="datetimeFigureOut">
              <a:rPr lang="en-US" smtClean="0"/>
              <a:t>4/5/21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B959602-CC24-7346-B914-9B1E8A8A6B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87895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D99F67-75F2-EF4B-9DE0-21FDAEC663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BE99639-B854-674D-ACBA-338D63DD4F4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8E4296-DC2B-AF42-91B6-17E3997BE2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852D7-E694-214E-8A12-510E0A0329D2}" type="datetimeFigureOut">
              <a:rPr lang="en-US" smtClean="0"/>
              <a:t>4/5/21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880F47-3B0E-704C-82F4-47CA24586B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139331-61D1-E44D-8C43-197AE4B19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97901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8B43CF-BFB5-3546-88C9-3F4ABDF5B1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C71888-698C-3048-9E3A-79F283DAC5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16CAAE-7E6E-094F-B838-A8D599C7A4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852D7-E694-214E-8A12-510E0A0329D2}" type="datetimeFigureOut">
              <a:rPr lang="en-US" smtClean="0"/>
              <a:t>4/5/21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236779-3E6E-F94D-A52C-89DB20E896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2DD567-48AE-8943-81DD-9156637A4F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61398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634C6-BE59-C74D-A804-601DBAECC5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495D0D-E2F3-024E-8F35-A32E5235CA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632F36-110F-AB45-AACD-B967692D66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852D7-E694-214E-8A12-510E0A0329D2}" type="datetimeFigureOut">
              <a:rPr lang="en-US" smtClean="0"/>
              <a:t>4/5/21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CDE42B-76C3-C74B-87BA-EC1966BCA9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22EF09-A125-6A46-98CE-4F27BBF2DF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1919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92FF95-09A5-AD4A-BF49-549FDD4AE8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CBA89D-12BA-364D-9D8E-653BBF7F021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65FDF43-F591-C34C-A19D-72C756D41E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0354CF-BB33-C943-A730-FC383D9A54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852D7-E694-214E-8A12-510E0A0329D2}" type="datetimeFigureOut">
              <a:rPr lang="en-US" smtClean="0"/>
              <a:t>4/5/21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3A13A25-E3C8-964A-A037-7E3FD27ADB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AB8329-5603-654D-A660-FFCA319FE6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64304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ACAAB5-2A11-8B46-A36E-45DDB8812B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641C71-F1A6-554A-BAD7-8A45038F18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67A02E-E166-EF46-9DEE-108AEC16E0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E33CE42-B52C-2942-9A4A-0E4F45F1D83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C58C1D2-B4E4-AD4A-B8B1-F8B44B8785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872365E-B55D-7344-998C-79153FB40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852D7-E694-214E-8A12-510E0A0329D2}" type="datetimeFigureOut">
              <a:rPr lang="en-US" smtClean="0"/>
              <a:t>4/5/21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C75CC9F-B7E5-914A-B6F0-00ADC6CAD9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07BF07D-E313-CA4B-BB34-30A3407DEF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09406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D6C080-AE3B-2D44-8F1B-F94E3E24C5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DFEBD38-3EC2-604B-8909-0751DE753F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852D7-E694-214E-8A12-510E0A0329D2}" type="datetimeFigureOut">
              <a:rPr lang="en-US" smtClean="0"/>
              <a:t>4/5/21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EF0E821-C95F-7943-8614-AE9CB9DF3C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C5A9F50-050E-B643-A486-F0E3400936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25895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1CDF785-C2CE-4F41-9244-07C54AA903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852D7-E694-214E-8A12-510E0A0329D2}" type="datetimeFigureOut">
              <a:rPr lang="en-US" smtClean="0"/>
              <a:t>4/5/21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D5C8366-9719-1346-8CA9-FA98FA13A4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4423BB-263D-BA4B-8180-9360C24F38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19365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19E274-4263-3C44-A67A-88743FEA29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F4D437-E545-9241-9B1A-D823486254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325DD7-587D-2243-8C7B-87745F2B63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B965333-9154-4F43-AB04-7653AB8969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852D7-E694-214E-8A12-510E0A0329D2}" type="datetimeFigureOut">
              <a:rPr lang="en-US" smtClean="0"/>
              <a:t>4/5/21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3DF337-B84B-0D43-B9B3-C5C52986D4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3FC9BB-65AC-144D-8509-7666472A50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63762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835F18-71F5-404F-976D-621F648F98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0249791-DC9D-A945-8D0D-D4A9079865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B5D363C-D267-8D4B-B5E3-457DC9389F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9AEDA4-C4FB-564B-ADE2-E7A9075119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852D7-E694-214E-8A12-510E0A0329D2}" type="datetimeFigureOut">
              <a:rPr lang="en-US" smtClean="0"/>
              <a:t>4/5/21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7C4D42D-FF74-9246-94C3-9723BF584E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269DFD-0B4D-FA4F-9E71-D5181F1CBC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92683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5491E7-7FB4-4546-8157-28938279D4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F29B9C2-E777-4348-BBC7-2890721ED3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87FA6D-4975-5148-9D0D-4F743D24F7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852D7-E694-214E-8A12-510E0A0329D2}" type="datetimeFigureOut">
              <a:rPr lang="en-US" smtClean="0"/>
              <a:t>4/5/21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00D166-568E-2649-9F37-88DC38AA87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45E222-16A1-C947-8B1E-3ACF3F5C56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94126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FAC76A-2B25-1A44-91BB-8088E2CC1CE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678DD8B-CC03-0745-B893-EEF2A385F3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1F2342-838E-764F-89C0-BB769EE411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852D7-E694-214E-8A12-510E0A0329D2}" type="datetimeFigureOut">
              <a:rPr lang="en-US" smtClean="0"/>
              <a:t>4/5/21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0EDFEC-4C70-7847-9681-6C37613117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83DA2E-AD95-AF44-A7A2-774479195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30120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5955CD2-8FD3-CA4C-99C9-299FEE54ED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F91F3E-101C-5342-8747-F474CDCDAA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3CD303-CF65-3444-86AC-DDE065E379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D852D7-E694-214E-8A12-510E0A0329D2}" type="datetimeFigureOut">
              <a:rPr lang="en-US" smtClean="0"/>
              <a:t>4/5/21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DBF9CF-381B-8F4B-B04A-1BC917405E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8A368C-50DB-5A48-AFBA-3B62FEFE95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42344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scikit-learn.org/stable/data_transforms.html" TargetMode="Externa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mrzResearchArena/PyFeat" TargetMode="External"/><Relationship Id="rId13" Type="http://schemas.openxmlformats.org/officeDocument/2006/relationships/image" Target="../media/image6.jpeg"/><Relationship Id="rId3" Type="http://schemas.openxmlformats.org/officeDocument/2006/relationships/hyperlink" Target="https://stats.stackexchange.com/questions/1001/is-spearmans-correlation-coefficient-usable-to-compare-distributions" TargetMode="External"/><Relationship Id="rId7" Type="http://schemas.openxmlformats.org/officeDocument/2006/relationships/hyperlink" Target="https://arxiv.org/abs/1901.07329" TargetMode="External"/><Relationship Id="rId12" Type="http://schemas.openxmlformats.org/officeDocument/2006/relationships/image" Target="../media/image5.png"/><Relationship Id="rId17" Type="http://schemas.openxmlformats.org/officeDocument/2006/relationships/image" Target="../media/image10.png"/><Relationship Id="rId2" Type="http://schemas.openxmlformats.org/officeDocument/2006/relationships/hyperlink" Target="https://en.wikipedia.org/wiki/Kolmogorov%E2%80%93Smirnov_test" TargetMode="External"/><Relationship Id="rId16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github.com/cod3licious/autofeat" TargetMode="External"/><Relationship Id="rId11" Type="http://schemas.openxmlformats.org/officeDocument/2006/relationships/image" Target="../media/image4.png"/><Relationship Id="rId5" Type="http://schemas.openxmlformats.org/officeDocument/2006/relationships/hyperlink" Target="https://github.com/blue-yonder/tsfresh" TargetMode="External"/><Relationship Id="rId15" Type="http://schemas.openxmlformats.org/officeDocument/2006/relationships/image" Target="../media/image8.png"/><Relationship Id="rId10" Type="http://schemas.openxmlformats.org/officeDocument/2006/relationships/hyperlink" Target="https://pycaret.org/" TargetMode="External"/><Relationship Id="rId4" Type="http://schemas.openxmlformats.org/officeDocument/2006/relationships/hyperlink" Target="https://www.featuretools.com/" TargetMode="External"/><Relationship Id="rId9" Type="http://schemas.openxmlformats.org/officeDocument/2006/relationships/hyperlink" Target="https://www.h2o.ai/products/h2o-driverless-ai/" TargetMode="External"/><Relationship Id="rId1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hyperlink" Target="https://azure.microsoft.com/is-is/services/cognitive-services/form-recognizer/" TargetMode="External"/><Relationship Id="rId13" Type="http://schemas.openxmlformats.org/officeDocument/2006/relationships/hyperlink" Target="https://awesomeopensource.com/projects/information-extraction" TargetMode="External"/><Relationship Id="rId3" Type="http://schemas.openxmlformats.org/officeDocument/2006/relationships/hyperlink" Target="https://tesseract-ocr.github.io/tessdoc/Command-Line-Usage" TargetMode="External"/><Relationship Id="rId7" Type="http://schemas.openxmlformats.org/officeDocument/2006/relationships/hyperlink" Target="https://aws.amazon.com/textract/" TargetMode="External"/><Relationship Id="rId12" Type="http://schemas.openxmlformats.org/officeDocument/2006/relationships/hyperlink" Target="https://www.softwareadvice.com/resources/easiest-to-use-free-and-open-source-text-analysis-software/" TargetMode="External"/><Relationship Id="rId17" Type="http://schemas.openxmlformats.org/officeDocument/2006/relationships/hyperlink" Target="https://www.reddit.com/r/MachineLearning/comments/8f98z1/d_best_method_to_extract_numerical_data_from/" TargetMode="External"/><Relationship Id="rId2" Type="http://schemas.openxmlformats.org/officeDocument/2006/relationships/hyperlink" Target="https://github.com/tesseract-ocr/tesseract" TargetMode="External"/><Relationship Id="rId16" Type="http://schemas.openxmlformats.org/officeDocument/2006/relationships/hyperlink" Target="https://arxiv.org/pdf/1612.04118.pdf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cloud.google.com/solutions/document-ai" TargetMode="External"/><Relationship Id="rId11" Type="http://schemas.openxmlformats.org/officeDocument/2006/relationships/hyperlink" Target="https://www.youtube.com/watch?v=LczYc2o0dNo" TargetMode="External"/><Relationship Id="rId5" Type="http://schemas.openxmlformats.org/officeDocument/2006/relationships/hyperlink" Target="https://cloud.google.com/vision" TargetMode="External"/><Relationship Id="rId15" Type="http://schemas.openxmlformats.org/officeDocument/2006/relationships/hyperlink" Target="https://www.microsoft.com/en-us/research/wp-content/uploads/2017/02/ChartSense-CHI2017.pdf" TargetMode="External"/><Relationship Id="rId10" Type="http://schemas.openxmlformats.org/officeDocument/2006/relationships/hyperlink" Target="https://azure.microsoft.com/en-ca/services/cognitive-services/text-analytics/" TargetMode="External"/><Relationship Id="rId4" Type="http://schemas.openxmlformats.org/officeDocument/2006/relationships/hyperlink" Target="https://github.com/madmaze/pytesseract" TargetMode="External"/><Relationship Id="rId9" Type="http://schemas.openxmlformats.org/officeDocument/2006/relationships/hyperlink" Target="https://docs.microsoft.com/en-us/azure/cognitive-services/text-analytics/overview" TargetMode="External"/><Relationship Id="rId14" Type="http://schemas.openxmlformats.org/officeDocument/2006/relationships/hyperlink" Target="https://twimlai.com/twiml-talk-126-information-extraction-natural-document-formats-david-rosenberg/" TargetMode="Externa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3" Type="http://schemas.openxmlformats.org/officeDocument/2006/relationships/hyperlink" Target="https://towardsdatascience.com/understanding-feature-engineering-part-3-traditional-methods-for-text-data-f6f7d70acd41" TargetMode="External"/><Relationship Id="rId7" Type="http://schemas.openxmlformats.org/officeDocument/2006/relationships/hyperlink" Target="https://elitedatascience.com/python-nlp-libraries" TargetMode="External"/><Relationship Id="rId12" Type="http://schemas.openxmlformats.org/officeDocument/2006/relationships/image" Target="../media/image15.png"/><Relationship Id="rId2" Type="http://schemas.openxmlformats.org/officeDocument/2006/relationships/hyperlink" Target="https://towardsdatascience.com/understanding-feature-engineering-part-1-continuous-numeric-data-da4e47099a7b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towardsdatascience.com/the-curse-of-dimensionality-50dc6e49aa1e" TargetMode="External"/><Relationship Id="rId11" Type="http://schemas.openxmlformats.org/officeDocument/2006/relationships/image" Target="../media/image14.jpeg"/><Relationship Id="rId5" Type="http://schemas.openxmlformats.org/officeDocument/2006/relationships/hyperlink" Target="https://towardsdatascience.com/understanding-nlp-word-embeddings-text-vectorization-1a23744f7223" TargetMode="External"/><Relationship Id="rId10" Type="http://schemas.openxmlformats.org/officeDocument/2006/relationships/image" Target="../media/image13.png"/><Relationship Id="rId4" Type="http://schemas.openxmlformats.org/officeDocument/2006/relationships/hyperlink" Target="https://towardsdatascience.com/text-vectorization-bag-of-words-bow-441d1bfce897" TargetMode="External"/><Relationship Id="rId9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h2o.ai/driverless-ai/latest-stable/docs/userguide/transformations.html#transformations" TargetMode="External"/><Relationship Id="rId2" Type="http://schemas.openxmlformats.org/officeDocument/2006/relationships/hyperlink" Target="https://docs.h2o.ai/driverless-ai/latest-stable/docs/userguide/feature-engineering.html" TargetMode="Externa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hyperlink" Target="https://docs.h2o.ai/driverless-ai/latest-stable/docs/userguide/expert_settings/features_settings.html#max-feature-interaction-depth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christophm.github.io/interpretable-ml-book/shap.html" TargetMode="External"/><Relationship Id="rId2" Type="http://schemas.openxmlformats.org/officeDocument/2006/relationships/hyperlink" Target="https://towardsdatascience.com/the-5-feature-selection-algorithms-every-data-scientist-need-to-know-3a6b566efd2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sl78EgrT4TY" TargetMode="External"/><Relationship Id="rId2" Type="http://schemas.openxmlformats.org/officeDocument/2006/relationships/hyperlink" Target="https://www.nature.com/articles/s42256-019-0048-x" TargetMode="External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www.youtube.com/watch?v=CY3t11vuuOM" TargetMode="External"/><Relationship Id="rId4" Type="http://schemas.openxmlformats.org/officeDocument/2006/relationships/image" Target="../media/image20.jpe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21.jpeg"/><Relationship Id="rId7" Type="http://schemas.openxmlformats.org/officeDocument/2006/relationships/image" Target="../media/image23.jpeg"/><Relationship Id="rId2" Type="http://schemas.openxmlformats.org/officeDocument/2006/relationships/hyperlink" Target="https://en.wikipedia.org/wiki/Lloyd_Shapley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github.com/slundberg/shap" TargetMode="External"/><Relationship Id="rId5" Type="http://schemas.openxmlformats.org/officeDocument/2006/relationships/hyperlink" Target="https://scottlundberg.com/" TargetMode="External"/><Relationship Id="rId4" Type="http://schemas.openxmlformats.org/officeDocument/2006/relationships/image" Target="../media/image22.jpe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hyperlink" Target="https://probabilityandstats.wordpress.com/2015/05/09/the-skewness-of-a-probability-distribution/" TargetMode="External"/><Relationship Id="rId13" Type="http://schemas.openxmlformats.org/officeDocument/2006/relationships/hyperlink" Target="https://www.kaggle.com/dansbecker/using-categorical-data-with-one-hot-encoding" TargetMode="External"/><Relationship Id="rId3" Type="http://schemas.openxmlformats.org/officeDocument/2006/relationships/hyperlink" Target="https://docs.tibco.com/pub/spotfire/7.0.1/doc/html/bin/bin_what_is_binning.htm" TargetMode="External"/><Relationship Id="rId7" Type="http://schemas.openxmlformats.org/officeDocument/2006/relationships/hyperlink" Target="https://www.researchgate.net/figure/Examples-of-various-outliers-found-in-regression-analysis-Case-1-is-an-outlier-with_fig2_50946372" TargetMode="External"/><Relationship Id="rId12" Type="http://schemas.openxmlformats.org/officeDocument/2006/relationships/hyperlink" Target="https://machinelearningmastery.com/why-one-hot-encode-data-in-machine-learning/" TargetMode="External"/><Relationship Id="rId2" Type="http://schemas.openxmlformats.org/officeDocument/2006/relationships/hyperlink" Target="https://stackoverflow.com/questions/65472200/when-should-data-binning-be-used-in-data-processing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simplypsychology.org/boxplots.html" TargetMode="External"/><Relationship Id="rId11" Type="http://schemas.openxmlformats.org/officeDocument/2006/relationships/hyperlink" Target="https://medium.com/@kyawsawhtoon/log-transformation-purpose-and-interpretation-9444b4b049c9" TargetMode="External"/><Relationship Id="rId5" Type="http://schemas.openxmlformats.org/officeDocument/2006/relationships/hyperlink" Target="https://en.wikipedia.org/wiki/Data_binning" TargetMode="External"/><Relationship Id="rId10" Type="http://schemas.openxmlformats.org/officeDocument/2006/relationships/hyperlink" Target="https://www.kaggle.com/ryanholbrook/what-is-feature-engineering" TargetMode="External"/><Relationship Id="rId4" Type="http://schemas.openxmlformats.org/officeDocument/2006/relationships/hyperlink" Target="https://cxl.com/blog/outliers/" TargetMode="External"/><Relationship Id="rId9" Type="http://schemas.openxmlformats.org/officeDocument/2006/relationships/hyperlink" Target="https://towardsdatascience.com/feature-engineering-for-machine-learning-3a5e293a5114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1E58F78-8F27-2D4A-BD36-154CD23B3E50}"/>
              </a:ext>
            </a:extLst>
          </p:cNvPr>
          <p:cNvSpPr txBox="1"/>
          <p:nvPr/>
        </p:nvSpPr>
        <p:spPr>
          <a:xfrm>
            <a:off x="0" y="0"/>
            <a:ext cx="313508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/>
              <a:t>Feature Engineering</a:t>
            </a:r>
            <a:endParaRPr lang="el-GR" sz="2800" b="1" dirty="0">
              <a:solidFill>
                <a:srgbClr val="0070C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D4B9042-755B-8142-9C51-9DBAA5CBE393}"/>
              </a:ext>
            </a:extLst>
          </p:cNvPr>
          <p:cNvSpPr txBox="1"/>
          <p:nvPr/>
        </p:nvSpPr>
        <p:spPr>
          <a:xfrm>
            <a:off x="451623" y="2085628"/>
            <a:ext cx="7985521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Typical Operations: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Removing obviously non-relevant data</a:t>
            </a:r>
            <a:r>
              <a:rPr lang="en-US" sz="1400" dirty="0"/>
              <a:t> (empty or not-changing columns/rows, </a:t>
            </a:r>
            <a:r>
              <a:rPr lang="en-US" sz="1400" dirty="0" err="1"/>
              <a:t>row_id</a:t>
            </a:r>
            <a:r>
              <a:rPr lang="en-US" sz="1400" dirty="0"/>
              <a:t>, etc. 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Synthetic Features</a:t>
            </a:r>
            <a:r>
              <a:rPr lang="en-US" sz="1400" dirty="0"/>
              <a:t> (Example: Income / Price)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Select relevant columns</a:t>
            </a:r>
            <a:r>
              <a:rPr lang="en-US" sz="1400" dirty="0"/>
              <a:t> (Kolmogorov-Smirnov test, etc.)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Sparse features</a:t>
            </a:r>
            <a:r>
              <a:rPr lang="en-US" sz="1400" dirty="0"/>
              <a:t> – consider converting/combining (Example: grouping penny-stocks together)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Impute missing data</a:t>
            </a:r>
            <a:r>
              <a:rPr lang="en-US" sz="1400" dirty="0"/>
              <a:t> (with mean, median, most frequent, KNN, extrapolation or interpolation, </a:t>
            </a:r>
            <a:br>
              <a:rPr lang="en-US" sz="1400" dirty="0"/>
            </a:br>
            <a:r>
              <a:rPr lang="en-US" sz="1400" dirty="0"/>
              <a:t>MICE (Multivariate Imputation by Chained Equation), etc.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Outliers</a:t>
            </a:r>
            <a:r>
              <a:rPr lang="en-US" sz="1400" dirty="0"/>
              <a:t> (use box-plots and scatterplots to find), filter-out or change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Collinearity</a:t>
            </a:r>
            <a:r>
              <a:rPr lang="en-US" sz="1400" dirty="0"/>
              <a:t> – reduce (combine features, use PCA (Principal Component Analysis)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Factor Analysis</a:t>
            </a:r>
            <a:r>
              <a:rPr lang="en-US" sz="1400" dirty="0"/>
              <a:t> (finding underlying common factor for several features) – reduce number of features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Aggregating, Binning / Bucketing</a:t>
            </a:r>
            <a:r>
              <a:rPr lang="en-US" sz="1400" dirty="0"/>
              <a:t> - </a:t>
            </a:r>
            <a:r>
              <a:rPr lang="en-US" sz="1400" dirty="0">
                <a:solidFill>
                  <a:srgbClr val="0070C0"/>
                </a:solidFill>
              </a:rPr>
              <a:t>df[col] = </a:t>
            </a:r>
            <a:r>
              <a:rPr lang="en-US" sz="1400" dirty="0" err="1">
                <a:solidFill>
                  <a:srgbClr val="0070C0"/>
                </a:solidFill>
              </a:rPr>
              <a:t>pd.qcut</a:t>
            </a:r>
            <a:r>
              <a:rPr lang="en-US" sz="1400" dirty="0">
                <a:solidFill>
                  <a:srgbClr val="0070C0"/>
                </a:solidFill>
              </a:rPr>
              <a:t>(df[col], 10)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Grouping</a:t>
            </a:r>
            <a:r>
              <a:rPr lang="en-US" sz="1400" dirty="0"/>
              <a:t> of some features together (numeric - sum() or mean(), categorical – by frequency)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Transformations &amp; Interactions</a:t>
            </a:r>
            <a:r>
              <a:rPr lang="en-US" sz="1400" dirty="0"/>
              <a:t> (see H2O.ai Driverless AI as a good example)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One-hot Encoding</a:t>
            </a:r>
            <a:r>
              <a:rPr lang="en-US" sz="1400" dirty="0"/>
              <a:t> ( use </a:t>
            </a:r>
            <a:r>
              <a:rPr lang="en-US" sz="1400" dirty="0" err="1">
                <a:solidFill>
                  <a:srgbClr val="0070C0"/>
                </a:solidFill>
              </a:rPr>
              <a:t>pd.get_dummies</a:t>
            </a:r>
            <a:r>
              <a:rPr lang="en-US" sz="1400" dirty="0">
                <a:solidFill>
                  <a:srgbClr val="0070C0"/>
                </a:solidFill>
              </a:rPr>
              <a:t>()</a:t>
            </a:r>
            <a:r>
              <a:rPr lang="en-US" sz="1400" dirty="0"/>
              <a:t> function in pandas)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Split</a:t>
            </a:r>
            <a:r>
              <a:rPr lang="en-US" sz="1400" dirty="0"/>
              <a:t> features (for example, split text)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Scaling</a:t>
            </a:r>
            <a:r>
              <a:rPr lang="en-US" sz="1400" dirty="0"/>
              <a:t> (Normalization or Standardization)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Dates</a:t>
            </a:r>
            <a:r>
              <a:rPr lang="en-US" sz="1400" dirty="0"/>
              <a:t>  – convert to features (Day of week, Month, Year, Day of year, Quarter, diff between dates)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Feature Importance</a:t>
            </a:r>
            <a:r>
              <a:rPr lang="en-US" sz="1400" dirty="0"/>
              <a:t> – training with different subsets of features (ex. Random Forest) allows to figure out feature importance – and helps to remove non-important features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Text</a:t>
            </a:r>
            <a:r>
              <a:rPr lang="en-US" sz="1400" dirty="0"/>
              <a:t> - extract synthetic features (for example, sentiment (Positive, Neutral, Negative)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E8F02E2-B804-3D49-8568-CAAFA7ED1E9B}"/>
              </a:ext>
            </a:extLst>
          </p:cNvPr>
          <p:cNvSpPr txBox="1"/>
          <p:nvPr/>
        </p:nvSpPr>
        <p:spPr>
          <a:xfrm>
            <a:off x="4482158" y="102516"/>
            <a:ext cx="395498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Cleaning Data and Feature Engineering typically take 80% of time of a Data Science Project!</a:t>
            </a:r>
          </a:p>
        </p:txBody>
      </p:sp>
      <p:pic>
        <p:nvPicPr>
          <p:cNvPr id="7" name="Google Shape;81;p15">
            <a:extLst>
              <a:ext uri="{FF2B5EF4-FFF2-40B4-BE49-F238E27FC236}">
                <a16:creationId xmlns:a16="http://schemas.microsoft.com/office/drawing/2014/main" id="{1B3C544D-7EA8-254A-8E63-B2A44F3D699F}"/>
              </a:ext>
            </a:extLst>
          </p:cNvPr>
          <p:cNvPicPr preferRelativeResize="0"/>
          <p:nvPr/>
        </p:nvPicPr>
        <p:blipFill rotWithShape="1">
          <a:blip r:embed="rId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853346" y="986299"/>
            <a:ext cx="2971800" cy="1815883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C610F40-1E03-9C42-A60B-B20C8A43D782}"/>
              </a:ext>
            </a:extLst>
          </p:cNvPr>
          <p:cNvSpPr txBox="1"/>
          <p:nvPr/>
        </p:nvSpPr>
        <p:spPr>
          <a:xfrm>
            <a:off x="9065930" y="200054"/>
            <a:ext cx="26389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  <a:sym typeface="Arial"/>
              </a:rPr>
              <a:t>A feature is typically</a:t>
            </a:r>
          </a:p>
          <a:p>
            <a:pPr algn="ctr"/>
            <a:r>
              <a:rPr lang="en-US" dirty="0">
                <a:solidFill>
                  <a:srgbClr val="FF0000"/>
                </a:solidFill>
                <a:sym typeface="Arial"/>
              </a:rPr>
              <a:t>a column in a data set</a:t>
            </a:r>
            <a:endParaRPr lang="en-US" dirty="0">
              <a:solidFill>
                <a:srgbClr val="FF0000"/>
              </a:solidFill>
            </a:endParaRPr>
          </a:p>
        </p:txBody>
      </p:sp>
      <p:pic>
        <p:nvPicPr>
          <p:cNvPr id="8" name="Google Shape;90;p16">
            <a:extLst>
              <a:ext uri="{FF2B5EF4-FFF2-40B4-BE49-F238E27FC236}">
                <a16:creationId xmlns:a16="http://schemas.microsoft.com/office/drawing/2014/main" id="{1BF10137-5A40-7F47-85B0-1907554F3385}"/>
              </a:ext>
            </a:extLst>
          </p:cNvPr>
          <p:cNvPicPr preferRelativeResize="0"/>
          <p:nvPr/>
        </p:nvPicPr>
        <p:blipFill rotWithShape="1"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642578" y="4786318"/>
            <a:ext cx="1485700" cy="1400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Google Shape;90;p16">
            <a:extLst>
              <a:ext uri="{FF2B5EF4-FFF2-40B4-BE49-F238E27FC236}">
                <a16:creationId xmlns:a16="http://schemas.microsoft.com/office/drawing/2014/main" id="{30067E4C-6093-1B4B-9248-DE02B18A895A}"/>
              </a:ext>
            </a:extLst>
          </p:cNvPr>
          <p:cNvPicPr preferRelativeResize="0"/>
          <p:nvPr/>
        </p:nvPicPr>
        <p:blipFill rotWithShape="1"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6"/>
          <a:stretch/>
        </p:blipFill>
        <p:spPr>
          <a:xfrm>
            <a:off x="8919611" y="4786318"/>
            <a:ext cx="543221" cy="1441207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Right Arrow 5">
            <a:extLst>
              <a:ext uri="{FF2B5EF4-FFF2-40B4-BE49-F238E27FC236}">
                <a16:creationId xmlns:a16="http://schemas.microsoft.com/office/drawing/2014/main" id="{022D9886-16C6-3646-99D3-276BAFC5499F}"/>
              </a:ext>
            </a:extLst>
          </p:cNvPr>
          <p:cNvSpPr/>
          <p:nvPr/>
        </p:nvSpPr>
        <p:spPr>
          <a:xfrm>
            <a:off x="9801225" y="5316684"/>
            <a:ext cx="584173" cy="29830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63BF310-51BA-FF48-86E5-39C03E02A01A}"/>
              </a:ext>
            </a:extLst>
          </p:cNvPr>
          <p:cNvSpPr txBox="1"/>
          <p:nvPr/>
        </p:nvSpPr>
        <p:spPr>
          <a:xfrm>
            <a:off x="9065930" y="4126161"/>
            <a:ext cx="26389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  <a:sym typeface="Arial"/>
              </a:rPr>
              <a:t>One-Hot Encoding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44B9BAE-86AB-BD4A-99D2-8E91F13A3B86}"/>
              </a:ext>
            </a:extLst>
          </p:cNvPr>
          <p:cNvSpPr txBox="1"/>
          <p:nvPr/>
        </p:nvSpPr>
        <p:spPr>
          <a:xfrm>
            <a:off x="136367" y="564181"/>
            <a:ext cx="3929589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i="1" dirty="0">
                <a:solidFill>
                  <a:srgbClr val="0070C0"/>
                </a:solidFill>
                <a:sym typeface="Arial"/>
              </a:rPr>
              <a:t>"Feature engineering is the process of transforming raw data into features that better represent the underlying problem to the predictive models, resulting in improved model accuracy on unseen data."  - Dr. Jason Brownlee</a:t>
            </a:r>
          </a:p>
        </p:txBody>
      </p:sp>
    </p:spTree>
    <p:extLst>
      <p:ext uri="{BB962C8B-B14F-4D97-AF65-F5344CB8AC3E}">
        <p14:creationId xmlns:p14="http://schemas.microsoft.com/office/powerpoint/2010/main" val="14212585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1E58F78-8F27-2D4A-BD36-154CD23B3E50}"/>
              </a:ext>
            </a:extLst>
          </p:cNvPr>
          <p:cNvSpPr txBox="1"/>
          <p:nvPr/>
        </p:nvSpPr>
        <p:spPr>
          <a:xfrm>
            <a:off x="0" y="0"/>
            <a:ext cx="580571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Feature Engineering Tools – part 1</a:t>
            </a:r>
            <a:endParaRPr lang="el-GR" sz="2800" b="1" dirty="0">
              <a:solidFill>
                <a:srgbClr val="0070C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D4B9042-755B-8142-9C51-9DBAA5CBE393}"/>
              </a:ext>
            </a:extLst>
          </p:cNvPr>
          <p:cNvSpPr txBox="1"/>
          <p:nvPr/>
        </p:nvSpPr>
        <p:spPr>
          <a:xfrm>
            <a:off x="177468" y="1037816"/>
            <a:ext cx="521392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FF0000"/>
                </a:solidFill>
              </a:rPr>
              <a:t>Pandas, NumPy, Matplotlib, Seaborn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FF0000"/>
                </a:solidFill>
              </a:rPr>
              <a:t>Scikit-learn Dataset transformations:</a:t>
            </a:r>
            <a:br>
              <a:rPr lang="en-US" sz="1200" dirty="0"/>
            </a:br>
            <a:r>
              <a:rPr lang="en-US" sz="1200" dirty="0">
                <a:hlinkClick r:id="rId2"/>
              </a:rPr>
              <a:t>https://scikit-learn.org/stable/data_transforms.html</a:t>
            </a:r>
            <a:r>
              <a:rPr lang="en-US" sz="12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FF0000"/>
                </a:solidFill>
              </a:rPr>
              <a:t>6.1. Pipelines and composite estimators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6.1.1. Pipeline: chaining estimators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6.1.2. Transforming target in regression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6.1.3. </a:t>
            </a:r>
            <a:r>
              <a:rPr lang="en-US" sz="1200" dirty="0" err="1"/>
              <a:t>FeatureUnion</a:t>
            </a:r>
            <a:r>
              <a:rPr lang="en-US" sz="1200" dirty="0"/>
              <a:t>: composite feature spaces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6.1.4. </a:t>
            </a:r>
            <a:r>
              <a:rPr lang="en-US" sz="1200" dirty="0" err="1"/>
              <a:t>ColumnTransformer</a:t>
            </a:r>
            <a:r>
              <a:rPr lang="en-US" sz="1200" dirty="0"/>
              <a:t> for heterogeneous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6.1.5. Visualizing Composite Estimators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FF0000"/>
                </a:solidFill>
              </a:rPr>
              <a:t>6.2. Feature extraction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6.2.1. Loading features from </a:t>
            </a:r>
            <a:r>
              <a:rPr lang="en-US" sz="1200" dirty="0" err="1"/>
              <a:t>dicts</a:t>
            </a:r>
            <a:endParaRPr lang="en-US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6.2.2. Feature hashing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6.2.3. Text feature extraction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6.2.4. Image feature extraction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FF0000"/>
                </a:solidFill>
              </a:rPr>
              <a:t>6.3. Preprocessing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6.3.1. Standardization, or mean removal and variance scaling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6.3.2. Non-linear transformation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6.3.3. Normalization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6.3.4. Encoding categorical features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6.3.5. Discretization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6.3.6. Imputation of missing values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6.3.7. Generating polynomial features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6.3.8. Custom transformers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6BFD13-EC08-4B43-B05E-F80BA3BE2EBC}"/>
              </a:ext>
            </a:extLst>
          </p:cNvPr>
          <p:cNvSpPr txBox="1"/>
          <p:nvPr/>
        </p:nvSpPr>
        <p:spPr>
          <a:xfrm>
            <a:off x="6700820" y="335845"/>
            <a:ext cx="4479634" cy="61863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FF0000"/>
                </a:solidFill>
              </a:rPr>
              <a:t>6.4. Imputation of missing values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6.4.1. Univariate vs. Multivariate Imputation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6.4.2. Univariate feature imputation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6.4.3. Multivariate feature imputation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6.4.4. References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6.4.5. Nearest neighbors imputation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6.4.6. Marking imputed values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FF0000"/>
                </a:solidFill>
              </a:rPr>
              <a:t>6.5. Unsupervised dimensionality reduction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6.5.1. PCA: principal component analysis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6.5.2. Random projections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6.5.3. Feature agglomeration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FF0000"/>
                </a:solidFill>
              </a:rPr>
              <a:t>6.6. Random Projection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6.6.1. The Johnson-</a:t>
            </a:r>
            <a:r>
              <a:rPr lang="en-US" sz="1200" dirty="0" err="1"/>
              <a:t>Lindenstrauss</a:t>
            </a:r>
            <a:r>
              <a:rPr lang="en-US" sz="1200" dirty="0"/>
              <a:t> lemma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6.6.2. Gaussian random projection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6.6.3. Sparse random projection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FF0000"/>
                </a:solidFill>
              </a:rPr>
              <a:t>6.7. Kernel Approximatio</a:t>
            </a:r>
            <a:r>
              <a:rPr lang="en-US" sz="1200" dirty="0"/>
              <a:t>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6.7.1. </a:t>
            </a:r>
            <a:r>
              <a:rPr lang="en-US" sz="1200" dirty="0" err="1"/>
              <a:t>Nystroem</a:t>
            </a:r>
            <a:r>
              <a:rPr lang="en-US" sz="1200" dirty="0"/>
              <a:t> Method for Kernel Approximation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6.7.2. Radial Basis Function Kernel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6.7.3. Additive Chi Squared Kernel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6.7.4. Skewed Chi Squared Kernel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6.7.5. Polynomial Kernel Approximation via Tensor Sketch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6.7.6. Mathematical Details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FF0000"/>
                </a:solidFill>
              </a:rPr>
              <a:t>6.8. Pairwise metrics, Affinities and Kernels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6.8.1. Cosine similarity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6.8.2. Linear kernel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6.8.3. Polynomial kernel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6.8.4. Sigmoid kernel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6.8.5. RBF kernel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6.8.6. Laplacian kernel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6.8.7. Chi-squared kernel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FF0000"/>
                </a:solidFill>
              </a:rPr>
              <a:t>6.9. Transforming the prediction target (y)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6.9.1. Label binarization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6.9.2. Label encoding</a:t>
            </a:r>
          </a:p>
        </p:txBody>
      </p:sp>
    </p:spTree>
    <p:extLst>
      <p:ext uri="{BB962C8B-B14F-4D97-AF65-F5344CB8AC3E}">
        <p14:creationId xmlns:p14="http://schemas.microsoft.com/office/powerpoint/2010/main" val="5961683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1E58F78-8F27-2D4A-BD36-154CD23B3E50}"/>
              </a:ext>
            </a:extLst>
          </p:cNvPr>
          <p:cNvSpPr txBox="1"/>
          <p:nvPr/>
        </p:nvSpPr>
        <p:spPr>
          <a:xfrm>
            <a:off x="0" y="0"/>
            <a:ext cx="580571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Feature Engineering Tools - part 2</a:t>
            </a:r>
            <a:endParaRPr lang="el-GR" sz="2800" b="1" dirty="0">
              <a:solidFill>
                <a:srgbClr val="0070C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D4B9042-755B-8142-9C51-9DBAA5CBE393}"/>
              </a:ext>
            </a:extLst>
          </p:cNvPr>
          <p:cNvSpPr txBox="1"/>
          <p:nvPr/>
        </p:nvSpPr>
        <p:spPr>
          <a:xfrm>
            <a:off x="2662671" y="1058494"/>
            <a:ext cx="9334257" cy="54784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Kolmogorov-Smirnov </a:t>
            </a:r>
            <a:r>
              <a:rPr lang="en-US" sz="1400" dirty="0"/>
              <a:t>test – helps to find essential features</a:t>
            </a:r>
            <a:br>
              <a:rPr lang="en-US" sz="1400" dirty="0"/>
            </a:br>
            <a:r>
              <a:rPr lang="en-US" sz="1400" b="1" dirty="0">
                <a:solidFill>
                  <a:srgbClr val="0070C0"/>
                </a:solidFill>
              </a:rPr>
              <a:t>from </a:t>
            </a:r>
            <a:r>
              <a:rPr lang="en-US" sz="1400" b="1" dirty="0" err="1">
                <a:solidFill>
                  <a:srgbClr val="0070C0"/>
                </a:solidFill>
              </a:rPr>
              <a:t>scipy.stats</a:t>
            </a:r>
            <a:r>
              <a:rPr lang="en-US" sz="1400" b="1" dirty="0">
                <a:solidFill>
                  <a:srgbClr val="0070C0"/>
                </a:solidFill>
              </a:rPr>
              <a:t> import ks_2samp</a:t>
            </a:r>
            <a:br>
              <a:rPr lang="en-US" sz="1400" dirty="0"/>
            </a:br>
            <a:r>
              <a:rPr lang="en-US" sz="1400" dirty="0"/>
              <a:t>- </a:t>
            </a:r>
            <a:r>
              <a:rPr lang="en-US" sz="1400" dirty="0">
                <a:hlinkClick r:id="rId2"/>
              </a:rPr>
              <a:t>https://en.wikipedia.org/wiki/Kolmogorov%E2%80%93Smirnov_test</a:t>
            </a:r>
            <a:r>
              <a:rPr lang="en-US" sz="1400" dirty="0"/>
              <a:t> </a:t>
            </a:r>
            <a:br>
              <a:rPr lang="en-US" sz="1400" dirty="0"/>
            </a:br>
            <a:r>
              <a:rPr lang="en-US" sz="1400" dirty="0"/>
              <a:t>- </a:t>
            </a:r>
            <a:r>
              <a:rPr lang="en-US" sz="1400" dirty="0">
                <a:hlinkClick r:id="rId3"/>
              </a:rPr>
              <a:t>https://stats.stackexchange.com/questions/1001/is-spearmans-correlation-coefficient-usable-to-compare-distributions</a:t>
            </a:r>
            <a:r>
              <a:rPr lang="en-US" sz="14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 err="1">
                <a:solidFill>
                  <a:srgbClr val="FF0000"/>
                </a:solidFill>
              </a:rPr>
              <a:t>Featuretools</a:t>
            </a:r>
            <a:r>
              <a:rPr lang="en-US" sz="1400" dirty="0"/>
              <a:t> - open source python framework for automated feature engineering</a:t>
            </a:r>
            <a:br>
              <a:rPr lang="en-US" sz="1400" dirty="0"/>
            </a:br>
            <a:r>
              <a:rPr lang="en-US" sz="1400" dirty="0"/>
              <a:t>- </a:t>
            </a:r>
            <a:r>
              <a:rPr lang="en-US" sz="1400" dirty="0">
                <a:hlinkClick r:id="rId4"/>
              </a:rPr>
              <a:t>https://www.featuretools.com/</a:t>
            </a:r>
            <a:r>
              <a:rPr lang="en-US" sz="1400" dirty="0"/>
              <a:t> </a:t>
            </a:r>
          </a:p>
          <a:p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TSFRESH</a:t>
            </a:r>
            <a:r>
              <a:rPr lang="en-US" sz="1400" dirty="0"/>
              <a:t> python package</a:t>
            </a:r>
            <a:br>
              <a:rPr lang="en-US" sz="1400" dirty="0"/>
            </a:br>
            <a:r>
              <a:rPr lang="en-US" sz="1400" dirty="0"/>
              <a:t>"Time Series Feature Extraction based on Scalable Hypothesis tests"</a:t>
            </a:r>
            <a:br>
              <a:rPr lang="en-US" sz="1400" dirty="0"/>
            </a:br>
            <a:r>
              <a:rPr lang="en-US" sz="1400" dirty="0"/>
              <a:t>- </a:t>
            </a:r>
            <a:r>
              <a:rPr lang="en-US" sz="1400" dirty="0">
                <a:hlinkClick r:id="rId5"/>
              </a:rPr>
              <a:t>https://github.com/blue-yonder/tsfresh</a:t>
            </a:r>
            <a:r>
              <a:rPr lang="en-US" sz="1400" dirty="0"/>
              <a:t>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 err="1">
                <a:solidFill>
                  <a:srgbClr val="FF0000"/>
                </a:solidFill>
              </a:rPr>
              <a:t>autofeat</a:t>
            </a:r>
            <a:r>
              <a:rPr lang="en-US" sz="1400" dirty="0"/>
              <a:t> (Automated Feature Engineering and Selection)</a:t>
            </a:r>
            <a:br>
              <a:rPr lang="en-US" sz="1400" dirty="0"/>
            </a:br>
            <a:r>
              <a:rPr lang="en-US" sz="1400" dirty="0"/>
              <a:t>- </a:t>
            </a:r>
            <a:r>
              <a:rPr lang="en-US" sz="1400" dirty="0">
                <a:hlinkClick r:id="rId6"/>
              </a:rPr>
              <a:t>https://github.com/cod3licious/autofeat</a:t>
            </a:r>
            <a:r>
              <a:rPr lang="en-US" sz="1400" dirty="0"/>
              <a:t> </a:t>
            </a:r>
            <a:br>
              <a:rPr lang="en-US" sz="1400" dirty="0"/>
            </a:br>
            <a:r>
              <a:rPr lang="en-US" sz="1400" dirty="0"/>
              <a:t>- </a:t>
            </a:r>
            <a:r>
              <a:rPr lang="en-US" sz="1400" dirty="0">
                <a:hlinkClick r:id="rId7"/>
              </a:rPr>
              <a:t>https://arxiv.org/abs/1901.07329</a:t>
            </a:r>
            <a:r>
              <a:rPr lang="en-US" sz="14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 err="1">
                <a:solidFill>
                  <a:srgbClr val="FF0000"/>
                </a:solidFill>
              </a:rPr>
              <a:t>PyFeat</a:t>
            </a:r>
            <a:r>
              <a:rPr lang="en-US" sz="1400" dirty="0"/>
              <a:t> - A Python-based Effective Feature Generation Tool from DNA, RNA, and Protein Sequences</a:t>
            </a:r>
            <a:br>
              <a:rPr lang="en-US" sz="1400" dirty="0"/>
            </a:br>
            <a:r>
              <a:rPr lang="en-US" sz="1400" dirty="0"/>
              <a:t>- </a:t>
            </a:r>
            <a:r>
              <a:rPr lang="en-US" sz="1400" dirty="0">
                <a:hlinkClick r:id="rId8"/>
              </a:rPr>
              <a:t>https://github.com/mrzResearchArena/PyFeat</a:t>
            </a:r>
            <a:r>
              <a:rPr lang="en-US" sz="14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Driverless AI from H2O.ai</a:t>
            </a:r>
            <a:br>
              <a:rPr lang="en-US" sz="1400" dirty="0"/>
            </a:br>
            <a:r>
              <a:rPr lang="en-US" sz="1400" dirty="0"/>
              <a:t>- </a:t>
            </a:r>
            <a:r>
              <a:rPr lang="en-US" sz="1400" dirty="0">
                <a:hlinkClick r:id="rId9"/>
              </a:rPr>
              <a:t>https://www.h2o.ai/products/h2o-driverless-ai/</a:t>
            </a:r>
            <a:r>
              <a:rPr lang="en-US" sz="1400" dirty="0"/>
              <a:t> </a:t>
            </a:r>
          </a:p>
          <a:p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 err="1">
                <a:solidFill>
                  <a:srgbClr val="FF0000"/>
                </a:solidFill>
              </a:rPr>
              <a:t>PyCaret</a:t>
            </a:r>
            <a:r>
              <a:rPr lang="en-US" sz="1400" b="1" dirty="0">
                <a:solidFill>
                  <a:srgbClr val="FF0000"/>
                </a:solidFill>
              </a:rPr>
              <a:t> </a:t>
            </a:r>
            <a:br>
              <a:rPr lang="en-US" sz="1400" dirty="0"/>
            </a:br>
            <a:r>
              <a:rPr lang="en-US" sz="1400" dirty="0"/>
              <a:t>- </a:t>
            </a:r>
            <a:r>
              <a:rPr lang="en-US" sz="1400" dirty="0">
                <a:hlinkClick r:id="rId10"/>
              </a:rPr>
              <a:t>https://pycaret.org/</a:t>
            </a:r>
            <a:r>
              <a:rPr lang="en-US" sz="1400" dirty="0"/>
              <a:t> </a:t>
            </a:r>
          </a:p>
          <a:p>
            <a:endParaRPr lang="en-US" sz="1400" dirty="0"/>
          </a:p>
        </p:txBody>
      </p:sp>
      <p:pic>
        <p:nvPicPr>
          <p:cNvPr id="1026" name="Picture 2" descr="Why Automated Feature Engineering Will Change the Way You Do Machine  Learning - KDnuggets">
            <a:extLst>
              <a:ext uri="{FF2B5EF4-FFF2-40B4-BE49-F238E27FC236}">
                <a16:creationId xmlns:a16="http://schemas.microsoft.com/office/drawing/2014/main" id="{E4176DE1-2F07-8F4B-A168-6E2DC16F0D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11411" y="2264693"/>
            <a:ext cx="1900925" cy="4419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GitHub - blue-yonder/tsfresh: Automatic extraction of relevant features  from time series:">
            <a:extLst>
              <a:ext uri="{FF2B5EF4-FFF2-40B4-BE49-F238E27FC236}">
                <a16:creationId xmlns:a16="http://schemas.microsoft.com/office/drawing/2014/main" id="{9B97A621-6342-C045-8B7D-AD476ABB887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1113973" y="2892219"/>
            <a:ext cx="895799" cy="5577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GitHub - cod3licious/autofeat: Linear Prediction Model with Automated  Feature Engineering and Selection Capabilities">
            <a:extLst>
              <a:ext uri="{FF2B5EF4-FFF2-40B4-BE49-F238E27FC236}">
                <a16:creationId xmlns:a16="http://schemas.microsoft.com/office/drawing/2014/main" id="{B40C633B-D0CE-4146-AF8A-E40E5D1FFE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788387" y="3845279"/>
            <a:ext cx="731520" cy="7315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GitHub - mrzResearchArena/PyFeat: A Python-based Effective Feature  Generation Tool from DNA, RNA, and Protein Sequences">
            <a:extLst>
              <a:ext uri="{FF2B5EF4-FFF2-40B4-BE49-F238E27FC236}">
                <a16:creationId xmlns:a16="http://schemas.microsoft.com/office/drawing/2014/main" id="{341908BB-9065-A242-B68C-39B35D35C87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758194" y="4500808"/>
            <a:ext cx="1267968" cy="7455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 descr="H2O.ai is the Open Source Leader in AI and ML">
            <a:extLst>
              <a:ext uri="{FF2B5EF4-FFF2-40B4-BE49-F238E27FC236}">
                <a16:creationId xmlns:a16="http://schemas.microsoft.com/office/drawing/2014/main" id="{A26920B0-525F-924C-81F0-59BB78FE02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776195" y="5173215"/>
            <a:ext cx="731520" cy="7315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Kolmogorov–Smirnov test - Wikipedia">
            <a:extLst>
              <a:ext uri="{FF2B5EF4-FFF2-40B4-BE49-F238E27FC236}">
                <a16:creationId xmlns:a16="http://schemas.microsoft.com/office/drawing/2014/main" id="{23D56247-5297-944E-AB16-AB518618EF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11186" y="1144331"/>
            <a:ext cx="1101374" cy="9067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GitHub - pycaret/pycaret: An open-source, low-code machine learning library  in Python">
            <a:extLst>
              <a:ext uri="{FF2B5EF4-FFF2-40B4-BE49-F238E27FC236}">
                <a16:creationId xmlns:a16="http://schemas.microsoft.com/office/drawing/2014/main" id="{3C1C91C6-4780-374A-B5F5-271178C9F89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632210" y="6036281"/>
            <a:ext cx="1393952" cy="260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901497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4A46AC6-B54C-BA45-9E4E-F2C6C36BF92C}"/>
              </a:ext>
            </a:extLst>
          </p:cNvPr>
          <p:cNvSpPr txBox="1"/>
          <p:nvPr/>
        </p:nvSpPr>
        <p:spPr>
          <a:xfrm>
            <a:off x="121920" y="693908"/>
            <a:ext cx="11594592" cy="56938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Google tesseract OCR</a:t>
            </a:r>
            <a:r>
              <a:rPr lang="en-US" sz="1400" dirty="0"/>
              <a:t> (HP 1985-2005, </a:t>
            </a:r>
            <a:r>
              <a:rPr lang="en-US" sz="1400" dirty="0" err="1"/>
              <a:t>Opensorced</a:t>
            </a:r>
            <a:r>
              <a:rPr lang="en-US" sz="1400" dirty="0"/>
              <a:t> in 2005, then developed by Google)</a:t>
            </a:r>
            <a:br>
              <a:rPr lang="en-US" sz="1400" dirty="0"/>
            </a:br>
            <a:r>
              <a:rPr lang="en-US" sz="1400" dirty="0"/>
              <a:t> - </a:t>
            </a:r>
            <a:r>
              <a:rPr lang="en-US" sz="1400" dirty="0">
                <a:hlinkClick r:id="rId2"/>
              </a:rPr>
              <a:t>https://github.com/tesseract-ocr/tesseract</a:t>
            </a:r>
            <a:br>
              <a:rPr lang="en-US" sz="1400" dirty="0"/>
            </a:br>
            <a:r>
              <a:rPr lang="en-US" sz="1400" dirty="0"/>
              <a:t> - </a:t>
            </a:r>
            <a:r>
              <a:rPr lang="en-US" sz="1400" dirty="0">
                <a:hlinkClick r:id="rId3"/>
              </a:rPr>
              <a:t>https://tesseract-ocr.github.io/tessdoc/Command-Line-Usage</a:t>
            </a:r>
            <a:br>
              <a:rPr lang="en-US" sz="1400" dirty="0"/>
            </a:br>
            <a:r>
              <a:rPr lang="en-US" sz="1400" dirty="0"/>
              <a:t> - </a:t>
            </a:r>
            <a:r>
              <a:rPr lang="en-US" sz="1400" dirty="0">
                <a:hlinkClick r:id="rId4"/>
              </a:rPr>
              <a:t>https://github.com/madmaze/pytesseract</a:t>
            </a:r>
            <a:br>
              <a:rPr lang="en-US" sz="1400" dirty="0"/>
            </a:br>
            <a:r>
              <a:rPr lang="en-US" sz="1400" dirty="0"/>
              <a:t> - https://</a:t>
            </a:r>
            <a:r>
              <a:rPr lang="en-US" sz="1400" dirty="0" err="1"/>
              <a:t>www.pyimagesearch.com</a:t>
            </a:r>
            <a:r>
              <a:rPr lang="en-US" sz="1400" dirty="0"/>
              <a:t>/2017/07/10/using-tesseract-</a:t>
            </a:r>
            <a:r>
              <a:rPr lang="en-US" sz="1400" dirty="0" err="1"/>
              <a:t>ocr</a:t>
            </a:r>
            <a:r>
              <a:rPr lang="en-US" sz="1400" dirty="0"/>
              <a:t>-python/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b="1" dirty="0" err="1">
                <a:solidFill>
                  <a:srgbClr val="FF0000"/>
                </a:solidFill>
              </a:rPr>
              <a:t>gvision</a:t>
            </a:r>
            <a:r>
              <a:rPr lang="en-US" sz="1400" dirty="0"/>
              <a:t> - </a:t>
            </a:r>
            <a:r>
              <a:rPr lang="en-US" sz="1400" dirty="0">
                <a:hlinkClick r:id="rId5"/>
              </a:rPr>
              <a:t>https://cloud.google.com/vision</a:t>
            </a:r>
            <a:r>
              <a:rPr lang="en-US" sz="1400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Document AI</a:t>
            </a:r>
            <a:r>
              <a:rPr lang="en-US" sz="1400" dirty="0"/>
              <a:t> - </a:t>
            </a:r>
            <a:r>
              <a:rPr lang="en-US" sz="1400" dirty="0">
                <a:hlinkClick r:id="rId6"/>
              </a:rPr>
              <a:t>https://cloud.google.com/solutions/document-ai</a:t>
            </a:r>
            <a:r>
              <a:rPr lang="en-US" sz="1400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AWS </a:t>
            </a:r>
            <a:r>
              <a:rPr lang="en-US" sz="1400" b="1" dirty="0" err="1">
                <a:solidFill>
                  <a:srgbClr val="FF0000"/>
                </a:solidFill>
              </a:rPr>
              <a:t>Textract</a:t>
            </a:r>
            <a:r>
              <a:rPr lang="en-US" sz="1400" dirty="0"/>
              <a:t> - </a:t>
            </a:r>
            <a:r>
              <a:rPr lang="en-US" sz="1400" dirty="0">
                <a:hlinkClick r:id="rId7"/>
              </a:rPr>
              <a:t>https://aws.amazon.com/textract/</a:t>
            </a:r>
            <a:r>
              <a:rPr lang="en-US" sz="1400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Microsoft cognitive services</a:t>
            </a:r>
            <a:br>
              <a:rPr lang="en-US" sz="1400" b="1" dirty="0">
                <a:solidFill>
                  <a:srgbClr val="FF0000"/>
                </a:solidFill>
              </a:rPr>
            </a:br>
            <a:r>
              <a:rPr lang="en-US" sz="1400" dirty="0"/>
              <a:t> - </a:t>
            </a:r>
            <a:r>
              <a:rPr lang="en-US" sz="1400" dirty="0">
                <a:hlinkClick r:id="rId8"/>
              </a:rPr>
              <a:t>https://azure.microsoft.com/is-is/services/cognitive-services/form-recognizer/</a:t>
            </a:r>
            <a:r>
              <a:rPr lang="en-US" sz="1400" dirty="0"/>
              <a:t> </a:t>
            </a:r>
            <a:br>
              <a:rPr lang="en-US" sz="1400" dirty="0"/>
            </a:br>
            <a:r>
              <a:rPr lang="en-US" sz="1400" dirty="0"/>
              <a:t> - </a:t>
            </a:r>
            <a:r>
              <a:rPr lang="en-US" sz="1400" dirty="0">
                <a:hlinkClick r:id="rId9"/>
              </a:rPr>
              <a:t>https://docs.microsoft.com/en-us/azure/cognitive-services/text-analytics/overview</a:t>
            </a:r>
            <a:r>
              <a:rPr lang="en-US" sz="1400" dirty="0"/>
              <a:t> </a:t>
            </a:r>
            <a:br>
              <a:rPr lang="en-US" sz="1400" dirty="0"/>
            </a:br>
            <a:r>
              <a:rPr lang="en-US" sz="1400" dirty="0"/>
              <a:t> - </a:t>
            </a:r>
            <a:r>
              <a:rPr lang="en-US" sz="1400" dirty="0">
                <a:hlinkClick r:id="rId10"/>
              </a:rPr>
              <a:t>https://azure.microsoft.com/en-ca/services/cognitive-services/text-analytics/</a:t>
            </a:r>
            <a:r>
              <a:rPr lang="en-US" sz="1400" dirty="0"/>
              <a:t> 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H2O Driverless AI</a:t>
            </a:r>
            <a:r>
              <a:rPr lang="en-US" sz="1400" dirty="0"/>
              <a:t>: Mark Landry NYC 2019 - H2O.ai - </a:t>
            </a:r>
            <a:r>
              <a:rPr lang="en-US" sz="1400" dirty="0" err="1"/>
              <a:t>OCR.ai</a:t>
            </a:r>
            <a:r>
              <a:rPr lang="en-US" sz="1400" dirty="0"/>
              <a:t>: Creating AI to Read Documents</a:t>
            </a:r>
            <a:br>
              <a:rPr lang="en-US" sz="1400" dirty="0"/>
            </a:br>
            <a:r>
              <a:rPr lang="en-US" sz="1400" dirty="0"/>
              <a:t> - </a:t>
            </a:r>
            <a:r>
              <a:rPr lang="en-US" sz="1400" dirty="0">
                <a:hlinkClick r:id="rId11"/>
              </a:rPr>
              <a:t>https://www.youtube.com/watch?v=LczYc2o0dNo</a:t>
            </a:r>
            <a:r>
              <a:rPr lang="en-US" sz="1400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dirty="0"/>
              <a:t>Open Source: </a:t>
            </a:r>
            <a:r>
              <a:rPr lang="en-US" sz="1400" dirty="0">
                <a:hlinkClick r:id="rId12"/>
              </a:rPr>
              <a:t>https://www.softwareadvice.com/resources/easiest-to-use-free-and-open-source-text-analysis-software/</a:t>
            </a:r>
            <a:r>
              <a:rPr lang="en-US" sz="1400" dirty="0"/>
              <a:t>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400" dirty="0"/>
              <a:t>AYLIEN Text Analysis Software, </a:t>
            </a:r>
            <a:r>
              <a:rPr lang="en-US" sz="1400" dirty="0" err="1"/>
              <a:t>Keatext</a:t>
            </a:r>
            <a:r>
              <a:rPr lang="en-US" sz="1400" dirty="0"/>
              <a:t> Software, KNIME Analytics Platform Software, Refinitiv Intelligent Tagging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dirty="0"/>
              <a:t>The Top 33 Information Extraction Open Source Projects - </a:t>
            </a:r>
            <a:r>
              <a:rPr lang="en-US" sz="1400" dirty="0">
                <a:hlinkClick r:id="rId13"/>
              </a:rPr>
              <a:t>https://awesomeopensource.com/projects/information-extraction</a:t>
            </a:r>
            <a:r>
              <a:rPr lang="en-US" sz="1400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Bloomberg</a:t>
            </a:r>
            <a:r>
              <a:rPr lang="en-US" sz="1400" dirty="0"/>
              <a:t> - information extraction, David Rosenberg, 2018</a:t>
            </a:r>
            <a:br>
              <a:rPr lang="en-US" sz="1400" dirty="0"/>
            </a:br>
            <a:r>
              <a:rPr lang="en-US" sz="1400" dirty="0"/>
              <a:t>- </a:t>
            </a:r>
            <a:r>
              <a:rPr lang="en-US" sz="1400" dirty="0">
                <a:hlinkClick r:id="rId14"/>
              </a:rPr>
              <a:t>https://twimlai.com/twiml-talk-126-information-extraction-natural-document-formats-david-rosenberg/</a:t>
            </a:r>
            <a:r>
              <a:rPr lang="en-US" sz="1400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dirty="0"/>
              <a:t>Extract from chart images: </a:t>
            </a:r>
            <a:br>
              <a:rPr lang="en-US" sz="1400" dirty="0"/>
            </a:br>
            <a:r>
              <a:rPr lang="en-US" sz="1400" dirty="0"/>
              <a:t>- </a:t>
            </a:r>
            <a:r>
              <a:rPr lang="en-US" sz="1400" dirty="0">
                <a:hlinkClick r:id="rId15"/>
              </a:rPr>
              <a:t>https://www.microsoft.com/en-us/research/wp-content/uploads/2017/02/ChartSense-CHI2017.pdf</a:t>
            </a:r>
            <a:r>
              <a:rPr lang="en-US" sz="1400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dirty="0"/>
              <a:t>Bloomberg - Information Extraction with Character-level Neural Networks and Free Noisy Supervision2017</a:t>
            </a:r>
            <a:br>
              <a:rPr lang="en-US" sz="1400" dirty="0"/>
            </a:br>
            <a:r>
              <a:rPr lang="en-US" sz="1400" dirty="0"/>
              <a:t> - </a:t>
            </a:r>
            <a:r>
              <a:rPr lang="en-US" sz="1400" dirty="0">
                <a:hlinkClick r:id="rId16"/>
              </a:rPr>
              <a:t>https://arxiv.org/pdf/1612.04118.pdf</a:t>
            </a:r>
            <a:r>
              <a:rPr lang="en-US" sz="1400" dirty="0"/>
              <a:t> -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dirty="0"/>
              <a:t>Best method to extract numerical data from product descriptions, 2018</a:t>
            </a:r>
            <a:br>
              <a:rPr lang="en-US" sz="1400" dirty="0"/>
            </a:br>
            <a:r>
              <a:rPr lang="en-US" sz="1400" dirty="0"/>
              <a:t> - </a:t>
            </a:r>
            <a:r>
              <a:rPr lang="en-US" sz="1400" dirty="0">
                <a:hlinkClick r:id="rId17"/>
              </a:rPr>
              <a:t>https://www.reddit.com/r/MachineLearning/comments/8f98z1/d_best_method_to_extract_numerical_data_from/</a:t>
            </a:r>
            <a:endParaRPr lang="en-US" sz="14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400" dirty="0"/>
              <a:t>...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9839A4E-8255-F949-B17B-59D08F3FFA8A}"/>
              </a:ext>
            </a:extLst>
          </p:cNvPr>
          <p:cNvSpPr txBox="1"/>
          <p:nvPr/>
        </p:nvSpPr>
        <p:spPr>
          <a:xfrm>
            <a:off x="0" y="0"/>
            <a:ext cx="69982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Feature Extraction from Documents – OCR</a:t>
            </a:r>
            <a:endParaRPr lang="el-GR" sz="2800" b="1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209485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1E58F78-8F27-2D4A-BD36-154CD23B3E50}"/>
              </a:ext>
            </a:extLst>
          </p:cNvPr>
          <p:cNvSpPr txBox="1"/>
          <p:nvPr/>
        </p:nvSpPr>
        <p:spPr>
          <a:xfrm>
            <a:off x="-1" y="0"/>
            <a:ext cx="59436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Extracting Features from Text - part 1</a:t>
            </a:r>
            <a:endParaRPr lang="el-GR" sz="2800" b="1" dirty="0">
              <a:solidFill>
                <a:srgbClr val="0070C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D4B9042-755B-8142-9C51-9DBAA5CBE393}"/>
              </a:ext>
            </a:extLst>
          </p:cNvPr>
          <p:cNvSpPr txBox="1"/>
          <p:nvPr/>
        </p:nvSpPr>
        <p:spPr>
          <a:xfrm>
            <a:off x="1010596" y="866120"/>
            <a:ext cx="8810297" cy="56938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Text Cleaning</a:t>
            </a:r>
            <a:r>
              <a:rPr lang="en-US" sz="1400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/>
              <a:t>Converting words into lowercase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/>
              <a:t>Removing leading and trailing whitespaces, punctuation, stop words (a, an, the, ...)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/>
              <a:t>Expanding contractions (don’t -&gt; do not)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/>
              <a:t>Removing special characters (numbers, emojis, </a:t>
            </a:r>
            <a:r>
              <a:rPr lang="en-US" sz="1400" dirty="0" err="1"/>
              <a:t>etc</a:t>
            </a:r>
            <a:r>
              <a:rPr lang="en-US" sz="1400" dirty="0"/>
              <a:t>), HTML/XML tags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/>
              <a:t>Replacing accented characters (such as </a:t>
            </a:r>
            <a:r>
              <a:rPr lang="en-US" sz="1400" dirty="0" err="1"/>
              <a:t>é</a:t>
            </a:r>
            <a:r>
              <a:rPr lang="en-US" sz="1400" dirty="0"/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/>
              <a:t>Correcting spelling errors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Tokenizing</a:t>
            </a:r>
            <a:r>
              <a:rPr lang="en-US" sz="1400" dirty="0"/>
              <a:t> - split text into tokens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Stemming</a:t>
            </a:r>
            <a:r>
              <a:rPr lang="en-US" sz="1400" dirty="0"/>
              <a:t> &amp; </a:t>
            </a:r>
            <a:r>
              <a:rPr lang="en-US" sz="1400" b="1" dirty="0">
                <a:solidFill>
                  <a:srgbClr val="FF0000"/>
                </a:solidFill>
              </a:rPr>
              <a:t>Lemmatization</a:t>
            </a:r>
            <a:r>
              <a:rPr lang="en-US" sz="1400" dirty="0"/>
              <a:t> - convert word into base forms: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/>
              <a:t>Stemming  - essentially chops off letters from the end until the stem is reached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/>
              <a:t>Lemmatization – more advanced:  "was" → "be", "mice" → "mouse"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POS tagging</a:t>
            </a:r>
            <a:r>
              <a:rPr lang="en-US" sz="1400" dirty="0"/>
              <a:t> (Part-Of-Speech). Careful – same word may get different POS tag in different contexts.</a:t>
            </a:r>
            <a:br>
              <a:rPr lang="en-US" sz="1400" dirty="0"/>
            </a:br>
            <a:r>
              <a:rPr lang="en-US" sz="1400" dirty="0"/>
              <a:t>For example: </a:t>
            </a:r>
            <a:r>
              <a:rPr lang="en-US" sz="1400" b="1" dirty="0">
                <a:solidFill>
                  <a:srgbClr val="FF0000"/>
                </a:solidFill>
              </a:rPr>
              <a:t>bear</a:t>
            </a:r>
            <a:r>
              <a:rPr lang="en-US" sz="1400" dirty="0"/>
              <a:t> is an animal (noun), please </a:t>
            </a:r>
            <a:r>
              <a:rPr lang="en-US" sz="1400" b="1" dirty="0">
                <a:solidFill>
                  <a:srgbClr val="FF0000"/>
                </a:solidFill>
              </a:rPr>
              <a:t>bear</a:t>
            </a:r>
            <a:r>
              <a:rPr lang="en-US" sz="1400" dirty="0"/>
              <a:t> with me (verb)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Sentiment analysis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Word Sense Disambiguation</a:t>
            </a:r>
            <a:r>
              <a:rPr lang="en-US" sz="1400" dirty="0"/>
              <a:t> by asking questions (chatbot)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Name Entity Recognition</a:t>
            </a:r>
            <a:r>
              <a:rPr lang="en-US" sz="1400" dirty="0"/>
              <a:t> - identify/categorize names of persons, organizations, locations, expression of times, quantities, monetary values, percentages, etc.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Bag of Words</a:t>
            </a:r>
            <a:r>
              <a:rPr lang="en-US" sz="1400" dirty="0"/>
              <a:t>(</a:t>
            </a:r>
            <a:r>
              <a:rPr lang="en-US" sz="1400" dirty="0" err="1"/>
              <a:t>BoW</a:t>
            </a:r>
            <a:r>
              <a:rPr lang="en-US" sz="1400" dirty="0"/>
              <a:t>) – calculate frequency of each word (drawback - doesn't understand order of words)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N-gram</a:t>
            </a:r>
            <a:r>
              <a:rPr lang="en-US" sz="1400" dirty="0"/>
              <a:t> - set of N  sequential word tokens in a given document (</a:t>
            </a:r>
            <a:r>
              <a:rPr lang="en-US" sz="1400" dirty="0" err="1"/>
              <a:t>BoW</a:t>
            </a:r>
            <a:r>
              <a:rPr lang="en-US" sz="1400" dirty="0"/>
              <a:t> is basically a unigram model (N=1))</a:t>
            </a:r>
            <a:br>
              <a:rPr lang="en-US" sz="1400" dirty="0"/>
            </a:br>
            <a:r>
              <a:rPr lang="en-US" sz="1400" dirty="0"/>
              <a:t>Problems with N-grams: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/>
              <a:t>very high-dimensional and sparse set (difficult to train a model)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/>
              <a:t>observation to appear equidistant from all the others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TF-IDF</a:t>
            </a:r>
            <a:r>
              <a:rPr lang="en-US" sz="1400" dirty="0"/>
              <a:t> (Term Frequency-Inverse Document Frequency) – better than N-grams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Word embeddings</a:t>
            </a:r>
            <a:r>
              <a:rPr lang="en-US" sz="1400" dirty="0"/>
              <a:t> – even better. Maps words into an n-dimensional vector space (using deep learning).</a:t>
            </a:r>
            <a:br>
              <a:rPr lang="en-US" sz="1400" dirty="0"/>
            </a:br>
            <a:r>
              <a:rPr lang="en-US" sz="1400" dirty="0"/>
              <a:t>Examples: </a:t>
            </a:r>
            <a:r>
              <a:rPr lang="en-US" sz="1400" b="1" dirty="0">
                <a:solidFill>
                  <a:srgbClr val="0070C0"/>
                </a:solidFill>
              </a:rPr>
              <a:t>Word2Vec</a:t>
            </a:r>
            <a:r>
              <a:rPr lang="en-US" sz="1400" dirty="0"/>
              <a:t> by Google, </a:t>
            </a:r>
            <a:r>
              <a:rPr lang="en-US" sz="1400" b="1" dirty="0" err="1">
                <a:solidFill>
                  <a:srgbClr val="0070C0"/>
                </a:solidFill>
              </a:rPr>
              <a:t>Fasttext</a:t>
            </a:r>
            <a:r>
              <a:rPr lang="en-US" sz="1400" b="1" dirty="0">
                <a:solidFill>
                  <a:srgbClr val="0070C0"/>
                </a:solidFill>
              </a:rPr>
              <a:t> </a:t>
            </a:r>
            <a:r>
              <a:rPr lang="en-US" sz="1400" dirty="0"/>
              <a:t>by Facebook, </a:t>
            </a:r>
            <a:r>
              <a:rPr lang="en-US" sz="1400" b="1" dirty="0">
                <a:solidFill>
                  <a:srgbClr val="0070C0"/>
                </a:solidFill>
              </a:rPr>
              <a:t>Glove</a:t>
            </a:r>
            <a:r>
              <a:rPr lang="en-US" sz="1400" dirty="0"/>
              <a:t> by </a:t>
            </a:r>
            <a:r>
              <a:rPr lang="en-US" sz="1400" dirty="0" err="1"/>
              <a:t>Standford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8524781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1E58F78-8F27-2D4A-BD36-154CD23B3E50}"/>
              </a:ext>
            </a:extLst>
          </p:cNvPr>
          <p:cNvSpPr txBox="1"/>
          <p:nvPr/>
        </p:nvSpPr>
        <p:spPr>
          <a:xfrm>
            <a:off x="-1" y="0"/>
            <a:ext cx="59436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Extracting Features from Text - part 2</a:t>
            </a:r>
            <a:endParaRPr lang="el-GR" sz="2800" b="1" dirty="0">
              <a:solidFill>
                <a:srgbClr val="0070C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D4B9042-755B-8142-9C51-9DBAA5CBE393}"/>
              </a:ext>
            </a:extLst>
          </p:cNvPr>
          <p:cNvSpPr txBox="1"/>
          <p:nvPr/>
        </p:nvSpPr>
        <p:spPr>
          <a:xfrm>
            <a:off x="654821" y="1012954"/>
            <a:ext cx="6061716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Resources: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Continuous Numeric Data. Strategies for working with continuous … - by </a:t>
            </a:r>
            <a:r>
              <a:rPr lang="en-US" sz="1400" dirty="0" err="1"/>
              <a:t>Dipanjan</a:t>
            </a:r>
            <a:r>
              <a:rPr lang="en-US" sz="1400" dirty="0"/>
              <a:t> (DJ) Sarkar </a:t>
            </a:r>
            <a:br>
              <a:rPr lang="en-US" sz="1400" dirty="0"/>
            </a:br>
            <a:r>
              <a:rPr lang="en-US" sz="1400" dirty="0"/>
              <a:t>- </a:t>
            </a:r>
            <a:r>
              <a:rPr lang="en-US" sz="1400" dirty="0">
                <a:hlinkClick r:id="rId2"/>
              </a:rPr>
              <a:t>https://towardsdatascience.com/understanding-feature-engineering-part-1-continuous-numeric-data-da4e47099a7b</a:t>
            </a:r>
            <a:r>
              <a:rPr lang="en-US" sz="14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Traditional Methods for Text Data - by </a:t>
            </a:r>
            <a:r>
              <a:rPr lang="en-US" sz="1400" dirty="0" err="1"/>
              <a:t>Dipanjan</a:t>
            </a:r>
            <a:r>
              <a:rPr lang="en-US" sz="1400" dirty="0"/>
              <a:t> (DJ) Sarkar</a:t>
            </a:r>
            <a:br>
              <a:rPr lang="en-US" sz="1400" dirty="0"/>
            </a:br>
            <a:r>
              <a:rPr lang="en-US" sz="1400" dirty="0"/>
              <a:t> - </a:t>
            </a:r>
            <a:r>
              <a:rPr lang="en-US" sz="1400" dirty="0">
                <a:hlinkClick r:id="rId3"/>
              </a:rPr>
              <a:t>https://towardsdatascience.com/understanding-feature-engineering-part-3-traditional-methods-for-text-data-f6f7d70acd41</a:t>
            </a:r>
            <a:r>
              <a:rPr lang="en-US" sz="14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Text Vectorization: Bag of Words (</a:t>
            </a:r>
            <a:r>
              <a:rPr lang="en-US" sz="1400" dirty="0" err="1"/>
              <a:t>BoW</a:t>
            </a:r>
            <a:r>
              <a:rPr lang="en-US" sz="1400" dirty="0"/>
              <a:t>) - by Vaibhav </a:t>
            </a:r>
            <a:r>
              <a:rPr lang="en-US" sz="1400" dirty="0" err="1"/>
              <a:t>Jayaswal</a:t>
            </a:r>
            <a:br>
              <a:rPr lang="en-US" sz="1400" dirty="0"/>
            </a:br>
            <a:r>
              <a:rPr lang="en-US" sz="1400" dirty="0"/>
              <a:t> - </a:t>
            </a:r>
            <a:r>
              <a:rPr lang="en-US" sz="1400" dirty="0">
                <a:hlinkClick r:id="rId4"/>
              </a:rPr>
              <a:t>https://towardsdatascience.com/text-vectorization-bag-of-words-bow-441d1bfce897</a:t>
            </a:r>
            <a:r>
              <a:rPr lang="en-US" sz="14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Understanding NLP Word Embeddings — Text Vectorization - by Prabhu </a:t>
            </a:r>
            <a:br>
              <a:rPr lang="en-US" sz="1400" dirty="0"/>
            </a:br>
            <a:r>
              <a:rPr lang="en-US" sz="1400" dirty="0"/>
              <a:t>- </a:t>
            </a:r>
            <a:r>
              <a:rPr lang="en-US" sz="1400" dirty="0">
                <a:hlinkClick r:id="rId5"/>
              </a:rPr>
              <a:t>https://towardsdatascience.com/understanding-nlp-word-embeddings-text-vectorization-1a23744f7223</a:t>
            </a:r>
            <a:r>
              <a:rPr lang="en-US" sz="14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The Curse of Dimensionality. Why High Dimensional Data Can Be So… - by Tony </a:t>
            </a:r>
            <a:r>
              <a:rPr lang="en-US" sz="1400" dirty="0" err="1"/>
              <a:t>Yiu</a:t>
            </a:r>
            <a:r>
              <a:rPr lang="en-US" sz="1400" dirty="0"/>
              <a:t> </a:t>
            </a:r>
            <a:br>
              <a:rPr lang="en-US" sz="1400" dirty="0"/>
            </a:br>
            <a:r>
              <a:rPr lang="en-US" sz="1400" dirty="0"/>
              <a:t>- </a:t>
            </a:r>
            <a:r>
              <a:rPr lang="en-US" sz="1400" dirty="0">
                <a:hlinkClick r:id="rId6"/>
              </a:rPr>
              <a:t>https://towardsdatascience.com/the-curse-of-dimensionality-50dc6e49aa1e</a:t>
            </a:r>
            <a:r>
              <a:rPr lang="en-US" sz="14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5 Heroic Python NLP Libraries (</a:t>
            </a:r>
            <a:r>
              <a:rPr lang="en-US" sz="1400" dirty="0" err="1"/>
              <a:t>elitedatascience.com</a:t>
            </a:r>
            <a:r>
              <a:rPr lang="en-US" sz="1400" dirty="0"/>
              <a:t>) </a:t>
            </a:r>
            <a:br>
              <a:rPr lang="en-US" sz="1400" dirty="0"/>
            </a:br>
            <a:r>
              <a:rPr lang="en-US" sz="1400" dirty="0"/>
              <a:t>- </a:t>
            </a:r>
            <a:r>
              <a:rPr lang="en-US" sz="1400" dirty="0">
                <a:hlinkClick r:id="rId7"/>
              </a:rPr>
              <a:t>https://elitedatascience.com/python-nlp-libraries</a:t>
            </a:r>
            <a:r>
              <a:rPr lang="en-US" sz="14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5BF9403-69C5-924D-9453-8FC2127BB793}"/>
              </a:ext>
            </a:extLst>
          </p:cNvPr>
          <p:cNvSpPr txBox="1"/>
          <p:nvPr/>
        </p:nvSpPr>
        <p:spPr>
          <a:xfrm>
            <a:off x="9841028" y="1639075"/>
            <a:ext cx="1828800" cy="41857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Sci-kit learn</a:t>
            </a:r>
          </a:p>
          <a:p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NLTK</a:t>
            </a:r>
          </a:p>
          <a:p>
            <a:endParaRPr lang="en-US" sz="1400" dirty="0"/>
          </a:p>
          <a:p>
            <a:endParaRPr lang="en-US" sz="1400" dirty="0"/>
          </a:p>
          <a:p>
            <a:endParaRPr lang="en-US" sz="1400" dirty="0"/>
          </a:p>
          <a:p>
            <a:r>
              <a:rPr lang="en-US" sz="1400" dirty="0" err="1"/>
              <a:t>spaCy</a:t>
            </a:r>
            <a:endParaRPr lang="en-US" sz="1400" dirty="0"/>
          </a:p>
          <a:p>
            <a:endParaRPr lang="en-US" sz="1400" dirty="0"/>
          </a:p>
          <a:p>
            <a:endParaRPr lang="en-US" sz="1400" dirty="0"/>
          </a:p>
          <a:p>
            <a:r>
              <a:rPr lang="en-US" sz="1400" dirty="0" err="1"/>
              <a:t>Gensim</a:t>
            </a:r>
            <a:endParaRPr lang="en-US" sz="1400" dirty="0"/>
          </a:p>
          <a:p>
            <a:endParaRPr lang="en-US" sz="1400" dirty="0"/>
          </a:p>
          <a:p>
            <a:endParaRPr lang="en-US" sz="1400" dirty="0"/>
          </a:p>
          <a:p>
            <a:r>
              <a:rPr lang="en-US" sz="1400" dirty="0" err="1"/>
              <a:t>Textblob</a:t>
            </a:r>
            <a:endParaRPr lang="en-US" sz="1400" dirty="0"/>
          </a:p>
          <a:p>
            <a:endParaRPr lang="en-US" sz="1400" dirty="0"/>
          </a:p>
          <a:p>
            <a:endParaRPr lang="en-US" sz="1400" dirty="0"/>
          </a:p>
          <a:p>
            <a:endParaRPr lang="en-US" sz="1400" dirty="0"/>
          </a:p>
          <a:p>
            <a:r>
              <a:rPr lang="en-US" sz="1400" dirty="0" err="1"/>
              <a:t>Standford</a:t>
            </a:r>
            <a:r>
              <a:rPr lang="en-US" sz="1400" dirty="0"/>
              <a:t> </a:t>
            </a:r>
            <a:r>
              <a:rPr lang="en-US" sz="1400" dirty="0" err="1"/>
              <a:t>CoreNLP</a:t>
            </a:r>
            <a:endParaRPr lang="en-US" sz="1400" dirty="0"/>
          </a:p>
          <a:p>
            <a:endParaRPr lang="en-US" sz="1400" dirty="0"/>
          </a:p>
        </p:txBody>
      </p:sp>
      <p:pic>
        <p:nvPicPr>
          <p:cNvPr id="6" name="Google Shape;214;p34" descr="scikit-learn - Wikipedia">
            <a:extLst>
              <a:ext uri="{FF2B5EF4-FFF2-40B4-BE49-F238E27FC236}">
                <a16:creationId xmlns:a16="http://schemas.microsoft.com/office/drawing/2014/main" id="{4418D238-DD05-2941-A9F8-D4CFE885A7CE}"/>
              </a:ext>
            </a:extLst>
          </p:cNvPr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597712" y="1472030"/>
            <a:ext cx="1014716" cy="5471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215;p34" descr="spaCy - Wikipedia">
            <a:extLst>
              <a:ext uri="{FF2B5EF4-FFF2-40B4-BE49-F238E27FC236}">
                <a16:creationId xmlns:a16="http://schemas.microsoft.com/office/drawing/2014/main" id="{4BB2C685-CAF5-4443-8449-D8755D639D7B}"/>
              </a:ext>
            </a:extLst>
          </p:cNvPr>
          <p:cNvPicPr preferRelativeResize="0"/>
          <p:nvPr/>
        </p:nvPicPr>
        <p:blipFill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687951" y="3104169"/>
            <a:ext cx="924477" cy="331920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216;p34" descr="TextBlob: Simplified Text Processing — TextBlob 0.16.0 documentation">
            <a:extLst>
              <a:ext uri="{FF2B5EF4-FFF2-40B4-BE49-F238E27FC236}">
                <a16:creationId xmlns:a16="http://schemas.microsoft.com/office/drawing/2014/main" id="{18576110-FE8E-AC47-A856-656599337B6B}"/>
              </a:ext>
            </a:extLst>
          </p:cNvPr>
          <p:cNvPicPr preferRelativeResize="0"/>
          <p:nvPr/>
        </p:nvPicPr>
        <p:blipFill>
          <a:blip r:embed="rId10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823556" y="4310001"/>
            <a:ext cx="653265" cy="596892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Google Shape;217;p34" descr="Improving gensim's documentation. Between the months of January and April…  | by Manos Stergiadis | Medium">
            <a:extLst>
              <a:ext uri="{FF2B5EF4-FFF2-40B4-BE49-F238E27FC236}">
                <a16:creationId xmlns:a16="http://schemas.microsoft.com/office/drawing/2014/main" id="{DF6DCACB-E8C3-2B45-BC10-78F180C5FF59}"/>
              </a:ext>
            </a:extLst>
          </p:cNvPr>
          <p:cNvPicPr preferRelativeResize="0"/>
          <p:nvPr/>
        </p:nvPicPr>
        <p:blipFill>
          <a:blip r:embed="rId11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593507" y="3731956"/>
            <a:ext cx="977587" cy="3567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oogle Shape;218;p34" descr="NLTK Tutorial —— A Python package - Clay-Technology World">
            <a:extLst>
              <a:ext uri="{FF2B5EF4-FFF2-40B4-BE49-F238E27FC236}">
                <a16:creationId xmlns:a16="http://schemas.microsoft.com/office/drawing/2014/main" id="{6F2F5FA2-624F-9449-B51F-BF681F7E002A}"/>
              </a:ext>
            </a:extLst>
          </p:cNvPr>
          <p:cNvPicPr preferRelativeResize="0"/>
          <p:nvPr/>
        </p:nvPicPr>
        <p:blipFill>
          <a:blip r:embed="rId1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765173" y="2136085"/>
            <a:ext cx="679794" cy="73948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6" name="Picture 2" descr="GitHub - stanfordnlp/CoreNLP: Stanford CoreNLP: A Java suite of core NLP  tools.">
            <a:extLst>
              <a:ext uri="{FF2B5EF4-FFF2-40B4-BE49-F238E27FC236}">
                <a16:creationId xmlns:a16="http://schemas.microsoft.com/office/drawing/2014/main" id="{EEC151A0-FC8D-6646-B396-B39C528C411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8777345" y="5148864"/>
            <a:ext cx="793749" cy="5000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A5C6CCE-95BE-0E41-929F-91FC06B49A0E}"/>
              </a:ext>
            </a:extLst>
          </p:cNvPr>
          <p:cNvSpPr txBox="1"/>
          <p:nvPr/>
        </p:nvSpPr>
        <p:spPr>
          <a:xfrm>
            <a:off x="8687951" y="663832"/>
            <a:ext cx="2057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Common Libraries</a:t>
            </a:r>
          </a:p>
        </p:txBody>
      </p:sp>
    </p:spTree>
    <p:extLst>
      <p:ext uri="{BB962C8B-B14F-4D97-AF65-F5344CB8AC3E}">
        <p14:creationId xmlns:p14="http://schemas.microsoft.com/office/powerpoint/2010/main" val="241948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1E58F78-8F27-2D4A-BD36-154CD23B3E50}"/>
              </a:ext>
            </a:extLst>
          </p:cNvPr>
          <p:cNvSpPr txBox="1"/>
          <p:nvPr/>
        </p:nvSpPr>
        <p:spPr>
          <a:xfrm>
            <a:off x="1425039" y="396647"/>
            <a:ext cx="6096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/>
              <a:t>H2O.ai – Automatic Feature Engineering</a:t>
            </a:r>
            <a:endParaRPr lang="el-GR" sz="2800" b="1" dirty="0">
              <a:solidFill>
                <a:srgbClr val="0070C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D4B9042-755B-8142-9C51-9DBAA5CBE393}"/>
              </a:ext>
            </a:extLst>
          </p:cNvPr>
          <p:cNvSpPr txBox="1"/>
          <p:nvPr/>
        </p:nvSpPr>
        <p:spPr>
          <a:xfrm>
            <a:off x="1101975" y="1647334"/>
            <a:ext cx="932669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rgbClr val="FF0000"/>
                </a:solidFill>
              </a:rPr>
              <a:t>New features are created</a:t>
            </a:r>
            <a:r>
              <a:rPr lang="en-US" sz="1600" dirty="0"/>
              <a:t> by doing </a:t>
            </a:r>
            <a:r>
              <a:rPr lang="en-US" sz="1600" b="1" dirty="0">
                <a:solidFill>
                  <a:srgbClr val="FF0000"/>
                </a:solidFill>
              </a:rPr>
              <a:t>transformations</a:t>
            </a:r>
            <a:r>
              <a:rPr lang="en-US" sz="1600" dirty="0"/>
              <a:t> and/or </a:t>
            </a:r>
            <a:r>
              <a:rPr lang="en-US" sz="1600" b="1" dirty="0">
                <a:solidFill>
                  <a:srgbClr val="FF0000"/>
                </a:solidFill>
              </a:rPr>
              <a:t>interactions</a:t>
            </a:r>
            <a:r>
              <a:rPr lang="en-US" sz="1600" dirty="0"/>
              <a:t> on the dataset columns.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Feature creation and selection is </a:t>
            </a:r>
            <a:r>
              <a:rPr lang="en-US" sz="1600" b="1" dirty="0">
                <a:solidFill>
                  <a:srgbClr val="FF0000"/>
                </a:solidFill>
              </a:rPr>
              <a:t>evolutionary</a:t>
            </a:r>
            <a:r>
              <a:rPr lang="en-US" sz="1600" dirty="0"/>
              <a:t> (based on variable importance of previous iteration)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Feature creation uses genetic algorithm to find the best set of feature transformations and model parameters for an experiment/dataset.</a:t>
            </a:r>
            <a:br>
              <a:rPr lang="en-US" sz="1600" dirty="0"/>
            </a:br>
            <a:r>
              <a:rPr lang="en-US" sz="1400" dirty="0"/>
              <a:t> - </a:t>
            </a:r>
            <a:r>
              <a:rPr lang="en-US" sz="1400" dirty="0">
                <a:hlinkClick r:id="rId2"/>
              </a:rPr>
              <a:t>https://docs.h2o.ai/driverless-ai/latest-stable/docs/userguide/feature-engineering.html</a:t>
            </a:r>
            <a:r>
              <a:rPr lang="en-US" sz="1400" dirty="0"/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F029EBF-BE31-8345-BEE6-7450D26D1A39}"/>
              </a:ext>
            </a:extLst>
          </p:cNvPr>
          <p:cNvSpPr txBox="1"/>
          <p:nvPr/>
        </p:nvSpPr>
        <p:spPr>
          <a:xfrm>
            <a:off x="1101975" y="3442902"/>
            <a:ext cx="10499474" cy="15081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Driverless AI Transformers (Numeric, Categorical, Time &amp; Date, NLP (text), Image)</a:t>
            </a:r>
            <a:br>
              <a:rPr lang="en-US" sz="1600" dirty="0"/>
            </a:br>
            <a:r>
              <a:rPr lang="en-US" sz="1600" dirty="0"/>
              <a:t>See big list of transformers here: </a:t>
            </a:r>
            <a:br>
              <a:rPr lang="en-US" sz="1600" dirty="0"/>
            </a:br>
            <a:r>
              <a:rPr lang="en-US" sz="1400" dirty="0"/>
              <a:t> - </a:t>
            </a:r>
            <a:r>
              <a:rPr lang="en-US" sz="1400" dirty="0">
                <a:hlinkClick r:id="rId3"/>
              </a:rPr>
              <a:t>https://docs.h2o.ai/driverless-ai/latest-stable/docs/userguide/transformations.html#transformations</a:t>
            </a:r>
            <a:r>
              <a:rPr lang="en-US" sz="14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Feature Interactions:</a:t>
            </a:r>
            <a:br>
              <a:rPr lang="en-US" sz="1600" dirty="0"/>
            </a:br>
            <a:r>
              <a:rPr lang="en-US" sz="1400" dirty="0"/>
              <a:t> - </a:t>
            </a:r>
            <a:r>
              <a:rPr lang="en-US" sz="1400" dirty="0">
                <a:hlinkClick r:id="rId4"/>
              </a:rPr>
              <a:t>https://docs.h2o.ai/driverless-ai/latest-stable/docs/userguide/expert_settings/features_settings.html#max-feature-interaction-depth</a:t>
            </a:r>
            <a:r>
              <a:rPr lang="en-US" sz="1400" dirty="0"/>
              <a:t> </a:t>
            </a:r>
          </a:p>
        </p:txBody>
      </p:sp>
      <p:pic>
        <p:nvPicPr>
          <p:cNvPr id="2050" name="Picture 2" descr="H2O.ai is the Open Source Leader in AI and ML">
            <a:extLst>
              <a:ext uri="{FF2B5EF4-FFF2-40B4-BE49-F238E27FC236}">
                <a16:creationId xmlns:a16="http://schemas.microsoft.com/office/drawing/2014/main" id="{D8E9EA95-5147-4142-9255-0C2DAD08E3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28200" y="141310"/>
            <a:ext cx="1033895" cy="10338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313405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1E58F78-8F27-2D4A-BD36-154CD23B3E50}"/>
              </a:ext>
            </a:extLst>
          </p:cNvPr>
          <p:cNvSpPr txBox="1"/>
          <p:nvPr/>
        </p:nvSpPr>
        <p:spPr>
          <a:xfrm>
            <a:off x="145984" y="19735"/>
            <a:ext cx="6096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Feature Importance – part 1</a:t>
            </a:r>
            <a:endParaRPr lang="el-GR" sz="2800" b="1" dirty="0">
              <a:solidFill>
                <a:srgbClr val="0070C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F029EBF-BE31-8345-BEE6-7450D26D1A39}"/>
              </a:ext>
            </a:extLst>
          </p:cNvPr>
          <p:cNvSpPr txBox="1"/>
          <p:nvPr/>
        </p:nvSpPr>
        <p:spPr>
          <a:xfrm>
            <a:off x="846263" y="920496"/>
            <a:ext cx="10499474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 ice cream</a:t>
            </a:r>
          </a:p>
          <a:p>
            <a:br>
              <a:rPr lang="en-US" sz="1400" dirty="0"/>
            </a:br>
            <a:r>
              <a:rPr lang="en-US" sz="1400" dirty="0"/>
              <a:t>The 5 Feature Selection Algorithms every Data Scientist should know</a:t>
            </a:r>
          </a:p>
          <a:p>
            <a:r>
              <a:rPr lang="en-US" sz="1100" dirty="0"/>
              <a:t>- </a:t>
            </a:r>
            <a:r>
              <a:rPr lang="en-US" sz="1100" dirty="0">
                <a:hlinkClick r:id="rId2"/>
              </a:rPr>
              <a:t>https://towardsdatascience.com/the-5-feature-selection-algorithms-every-data-scientist-need-to-know-3a6b566efd2</a:t>
            </a:r>
            <a:r>
              <a:rPr lang="en-US" sz="1100" dirty="0"/>
              <a:t> </a:t>
            </a:r>
          </a:p>
          <a:p>
            <a:endParaRPr lang="en-US" sz="1400" dirty="0"/>
          </a:p>
          <a:p>
            <a:pPr marL="342900" indent="-342900">
              <a:buFont typeface="+mj-lt"/>
              <a:buAutoNum type="arabicPeriod"/>
            </a:pPr>
            <a:r>
              <a:rPr lang="en-US" sz="1400" dirty="0"/>
              <a:t>Curse of dimensionality, Overfitting. If </a:t>
            </a:r>
            <a:r>
              <a:rPr lang="en-US" sz="1400" dirty="0" err="1"/>
              <a:t>Ncols</a:t>
            </a:r>
            <a:r>
              <a:rPr lang="en-US" sz="1400" dirty="0"/>
              <a:t> &gt; </a:t>
            </a:r>
            <a:r>
              <a:rPr lang="en-US" sz="1400" dirty="0" err="1"/>
              <a:t>Nrows</a:t>
            </a:r>
            <a:r>
              <a:rPr lang="en-US" sz="1400" dirty="0"/>
              <a:t>, we can fit data perfectly, but that won’t generalize to the new samples. Thus we learn absolutely nothing.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400" dirty="0"/>
              <a:t>Occam’s Razor. We want our models to be simple and explainable. We lose </a:t>
            </a:r>
            <a:r>
              <a:rPr lang="en-US" sz="1400" dirty="0" err="1"/>
              <a:t>explainability</a:t>
            </a:r>
            <a:r>
              <a:rPr lang="en-US" sz="1400" dirty="0"/>
              <a:t> when we have a lot of features.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400" dirty="0"/>
              <a:t>Garbage In Garbage out. Many non-informative features (name, Id, etc.) add noise and reduce the quality of the model.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2809594-AAC5-3145-9B03-83D04EFFCF31}"/>
              </a:ext>
            </a:extLst>
          </p:cNvPr>
          <p:cNvSpPr txBox="1"/>
          <p:nvPr/>
        </p:nvSpPr>
        <p:spPr>
          <a:xfrm>
            <a:off x="950976" y="3183684"/>
            <a:ext cx="6620256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Some Feature Selection Methods: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Correlation, Kolmogorov-Smirnov, chi-square</a:t>
            </a:r>
            <a:r>
              <a:rPr lang="en-US" sz="1400" dirty="0"/>
              <a:t>, or some other filtering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Recursive Feature Elimination</a:t>
            </a:r>
            <a:r>
              <a:rPr lang="en-US" sz="1400" dirty="0"/>
              <a:t> or some other "search" method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SHAP (</a:t>
            </a:r>
            <a:r>
              <a:rPr lang="en-US" sz="1400" b="1" dirty="0" err="1">
                <a:solidFill>
                  <a:srgbClr val="FF0000"/>
                </a:solidFill>
              </a:rPr>
              <a:t>SHapley</a:t>
            </a:r>
            <a:r>
              <a:rPr lang="en-US" sz="1400" b="1" dirty="0">
                <a:solidFill>
                  <a:srgbClr val="FF0000"/>
                </a:solidFill>
              </a:rPr>
              <a:t>)</a:t>
            </a:r>
            <a:r>
              <a:rPr lang="en-US" sz="1400" dirty="0"/>
              <a:t> - </a:t>
            </a:r>
            <a:r>
              <a:rPr lang="en-US" sz="1400" dirty="0">
                <a:hlinkClick r:id="rId3"/>
              </a:rPr>
              <a:t>https://christophm.github.io/interpretable-ml-book/shap.html</a:t>
            </a:r>
            <a:r>
              <a:rPr lang="en-US" sz="14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Random Forest</a:t>
            </a:r>
            <a:r>
              <a:rPr lang="en-US" sz="1400" dirty="0"/>
              <a:t> has built-in feature importance mechanism </a:t>
            </a:r>
            <a:br>
              <a:rPr lang="en-US" sz="1400" dirty="0"/>
            </a:br>
            <a:r>
              <a:rPr lang="en-US" sz="1400" dirty="0"/>
              <a:t>(idea - try features randomly, see which ones contribute more)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FF0000"/>
                </a:solidFill>
              </a:rPr>
              <a:t>Lasso</a:t>
            </a:r>
            <a:r>
              <a:rPr lang="en-US" sz="1400" dirty="0"/>
              <a:t> has its own internal feature selection method</a:t>
            </a:r>
          </a:p>
        </p:txBody>
      </p:sp>
      <p:pic>
        <p:nvPicPr>
          <p:cNvPr id="5" name="Picture 2" descr="Why does Lasso regression lead to sparse solutions? - Quora">
            <a:extLst>
              <a:ext uri="{FF2B5EF4-FFF2-40B4-BE49-F238E27FC236}">
                <a16:creationId xmlns:a16="http://schemas.microsoft.com/office/drawing/2014/main" id="{4A5353B2-1B33-814C-9E06-6CCC38D454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5381632" y="4800542"/>
            <a:ext cx="2403468" cy="1592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102149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1E58F78-8F27-2D4A-BD36-154CD23B3E50}"/>
              </a:ext>
            </a:extLst>
          </p:cNvPr>
          <p:cNvSpPr txBox="1"/>
          <p:nvPr/>
        </p:nvSpPr>
        <p:spPr>
          <a:xfrm>
            <a:off x="145984" y="19735"/>
            <a:ext cx="6096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Feature Importance – part 2</a:t>
            </a:r>
            <a:endParaRPr lang="el-GR" sz="2800" b="1" dirty="0">
              <a:solidFill>
                <a:srgbClr val="0070C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F029EBF-BE31-8345-BEE6-7450D26D1A39}"/>
              </a:ext>
            </a:extLst>
          </p:cNvPr>
          <p:cNvSpPr txBox="1"/>
          <p:nvPr/>
        </p:nvSpPr>
        <p:spPr>
          <a:xfrm>
            <a:off x="280416" y="1406509"/>
            <a:ext cx="8693135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FF0000"/>
                </a:solidFill>
              </a:rPr>
              <a:t>Backward Elimination</a:t>
            </a:r>
            <a:r>
              <a:rPr lang="en-US" sz="1400" dirty="0"/>
              <a:t> – method of reducing the number of features.</a:t>
            </a:r>
          </a:p>
          <a:p>
            <a:r>
              <a:rPr lang="en-US" sz="1400" dirty="0"/>
              <a:t>We remove least significant features one by one and retrain the model.</a:t>
            </a:r>
          </a:p>
          <a:p>
            <a:r>
              <a:rPr lang="en-US" sz="1400" dirty="0"/>
              <a:t>The purpose is to get good model with smaller number of features. </a:t>
            </a:r>
          </a:p>
          <a:p>
            <a:endParaRPr lang="en-US" sz="1400" dirty="0"/>
          </a:p>
          <a:p>
            <a:r>
              <a:rPr lang="en-US" sz="1400" b="1" dirty="0">
                <a:solidFill>
                  <a:srgbClr val="FF0000"/>
                </a:solidFill>
              </a:rPr>
              <a:t>Caution</a:t>
            </a:r>
            <a:r>
              <a:rPr lang="en-US" sz="1400" dirty="0"/>
              <a:t>. </a:t>
            </a:r>
          </a:p>
          <a:p>
            <a:r>
              <a:rPr lang="en-US" sz="1400" b="1" dirty="0">
                <a:solidFill>
                  <a:srgbClr val="00B050"/>
                </a:solidFill>
              </a:rPr>
              <a:t>Dropping out features can give us wrong results when features are correlated</a:t>
            </a:r>
            <a:r>
              <a:rPr lang="en-US" sz="1400" dirty="0">
                <a:solidFill>
                  <a:srgbClr val="00B050"/>
                </a:solidFill>
              </a:rPr>
              <a:t>.</a:t>
            </a:r>
          </a:p>
          <a:p>
            <a:endParaRPr lang="en-US" sz="1400" dirty="0"/>
          </a:p>
          <a:p>
            <a:r>
              <a:rPr lang="en-US" sz="1400" dirty="0"/>
              <a:t>Example:</a:t>
            </a:r>
          </a:p>
          <a:p>
            <a:r>
              <a:rPr lang="en-US" sz="1400" dirty="0"/>
              <a:t>We have two </a:t>
            </a:r>
            <a:r>
              <a:rPr lang="en-US" sz="1400" b="1" dirty="0">
                <a:solidFill>
                  <a:srgbClr val="00B050"/>
                </a:solidFill>
              </a:rPr>
              <a:t>ice cream</a:t>
            </a:r>
            <a:r>
              <a:rPr lang="en-US" sz="1400" dirty="0"/>
              <a:t> columns (features): </a:t>
            </a:r>
            <a:r>
              <a:rPr lang="en-US" sz="1400" b="1" dirty="0">
                <a:solidFill>
                  <a:srgbClr val="FF0000"/>
                </a:solidFill>
              </a:rPr>
              <a:t>chocolate and vanilla</a:t>
            </a:r>
            <a:r>
              <a:rPr lang="en-US" sz="1400" dirty="0"/>
              <a:t>.</a:t>
            </a:r>
          </a:p>
          <a:p>
            <a:r>
              <a:rPr lang="en-US" sz="1400" dirty="0"/>
              <a:t>Having ice-cream present has strong influence on the target (label) column.</a:t>
            </a:r>
          </a:p>
          <a:p>
            <a:r>
              <a:rPr lang="en-US" sz="1400" dirty="0"/>
              <a:t>We evaluate the importance by removing each individual feature – and retraining the model.</a:t>
            </a:r>
          </a:p>
          <a:p>
            <a:endParaRPr lang="en-US" sz="1400" dirty="0"/>
          </a:p>
          <a:p>
            <a:r>
              <a:rPr lang="en-US" sz="1400" dirty="0"/>
              <a:t>Suppose that these two columns are tightly correlated (</a:t>
            </a:r>
            <a:r>
              <a:rPr lang="en-US" sz="1400" b="1" dirty="0">
                <a:solidFill>
                  <a:srgbClr val="FF0000"/>
                </a:solidFill>
              </a:rPr>
              <a:t>chocolate</a:t>
            </a:r>
            <a:r>
              <a:rPr lang="en-US" sz="1400" dirty="0"/>
              <a:t> and </a:t>
            </a:r>
            <a:r>
              <a:rPr lang="en-US" sz="1400" b="1" dirty="0">
                <a:solidFill>
                  <a:srgbClr val="FF0000"/>
                </a:solidFill>
              </a:rPr>
              <a:t>vanilla</a:t>
            </a:r>
            <a:r>
              <a:rPr lang="en-US" sz="1400" dirty="0"/>
              <a:t> either come together – or don't come).</a:t>
            </a:r>
          </a:p>
          <a:p>
            <a:r>
              <a:rPr lang="en-US" sz="1400" dirty="0"/>
              <a:t>If we drop </a:t>
            </a:r>
            <a:r>
              <a:rPr lang="en-US" sz="1400" b="1" dirty="0">
                <a:solidFill>
                  <a:srgbClr val="FF0000"/>
                </a:solidFill>
              </a:rPr>
              <a:t>vanilla</a:t>
            </a:r>
            <a:r>
              <a:rPr lang="en-US" sz="1400" dirty="0"/>
              <a:t> column – and re-train, the model will still work because </a:t>
            </a:r>
            <a:r>
              <a:rPr lang="en-US" sz="1400" b="1" dirty="0">
                <a:solidFill>
                  <a:srgbClr val="FF0000"/>
                </a:solidFill>
              </a:rPr>
              <a:t>chocolate</a:t>
            </a:r>
            <a:r>
              <a:rPr lang="en-US" sz="1400" dirty="0"/>
              <a:t> column is still present.</a:t>
            </a:r>
          </a:p>
          <a:p>
            <a:r>
              <a:rPr lang="en-US" sz="1400" dirty="0"/>
              <a:t>So we will wrongly conclude that </a:t>
            </a:r>
            <a:r>
              <a:rPr lang="en-US" sz="1400" b="1" dirty="0">
                <a:solidFill>
                  <a:srgbClr val="FF0000"/>
                </a:solidFill>
              </a:rPr>
              <a:t>vanilla</a:t>
            </a:r>
            <a:r>
              <a:rPr lang="en-US" sz="1400" dirty="0"/>
              <a:t> column is not important.</a:t>
            </a:r>
          </a:p>
          <a:p>
            <a:r>
              <a:rPr lang="en-US" sz="1400" dirty="0"/>
              <a:t>Similarly we will wrongly conclude that </a:t>
            </a:r>
            <a:r>
              <a:rPr lang="en-US" sz="1400" b="1" dirty="0">
                <a:solidFill>
                  <a:srgbClr val="FF0000"/>
                </a:solidFill>
              </a:rPr>
              <a:t>chocolate</a:t>
            </a:r>
            <a:r>
              <a:rPr lang="en-US" sz="1400" dirty="0"/>
              <a:t> column is not important for the same reason.</a:t>
            </a: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5B1FD3EE-1DB0-6C48-8A50-ECEA69247BA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9058896" y="3098959"/>
            <a:ext cx="2767343" cy="16315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Feature Selection in Python — Recursive Feature Elimination | by Dario  Radečić | Towards Data Science">
            <a:extLst>
              <a:ext uri="{FF2B5EF4-FFF2-40B4-BE49-F238E27FC236}">
                <a16:creationId xmlns:a16="http://schemas.microsoft.com/office/drawing/2014/main" id="{A1AC0FD9-C3E4-DF4C-A9C6-7AB1821C2F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359519" y="837342"/>
            <a:ext cx="1861538" cy="16315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B66D921-61C3-4540-83A4-F52A5B554688}"/>
              </a:ext>
            </a:extLst>
          </p:cNvPr>
          <p:cNvSpPr txBox="1"/>
          <p:nvPr/>
        </p:nvSpPr>
        <p:spPr>
          <a:xfrm>
            <a:off x="9205200" y="468010"/>
            <a:ext cx="2170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Feature Importance</a:t>
            </a:r>
          </a:p>
        </p:txBody>
      </p:sp>
    </p:spTree>
    <p:extLst>
      <p:ext uri="{BB962C8B-B14F-4D97-AF65-F5344CB8AC3E}">
        <p14:creationId xmlns:p14="http://schemas.microsoft.com/office/powerpoint/2010/main" val="32056914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3BCC4D4-9766-DE43-84A1-1155AD497BAB}"/>
              </a:ext>
            </a:extLst>
          </p:cNvPr>
          <p:cNvSpPr txBox="1"/>
          <p:nvPr/>
        </p:nvSpPr>
        <p:spPr>
          <a:xfrm>
            <a:off x="2380488" y="258901"/>
            <a:ext cx="8534400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Cynthia Rudin</a:t>
            </a:r>
            <a:r>
              <a:rPr lang="en-US" sz="1400" dirty="0"/>
              <a:t> - </a:t>
            </a:r>
            <a:r>
              <a:rPr lang="en-US" sz="1400" b="1" dirty="0">
                <a:solidFill>
                  <a:srgbClr val="FF0000"/>
                </a:solidFill>
              </a:rPr>
              <a:t>Interpretable Machine Learning</a:t>
            </a:r>
          </a:p>
          <a:p>
            <a:r>
              <a:rPr lang="en-US" sz="1400" dirty="0"/>
              <a:t>"Stop explaining black box machine learning models for high stakes decisions and use interpretable models instead"</a:t>
            </a:r>
          </a:p>
          <a:p>
            <a:r>
              <a:rPr lang="en-US" sz="1400" dirty="0"/>
              <a:t>Nature Machine Intelligence volume 1, pages206–215(2019)</a:t>
            </a:r>
          </a:p>
          <a:p>
            <a:r>
              <a:rPr lang="en-US" sz="1400" dirty="0"/>
              <a:t>- </a:t>
            </a:r>
            <a:r>
              <a:rPr lang="en-US" sz="1400" dirty="0">
                <a:hlinkClick r:id="rId2"/>
              </a:rPr>
              <a:t>https://www.nature.com/articles/s42256-019-0048-x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"Please Stop Explaining Black Box Models and Use Interpretable Models Instead"</a:t>
            </a:r>
          </a:p>
          <a:p>
            <a:r>
              <a:rPr lang="en-US" sz="1400" dirty="0"/>
              <a:t>- </a:t>
            </a:r>
            <a:r>
              <a:rPr lang="en-US" sz="1400" dirty="0">
                <a:hlinkClick r:id="rId3"/>
              </a:rPr>
              <a:t>https://www.youtube.com/watch?v=sl78EgrT4TY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Why People Love Black Boxes (Cynthia Rudin, 2019)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they allow companies to make $$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they are "magical" and "uncover things"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they are easy to train, an excuse not to do any feature engineering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people think they are more accurate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we don't even teach interpretable ML</a:t>
            </a:r>
          </a:p>
        </p:txBody>
      </p:sp>
      <p:pic>
        <p:nvPicPr>
          <p:cNvPr id="1026" name="Picture 2" descr="Cynthia Rudin, PhD – Dr. Francesca Dominici">
            <a:extLst>
              <a:ext uri="{FF2B5EF4-FFF2-40B4-BE49-F238E27FC236}">
                <a16:creationId xmlns:a16="http://schemas.microsoft.com/office/drawing/2014/main" id="{924E638E-3176-7047-B8B7-9893C57A91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9918" y="94311"/>
            <a:ext cx="1807718" cy="18881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F7B0848-0623-2E4D-BF95-FD2C948BA777}"/>
              </a:ext>
            </a:extLst>
          </p:cNvPr>
          <p:cNvSpPr txBox="1"/>
          <p:nvPr/>
        </p:nvSpPr>
        <p:spPr>
          <a:xfrm>
            <a:off x="0" y="1982450"/>
            <a:ext cx="2001870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Cynthia Rudin</a:t>
            </a:r>
          </a:p>
          <a:p>
            <a:r>
              <a:rPr lang="en-US" sz="1400" dirty="0"/>
              <a:t>Professor at Duke University,</a:t>
            </a:r>
          </a:p>
          <a:p>
            <a:r>
              <a:rPr lang="en-US" sz="1400" dirty="0"/>
              <a:t>Prediction Analysis Lab,</a:t>
            </a:r>
          </a:p>
          <a:p>
            <a:r>
              <a:rPr lang="en-US" sz="1400" dirty="0"/>
              <a:t>interpretable machine learning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6110E56-2FAC-AE44-AC8B-F670E765E879}"/>
              </a:ext>
            </a:extLst>
          </p:cNvPr>
          <p:cNvSpPr txBox="1"/>
          <p:nvPr/>
        </p:nvSpPr>
        <p:spPr>
          <a:xfrm>
            <a:off x="539496" y="4301476"/>
            <a:ext cx="6894576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 err="1">
                <a:solidFill>
                  <a:srgbClr val="FF0000"/>
                </a:solidFill>
              </a:rPr>
              <a:t>Conrastive</a:t>
            </a:r>
            <a:r>
              <a:rPr lang="en-US" sz="1400" b="1" dirty="0">
                <a:solidFill>
                  <a:srgbClr val="FF0000"/>
                </a:solidFill>
              </a:rPr>
              <a:t> Learning:</a:t>
            </a:r>
            <a:r>
              <a:rPr lang="en-US" sz="1400" dirty="0"/>
              <a:t> </a:t>
            </a:r>
            <a:br>
              <a:rPr lang="en-US" sz="1400" dirty="0"/>
            </a:br>
            <a:r>
              <a:rPr lang="en-US" sz="1400" dirty="0"/>
              <a:t>  Stage 1: find/train a contrastive representation of data.</a:t>
            </a:r>
          </a:p>
          <a:p>
            <a:r>
              <a:rPr lang="en-US" sz="1400" dirty="0"/>
              <a:t>           </a:t>
            </a:r>
            <a:r>
              <a:rPr lang="en-US" sz="1400" dirty="0" err="1"/>
              <a:t>Contrasive</a:t>
            </a:r>
            <a:r>
              <a:rPr lang="en-US" sz="1400" dirty="0"/>
              <a:t> = Polarized. Get "cats" close to each other, and father from "dogs".</a:t>
            </a:r>
          </a:p>
          <a:p>
            <a:r>
              <a:rPr lang="en-US" sz="1400" dirty="0"/>
              <a:t>  Stage 2: use </a:t>
            </a:r>
            <a:r>
              <a:rPr lang="en-US" sz="1400" dirty="0" err="1"/>
              <a:t>softmax</a:t>
            </a:r>
            <a:r>
              <a:rPr lang="en-US" sz="1400" dirty="0"/>
              <a:t> and cross-entropy to find separation (classification) of polarized data</a:t>
            </a:r>
          </a:p>
          <a:p>
            <a:endParaRPr lang="en-US" sz="1400" dirty="0"/>
          </a:p>
          <a:p>
            <a:r>
              <a:rPr lang="en-US" sz="1400" b="1" dirty="0">
                <a:solidFill>
                  <a:srgbClr val="FF0000"/>
                </a:solidFill>
              </a:rPr>
              <a:t>Self-supervised learning</a:t>
            </a:r>
            <a:r>
              <a:rPr lang="en-US" sz="1400" dirty="0"/>
              <a:t> - automatically creates labels</a:t>
            </a:r>
          </a:p>
          <a:p>
            <a:r>
              <a:rPr lang="en-US" sz="1400" dirty="0"/>
              <a:t>  trains using those labels, generates representations,</a:t>
            </a:r>
          </a:p>
          <a:p>
            <a:r>
              <a:rPr lang="en-US" sz="1400" dirty="0"/>
              <a:t>  then uses these representations for other tasks</a:t>
            </a:r>
          </a:p>
          <a:p>
            <a:r>
              <a:rPr lang="en-US" sz="1400" dirty="0"/>
              <a:t>  Examples how labels can be created:</a:t>
            </a:r>
          </a:p>
          <a:p>
            <a:r>
              <a:rPr lang="en-US" sz="1400" dirty="0"/>
              <a:t>    - remove word, and learn to predict it</a:t>
            </a:r>
          </a:p>
          <a:p>
            <a:r>
              <a:rPr lang="en-US" sz="1400" dirty="0"/>
              <a:t>    - rotate picture, and learn to predict original picture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B6E498-6659-5141-9191-AFF862132421}"/>
              </a:ext>
            </a:extLst>
          </p:cNvPr>
          <p:cNvSpPr txBox="1"/>
          <p:nvPr/>
        </p:nvSpPr>
        <p:spPr>
          <a:xfrm>
            <a:off x="8272169" y="4301476"/>
            <a:ext cx="406613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FF0000"/>
                </a:solidFill>
              </a:rPr>
              <a:t>LIME Framework</a:t>
            </a:r>
          </a:p>
          <a:p>
            <a:r>
              <a:rPr lang="en-US" sz="1200" dirty="0"/>
              <a:t>Interpretable Machine Learning Using LIME Framework </a:t>
            </a:r>
            <a:br>
              <a:rPr lang="en-US" sz="1200" dirty="0"/>
            </a:br>
            <a:r>
              <a:rPr lang="en-US" sz="1200" dirty="0"/>
              <a:t>by Kasia </a:t>
            </a:r>
            <a:r>
              <a:rPr lang="en-US" sz="1200" dirty="0" err="1"/>
              <a:t>Kulma</a:t>
            </a:r>
            <a:r>
              <a:rPr lang="en-US" sz="1200" dirty="0"/>
              <a:t> (PhD), Data Scientist, Aviva - 2017</a:t>
            </a:r>
          </a:p>
          <a:p>
            <a:r>
              <a:rPr lang="en-US" sz="1200" dirty="0"/>
              <a:t>- </a:t>
            </a:r>
            <a:r>
              <a:rPr lang="en-US" sz="1200" dirty="0">
                <a:hlinkClick r:id="rId5"/>
              </a:rPr>
              <a:t>https://www.youtube.com/watch?v=CY3t11vuuOM</a:t>
            </a:r>
            <a:r>
              <a:rPr lang="en-US" sz="12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3603337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3BCC4D4-9766-DE43-84A1-1155AD497BAB}"/>
              </a:ext>
            </a:extLst>
          </p:cNvPr>
          <p:cNvSpPr txBox="1"/>
          <p:nvPr/>
        </p:nvSpPr>
        <p:spPr>
          <a:xfrm>
            <a:off x="2351974" y="987438"/>
            <a:ext cx="418293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The </a:t>
            </a:r>
            <a:r>
              <a:rPr lang="en-US" sz="1400" b="1" dirty="0">
                <a:solidFill>
                  <a:srgbClr val="FF0000"/>
                </a:solidFill>
              </a:rPr>
              <a:t>Shapley Value</a:t>
            </a:r>
            <a:r>
              <a:rPr lang="en-US" sz="1400" dirty="0"/>
              <a:t>, coined by Lloyd Shapley (1953), </a:t>
            </a:r>
          </a:p>
          <a:p>
            <a:r>
              <a:rPr lang="en-US" sz="1400" dirty="0"/>
              <a:t>is a method for assigning payouts to players </a:t>
            </a:r>
          </a:p>
          <a:p>
            <a:r>
              <a:rPr lang="en-US" sz="1400" dirty="0"/>
              <a:t>depending on their contribution to the total </a:t>
            </a:r>
          </a:p>
          <a:p>
            <a:r>
              <a:rPr lang="en-US" sz="1400" dirty="0"/>
              <a:t>payout - </a:t>
            </a:r>
            <a:r>
              <a:rPr lang="en-US" sz="1400" dirty="0">
                <a:hlinkClick r:id="rId2"/>
              </a:rPr>
              <a:t>https://en.wikipedia.org/wiki/Lloyd_Shapley</a:t>
            </a:r>
            <a:r>
              <a:rPr lang="en-US" sz="1400" dirty="0"/>
              <a:t>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8DAFCA-D339-7E4B-A4CF-82E1792EEBDE}"/>
              </a:ext>
            </a:extLst>
          </p:cNvPr>
          <p:cNvSpPr txBox="1"/>
          <p:nvPr/>
        </p:nvSpPr>
        <p:spPr>
          <a:xfrm>
            <a:off x="145984" y="19735"/>
            <a:ext cx="888828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Shapley Value and SHAP (</a:t>
            </a:r>
            <a:r>
              <a:rPr lang="en-US" sz="2800" b="1" dirty="0" err="1"/>
              <a:t>SHapley</a:t>
            </a:r>
            <a:r>
              <a:rPr lang="en-US" sz="2800" b="1" dirty="0"/>
              <a:t> Additive </a:t>
            </a:r>
            <a:r>
              <a:rPr lang="en-US" sz="2800" b="1" dirty="0" err="1"/>
              <a:t>exPlanations</a:t>
            </a:r>
            <a:r>
              <a:rPr lang="en-US" sz="2800" b="1" dirty="0"/>
              <a:t>)</a:t>
            </a:r>
            <a:endParaRPr lang="el-GR" sz="2800" b="1" dirty="0">
              <a:solidFill>
                <a:srgbClr val="0070C0"/>
              </a:solidFill>
            </a:endParaRPr>
          </a:p>
        </p:txBody>
      </p:sp>
      <p:pic>
        <p:nvPicPr>
          <p:cNvPr id="2050" name="Picture 2" descr="Lloyd S. Shapley, Nobel Laureate in Economics, Dies at 92 | RAND">
            <a:extLst>
              <a:ext uri="{FF2B5EF4-FFF2-40B4-BE49-F238E27FC236}">
                <a16:creationId xmlns:a16="http://schemas.microsoft.com/office/drawing/2014/main" id="{C93D0DE9-2692-6748-B031-DA8A5776A15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834101" y="674535"/>
            <a:ext cx="1133856" cy="1622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A91226F-C0C4-2846-81D7-B28ECEE818A6}"/>
              </a:ext>
            </a:extLst>
          </p:cNvPr>
          <p:cNvSpPr txBox="1"/>
          <p:nvPr/>
        </p:nvSpPr>
        <p:spPr>
          <a:xfrm>
            <a:off x="145984" y="2345306"/>
            <a:ext cx="246240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srgbClr val="FF0000"/>
                </a:solidFill>
              </a:rPr>
              <a:t>Lloyd Stowell Shapley</a:t>
            </a:r>
          </a:p>
          <a:p>
            <a:pPr algn="ctr"/>
            <a:r>
              <a:rPr lang="en-US" sz="1400" dirty="0"/>
              <a:t>1923 - 2016</a:t>
            </a:r>
          </a:p>
          <a:p>
            <a:pPr algn="ctr"/>
            <a:r>
              <a:rPr lang="en-US" sz="1400" dirty="0"/>
              <a:t>American mathematician and Nobel Prize-winning economist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E270533-5493-AB45-87F5-E108AFAD3DF1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303652" y="3918958"/>
            <a:ext cx="1292352" cy="162223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97938B6-8AD1-9841-B607-D0FC6858A390}"/>
              </a:ext>
            </a:extLst>
          </p:cNvPr>
          <p:cNvSpPr txBox="1"/>
          <p:nvPr/>
        </p:nvSpPr>
        <p:spPr>
          <a:xfrm>
            <a:off x="2657858" y="5541192"/>
            <a:ext cx="2462402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>
                <a:solidFill>
                  <a:srgbClr val="FF0000"/>
                </a:solidFill>
              </a:rPr>
              <a:t>Scott Lundberg</a:t>
            </a:r>
          </a:p>
          <a:p>
            <a:pPr algn="ctr"/>
            <a:r>
              <a:rPr lang="en-US" sz="1400" dirty="0"/>
              <a:t>Univ. of Washington</a:t>
            </a:r>
          </a:p>
          <a:p>
            <a:pPr algn="ctr"/>
            <a:r>
              <a:rPr lang="en-US" sz="1400" dirty="0"/>
              <a:t>Microsoft</a:t>
            </a:r>
          </a:p>
          <a:p>
            <a:pPr algn="ctr"/>
            <a:r>
              <a:rPr lang="en-US" sz="1200" dirty="0">
                <a:hlinkClick r:id="rId5"/>
              </a:rPr>
              <a:t>https://scottlundberg.com/</a:t>
            </a:r>
            <a:r>
              <a:rPr lang="en-US" sz="1200" dirty="0"/>
              <a:t> </a:t>
            </a:r>
          </a:p>
          <a:p>
            <a:pPr algn="ctr"/>
            <a:r>
              <a:rPr lang="en-US" sz="1200" dirty="0">
                <a:hlinkClick r:id="rId6"/>
              </a:rPr>
              <a:t>https://github.com/slundberg/shap</a:t>
            </a:r>
            <a:r>
              <a:rPr lang="en-US" sz="1200" dirty="0"/>
              <a:t>  </a:t>
            </a:r>
          </a:p>
        </p:txBody>
      </p:sp>
      <p:pic>
        <p:nvPicPr>
          <p:cNvPr id="2052" name="Picture 4" descr="Su-In Lee | UW College of Engineering">
            <a:extLst>
              <a:ext uri="{FF2B5EF4-FFF2-40B4-BE49-F238E27FC236}">
                <a16:creationId xmlns:a16="http://schemas.microsoft.com/office/drawing/2014/main" id="{995F5233-AFD1-2E45-B6A1-B556C7E5C84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5400676" y="3918958"/>
            <a:ext cx="1194816" cy="15367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A809280-CAA8-3E4A-945F-D61C70E8772E}"/>
              </a:ext>
            </a:extLst>
          </p:cNvPr>
          <p:cNvSpPr txBox="1"/>
          <p:nvPr/>
        </p:nvSpPr>
        <p:spPr>
          <a:xfrm>
            <a:off x="4765548" y="5541192"/>
            <a:ext cx="2524887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 err="1">
                <a:solidFill>
                  <a:srgbClr val="FF0000"/>
                </a:solidFill>
              </a:rPr>
              <a:t>Su</a:t>
            </a:r>
            <a:r>
              <a:rPr lang="en-US" sz="1400" b="1" dirty="0">
                <a:solidFill>
                  <a:srgbClr val="FF0000"/>
                </a:solidFill>
              </a:rPr>
              <a:t>-In Lee</a:t>
            </a:r>
          </a:p>
          <a:p>
            <a:pPr algn="ctr"/>
            <a:r>
              <a:rPr lang="en-US" sz="1200" dirty="0"/>
              <a:t>Computer Science &amp; Engineering</a:t>
            </a:r>
          </a:p>
          <a:p>
            <a:pPr algn="ctr"/>
            <a:r>
              <a:rPr lang="en-US" sz="1200" dirty="0"/>
              <a:t>Univ. of Washington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AAE13E0-7676-7644-B5D6-E96361547722}"/>
              </a:ext>
            </a:extLst>
          </p:cNvPr>
          <p:cNvSpPr txBox="1"/>
          <p:nvPr/>
        </p:nvSpPr>
        <p:spPr>
          <a:xfrm>
            <a:off x="7497700" y="3591423"/>
            <a:ext cx="4926270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FF0000"/>
                </a:solidFill>
              </a:rPr>
              <a:t>SHAP (</a:t>
            </a:r>
            <a:r>
              <a:rPr lang="en-US" sz="1400" b="1" dirty="0" err="1">
                <a:solidFill>
                  <a:srgbClr val="FF0000"/>
                </a:solidFill>
              </a:rPr>
              <a:t>SHapley</a:t>
            </a:r>
            <a:r>
              <a:rPr lang="en-US" sz="1400" b="1" dirty="0">
                <a:solidFill>
                  <a:srgbClr val="FF0000"/>
                </a:solidFill>
              </a:rPr>
              <a:t> Additive </a:t>
            </a:r>
            <a:r>
              <a:rPr lang="en-US" sz="1400" b="1" dirty="0" err="1">
                <a:solidFill>
                  <a:srgbClr val="FF0000"/>
                </a:solidFill>
              </a:rPr>
              <a:t>exPlanations</a:t>
            </a:r>
            <a:r>
              <a:rPr lang="en-US" sz="1400" b="1" dirty="0">
                <a:solidFill>
                  <a:srgbClr val="FF0000"/>
                </a:solidFill>
              </a:rPr>
              <a:t>)</a:t>
            </a:r>
            <a:r>
              <a:rPr lang="en-US" sz="1400" dirty="0"/>
              <a:t> </a:t>
            </a:r>
          </a:p>
          <a:p>
            <a:r>
              <a:rPr lang="en-US" sz="1400" dirty="0"/>
              <a:t>by Lundberg and Lee (2016) </a:t>
            </a:r>
          </a:p>
          <a:p>
            <a:r>
              <a:rPr lang="en-US" sz="1400" dirty="0"/>
              <a:t>is a method to explain individual predictions.</a:t>
            </a:r>
          </a:p>
          <a:p>
            <a:endParaRPr lang="en-US" sz="1400" dirty="0"/>
          </a:p>
          <a:p>
            <a:r>
              <a:rPr lang="en-US" sz="1400" b="1" dirty="0">
                <a:solidFill>
                  <a:srgbClr val="FF0000"/>
                </a:solidFill>
              </a:rPr>
              <a:t>SHAP</a:t>
            </a:r>
            <a:r>
              <a:rPr lang="en-US" sz="1400" dirty="0"/>
              <a:t> authors proposed </a:t>
            </a:r>
            <a:r>
              <a:rPr lang="en-US" sz="1400" b="1" dirty="0" err="1">
                <a:solidFill>
                  <a:srgbClr val="FF0000"/>
                </a:solidFill>
              </a:rPr>
              <a:t>KernelSHAP</a:t>
            </a:r>
            <a:r>
              <a:rPr lang="en-US" sz="1400" dirty="0"/>
              <a:t>, an alternative, </a:t>
            </a:r>
          </a:p>
          <a:p>
            <a:r>
              <a:rPr lang="en-US" sz="1400" dirty="0"/>
              <a:t>kernel-based estimation approach for Shapley values </a:t>
            </a:r>
          </a:p>
          <a:p>
            <a:r>
              <a:rPr lang="en-US" sz="1400" dirty="0"/>
              <a:t>inspired by local surrogate models. </a:t>
            </a:r>
          </a:p>
          <a:p>
            <a:endParaRPr lang="en-US" sz="1400" dirty="0"/>
          </a:p>
          <a:p>
            <a:r>
              <a:rPr lang="en-US" sz="1400" dirty="0"/>
              <a:t>And they proposed </a:t>
            </a:r>
            <a:r>
              <a:rPr lang="en-US" sz="1400" b="1" dirty="0" err="1">
                <a:solidFill>
                  <a:srgbClr val="FF0000"/>
                </a:solidFill>
              </a:rPr>
              <a:t>TreeSHAP</a:t>
            </a:r>
            <a:r>
              <a:rPr lang="en-US" sz="1400" dirty="0"/>
              <a:t>, </a:t>
            </a:r>
          </a:p>
          <a:p>
            <a:r>
              <a:rPr lang="en-US" sz="1400" dirty="0"/>
              <a:t>an efficient estimation approach for tree-based models. </a:t>
            </a:r>
          </a:p>
          <a:p>
            <a:endParaRPr lang="en-US" sz="1400" dirty="0"/>
          </a:p>
          <a:p>
            <a:r>
              <a:rPr lang="en-US" sz="1400" dirty="0"/>
              <a:t>Also, </a:t>
            </a:r>
            <a:r>
              <a:rPr lang="en-US" sz="1400" b="1" dirty="0">
                <a:solidFill>
                  <a:srgbClr val="FF0000"/>
                </a:solidFill>
              </a:rPr>
              <a:t>SHAP</a:t>
            </a:r>
            <a:r>
              <a:rPr lang="en-US" sz="1400" dirty="0"/>
              <a:t> comes with many global interpretation </a:t>
            </a:r>
          </a:p>
          <a:p>
            <a:r>
              <a:rPr lang="en-US" sz="1400" dirty="0"/>
              <a:t>methods based on aggregations of </a:t>
            </a:r>
            <a:r>
              <a:rPr lang="en-US" sz="1400" b="1" dirty="0">
                <a:solidFill>
                  <a:srgbClr val="FF0000"/>
                </a:solidFill>
              </a:rPr>
              <a:t>Shapley</a:t>
            </a:r>
            <a:r>
              <a:rPr lang="en-US" sz="1400" dirty="0"/>
              <a:t> values.</a:t>
            </a:r>
          </a:p>
        </p:txBody>
      </p:sp>
      <p:pic>
        <p:nvPicPr>
          <p:cNvPr id="2054" name="Picture 6" descr="Explain Your Model with the SHAP Values | by Dr. Dataman | Towards Data  Science">
            <a:extLst>
              <a:ext uri="{FF2B5EF4-FFF2-40B4-BE49-F238E27FC236}">
                <a16:creationId xmlns:a16="http://schemas.microsoft.com/office/drawing/2014/main" id="{48224121-4A7A-144D-8F02-E8F3864410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105327" y="1043537"/>
            <a:ext cx="3252572" cy="20473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329451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1E58F78-8F27-2D4A-BD36-154CD23B3E50}"/>
              </a:ext>
            </a:extLst>
          </p:cNvPr>
          <p:cNvSpPr txBox="1"/>
          <p:nvPr/>
        </p:nvSpPr>
        <p:spPr>
          <a:xfrm>
            <a:off x="0" y="0"/>
            <a:ext cx="313508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More Resources</a:t>
            </a:r>
            <a:endParaRPr lang="el-GR" sz="2800" b="1" dirty="0">
              <a:solidFill>
                <a:srgbClr val="0070C0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14F1150-0EE7-4D40-865A-EF7356C76267}"/>
              </a:ext>
            </a:extLst>
          </p:cNvPr>
          <p:cNvSpPr txBox="1"/>
          <p:nvPr/>
        </p:nvSpPr>
        <p:spPr>
          <a:xfrm>
            <a:off x="562096" y="1181500"/>
            <a:ext cx="10683837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hlinkClick r:id="rId2"/>
              </a:rPr>
              <a:t>https://stackoverflow.com/questions/65472200/when-should-data-binning-be-used-in-data-processing</a:t>
            </a:r>
            <a:r>
              <a:rPr lang="en-US" sz="14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hlinkClick r:id="rId3"/>
              </a:rPr>
              <a:t>https://docs.tibco.com/pub/spotfire/7.0.1/doc/html/bin/bin_what_is_binning.htm</a:t>
            </a:r>
            <a:r>
              <a:rPr lang="en-US" sz="14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hlinkClick r:id="rId4"/>
              </a:rPr>
              <a:t>https://cxl.com/blog/outliers/</a:t>
            </a:r>
            <a:r>
              <a:rPr lang="en-US" sz="14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hlinkClick r:id="rId5"/>
              </a:rPr>
              <a:t>https://en.wikipedia.org/wiki/Data_binning</a:t>
            </a:r>
            <a:r>
              <a:rPr lang="en-US" sz="14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hlinkClick r:id="rId6"/>
              </a:rPr>
              <a:t>https://www.simplypsychology.org/boxplots.html</a:t>
            </a:r>
            <a:r>
              <a:rPr lang="en-US" sz="14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hlinkClick r:id="rId7"/>
              </a:rPr>
              <a:t>https://www.researchgate.net/figure/Examples-of-various-outliers-found-in-regression-analysis-Case-1-is-an-outlier-with_fig2_50946372</a:t>
            </a:r>
            <a:r>
              <a:rPr lang="en-US" sz="14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hlinkClick r:id="rId8"/>
              </a:rPr>
              <a:t>https://probabilityandstats.wordpress.com/2015/05/09/the-skewness-of-a-probability-distribution/</a:t>
            </a:r>
            <a:r>
              <a:rPr lang="en-US" sz="14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hlinkClick r:id="rId9"/>
              </a:rPr>
              <a:t>https://towardsdatascience.com/feature-engineering-for-machine-learning-3a5e293a5114</a:t>
            </a:r>
            <a:r>
              <a:rPr lang="en-US" sz="14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hlinkClick r:id="rId10"/>
              </a:rPr>
              <a:t>https://www.kaggle.com/ryanholbrook/what-is-feature-engineering</a:t>
            </a:r>
            <a:r>
              <a:rPr lang="en-US" sz="14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hlinkClick r:id="rId11"/>
              </a:rPr>
              <a:t>https://medium.com/@kyawsawhtoon/log-transformation-purpose-and-interpretation-9444b4b049c9</a:t>
            </a:r>
            <a:r>
              <a:rPr lang="en-US" sz="14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hlinkClick r:id="rId12"/>
              </a:rPr>
              <a:t>https://machinelearningmastery.com/why-one-hot-encode-data-in-machine-learning/</a:t>
            </a:r>
            <a:r>
              <a:rPr lang="en-US" sz="14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hlinkClick r:id="rId13"/>
              </a:rPr>
              <a:t>https://www.kaggle.com/dansbecker/using-categorical-data-with-one-hot-encoding</a:t>
            </a:r>
            <a:r>
              <a:rPr lang="en-US" sz="1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1852659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1632</TotalTime>
  <Words>2782</Words>
  <Application>Microsoft Macintosh PowerPoint</Application>
  <PresentationFormat>Widescreen</PresentationFormat>
  <Paragraphs>272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Lev Selector</dc:creator>
  <cp:lastModifiedBy>Lev Selector</cp:lastModifiedBy>
  <cp:revision>199</cp:revision>
  <dcterms:created xsi:type="dcterms:W3CDTF">2018-10-10T17:24:46Z</dcterms:created>
  <dcterms:modified xsi:type="dcterms:W3CDTF">2021-04-05T12:57:48Z</dcterms:modified>
</cp:coreProperties>
</file>