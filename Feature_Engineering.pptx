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333" r:id="rId2"/>
    <p:sldId id="336" r:id="rId3"/>
    <p:sldId id="334" r:id="rId4"/>
    <p:sldId id="335" r:id="rId5"/>
    <p:sldId id="339" r:id="rId6"/>
    <p:sldId id="338" r:id="rId7"/>
    <p:sldId id="33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7"/>
    <p:restoredTop sz="94562"/>
  </p:normalViewPr>
  <p:slideViewPr>
    <p:cSldViewPr snapToGrid="0" snapToObjects="1">
      <p:cViewPr varScale="1">
        <p:scale>
          <a:sx n="108" d="100"/>
          <a:sy n="108" d="100"/>
        </p:scale>
        <p:origin x="5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4/3/21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4/3/21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data_transforms.html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rzResearchArena/PyFeat" TargetMode="External"/><Relationship Id="rId3" Type="http://schemas.openxmlformats.org/officeDocument/2006/relationships/hyperlink" Target="https://stats.stackexchange.com/questions/1001/is-spearmans-correlation-coefficient-usable-to-compare-distributions" TargetMode="External"/><Relationship Id="rId7" Type="http://schemas.openxmlformats.org/officeDocument/2006/relationships/hyperlink" Target="https://arxiv.org/abs/1901.07329" TargetMode="External"/><Relationship Id="rId2" Type="http://schemas.openxmlformats.org/officeDocument/2006/relationships/hyperlink" Target="https://en.wikipedia.org/wiki/Kolmogorov%E2%80%93Smirnov_test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cod3licious/autofeat" TargetMode="External"/><Relationship Id="rId5" Type="http://schemas.openxmlformats.org/officeDocument/2006/relationships/hyperlink" Target="https://github.com/blue-yonder/tsfresh" TargetMode="External"/><Relationship Id="rId4" Type="http://schemas.openxmlformats.org/officeDocument/2006/relationships/hyperlink" Target="https://www.featuretools.com/" TargetMode="External"/><Relationship Id="rId9" Type="http://schemas.openxmlformats.org/officeDocument/2006/relationships/hyperlink" Target="https://www.h2o.ai/products/h2o-driverless-ai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3" Type="http://schemas.openxmlformats.org/officeDocument/2006/relationships/hyperlink" Target="https://towardsdatascience.com/understanding-feature-engineering-part-3-traditional-methods-for-text-data-f6f7d70acd41" TargetMode="External"/><Relationship Id="rId7" Type="http://schemas.openxmlformats.org/officeDocument/2006/relationships/hyperlink" Target="https://elitedatascience.com/python-nlp-libraries" TargetMode="External"/><Relationship Id="rId12" Type="http://schemas.openxmlformats.org/officeDocument/2006/relationships/image" Target="../media/image8.png"/><Relationship Id="rId2" Type="http://schemas.openxmlformats.org/officeDocument/2006/relationships/hyperlink" Target="https://towardsdatascience.com/understanding-feature-engineering-part-1-continuous-numeric-data-da4e47099a7b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owardsdatascience.com/the-curse-of-dimensionality-50dc6e49aa1e" TargetMode="External"/><Relationship Id="rId11" Type="http://schemas.openxmlformats.org/officeDocument/2006/relationships/image" Target="../media/image7.jpeg"/><Relationship Id="rId5" Type="http://schemas.openxmlformats.org/officeDocument/2006/relationships/hyperlink" Target="https://towardsdatascience.com/understanding-nlp-word-embeddings-text-vectorization-1a23744f7223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towardsdatascience.com/text-vectorization-bag-of-words-bow-441d1bfce897" TargetMode="Externa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2o.ai/driverless-ai/latest-stable/docs/userguide/transformations.html#transformations" TargetMode="External"/><Relationship Id="rId2" Type="http://schemas.openxmlformats.org/officeDocument/2006/relationships/hyperlink" Target="https://docs.h2o.ai/driverless-ai/latest-stable/docs/userguide/feature-engineering.html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hyperlink" Target="https://docs.h2o.ai/driverless-ai/latest-stable/docs/userguide/expert_settings/features_settings.html#max-feature-interaction-depth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probabilityandstats.wordpress.com/2015/05/09/the-skewness-of-a-probability-distribution/" TargetMode="External"/><Relationship Id="rId13" Type="http://schemas.openxmlformats.org/officeDocument/2006/relationships/hyperlink" Target="https://www.kaggle.com/dansbecker/using-categorical-data-with-one-hot-encoding" TargetMode="External"/><Relationship Id="rId3" Type="http://schemas.openxmlformats.org/officeDocument/2006/relationships/hyperlink" Target="https://docs.tibco.com/pub/spotfire/7.0.1/doc/html/bin/bin_what_is_binning.htm" TargetMode="External"/><Relationship Id="rId7" Type="http://schemas.openxmlformats.org/officeDocument/2006/relationships/hyperlink" Target="https://www.researchgate.net/figure/Examples-of-various-outliers-found-in-regression-analysis-Case-1-is-an-outlier-with_fig2_50946372" TargetMode="External"/><Relationship Id="rId12" Type="http://schemas.openxmlformats.org/officeDocument/2006/relationships/hyperlink" Target="https://machinelearningmastery.com/why-one-hot-encode-data-in-machine-learning/" TargetMode="External"/><Relationship Id="rId2" Type="http://schemas.openxmlformats.org/officeDocument/2006/relationships/hyperlink" Target="https://stackoverflow.com/questions/65472200/when-should-data-binning-be-used-in-data-processing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implypsychology.org/boxplots.html" TargetMode="External"/><Relationship Id="rId11" Type="http://schemas.openxmlformats.org/officeDocument/2006/relationships/hyperlink" Target="https://medium.com/@kyawsawhtoon/log-transformation-purpose-and-interpretation-9444b4b049c9" TargetMode="External"/><Relationship Id="rId5" Type="http://schemas.openxmlformats.org/officeDocument/2006/relationships/hyperlink" Target="https://en.wikipedia.org/wiki/Data_binning" TargetMode="External"/><Relationship Id="rId10" Type="http://schemas.openxmlformats.org/officeDocument/2006/relationships/hyperlink" Target="https://www.kaggle.com/ryanholbrook/what-is-feature-engineering" TargetMode="External"/><Relationship Id="rId4" Type="http://schemas.openxmlformats.org/officeDocument/2006/relationships/hyperlink" Target="https://cxl.com/blog/outliers/" TargetMode="External"/><Relationship Id="rId9" Type="http://schemas.openxmlformats.org/officeDocument/2006/relationships/hyperlink" Target="https://towardsdatascience.com/feature-engineering-for-machine-learning-3a5e293a511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3135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Feature Engineering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451623" y="2085628"/>
            <a:ext cx="798552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Typical Operations: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Removing obviously non-relevant data</a:t>
            </a:r>
            <a:r>
              <a:rPr lang="en-US" sz="1400" dirty="0"/>
              <a:t> (empty or not-changing columns/rows, </a:t>
            </a:r>
            <a:r>
              <a:rPr lang="en-US" sz="1400" dirty="0" err="1"/>
              <a:t>row_id</a:t>
            </a:r>
            <a:r>
              <a:rPr lang="en-US" sz="1400" dirty="0"/>
              <a:t>, etc. 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Synthetic Features</a:t>
            </a:r>
            <a:r>
              <a:rPr lang="en-US" sz="1400" dirty="0"/>
              <a:t> (Example: Income / Price)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Select relevant columns</a:t>
            </a:r>
            <a:r>
              <a:rPr lang="en-US" sz="1400" dirty="0"/>
              <a:t> (Kolmogorov-Smirnov test,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Sparse features</a:t>
            </a:r>
            <a:r>
              <a:rPr lang="en-US" sz="1400" dirty="0"/>
              <a:t> – consider converting/combining (Example: grouping penny-stocks together)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Impute missing data</a:t>
            </a:r>
            <a:r>
              <a:rPr lang="en-US" sz="1400" dirty="0"/>
              <a:t> (with mean, median, most frequent, KNN, extrapolation or interpolation, </a:t>
            </a:r>
            <a:br>
              <a:rPr lang="en-US" sz="1400" dirty="0"/>
            </a:br>
            <a:r>
              <a:rPr lang="en-US" sz="1400" dirty="0"/>
              <a:t>MICE (Multivariate Imputation by Chained Equation),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Outliers</a:t>
            </a:r>
            <a:r>
              <a:rPr lang="en-US" sz="1400" dirty="0"/>
              <a:t> (use box-plots and scatterplots to find), filter-out or change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Collinearity</a:t>
            </a:r>
            <a:r>
              <a:rPr lang="en-US" sz="1400" dirty="0"/>
              <a:t> – reduce (combine features, use PCA (Principal Component Analysis)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Factor Analysis</a:t>
            </a:r>
            <a:r>
              <a:rPr lang="en-US" sz="1400" dirty="0"/>
              <a:t> (finding underlying common factor for several features) – reduce number of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Aggregating, Binning / Bucketing</a:t>
            </a:r>
            <a:r>
              <a:rPr lang="en-US" sz="1400" dirty="0"/>
              <a:t> - </a:t>
            </a:r>
            <a:r>
              <a:rPr lang="en-US" sz="1400" dirty="0">
                <a:solidFill>
                  <a:srgbClr val="0070C0"/>
                </a:solidFill>
              </a:rPr>
              <a:t>df[col] = </a:t>
            </a:r>
            <a:r>
              <a:rPr lang="en-US" sz="1400" dirty="0" err="1">
                <a:solidFill>
                  <a:srgbClr val="0070C0"/>
                </a:solidFill>
              </a:rPr>
              <a:t>pd.qcut</a:t>
            </a:r>
            <a:r>
              <a:rPr lang="en-US" sz="1400" dirty="0">
                <a:solidFill>
                  <a:srgbClr val="0070C0"/>
                </a:solidFill>
              </a:rPr>
              <a:t>(df[col], 10)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Grouping</a:t>
            </a:r>
            <a:r>
              <a:rPr lang="en-US" sz="1400" dirty="0"/>
              <a:t> of some features together (numeric - sum() or mean(), categorical – by frequency)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Transformations &amp; Interactions</a:t>
            </a:r>
            <a:r>
              <a:rPr lang="en-US" sz="1400" dirty="0"/>
              <a:t> (see H2O.ai Driverless AI as a good example)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One-hot Encoding</a:t>
            </a:r>
            <a:r>
              <a:rPr lang="en-US" sz="1400" dirty="0"/>
              <a:t> ( use </a:t>
            </a:r>
            <a:r>
              <a:rPr lang="en-US" sz="1400" dirty="0" err="1">
                <a:solidFill>
                  <a:srgbClr val="0070C0"/>
                </a:solidFill>
              </a:rPr>
              <a:t>pd.get_dummies</a:t>
            </a:r>
            <a:r>
              <a:rPr lang="en-US" sz="1400" dirty="0">
                <a:solidFill>
                  <a:srgbClr val="0070C0"/>
                </a:solidFill>
              </a:rPr>
              <a:t>()</a:t>
            </a:r>
            <a:r>
              <a:rPr lang="en-US" sz="1400" dirty="0"/>
              <a:t> function in pandas)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Split</a:t>
            </a:r>
            <a:r>
              <a:rPr lang="en-US" sz="1400" dirty="0"/>
              <a:t> features (for example, split text)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Scaling</a:t>
            </a:r>
            <a:r>
              <a:rPr lang="en-US" sz="1400" dirty="0"/>
              <a:t> (Normalization or Standardization)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Dates</a:t>
            </a:r>
            <a:r>
              <a:rPr lang="en-US" sz="1400" dirty="0"/>
              <a:t>  – convert to features (Day of week, Month, Year, Day of year, Quarter, diff between dates)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Feature Importance</a:t>
            </a:r>
            <a:r>
              <a:rPr lang="en-US" sz="1400" dirty="0"/>
              <a:t> – training with different subsets of features (ex. Random Forest) allows to figure out feature importance – and helps to remove non-important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Text</a:t>
            </a:r>
            <a:r>
              <a:rPr lang="en-US" sz="1400" dirty="0"/>
              <a:t> - extract synthetic features (for example, sentiment (Positive, Neutral, Negative)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8F02E2-B804-3D49-8568-CAAFA7ED1E9B}"/>
              </a:ext>
            </a:extLst>
          </p:cNvPr>
          <p:cNvSpPr txBox="1"/>
          <p:nvPr/>
        </p:nvSpPr>
        <p:spPr>
          <a:xfrm>
            <a:off x="52190" y="570363"/>
            <a:ext cx="39549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Cleaning Data and Feature Engineering typically take 80% of time of a Data Science Project!</a:t>
            </a:r>
          </a:p>
        </p:txBody>
      </p:sp>
      <p:pic>
        <p:nvPicPr>
          <p:cNvPr id="7" name="Google Shape;81;p15">
            <a:extLst>
              <a:ext uri="{FF2B5EF4-FFF2-40B4-BE49-F238E27FC236}">
                <a16:creationId xmlns:a16="http://schemas.microsoft.com/office/drawing/2014/main" id="{1B3C544D-7EA8-254A-8E63-B2A44F3D699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53346" y="986299"/>
            <a:ext cx="2971800" cy="181588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610F40-1E03-9C42-A60B-B20C8A43D782}"/>
              </a:ext>
            </a:extLst>
          </p:cNvPr>
          <p:cNvSpPr txBox="1"/>
          <p:nvPr/>
        </p:nvSpPr>
        <p:spPr>
          <a:xfrm>
            <a:off x="9065930" y="200054"/>
            <a:ext cx="2638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sym typeface="Arial"/>
              </a:rPr>
              <a:t>A feature is typically</a:t>
            </a:r>
          </a:p>
          <a:p>
            <a:pPr algn="ctr"/>
            <a:r>
              <a:rPr lang="en-US" dirty="0">
                <a:solidFill>
                  <a:srgbClr val="FF0000"/>
                </a:solidFill>
                <a:sym typeface="Arial"/>
              </a:rPr>
              <a:t>a column in a data set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8" name="Google Shape;90;p16">
            <a:extLst>
              <a:ext uri="{FF2B5EF4-FFF2-40B4-BE49-F238E27FC236}">
                <a16:creationId xmlns:a16="http://schemas.microsoft.com/office/drawing/2014/main" id="{1BF10137-5A40-7F47-85B0-1907554F3385}"/>
              </a:ext>
            </a:extLst>
          </p:cNvPr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42578" y="4786318"/>
            <a:ext cx="1485700" cy="140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0;p16">
            <a:extLst>
              <a:ext uri="{FF2B5EF4-FFF2-40B4-BE49-F238E27FC236}">
                <a16:creationId xmlns:a16="http://schemas.microsoft.com/office/drawing/2014/main" id="{30067E4C-6093-1B4B-9248-DE02B18A895A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6"/>
          <a:stretch/>
        </p:blipFill>
        <p:spPr>
          <a:xfrm>
            <a:off x="8919611" y="4786318"/>
            <a:ext cx="543221" cy="144120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022D9886-16C6-3646-99D3-276BAFC5499F}"/>
              </a:ext>
            </a:extLst>
          </p:cNvPr>
          <p:cNvSpPr/>
          <p:nvPr/>
        </p:nvSpPr>
        <p:spPr>
          <a:xfrm>
            <a:off x="9801225" y="5316684"/>
            <a:ext cx="584173" cy="2983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3BF310-51BA-FF48-86E5-39C03E02A01A}"/>
              </a:ext>
            </a:extLst>
          </p:cNvPr>
          <p:cNvSpPr txBox="1"/>
          <p:nvPr/>
        </p:nvSpPr>
        <p:spPr>
          <a:xfrm>
            <a:off x="9065930" y="4126161"/>
            <a:ext cx="263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sym typeface="Arial"/>
              </a:rPr>
              <a:t>One-Hot Encoding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4B9BAE-86AB-BD4A-99D2-8E91F13A3B86}"/>
              </a:ext>
            </a:extLst>
          </p:cNvPr>
          <p:cNvSpPr txBox="1"/>
          <p:nvPr/>
        </p:nvSpPr>
        <p:spPr>
          <a:xfrm>
            <a:off x="4123751" y="847851"/>
            <a:ext cx="46130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  <a:sym typeface="Arial"/>
              </a:rPr>
              <a:t>"Feature engineering is the process of transforming raw data into features that better represent the underlying problem to the predictive models, resulting in improved model accuracy on unseen data."  - Dr. Jason Brownlee</a:t>
            </a:r>
          </a:p>
        </p:txBody>
      </p:sp>
    </p:spTree>
    <p:extLst>
      <p:ext uri="{BB962C8B-B14F-4D97-AF65-F5344CB8AC3E}">
        <p14:creationId xmlns:p14="http://schemas.microsoft.com/office/powerpoint/2010/main" val="1421258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58057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Engineering Tools – part 1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77468" y="1037816"/>
            <a:ext cx="52139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Pandas, NumPy, Matplotlib, Seaborn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Scikit-learn Dataset transformations:</a:t>
            </a:r>
            <a:br>
              <a:rPr lang="en-US" sz="1200" dirty="0"/>
            </a:br>
            <a:r>
              <a:rPr lang="en-US" sz="1200" dirty="0">
                <a:hlinkClick r:id="rId2"/>
              </a:rPr>
              <a:t>https://scikit-learn.org/stable/data_transforms.html</a:t>
            </a:r>
            <a:r>
              <a:rPr lang="en-US" sz="12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6.1. Pipelines and composite estimators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6.1.1. Pipeline: chaining estimators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6.1.2. Transforming target in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6.1.3. </a:t>
            </a:r>
            <a:r>
              <a:rPr lang="en-US" sz="1200" dirty="0" err="1"/>
              <a:t>FeatureUnion</a:t>
            </a:r>
            <a:r>
              <a:rPr lang="en-US" sz="1200" dirty="0"/>
              <a:t>: composite feature spaces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6.1.4. </a:t>
            </a:r>
            <a:r>
              <a:rPr lang="en-US" sz="1200" dirty="0" err="1"/>
              <a:t>ColumnTransformer</a:t>
            </a:r>
            <a:r>
              <a:rPr lang="en-US" sz="1200" dirty="0"/>
              <a:t> for heterogeneous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6.1.5. Visualizing Composite Estimators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6.2.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6.2.1. Loading features from </a:t>
            </a:r>
            <a:r>
              <a:rPr lang="en-US" sz="1200" dirty="0" err="1"/>
              <a:t>dicts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6.2.2. Feature hashing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6.2.3. Text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6.2.4. Image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6.3. Preprocessing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6.3.1. Standardization, or mean removal and variance scaling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6.3.2. Non-linear transformation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6.3.3. Normalization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6.3.4. Encoding categorical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6.3.5. Discretization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6.3.6. Imputation of 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6.3.7. Generating polynomial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6.3.8. Custom transformers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FD13-EC08-4B43-B05E-F80BA3BE2EBC}"/>
              </a:ext>
            </a:extLst>
          </p:cNvPr>
          <p:cNvSpPr txBox="1"/>
          <p:nvPr/>
        </p:nvSpPr>
        <p:spPr>
          <a:xfrm>
            <a:off x="6700820" y="335845"/>
            <a:ext cx="447963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6.4. Imputation of 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6.4.1. Univariate vs. Multivariate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6.4.2. Univariate feature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6.4.3. Multivariate feature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6.4.4. 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6.4.5. Nearest neighbors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6.4.6. Marking imputed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6.5. Unsupervised dimensionality reduction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6.5.1. PCA: principal component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6.5.2. Random projections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6.5.3. Feature agglomeration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6.6. Random Projection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6.6.1. The Johnson-</a:t>
            </a:r>
            <a:r>
              <a:rPr lang="en-US" sz="1200" dirty="0" err="1"/>
              <a:t>Lindenstrauss</a:t>
            </a:r>
            <a:r>
              <a:rPr lang="en-US" sz="1200" dirty="0"/>
              <a:t> lemma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6.6.2. Gaussian random projection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6.6.3. Sparse random projection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6.7. Kernel Approximatio</a:t>
            </a:r>
            <a:r>
              <a:rPr lang="en-US" sz="1200" dirty="0"/>
              <a:t>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6.7.1. </a:t>
            </a:r>
            <a:r>
              <a:rPr lang="en-US" sz="1200" dirty="0" err="1"/>
              <a:t>Nystroem</a:t>
            </a:r>
            <a:r>
              <a:rPr lang="en-US" sz="1200" dirty="0"/>
              <a:t> Method for Kernel Approximation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6.7.2. Radial Basis Function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6.7.3. Additive Chi Squared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6.7.4. Skewed Chi Squared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6.7.5. Polynomial Kernel Approximation via Tensor Sketch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6.7.6. Mathematical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6.8. Pairwise metrics, Affinities and Kernels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6.8.1. Cosine similarity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6.8.2. Linear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6.8.3. Polynomial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6.8.4. Sigmoid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6.8.5. RBF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6.8.6. Laplacian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6.8.7. Chi-squared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6.9. Transforming the prediction target (y)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6.9.1. Label binarization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6.9.2. Label encoding</a:t>
            </a:r>
          </a:p>
        </p:txBody>
      </p:sp>
    </p:spTree>
    <p:extLst>
      <p:ext uri="{BB962C8B-B14F-4D97-AF65-F5344CB8AC3E}">
        <p14:creationId xmlns:p14="http://schemas.microsoft.com/office/powerpoint/2010/main" val="596168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58057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Engineering Tools - part 2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414974" y="622180"/>
            <a:ext cx="998780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Kolmogorov-Smirnov </a:t>
            </a:r>
            <a:r>
              <a:rPr lang="en-US" sz="1400" dirty="0"/>
              <a:t>test – helps to find essential features</a:t>
            </a:r>
            <a:br>
              <a:rPr lang="en-US" sz="1400" dirty="0"/>
            </a:br>
            <a:r>
              <a:rPr lang="en-US" sz="1400" b="1" dirty="0">
                <a:solidFill>
                  <a:srgbClr val="0070C0"/>
                </a:solidFill>
              </a:rPr>
              <a:t>from </a:t>
            </a:r>
            <a:r>
              <a:rPr lang="en-US" sz="1400" b="1" dirty="0" err="1">
                <a:solidFill>
                  <a:srgbClr val="0070C0"/>
                </a:solidFill>
              </a:rPr>
              <a:t>scipy.stats</a:t>
            </a:r>
            <a:r>
              <a:rPr lang="en-US" sz="1400" b="1" dirty="0">
                <a:solidFill>
                  <a:srgbClr val="0070C0"/>
                </a:solidFill>
              </a:rPr>
              <a:t> import ks_2samp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2"/>
              </a:rPr>
              <a:t>https://en.wikipedia.org/wiki/Kolmogorov%E2%80%93Smirnov_test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3"/>
              </a:rPr>
              <a:t>https://stats.stackexchange.com/questions/1001/is-spearmans-correlation-coefficient-usable-to-compare-distributions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Featuretools</a:t>
            </a:r>
            <a:r>
              <a:rPr lang="en-US" sz="1400" dirty="0"/>
              <a:t> - open source python framework for automated feature engineering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4"/>
              </a:rPr>
              <a:t>https://www.featuretools.com/</a:t>
            </a:r>
            <a:r>
              <a:rPr lang="en-US" sz="1400" dirty="0"/>
              <a:t> 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TSFRESH</a:t>
            </a:r>
            <a:r>
              <a:rPr lang="en-US" sz="1400" dirty="0"/>
              <a:t> python package</a:t>
            </a:r>
            <a:br>
              <a:rPr lang="en-US" sz="1400" dirty="0"/>
            </a:br>
            <a:r>
              <a:rPr lang="en-US" sz="1400" dirty="0"/>
              <a:t>"Time Series Feature Extraction based on Scalable Hypothesis tests"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5"/>
              </a:rPr>
              <a:t>https://github.com/blue-yonder/tsfresh</a:t>
            </a:r>
            <a:r>
              <a:rPr lang="en-US" sz="14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autofeat</a:t>
            </a:r>
            <a:r>
              <a:rPr lang="en-US" sz="1400" dirty="0"/>
              <a:t> (Automated Feature Engineering and Selection)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6"/>
              </a:rPr>
              <a:t>https://github.com/cod3licious/autofeat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7"/>
              </a:rPr>
              <a:t>https://arxiv.org/abs/1901.07329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PyFeat</a:t>
            </a:r>
            <a:r>
              <a:rPr lang="en-US" sz="1400" dirty="0"/>
              <a:t> - A Python-based Effective Feature Generation Tool from DNA, RNA, and Protein Sequences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8"/>
              </a:rPr>
              <a:t>https://github.com/mrzResearchArena/PyFeat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Driverless AI from H2O.ai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9"/>
              </a:rPr>
              <a:t>https://www.h2o.ai/products/h2o-driverless-ai/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90149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0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Extracting Features from Text - part 1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010596" y="866120"/>
            <a:ext cx="8810297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Text Cleaning</a:t>
            </a:r>
            <a:r>
              <a:rPr lang="en-US" sz="1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Converting words into lowercase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Removing leading and trailing whitespaces, punctuation, stop words (a, an, the, ...)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Expanding contractions (don’t -&gt; do not)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Removing special characters (numbers, emojis, </a:t>
            </a:r>
            <a:r>
              <a:rPr lang="en-US" sz="1400" dirty="0" err="1"/>
              <a:t>etc</a:t>
            </a:r>
            <a:r>
              <a:rPr lang="en-US" sz="1400" dirty="0"/>
              <a:t>), HTML/XML tags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Replacing accented characters (such as </a:t>
            </a:r>
            <a:r>
              <a:rPr lang="en-US" sz="1400" dirty="0" err="1"/>
              <a:t>é</a:t>
            </a:r>
            <a:r>
              <a:rPr lang="en-US" sz="14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Correcting spelling errors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Tokenizing</a:t>
            </a:r>
            <a:r>
              <a:rPr lang="en-US" sz="1400" dirty="0"/>
              <a:t> - split text into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Stemming</a:t>
            </a:r>
            <a:r>
              <a:rPr lang="en-US" sz="1400" dirty="0"/>
              <a:t> &amp; </a:t>
            </a:r>
            <a:r>
              <a:rPr lang="en-US" sz="1400" b="1" dirty="0">
                <a:solidFill>
                  <a:srgbClr val="FF0000"/>
                </a:solidFill>
              </a:rPr>
              <a:t>Lemmatization</a:t>
            </a:r>
            <a:r>
              <a:rPr lang="en-US" sz="1400" dirty="0"/>
              <a:t> - convert word into base forms: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Stemming  - essentially chops off letters from the end until the stem is reached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Lemmatization – more advanced:  "was" → "be", "mice" → "mouse"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POS tagging</a:t>
            </a:r>
            <a:r>
              <a:rPr lang="en-US" sz="1400" dirty="0"/>
              <a:t> (Part-Of-Speech). Careful – same word may get different POS tag in different contexts.</a:t>
            </a:r>
            <a:br>
              <a:rPr lang="en-US" sz="1400" dirty="0"/>
            </a:br>
            <a:r>
              <a:rPr lang="en-US" sz="1400" dirty="0"/>
              <a:t>For example: </a:t>
            </a:r>
            <a:r>
              <a:rPr lang="en-US" sz="1400" b="1" dirty="0">
                <a:solidFill>
                  <a:srgbClr val="FF0000"/>
                </a:solidFill>
              </a:rPr>
              <a:t>bear</a:t>
            </a:r>
            <a:r>
              <a:rPr lang="en-US" sz="1400" dirty="0"/>
              <a:t> is an animal (noun), please </a:t>
            </a:r>
            <a:r>
              <a:rPr lang="en-US" sz="1400" b="1" dirty="0">
                <a:solidFill>
                  <a:srgbClr val="FF0000"/>
                </a:solidFill>
              </a:rPr>
              <a:t>bear</a:t>
            </a:r>
            <a:r>
              <a:rPr lang="en-US" sz="1400" dirty="0"/>
              <a:t> with me (verb)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Sentiment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Word Sense Disambiguation</a:t>
            </a:r>
            <a:r>
              <a:rPr lang="en-US" sz="1400" dirty="0"/>
              <a:t> by asking questions (chatbot)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Name Entity Recognition</a:t>
            </a:r>
            <a:r>
              <a:rPr lang="en-US" sz="1400" dirty="0"/>
              <a:t> - identify/categorize names of persons, organizations, locations, expression of times, quantities, monetary values, percentages,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Bag of Words</a:t>
            </a:r>
            <a:r>
              <a:rPr lang="en-US" sz="1400" dirty="0"/>
              <a:t>(</a:t>
            </a:r>
            <a:r>
              <a:rPr lang="en-US" sz="1400" dirty="0" err="1"/>
              <a:t>BoW</a:t>
            </a:r>
            <a:r>
              <a:rPr lang="en-US" sz="1400" dirty="0"/>
              <a:t>) – calculate frequency of each word (drawback - doesn't understand order of words)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N-gram</a:t>
            </a:r>
            <a:r>
              <a:rPr lang="en-US" sz="1400" dirty="0"/>
              <a:t> - set of N  sequential word tokens in a given document (</a:t>
            </a:r>
            <a:r>
              <a:rPr lang="en-US" sz="1400" dirty="0" err="1"/>
              <a:t>BoW</a:t>
            </a:r>
            <a:r>
              <a:rPr lang="en-US" sz="1400" dirty="0"/>
              <a:t> is basically a unigram model (N=1))</a:t>
            </a:r>
            <a:br>
              <a:rPr lang="en-US" sz="1400" dirty="0"/>
            </a:br>
            <a:r>
              <a:rPr lang="en-US" sz="1400" dirty="0"/>
              <a:t>Problems with N-grams: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very high-dimensional and sparse set (difficult to train a model)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observation to appear equidistant from all the others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TF-IDF</a:t>
            </a:r>
            <a:r>
              <a:rPr lang="en-US" sz="1400" dirty="0"/>
              <a:t> (Term Frequency-Inverse Document Frequency) – better than N-grams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Word embeddings</a:t>
            </a:r>
            <a:r>
              <a:rPr lang="en-US" sz="1400" dirty="0"/>
              <a:t> – even better. Maps words into an n-dimensional vector space (using deep learning).</a:t>
            </a:r>
            <a:br>
              <a:rPr lang="en-US" sz="1400" dirty="0"/>
            </a:br>
            <a:r>
              <a:rPr lang="en-US" sz="1400" dirty="0"/>
              <a:t>Examples: </a:t>
            </a:r>
            <a:r>
              <a:rPr lang="en-US" sz="1400" b="1" dirty="0">
                <a:solidFill>
                  <a:srgbClr val="0070C0"/>
                </a:solidFill>
              </a:rPr>
              <a:t>Word2Vec</a:t>
            </a:r>
            <a:r>
              <a:rPr lang="en-US" sz="1400" dirty="0"/>
              <a:t> by Google, </a:t>
            </a:r>
            <a:r>
              <a:rPr lang="en-US" sz="1400" b="1" dirty="0" err="1">
                <a:solidFill>
                  <a:srgbClr val="0070C0"/>
                </a:solidFill>
              </a:rPr>
              <a:t>Fasttext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dirty="0"/>
              <a:t>by Facebook, </a:t>
            </a:r>
            <a:r>
              <a:rPr lang="en-US" sz="1400" b="1" dirty="0">
                <a:solidFill>
                  <a:srgbClr val="0070C0"/>
                </a:solidFill>
              </a:rPr>
              <a:t>Glove</a:t>
            </a:r>
            <a:r>
              <a:rPr lang="en-US" sz="1400" dirty="0"/>
              <a:t> by </a:t>
            </a:r>
            <a:r>
              <a:rPr lang="en-US" sz="1400" dirty="0" err="1"/>
              <a:t>Standford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5247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0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Extracting Features from Text - part 2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81922" y="751821"/>
            <a:ext cx="606171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Resources: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Continuous Numeric Data. Strategies for working with continuous … - by </a:t>
            </a:r>
            <a:r>
              <a:rPr lang="en-US" sz="1400" dirty="0" err="1"/>
              <a:t>Dipanjan</a:t>
            </a:r>
            <a:r>
              <a:rPr lang="en-US" sz="1400" dirty="0"/>
              <a:t> (DJ) Sarkar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2"/>
              </a:rPr>
              <a:t>https://towardsdatascience.com/understanding-feature-engineering-part-1-continuous-numeric-data-da4e47099a7b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Traditional Methods for Text Data - by </a:t>
            </a:r>
            <a:r>
              <a:rPr lang="en-US" sz="1400" dirty="0" err="1"/>
              <a:t>Dipanjan</a:t>
            </a:r>
            <a:r>
              <a:rPr lang="en-US" sz="1400" dirty="0"/>
              <a:t> (DJ) Sarkar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https://towardsdatascience.com/understanding-feature-engineering-part-3-traditional-methods-for-text-data-f6f7d70acd41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Text Vectorization: Bag of Words (</a:t>
            </a:r>
            <a:r>
              <a:rPr lang="en-US" sz="1400" dirty="0" err="1"/>
              <a:t>BoW</a:t>
            </a:r>
            <a:r>
              <a:rPr lang="en-US" sz="1400" dirty="0"/>
              <a:t>) - by Vaibhav </a:t>
            </a:r>
            <a:r>
              <a:rPr lang="en-US" sz="1400" dirty="0" err="1"/>
              <a:t>Jayaswal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4"/>
              </a:rPr>
              <a:t>https://towardsdatascience.com/text-vectorization-bag-of-words-bow-441d1bfce897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Understanding NLP Word Embeddings — Text Vectorization - by Prabhu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5"/>
              </a:rPr>
              <a:t>https://towardsdatascience.com/understanding-nlp-word-embeddings-text-vectorization-1a23744f7223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Curse of Dimensionality. Why High Dimensional Data Can Be So… - by Tony </a:t>
            </a:r>
            <a:r>
              <a:rPr lang="en-US" sz="1400" dirty="0" err="1"/>
              <a:t>Yiu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6"/>
              </a:rPr>
              <a:t>https://towardsdatascience.com/the-curse-of-dimensionality-50dc6e49aa1e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5 Heroic Python NLP Libraries (</a:t>
            </a:r>
            <a:r>
              <a:rPr lang="en-US" sz="1400" dirty="0" err="1"/>
              <a:t>elitedatascience.com</a:t>
            </a:r>
            <a:r>
              <a:rPr lang="en-US" sz="1400" dirty="0"/>
              <a:t>)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7"/>
              </a:rPr>
              <a:t>https://elitedatascience.com/python-nlp-libraries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BF9403-69C5-924D-9453-8FC2127BB793}"/>
              </a:ext>
            </a:extLst>
          </p:cNvPr>
          <p:cNvSpPr txBox="1"/>
          <p:nvPr/>
        </p:nvSpPr>
        <p:spPr>
          <a:xfrm>
            <a:off x="9841028" y="1639075"/>
            <a:ext cx="1828800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Sci-kit learn</a:t>
            </a:r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NLTK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spaCy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Gensim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Textblob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Standford</a:t>
            </a:r>
            <a:r>
              <a:rPr lang="en-US" sz="1400" dirty="0"/>
              <a:t> </a:t>
            </a:r>
            <a:r>
              <a:rPr lang="en-US" sz="1400" dirty="0" err="1"/>
              <a:t>CoreNLP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6" name="Google Shape;214;p34" descr="scikit-learn - Wikipedia">
            <a:extLst>
              <a:ext uri="{FF2B5EF4-FFF2-40B4-BE49-F238E27FC236}">
                <a16:creationId xmlns:a16="http://schemas.microsoft.com/office/drawing/2014/main" id="{4418D238-DD05-2941-A9F8-D4CFE885A7CE}"/>
              </a:ext>
            </a:extLst>
          </p:cNvPr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97712" y="1472030"/>
            <a:ext cx="1014716" cy="547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15;p34" descr="spaCy - Wikipedia">
            <a:extLst>
              <a:ext uri="{FF2B5EF4-FFF2-40B4-BE49-F238E27FC236}">
                <a16:creationId xmlns:a16="http://schemas.microsoft.com/office/drawing/2014/main" id="{4BB2C685-CAF5-4443-8449-D8755D639D7B}"/>
              </a:ext>
            </a:extLst>
          </p:cNvPr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87951" y="3104169"/>
            <a:ext cx="924477" cy="33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16;p34" descr="TextBlob: Simplified Text Processing — TextBlob 0.16.0 documentation">
            <a:extLst>
              <a:ext uri="{FF2B5EF4-FFF2-40B4-BE49-F238E27FC236}">
                <a16:creationId xmlns:a16="http://schemas.microsoft.com/office/drawing/2014/main" id="{18576110-FE8E-AC47-A856-656599337B6B}"/>
              </a:ext>
            </a:extLst>
          </p:cNvPr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23556" y="4310001"/>
            <a:ext cx="653265" cy="596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17;p34" descr="Improving gensim's documentation. Between the months of January and April…  | by Manos Stergiadis | Medium">
            <a:extLst>
              <a:ext uri="{FF2B5EF4-FFF2-40B4-BE49-F238E27FC236}">
                <a16:creationId xmlns:a16="http://schemas.microsoft.com/office/drawing/2014/main" id="{DF6DCACB-E8C3-2B45-BC10-78F180C5FF59}"/>
              </a:ext>
            </a:extLst>
          </p:cNvPr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93507" y="3731956"/>
            <a:ext cx="977587" cy="356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18;p34" descr="NLTK Tutorial —— A Python package - Clay-Technology World">
            <a:extLst>
              <a:ext uri="{FF2B5EF4-FFF2-40B4-BE49-F238E27FC236}">
                <a16:creationId xmlns:a16="http://schemas.microsoft.com/office/drawing/2014/main" id="{6F2F5FA2-624F-9449-B51F-BF681F7E002A}"/>
              </a:ext>
            </a:extLst>
          </p:cNvPr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5173" y="2136085"/>
            <a:ext cx="679794" cy="7394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GitHub - stanfordnlp/CoreNLP: Stanford CoreNLP: A Java suite of core NLP  tools.">
            <a:extLst>
              <a:ext uri="{FF2B5EF4-FFF2-40B4-BE49-F238E27FC236}">
                <a16:creationId xmlns:a16="http://schemas.microsoft.com/office/drawing/2014/main" id="{EEC151A0-FC8D-6646-B396-B39C528C41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777345" y="5148864"/>
            <a:ext cx="793749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A5C6CCE-95BE-0E41-929F-91FC06B49A0E}"/>
              </a:ext>
            </a:extLst>
          </p:cNvPr>
          <p:cNvSpPr txBox="1"/>
          <p:nvPr/>
        </p:nvSpPr>
        <p:spPr>
          <a:xfrm>
            <a:off x="8687951" y="663832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Common Libraries</a:t>
            </a:r>
          </a:p>
        </p:txBody>
      </p:sp>
    </p:spTree>
    <p:extLst>
      <p:ext uri="{BB962C8B-B14F-4D97-AF65-F5344CB8AC3E}">
        <p14:creationId xmlns:p14="http://schemas.microsoft.com/office/powerpoint/2010/main" val="24194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1425039" y="396647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H2O.ai – Automatic Feature Engineering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101975" y="1647334"/>
            <a:ext cx="93266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</a:rPr>
              <a:t>New features are created</a:t>
            </a:r>
            <a:r>
              <a:rPr lang="en-US" sz="1600" dirty="0"/>
              <a:t> by doing </a:t>
            </a:r>
            <a:r>
              <a:rPr lang="en-US" sz="1600" b="1" dirty="0">
                <a:solidFill>
                  <a:srgbClr val="FF0000"/>
                </a:solidFill>
              </a:rPr>
              <a:t>transformations</a:t>
            </a:r>
            <a:r>
              <a:rPr lang="en-US" sz="1600" dirty="0"/>
              <a:t> and/or </a:t>
            </a:r>
            <a:r>
              <a:rPr lang="en-US" sz="1600" b="1" dirty="0">
                <a:solidFill>
                  <a:srgbClr val="FF0000"/>
                </a:solidFill>
              </a:rPr>
              <a:t>interactions</a:t>
            </a:r>
            <a:r>
              <a:rPr lang="en-US" sz="1600" dirty="0"/>
              <a:t> on the dataset columns.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creation and selection is </a:t>
            </a:r>
            <a:r>
              <a:rPr lang="en-US" sz="1600" b="1" dirty="0">
                <a:solidFill>
                  <a:srgbClr val="FF0000"/>
                </a:solidFill>
              </a:rPr>
              <a:t>evolutionary</a:t>
            </a:r>
            <a:r>
              <a:rPr lang="en-US" sz="1600" dirty="0"/>
              <a:t> (based on variable importance of previous iteration)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creation uses genetic algorithm to find the best set of feature transformations and model parameters for an experiment/dataset.</a:t>
            </a:r>
            <a:br>
              <a:rPr lang="en-US" sz="1600" dirty="0"/>
            </a:br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https://docs.h2o.ai/driverless-ai/latest-stable/docs/userguide/feature-engineering.html</a:t>
            </a:r>
            <a:r>
              <a:rPr lang="en-US" sz="14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29EBF-BE31-8345-BEE6-7450D26D1A39}"/>
              </a:ext>
            </a:extLst>
          </p:cNvPr>
          <p:cNvSpPr txBox="1"/>
          <p:nvPr/>
        </p:nvSpPr>
        <p:spPr>
          <a:xfrm>
            <a:off x="1101975" y="3442902"/>
            <a:ext cx="10499474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Driverless AI Transformers (Numeric, Categorical, Time &amp; Date, NLP (text), Image)</a:t>
            </a:r>
            <a:br>
              <a:rPr lang="en-US" sz="1600" dirty="0"/>
            </a:br>
            <a:r>
              <a:rPr lang="en-US" sz="1600" dirty="0"/>
              <a:t>See big list of transformers here: </a:t>
            </a:r>
            <a:br>
              <a:rPr lang="en-US" sz="1600" dirty="0"/>
            </a:b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https://docs.h2o.ai/driverless-ai/latest-stable/docs/userguide/transformations.html#transformations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Interactions:</a:t>
            </a:r>
            <a:br>
              <a:rPr lang="en-US" sz="1600" dirty="0"/>
            </a:br>
            <a:r>
              <a:rPr lang="en-US" sz="1400" dirty="0"/>
              <a:t> - </a:t>
            </a:r>
            <a:r>
              <a:rPr lang="en-US" sz="1400" dirty="0">
                <a:hlinkClick r:id="rId4"/>
              </a:rPr>
              <a:t>https://docs.h2o.ai/driverless-ai/latest-stable/docs/userguide/expert_settings/features_settings.html#max-feature-interaction-depth</a:t>
            </a:r>
            <a:r>
              <a:rPr lang="en-US" sz="1400" dirty="0"/>
              <a:t> </a:t>
            </a:r>
          </a:p>
        </p:txBody>
      </p:sp>
      <p:pic>
        <p:nvPicPr>
          <p:cNvPr id="2050" name="Picture 2" descr="H2O.ai is the Open Source Leader in AI and ML">
            <a:extLst>
              <a:ext uri="{FF2B5EF4-FFF2-40B4-BE49-F238E27FC236}">
                <a16:creationId xmlns:a16="http://schemas.microsoft.com/office/drawing/2014/main" id="{D8E9EA95-5147-4142-9255-0C2DAD08E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8200" y="141310"/>
            <a:ext cx="1033895" cy="103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1340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3135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Resources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4F1150-0EE7-4D40-865A-EF7356C76267}"/>
              </a:ext>
            </a:extLst>
          </p:cNvPr>
          <p:cNvSpPr txBox="1"/>
          <p:nvPr/>
        </p:nvSpPr>
        <p:spPr>
          <a:xfrm>
            <a:off x="562096" y="1181500"/>
            <a:ext cx="1068383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2"/>
              </a:rPr>
              <a:t>https://stackoverflow.com/questions/65472200/when-should-data-binning-be-used-in-data-processing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3"/>
              </a:rPr>
              <a:t>https://docs.tibco.com/pub/spotfire/7.0.1/doc/html/bin/bin_what_is_binning.htm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4"/>
              </a:rPr>
              <a:t>https://cxl.com/blog/outliers/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5"/>
              </a:rPr>
              <a:t>https://en.wikipedia.org/wiki/Data_binning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https://www.simplypsychology.org/boxplots.html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7"/>
              </a:rPr>
              <a:t>https://www.researchgate.net/figure/Examples-of-various-outliers-found-in-regression-analysis-Case-1-is-an-outlier-with_fig2_50946372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8"/>
              </a:rPr>
              <a:t>https://probabilityandstats.wordpress.com/2015/05/09/the-skewness-of-a-probability-distribution/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9"/>
              </a:rPr>
              <a:t>https://towardsdatascience.com/feature-engineering-for-machine-learning-3a5e293a5114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0"/>
              </a:rPr>
              <a:t>https://www.kaggle.com/ryanholbrook/what-is-feature-engineering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1"/>
              </a:rPr>
              <a:t>https://medium.com/@kyawsawhtoon/log-transformation-purpose-and-interpretation-9444b4b049c9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2"/>
              </a:rPr>
              <a:t>https://machinelearningmastery.com/why-one-hot-encode-data-in-machine-learning/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3"/>
              </a:rPr>
              <a:t>https://www.kaggle.com/dansbecker/using-categorical-data-with-one-hot-encoding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5265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1431</TotalTime>
  <Words>1594</Words>
  <Application>Microsoft Macintosh PowerPoint</Application>
  <PresentationFormat>Widescreen</PresentationFormat>
  <Paragraphs>164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176</cp:revision>
  <dcterms:created xsi:type="dcterms:W3CDTF">2018-10-10T17:24:46Z</dcterms:created>
  <dcterms:modified xsi:type="dcterms:W3CDTF">2021-04-04T03:43:02Z</dcterms:modified>
</cp:coreProperties>
</file>