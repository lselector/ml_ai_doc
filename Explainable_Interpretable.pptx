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4"/>
    <p:restoredTop sz="94701"/>
  </p:normalViewPr>
  <p:slideViewPr>
    <p:cSldViewPr snapToGrid="0" snapToObjects="1">
      <p:cViewPr varScale="1">
        <p:scale>
          <a:sx n="67" d="100"/>
          <a:sy n="67" d="100"/>
        </p:scale>
        <p:origin x="18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I0yrJz8uc5Q" TargetMode="External"/><Relationship Id="rId3" Type="http://schemas.openxmlformats.org/officeDocument/2006/relationships/hyperlink" Target="https://datascience.stackexchange.com/questions/70164/what-is-the-difference-between-explainable-and-interpretable-machine-learning" TargetMode="External"/><Relationship Id="rId7" Type="http://schemas.openxmlformats.org/officeDocument/2006/relationships/hyperlink" Target="https://www.youtube.com/watch?v=CY3t11vuu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hRR0ORnjCgU" TargetMode="External"/><Relationship Id="rId11" Type="http://schemas.openxmlformats.org/officeDocument/2006/relationships/image" Target="../media/image2.tiff"/><Relationship Id="rId5" Type="http://schemas.openxmlformats.org/officeDocument/2006/relationships/hyperlink" Target="https://christophm.github.io/interpretable-ml-book/" TargetMode="External"/><Relationship Id="rId10" Type="http://schemas.openxmlformats.org/officeDocument/2006/relationships/image" Target="../media/image1.tiff"/><Relationship Id="rId4" Type="http://schemas.openxmlformats.org/officeDocument/2006/relationships/hyperlink" Target="https://medium.com/swlh/explainable-vs-interpretable-ai-an-intuitive-example-6baf8fc6d402" TargetMode="External"/><Relationship Id="rId9" Type="http://schemas.openxmlformats.org/officeDocument/2006/relationships/hyperlink" Target="https://www.nature.com/articles/s42256-019-0048-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39234B-7CCF-1544-B839-CDB773BAB97F}"/>
              </a:ext>
            </a:extLst>
          </p:cNvPr>
          <p:cNvSpPr txBox="1"/>
          <p:nvPr/>
        </p:nvSpPr>
        <p:spPr>
          <a:xfrm>
            <a:off x="144946" y="225822"/>
            <a:ext cx="4991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Explainable , Interpretable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5F1C6-6CB0-9044-B1EC-65717A41DE00}"/>
              </a:ext>
            </a:extLst>
          </p:cNvPr>
          <p:cNvSpPr txBox="1"/>
          <p:nvPr/>
        </p:nvSpPr>
        <p:spPr>
          <a:xfrm>
            <a:off x="144946" y="974863"/>
            <a:ext cx="857995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Interpretable AI – interpret a black-box model decision to a human</a:t>
            </a:r>
          </a:p>
          <a:p>
            <a:r>
              <a:rPr lang="en-US" dirty="0"/>
              <a:t>Explainable AI – uses models which are not black boxes</a:t>
            </a:r>
          </a:p>
          <a:p>
            <a:r>
              <a:rPr lang="en-US" dirty="0"/>
              <a:t>- </a:t>
            </a:r>
            <a:r>
              <a:rPr lang="en-US" sz="1000" dirty="0">
                <a:hlinkClick r:id="rId3"/>
              </a:rPr>
              <a:t>https://datascience.stackexchange.com/questions/70164/what-is-the-difference-between-explainable-and-interpretable-machine-learning</a:t>
            </a:r>
            <a:r>
              <a:rPr lang="en-US" sz="1000" dirty="0"/>
              <a:t> </a:t>
            </a:r>
          </a:p>
          <a:p>
            <a:r>
              <a:rPr lang="en-US" dirty="0"/>
              <a:t>- </a:t>
            </a:r>
            <a:r>
              <a:rPr lang="en-US" dirty="0">
                <a:hlinkClick r:id="rId4"/>
              </a:rPr>
              <a:t>https://medium.com/swlh/explainable-vs-interpretable-ai-an-intuitive-example-6baf8fc6d402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Interpretable Machine Learning – by Christoph Molnar, 2020 </a:t>
            </a:r>
          </a:p>
          <a:p>
            <a:r>
              <a:rPr lang="en-US" dirty="0"/>
              <a:t>- </a:t>
            </a:r>
            <a:r>
              <a:rPr lang="en-US" dirty="0">
                <a:hlinkClick r:id="rId5"/>
              </a:rPr>
              <a:t>https://christophm.github.io/interpretable-ml-book/</a:t>
            </a:r>
            <a:r>
              <a:rPr lang="en-US" dirty="0"/>
              <a:t> </a:t>
            </a:r>
          </a:p>
          <a:p>
            <a:r>
              <a:rPr lang="en-US" dirty="0"/>
              <a:t>- </a:t>
            </a:r>
            <a:r>
              <a:rPr lang="en-US" dirty="0">
                <a:hlinkClick r:id="rId6"/>
              </a:rPr>
              <a:t>https://www.youtube.com/watch?v=hRR0ORnjCgU</a:t>
            </a:r>
            <a:r>
              <a:rPr lang="en-US" dirty="0"/>
              <a:t>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LIME Framework</a:t>
            </a:r>
          </a:p>
          <a:p>
            <a:r>
              <a:rPr lang="en-US" dirty="0"/>
              <a:t>Interpretable Machine Learning Using LIME Framework - Kasia </a:t>
            </a:r>
            <a:r>
              <a:rPr lang="en-US" dirty="0" err="1"/>
              <a:t>Kulma</a:t>
            </a:r>
            <a:r>
              <a:rPr lang="en-US" dirty="0"/>
              <a:t> (PhD), Data Scientist, Aviva - 2017</a:t>
            </a:r>
          </a:p>
          <a:p>
            <a:r>
              <a:rPr lang="en-US" dirty="0"/>
              <a:t>- </a:t>
            </a:r>
            <a:r>
              <a:rPr lang="en-US" dirty="0">
                <a:hlinkClick r:id="rId7"/>
              </a:rPr>
              <a:t>https://www.youtube.com/watch?v=CY3t11vuuOM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Please Stop Doing "Explainable" ML - Cynthia Rudin, 2019</a:t>
            </a:r>
          </a:p>
          <a:p>
            <a:r>
              <a:rPr lang="en-US" dirty="0"/>
              <a:t>- </a:t>
            </a:r>
            <a:r>
              <a:rPr lang="en-US" dirty="0">
                <a:hlinkClick r:id="rId8"/>
              </a:rPr>
              <a:t>https://www.youtube.com/watch?v=I0yrJz8uc5Q</a:t>
            </a:r>
            <a:r>
              <a:rPr lang="en-US" dirty="0"/>
              <a:t> </a:t>
            </a:r>
          </a:p>
          <a:p>
            <a:r>
              <a:rPr lang="en-US" dirty="0"/>
              <a:t>- </a:t>
            </a:r>
            <a:r>
              <a:rPr lang="en-US" dirty="0">
                <a:hlinkClick r:id="rId9"/>
              </a:rPr>
              <a:t>https://www.nature.com/articles/s42256-019-0048-x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2F0AA3-92DD-DD4B-9B17-FB8A888291F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24900" y="0"/>
            <a:ext cx="3333750" cy="2339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0B25CF-837B-6E40-85BB-04594A5410B3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9468" y="3465978"/>
            <a:ext cx="2459182" cy="3182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155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8</cp:revision>
  <dcterms:modified xsi:type="dcterms:W3CDTF">2020-10-05T18:01:01Z</dcterms:modified>
</cp:coreProperties>
</file>