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v Selector" userId="314cf8c1-d356-4160-b242-72dee3bb7a46" providerId="ADAL" clId="{A431154F-A22A-0745-A746-100BC501F804}"/>
    <pc:docChg chg="modSld">
      <pc:chgData name="Lev Selector" userId="314cf8c1-d356-4160-b242-72dee3bb7a46" providerId="ADAL" clId="{A431154F-A22A-0745-A746-100BC501F804}" dt="2019-07-03T18:43:13.470" v="7" actId="1038"/>
      <pc:docMkLst>
        <pc:docMk/>
      </pc:docMkLst>
      <pc:sldChg chg="modSp">
        <pc:chgData name="Lev Selector" userId="314cf8c1-d356-4160-b242-72dee3bb7a46" providerId="ADAL" clId="{A431154F-A22A-0745-A746-100BC501F804}" dt="2019-07-03T18:43:13.470" v="7" actId="1038"/>
        <pc:sldMkLst>
          <pc:docMk/>
          <pc:sldMk cId="1426033481" sldId="256"/>
        </pc:sldMkLst>
        <pc:spChg chg="mod">
          <ac:chgData name="Lev Selector" userId="314cf8c1-d356-4160-b242-72dee3bb7a46" providerId="ADAL" clId="{A431154F-A22A-0745-A746-100BC501F804}" dt="2019-07-03T18:43:13.470" v="7" actId="1038"/>
          <ac:spMkLst>
            <pc:docMk/>
            <pc:sldMk cId="1426033481" sldId="256"/>
            <ac:spMk id="6" creationId="{E507BB7F-88AE-924C-AD5F-3EA3539529C3}"/>
          </ac:spMkLst>
        </pc:spChg>
        <pc:spChg chg="mod">
          <ac:chgData name="Lev Selector" userId="314cf8c1-d356-4160-b242-72dee3bb7a46" providerId="ADAL" clId="{A431154F-A22A-0745-A746-100BC501F804}" dt="2019-07-03T18:43:13.470" v="7" actId="1038"/>
          <ac:spMkLst>
            <pc:docMk/>
            <pc:sldMk cId="1426033481" sldId="256"/>
            <ac:spMk id="8" creationId="{C8ED65BE-A6A7-4E4C-8CB1-E972C1161029}"/>
          </ac:spMkLst>
        </pc:spChg>
        <pc:picChg chg="mod">
          <ac:chgData name="Lev Selector" userId="314cf8c1-d356-4160-b242-72dee3bb7a46" providerId="ADAL" clId="{A431154F-A22A-0745-A746-100BC501F804}" dt="2019-07-03T18:43:03.685" v="0" actId="1076"/>
          <ac:picMkLst>
            <pc:docMk/>
            <pc:sldMk cId="1426033481" sldId="256"/>
            <ac:picMk id="7" creationId="{19387009-67EE-154B-91F6-EAFD0B463C18}"/>
          </ac:picMkLst>
        </pc:picChg>
        <pc:picChg chg="mod">
          <ac:chgData name="Lev Selector" userId="314cf8c1-d356-4160-b242-72dee3bb7a46" providerId="ADAL" clId="{A431154F-A22A-0745-A746-100BC501F804}" dt="2019-07-03T18:43:03.685" v="0" actId="1076"/>
          <ac:picMkLst>
            <pc:docMk/>
            <pc:sldMk cId="1426033481" sldId="256"/>
            <ac:picMk id="9" creationId="{F7C5F5F8-A55A-6541-B185-9B20389EAD93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EB152-0C86-0840-B914-3E93E1A203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CA5161-0AA4-BE43-B634-D0C9269B47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9EB30-73C8-BA47-82C3-D9A29FAFE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F878AF-0EA6-5F44-A2E7-96163DC4C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91879-28F5-A84C-A5D5-853D1121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394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191F9-CFD0-284E-95B7-C06A0FC73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32C54A-8323-004B-9744-528D933C95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6A3FD-CE3F-2B40-A2CF-0650F66E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F41E1-FA8E-CB4C-B625-28B3DB319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253BF-7A00-0F47-9245-0FC71D7EC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729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50732F-BAFC-1542-8CC5-0EF661FB5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0D3C96-59DB-D64C-94DD-A857E7972C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CB3B5A-79C5-2F48-8DA8-FF173E05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293A3D-E8CB-F04E-994C-4BDC788DE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05F9B5-1383-0846-BADC-1BA3CEEEC3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2348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F6C5-46CF-3843-885A-A99FD4CE7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F1194-E208-C541-B6E9-CBE3E15918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5D9859-EBFB-8845-9172-3440FB619B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A9A40B-9D16-0843-8AB1-F1065A829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0505B-59E3-E744-AE95-174E3F276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B456-AE32-BE42-AF2B-CB41C1352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205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5E2C8-5795-B84F-977A-691DAA411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F7A8A-8EDC-664F-A5C6-27945CF8BF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1799E7-AEAC-1746-855E-05288B7084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E1E0DD-B18C-2F44-8EEA-AA3C171CA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627849-82CC-E342-BD90-2BABC70F40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14D726-E00D-D449-9DE1-12C5BBE2F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D93ABD-6C6E-0543-8E27-6725A357F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239848-5B37-4341-AFB6-BD9B347DA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2089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46080-2606-8747-8E8B-BA2B0B300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7F8DC9-149E-FD49-88BB-B4A3FDF6B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C50FEB-160C-9C49-BDB2-9DE26D43C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F6BD72-716E-FE4A-9640-54911DDE7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2721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43E6F9-1A24-A149-B320-A21F7F2E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D3FD0A-F9C9-DD4B-B5D9-33682A1CC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132D8E-2AF0-7042-A456-C8F7DEB44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590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60AEC-F720-5846-8093-916D592C2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13345-F109-7840-AC52-DA0E11D3D0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BD6C29-65DF-2E4D-B308-17B761754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90AF9-0E59-6B40-8D4F-9BF76035F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9EB52A-F4F8-0B49-997A-76109DC59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37243-B2A8-5D4F-89EE-8ECA7AE0A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55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F25E7-0AA4-5845-8DFA-A784F2A0D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E9EA2C-1319-1446-BD57-A94AB7BC13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CC4210-576F-A64A-AF46-2E7E156D0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F5E0A4-FD28-B244-B548-CC8B6099B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AFEB43-66F2-9C4B-B38D-2BDF6B2A3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5A6528-D896-F549-9106-E473BCD43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17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61B0B-4A4F-E842-8AB6-7D01A50CC8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344DD9-D595-B444-A8A8-500AE8A6E6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CC502-563E-2A44-B70D-09126E31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2E3540-4C6F-4849-AD41-29EC02973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FF5E9-7C39-D644-A580-1AE4C5430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311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06D880-3043-8840-AFB4-8D478F4452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901F1B-7E18-FB4B-B3BF-BE96B44D78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98CD3-18E9-6C4E-8D9B-34AE7450E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0164A-28EB-0246-8B17-337253D6CF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2DD851-ACF1-F540-BAC2-B96DCF29F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8738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91B76-62FD-8043-A240-20D21E48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30C9B-14ED-F341-BEED-5C9139AA9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443282-97C7-9445-8937-7D34B84625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FE96BD-FDAC-FC46-B87C-1D0030C78AD3}" type="datetimeFigureOut">
              <a:rPr lang="en-US" smtClean="0"/>
              <a:t>7/3/19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17DB9-ED9E-5D4B-8314-6F33673C95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2B26C-0C08-9842-979D-208D2A24E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490588-87CA-034D-AB80-973D54F799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781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tiff"/><Relationship Id="rId3" Type="http://schemas.openxmlformats.org/officeDocument/2006/relationships/hyperlink" Target="https://en.wikipedia.org/wiki/H2O_(software)" TargetMode="External"/><Relationship Id="rId7" Type="http://schemas.openxmlformats.org/officeDocument/2006/relationships/image" Target="../media/image1.png"/><Relationship Id="rId12" Type="http://schemas.openxmlformats.org/officeDocument/2006/relationships/hyperlink" Target="https://www.youtube.com/watch?v=5jSU3CUReXY" TargetMode="External"/><Relationship Id="rId2" Type="http://schemas.openxmlformats.org/officeDocument/2006/relationships/hyperlink" Target="https://www.h2o.ai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://docs.h2o.ai/driverless-ai/latest-stable/docs/userguide/index.html" TargetMode="External"/><Relationship Id="rId11" Type="http://schemas.openxmlformats.org/officeDocument/2006/relationships/hyperlink" Target="https://www.youtube.com/watch?v=irkV4sYExX4" TargetMode="External"/><Relationship Id="rId5" Type="http://schemas.openxmlformats.org/officeDocument/2006/relationships/hyperlink" Target="https://github.com/h2oai" TargetMode="External"/><Relationship Id="rId10" Type="http://schemas.openxmlformats.org/officeDocument/2006/relationships/hyperlink" Target="https://www.youtube.com/watch?v=wcyMBRRLmqs" TargetMode="External"/><Relationship Id="rId4" Type="http://schemas.openxmlformats.org/officeDocument/2006/relationships/hyperlink" Target="https://www.linkedin.com/company/h2oai/" TargetMode="External"/><Relationship Id="rId9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C74097-B66B-D14D-B8C5-9765F12FE6C9}"/>
              </a:ext>
            </a:extLst>
          </p:cNvPr>
          <p:cNvSpPr txBox="1"/>
          <p:nvPr/>
        </p:nvSpPr>
        <p:spPr>
          <a:xfrm>
            <a:off x="28904" y="39410"/>
            <a:ext cx="7168055" cy="52168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</a:t>
            </a:r>
            <a:r>
              <a:rPr lang="en-US" sz="3200" b="1" baseline="-25000" dirty="0"/>
              <a:t>2</a:t>
            </a:r>
            <a:r>
              <a:rPr lang="en-US" sz="3200" b="1" dirty="0"/>
              <a:t>O.ai</a:t>
            </a:r>
            <a:r>
              <a:rPr lang="en-US" dirty="0"/>
              <a:t>  </a:t>
            </a:r>
          </a:p>
          <a:p>
            <a:endParaRPr lang="en-US" sz="1400" dirty="0"/>
          </a:p>
          <a:p>
            <a:r>
              <a:rPr lang="en-US" sz="1400" dirty="0"/>
              <a:t>- </a:t>
            </a:r>
            <a:r>
              <a:rPr lang="en-US" sz="1400" dirty="0">
                <a:hlinkClick r:id="rId2"/>
              </a:rPr>
              <a:t>https://www.h2o.ai/</a:t>
            </a:r>
            <a:r>
              <a:rPr lang="en-US" sz="1400" dirty="0"/>
              <a:t>  - since 2011 as </a:t>
            </a:r>
            <a:r>
              <a:rPr lang="en-US" sz="1400" b="1" dirty="0" err="1"/>
              <a:t>Oxdata</a:t>
            </a:r>
            <a:r>
              <a:rPr lang="en-US" sz="1400" dirty="0"/>
              <a:t>, since 2014 as H</a:t>
            </a:r>
            <a:r>
              <a:rPr lang="en-US" sz="1400" baseline="-25000" dirty="0"/>
              <a:t>2</a:t>
            </a:r>
            <a:r>
              <a:rPr lang="en-US" sz="1400" dirty="0"/>
              <a:t>O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3"/>
              </a:rPr>
              <a:t>https://en.wikipedia.org/wiki/H2O_(software)</a:t>
            </a:r>
            <a:r>
              <a:rPr lang="en-US" sz="1400" dirty="0"/>
              <a:t> </a:t>
            </a:r>
          </a:p>
          <a:p>
            <a:r>
              <a:rPr lang="en-US" sz="1400" dirty="0"/>
              <a:t>- </a:t>
            </a:r>
            <a:r>
              <a:rPr lang="en-US" sz="1400" dirty="0">
                <a:hlinkClick r:id="rId4"/>
              </a:rPr>
              <a:t>https://www.linkedin.com/company/h2oai/</a:t>
            </a:r>
            <a:r>
              <a:rPr lang="en-US" sz="1400" dirty="0"/>
              <a:t>  (~200 employees)</a:t>
            </a:r>
            <a:br>
              <a:rPr lang="en-US" sz="1400" dirty="0"/>
            </a:br>
            <a:r>
              <a:rPr lang="en-US" sz="1400" dirty="0"/>
              <a:t>- leading open source ML &amp; AI platform</a:t>
            </a:r>
          </a:p>
          <a:p>
            <a:r>
              <a:rPr lang="en-US" sz="1400" dirty="0"/>
              <a:t>     - </a:t>
            </a:r>
            <a:r>
              <a:rPr lang="en-US" sz="1400" dirty="0">
                <a:hlinkClick r:id="rId5"/>
              </a:rPr>
              <a:t>https://github.com/h2oai</a:t>
            </a:r>
            <a:endParaRPr lang="en-US" sz="1400" dirty="0"/>
          </a:p>
          <a:p>
            <a:r>
              <a:rPr lang="en-US" sz="1400" dirty="0"/>
              <a:t>- estimated ~250K users, over 18K companies</a:t>
            </a:r>
          </a:p>
          <a:p>
            <a:r>
              <a:rPr lang="en-US" sz="1400" dirty="0"/>
              <a:t>- free open-source, free for academic use, collaboration with researches </a:t>
            </a:r>
          </a:p>
          <a:p>
            <a:r>
              <a:rPr lang="en-US" sz="1400" dirty="0"/>
              <a:t>   (Java, Python, R – runs on Linux, macOS, MS Windows, Hadoop/Spark) </a:t>
            </a:r>
          </a:p>
          <a:p>
            <a:r>
              <a:rPr lang="en-US" sz="1400" dirty="0"/>
              <a:t>- integrates with python/</a:t>
            </a:r>
            <a:r>
              <a:rPr lang="en-US" sz="1400" dirty="0" err="1"/>
              <a:t>Jupyter</a:t>
            </a:r>
            <a:r>
              <a:rPr lang="en-US" sz="1400" dirty="0"/>
              <a:t>, provides in-browser graphical interface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conda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install -c h2oai h2o=3.22.1.2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import h2o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h2o.init(</a:t>
            </a:r>
            <a:r>
              <a:rPr lang="en-US" sz="1100" dirty="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max_mem_size</a:t>
            </a:r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"2G")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from h2o.estimators.glm import H2OGeneralizedLinearEstimator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glm_multi_v1 = H2OGeneralizedLinearEstimator( ... )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glm_multi_v1.train( ... )</a:t>
            </a:r>
          </a:p>
          <a:p>
            <a:r>
              <a:rPr lang="en-US" sz="1100" dirty="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...</a:t>
            </a:r>
          </a:p>
          <a:p>
            <a:endParaRPr lang="en-US" sz="1400" dirty="0"/>
          </a:p>
          <a:p>
            <a:r>
              <a:rPr lang="en-US" sz="1400" dirty="0"/>
              <a:t>- paid option – "Driverless AI" – available on major clouds.</a:t>
            </a:r>
          </a:p>
          <a:p>
            <a:r>
              <a:rPr lang="en-US" sz="1400" dirty="0"/>
              <a:t>  - </a:t>
            </a:r>
            <a:r>
              <a:rPr lang="en-US" sz="1400" dirty="0">
                <a:hlinkClick r:id="rId6"/>
              </a:rPr>
              <a:t>http://docs.h2o.ai/driverless-ai/latest-stable/docs/userguide/index.html</a:t>
            </a:r>
            <a:endParaRPr lang="en-US" sz="1400" dirty="0"/>
          </a:p>
          <a:p>
            <a:r>
              <a:rPr lang="en-US" sz="1400" dirty="0"/>
              <a:t>- uses clusters of GPU-servers to run hundreds of models in parallel</a:t>
            </a:r>
          </a:p>
          <a:p>
            <a:r>
              <a:rPr lang="en-US" sz="1400" dirty="0"/>
              <a:t>- provides automatic feature engineering</a:t>
            </a:r>
          </a:p>
          <a:p>
            <a:r>
              <a:rPr lang="en-US" sz="1400" dirty="0"/>
              <a:t>- MLI (ML Interpretability)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5B6F41-C4B6-6E43-AC86-CCE4FCBFE537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408" t="3508" r="2548" b="31349"/>
          <a:stretch/>
        </p:blipFill>
        <p:spPr>
          <a:xfrm>
            <a:off x="7809186" y="4183117"/>
            <a:ext cx="4267200" cy="25329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507BB7F-88AE-924C-AD5F-3EA3539529C3}"/>
              </a:ext>
            </a:extLst>
          </p:cNvPr>
          <p:cNvSpPr txBox="1"/>
          <p:nvPr/>
        </p:nvSpPr>
        <p:spPr>
          <a:xfrm>
            <a:off x="10402611" y="2186152"/>
            <a:ext cx="15765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Cliff Click</a:t>
            </a:r>
          </a:p>
          <a:p>
            <a:r>
              <a:rPr lang="en-US" dirty="0"/>
              <a:t>CTO</a:t>
            </a:r>
          </a:p>
          <a:p>
            <a:r>
              <a:rPr lang="en-US" dirty="0"/>
              <a:t>San Jose, CA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9387009-67EE-154B-91F6-EAFD0B463C18}"/>
              </a:ext>
            </a:extLst>
          </p:cNvPr>
          <p:cNvPicPr>
            <a:picLocks noChangeAspect="1"/>
          </p:cNvPicPr>
          <p:nvPr/>
        </p:nvPicPr>
        <p:blipFill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5159" y="141889"/>
            <a:ext cx="1918138" cy="19181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8ED65BE-A6A7-4E4C-8CB1-E972C1161029}"/>
              </a:ext>
            </a:extLst>
          </p:cNvPr>
          <p:cNvSpPr txBox="1"/>
          <p:nvPr/>
        </p:nvSpPr>
        <p:spPr>
          <a:xfrm>
            <a:off x="8108729" y="2186152"/>
            <a:ext cx="20022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SriSatish</a:t>
            </a:r>
            <a:r>
              <a:rPr lang="en-US" dirty="0"/>
              <a:t> Ambati</a:t>
            </a:r>
          </a:p>
          <a:p>
            <a:r>
              <a:rPr lang="en-US" dirty="0"/>
              <a:t>CEO</a:t>
            </a:r>
          </a:p>
          <a:p>
            <a:r>
              <a:rPr lang="en-US" dirty="0"/>
              <a:t>Mountain View, CA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7C5F5F8-A55A-6541-B185-9B20389EAD93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58248" y="141889"/>
            <a:ext cx="1918138" cy="19181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38F56D9-9604-5345-8D5E-40B142597C6E}"/>
              </a:ext>
            </a:extLst>
          </p:cNvPr>
          <p:cNvSpPr txBox="1"/>
          <p:nvPr/>
        </p:nvSpPr>
        <p:spPr>
          <a:xfrm>
            <a:off x="115614" y="5449614"/>
            <a:ext cx="667406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Youtube</a:t>
            </a:r>
            <a:r>
              <a:rPr lang="en-US" dirty="0"/>
              <a:t> videos:</a:t>
            </a:r>
          </a:p>
          <a:p>
            <a:r>
              <a:rPr lang="en-US" sz="1400" dirty="0"/>
              <a:t>- 6 min demo - </a:t>
            </a:r>
            <a:r>
              <a:rPr lang="en-US" sz="1400" dirty="0">
                <a:hlinkClick r:id="rId10"/>
              </a:rPr>
              <a:t>https://www.youtube.com/watch?v=wcyMBRRLmqs</a:t>
            </a:r>
            <a:endParaRPr lang="en-US" sz="1400" dirty="0"/>
          </a:p>
          <a:p>
            <a:r>
              <a:rPr lang="en-US" sz="1400" dirty="0"/>
              <a:t>- Feature </a:t>
            </a:r>
            <a:r>
              <a:rPr lang="en-US" sz="1400" dirty="0" err="1"/>
              <a:t>Enginering</a:t>
            </a:r>
            <a:r>
              <a:rPr lang="en-US" sz="1400" dirty="0"/>
              <a:t> (Dmitry </a:t>
            </a:r>
            <a:r>
              <a:rPr lang="en-US" sz="1400" dirty="0" err="1"/>
              <a:t>Larko</a:t>
            </a:r>
            <a:r>
              <a:rPr lang="en-US" sz="1400" dirty="0"/>
              <a:t>) - </a:t>
            </a:r>
            <a:r>
              <a:rPr lang="en-US" sz="1400" dirty="0">
                <a:hlinkClick r:id="rId11"/>
              </a:rPr>
              <a:t>https://www.youtube.com/watch?v=irkV4sYExX4</a:t>
            </a:r>
            <a:r>
              <a:rPr lang="en-US" sz="1400" dirty="0"/>
              <a:t> </a:t>
            </a:r>
          </a:p>
          <a:p>
            <a:r>
              <a:rPr lang="en-US" sz="1400" dirty="0"/>
              <a:t>- Driverless AI MLI (Interpretability) - </a:t>
            </a:r>
            <a:r>
              <a:rPr lang="en-US" sz="1400" dirty="0">
                <a:hlinkClick r:id="rId12"/>
              </a:rPr>
              <a:t>https://www.youtube.com/watch?v=5jSU3CUReXY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4260334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131</Words>
  <Application>Microsoft Macintosh PowerPoint</Application>
  <PresentationFormat>Widescreen</PresentationFormat>
  <Paragraphs>33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Consolas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Microsoft Office User</cp:lastModifiedBy>
  <cp:revision>7</cp:revision>
  <dcterms:created xsi:type="dcterms:W3CDTF">2019-07-01T17:44:39Z</dcterms:created>
  <dcterms:modified xsi:type="dcterms:W3CDTF">2019-07-03T18:43:13Z</dcterms:modified>
</cp:coreProperties>
</file>