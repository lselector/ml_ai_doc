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7"/>
  </p:notesMasterIdLst>
  <p:sldIdLst>
    <p:sldId id="256" r:id="rId2"/>
    <p:sldId id="362" r:id="rId3"/>
    <p:sldId id="309" r:id="rId4"/>
    <p:sldId id="366" r:id="rId5"/>
    <p:sldId id="367" r:id="rId6"/>
    <p:sldId id="268" r:id="rId7"/>
    <p:sldId id="259" r:id="rId8"/>
    <p:sldId id="364" r:id="rId9"/>
    <p:sldId id="361" r:id="rId10"/>
    <p:sldId id="365" r:id="rId11"/>
    <p:sldId id="260" r:id="rId12"/>
    <p:sldId id="368" r:id="rId13"/>
    <p:sldId id="266" r:id="rId14"/>
    <p:sldId id="311" r:id="rId15"/>
    <p:sldId id="312"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836"/>
    <p:restoredTop sz="94733"/>
  </p:normalViewPr>
  <p:slideViewPr>
    <p:cSldViewPr snapToGrid="0" snapToObjects="1">
      <p:cViewPr varScale="1">
        <p:scale>
          <a:sx n="47" d="100"/>
          <a:sy n="47" d="100"/>
        </p:scale>
        <p:origin x="208" y="14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91425" rIns="91425" bIns="91425" anchor="t" anchorCtr="0"/>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91425" rIns="91425" bIns="91425" anchor="b"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91451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803b8d742_0_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803b8d742_0_1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g3803b8d742_0_1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6394783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c45024941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3c45024941_0_1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g3c45024941_0_1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50406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803b8d742_0_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803b8d742_0_1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g3803b8d742_0_1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803b8d742_0_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803b8d742_0_1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g3803b8d742_0_1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0848324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803b8d742_0_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803b8d742_0_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g3803b8d742_0_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803b8d742_0_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803b8d742_0_1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g3803b8d742_0_1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23457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c45024941_0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3c45024941_0_7: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g3c45024941_0_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c45024941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3c45024941_0_1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g3c45024941_0_1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c45024941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3c45024941_0_1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g3c45024941_0_1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7022921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c45024941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3c45024941_0_1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g3c45024941_0_1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0556431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91425" rIns="91425" bIns="91425" anchor="b" anchorCtr="0"/>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91425" rIns="91425" bIns="91425" anchor="t" anchorCtr="0"/>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0" y="1709738"/>
            <a:ext cx="10515600" cy="2852737"/>
          </a:xfrm>
          <a:prstGeom prst="rect">
            <a:avLst/>
          </a:prstGeom>
          <a:noFill/>
          <a:ln>
            <a:noFill/>
          </a:ln>
        </p:spPr>
        <p:txBody>
          <a:bodyPr spcFirstLastPara="1" wrap="square" lIns="91425" tIns="91425" rIns="91425" bIns="91425" anchor="b" anchorCtr="0"/>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9" name="Google Shape;29;p4"/>
          <p:cNvSpPr txBox="1">
            <a:spLocks noGrp="1"/>
          </p:cNvSpPr>
          <p:nvPr>
            <p:ph type="body" idx="1"/>
          </p:nvPr>
        </p:nvSpPr>
        <p:spPr>
          <a:xfrm>
            <a:off x="831850" y="4589463"/>
            <a:ext cx="10515600" cy="1500187"/>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91425" rIns="91425" bIns="91425" anchor="b" anchorCtr="0"/>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91425" rIns="91425" bIns="91425" anchor="b" anchorCtr="0"/>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91425" rIns="91425" bIns="91425" anchor="t" anchorCtr="0"/>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txBody>
          <a:bodyPr spcFirstLastPara="1" wrap="square" lIns="91425" tIns="91425" rIns="91425" bIns="91425" anchor="t" anchorCtr="0"/>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en.wikipedia.org/wiki/Andrew_Ng"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www.youtube.com/watch?v=21EiKfQYZXc" TargetMode="External"/><Relationship Id="rId5" Type="http://schemas.openxmlformats.org/officeDocument/2006/relationships/hyperlink" Target="https://www.facebook.com/andrew.ng.96/videos/1268821713173733/" TargetMode="External"/><Relationship Id="rId4" Type="http://schemas.openxmlformats.org/officeDocument/2006/relationships/hyperlink" Target="https://www.coursera.org/learn/machine-learning"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tiff"/></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6.jpg"/><Relationship Id="rId4" Type="http://schemas.openxmlformats.org/officeDocument/2006/relationships/image" Target="../media/image5.tiff"/></Relationships>
</file>

<file path=ppt/slides/_rels/slide5.xml.rels><?xml version="1.0" encoding="UTF-8" standalone="yes"?>
<Relationships xmlns="http://schemas.openxmlformats.org/package/2006/relationships"><Relationship Id="rId2" Type="http://schemas.openxmlformats.org/officeDocument/2006/relationships/image" Target="../media/image7.tif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1.tiff"/><Relationship Id="rId5" Type="http://schemas.openxmlformats.org/officeDocument/2006/relationships/image" Target="../media/image10.tiff"/><Relationship Id="rId4" Type="http://schemas.openxmlformats.org/officeDocument/2006/relationships/image" Target="../media/image9.tif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p:nvPr/>
        </p:nvSpPr>
        <p:spPr>
          <a:xfrm>
            <a:off x="3047147" y="2279791"/>
            <a:ext cx="5674500" cy="1149209"/>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6600" b="1" i="0" u="none" strike="noStrike" cap="none" dirty="0">
                <a:solidFill>
                  <a:schemeClr val="dk1"/>
                </a:solidFill>
                <a:latin typeface="Calibri"/>
                <a:ea typeface="Calibri"/>
                <a:cs typeface="Calibri"/>
                <a:sym typeface="Calibri"/>
              </a:rPr>
              <a:t>What  Is  AI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Google Shape;121;p18">
            <a:extLst>
              <a:ext uri="{FF2B5EF4-FFF2-40B4-BE49-F238E27FC236}">
                <a16:creationId xmlns:a16="http://schemas.microsoft.com/office/drawing/2014/main" id="{A33B6420-47C9-D54F-B0F3-7ED06782270E}"/>
              </a:ext>
            </a:extLst>
          </p:cNvPr>
          <p:cNvPicPr preferRelativeResize="0"/>
          <p:nvPr/>
        </p:nvPicPr>
        <p:blipFill rotWithShape="1">
          <a:blip r:embed="rId2">
            <a:alphaModFix/>
          </a:blip>
          <a:srcRect/>
          <a:stretch/>
        </p:blipFill>
        <p:spPr>
          <a:xfrm>
            <a:off x="9373" y="47813"/>
            <a:ext cx="3022025" cy="3022025"/>
          </a:xfrm>
          <a:prstGeom prst="rect">
            <a:avLst/>
          </a:prstGeom>
          <a:noFill/>
          <a:ln>
            <a:noFill/>
          </a:ln>
        </p:spPr>
      </p:pic>
      <p:sp>
        <p:nvSpPr>
          <p:cNvPr id="14" name="Google Shape;122;p18">
            <a:extLst>
              <a:ext uri="{FF2B5EF4-FFF2-40B4-BE49-F238E27FC236}">
                <a16:creationId xmlns:a16="http://schemas.microsoft.com/office/drawing/2014/main" id="{401E8BFF-C5AE-884E-AB09-AD8DBFB79E1A}"/>
              </a:ext>
            </a:extLst>
          </p:cNvPr>
          <p:cNvSpPr txBox="1"/>
          <p:nvPr/>
        </p:nvSpPr>
        <p:spPr>
          <a:xfrm>
            <a:off x="423150" y="3069838"/>
            <a:ext cx="2552700" cy="5847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dirty="0">
                <a:solidFill>
                  <a:schemeClr val="dk1"/>
                </a:solidFill>
                <a:latin typeface="Calibri"/>
                <a:ea typeface="Calibri"/>
                <a:cs typeface="Calibri"/>
                <a:sym typeface="Calibri"/>
              </a:rPr>
              <a:t>Andrew Ng</a:t>
            </a:r>
            <a:endParaRPr sz="3200" dirty="0">
              <a:solidFill>
                <a:schemeClr val="dk1"/>
              </a:solidFill>
              <a:latin typeface="Calibri"/>
              <a:ea typeface="Calibri"/>
              <a:cs typeface="Calibri"/>
              <a:sym typeface="Calibri"/>
            </a:endParaRPr>
          </a:p>
        </p:txBody>
      </p:sp>
      <p:sp>
        <p:nvSpPr>
          <p:cNvPr id="15" name="Google Shape;123;p18">
            <a:extLst>
              <a:ext uri="{FF2B5EF4-FFF2-40B4-BE49-F238E27FC236}">
                <a16:creationId xmlns:a16="http://schemas.microsoft.com/office/drawing/2014/main" id="{FB24C2DB-FE6D-6A44-BF4F-590EA358AC69}"/>
              </a:ext>
            </a:extLst>
          </p:cNvPr>
          <p:cNvSpPr txBox="1"/>
          <p:nvPr/>
        </p:nvSpPr>
        <p:spPr>
          <a:xfrm>
            <a:off x="9373" y="3654613"/>
            <a:ext cx="6497444" cy="2697225"/>
          </a:xfrm>
          <a:prstGeom prst="rect">
            <a:avLst/>
          </a:prstGeom>
          <a:noFill/>
          <a:ln>
            <a:noFill/>
          </a:ln>
        </p:spPr>
        <p:txBody>
          <a:bodyPr spcFirstLastPara="1" wrap="square" lIns="91425" tIns="45700" rIns="91425" bIns="45700" anchor="t" anchorCtr="0">
            <a:noAutofit/>
          </a:bodyPr>
          <a:lstStyle/>
          <a:p>
            <a:pPr lvl="0"/>
            <a:r>
              <a:rPr lang="en-US" sz="1600" dirty="0">
                <a:solidFill>
                  <a:schemeClr val="dk1"/>
                </a:solidFill>
                <a:latin typeface="Calibri"/>
                <a:ea typeface="Calibri"/>
                <a:cs typeface="Calibri"/>
                <a:sym typeface="Calibri"/>
              </a:rPr>
              <a:t>- co-founded and led Google Brain</a:t>
            </a:r>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 was the chief scientist at </a:t>
            </a:r>
            <a:r>
              <a:rPr lang="en-US" sz="1600" b="1" dirty="0">
                <a:solidFill>
                  <a:srgbClr val="0070C0"/>
                </a:solidFill>
                <a:latin typeface="Calibri"/>
                <a:ea typeface="Calibri"/>
                <a:cs typeface="Calibri"/>
                <a:sym typeface="Calibri"/>
              </a:rPr>
              <a:t>Baidu Research </a:t>
            </a:r>
            <a:r>
              <a:rPr lang="en-US" sz="1600" dirty="0">
                <a:solidFill>
                  <a:schemeClr val="dk1"/>
                </a:solidFill>
                <a:latin typeface="Calibri"/>
                <a:ea typeface="Calibri"/>
                <a:cs typeface="Calibri"/>
                <a:sym typeface="Calibri"/>
              </a:rPr>
              <a:t>(~1,300 people)</a:t>
            </a:r>
            <a:endParaRPr sz="1600"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   for 3 years (2014-2017), resigned in March of 2017. </a:t>
            </a:r>
            <a:endParaRPr sz="1600"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 adjunct professor at Stanford University </a:t>
            </a:r>
            <a:endParaRPr sz="16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 co-founder and chairman of Coursera</a:t>
            </a:r>
            <a:endParaRPr sz="1600"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  - </a:t>
            </a:r>
            <a:r>
              <a:rPr lang="en-US" sz="1600" u="sng" dirty="0">
                <a:solidFill>
                  <a:schemeClr val="hlink"/>
                </a:solidFill>
                <a:latin typeface="Calibri"/>
                <a:ea typeface="Calibri"/>
                <a:cs typeface="Calibri"/>
                <a:sym typeface="Calibri"/>
                <a:hlinkClick r:id="rId3"/>
              </a:rPr>
              <a:t>https://en.wikipedia.org/wiki/Andrew_Ng</a:t>
            </a:r>
            <a:r>
              <a:rPr lang="en-US" sz="1600" dirty="0">
                <a:solidFill>
                  <a:schemeClr val="dk1"/>
                </a:solidFill>
                <a:latin typeface="Calibri"/>
                <a:ea typeface="Calibri"/>
                <a:cs typeface="Calibri"/>
                <a:sym typeface="Calibri"/>
              </a:rPr>
              <a:t> </a:t>
            </a:r>
            <a:endParaRPr sz="16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  - </a:t>
            </a:r>
            <a:r>
              <a:rPr lang="en-US" sz="1600" u="sng" dirty="0">
                <a:solidFill>
                  <a:schemeClr val="hlink"/>
                </a:solidFill>
                <a:latin typeface="Calibri"/>
                <a:ea typeface="Calibri"/>
                <a:cs typeface="Calibri"/>
                <a:sym typeface="Calibri"/>
                <a:hlinkClick r:id="rId4"/>
              </a:rPr>
              <a:t>https://www.coursera.org/learn/machine-learning</a:t>
            </a:r>
            <a:endParaRPr sz="16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Artificial Intelligence is the New Electricity </a:t>
            </a:r>
            <a:endParaRPr sz="1600"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  - </a:t>
            </a:r>
            <a:r>
              <a:rPr lang="en-US" sz="1600" u="sng" dirty="0">
                <a:solidFill>
                  <a:schemeClr val="hlink"/>
                </a:solidFill>
                <a:latin typeface="Calibri"/>
                <a:ea typeface="Calibri"/>
                <a:cs typeface="Calibri"/>
                <a:sym typeface="Calibri"/>
                <a:hlinkClick r:id="rId5"/>
              </a:rPr>
              <a:t>https://www.facebook.com/andrew.ng.96/videos/1268821713173733/</a:t>
            </a:r>
            <a:r>
              <a:rPr lang="en-US" sz="1600" dirty="0">
                <a:solidFill>
                  <a:schemeClr val="dk1"/>
                </a:solidFill>
                <a:latin typeface="Calibri"/>
                <a:ea typeface="Calibri"/>
                <a:cs typeface="Calibri"/>
                <a:sym typeface="Calibri"/>
              </a:rPr>
              <a:t> </a:t>
            </a:r>
            <a:br>
              <a:rPr lang="en-US" sz="1600" dirty="0">
                <a:solidFill>
                  <a:schemeClr val="dk1"/>
                </a:solidFill>
                <a:latin typeface="Calibri"/>
                <a:ea typeface="Calibri"/>
                <a:cs typeface="Calibri"/>
                <a:sym typeface="Calibri"/>
              </a:rPr>
            </a:br>
            <a:r>
              <a:rPr lang="en-US" sz="1600" dirty="0">
                <a:solidFill>
                  <a:schemeClr val="dk1"/>
                </a:solidFill>
                <a:latin typeface="Calibri"/>
                <a:ea typeface="Calibri"/>
                <a:cs typeface="Calibri"/>
                <a:sym typeface="Calibri"/>
              </a:rPr>
              <a:t>  - </a:t>
            </a:r>
            <a:r>
              <a:rPr lang="en-US" sz="1600" u="sng" dirty="0">
                <a:solidFill>
                  <a:schemeClr val="hlink"/>
                </a:solidFill>
                <a:latin typeface="Calibri"/>
                <a:ea typeface="Calibri"/>
                <a:cs typeface="Calibri"/>
                <a:sym typeface="Calibri"/>
                <a:hlinkClick r:id="rId6"/>
              </a:rPr>
              <a:t>https://www.youtube.com/watch?v=21EiKfQYZXc</a:t>
            </a:r>
            <a:r>
              <a:rPr lang="en-US" sz="1600" dirty="0">
                <a:solidFill>
                  <a:schemeClr val="dk1"/>
                </a:solidFill>
                <a:latin typeface="Calibri"/>
                <a:ea typeface="Calibri"/>
                <a:cs typeface="Calibri"/>
                <a:sym typeface="Calibri"/>
              </a:rPr>
              <a:t> </a:t>
            </a:r>
            <a:endParaRPr sz="1600" dirty="0"/>
          </a:p>
        </p:txBody>
      </p:sp>
      <p:sp>
        <p:nvSpPr>
          <p:cNvPr id="16" name="Google Shape;124;p18">
            <a:extLst>
              <a:ext uri="{FF2B5EF4-FFF2-40B4-BE49-F238E27FC236}">
                <a16:creationId xmlns:a16="http://schemas.microsoft.com/office/drawing/2014/main" id="{604A169C-4E8C-F345-8109-AFB7B3E92F6B}"/>
              </a:ext>
            </a:extLst>
          </p:cNvPr>
          <p:cNvSpPr txBox="1"/>
          <p:nvPr/>
        </p:nvSpPr>
        <p:spPr>
          <a:xfrm>
            <a:off x="3654199" y="242154"/>
            <a:ext cx="5648827" cy="85573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4000" b="1" dirty="0">
                <a:solidFill>
                  <a:schemeClr val="dk1"/>
                </a:solidFill>
                <a:latin typeface="Calibri"/>
                <a:ea typeface="Calibri"/>
                <a:cs typeface="Calibri"/>
                <a:sym typeface="Calibri"/>
              </a:rPr>
              <a:t>“AI is the New Electricity”</a:t>
            </a:r>
            <a:endParaRPr sz="4000" dirty="0"/>
          </a:p>
        </p:txBody>
      </p:sp>
      <p:sp>
        <p:nvSpPr>
          <p:cNvPr id="17" name="Google Shape;125;p18">
            <a:extLst>
              <a:ext uri="{FF2B5EF4-FFF2-40B4-BE49-F238E27FC236}">
                <a16:creationId xmlns:a16="http://schemas.microsoft.com/office/drawing/2014/main" id="{A5F77435-6571-F442-BB64-4F00A478B846}"/>
              </a:ext>
            </a:extLst>
          </p:cNvPr>
          <p:cNvSpPr txBox="1"/>
          <p:nvPr/>
        </p:nvSpPr>
        <p:spPr>
          <a:xfrm>
            <a:off x="7026334" y="2352820"/>
            <a:ext cx="5047604" cy="260358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1" dirty="0">
                <a:solidFill>
                  <a:schemeClr val="dk1"/>
                </a:solidFill>
                <a:latin typeface="Calibri"/>
                <a:ea typeface="Calibri"/>
                <a:cs typeface="Calibri"/>
                <a:sym typeface="Calibri"/>
              </a:rPr>
              <a:t>Electricity came into our life ~120 years ago:</a:t>
            </a:r>
            <a:endParaRPr sz="2000" b="1"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b="1" dirty="0">
                <a:solidFill>
                  <a:schemeClr val="dk1"/>
                </a:solidFill>
                <a:latin typeface="Calibri"/>
                <a:ea typeface="Calibri"/>
                <a:cs typeface="Calibri"/>
                <a:sym typeface="Calibri"/>
              </a:rPr>
              <a:t> - lamps and motors</a:t>
            </a:r>
            <a:br>
              <a:rPr lang="en-US" sz="2000" b="1" dirty="0">
                <a:solidFill>
                  <a:schemeClr val="dk1"/>
                </a:solidFill>
                <a:latin typeface="Calibri"/>
                <a:ea typeface="Calibri"/>
                <a:cs typeface="Calibri"/>
                <a:sym typeface="Calibri"/>
              </a:rPr>
            </a:br>
            <a:r>
              <a:rPr lang="en-US" sz="2000" b="1" dirty="0">
                <a:solidFill>
                  <a:schemeClr val="dk1"/>
                </a:solidFill>
                <a:latin typeface="Calibri"/>
                <a:ea typeface="Calibri"/>
                <a:cs typeface="Calibri"/>
                <a:sym typeface="Calibri"/>
              </a:rPr>
              <a:t> - telegraph, telephone, radio, TV, Internet</a:t>
            </a:r>
            <a:endParaRPr sz="2000" b="1"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b="1" dirty="0">
                <a:solidFill>
                  <a:schemeClr val="dk1"/>
                </a:solidFill>
                <a:latin typeface="Calibri"/>
                <a:ea typeface="Calibri"/>
                <a:cs typeface="Calibri"/>
                <a:sym typeface="Calibri"/>
              </a:rPr>
              <a:t> - computers, IT, Machine Learning, AI</a:t>
            </a:r>
            <a:endParaRPr sz="2000" b="1" dirty="0">
              <a:solidFill>
                <a:schemeClr val="dk1"/>
              </a:solidFill>
              <a:latin typeface="Calibri"/>
              <a:ea typeface="Calibri"/>
              <a:cs typeface="Calibri"/>
              <a:sym typeface="Calibri"/>
            </a:endParaRPr>
          </a:p>
          <a:p>
            <a:pPr marL="0" lvl="0" indent="0" algn="l" rtl="0">
              <a:spcBef>
                <a:spcPts val="0"/>
              </a:spcBef>
              <a:spcAft>
                <a:spcPts val="0"/>
              </a:spcAft>
              <a:buClr>
                <a:schemeClr val="dk1"/>
              </a:buClr>
              <a:buFont typeface="Arial"/>
              <a:buNone/>
            </a:pPr>
            <a:r>
              <a:rPr lang="en-US" sz="2000" b="1" dirty="0">
                <a:solidFill>
                  <a:schemeClr val="dk1"/>
                </a:solidFill>
                <a:latin typeface="Calibri"/>
                <a:ea typeface="Calibri"/>
                <a:cs typeface="Calibri"/>
                <a:sym typeface="Calibri"/>
              </a:rPr>
              <a:t> - finance, trading</a:t>
            </a:r>
            <a:endParaRPr sz="2000" b="1"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b="1" dirty="0">
                <a:solidFill>
                  <a:schemeClr val="dk1"/>
                </a:solidFill>
                <a:latin typeface="Calibri"/>
                <a:ea typeface="Calibri"/>
                <a:cs typeface="Calibri"/>
                <a:sym typeface="Calibri"/>
              </a:rPr>
              <a:t> - science, education, medical diagnostics</a:t>
            </a:r>
            <a:endParaRPr sz="2000" b="1"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b="1" dirty="0">
                <a:solidFill>
                  <a:schemeClr val="dk1"/>
                </a:solidFill>
                <a:latin typeface="Calibri"/>
                <a:ea typeface="Calibri"/>
                <a:cs typeface="Calibri"/>
                <a:sym typeface="Calibri"/>
              </a:rPr>
              <a:t> - automation, robotics,</a:t>
            </a:r>
            <a:endParaRPr sz="2000" b="1"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b="1" dirty="0">
                <a:solidFill>
                  <a:schemeClr val="dk1"/>
                </a:solidFill>
                <a:latin typeface="Calibri"/>
                <a:ea typeface="Calibri"/>
                <a:cs typeface="Calibri"/>
                <a:sym typeface="Calibri"/>
              </a:rPr>
              <a:t> - etc. etc.</a:t>
            </a:r>
            <a:endParaRPr sz="2000" b="1" dirty="0">
              <a:solidFill>
                <a:schemeClr val="dk1"/>
              </a:solidFill>
              <a:latin typeface="Calibri"/>
              <a:ea typeface="Calibri"/>
              <a:cs typeface="Calibri"/>
              <a:sym typeface="Calibri"/>
            </a:endParaRPr>
          </a:p>
        </p:txBody>
      </p:sp>
      <p:sp>
        <p:nvSpPr>
          <p:cNvPr id="18" name="Google Shape;126;p18">
            <a:extLst>
              <a:ext uri="{FF2B5EF4-FFF2-40B4-BE49-F238E27FC236}">
                <a16:creationId xmlns:a16="http://schemas.microsoft.com/office/drawing/2014/main" id="{25086DD5-7170-DA48-9B09-5109EA8E8436}"/>
              </a:ext>
            </a:extLst>
          </p:cNvPr>
          <p:cNvSpPr txBox="1"/>
          <p:nvPr/>
        </p:nvSpPr>
        <p:spPr>
          <a:xfrm>
            <a:off x="4939556" y="1293354"/>
            <a:ext cx="5304374" cy="864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1" dirty="0">
                <a:solidFill>
                  <a:srgbClr val="0070C0"/>
                </a:solidFill>
                <a:latin typeface="Calibri"/>
                <a:ea typeface="Calibri"/>
                <a:cs typeface="Calibri"/>
                <a:sym typeface="Calibri"/>
              </a:rPr>
              <a:t>AI like electricity will also change our lives in many ways which is difficult to predict.</a:t>
            </a:r>
            <a:endParaRPr sz="2000" b="1" dirty="0">
              <a:solidFill>
                <a:srgbClr val="0070C0"/>
              </a:solidFill>
              <a:latin typeface="Calibri"/>
              <a:ea typeface="Calibri"/>
              <a:cs typeface="Calibri"/>
              <a:sym typeface="Calibri"/>
            </a:endParaRPr>
          </a:p>
        </p:txBody>
      </p:sp>
    </p:spTree>
    <p:extLst>
      <p:ext uri="{BB962C8B-B14F-4D97-AF65-F5344CB8AC3E}">
        <p14:creationId xmlns:p14="http://schemas.microsoft.com/office/powerpoint/2010/main" val="2762644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4" name="Google Shape;124;p18"/>
          <p:cNvSpPr txBox="1"/>
          <p:nvPr/>
        </p:nvSpPr>
        <p:spPr>
          <a:xfrm>
            <a:off x="0" y="166451"/>
            <a:ext cx="9869214" cy="1051200"/>
          </a:xfrm>
          <a:prstGeom prst="rect">
            <a:avLst/>
          </a:prstGeom>
          <a:noFill/>
          <a:ln>
            <a:noFill/>
          </a:ln>
        </p:spPr>
        <p:txBody>
          <a:bodyPr spcFirstLastPara="1" wrap="square" lIns="91425" tIns="45700" rIns="91425" bIns="45700" anchor="t" anchorCtr="0">
            <a:noAutofit/>
          </a:bodyPr>
          <a:lstStyle/>
          <a:p>
            <a:pPr lvl="0"/>
            <a:r>
              <a:rPr lang="en-US" sz="4800" b="1" dirty="0">
                <a:solidFill>
                  <a:schemeClr val="dk1"/>
                </a:solidFill>
                <a:latin typeface="Calibri"/>
                <a:ea typeface="Calibri"/>
                <a:cs typeface="Calibri"/>
                <a:sym typeface="Calibri"/>
              </a:rPr>
              <a:t>“AI is Life Extinction Event ?”</a:t>
            </a:r>
            <a:endParaRPr sz="4800" dirty="0"/>
          </a:p>
        </p:txBody>
      </p:sp>
      <p:pic>
        <p:nvPicPr>
          <p:cNvPr id="2" name="Picture 1">
            <a:extLst>
              <a:ext uri="{FF2B5EF4-FFF2-40B4-BE49-F238E27FC236}">
                <a16:creationId xmlns:a16="http://schemas.microsoft.com/office/drawing/2014/main" id="{C42D435A-DFFC-EA45-92B3-9B9DCF1A89A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28482" y="1217651"/>
            <a:ext cx="4708955" cy="3139303"/>
          </a:xfrm>
          <a:prstGeom prst="rect">
            <a:avLst/>
          </a:prstGeom>
        </p:spPr>
      </p:pic>
      <p:sp>
        <p:nvSpPr>
          <p:cNvPr id="9" name="Google Shape;124;p18">
            <a:extLst>
              <a:ext uri="{FF2B5EF4-FFF2-40B4-BE49-F238E27FC236}">
                <a16:creationId xmlns:a16="http://schemas.microsoft.com/office/drawing/2014/main" id="{B7DCB279-1A86-0D4C-A558-708C1BDFC692}"/>
              </a:ext>
            </a:extLst>
          </p:cNvPr>
          <p:cNvSpPr txBox="1"/>
          <p:nvPr/>
        </p:nvSpPr>
        <p:spPr>
          <a:xfrm>
            <a:off x="6730865" y="2130522"/>
            <a:ext cx="5172535" cy="1051200"/>
          </a:xfrm>
          <a:prstGeom prst="rect">
            <a:avLst/>
          </a:prstGeom>
          <a:noFill/>
          <a:ln>
            <a:noFill/>
          </a:ln>
        </p:spPr>
        <p:txBody>
          <a:bodyPr spcFirstLastPara="1" wrap="square" lIns="91425" tIns="45700" rIns="91425" bIns="45700" anchor="t" anchorCtr="0">
            <a:noAutofit/>
          </a:bodyPr>
          <a:lstStyle/>
          <a:p>
            <a:pPr lvl="0"/>
            <a:r>
              <a:rPr lang="en-US" sz="4800" b="1" dirty="0">
                <a:solidFill>
                  <a:schemeClr val="dk1"/>
                </a:solidFill>
                <a:latin typeface="Calibri"/>
                <a:ea typeface="Calibri"/>
                <a:cs typeface="Calibri"/>
                <a:sym typeface="Calibri"/>
              </a:rPr>
              <a:t>“AI - Tsunami ?”</a:t>
            </a:r>
            <a:endParaRPr sz="4800" dirty="0"/>
          </a:p>
        </p:txBody>
      </p:sp>
      <p:pic>
        <p:nvPicPr>
          <p:cNvPr id="3" name="Picture 2">
            <a:extLst>
              <a:ext uri="{FF2B5EF4-FFF2-40B4-BE49-F238E27FC236}">
                <a16:creationId xmlns:a16="http://schemas.microsoft.com/office/drawing/2014/main" id="{904DF987-77D2-0343-B912-2F093122F74C}"/>
              </a:ext>
            </a:extLst>
          </p:cNvPr>
          <p:cNvPicPr>
            <a:picLocks noChangeAspect="1"/>
          </p:cNvPicPr>
          <p:nvPr/>
        </p:nvPicPr>
        <p:blipFill>
          <a:blip r:embed="rId4"/>
          <a:stretch>
            <a:fillRect/>
          </a:stretch>
        </p:blipFill>
        <p:spPr>
          <a:xfrm>
            <a:off x="6730865" y="3248191"/>
            <a:ext cx="4974900" cy="3233685"/>
          </a:xfrm>
          <a:prstGeom prst="rect">
            <a:avLst/>
          </a:prstGeom>
        </p:spPr>
      </p:pic>
    </p:spTree>
    <p:extLst>
      <p:ext uri="{BB962C8B-B14F-4D97-AF65-F5344CB8AC3E}">
        <p14:creationId xmlns:p14="http://schemas.microsoft.com/office/powerpoint/2010/main" val="41781613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4" name="Google Shape;131;p19">
            <a:extLst>
              <a:ext uri="{FF2B5EF4-FFF2-40B4-BE49-F238E27FC236}">
                <a16:creationId xmlns:a16="http://schemas.microsoft.com/office/drawing/2014/main" id="{C3CFBAAD-79C4-F04B-83C6-CF40A2E21956}"/>
              </a:ext>
            </a:extLst>
          </p:cNvPr>
          <p:cNvSpPr txBox="1"/>
          <p:nvPr/>
        </p:nvSpPr>
        <p:spPr>
          <a:xfrm>
            <a:off x="2925000" y="135669"/>
            <a:ext cx="9208686" cy="159687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sz="1600" dirty="0">
                <a:solidFill>
                  <a:schemeClr val="dk1"/>
                </a:solidFill>
              </a:rPr>
              <a:t>Ray Kurzweil, chief engineer for Google and famous futurist stated that </a:t>
            </a:r>
            <a:r>
              <a:rPr lang="en-US" sz="1600" i="1" dirty="0">
                <a:solidFill>
                  <a:srgbClr val="0070C0"/>
                </a:solidFill>
              </a:rPr>
              <a:t>"... ultimately, AI will benefit us in the same way that previous technologies have. ... My view is not that AI is going to displace us, ... (but) ...  It’s going to enhance us. It does already.”</a:t>
            </a:r>
            <a:endParaRPr sz="1600" i="1" dirty="0">
              <a:solidFill>
                <a:srgbClr val="0070C0"/>
              </a:solidFill>
            </a:endParaRPr>
          </a:p>
        </p:txBody>
      </p:sp>
      <p:pic>
        <p:nvPicPr>
          <p:cNvPr id="5" name="Google Shape;132;p19">
            <a:extLst>
              <a:ext uri="{FF2B5EF4-FFF2-40B4-BE49-F238E27FC236}">
                <a16:creationId xmlns:a16="http://schemas.microsoft.com/office/drawing/2014/main" id="{E2854F9A-48DC-5B43-8D10-9172DEDC68C5}"/>
              </a:ext>
            </a:extLst>
          </p:cNvPr>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0" y="0"/>
            <a:ext cx="2838450" cy="2838450"/>
          </a:xfrm>
          <a:prstGeom prst="rect">
            <a:avLst/>
          </a:prstGeom>
          <a:noFill/>
          <a:ln>
            <a:noFill/>
          </a:ln>
        </p:spPr>
      </p:pic>
      <p:sp>
        <p:nvSpPr>
          <p:cNvPr id="6" name="Google Shape;133;p19">
            <a:extLst>
              <a:ext uri="{FF2B5EF4-FFF2-40B4-BE49-F238E27FC236}">
                <a16:creationId xmlns:a16="http://schemas.microsoft.com/office/drawing/2014/main" id="{20D17282-FCA5-1049-9A7C-A0639B79BCAE}"/>
              </a:ext>
            </a:extLst>
          </p:cNvPr>
          <p:cNvSpPr txBox="1"/>
          <p:nvPr/>
        </p:nvSpPr>
        <p:spPr>
          <a:xfrm>
            <a:off x="161742" y="3602317"/>
            <a:ext cx="6278815" cy="1596879"/>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sz="1600" dirty="0">
                <a:solidFill>
                  <a:schemeClr val="dk1"/>
                </a:solidFill>
              </a:rPr>
              <a:t>Millions of jobs will be "outsourced" to AI. </a:t>
            </a:r>
          </a:p>
          <a:p>
            <a:pPr marL="0" lvl="0" indent="0" algn="l" rtl="0">
              <a:spcBef>
                <a:spcPts val="0"/>
              </a:spcBef>
              <a:spcAft>
                <a:spcPts val="0"/>
              </a:spcAft>
              <a:buClr>
                <a:schemeClr val="dk1"/>
              </a:buClr>
              <a:buSzPts val="1100"/>
              <a:buFont typeface="Arial"/>
              <a:buNone/>
            </a:pPr>
            <a:endParaRPr lang="en-US" sz="1600" dirty="0">
              <a:solidFill>
                <a:schemeClr val="dk1"/>
              </a:solidFill>
            </a:endParaRPr>
          </a:p>
          <a:p>
            <a:pPr marL="0" lvl="0" indent="0" algn="l" rtl="0">
              <a:spcBef>
                <a:spcPts val="0"/>
              </a:spcBef>
              <a:spcAft>
                <a:spcPts val="0"/>
              </a:spcAft>
              <a:buClr>
                <a:schemeClr val="dk1"/>
              </a:buClr>
              <a:buSzPts val="1100"/>
              <a:buFont typeface="Arial"/>
              <a:buNone/>
            </a:pPr>
            <a:r>
              <a:rPr lang="en-US" sz="1600" dirty="0">
                <a:solidFill>
                  <a:schemeClr val="dk1"/>
                </a:solidFill>
              </a:rPr>
              <a:t>Also you will see new jobs, like "Chief AI Officer", AI departments. </a:t>
            </a:r>
          </a:p>
          <a:p>
            <a:pPr marL="0" lvl="0" indent="0" algn="l" rtl="0">
              <a:spcBef>
                <a:spcPts val="0"/>
              </a:spcBef>
              <a:spcAft>
                <a:spcPts val="0"/>
              </a:spcAft>
              <a:buClr>
                <a:schemeClr val="dk1"/>
              </a:buClr>
              <a:buSzPts val="1100"/>
              <a:buFont typeface="Arial"/>
              <a:buNone/>
            </a:pPr>
            <a:endParaRPr lang="en-US" sz="1600" dirty="0">
              <a:solidFill>
                <a:schemeClr val="dk1"/>
              </a:solidFill>
            </a:endParaRPr>
          </a:p>
          <a:p>
            <a:pPr marL="0" lvl="0" indent="0" algn="l" rtl="0">
              <a:spcBef>
                <a:spcPts val="0"/>
              </a:spcBef>
              <a:spcAft>
                <a:spcPts val="0"/>
              </a:spcAft>
              <a:buClr>
                <a:schemeClr val="dk1"/>
              </a:buClr>
              <a:buSzPts val="1100"/>
              <a:buFont typeface="Arial"/>
              <a:buNone/>
            </a:pPr>
            <a:r>
              <a:rPr lang="en-US" sz="1600" dirty="0">
                <a:solidFill>
                  <a:schemeClr val="dk1"/>
                </a:solidFill>
              </a:rPr>
              <a:t>We already see big shortage in AI specialists. Top AI talent is paid millions of $$.</a:t>
            </a:r>
            <a:endParaRPr sz="1600" dirty="0">
              <a:solidFill>
                <a:schemeClr val="dk1"/>
              </a:solidFill>
            </a:endParaRPr>
          </a:p>
        </p:txBody>
      </p:sp>
      <p:pic>
        <p:nvPicPr>
          <p:cNvPr id="7" name="Picture 6">
            <a:extLst>
              <a:ext uri="{FF2B5EF4-FFF2-40B4-BE49-F238E27FC236}">
                <a16:creationId xmlns:a16="http://schemas.microsoft.com/office/drawing/2014/main" id="{416EF753-6524-4A47-BB82-4F5FFA3E9A9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084217" y="2674571"/>
            <a:ext cx="1676341" cy="3717341"/>
          </a:xfrm>
          <a:prstGeom prst="rect">
            <a:avLst/>
          </a:prstGeom>
        </p:spPr>
      </p:pic>
      <p:pic>
        <p:nvPicPr>
          <p:cNvPr id="8" name="Picture 7">
            <a:extLst>
              <a:ext uri="{FF2B5EF4-FFF2-40B4-BE49-F238E27FC236}">
                <a16:creationId xmlns:a16="http://schemas.microsoft.com/office/drawing/2014/main" id="{9EE0AC33-EAC6-A94F-A562-05EFF34634D1}"/>
              </a:ext>
            </a:extLst>
          </p:cNvPr>
          <p:cNvPicPr>
            <a:picLocks noChangeAspect="1"/>
          </p:cNvPicPr>
          <p:nvPr/>
        </p:nvPicPr>
        <p:blipFill>
          <a:blip r:embed="rId5"/>
          <a:stretch>
            <a:fillRect/>
          </a:stretch>
        </p:blipFill>
        <p:spPr>
          <a:xfrm>
            <a:off x="9240522" y="2674571"/>
            <a:ext cx="2628900" cy="3746500"/>
          </a:xfrm>
          <a:prstGeom prst="rect">
            <a:avLst/>
          </a:prstGeom>
        </p:spPr>
      </p:pic>
      <p:sp>
        <p:nvSpPr>
          <p:cNvPr id="9" name="Google Shape;133;p19">
            <a:extLst>
              <a:ext uri="{FF2B5EF4-FFF2-40B4-BE49-F238E27FC236}">
                <a16:creationId xmlns:a16="http://schemas.microsoft.com/office/drawing/2014/main" id="{C80EF7AB-084A-3943-8BA0-6F751EC1BFEC}"/>
              </a:ext>
            </a:extLst>
          </p:cNvPr>
          <p:cNvSpPr txBox="1"/>
          <p:nvPr/>
        </p:nvSpPr>
        <p:spPr>
          <a:xfrm>
            <a:off x="7308140" y="1969350"/>
            <a:ext cx="4854682" cy="989100"/>
          </a:xfrm>
          <a:prstGeom prst="rect">
            <a:avLst/>
          </a:prstGeom>
          <a:noFill/>
          <a:ln>
            <a:noFill/>
          </a:ln>
        </p:spPr>
        <p:txBody>
          <a:bodyPr spcFirstLastPara="1" wrap="square" lIns="91425" tIns="45700" rIns="91425" bIns="45700" anchor="t" anchorCtr="0">
            <a:noAutofit/>
          </a:bodyPr>
          <a:lstStyle/>
          <a:p>
            <a:pPr>
              <a:buClr>
                <a:schemeClr val="dk1"/>
              </a:buClr>
              <a:buSzPts val="1100"/>
            </a:pPr>
            <a:r>
              <a:rPr lang="en-US" sz="1600" dirty="0">
                <a:solidFill>
                  <a:srgbClr val="0070C0"/>
                </a:solidFill>
              </a:rPr>
              <a:t>You need to get into AI asap to be able to surf the new wave, or this wave will drown you.</a:t>
            </a:r>
          </a:p>
        </p:txBody>
      </p:sp>
      <p:sp>
        <p:nvSpPr>
          <p:cNvPr id="2" name="TextBox 1">
            <a:extLst>
              <a:ext uri="{FF2B5EF4-FFF2-40B4-BE49-F238E27FC236}">
                <a16:creationId xmlns:a16="http://schemas.microsoft.com/office/drawing/2014/main" id="{312458AD-BDD8-7449-9432-D67E41420807}"/>
              </a:ext>
            </a:extLst>
          </p:cNvPr>
          <p:cNvSpPr txBox="1"/>
          <p:nvPr/>
        </p:nvSpPr>
        <p:spPr>
          <a:xfrm>
            <a:off x="630969" y="2838450"/>
            <a:ext cx="1569454" cy="369332"/>
          </a:xfrm>
          <a:prstGeom prst="rect">
            <a:avLst/>
          </a:prstGeom>
          <a:noFill/>
        </p:spPr>
        <p:txBody>
          <a:bodyPr wrap="square" rtlCol="0">
            <a:spAutoFit/>
          </a:bodyPr>
          <a:lstStyle/>
          <a:p>
            <a:r>
              <a:rPr lang="en-US" dirty="0">
                <a:solidFill>
                  <a:schemeClr val="dk1"/>
                </a:solidFill>
              </a:rPr>
              <a:t>Ray Kurzweil</a:t>
            </a:r>
            <a:endParaRPr lang="en-US" dirty="0"/>
          </a:p>
        </p:txBody>
      </p:sp>
    </p:spTree>
    <p:extLst>
      <p:ext uri="{BB962C8B-B14F-4D97-AF65-F5344CB8AC3E}">
        <p14:creationId xmlns:p14="http://schemas.microsoft.com/office/powerpoint/2010/main" val="6666850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954D22D-9AFC-784D-9B66-00A8B4869A69}"/>
              </a:ext>
            </a:extLst>
          </p:cNvPr>
          <p:cNvSpPr txBox="1"/>
          <p:nvPr/>
        </p:nvSpPr>
        <p:spPr>
          <a:xfrm>
            <a:off x="3321424" y="517685"/>
            <a:ext cx="7034688" cy="461665"/>
          </a:xfrm>
          <a:prstGeom prst="rect">
            <a:avLst/>
          </a:prstGeom>
          <a:noFill/>
        </p:spPr>
        <p:txBody>
          <a:bodyPr wrap="square" rtlCol="0">
            <a:spAutoFit/>
          </a:bodyPr>
          <a:lstStyle/>
          <a:p>
            <a:r>
              <a:rPr lang="en-US" sz="2400" b="1" dirty="0"/>
              <a:t>Overview of Machine Learning Models</a:t>
            </a:r>
          </a:p>
        </p:txBody>
      </p:sp>
      <p:sp>
        <p:nvSpPr>
          <p:cNvPr id="8" name="TextBox 7">
            <a:extLst>
              <a:ext uri="{FF2B5EF4-FFF2-40B4-BE49-F238E27FC236}">
                <a16:creationId xmlns:a16="http://schemas.microsoft.com/office/drawing/2014/main" id="{C48292D7-C0FA-7740-85EA-21E789F96C5D}"/>
              </a:ext>
            </a:extLst>
          </p:cNvPr>
          <p:cNvSpPr txBox="1"/>
          <p:nvPr/>
        </p:nvSpPr>
        <p:spPr>
          <a:xfrm>
            <a:off x="2406865" y="1216932"/>
            <a:ext cx="8876623" cy="461665"/>
          </a:xfrm>
          <a:prstGeom prst="rect">
            <a:avLst/>
          </a:prstGeom>
          <a:noFill/>
        </p:spPr>
        <p:txBody>
          <a:bodyPr wrap="square" rtlCol="0">
            <a:spAutoFit/>
          </a:bodyPr>
          <a:lstStyle/>
          <a:p>
            <a:r>
              <a:rPr lang="en-US" sz="2400" b="1" dirty="0"/>
              <a:t>Machine Learning Systems = Prediction Machines</a:t>
            </a:r>
          </a:p>
        </p:txBody>
      </p:sp>
      <p:pic>
        <p:nvPicPr>
          <p:cNvPr id="2" name="Picture 1">
            <a:extLst>
              <a:ext uri="{FF2B5EF4-FFF2-40B4-BE49-F238E27FC236}">
                <a16:creationId xmlns:a16="http://schemas.microsoft.com/office/drawing/2014/main" id="{C94B984A-C757-994A-B6E8-3FA50DA1DBA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 y="1916179"/>
            <a:ext cx="6117130" cy="3449197"/>
          </a:xfrm>
          <a:prstGeom prst="rect">
            <a:avLst/>
          </a:prstGeom>
        </p:spPr>
      </p:pic>
      <p:sp>
        <p:nvSpPr>
          <p:cNvPr id="3" name="TextBox 2">
            <a:extLst>
              <a:ext uri="{FF2B5EF4-FFF2-40B4-BE49-F238E27FC236}">
                <a16:creationId xmlns:a16="http://schemas.microsoft.com/office/drawing/2014/main" id="{1145D382-E115-314D-B3F7-DADF8E3C60E0}"/>
              </a:ext>
            </a:extLst>
          </p:cNvPr>
          <p:cNvSpPr txBox="1"/>
          <p:nvPr/>
        </p:nvSpPr>
        <p:spPr>
          <a:xfrm>
            <a:off x="147918" y="5459506"/>
            <a:ext cx="3294529" cy="738664"/>
          </a:xfrm>
          <a:prstGeom prst="rect">
            <a:avLst/>
          </a:prstGeom>
          <a:noFill/>
        </p:spPr>
        <p:txBody>
          <a:bodyPr wrap="square" rtlCol="0">
            <a:spAutoFit/>
          </a:bodyPr>
          <a:lstStyle/>
          <a:p>
            <a:r>
              <a:rPr lang="en-US" sz="2400" b="1" dirty="0"/>
              <a:t>Ajay Agrawal</a:t>
            </a:r>
          </a:p>
          <a:p>
            <a:r>
              <a:rPr lang="en-US" dirty="0"/>
              <a:t>University of Toronto</a:t>
            </a:r>
          </a:p>
        </p:txBody>
      </p:sp>
      <p:sp>
        <p:nvSpPr>
          <p:cNvPr id="9" name="TextBox 8">
            <a:extLst>
              <a:ext uri="{FF2B5EF4-FFF2-40B4-BE49-F238E27FC236}">
                <a16:creationId xmlns:a16="http://schemas.microsoft.com/office/drawing/2014/main" id="{E1767B65-956F-8B4D-86D8-67766228C237}"/>
              </a:ext>
            </a:extLst>
          </p:cNvPr>
          <p:cNvSpPr txBox="1"/>
          <p:nvPr/>
        </p:nvSpPr>
        <p:spPr>
          <a:xfrm>
            <a:off x="7308475" y="2756647"/>
            <a:ext cx="4883525" cy="1384995"/>
          </a:xfrm>
          <a:prstGeom prst="rect">
            <a:avLst/>
          </a:prstGeom>
          <a:noFill/>
        </p:spPr>
        <p:txBody>
          <a:bodyPr wrap="square" rtlCol="0">
            <a:spAutoFit/>
          </a:bodyPr>
          <a:lstStyle/>
          <a:p>
            <a:r>
              <a:rPr lang="en-US" sz="2800" dirty="0"/>
              <a:t>ML = "Cheap Predictions"</a:t>
            </a:r>
          </a:p>
          <a:p>
            <a:endParaRPr lang="en-US" sz="2800" dirty="0"/>
          </a:p>
          <a:p>
            <a:r>
              <a:rPr lang="en-US" sz="2800" dirty="0"/>
              <a:t>AI = "Cheap Predictions"</a:t>
            </a:r>
          </a:p>
        </p:txBody>
      </p:sp>
    </p:spTree>
    <p:extLst>
      <p:ext uri="{BB962C8B-B14F-4D97-AF65-F5344CB8AC3E}">
        <p14:creationId xmlns:p14="http://schemas.microsoft.com/office/powerpoint/2010/main" val="21465177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3"/>
          <p:cNvSpPr txBox="1"/>
          <p:nvPr/>
        </p:nvSpPr>
        <p:spPr>
          <a:xfrm>
            <a:off x="106926" y="0"/>
            <a:ext cx="6399891" cy="154641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b="1" dirty="0">
                <a:solidFill>
                  <a:schemeClr val="dk1"/>
                </a:solidFill>
              </a:rPr>
              <a:t>OK, so what is Machine Learning?</a:t>
            </a:r>
            <a:endParaRPr sz="2400" dirty="0">
              <a:solidFill>
                <a:schemeClr val="dk1"/>
              </a:solidFill>
            </a:endParaRPr>
          </a:p>
          <a:p>
            <a:pPr marL="0" lvl="0" indent="0" algn="l" rtl="0">
              <a:spcBef>
                <a:spcPts val="0"/>
              </a:spcBef>
              <a:spcAft>
                <a:spcPts val="0"/>
              </a:spcAft>
              <a:buNone/>
            </a:pPr>
            <a:r>
              <a:rPr lang="en-US" sz="1400" dirty="0"/>
              <a:t> - A computer program </a:t>
            </a:r>
          </a:p>
          <a:p>
            <a:pPr marL="0" lvl="0" indent="0" algn="l" rtl="0">
              <a:spcBef>
                <a:spcPts val="0"/>
              </a:spcBef>
              <a:spcAft>
                <a:spcPts val="0"/>
              </a:spcAft>
              <a:buNone/>
            </a:pPr>
            <a:r>
              <a:rPr lang="en-US" sz="1400" dirty="0"/>
              <a:t> - used to describe data in a compressed way </a:t>
            </a:r>
          </a:p>
          <a:p>
            <a:pPr marL="0" lvl="0" indent="0" algn="l" rtl="0">
              <a:spcBef>
                <a:spcPts val="0"/>
              </a:spcBef>
              <a:spcAft>
                <a:spcPts val="0"/>
              </a:spcAft>
              <a:buNone/>
            </a:pPr>
            <a:r>
              <a:rPr lang="en-US" sz="1400" dirty="0"/>
              <a:t> - to make predictions and take actions </a:t>
            </a:r>
          </a:p>
          <a:p>
            <a:pPr marL="0" lvl="0" indent="0" algn="l" rtl="0">
              <a:spcBef>
                <a:spcPts val="0"/>
              </a:spcBef>
              <a:spcAft>
                <a:spcPts val="0"/>
              </a:spcAft>
              <a:buNone/>
            </a:pPr>
            <a:r>
              <a:rPr lang="en-US" sz="1400" dirty="0"/>
              <a:t> - most common ML tasks - regression or classification</a:t>
            </a:r>
            <a:endParaRPr sz="1400" dirty="0"/>
          </a:p>
        </p:txBody>
      </p:sp>
      <p:pic>
        <p:nvPicPr>
          <p:cNvPr id="2" name="Picture 1">
            <a:extLst>
              <a:ext uri="{FF2B5EF4-FFF2-40B4-BE49-F238E27FC236}">
                <a16:creationId xmlns:a16="http://schemas.microsoft.com/office/drawing/2014/main" id="{8733300E-86BD-6641-B34D-2FA927653FC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27949" y="2790162"/>
            <a:ext cx="3618027" cy="2393928"/>
          </a:xfrm>
          <a:prstGeom prst="rect">
            <a:avLst/>
          </a:prstGeom>
        </p:spPr>
      </p:pic>
      <p:sp>
        <p:nvSpPr>
          <p:cNvPr id="3" name="TextBox 2">
            <a:extLst>
              <a:ext uri="{FF2B5EF4-FFF2-40B4-BE49-F238E27FC236}">
                <a16:creationId xmlns:a16="http://schemas.microsoft.com/office/drawing/2014/main" id="{98B74D8F-ED35-4B4B-8B8A-7B2A87010A1D}"/>
              </a:ext>
            </a:extLst>
          </p:cNvPr>
          <p:cNvSpPr txBox="1"/>
          <p:nvPr/>
        </p:nvSpPr>
        <p:spPr>
          <a:xfrm>
            <a:off x="227950" y="5412340"/>
            <a:ext cx="3618027" cy="738664"/>
          </a:xfrm>
          <a:prstGeom prst="rect">
            <a:avLst/>
          </a:prstGeom>
          <a:noFill/>
        </p:spPr>
        <p:txBody>
          <a:bodyPr wrap="square" rtlCol="0">
            <a:spAutoFit/>
          </a:bodyPr>
          <a:lstStyle/>
          <a:p>
            <a:r>
              <a:rPr lang="en-US" sz="1400" dirty="0"/>
              <a:t>Linear Regression  y = f(x) = ax + b</a:t>
            </a:r>
          </a:p>
          <a:p>
            <a:r>
              <a:rPr lang="en-US" sz="1400" dirty="0"/>
              <a:t>Model uses only two numbers: </a:t>
            </a:r>
          </a:p>
          <a:p>
            <a:r>
              <a:rPr lang="en-US" sz="1400" dirty="0"/>
              <a:t>    a = slope, b = intercept</a:t>
            </a:r>
          </a:p>
        </p:txBody>
      </p:sp>
      <p:sp>
        <p:nvSpPr>
          <p:cNvPr id="6" name="TextBox 5">
            <a:extLst>
              <a:ext uri="{FF2B5EF4-FFF2-40B4-BE49-F238E27FC236}">
                <a16:creationId xmlns:a16="http://schemas.microsoft.com/office/drawing/2014/main" id="{A4B41459-F67D-714C-A077-4654F5BF97E9}"/>
              </a:ext>
            </a:extLst>
          </p:cNvPr>
          <p:cNvSpPr txBox="1"/>
          <p:nvPr/>
        </p:nvSpPr>
        <p:spPr>
          <a:xfrm>
            <a:off x="4212762" y="4605522"/>
            <a:ext cx="3618027" cy="2031325"/>
          </a:xfrm>
          <a:prstGeom prst="rect">
            <a:avLst/>
          </a:prstGeom>
          <a:noFill/>
        </p:spPr>
        <p:txBody>
          <a:bodyPr wrap="square" rtlCol="0">
            <a:spAutoFit/>
          </a:bodyPr>
          <a:lstStyle/>
          <a:p>
            <a:r>
              <a:rPr lang="en-US" sz="1400" dirty="0"/>
              <a:t>Classification - learning to label examples based on their features. Model may have ~1-2 thousand of numbers</a:t>
            </a:r>
          </a:p>
          <a:p>
            <a:endParaRPr lang="en-US" sz="1400" dirty="0"/>
          </a:p>
          <a:p>
            <a:r>
              <a:rPr lang="en-US" sz="1400" dirty="0"/>
              <a:t>Logistic Regression</a:t>
            </a:r>
          </a:p>
          <a:p>
            <a:r>
              <a:rPr lang="en-US" sz="1400" dirty="0"/>
              <a:t>Linear Discriminant Analysis</a:t>
            </a:r>
          </a:p>
          <a:p>
            <a:r>
              <a:rPr lang="en-US" sz="1400" dirty="0"/>
              <a:t>Support Vector Machines</a:t>
            </a:r>
          </a:p>
          <a:p>
            <a:r>
              <a:rPr lang="en-US" sz="1400" dirty="0"/>
              <a:t>Decision trees (Random Forest, </a:t>
            </a:r>
            <a:r>
              <a:rPr lang="en-US" sz="1400" dirty="0" err="1"/>
              <a:t>XGBoost</a:t>
            </a:r>
            <a:r>
              <a:rPr lang="en-US" sz="1400" dirty="0"/>
              <a:t>)</a:t>
            </a:r>
          </a:p>
          <a:p>
            <a:r>
              <a:rPr lang="en-US" sz="1400" dirty="0"/>
              <a:t>KNN, K-Means, etc., etc.</a:t>
            </a:r>
          </a:p>
        </p:txBody>
      </p:sp>
      <p:pic>
        <p:nvPicPr>
          <p:cNvPr id="5" name="Picture 4">
            <a:extLst>
              <a:ext uri="{FF2B5EF4-FFF2-40B4-BE49-F238E27FC236}">
                <a16:creationId xmlns:a16="http://schemas.microsoft.com/office/drawing/2014/main" id="{7D478114-40F8-F04C-9B68-98487240FFD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10117" y="2818802"/>
            <a:ext cx="3158404" cy="1850627"/>
          </a:xfrm>
          <a:prstGeom prst="rect">
            <a:avLst/>
          </a:prstGeom>
        </p:spPr>
      </p:pic>
      <p:sp>
        <p:nvSpPr>
          <p:cNvPr id="8" name="TextBox 7">
            <a:extLst>
              <a:ext uri="{FF2B5EF4-FFF2-40B4-BE49-F238E27FC236}">
                <a16:creationId xmlns:a16="http://schemas.microsoft.com/office/drawing/2014/main" id="{2AA889A1-AEF1-6942-9A53-C9F8FAD2D5D8}"/>
              </a:ext>
            </a:extLst>
          </p:cNvPr>
          <p:cNvSpPr txBox="1"/>
          <p:nvPr/>
        </p:nvSpPr>
        <p:spPr>
          <a:xfrm>
            <a:off x="8009316" y="4672367"/>
            <a:ext cx="4182684" cy="2031325"/>
          </a:xfrm>
          <a:prstGeom prst="rect">
            <a:avLst/>
          </a:prstGeom>
          <a:noFill/>
        </p:spPr>
        <p:txBody>
          <a:bodyPr wrap="square" rtlCol="0">
            <a:spAutoFit/>
          </a:bodyPr>
          <a:lstStyle/>
          <a:p>
            <a:r>
              <a:rPr lang="en-US" sz="1400" dirty="0"/>
              <a:t>Classification – dog or cat. Model is usually implemented as a Neural Network, and may use up to 1.5 </a:t>
            </a:r>
            <a:r>
              <a:rPr lang="en-US" sz="1400" dirty="0" err="1"/>
              <a:t>Bln</a:t>
            </a:r>
            <a:r>
              <a:rPr lang="en-US" sz="1400" dirty="0"/>
              <a:t> numbers. Text models up to 175 </a:t>
            </a:r>
            <a:r>
              <a:rPr lang="en-US" sz="1400" dirty="0" err="1"/>
              <a:t>Bln</a:t>
            </a:r>
            <a:r>
              <a:rPr lang="en-US" sz="1400" dirty="0"/>
              <a:t>.</a:t>
            </a:r>
          </a:p>
          <a:p>
            <a:endParaRPr lang="en-US" sz="1400" dirty="0"/>
          </a:p>
          <a:p>
            <a:r>
              <a:rPr lang="en-US" sz="1400" dirty="0"/>
              <a:t>Recognizing images, music, speech</a:t>
            </a:r>
          </a:p>
          <a:p>
            <a:r>
              <a:rPr lang="en-US" sz="1400" dirty="0"/>
              <a:t>NLP = Natural language Processing</a:t>
            </a:r>
          </a:p>
          <a:p>
            <a:r>
              <a:rPr lang="en-US" sz="1400" dirty="0"/>
              <a:t>Machine Translation</a:t>
            </a:r>
          </a:p>
          <a:p>
            <a:r>
              <a:rPr lang="en-US" sz="1400" dirty="0"/>
              <a:t>supervised, unsupervised, reinforcement learning</a:t>
            </a:r>
          </a:p>
          <a:p>
            <a:r>
              <a:rPr lang="en-US" sz="1400" dirty="0"/>
              <a:t>Generative Models (GANs)</a:t>
            </a:r>
          </a:p>
        </p:txBody>
      </p:sp>
      <p:pic>
        <p:nvPicPr>
          <p:cNvPr id="7" name="Picture 6">
            <a:extLst>
              <a:ext uri="{FF2B5EF4-FFF2-40B4-BE49-F238E27FC236}">
                <a16:creationId xmlns:a16="http://schemas.microsoft.com/office/drawing/2014/main" id="{3443B7A9-772A-DB47-B443-D44576EB17FD}"/>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334051" y="2792298"/>
            <a:ext cx="3305869" cy="1850627"/>
          </a:xfrm>
          <a:prstGeom prst="rect">
            <a:avLst/>
          </a:prstGeom>
        </p:spPr>
      </p:pic>
      <p:sp>
        <p:nvSpPr>
          <p:cNvPr id="4" name="TextBox 3">
            <a:extLst>
              <a:ext uri="{FF2B5EF4-FFF2-40B4-BE49-F238E27FC236}">
                <a16:creationId xmlns:a16="http://schemas.microsoft.com/office/drawing/2014/main" id="{2AB04EB8-C313-CE45-BA69-FC4ABEEC0B1D}"/>
              </a:ext>
            </a:extLst>
          </p:cNvPr>
          <p:cNvSpPr txBox="1"/>
          <p:nvPr/>
        </p:nvSpPr>
        <p:spPr>
          <a:xfrm>
            <a:off x="106926" y="2332322"/>
            <a:ext cx="2528698" cy="307777"/>
          </a:xfrm>
          <a:prstGeom prst="rect">
            <a:avLst/>
          </a:prstGeom>
          <a:noFill/>
        </p:spPr>
        <p:txBody>
          <a:bodyPr wrap="square" rtlCol="0">
            <a:spAutoFit/>
          </a:bodyPr>
          <a:lstStyle/>
          <a:p>
            <a:r>
              <a:rPr lang="en-US" sz="1400" b="1" dirty="0">
                <a:solidFill>
                  <a:srgbClr val="00B0F0"/>
                </a:solidFill>
              </a:rPr>
              <a:t>Simple Analytics</a:t>
            </a:r>
          </a:p>
        </p:txBody>
      </p:sp>
      <p:sp>
        <p:nvSpPr>
          <p:cNvPr id="10" name="TextBox 9">
            <a:extLst>
              <a:ext uri="{FF2B5EF4-FFF2-40B4-BE49-F238E27FC236}">
                <a16:creationId xmlns:a16="http://schemas.microsoft.com/office/drawing/2014/main" id="{CCBBA14C-6758-A740-AEB2-6651F6045A6C}"/>
              </a:ext>
            </a:extLst>
          </p:cNvPr>
          <p:cNvSpPr txBox="1"/>
          <p:nvPr/>
        </p:nvSpPr>
        <p:spPr>
          <a:xfrm>
            <a:off x="4602992" y="2332322"/>
            <a:ext cx="2528698" cy="307777"/>
          </a:xfrm>
          <a:prstGeom prst="rect">
            <a:avLst/>
          </a:prstGeom>
          <a:noFill/>
        </p:spPr>
        <p:txBody>
          <a:bodyPr wrap="square" rtlCol="0">
            <a:spAutoFit/>
          </a:bodyPr>
          <a:lstStyle/>
          <a:p>
            <a:r>
              <a:rPr lang="en-US" sz="1400" b="1" dirty="0">
                <a:solidFill>
                  <a:srgbClr val="00B0F0"/>
                </a:solidFill>
              </a:rPr>
              <a:t>Standard</a:t>
            </a:r>
            <a:r>
              <a:rPr lang="en-US" sz="1400" b="1" dirty="0"/>
              <a:t> </a:t>
            </a:r>
            <a:r>
              <a:rPr lang="en-US" sz="1400" b="1" dirty="0">
                <a:solidFill>
                  <a:srgbClr val="00B0F0"/>
                </a:solidFill>
              </a:rPr>
              <a:t>ML</a:t>
            </a:r>
          </a:p>
        </p:txBody>
      </p:sp>
      <p:sp>
        <p:nvSpPr>
          <p:cNvPr id="11" name="TextBox 10">
            <a:extLst>
              <a:ext uri="{FF2B5EF4-FFF2-40B4-BE49-F238E27FC236}">
                <a16:creationId xmlns:a16="http://schemas.microsoft.com/office/drawing/2014/main" id="{832359BA-F6AF-F84B-8391-3E56516F74C5}"/>
              </a:ext>
            </a:extLst>
          </p:cNvPr>
          <p:cNvSpPr txBox="1"/>
          <p:nvPr/>
        </p:nvSpPr>
        <p:spPr>
          <a:xfrm>
            <a:off x="8724970" y="2127358"/>
            <a:ext cx="2528698" cy="523220"/>
          </a:xfrm>
          <a:prstGeom prst="rect">
            <a:avLst/>
          </a:prstGeom>
          <a:noFill/>
        </p:spPr>
        <p:txBody>
          <a:bodyPr wrap="square" rtlCol="0">
            <a:spAutoFit/>
          </a:bodyPr>
          <a:lstStyle/>
          <a:p>
            <a:r>
              <a:rPr lang="en-US" sz="1400" b="1" dirty="0">
                <a:solidFill>
                  <a:srgbClr val="00B0F0"/>
                </a:solidFill>
              </a:rPr>
              <a:t>Neural Networks (Deep Learning)</a:t>
            </a:r>
          </a:p>
        </p:txBody>
      </p:sp>
      <p:pic>
        <p:nvPicPr>
          <p:cNvPr id="9" name="Picture 8">
            <a:extLst>
              <a:ext uri="{FF2B5EF4-FFF2-40B4-BE49-F238E27FC236}">
                <a16:creationId xmlns:a16="http://schemas.microsoft.com/office/drawing/2014/main" id="{E2C8459E-5A4D-4E43-B67F-68781A4DF8A5}"/>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7927436" y="246526"/>
            <a:ext cx="4123765" cy="1546412"/>
          </a:xfrm>
          <a:prstGeom prst="rect">
            <a:avLst/>
          </a:prstGeom>
        </p:spPr>
      </p:pic>
    </p:spTree>
    <p:extLst>
      <p:ext uri="{BB962C8B-B14F-4D97-AF65-F5344CB8AC3E}">
        <p14:creationId xmlns:p14="http://schemas.microsoft.com/office/powerpoint/2010/main" val="510402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9" name="Google Shape;101;p15">
            <a:extLst>
              <a:ext uri="{FF2B5EF4-FFF2-40B4-BE49-F238E27FC236}">
                <a16:creationId xmlns:a16="http://schemas.microsoft.com/office/drawing/2014/main" id="{C016287F-4D86-7743-9DFE-AE51B7DF2F4D}"/>
              </a:ext>
            </a:extLst>
          </p:cNvPr>
          <p:cNvSpPr txBox="1"/>
          <p:nvPr/>
        </p:nvSpPr>
        <p:spPr>
          <a:xfrm>
            <a:off x="3271343" y="3254615"/>
            <a:ext cx="5738649" cy="782979"/>
          </a:xfrm>
          <a:prstGeom prst="rect">
            <a:avLst/>
          </a:prstGeom>
          <a:noFill/>
          <a:ln w="38100">
            <a:solidFill>
              <a:schemeClr val="accent1"/>
            </a:solid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000" b="1" dirty="0"/>
              <a:t>Deep Learning (DL)</a:t>
            </a:r>
            <a:endParaRPr sz="2000" dirty="0"/>
          </a:p>
          <a:p>
            <a:pPr marL="0" lvl="0" indent="0" algn="ctr" rtl="0">
              <a:spcBef>
                <a:spcPts val="0"/>
              </a:spcBef>
              <a:spcAft>
                <a:spcPts val="0"/>
              </a:spcAft>
              <a:buClr>
                <a:schemeClr val="dk1"/>
              </a:buClr>
              <a:buSzPts val="1100"/>
              <a:buFont typeface="Arial"/>
              <a:buNone/>
            </a:pPr>
            <a:r>
              <a:rPr lang="en-US" sz="2000" dirty="0"/>
              <a:t>ML implemented as Neural Network</a:t>
            </a:r>
            <a:endParaRPr sz="2000" dirty="0"/>
          </a:p>
          <a:p>
            <a:pPr marL="0" lvl="0" indent="0" algn="ctr" rtl="0">
              <a:spcBef>
                <a:spcPts val="0"/>
              </a:spcBef>
              <a:spcAft>
                <a:spcPts val="0"/>
              </a:spcAft>
              <a:buNone/>
            </a:pPr>
            <a:endParaRPr sz="2000" dirty="0"/>
          </a:p>
        </p:txBody>
      </p:sp>
      <p:sp>
        <p:nvSpPr>
          <p:cNvPr id="10" name="Google Shape;101;p15">
            <a:extLst>
              <a:ext uri="{FF2B5EF4-FFF2-40B4-BE49-F238E27FC236}">
                <a16:creationId xmlns:a16="http://schemas.microsoft.com/office/drawing/2014/main" id="{0585ABF0-8CC5-4A41-8D08-669BDDE773D3}"/>
              </a:ext>
            </a:extLst>
          </p:cNvPr>
          <p:cNvSpPr txBox="1"/>
          <p:nvPr/>
        </p:nvSpPr>
        <p:spPr>
          <a:xfrm>
            <a:off x="4389707" y="5558017"/>
            <a:ext cx="3501921" cy="1093905"/>
          </a:xfrm>
          <a:prstGeom prst="rect">
            <a:avLst/>
          </a:prstGeom>
          <a:noFill/>
          <a:ln w="38100">
            <a:solidFill>
              <a:schemeClr val="accent1"/>
            </a:solid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000" b="1" dirty="0"/>
              <a:t>Data Science (DS)</a:t>
            </a:r>
            <a:endParaRPr sz="2000" b="1" dirty="0"/>
          </a:p>
          <a:p>
            <a:pPr marL="0" lvl="0" indent="0" algn="ctr" rtl="0">
              <a:spcBef>
                <a:spcPts val="0"/>
              </a:spcBef>
              <a:spcAft>
                <a:spcPts val="0"/>
              </a:spcAft>
              <a:buNone/>
            </a:pPr>
            <a:r>
              <a:rPr lang="en-US" sz="2000" dirty="0"/>
              <a:t>computer skills + statistics</a:t>
            </a:r>
            <a:endParaRPr sz="2000" dirty="0"/>
          </a:p>
          <a:p>
            <a:pPr marL="0" lvl="0" indent="0" algn="ctr" rtl="0">
              <a:spcBef>
                <a:spcPts val="0"/>
              </a:spcBef>
              <a:spcAft>
                <a:spcPts val="0"/>
              </a:spcAft>
              <a:buNone/>
            </a:pPr>
            <a:r>
              <a:rPr lang="en-US" sz="2000" dirty="0"/>
              <a:t>CSV files, SQL, PowerPoint</a:t>
            </a:r>
          </a:p>
        </p:txBody>
      </p:sp>
      <p:sp>
        <p:nvSpPr>
          <p:cNvPr id="11" name="Google Shape;101;p15">
            <a:extLst>
              <a:ext uri="{FF2B5EF4-FFF2-40B4-BE49-F238E27FC236}">
                <a16:creationId xmlns:a16="http://schemas.microsoft.com/office/drawing/2014/main" id="{7D99C063-E9A5-BC4A-B3CB-B995915FB246}"/>
              </a:ext>
            </a:extLst>
          </p:cNvPr>
          <p:cNvSpPr txBox="1"/>
          <p:nvPr/>
        </p:nvSpPr>
        <p:spPr>
          <a:xfrm>
            <a:off x="3878316" y="4219736"/>
            <a:ext cx="4524702" cy="1156139"/>
          </a:xfrm>
          <a:prstGeom prst="rect">
            <a:avLst/>
          </a:prstGeom>
          <a:noFill/>
          <a:ln w="38100">
            <a:solidFill>
              <a:schemeClr val="accent1"/>
            </a:solid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000" b="1" dirty="0"/>
              <a:t>Machine Learning (ML)</a:t>
            </a:r>
            <a:endParaRPr sz="2000" dirty="0"/>
          </a:p>
          <a:p>
            <a:pPr marL="0" lvl="0" indent="0" algn="ctr" rtl="0">
              <a:spcBef>
                <a:spcPts val="0"/>
              </a:spcBef>
              <a:spcAft>
                <a:spcPts val="0"/>
              </a:spcAft>
              <a:buClr>
                <a:schemeClr val="dk1"/>
              </a:buClr>
              <a:buSzPts val="1100"/>
              <a:buFont typeface="Arial"/>
              <a:buNone/>
            </a:pPr>
            <a:r>
              <a:rPr lang="en-US" sz="2000" dirty="0"/>
              <a:t>DS where algorithm learns from data to make predictions</a:t>
            </a:r>
            <a:endParaRPr sz="2000" dirty="0"/>
          </a:p>
          <a:p>
            <a:pPr marL="0" lvl="0" indent="0" algn="ctr" rtl="0">
              <a:spcBef>
                <a:spcPts val="0"/>
              </a:spcBef>
              <a:spcAft>
                <a:spcPts val="0"/>
              </a:spcAft>
              <a:buNone/>
            </a:pPr>
            <a:endParaRPr sz="2000" dirty="0"/>
          </a:p>
        </p:txBody>
      </p:sp>
      <p:sp>
        <p:nvSpPr>
          <p:cNvPr id="12" name="Google Shape;101;p15">
            <a:extLst>
              <a:ext uri="{FF2B5EF4-FFF2-40B4-BE49-F238E27FC236}">
                <a16:creationId xmlns:a16="http://schemas.microsoft.com/office/drawing/2014/main" id="{BF1D8829-5635-244F-9400-F8BC4670F427}"/>
              </a:ext>
            </a:extLst>
          </p:cNvPr>
          <p:cNvSpPr txBox="1"/>
          <p:nvPr/>
        </p:nvSpPr>
        <p:spPr>
          <a:xfrm>
            <a:off x="998482" y="338258"/>
            <a:ext cx="10284371" cy="1129700"/>
          </a:xfrm>
          <a:prstGeom prst="rect">
            <a:avLst/>
          </a:prstGeom>
          <a:noFill/>
          <a:ln w="38100">
            <a:solidFill>
              <a:schemeClr val="accent1"/>
            </a:solidFill>
          </a:ln>
        </p:spPr>
        <p:txBody>
          <a:bodyPr spcFirstLastPara="1" wrap="square" lIns="91425" tIns="91425" rIns="91425" bIns="91425" anchor="t" anchorCtr="0">
            <a:noAutofit/>
          </a:bodyPr>
          <a:lstStyle/>
          <a:p>
            <a:pPr lvl="0" algn="ctr">
              <a:buClr>
                <a:schemeClr val="dk1"/>
              </a:buClr>
              <a:buSzPts val="1100"/>
            </a:pPr>
            <a:r>
              <a:rPr lang="en-US" sz="2000" b="1" dirty="0"/>
              <a:t>Artificial General Intelligence (AGI)</a:t>
            </a:r>
            <a:endParaRPr lang="en-US" sz="2000" dirty="0"/>
          </a:p>
          <a:p>
            <a:pPr lvl="0" algn="ctr">
              <a:buClr>
                <a:schemeClr val="dk1"/>
              </a:buClr>
              <a:buSzPts val="1100"/>
            </a:pPr>
            <a:r>
              <a:rPr lang="en-US" sz="2000" dirty="0"/>
              <a:t>    AI that could successfully perform any intellectual task that a human can </a:t>
            </a:r>
          </a:p>
          <a:p>
            <a:pPr lvl="0" algn="ctr">
              <a:buClr>
                <a:schemeClr val="dk1"/>
              </a:buClr>
              <a:buSzPts val="1100"/>
            </a:pPr>
            <a:r>
              <a:rPr lang="en-US" sz="2000" dirty="0"/>
              <a:t>(Turing test (1950), ...)</a:t>
            </a:r>
          </a:p>
          <a:p>
            <a:pPr marL="0" lvl="0" indent="0" algn="ctr" rtl="0">
              <a:spcBef>
                <a:spcPts val="0"/>
              </a:spcBef>
              <a:spcAft>
                <a:spcPts val="0"/>
              </a:spcAft>
              <a:buClr>
                <a:schemeClr val="dk1"/>
              </a:buClr>
              <a:buSzPts val="1100"/>
              <a:buFont typeface="Arial"/>
              <a:buNone/>
            </a:pPr>
            <a:endParaRPr sz="2000" dirty="0"/>
          </a:p>
          <a:p>
            <a:pPr marL="0" lvl="0" indent="0" algn="ctr" rtl="0">
              <a:spcBef>
                <a:spcPts val="0"/>
              </a:spcBef>
              <a:spcAft>
                <a:spcPts val="0"/>
              </a:spcAft>
              <a:buNone/>
            </a:pPr>
            <a:endParaRPr sz="2000" dirty="0"/>
          </a:p>
        </p:txBody>
      </p:sp>
      <p:sp>
        <p:nvSpPr>
          <p:cNvPr id="13" name="Google Shape;101;p15">
            <a:extLst>
              <a:ext uri="{FF2B5EF4-FFF2-40B4-BE49-F238E27FC236}">
                <a16:creationId xmlns:a16="http://schemas.microsoft.com/office/drawing/2014/main" id="{F1C4D3F2-5556-474D-9531-933A6DCD3C81}"/>
              </a:ext>
            </a:extLst>
          </p:cNvPr>
          <p:cNvSpPr txBox="1"/>
          <p:nvPr/>
        </p:nvSpPr>
        <p:spPr>
          <a:xfrm>
            <a:off x="1813033" y="1650100"/>
            <a:ext cx="8655269" cy="1422373"/>
          </a:xfrm>
          <a:prstGeom prst="rect">
            <a:avLst/>
          </a:prstGeom>
          <a:noFill/>
          <a:ln w="38100">
            <a:solidFill>
              <a:schemeClr val="accent1"/>
            </a:solid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000" b="1" dirty="0"/>
              <a:t>Artificial Intelligence (AI)</a:t>
            </a:r>
            <a:endParaRPr sz="2000" dirty="0"/>
          </a:p>
          <a:p>
            <a:pPr marL="0" lvl="0" indent="0" algn="ctr" rtl="0">
              <a:spcBef>
                <a:spcPts val="0"/>
              </a:spcBef>
              <a:spcAft>
                <a:spcPts val="0"/>
              </a:spcAft>
              <a:buClr>
                <a:schemeClr val="dk1"/>
              </a:buClr>
              <a:buSzPts val="1100"/>
              <a:buFont typeface="Arial"/>
              <a:buNone/>
            </a:pPr>
            <a:r>
              <a:rPr lang="en-US" sz="2000" dirty="0"/>
              <a:t>    ML (DL) learning "human" abilities (speech and music recognition, conversation, visual recognition, video prediction, reasoning, self-driving cars, playing games, etc.)</a:t>
            </a:r>
            <a:endParaRPr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6"/>
          <p:cNvSpPr txBox="1"/>
          <p:nvPr/>
        </p:nvSpPr>
        <p:spPr>
          <a:xfrm>
            <a:off x="0" y="0"/>
            <a:ext cx="12192000" cy="1205948"/>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3200" b="1" dirty="0">
                <a:solidFill>
                  <a:schemeClr val="dk1"/>
                </a:solidFill>
                <a:latin typeface="Calibri"/>
                <a:ea typeface="Calibri"/>
                <a:cs typeface="Calibri"/>
                <a:sym typeface="Calibri"/>
              </a:rPr>
              <a:t>Recent breakthroughs in DL made it practical </a:t>
            </a:r>
            <a:endParaRPr sz="3200" b="1" dirty="0">
              <a:solidFill>
                <a:schemeClr val="dk1"/>
              </a:solidFill>
              <a:latin typeface="Calibri"/>
              <a:ea typeface="Calibri"/>
              <a:cs typeface="Calibri"/>
              <a:sym typeface="Calibri"/>
            </a:endParaRPr>
          </a:p>
          <a:p>
            <a:pPr marL="0" lvl="0" indent="0" algn="ctr" rtl="0">
              <a:spcBef>
                <a:spcPts val="0"/>
              </a:spcBef>
              <a:spcAft>
                <a:spcPts val="0"/>
              </a:spcAft>
              <a:buNone/>
            </a:pPr>
            <a:r>
              <a:rPr lang="en-US" sz="3200" b="1" dirty="0">
                <a:solidFill>
                  <a:schemeClr val="dk1"/>
                </a:solidFill>
                <a:latin typeface="Calibri"/>
                <a:ea typeface="Calibri"/>
                <a:cs typeface="Calibri"/>
                <a:sym typeface="Calibri"/>
              </a:rPr>
              <a:t>(effective, affordable, and easy).</a:t>
            </a:r>
            <a:endParaRPr sz="3200" b="1" dirty="0">
              <a:solidFill>
                <a:schemeClr val="dk1"/>
              </a:solidFill>
              <a:latin typeface="Calibri"/>
              <a:ea typeface="Calibri"/>
              <a:cs typeface="Calibri"/>
              <a:sym typeface="Calibri"/>
            </a:endParaRPr>
          </a:p>
        </p:txBody>
      </p:sp>
      <p:sp>
        <p:nvSpPr>
          <p:cNvPr id="108" name="Google Shape;108;p16"/>
          <p:cNvSpPr txBox="1"/>
          <p:nvPr/>
        </p:nvSpPr>
        <p:spPr>
          <a:xfrm>
            <a:off x="741750" y="1739100"/>
            <a:ext cx="10708500" cy="4555374"/>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dirty="0">
                <a:solidFill>
                  <a:schemeClr val="dk1"/>
                </a:solidFill>
                <a:latin typeface="Calibri"/>
                <a:ea typeface="Calibri"/>
                <a:cs typeface="Calibri"/>
                <a:sym typeface="Calibri"/>
              </a:rPr>
              <a:t>Instead of software engineers manually coding </a:t>
            </a:r>
            <a:r>
              <a:rPr lang="en-US" sz="2000" b="1" dirty="0">
                <a:solidFill>
                  <a:srgbClr val="0000FF"/>
                </a:solidFill>
                <a:latin typeface="Calibri"/>
                <a:ea typeface="Calibri"/>
                <a:cs typeface="Calibri"/>
                <a:sym typeface="Calibri"/>
              </a:rPr>
              <a:t>if/else</a:t>
            </a:r>
            <a:r>
              <a:rPr lang="en-US" sz="2000" dirty="0">
                <a:solidFill>
                  <a:schemeClr val="dk1"/>
                </a:solidFill>
                <a:latin typeface="Calibri"/>
                <a:ea typeface="Calibri"/>
                <a:cs typeface="Calibri"/>
                <a:sym typeface="Calibri"/>
              </a:rPr>
              <a:t> logic,</a:t>
            </a:r>
            <a:endParaRPr sz="2000" dirty="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2000" dirty="0">
                <a:solidFill>
                  <a:schemeClr val="dk1"/>
                </a:solidFill>
                <a:latin typeface="Calibri"/>
                <a:ea typeface="Calibri"/>
                <a:cs typeface="Calibri"/>
                <a:sym typeface="Calibri"/>
              </a:rPr>
              <a:t>DL algorithms can train networks equivalent to ~10s of million of </a:t>
            </a:r>
            <a:r>
              <a:rPr lang="en-US" sz="2000" b="1" dirty="0">
                <a:solidFill>
                  <a:srgbClr val="0000FF"/>
                </a:solidFill>
                <a:latin typeface="Calibri"/>
                <a:ea typeface="Calibri"/>
                <a:cs typeface="Calibri"/>
                <a:sym typeface="Calibri"/>
              </a:rPr>
              <a:t>if/else</a:t>
            </a:r>
            <a:r>
              <a:rPr lang="en-US" sz="2000" dirty="0">
                <a:solidFill>
                  <a:schemeClr val="dk1"/>
                </a:solidFill>
                <a:latin typeface="Calibri"/>
                <a:ea typeface="Calibri"/>
                <a:cs typeface="Calibri"/>
                <a:sym typeface="Calibri"/>
              </a:rPr>
              <a:t>-s.</a:t>
            </a:r>
            <a:endParaRPr sz="2000" dirty="0">
              <a:solidFill>
                <a:schemeClr val="dk1"/>
              </a:solidFill>
              <a:latin typeface="Calibri"/>
              <a:ea typeface="Calibri"/>
              <a:cs typeface="Calibri"/>
              <a:sym typeface="Calibri"/>
            </a:endParaRPr>
          </a:p>
          <a:p>
            <a:pPr marL="0" lvl="0" indent="0" algn="l" rtl="0">
              <a:spcBef>
                <a:spcPts val="0"/>
              </a:spcBef>
              <a:spcAft>
                <a:spcPts val="0"/>
              </a:spcAft>
              <a:buNone/>
            </a:pPr>
            <a:endParaRPr sz="2000" dirty="0">
              <a:solidFill>
                <a:schemeClr val="dk1"/>
              </a:solidFill>
              <a:latin typeface="Calibri"/>
              <a:ea typeface="Calibri"/>
              <a:cs typeface="Calibri"/>
              <a:sym typeface="Calibri"/>
            </a:endParaRPr>
          </a:p>
          <a:p>
            <a:pPr lvl="0"/>
            <a:r>
              <a:rPr lang="en-US" sz="2000" dirty="0">
                <a:solidFill>
                  <a:schemeClr val="dk1"/>
                </a:solidFill>
                <a:latin typeface="Calibri"/>
                <a:ea typeface="Calibri"/>
                <a:cs typeface="Calibri"/>
                <a:sym typeface="Calibri"/>
              </a:rPr>
              <a:t>Distributed ML on Cloud (Google, Microsoft, Amazon, Intel, IBM, etc.)</a:t>
            </a:r>
            <a:endParaRPr sz="2000" dirty="0">
              <a:solidFill>
                <a:schemeClr val="dk1"/>
              </a:solidFill>
              <a:latin typeface="Calibri"/>
              <a:ea typeface="Calibri"/>
              <a:cs typeface="Calibri"/>
              <a:sym typeface="Calibri"/>
            </a:endParaRPr>
          </a:p>
          <a:p>
            <a:pPr marL="0" lvl="0" indent="0" algn="l" rtl="0">
              <a:spcBef>
                <a:spcPts val="0"/>
              </a:spcBef>
              <a:spcAft>
                <a:spcPts val="0"/>
              </a:spcAft>
              <a:buNone/>
            </a:pPr>
            <a:r>
              <a:rPr lang="en-US" sz="2000" dirty="0">
                <a:solidFill>
                  <a:schemeClr val="dk1"/>
                </a:solidFill>
                <a:latin typeface="Calibri"/>
                <a:ea typeface="Calibri"/>
                <a:cs typeface="Calibri"/>
                <a:sym typeface="Calibri"/>
              </a:rPr>
              <a:t>allow to achieve ~100 Petaflops </a:t>
            </a:r>
            <a:endParaRPr sz="2000" dirty="0">
              <a:solidFill>
                <a:schemeClr val="dk1"/>
              </a:solidFill>
              <a:latin typeface="Calibri"/>
              <a:ea typeface="Calibri"/>
              <a:cs typeface="Calibri"/>
              <a:sym typeface="Calibri"/>
            </a:endParaRPr>
          </a:p>
          <a:p>
            <a:pPr marL="0" lvl="0" indent="0" algn="l" rtl="0">
              <a:spcBef>
                <a:spcPts val="0"/>
              </a:spcBef>
              <a:spcAft>
                <a:spcPts val="0"/>
              </a:spcAft>
              <a:buNone/>
            </a:pPr>
            <a:r>
              <a:rPr lang="en-US" sz="2000" dirty="0">
                <a:solidFill>
                  <a:schemeClr val="dk1"/>
                </a:solidFill>
                <a:latin typeface="Calibri"/>
                <a:ea typeface="Calibri"/>
                <a:cs typeface="Calibri"/>
                <a:sym typeface="Calibri"/>
              </a:rPr>
              <a:t>(x1000 performance increase in last 3 years).</a:t>
            </a:r>
            <a:endParaRPr sz="2000" dirty="0">
              <a:solidFill>
                <a:schemeClr val="dk1"/>
              </a:solidFill>
              <a:latin typeface="Calibri"/>
              <a:ea typeface="Calibri"/>
              <a:cs typeface="Calibri"/>
              <a:sym typeface="Calibri"/>
            </a:endParaRPr>
          </a:p>
          <a:p>
            <a:pPr marL="0" lvl="0" indent="0" algn="l" rtl="0">
              <a:spcBef>
                <a:spcPts val="0"/>
              </a:spcBef>
              <a:spcAft>
                <a:spcPts val="0"/>
              </a:spcAft>
              <a:buNone/>
            </a:pPr>
            <a:endParaRPr sz="2000" dirty="0">
              <a:solidFill>
                <a:schemeClr val="dk1"/>
              </a:solidFill>
              <a:latin typeface="Calibri"/>
              <a:ea typeface="Calibri"/>
              <a:cs typeface="Calibri"/>
              <a:sym typeface="Calibri"/>
            </a:endParaRPr>
          </a:p>
          <a:p>
            <a:pPr marL="0" lvl="0" indent="0" algn="l" rtl="0">
              <a:spcBef>
                <a:spcPts val="0"/>
              </a:spcBef>
              <a:spcAft>
                <a:spcPts val="0"/>
              </a:spcAft>
              <a:buNone/>
            </a:pPr>
            <a:r>
              <a:rPr lang="en-US" sz="2000" dirty="0">
                <a:solidFill>
                  <a:schemeClr val="dk1"/>
                </a:solidFill>
                <a:latin typeface="Calibri"/>
                <a:ea typeface="Calibri"/>
                <a:cs typeface="Calibri"/>
                <a:sym typeface="Calibri"/>
              </a:rPr>
              <a:t>Prices dropping down precipitously: $6.50/hour per a Google TPU (180 </a:t>
            </a:r>
            <a:r>
              <a:rPr lang="en-US" sz="2000" dirty="0" err="1">
                <a:solidFill>
                  <a:schemeClr val="dk1"/>
                </a:solidFill>
                <a:latin typeface="Calibri"/>
                <a:ea typeface="Calibri"/>
                <a:cs typeface="Calibri"/>
                <a:sym typeface="Calibri"/>
              </a:rPr>
              <a:t>TFlops</a:t>
            </a:r>
            <a:r>
              <a:rPr lang="en-US" sz="2000" dirty="0">
                <a:solidFill>
                  <a:schemeClr val="dk1"/>
                </a:solidFill>
                <a:latin typeface="Calibri"/>
                <a:ea typeface="Calibri"/>
                <a:cs typeface="Calibri"/>
                <a:sym typeface="Calibri"/>
              </a:rPr>
              <a:t>).</a:t>
            </a:r>
            <a:endParaRPr sz="2000" dirty="0">
              <a:solidFill>
                <a:schemeClr val="dk1"/>
              </a:solidFill>
              <a:latin typeface="Calibri"/>
              <a:ea typeface="Calibri"/>
              <a:cs typeface="Calibri"/>
              <a:sym typeface="Calibri"/>
            </a:endParaRPr>
          </a:p>
          <a:p>
            <a:pPr marL="0" lvl="0" indent="0" algn="l" rtl="0">
              <a:spcBef>
                <a:spcPts val="0"/>
              </a:spcBef>
              <a:spcAft>
                <a:spcPts val="0"/>
              </a:spcAft>
              <a:buNone/>
            </a:pPr>
            <a:endParaRPr sz="2000" dirty="0">
              <a:solidFill>
                <a:schemeClr val="dk1"/>
              </a:solidFill>
              <a:latin typeface="Calibri"/>
              <a:ea typeface="Calibri"/>
              <a:cs typeface="Calibri"/>
              <a:sym typeface="Calibri"/>
            </a:endParaRPr>
          </a:p>
          <a:p>
            <a:pPr marL="0" lvl="0" indent="0" algn="l" rtl="0">
              <a:spcBef>
                <a:spcPts val="0"/>
              </a:spcBef>
              <a:spcAft>
                <a:spcPts val="0"/>
              </a:spcAft>
              <a:buNone/>
            </a:pPr>
            <a:r>
              <a:rPr lang="en-US" sz="2000" dirty="0">
                <a:solidFill>
                  <a:schemeClr val="dk1"/>
                </a:solidFill>
                <a:latin typeface="Calibri"/>
                <a:ea typeface="Calibri"/>
                <a:cs typeface="Calibri"/>
                <a:sym typeface="Calibri"/>
              </a:rPr>
              <a:t>You don't have to build your own infrastructure, </a:t>
            </a:r>
          </a:p>
          <a:p>
            <a:pPr marL="0" lvl="0" indent="0" algn="l" rtl="0">
              <a:spcBef>
                <a:spcPts val="0"/>
              </a:spcBef>
              <a:spcAft>
                <a:spcPts val="0"/>
              </a:spcAft>
              <a:buNone/>
            </a:pPr>
            <a:r>
              <a:rPr lang="en-US" sz="2000" dirty="0">
                <a:solidFill>
                  <a:schemeClr val="dk1"/>
                </a:solidFill>
                <a:latin typeface="Calibri"/>
                <a:ea typeface="Calibri"/>
                <a:cs typeface="Calibri"/>
                <a:sym typeface="Calibri"/>
              </a:rPr>
              <a:t>You don't have to code from scratch. </a:t>
            </a:r>
          </a:p>
          <a:p>
            <a:pPr marL="0" lvl="0" indent="0" algn="l" rtl="0">
              <a:spcBef>
                <a:spcPts val="0"/>
              </a:spcBef>
              <a:spcAft>
                <a:spcPts val="0"/>
              </a:spcAft>
              <a:buNone/>
            </a:pPr>
            <a:r>
              <a:rPr lang="en-US" sz="2000" dirty="0">
                <a:solidFill>
                  <a:schemeClr val="dk1"/>
                </a:solidFill>
                <a:latin typeface="Calibri"/>
                <a:ea typeface="Calibri"/>
                <a:cs typeface="Calibri"/>
                <a:sym typeface="Calibri"/>
              </a:rPr>
              <a:t>Nowadays you can use variety of pre-trained / pre-configured networks on the cloud. </a:t>
            </a:r>
          </a:p>
          <a:p>
            <a:pPr lvl="0"/>
            <a:r>
              <a:rPr lang="en-US" sz="2000" dirty="0">
                <a:solidFill>
                  <a:schemeClr val="dk1"/>
                </a:solidFill>
                <a:latin typeface="Calibri"/>
                <a:ea typeface="Calibri"/>
                <a:cs typeface="Calibri"/>
                <a:sym typeface="Calibri"/>
              </a:rPr>
              <a:t>Compare this with just few years ago: low-level C/CUDA coding, custom HPC clusters </a:t>
            </a:r>
          </a:p>
          <a:p>
            <a:pPr marL="0" lvl="0" indent="0" algn="l" rtl="0">
              <a:spcBef>
                <a:spcPts val="0"/>
              </a:spcBef>
              <a:spcAft>
                <a:spcPts val="0"/>
              </a:spcAft>
              <a:buNone/>
            </a:pPr>
            <a:r>
              <a:rPr lang="en-US" sz="2000" dirty="0">
                <a:solidFill>
                  <a:schemeClr val="dk1"/>
                </a:solidFill>
                <a:latin typeface="Calibri"/>
                <a:ea typeface="Calibri"/>
                <a:cs typeface="Calibri"/>
                <a:sym typeface="Calibri"/>
              </a:rPr>
              <a:t>    (HPC = High-Performance Computing), etc.</a:t>
            </a:r>
            <a:endParaRPr sz="2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22885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4" name="Google Shape;139;p20">
            <a:extLst>
              <a:ext uri="{FF2B5EF4-FFF2-40B4-BE49-F238E27FC236}">
                <a16:creationId xmlns:a16="http://schemas.microsoft.com/office/drawing/2014/main" id="{DE6E0AA3-369A-B244-9270-7EECD576DD1F}"/>
              </a:ext>
            </a:extLst>
          </p:cNvPr>
          <p:cNvSpPr txBox="1"/>
          <p:nvPr/>
        </p:nvSpPr>
        <p:spPr>
          <a:xfrm>
            <a:off x="106350" y="1658651"/>
            <a:ext cx="11929706" cy="4903894"/>
          </a:xfrm>
          <a:prstGeom prst="rect">
            <a:avLst/>
          </a:prstGeom>
          <a:noFill/>
          <a:ln>
            <a:noFill/>
          </a:ln>
        </p:spPr>
        <p:txBody>
          <a:bodyPr spcFirstLastPara="1" wrap="square" lIns="91425" tIns="91425" rIns="91425" bIns="91425" anchor="t" anchorCtr="0">
            <a:noAutofit/>
          </a:bodyPr>
          <a:lstStyle/>
          <a:p>
            <a:pPr marL="285750" lvl="0" indent="-285750" algn="l" rtl="0">
              <a:spcBef>
                <a:spcPts val="0"/>
              </a:spcBef>
              <a:spcAft>
                <a:spcPts val="0"/>
              </a:spcAft>
              <a:buFont typeface="Arial" panose="020B0604020202020204" pitchFamily="34" charset="0"/>
              <a:buChar char="•"/>
            </a:pPr>
            <a:r>
              <a:rPr lang="en-US" sz="1800" dirty="0"/>
              <a:t>predictions (predictive analytics, forecasting, trends, investments, elections, sport &amp; weather, news, etc.)</a:t>
            </a:r>
          </a:p>
          <a:p>
            <a:pPr marL="285750" lvl="0" indent="-285750" algn="l" rtl="0">
              <a:spcBef>
                <a:spcPts val="0"/>
              </a:spcBef>
              <a:spcAft>
                <a:spcPts val="0"/>
              </a:spcAft>
              <a:buFont typeface="Arial" panose="020B0604020202020204" pitchFamily="34" charset="0"/>
              <a:buChar char="•"/>
            </a:pPr>
            <a:r>
              <a:rPr lang="en-US" sz="1800" dirty="0"/>
              <a:t>optimization of business processes, reducing costs</a:t>
            </a:r>
          </a:p>
          <a:p>
            <a:pPr marL="285750" lvl="0" indent="-285750" algn="l" rtl="0">
              <a:spcBef>
                <a:spcPts val="0"/>
              </a:spcBef>
              <a:spcAft>
                <a:spcPts val="0"/>
              </a:spcAft>
              <a:buFont typeface="Arial" panose="020B0604020202020204" pitchFamily="34" charset="0"/>
              <a:buChar char="•"/>
            </a:pPr>
            <a:r>
              <a:rPr lang="en-US" sz="1800" dirty="0"/>
              <a:t>extracting information from text, fuzzy deduplication</a:t>
            </a:r>
          </a:p>
          <a:p>
            <a:pPr marL="285750" lvl="0" indent="-285750" algn="l" rtl="0">
              <a:spcBef>
                <a:spcPts val="0"/>
              </a:spcBef>
              <a:spcAft>
                <a:spcPts val="0"/>
              </a:spcAft>
              <a:buFont typeface="Arial" panose="020B0604020202020204" pitchFamily="34" charset="0"/>
              <a:buChar char="•"/>
            </a:pPr>
            <a:r>
              <a:rPr lang="en-US" sz="1800" dirty="0"/>
              <a:t>image and face recognition</a:t>
            </a:r>
          </a:p>
          <a:p>
            <a:pPr marL="285750" lvl="0" indent="-285750" algn="l" rtl="0">
              <a:spcBef>
                <a:spcPts val="0"/>
              </a:spcBef>
              <a:spcAft>
                <a:spcPts val="0"/>
              </a:spcAft>
              <a:buFont typeface="Arial" panose="020B0604020202020204" pitchFamily="34" charset="0"/>
              <a:buChar char="•"/>
            </a:pPr>
            <a:r>
              <a:rPr lang="en-US" sz="1800" dirty="0"/>
              <a:t>recommender systems</a:t>
            </a:r>
            <a:endParaRPr sz="1800" dirty="0"/>
          </a:p>
          <a:p>
            <a:pPr marL="285750" lvl="0" indent="-285750" algn="l" rtl="0">
              <a:spcBef>
                <a:spcPts val="0"/>
              </a:spcBef>
              <a:spcAft>
                <a:spcPts val="0"/>
              </a:spcAft>
              <a:buFont typeface="Arial" panose="020B0604020202020204" pitchFamily="34" charset="0"/>
              <a:buChar char="•"/>
            </a:pPr>
            <a:r>
              <a:rPr lang="en-US" sz="1800" dirty="0"/>
              <a:t>detection (anomaly, fraud, crime, terrorism, climate change, etc.)</a:t>
            </a:r>
            <a:endParaRPr sz="1800" dirty="0"/>
          </a:p>
          <a:p>
            <a:pPr marL="285750" lvl="0" indent="-285750" algn="l" rtl="0">
              <a:spcBef>
                <a:spcPts val="0"/>
              </a:spcBef>
              <a:spcAft>
                <a:spcPts val="0"/>
              </a:spcAft>
              <a:buFont typeface="Arial" panose="020B0604020202020204" pitchFamily="34" charset="0"/>
              <a:buChar char="•"/>
            </a:pPr>
            <a:r>
              <a:rPr lang="en-US" sz="1800" dirty="0"/>
              <a:t>self-driving cars (planes, boats, drones, construction/rescue machines, etc.)</a:t>
            </a:r>
            <a:endParaRPr sz="1800" dirty="0"/>
          </a:p>
          <a:p>
            <a:pPr marL="285750" lvl="0" indent="-285750" algn="l" rtl="0">
              <a:spcBef>
                <a:spcPts val="0"/>
              </a:spcBef>
              <a:spcAft>
                <a:spcPts val="0"/>
              </a:spcAft>
              <a:buFont typeface="Arial" panose="020B0604020202020204" pitchFamily="34" charset="0"/>
              <a:buChar char="•"/>
            </a:pPr>
            <a:r>
              <a:rPr lang="en-US" sz="1800" dirty="0"/>
              <a:t>robots (at home &amp; at work), </a:t>
            </a:r>
            <a:r>
              <a:rPr lang="en-US" sz="1800" dirty="0">
                <a:solidFill>
                  <a:schemeClr val="dk1"/>
                </a:solidFill>
              </a:rPr>
              <a:t>manufacturing robots</a:t>
            </a:r>
            <a:endParaRPr sz="1800" dirty="0"/>
          </a:p>
          <a:p>
            <a:pPr marL="285750" lvl="0" indent="-285750" algn="l" rtl="0">
              <a:spcBef>
                <a:spcPts val="0"/>
              </a:spcBef>
              <a:spcAft>
                <a:spcPts val="0"/>
              </a:spcAft>
              <a:buFont typeface="Arial" panose="020B0604020202020204" pitchFamily="34" charset="0"/>
              <a:buChar char="•"/>
            </a:pPr>
            <a:r>
              <a:rPr lang="en-US" sz="1800" dirty="0"/>
              <a:t>universal language translator, language understanding, concepts learning</a:t>
            </a:r>
            <a:endParaRPr sz="1800" dirty="0"/>
          </a:p>
          <a:p>
            <a:pPr marL="285750" lvl="0" indent="-285750" algn="l" rtl="0">
              <a:spcBef>
                <a:spcPts val="0"/>
              </a:spcBef>
              <a:spcAft>
                <a:spcPts val="0"/>
              </a:spcAft>
              <a:buFont typeface="Arial" panose="020B0604020202020204" pitchFamily="34" charset="0"/>
              <a:buChar char="•"/>
            </a:pPr>
            <a:r>
              <a:rPr lang="en-US" sz="1800" dirty="0"/>
              <a:t>music &amp;  literature composition, games and math.</a:t>
            </a:r>
            <a:endParaRPr sz="1800" dirty="0"/>
          </a:p>
          <a:p>
            <a:pPr marL="285750" lvl="0" indent="-285750" algn="l" rtl="0">
              <a:spcBef>
                <a:spcPts val="0"/>
              </a:spcBef>
              <a:spcAft>
                <a:spcPts val="0"/>
              </a:spcAft>
              <a:buFont typeface="Arial" panose="020B0604020202020204" pitchFamily="34" charset="0"/>
              <a:buChar char="•"/>
            </a:pPr>
            <a:r>
              <a:rPr lang="en-US" sz="1800" dirty="0"/>
              <a:t>medical diagnostics (using genomic, phenotypic, social, etc. data), surgery</a:t>
            </a:r>
            <a:endParaRPr sz="1800" dirty="0"/>
          </a:p>
          <a:p>
            <a:pPr marL="285750" lvl="0" indent="-285750" algn="l" rtl="0">
              <a:spcBef>
                <a:spcPts val="0"/>
              </a:spcBef>
              <a:spcAft>
                <a:spcPts val="0"/>
              </a:spcAft>
              <a:buFont typeface="Arial" panose="020B0604020202020204" pitchFamily="34" charset="0"/>
              <a:buChar char="•"/>
            </a:pPr>
            <a:r>
              <a:rPr lang="en-US" sz="1800" dirty="0"/>
              <a:t>intelligent secretary/helper, process management, t</a:t>
            </a:r>
            <a:r>
              <a:rPr lang="en-US" sz="1800" dirty="0">
                <a:solidFill>
                  <a:schemeClr val="dk1"/>
                </a:solidFill>
              </a:rPr>
              <a:t>raffic management</a:t>
            </a:r>
            <a:endParaRPr sz="1800" dirty="0"/>
          </a:p>
          <a:p>
            <a:pPr marL="285750" lvl="0" indent="-285750" algn="l" rtl="0">
              <a:spcBef>
                <a:spcPts val="0"/>
              </a:spcBef>
              <a:spcAft>
                <a:spcPts val="0"/>
              </a:spcAft>
              <a:buFont typeface="Arial" panose="020B0604020202020204" pitchFamily="34" charset="0"/>
              <a:buChar char="•"/>
            </a:pPr>
            <a:r>
              <a:rPr lang="en-US" sz="1800" dirty="0"/>
              <a:t>agriculture (pooling weeds, watering, etc.)</a:t>
            </a:r>
            <a:endParaRPr sz="1800" dirty="0"/>
          </a:p>
          <a:p>
            <a:pPr marL="285750" lvl="0" indent="-285750" algn="l" rtl="0">
              <a:spcBef>
                <a:spcPts val="0"/>
              </a:spcBef>
              <a:spcAft>
                <a:spcPts val="0"/>
              </a:spcAft>
              <a:buFont typeface="Arial" panose="020B0604020202020204" pitchFamily="34" charset="0"/>
              <a:buChar char="•"/>
            </a:pPr>
            <a:r>
              <a:rPr lang="en-US" sz="1800" dirty="0"/>
              <a:t>toys, military</a:t>
            </a:r>
            <a:endParaRPr sz="1800" dirty="0"/>
          </a:p>
          <a:p>
            <a:pPr marL="285750" lvl="0" indent="-285750" algn="l" rtl="0">
              <a:spcBef>
                <a:spcPts val="0"/>
              </a:spcBef>
              <a:spcAft>
                <a:spcPts val="0"/>
              </a:spcAft>
              <a:buFont typeface="Arial" panose="020B0604020202020204" pitchFamily="34" charset="0"/>
              <a:buChar char="•"/>
            </a:pPr>
            <a:r>
              <a:rPr lang="en-US" sz="1800" dirty="0"/>
              <a:t>combining AI with Virtual Reality and 3D printing</a:t>
            </a:r>
            <a:endParaRPr sz="1800" dirty="0"/>
          </a:p>
          <a:p>
            <a:pPr marL="285750" lvl="0" indent="-285750" algn="l" rtl="0">
              <a:spcBef>
                <a:spcPts val="0"/>
              </a:spcBef>
              <a:spcAft>
                <a:spcPts val="0"/>
              </a:spcAft>
              <a:buFont typeface="Arial" panose="020B0604020202020204" pitchFamily="34" charset="0"/>
              <a:buChar char="•"/>
            </a:pPr>
            <a:r>
              <a:rPr lang="en-US" sz="1800" dirty="0"/>
              <a:t>effective direct interface with human brain</a:t>
            </a:r>
          </a:p>
          <a:p>
            <a:pPr marL="285750" lvl="0" indent="-285750" algn="l" rtl="0">
              <a:spcBef>
                <a:spcPts val="0"/>
              </a:spcBef>
              <a:spcAft>
                <a:spcPts val="0"/>
              </a:spcAft>
              <a:buFont typeface="Arial" panose="020B0604020202020204" pitchFamily="34" charset="0"/>
              <a:buChar char="•"/>
            </a:pPr>
            <a:r>
              <a:rPr lang="en-US" sz="1800" dirty="0"/>
              <a:t>etc. etc. etc.</a:t>
            </a:r>
            <a:endParaRPr sz="1800" dirty="0"/>
          </a:p>
        </p:txBody>
      </p:sp>
      <p:sp>
        <p:nvSpPr>
          <p:cNvPr id="5" name="Google Shape;140;p20">
            <a:extLst>
              <a:ext uri="{FF2B5EF4-FFF2-40B4-BE49-F238E27FC236}">
                <a16:creationId xmlns:a16="http://schemas.microsoft.com/office/drawing/2014/main" id="{415A9191-F14B-8648-B0A8-EB10013B9142}"/>
              </a:ext>
            </a:extLst>
          </p:cNvPr>
          <p:cNvSpPr txBox="1"/>
          <p:nvPr/>
        </p:nvSpPr>
        <p:spPr>
          <a:xfrm>
            <a:off x="106350" y="22949"/>
            <a:ext cx="7924467" cy="1328773"/>
          </a:xfrm>
          <a:prstGeom prst="rect">
            <a:avLst/>
          </a:prstGeom>
          <a:noFill/>
          <a:ln>
            <a:noFill/>
          </a:ln>
        </p:spPr>
        <p:txBody>
          <a:bodyPr spcFirstLastPara="1" wrap="square" lIns="91425" tIns="91425" rIns="91425" bIns="91425" anchor="t" anchorCtr="0">
            <a:noAutofit/>
          </a:bodyPr>
          <a:lstStyle/>
          <a:p>
            <a:r>
              <a:rPr lang="en-US" sz="2800" b="1" dirty="0"/>
              <a:t>Where and How ML &amp; AI are used ?</a:t>
            </a:r>
          </a:p>
          <a:p>
            <a:pPr marL="0" lvl="0" indent="0" algn="l" rtl="0">
              <a:spcBef>
                <a:spcPts val="0"/>
              </a:spcBef>
              <a:spcAft>
                <a:spcPts val="0"/>
              </a:spcAft>
              <a:buNone/>
            </a:pPr>
            <a:endParaRPr lang="en-US" b="1" dirty="0"/>
          </a:p>
          <a:p>
            <a:pPr marL="0" lvl="0" indent="0" algn="l" rtl="0">
              <a:spcBef>
                <a:spcPts val="0"/>
              </a:spcBef>
              <a:spcAft>
                <a:spcPts val="0"/>
              </a:spcAft>
              <a:buNone/>
            </a:pPr>
            <a:r>
              <a:rPr lang="en-US" sz="1800" b="1" dirty="0"/>
              <a:t>ML = Machine Learning</a:t>
            </a:r>
          </a:p>
          <a:p>
            <a:pPr marL="0" lvl="0" indent="0" algn="l" rtl="0">
              <a:spcBef>
                <a:spcPts val="0"/>
              </a:spcBef>
              <a:spcAft>
                <a:spcPts val="0"/>
              </a:spcAft>
              <a:buNone/>
            </a:pPr>
            <a:r>
              <a:rPr lang="en-US" sz="1800" b="1" dirty="0"/>
              <a:t>AI = Artificial Intelligence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4" name="Oval 3">
            <a:extLst>
              <a:ext uri="{FF2B5EF4-FFF2-40B4-BE49-F238E27FC236}">
                <a16:creationId xmlns:a16="http://schemas.microsoft.com/office/drawing/2014/main" id="{1A506817-8F3A-764F-8957-FFDD73B758C0}"/>
              </a:ext>
            </a:extLst>
          </p:cNvPr>
          <p:cNvSpPr/>
          <p:nvPr/>
        </p:nvSpPr>
        <p:spPr>
          <a:xfrm>
            <a:off x="9824213" y="942893"/>
            <a:ext cx="1440774" cy="1703949"/>
          </a:xfrm>
          <a:prstGeom prst="ellipse">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5" name="Oval 4">
            <a:extLst>
              <a:ext uri="{FF2B5EF4-FFF2-40B4-BE49-F238E27FC236}">
                <a16:creationId xmlns:a16="http://schemas.microsoft.com/office/drawing/2014/main" id="{099AA505-BC95-DA48-A91A-5F9BA089F1E0}"/>
              </a:ext>
            </a:extLst>
          </p:cNvPr>
          <p:cNvSpPr/>
          <p:nvPr/>
        </p:nvSpPr>
        <p:spPr>
          <a:xfrm>
            <a:off x="8514412" y="3473727"/>
            <a:ext cx="2283385" cy="2738552"/>
          </a:xfrm>
          <a:prstGeom prst="ellipse">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6" name="Oval 5">
            <a:extLst>
              <a:ext uri="{FF2B5EF4-FFF2-40B4-BE49-F238E27FC236}">
                <a16:creationId xmlns:a16="http://schemas.microsoft.com/office/drawing/2014/main" id="{B4A6F4BC-8CDD-7548-8717-2B3B4817861A}"/>
              </a:ext>
            </a:extLst>
          </p:cNvPr>
          <p:cNvSpPr/>
          <p:nvPr/>
        </p:nvSpPr>
        <p:spPr>
          <a:xfrm>
            <a:off x="9929143" y="4508288"/>
            <a:ext cx="2003584" cy="1806385"/>
          </a:xfrm>
          <a:prstGeom prst="ellipse">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7" name="Oval 6">
            <a:extLst>
              <a:ext uri="{FF2B5EF4-FFF2-40B4-BE49-F238E27FC236}">
                <a16:creationId xmlns:a16="http://schemas.microsoft.com/office/drawing/2014/main" id="{B149D874-34D3-D64C-BA5F-801D6DA07BD5}"/>
              </a:ext>
            </a:extLst>
          </p:cNvPr>
          <p:cNvSpPr/>
          <p:nvPr/>
        </p:nvSpPr>
        <p:spPr>
          <a:xfrm>
            <a:off x="10048503" y="2364219"/>
            <a:ext cx="2003584" cy="2738552"/>
          </a:xfrm>
          <a:prstGeom prst="ellipse">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8" name="Oval 7">
            <a:extLst>
              <a:ext uri="{FF2B5EF4-FFF2-40B4-BE49-F238E27FC236}">
                <a16:creationId xmlns:a16="http://schemas.microsoft.com/office/drawing/2014/main" id="{873633B3-6B76-5342-B44A-664B918EF35E}"/>
              </a:ext>
            </a:extLst>
          </p:cNvPr>
          <p:cNvSpPr/>
          <p:nvPr/>
        </p:nvSpPr>
        <p:spPr>
          <a:xfrm>
            <a:off x="7728296" y="3747152"/>
            <a:ext cx="2344635" cy="1980210"/>
          </a:xfrm>
          <a:prstGeom prst="ellipse">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9" name="Oval 8">
            <a:extLst>
              <a:ext uri="{FF2B5EF4-FFF2-40B4-BE49-F238E27FC236}">
                <a16:creationId xmlns:a16="http://schemas.microsoft.com/office/drawing/2014/main" id="{FD9E4132-9294-784D-8C8F-7811D9C83355}"/>
              </a:ext>
            </a:extLst>
          </p:cNvPr>
          <p:cNvSpPr/>
          <p:nvPr/>
        </p:nvSpPr>
        <p:spPr>
          <a:xfrm>
            <a:off x="7859639" y="2413051"/>
            <a:ext cx="2248583" cy="2085480"/>
          </a:xfrm>
          <a:prstGeom prst="ellipse">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0" name="Oval 9">
            <a:extLst>
              <a:ext uri="{FF2B5EF4-FFF2-40B4-BE49-F238E27FC236}">
                <a16:creationId xmlns:a16="http://schemas.microsoft.com/office/drawing/2014/main" id="{84EF39CC-5305-DB4F-8826-9B8F601982C7}"/>
              </a:ext>
            </a:extLst>
          </p:cNvPr>
          <p:cNvSpPr/>
          <p:nvPr/>
        </p:nvSpPr>
        <p:spPr>
          <a:xfrm>
            <a:off x="8160245" y="1184220"/>
            <a:ext cx="3836235" cy="2716403"/>
          </a:xfrm>
          <a:prstGeom prst="ellipse">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1" name="Title 1">
            <a:extLst>
              <a:ext uri="{FF2B5EF4-FFF2-40B4-BE49-F238E27FC236}">
                <a16:creationId xmlns:a16="http://schemas.microsoft.com/office/drawing/2014/main" id="{02670FBF-EBC1-9640-8164-D09B0718EB5F}"/>
              </a:ext>
            </a:extLst>
          </p:cNvPr>
          <p:cNvSpPr txBox="1">
            <a:spLocks/>
          </p:cNvSpPr>
          <p:nvPr/>
        </p:nvSpPr>
        <p:spPr>
          <a:xfrm>
            <a:off x="538347" y="60740"/>
            <a:ext cx="11348852" cy="642646"/>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t>AI  in  Context</a:t>
            </a:r>
            <a:endParaRPr lang="en-US" dirty="0"/>
          </a:p>
        </p:txBody>
      </p:sp>
      <p:sp>
        <p:nvSpPr>
          <p:cNvPr id="12" name="TextBox 11">
            <a:extLst>
              <a:ext uri="{FF2B5EF4-FFF2-40B4-BE49-F238E27FC236}">
                <a16:creationId xmlns:a16="http://schemas.microsoft.com/office/drawing/2014/main" id="{ED0FDC23-75E2-8D47-A485-AEE4AF7CD4F2}"/>
              </a:ext>
            </a:extLst>
          </p:cNvPr>
          <p:cNvSpPr txBox="1"/>
          <p:nvPr/>
        </p:nvSpPr>
        <p:spPr>
          <a:xfrm>
            <a:off x="2249689" y="1127266"/>
            <a:ext cx="3586336" cy="4524315"/>
          </a:xfrm>
          <a:prstGeom prst="rect">
            <a:avLst/>
          </a:prstGeom>
          <a:noFill/>
        </p:spPr>
        <p:txBody>
          <a:bodyPr wrap="square" rtlCol="0">
            <a:spAutoFit/>
          </a:bodyPr>
          <a:lstStyle/>
          <a:p>
            <a:r>
              <a:rPr lang="en-US" sz="1600" b="1" dirty="0">
                <a:solidFill>
                  <a:schemeClr val="accent1"/>
                </a:solidFill>
              </a:rPr>
              <a:t>Artificial Intelligence (AI)</a:t>
            </a:r>
          </a:p>
          <a:p>
            <a:r>
              <a:rPr lang="en-US" sz="1600" dirty="0"/>
              <a:t>ML performing “human” functions</a:t>
            </a:r>
          </a:p>
          <a:p>
            <a:endParaRPr lang="en-US" sz="1600" dirty="0"/>
          </a:p>
          <a:p>
            <a:endParaRPr lang="en-US" sz="1600" dirty="0"/>
          </a:p>
          <a:p>
            <a:endParaRPr lang="en-US" sz="1600" dirty="0"/>
          </a:p>
          <a:p>
            <a:r>
              <a:rPr lang="en-US" sz="1600" b="1" dirty="0">
                <a:solidFill>
                  <a:schemeClr val="accent1"/>
                </a:solidFill>
              </a:rPr>
              <a:t>Deep Learning (DL)</a:t>
            </a:r>
          </a:p>
          <a:p>
            <a:r>
              <a:rPr lang="en-US" sz="1600" dirty="0"/>
              <a:t>ML implemented using multi-layered </a:t>
            </a:r>
          </a:p>
          <a:p>
            <a:r>
              <a:rPr lang="en-US" sz="1600" dirty="0"/>
              <a:t>structure (Neural Network)</a:t>
            </a:r>
            <a:br>
              <a:rPr lang="en-US" sz="1600" dirty="0"/>
            </a:br>
            <a:endParaRPr lang="en-US" sz="1600" dirty="0"/>
          </a:p>
          <a:p>
            <a:endParaRPr lang="en-US" sz="1600" dirty="0"/>
          </a:p>
          <a:p>
            <a:endParaRPr lang="en-US" sz="1600" dirty="0"/>
          </a:p>
          <a:p>
            <a:r>
              <a:rPr lang="en-US" sz="1600" b="1" dirty="0">
                <a:solidFill>
                  <a:schemeClr val="accent1"/>
                </a:solidFill>
              </a:rPr>
              <a:t>Machine Learning (ML)</a:t>
            </a:r>
          </a:p>
          <a:p>
            <a:r>
              <a:rPr lang="en-US" sz="1600" dirty="0"/>
              <a:t>DS algorithm learns from data</a:t>
            </a:r>
          </a:p>
          <a:p>
            <a:endParaRPr lang="en-US" sz="1600" dirty="0"/>
          </a:p>
          <a:p>
            <a:endParaRPr lang="en-US" sz="1600" dirty="0"/>
          </a:p>
          <a:p>
            <a:endParaRPr lang="en-US" sz="1600" dirty="0"/>
          </a:p>
          <a:p>
            <a:r>
              <a:rPr lang="en-US" sz="1600" b="1" dirty="0">
                <a:solidFill>
                  <a:schemeClr val="accent1"/>
                </a:solidFill>
              </a:rPr>
              <a:t>Data Science (DS) </a:t>
            </a:r>
          </a:p>
          <a:p>
            <a:r>
              <a:rPr lang="en-US" sz="1600" dirty="0"/>
              <a:t>data + computer/statistics</a:t>
            </a:r>
          </a:p>
        </p:txBody>
      </p:sp>
      <p:sp>
        <p:nvSpPr>
          <p:cNvPr id="13" name="Down Arrow 12">
            <a:extLst>
              <a:ext uri="{FF2B5EF4-FFF2-40B4-BE49-F238E27FC236}">
                <a16:creationId xmlns:a16="http://schemas.microsoft.com/office/drawing/2014/main" id="{79870A32-C273-A34C-9779-CBE06692280C}"/>
              </a:ext>
            </a:extLst>
          </p:cNvPr>
          <p:cNvSpPr/>
          <p:nvPr/>
        </p:nvSpPr>
        <p:spPr>
          <a:xfrm flipV="1">
            <a:off x="285106" y="1109272"/>
            <a:ext cx="374461" cy="4493164"/>
          </a:xfrm>
          <a:prstGeom prst="downArrow">
            <a:avLst/>
          </a:prstGeom>
          <a:solidFill>
            <a:srgbClr val="084CB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B2167CD0-97DD-C04D-B54F-8DD18EF1B37D}"/>
              </a:ext>
            </a:extLst>
          </p:cNvPr>
          <p:cNvSpPr txBox="1"/>
          <p:nvPr/>
        </p:nvSpPr>
        <p:spPr>
          <a:xfrm>
            <a:off x="0" y="5602436"/>
            <a:ext cx="1049311" cy="584775"/>
          </a:xfrm>
          <a:prstGeom prst="rect">
            <a:avLst/>
          </a:prstGeom>
          <a:noFill/>
        </p:spPr>
        <p:txBody>
          <a:bodyPr wrap="square" rtlCol="0">
            <a:spAutoFit/>
          </a:bodyPr>
          <a:lstStyle/>
          <a:p>
            <a:pPr algn="ctr"/>
            <a:r>
              <a:rPr lang="en-US" sz="1600" b="1" dirty="0">
                <a:solidFill>
                  <a:schemeClr val="accent1"/>
                </a:solidFill>
              </a:rPr>
              <a:t>Amount</a:t>
            </a:r>
            <a:br>
              <a:rPr lang="en-US" sz="1600" b="1" dirty="0">
                <a:solidFill>
                  <a:schemeClr val="accent1"/>
                </a:solidFill>
              </a:rPr>
            </a:br>
            <a:r>
              <a:rPr lang="en-US" sz="1600" b="1" dirty="0">
                <a:solidFill>
                  <a:schemeClr val="accent1"/>
                </a:solidFill>
              </a:rPr>
              <a:t>of data</a:t>
            </a:r>
          </a:p>
        </p:txBody>
      </p:sp>
      <p:sp>
        <p:nvSpPr>
          <p:cNvPr id="15" name="Down Arrow 14">
            <a:extLst>
              <a:ext uri="{FF2B5EF4-FFF2-40B4-BE49-F238E27FC236}">
                <a16:creationId xmlns:a16="http://schemas.microsoft.com/office/drawing/2014/main" id="{0A9AA925-E036-4640-91E1-D8676C26B233}"/>
              </a:ext>
            </a:extLst>
          </p:cNvPr>
          <p:cNvSpPr/>
          <p:nvPr/>
        </p:nvSpPr>
        <p:spPr>
          <a:xfrm flipV="1">
            <a:off x="1366903" y="1109272"/>
            <a:ext cx="371964" cy="4493164"/>
          </a:xfrm>
          <a:prstGeom prst="downArrow">
            <a:avLst/>
          </a:prstGeom>
          <a:solidFill>
            <a:srgbClr val="FF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2568A266-E2DE-6244-8E1D-538FD0B42D9E}"/>
              </a:ext>
            </a:extLst>
          </p:cNvPr>
          <p:cNvSpPr txBox="1"/>
          <p:nvPr/>
        </p:nvSpPr>
        <p:spPr>
          <a:xfrm>
            <a:off x="939368" y="5602436"/>
            <a:ext cx="1315780" cy="584775"/>
          </a:xfrm>
          <a:prstGeom prst="rect">
            <a:avLst/>
          </a:prstGeom>
          <a:noFill/>
        </p:spPr>
        <p:txBody>
          <a:bodyPr wrap="square" rtlCol="0">
            <a:spAutoFit/>
          </a:bodyPr>
          <a:lstStyle/>
          <a:p>
            <a:pPr algn="ctr"/>
            <a:r>
              <a:rPr lang="en-US" sz="1600" b="1" dirty="0">
                <a:solidFill>
                  <a:srgbClr val="FF0000"/>
                </a:solidFill>
              </a:rPr>
              <a:t>Compute</a:t>
            </a:r>
            <a:br>
              <a:rPr lang="en-US" sz="1600" b="1" dirty="0">
                <a:solidFill>
                  <a:srgbClr val="FF0000"/>
                </a:solidFill>
              </a:rPr>
            </a:br>
            <a:r>
              <a:rPr lang="en-US" sz="1600" b="1" dirty="0">
                <a:solidFill>
                  <a:srgbClr val="FF0000"/>
                </a:solidFill>
              </a:rPr>
              <a:t>Speed</a:t>
            </a:r>
          </a:p>
        </p:txBody>
      </p:sp>
      <p:sp>
        <p:nvSpPr>
          <p:cNvPr id="17" name="TextBox 16">
            <a:extLst>
              <a:ext uri="{FF2B5EF4-FFF2-40B4-BE49-F238E27FC236}">
                <a16:creationId xmlns:a16="http://schemas.microsoft.com/office/drawing/2014/main" id="{C0A5F0D2-7D12-8745-B815-A0E30B38F95A}"/>
              </a:ext>
            </a:extLst>
          </p:cNvPr>
          <p:cNvSpPr txBox="1"/>
          <p:nvPr/>
        </p:nvSpPr>
        <p:spPr>
          <a:xfrm>
            <a:off x="5759023" y="1066850"/>
            <a:ext cx="2549433" cy="4031873"/>
          </a:xfrm>
          <a:prstGeom prst="rect">
            <a:avLst/>
          </a:prstGeom>
          <a:noFill/>
        </p:spPr>
        <p:txBody>
          <a:bodyPr wrap="square" rtlCol="0">
            <a:spAutoFit/>
          </a:bodyPr>
          <a:lstStyle/>
          <a:p>
            <a:r>
              <a:rPr lang="en-US" sz="1600" b="1" dirty="0">
                <a:solidFill>
                  <a:schemeClr val="accent1"/>
                </a:solidFill>
              </a:rPr>
              <a:t>Reinforcement</a:t>
            </a:r>
            <a:br>
              <a:rPr lang="en-US" sz="1600" b="1" dirty="0">
                <a:solidFill>
                  <a:schemeClr val="accent1"/>
                </a:solidFill>
              </a:rPr>
            </a:br>
            <a:r>
              <a:rPr lang="en-US" sz="1600" b="1" dirty="0">
                <a:solidFill>
                  <a:schemeClr val="accent1"/>
                </a:solidFill>
              </a:rPr>
              <a:t>Learning</a:t>
            </a:r>
          </a:p>
          <a:p>
            <a:r>
              <a:rPr lang="en-US" sz="1600" dirty="0">
                <a:solidFill>
                  <a:srgbClr val="000000"/>
                </a:solidFill>
              </a:rPr>
              <a:t>alpha-Go</a:t>
            </a:r>
          </a:p>
          <a:p>
            <a:endParaRPr lang="en-US" sz="1600" dirty="0"/>
          </a:p>
          <a:p>
            <a:endParaRPr lang="en-US" sz="1600" dirty="0"/>
          </a:p>
          <a:p>
            <a:endParaRPr lang="en-US" sz="1600" dirty="0"/>
          </a:p>
          <a:p>
            <a:r>
              <a:rPr lang="en-US" sz="1600" b="1" dirty="0">
                <a:solidFill>
                  <a:schemeClr val="accent1"/>
                </a:solidFill>
              </a:rPr>
              <a:t>Unsupervised </a:t>
            </a:r>
            <a:br>
              <a:rPr lang="en-US" sz="1600" b="1" dirty="0">
                <a:solidFill>
                  <a:schemeClr val="accent1"/>
                </a:solidFill>
              </a:rPr>
            </a:br>
            <a:r>
              <a:rPr lang="en-US" sz="1600" b="1" dirty="0">
                <a:solidFill>
                  <a:schemeClr val="accent1"/>
                </a:solidFill>
              </a:rPr>
              <a:t>Learning</a:t>
            </a:r>
          </a:p>
          <a:p>
            <a:r>
              <a:rPr lang="en-US" sz="1600" dirty="0">
                <a:solidFill>
                  <a:srgbClr val="000000"/>
                </a:solidFill>
              </a:rPr>
              <a:t>no labels,</a:t>
            </a:r>
            <a:br>
              <a:rPr lang="en-US" sz="1600" dirty="0">
                <a:solidFill>
                  <a:srgbClr val="000000"/>
                </a:solidFill>
              </a:rPr>
            </a:br>
            <a:r>
              <a:rPr lang="en-US" sz="1600" dirty="0">
                <a:solidFill>
                  <a:srgbClr val="000000"/>
                </a:solidFill>
              </a:rPr>
              <a:t>Google Translate</a:t>
            </a:r>
          </a:p>
          <a:p>
            <a:endParaRPr lang="en-US" sz="1600" dirty="0"/>
          </a:p>
          <a:p>
            <a:endParaRPr lang="en-US" sz="1600" dirty="0"/>
          </a:p>
          <a:p>
            <a:endParaRPr lang="en-US" sz="1600" dirty="0"/>
          </a:p>
          <a:p>
            <a:r>
              <a:rPr lang="en-US" sz="1600" b="1" dirty="0">
                <a:solidFill>
                  <a:schemeClr val="accent1"/>
                </a:solidFill>
              </a:rPr>
              <a:t>Supervised </a:t>
            </a:r>
            <a:br>
              <a:rPr lang="en-US" sz="1600" b="1" dirty="0">
                <a:solidFill>
                  <a:schemeClr val="accent1"/>
                </a:solidFill>
              </a:rPr>
            </a:br>
            <a:r>
              <a:rPr lang="en-US" sz="1600" b="1" dirty="0">
                <a:solidFill>
                  <a:schemeClr val="accent1"/>
                </a:solidFill>
              </a:rPr>
              <a:t>Learning</a:t>
            </a:r>
          </a:p>
          <a:p>
            <a:r>
              <a:rPr lang="en-US" sz="1600" dirty="0">
                <a:solidFill>
                  <a:srgbClr val="000000"/>
                </a:solidFill>
              </a:rPr>
              <a:t>labeled data</a:t>
            </a:r>
          </a:p>
        </p:txBody>
      </p:sp>
      <p:sp>
        <p:nvSpPr>
          <p:cNvPr id="18" name="TextBox 17">
            <a:extLst>
              <a:ext uri="{FF2B5EF4-FFF2-40B4-BE49-F238E27FC236}">
                <a16:creationId xmlns:a16="http://schemas.microsoft.com/office/drawing/2014/main" id="{C6BBB060-5A63-124E-8C7F-A7791C6DFE8F}"/>
              </a:ext>
            </a:extLst>
          </p:cNvPr>
          <p:cNvSpPr txBox="1"/>
          <p:nvPr/>
        </p:nvSpPr>
        <p:spPr>
          <a:xfrm>
            <a:off x="8564771" y="1365251"/>
            <a:ext cx="3023484" cy="1077218"/>
          </a:xfrm>
          <a:prstGeom prst="rect">
            <a:avLst/>
          </a:prstGeom>
          <a:noFill/>
        </p:spPr>
        <p:txBody>
          <a:bodyPr wrap="square" rtlCol="0">
            <a:spAutoFit/>
          </a:bodyPr>
          <a:lstStyle/>
          <a:p>
            <a:pPr algn="ctr"/>
            <a:r>
              <a:rPr lang="en-US" sz="1600" dirty="0"/>
              <a:t>Reasoning,</a:t>
            </a:r>
          </a:p>
          <a:p>
            <a:pPr algn="ctr"/>
            <a:r>
              <a:rPr lang="en-US" sz="1600" dirty="0"/>
              <a:t>Inductive &amp; Deductive Logic,</a:t>
            </a:r>
          </a:p>
          <a:p>
            <a:pPr algn="ctr"/>
            <a:r>
              <a:rPr lang="en-US" sz="1600" dirty="0"/>
              <a:t>Knowledge Representation,</a:t>
            </a:r>
          </a:p>
          <a:p>
            <a:pPr algn="ctr"/>
            <a:r>
              <a:rPr lang="en-US" sz="1600" dirty="0"/>
              <a:t>Ontology</a:t>
            </a:r>
          </a:p>
        </p:txBody>
      </p:sp>
      <p:sp>
        <p:nvSpPr>
          <p:cNvPr id="19" name="TextBox 18">
            <a:extLst>
              <a:ext uri="{FF2B5EF4-FFF2-40B4-BE49-F238E27FC236}">
                <a16:creationId xmlns:a16="http://schemas.microsoft.com/office/drawing/2014/main" id="{CB859578-30C8-7942-A617-1BDA09495A2B}"/>
              </a:ext>
            </a:extLst>
          </p:cNvPr>
          <p:cNvSpPr txBox="1"/>
          <p:nvPr/>
        </p:nvSpPr>
        <p:spPr>
          <a:xfrm>
            <a:off x="10663727" y="5220707"/>
            <a:ext cx="1076182" cy="584775"/>
          </a:xfrm>
          <a:prstGeom prst="rect">
            <a:avLst/>
          </a:prstGeom>
          <a:noFill/>
        </p:spPr>
        <p:txBody>
          <a:bodyPr wrap="square" rtlCol="0">
            <a:spAutoFit/>
          </a:bodyPr>
          <a:lstStyle/>
          <a:p>
            <a:r>
              <a:rPr lang="en-US" sz="1600" dirty="0"/>
              <a:t>Vision,</a:t>
            </a:r>
          </a:p>
          <a:p>
            <a:r>
              <a:rPr lang="en-US" sz="1600" dirty="0"/>
              <a:t>Robotics</a:t>
            </a:r>
          </a:p>
        </p:txBody>
      </p:sp>
      <p:sp>
        <p:nvSpPr>
          <p:cNvPr id="20" name="TextBox 19">
            <a:extLst>
              <a:ext uri="{FF2B5EF4-FFF2-40B4-BE49-F238E27FC236}">
                <a16:creationId xmlns:a16="http://schemas.microsoft.com/office/drawing/2014/main" id="{E7EDF6FF-A76E-C24D-B887-2D4B7FE5148B}"/>
              </a:ext>
            </a:extLst>
          </p:cNvPr>
          <p:cNvSpPr txBox="1"/>
          <p:nvPr/>
        </p:nvSpPr>
        <p:spPr>
          <a:xfrm>
            <a:off x="8235307" y="2511409"/>
            <a:ext cx="1633639" cy="830997"/>
          </a:xfrm>
          <a:prstGeom prst="rect">
            <a:avLst/>
          </a:prstGeom>
          <a:noFill/>
        </p:spPr>
        <p:txBody>
          <a:bodyPr wrap="square" rtlCol="0">
            <a:spAutoFit/>
          </a:bodyPr>
          <a:lstStyle/>
          <a:p>
            <a:r>
              <a:rPr lang="en-US" sz="1600" dirty="0"/>
              <a:t>NLP,</a:t>
            </a:r>
          </a:p>
          <a:p>
            <a:r>
              <a:rPr lang="en-US" sz="1600" dirty="0"/>
              <a:t>Extracting Data from Text</a:t>
            </a:r>
          </a:p>
        </p:txBody>
      </p:sp>
      <p:sp>
        <p:nvSpPr>
          <p:cNvPr id="21" name="TextBox 20">
            <a:extLst>
              <a:ext uri="{FF2B5EF4-FFF2-40B4-BE49-F238E27FC236}">
                <a16:creationId xmlns:a16="http://schemas.microsoft.com/office/drawing/2014/main" id="{FBA00C0D-5432-314A-993C-4F17E55C8A3E}"/>
              </a:ext>
            </a:extLst>
          </p:cNvPr>
          <p:cNvSpPr txBox="1"/>
          <p:nvPr/>
        </p:nvSpPr>
        <p:spPr>
          <a:xfrm>
            <a:off x="10088459" y="4155663"/>
            <a:ext cx="1811831" cy="830997"/>
          </a:xfrm>
          <a:prstGeom prst="rect">
            <a:avLst/>
          </a:prstGeom>
          <a:noFill/>
        </p:spPr>
        <p:txBody>
          <a:bodyPr wrap="square" rtlCol="0">
            <a:spAutoFit/>
          </a:bodyPr>
          <a:lstStyle/>
          <a:p>
            <a:r>
              <a:rPr lang="en-US" sz="1600" dirty="0"/>
              <a:t>Fraud Detection, Security,</a:t>
            </a:r>
          </a:p>
          <a:p>
            <a:r>
              <a:rPr lang="en-US" sz="1600" dirty="0"/>
              <a:t>Risk </a:t>
            </a:r>
            <a:r>
              <a:rPr lang="en-US" sz="1600" dirty="0" err="1"/>
              <a:t>Mgmnt</a:t>
            </a:r>
            <a:endParaRPr lang="en-US" sz="1600" dirty="0"/>
          </a:p>
        </p:txBody>
      </p:sp>
      <p:sp>
        <p:nvSpPr>
          <p:cNvPr id="22" name="Down Arrow 21">
            <a:extLst>
              <a:ext uri="{FF2B5EF4-FFF2-40B4-BE49-F238E27FC236}">
                <a16:creationId xmlns:a16="http://schemas.microsoft.com/office/drawing/2014/main" id="{A9F95A87-EC9F-BC42-A086-20CE4ED842FC}"/>
              </a:ext>
            </a:extLst>
          </p:cNvPr>
          <p:cNvSpPr/>
          <p:nvPr/>
        </p:nvSpPr>
        <p:spPr>
          <a:xfrm flipV="1">
            <a:off x="3353156" y="4499790"/>
            <a:ext cx="374461" cy="481373"/>
          </a:xfrm>
          <a:prstGeom prst="downArrow">
            <a:avLst/>
          </a:prstGeom>
          <a:solidFill>
            <a:srgbClr val="084CB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Down Arrow 22">
            <a:extLst>
              <a:ext uri="{FF2B5EF4-FFF2-40B4-BE49-F238E27FC236}">
                <a16:creationId xmlns:a16="http://schemas.microsoft.com/office/drawing/2014/main" id="{82C9E30F-6369-DC41-BBAE-0500CE2107EF}"/>
              </a:ext>
            </a:extLst>
          </p:cNvPr>
          <p:cNvSpPr/>
          <p:nvPr/>
        </p:nvSpPr>
        <p:spPr>
          <a:xfrm flipV="1">
            <a:off x="3353157" y="3247677"/>
            <a:ext cx="374461" cy="481373"/>
          </a:xfrm>
          <a:prstGeom prst="downArrow">
            <a:avLst/>
          </a:prstGeom>
          <a:solidFill>
            <a:srgbClr val="084CB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Down Arrow 23">
            <a:extLst>
              <a:ext uri="{FF2B5EF4-FFF2-40B4-BE49-F238E27FC236}">
                <a16:creationId xmlns:a16="http://schemas.microsoft.com/office/drawing/2014/main" id="{6D38400B-3825-844A-B166-B3FFAA444969}"/>
              </a:ext>
            </a:extLst>
          </p:cNvPr>
          <p:cNvSpPr/>
          <p:nvPr/>
        </p:nvSpPr>
        <p:spPr>
          <a:xfrm flipV="1">
            <a:off x="3353157" y="1755832"/>
            <a:ext cx="374461" cy="486007"/>
          </a:xfrm>
          <a:prstGeom prst="downArrow">
            <a:avLst/>
          </a:prstGeom>
          <a:solidFill>
            <a:srgbClr val="084CB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Down Arrow 24">
            <a:extLst>
              <a:ext uri="{FF2B5EF4-FFF2-40B4-BE49-F238E27FC236}">
                <a16:creationId xmlns:a16="http://schemas.microsoft.com/office/drawing/2014/main" id="{51277682-D01D-474E-A412-49E7C1627C21}"/>
              </a:ext>
            </a:extLst>
          </p:cNvPr>
          <p:cNvSpPr/>
          <p:nvPr/>
        </p:nvSpPr>
        <p:spPr>
          <a:xfrm flipV="1">
            <a:off x="6248187" y="1968994"/>
            <a:ext cx="374461" cy="447355"/>
          </a:xfrm>
          <a:prstGeom prst="downArrow">
            <a:avLst/>
          </a:prstGeom>
          <a:solidFill>
            <a:srgbClr val="084CB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Box 25">
            <a:extLst>
              <a:ext uri="{FF2B5EF4-FFF2-40B4-BE49-F238E27FC236}">
                <a16:creationId xmlns:a16="http://schemas.microsoft.com/office/drawing/2014/main" id="{EE07EE8D-91A6-924C-93B7-8F689402E953}"/>
              </a:ext>
            </a:extLst>
          </p:cNvPr>
          <p:cNvSpPr txBox="1"/>
          <p:nvPr/>
        </p:nvSpPr>
        <p:spPr>
          <a:xfrm>
            <a:off x="8177074" y="3610615"/>
            <a:ext cx="1716778" cy="1077218"/>
          </a:xfrm>
          <a:prstGeom prst="rect">
            <a:avLst/>
          </a:prstGeom>
          <a:noFill/>
        </p:spPr>
        <p:txBody>
          <a:bodyPr wrap="square" rtlCol="0">
            <a:spAutoFit/>
          </a:bodyPr>
          <a:lstStyle/>
          <a:p>
            <a:r>
              <a:rPr lang="en-US" sz="1600" dirty="0"/>
              <a:t>Forecasting,</a:t>
            </a:r>
          </a:p>
          <a:p>
            <a:r>
              <a:rPr lang="en-US" sz="1600" dirty="0"/>
              <a:t>investments,</a:t>
            </a:r>
          </a:p>
          <a:p>
            <a:r>
              <a:rPr lang="en-US" sz="1600" dirty="0"/>
              <a:t>Resource </a:t>
            </a:r>
            <a:r>
              <a:rPr lang="en-US" sz="1600" dirty="0" err="1"/>
              <a:t>Mgmnt</a:t>
            </a:r>
            <a:endParaRPr lang="en-US" sz="1600" dirty="0"/>
          </a:p>
        </p:txBody>
      </p:sp>
      <p:sp>
        <p:nvSpPr>
          <p:cNvPr id="27" name="TextBox 26">
            <a:extLst>
              <a:ext uri="{FF2B5EF4-FFF2-40B4-BE49-F238E27FC236}">
                <a16:creationId xmlns:a16="http://schemas.microsoft.com/office/drawing/2014/main" id="{AE234D70-D666-6545-BE88-BFDFECBF3BD8}"/>
              </a:ext>
            </a:extLst>
          </p:cNvPr>
          <p:cNvSpPr txBox="1"/>
          <p:nvPr/>
        </p:nvSpPr>
        <p:spPr>
          <a:xfrm>
            <a:off x="10319243" y="2752602"/>
            <a:ext cx="1581047" cy="830997"/>
          </a:xfrm>
          <a:prstGeom prst="rect">
            <a:avLst/>
          </a:prstGeom>
          <a:noFill/>
        </p:spPr>
        <p:txBody>
          <a:bodyPr wrap="square" rtlCol="0">
            <a:spAutoFit/>
          </a:bodyPr>
          <a:lstStyle/>
          <a:p>
            <a:r>
              <a:rPr lang="en-US" sz="1600" dirty="0"/>
              <a:t>Chatbots,</a:t>
            </a:r>
          </a:p>
          <a:p>
            <a:r>
              <a:rPr lang="en-US" sz="1600" dirty="0"/>
              <a:t>Conversational</a:t>
            </a:r>
          </a:p>
          <a:p>
            <a:r>
              <a:rPr lang="en-US" sz="1600" dirty="0"/>
              <a:t>interfaces</a:t>
            </a:r>
          </a:p>
        </p:txBody>
      </p:sp>
      <p:sp>
        <p:nvSpPr>
          <p:cNvPr id="28" name="TextBox 27">
            <a:extLst>
              <a:ext uri="{FF2B5EF4-FFF2-40B4-BE49-F238E27FC236}">
                <a16:creationId xmlns:a16="http://schemas.microsoft.com/office/drawing/2014/main" id="{8CACADB6-85F3-4142-88C8-BDAABD70139C}"/>
              </a:ext>
            </a:extLst>
          </p:cNvPr>
          <p:cNvSpPr txBox="1"/>
          <p:nvPr/>
        </p:nvSpPr>
        <p:spPr>
          <a:xfrm>
            <a:off x="659567" y="2809351"/>
            <a:ext cx="707336" cy="338554"/>
          </a:xfrm>
          <a:prstGeom prst="rect">
            <a:avLst/>
          </a:prstGeom>
          <a:noFill/>
        </p:spPr>
        <p:txBody>
          <a:bodyPr wrap="square" rtlCol="0">
            <a:spAutoFit/>
          </a:bodyPr>
          <a:lstStyle/>
          <a:p>
            <a:r>
              <a:rPr lang="en-US" sz="1600" dirty="0"/>
              <a:t>2010</a:t>
            </a:r>
          </a:p>
        </p:txBody>
      </p:sp>
      <p:sp>
        <p:nvSpPr>
          <p:cNvPr id="29" name="TextBox 28">
            <a:extLst>
              <a:ext uri="{FF2B5EF4-FFF2-40B4-BE49-F238E27FC236}">
                <a16:creationId xmlns:a16="http://schemas.microsoft.com/office/drawing/2014/main" id="{C026EF51-112F-134D-924F-69C64B76C589}"/>
              </a:ext>
            </a:extLst>
          </p:cNvPr>
          <p:cNvSpPr txBox="1"/>
          <p:nvPr/>
        </p:nvSpPr>
        <p:spPr>
          <a:xfrm>
            <a:off x="662067" y="1770036"/>
            <a:ext cx="707336" cy="338554"/>
          </a:xfrm>
          <a:prstGeom prst="rect">
            <a:avLst/>
          </a:prstGeom>
          <a:noFill/>
        </p:spPr>
        <p:txBody>
          <a:bodyPr wrap="square" rtlCol="0">
            <a:spAutoFit/>
          </a:bodyPr>
          <a:lstStyle/>
          <a:p>
            <a:r>
              <a:rPr lang="en-US" sz="1600" dirty="0"/>
              <a:t>2015</a:t>
            </a:r>
          </a:p>
        </p:txBody>
      </p:sp>
      <p:sp>
        <p:nvSpPr>
          <p:cNvPr id="30" name="TextBox 29">
            <a:extLst>
              <a:ext uri="{FF2B5EF4-FFF2-40B4-BE49-F238E27FC236}">
                <a16:creationId xmlns:a16="http://schemas.microsoft.com/office/drawing/2014/main" id="{368C99AF-B021-8941-BBFD-FA40B29D6E96}"/>
              </a:ext>
            </a:extLst>
          </p:cNvPr>
          <p:cNvSpPr txBox="1"/>
          <p:nvPr/>
        </p:nvSpPr>
        <p:spPr>
          <a:xfrm>
            <a:off x="662067" y="4887980"/>
            <a:ext cx="707336" cy="338554"/>
          </a:xfrm>
          <a:prstGeom prst="rect">
            <a:avLst/>
          </a:prstGeom>
          <a:noFill/>
        </p:spPr>
        <p:txBody>
          <a:bodyPr wrap="square" rtlCol="0">
            <a:spAutoFit/>
          </a:bodyPr>
          <a:lstStyle/>
          <a:p>
            <a:r>
              <a:rPr lang="en-US" sz="1600" dirty="0"/>
              <a:t>2000</a:t>
            </a:r>
          </a:p>
        </p:txBody>
      </p:sp>
      <p:sp>
        <p:nvSpPr>
          <p:cNvPr id="31" name="TextBox 30">
            <a:extLst>
              <a:ext uri="{FF2B5EF4-FFF2-40B4-BE49-F238E27FC236}">
                <a16:creationId xmlns:a16="http://schemas.microsoft.com/office/drawing/2014/main" id="{6A747879-EBEC-2C48-8D13-ADB6A783E2E1}"/>
              </a:ext>
            </a:extLst>
          </p:cNvPr>
          <p:cNvSpPr txBox="1"/>
          <p:nvPr/>
        </p:nvSpPr>
        <p:spPr>
          <a:xfrm>
            <a:off x="664567" y="3848666"/>
            <a:ext cx="707336" cy="338554"/>
          </a:xfrm>
          <a:prstGeom prst="rect">
            <a:avLst/>
          </a:prstGeom>
          <a:noFill/>
        </p:spPr>
        <p:txBody>
          <a:bodyPr wrap="square" rtlCol="0">
            <a:spAutoFit/>
          </a:bodyPr>
          <a:lstStyle/>
          <a:p>
            <a:r>
              <a:rPr lang="en-US" sz="1600" dirty="0"/>
              <a:t>2005</a:t>
            </a:r>
          </a:p>
        </p:txBody>
      </p:sp>
      <p:sp>
        <p:nvSpPr>
          <p:cNvPr id="32" name="Down Arrow 31">
            <a:extLst>
              <a:ext uri="{FF2B5EF4-FFF2-40B4-BE49-F238E27FC236}">
                <a16:creationId xmlns:a16="http://schemas.microsoft.com/office/drawing/2014/main" id="{68CDAEC3-F507-0743-A89A-51B99CB02909}"/>
              </a:ext>
            </a:extLst>
          </p:cNvPr>
          <p:cNvSpPr/>
          <p:nvPr/>
        </p:nvSpPr>
        <p:spPr>
          <a:xfrm flipV="1">
            <a:off x="6248187" y="3701166"/>
            <a:ext cx="374461" cy="447355"/>
          </a:xfrm>
          <a:prstGeom prst="downArrow">
            <a:avLst/>
          </a:prstGeom>
          <a:solidFill>
            <a:srgbClr val="084CB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extBox 32">
            <a:extLst>
              <a:ext uri="{FF2B5EF4-FFF2-40B4-BE49-F238E27FC236}">
                <a16:creationId xmlns:a16="http://schemas.microsoft.com/office/drawing/2014/main" id="{6889C4CE-D9BC-864B-BF1D-F5F476B40833}"/>
              </a:ext>
            </a:extLst>
          </p:cNvPr>
          <p:cNvSpPr txBox="1"/>
          <p:nvPr/>
        </p:nvSpPr>
        <p:spPr>
          <a:xfrm>
            <a:off x="8463025" y="4994577"/>
            <a:ext cx="1716778" cy="584775"/>
          </a:xfrm>
          <a:prstGeom prst="rect">
            <a:avLst/>
          </a:prstGeom>
          <a:noFill/>
        </p:spPr>
        <p:txBody>
          <a:bodyPr wrap="square" rtlCol="0">
            <a:spAutoFit/>
          </a:bodyPr>
          <a:lstStyle/>
          <a:p>
            <a:r>
              <a:rPr lang="en-US" sz="1600" dirty="0"/>
              <a:t>Recommender</a:t>
            </a:r>
          </a:p>
          <a:p>
            <a:r>
              <a:rPr lang="en-US" sz="1600" dirty="0"/>
              <a:t>Systems</a:t>
            </a:r>
          </a:p>
        </p:txBody>
      </p:sp>
      <p:sp>
        <p:nvSpPr>
          <p:cNvPr id="34" name="TextBox 33">
            <a:extLst>
              <a:ext uri="{FF2B5EF4-FFF2-40B4-BE49-F238E27FC236}">
                <a16:creationId xmlns:a16="http://schemas.microsoft.com/office/drawing/2014/main" id="{E66E5D37-1C31-B343-BB76-0BB28508E297}"/>
              </a:ext>
            </a:extLst>
          </p:cNvPr>
          <p:cNvSpPr txBox="1"/>
          <p:nvPr/>
        </p:nvSpPr>
        <p:spPr>
          <a:xfrm>
            <a:off x="664567" y="888122"/>
            <a:ext cx="707336" cy="338554"/>
          </a:xfrm>
          <a:prstGeom prst="rect">
            <a:avLst/>
          </a:prstGeom>
          <a:noFill/>
        </p:spPr>
        <p:txBody>
          <a:bodyPr wrap="square" rtlCol="0">
            <a:spAutoFit/>
          </a:bodyPr>
          <a:lstStyle/>
          <a:p>
            <a:r>
              <a:rPr lang="en-US" sz="1600" dirty="0"/>
              <a:t>Years</a:t>
            </a:r>
          </a:p>
        </p:txBody>
      </p:sp>
    </p:spTree>
    <p:extLst>
      <p:ext uri="{BB962C8B-B14F-4D97-AF65-F5344CB8AC3E}">
        <p14:creationId xmlns:p14="http://schemas.microsoft.com/office/powerpoint/2010/main" val="254997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p:nvPr/>
        </p:nvSpPr>
        <p:spPr>
          <a:xfrm>
            <a:off x="95000" y="0"/>
            <a:ext cx="3218100" cy="106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a:t>AI Growth Predictions</a:t>
            </a:r>
            <a:endParaRPr sz="2400"/>
          </a:p>
          <a:p>
            <a:pPr marL="0" lvl="0" indent="0" algn="l" rtl="0">
              <a:spcBef>
                <a:spcPts val="0"/>
              </a:spcBef>
              <a:spcAft>
                <a:spcPts val="0"/>
              </a:spcAft>
              <a:buNone/>
            </a:pPr>
            <a:r>
              <a:rPr lang="en-US" sz="2400"/>
              <a:t>(Forbes, 2018)</a:t>
            </a:r>
            <a:endParaRPr sz="2400"/>
          </a:p>
        </p:txBody>
      </p:sp>
      <p:pic>
        <p:nvPicPr>
          <p:cNvPr id="115" name="Google Shape;115;p17"/>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3636075" y="547551"/>
            <a:ext cx="8273625" cy="5692100"/>
          </a:xfrm>
          <a:prstGeom prst="rect">
            <a:avLst/>
          </a:prstGeom>
          <a:noFill/>
          <a:ln>
            <a:noFill/>
          </a:ln>
        </p:spPr>
      </p:pic>
      <p:cxnSp>
        <p:nvCxnSpPr>
          <p:cNvPr id="116" name="Google Shape;116;p17"/>
          <p:cNvCxnSpPr/>
          <p:nvPr/>
        </p:nvCxnSpPr>
        <p:spPr>
          <a:xfrm rot="10800000" flipH="1">
            <a:off x="6120475" y="6239650"/>
            <a:ext cx="132900" cy="550800"/>
          </a:xfrm>
          <a:prstGeom prst="straightConnector1">
            <a:avLst/>
          </a:prstGeom>
          <a:noFill/>
          <a:ln w="76200" cap="flat" cmpd="sng">
            <a:solidFill>
              <a:srgbClr val="FF0000"/>
            </a:solidFill>
            <a:prstDash val="solid"/>
            <a:round/>
            <a:headEnd type="none" w="med" len="med"/>
            <a:tailEnd type="triangle" w="med" len="med"/>
          </a:ln>
          <a:effectLst>
            <a:outerShdw blurRad="57150" dist="19050" dir="5400000" algn="bl" rotWithShape="0">
              <a:srgbClr val="000000">
                <a:alpha val="50000"/>
              </a:srgbClr>
            </a:outerShdw>
          </a:effectLst>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p:nvPr/>
        </p:nvSpPr>
        <p:spPr>
          <a:xfrm>
            <a:off x="3126400" y="445271"/>
            <a:ext cx="5674500" cy="1498678"/>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000" b="1" i="0" u="none" strike="noStrike" cap="none" dirty="0">
                <a:solidFill>
                  <a:schemeClr val="dk1"/>
                </a:solidFill>
                <a:latin typeface="Calibri"/>
                <a:ea typeface="Calibri"/>
                <a:cs typeface="Calibri"/>
                <a:sym typeface="Calibri"/>
              </a:rPr>
              <a:t>Machine Learning &amp; AI</a:t>
            </a:r>
          </a:p>
          <a:p>
            <a:pPr marL="0" marR="0" lvl="0" indent="0" algn="ctr" rtl="0">
              <a:spcBef>
                <a:spcPts val="0"/>
              </a:spcBef>
              <a:spcAft>
                <a:spcPts val="0"/>
              </a:spcAft>
              <a:buNone/>
            </a:pPr>
            <a:r>
              <a:rPr lang="en-US" sz="4000" b="1" dirty="0">
                <a:solidFill>
                  <a:schemeClr val="dk1"/>
                </a:solidFill>
                <a:latin typeface="Calibri"/>
                <a:ea typeface="Calibri"/>
                <a:cs typeface="Calibri"/>
                <a:sym typeface="Calibri"/>
              </a:rPr>
              <a:t>How To Start</a:t>
            </a:r>
            <a:endParaRPr lang="en-US" sz="4000" b="1" i="0" u="none" strike="noStrike" cap="none" dirty="0">
              <a:solidFill>
                <a:schemeClr val="dk1"/>
              </a:solidFill>
              <a:latin typeface="Calibri"/>
              <a:ea typeface="Calibri"/>
              <a:cs typeface="Calibri"/>
              <a:sym typeface="Calibri"/>
            </a:endParaRPr>
          </a:p>
        </p:txBody>
      </p:sp>
      <p:sp>
        <p:nvSpPr>
          <p:cNvPr id="2" name="TextBox 1">
            <a:extLst>
              <a:ext uri="{FF2B5EF4-FFF2-40B4-BE49-F238E27FC236}">
                <a16:creationId xmlns:a16="http://schemas.microsoft.com/office/drawing/2014/main" id="{69BBAC03-8376-5844-91C5-3F339496893C}"/>
              </a:ext>
            </a:extLst>
          </p:cNvPr>
          <p:cNvSpPr txBox="1"/>
          <p:nvPr/>
        </p:nvSpPr>
        <p:spPr>
          <a:xfrm>
            <a:off x="2040622" y="2630832"/>
            <a:ext cx="9530054" cy="2554545"/>
          </a:xfrm>
          <a:prstGeom prst="rect">
            <a:avLst/>
          </a:prstGeom>
          <a:noFill/>
        </p:spPr>
        <p:txBody>
          <a:bodyPr wrap="square" rtlCol="0">
            <a:spAutoFit/>
          </a:bodyPr>
          <a:lstStyle/>
          <a:p>
            <a:r>
              <a:rPr lang="en-US" sz="2000" b="1" dirty="0">
                <a:solidFill>
                  <a:srgbClr val="0070C0"/>
                </a:solidFill>
                <a:latin typeface="Menlo" panose="020B0609030804020204" pitchFamily="49" charset="0"/>
                <a:ea typeface="Menlo" panose="020B0609030804020204" pitchFamily="49" charset="0"/>
                <a:cs typeface="Menlo" panose="020B0609030804020204" pitchFamily="49" charset="0"/>
              </a:rPr>
              <a:t>1. Are you a business owner or executive, </a:t>
            </a:r>
          </a:p>
          <a:p>
            <a:r>
              <a:rPr lang="en-US" sz="2000" b="1" dirty="0">
                <a:solidFill>
                  <a:srgbClr val="0070C0"/>
                </a:solidFill>
                <a:latin typeface="Menlo" panose="020B0609030804020204" pitchFamily="49" charset="0"/>
                <a:ea typeface="Menlo" panose="020B0609030804020204" pitchFamily="49" charset="0"/>
                <a:cs typeface="Menlo" panose="020B0609030804020204" pitchFamily="49" charset="0"/>
              </a:rPr>
              <a:t>   and want to start using ML &amp; AI in your organization ?</a:t>
            </a:r>
          </a:p>
          <a:p>
            <a:endParaRPr lang="en-US" sz="2000" b="1" dirty="0">
              <a:latin typeface="Menlo" panose="020B0609030804020204" pitchFamily="49" charset="0"/>
              <a:ea typeface="Menlo" panose="020B0609030804020204" pitchFamily="49" charset="0"/>
              <a:cs typeface="Menlo" panose="020B0609030804020204" pitchFamily="49" charset="0"/>
            </a:endParaRPr>
          </a:p>
          <a:p>
            <a:r>
              <a:rPr lang="en-US" sz="2000" b="1" dirty="0">
                <a:solidFill>
                  <a:srgbClr val="00B050"/>
                </a:solidFill>
                <a:latin typeface="Menlo" panose="020B0609030804020204" pitchFamily="49" charset="0"/>
                <a:ea typeface="Menlo" panose="020B0609030804020204" pitchFamily="49" charset="0"/>
                <a:cs typeface="Menlo" panose="020B0609030804020204" pitchFamily="49" charset="0"/>
              </a:rPr>
              <a:t>2. Do you want to become a Data Scientist </a:t>
            </a:r>
          </a:p>
          <a:p>
            <a:r>
              <a:rPr lang="en-US" sz="2000" b="1" dirty="0">
                <a:solidFill>
                  <a:srgbClr val="00B050"/>
                </a:solidFill>
                <a:latin typeface="Menlo" panose="020B0609030804020204" pitchFamily="49" charset="0"/>
                <a:ea typeface="Menlo" panose="020B0609030804020204" pitchFamily="49" charset="0"/>
                <a:cs typeface="Menlo" panose="020B0609030804020204" pitchFamily="49" charset="0"/>
              </a:rPr>
              <a:t>   and use existing ML technology?</a:t>
            </a:r>
          </a:p>
          <a:p>
            <a:endParaRPr lang="en-US" sz="2000" b="1" dirty="0">
              <a:latin typeface="Menlo" panose="020B0609030804020204" pitchFamily="49" charset="0"/>
              <a:ea typeface="Menlo" panose="020B0609030804020204" pitchFamily="49" charset="0"/>
              <a:cs typeface="Menlo" panose="020B0609030804020204" pitchFamily="49" charset="0"/>
            </a:endParaRPr>
          </a:p>
          <a:p>
            <a:r>
              <a:rPr lang="en-US" sz="2000" b="1" dirty="0">
                <a:solidFill>
                  <a:srgbClr val="FF0000"/>
                </a:solidFill>
                <a:latin typeface="Menlo" panose="020B0609030804020204" pitchFamily="49" charset="0"/>
                <a:ea typeface="Menlo" panose="020B0609030804020204" pitchFamily="49" charset="0"/>
                <a:cs typeface="Menlo" panose="020B0609030804020204" pitchFamily="49" charset="0"/>
              </a:rPr>
              <a:t>3. Are you an enthusiast who wants to develop </a:t>
            </a:r>
          </a:p>
          <a:p>
            <a:r>
              <a:rPr lang="en-US" sz="2000" b="1" dirty="0">
                <a:solidFill>
                  <a:srgbClr val="FF0000"/>
                </a:solidFill>
                <a:latin typeface="Menlo" panose="020B0609030804020204" pitchFamily="49" charset="0"/>
                <a:ea typeface="Menlo" panose="020B0609030804020204" pitchFamily="49" charset="0"/>
                <a:cs typeface="Menlo" panose="020B0609030804020204" pitchFamily="49" charset="0"/>
              </a:rPr>
              <a:t>   new ML &amp; AI methods?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3"/>
          <p:cNvSpPr txBox="1"/>
          <p:nvPr/>
        </p:nvSpPr>
        <p:spPr>
          <a:xfrm>
            <a:off x="0" y="58615"/>
            <a:ext cx="5516357" cy="658311"/>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dirty="0">
                <a:solidFill>
                  <a:schemeClr val="dk1"/>
                </a:solidFill>
              </a:rPr>
              <a:t>If you are an Executive:</a:t>
            </a:r>
          </a:p>
        </p:txBody>
      </p:sp>
      <p:sp>
        <p:nvSpPr>
          <p:cNvPr id="3" name="Google Shape;169;p23">
            <a:extLst>
              <a:ext uri="{FF2B5EF4-FFF2-40B4-BE49-F238E27FC236}">
                <a16:creationId xmlns:a16="http://schemas.microsoft.com/office/drawing/2014/main" id="{F928E9F1-8ECB-954E-A8BF-A0838C0845AF}"/>
              </a:ext>
            </a:extLst>
          </p:cNvPr>
          <p:cNvSpPr txBox="1"/>
          <p:nvPr/>
        </p:nvSpPr>
        <p:spPr>
          <a:xfrm>
            <a:off x="1131342" y="1615968"/>
            <a:ext cx="9988451" cy="3084988"/>
          </a:xfrm>
          <a:prstGeom prst="rect">
            <a:avLst/>
          </a:prstGeom>
          <a:noFill/>
          <a:ln>
            <a:noFill/>
          </a:ln>
        </p:spPr>
        <p:txBody>
          <a:bodyPr spcFirstLastPara="1" wrap="square" lIns="91425" tIns="91425" rIns="91425" bIns="91425" anchor="t" anchorCtr="0">
            <a:noAutofit/>
          </a:bodyPr>
          <a:lstStyle/>
          <a:p>
            <a:pPr marL="342900" lvl="0" indent="-342900" algn="l" rtl="0">
              <a:spcBef>
                <a:spcPts val="0"/>
              </a:spcBef>
              <a:spcAft>
                <a:spcPts val="0"/>
              </a:spcAft>
              <a:buFont typeface="Arial" panose="020B0604020202020204" pitchFamily="34" charset="0"/>
              <a:buChar char="•"/>
            </a:pPr>
            <a:r>
              <a:rPr lang="en-US" sz="2000" dirty="0">
                <a:solidFill>
                  <a:schemeClr val="dk1"/>
                </a:solidFill>
              </a:rPr>
              <a:t>Create an AI department if you don't have one yet. </a:t>
            </a:r>
            <a:br>
              <a:rPr lang="en-US" sz="2000" dirty="0">
                <a:solidFill>
                  <a:schemeClr val="dk1"/>
                </a:solidFill>
              </a:rPr>
            </a:br>
            <a:r>
              <a:rPr lang="en-US" sz="2000" dirty="0">
                <a:solidFill>
                  <a:schemeClr val="dk1"/>
                </a:solidFill>
              </a:rPr>
              <a:t>Host AI conferences and training. </a:t>
            </a:r>
            <a:br>
              <a:rPr lang="en-US" sz="2000" dirty="0">
                <a:solidFill>
                  <a:schemeClr val="dk1"/>
                </a:solidFill>
              </a:rPr>
            </a:br>
            <a:r>
              <a:rPr lang="en-US" sz="2000" dirty="0">
                <a:solidFill>
                  <a:schemeClr val="dk1"/>
                </a:solidFill>
              </a:rPr>
              <a:t>Invite the best AI talent.</a:t>
            </a:r>
          </a:p>
          <a:p>
            <a:pPr marL="342900" lvl="0" indent="-342900" algn="l" rtl="0">
              <a:spcBef>
                <a:spcPts val="0"/>
              </a:spcBef>
              <a:spcAft>
                <a:spcPts val="0"/>
              </a:spcAft>
              <a:buFont typeface="Arial" panose="020B0604020202020204" pitchFamily="34" charset="0"/>
              <a:buChar char="•"/>
            </a:pPr>
            <a:r>
              <a:rPr lang="en-US" sz="2000" dirty="0">
                <a:solidFill>
                  <a:schemeClr val="dk1"/>
                </a:solidFill>
              </a:rPr>
              <a:t>Get serious about collecting, cleaning, and labeling data.</a:t>
            </a:r>
            <a:endParaRPr sz="2000" dirty="0">
              <a:solidFill>
                <a:schemeClr val="dk1"/>
              </a:solidFill>
            </a:endParaRPr>
          </a:p>
          <a:p>
            <a:pPr marL="342900" lvl="0" indent="-342900" algn="l" rtl="0">
              <a:spcBef>
                <a:spcPts val="0"/>
              </a:spcBef>
              <a:spcAft>
                <a:spcPts val="0"/>
              </a:spcAft>
              <a:buFont typeface="Arial" panose="020B0604020202020204" pitchFamily="34" charset="0"/>
              <a:buChar char="•"/>
            </a:pPr>
            <a:r>
              <a:rPr lang="en-US" sz="2000" dirty="0">
                <a:solidFill>
                  <a:schemeClr val="dk1"/>
                </a:solidFill>
              </a:rPr>
              <a:t>Customize and fine-tune models instead of building "from scratch".</a:t>
            </a:r>
            <a:endParaRPr sz="2000" dirty="0">
              <a:solidFill>
                <a:schemeClr val="dk1"/>
              </a:solidFill>
            </a:endParaRPr>
          </a:p>
          <a:p>
            <a:pPr marL="342900" lvl="0" indent="-342900" algn="l" rtl="0">
              <a:spcBef>
                <a:spcPts val="0"/>
              </a:spcBef>
              <a:spcAft>
                <a:spcPts val="0"/>
              </a:spcAft>
              <a:buFont typeface="Arial" panose="020B0604020202020204" pitchFamily="34" charset="0"/>
              <a:buChar char="•"/>
            </a:pPr>
            <a:r>
              <a:rPr lang="en-US" sz="2000" dirty="0">
                <a:solidFill>
                  <a:schemeClr val="dk1"/>
                </a:solidFill>
              </a:rPr>
              <a:t>Use pre-trained tools.</a:t>
            </a:r>
          </a:p>
          <a:p>
            <a:pPr marL="342900" lvl="0" indent="-342900" algn="l" rtl="0">
              <a:spcBef>
                <a:spcPts val="0"/>
              </a:spcBef>
              <a:spcAft>
                <a:spcPts val="0"/>
              </a:spcAft>
              <a:buFont typeface="Arial" panose="020B0604020202020204" pitchFamily="34" charset="0"/>
              <a:buChar char="•"/>
            </a:pPr>
            <a:r>
              <a:rPr lang="en-US" sz="2000" dirty="0">
                <a:solidFill>
                  <a:schemeClr val="dk1"/>
                </a:solidFill>
              </a:rPr>
              <a:t>Use multiple tools from external vendors (Google, AWS, Azure, etc.), </a:t>
            </a:r>
            <a:br>
              <a:rPr lang="en-US" sz="2000" dirty="0">
                <a:solidFill>
                  <a:schemeClr val="dk1"/>
                </a:solidFill>
              </a:rPr>
            </a:br>
            <a:r>
              <a:rPr lang="en-US" sz="2000" dirty="0">
                <a:solidFill>
                  <a:schemeClr val="dk1"/>
                </a:solidFill>
              </a:rPr>
              <a:t>make them work together, do not lock-in into a single vendor.</a:t>
            </a:r>
          </a:p>
          <a:p>
            <a:pPr marL="342900" lvl="0" indent="-342900" algn="l" rtl="0">
              <a:spcBef>
                <a:spcPts val="0"/>
              </a:spcBef>
              <a:spcAft>
                <a:spcPts val="0"/>
              </a:spcAft>
              <a:buFont typeface="Arial" panose="020B0604020202020204" pitchFamily="34" charset="0"/>
              <a:buChar char="•"/>
            </a:pPr>
            <a:r>
              <a:rPr lang="en-US" sz="2000" dirty="0">
                <a:solidFill>
                  <a:schemeClr val="dk1"/>
                </a:solidFill>
              </a:rPr>
              <a:t>Accent on "</a:t>
            </a:r>
            <a:r>
              <a:rPr lang="en-US" sz="2000" dirty="0" err="1">
                <a:solidFill>
                  <a:schemeClr val="dk1"/>
                </a:solidFill>
              </a:rPr>
              <a:t>explainability</a:t>
            </a:r>
            <a:r>
              <a:rPr lang="en-US" sz="2000" dirty="0">
                <a:solidFill>
                  <a:schemeClr val="dk1"/>
                </a:solidFill>
              </a:rPr>
              <a:t>" of algorithms.</a:t>
            </a:r>
            <a:endParaRPr sz="2000" dirty="0">
              <a:solidFill>
                <a:schemeClr val="dk1"/>
              </a:solidFill>
            </a:endParaRPr>
          </a:p>
          <a:p>
            <a:pPr marL="0" lvl="0" indent="0" algn="l" rtl="0">
              <a:spcBef>
                <a:spcPts val="0"/>
              </a:spcBef>
              <a:spcAft>
                <a:spcPts val="0"/>
              </a:spcAft>
              <a:buNone/>
            </a:pPr>
            <a:endParaRPr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3"/>
          <p:cNvSpPr txBox="1"/>
          <p:nvPr/>
        </p:nvSpPr>
        <p:spPr>
          <a:xfrm>
            <a:off x="0" y="0"/>
            <a:ext cx="9319846" cy="658312"/>
          </a:xfrm>
          <a:prstGeom prst="rect">
            <a:avLst/>
          </a:prstGeom>
          <a:noFill/>
          <a:ln>
            <a:noFill/>
          </a:ln>
        </p:spPr>
        <p:txBody>
          <a:bodyPr spcFirstLastPara="1" wrap="square" lIns="91425" tIns="91425" rIns="91425" bIns="91425" anchor="t" anchorCtr="0">
            <a:noAutofit/>
          </a:bodyPr>
          <a:lstStyle/>
          <a:p>
            <a:pPr lvl="0" algn="l" rtl="0">
              <a:spcBef>
                <a:spcPts val="0"/>
              </a:spcBef>
              <a:spcAft>
                <a:spcPts val="0"/>
              </a:spcAft>
            </a:pPr>
            <a:r>
              <a:rPr lang="en-US" sz="2800" b="1" dirty="0">
                <a:solidFill>
                  <a:schemeClr val="dk1"/>
                </a:solidFill>
              </a:rPr>
              <a:t>If you want to study to become a Data Scientist.</a:t>
            </a:r>
          </a:p>
        </p:txBody>
      </p:sp>
      <p:sp>
        <p:nvSpPr>
          <p:cNvPr id="3" name="Google Shape;169;p23">
            <a:extLst>
              <a:ext uri="{FF2B5EF4-FFF2-40B4-BE49-F238E27FC236}">
                <a16:creationId xmlns:a16="http://schemas.microsoft.com/office/drawing/2014/main" id="{BC7D0D88-C8EE-1948-8E5C-F8361C44D635}"/>
              </a:ext>
            </a:extLst>
          </p:cNvPr>
          <p:cNvSpPr txBox="1"/>
          <p:nvPr/>
        </p:nvSpPr>
        <p:spPr>
          <a:xfrm>
            <a:off x="453750" y="912581"/>
            <a:ext cx="11284500" cy="5031019"/>
          </a:xfrm>
          <a:prstGeom prst="rect">
            <a:avLst/>
          </a:prstGeom>
          <a:noFill/>
          <a:ln>
            <a:noFill/>
          </a:ln>
        </p:spPr>
        <p:txBody>
          <a:bodyPr spcFirstLastPara="1" wrap="square" lIns="91425" tIns="91425" rIns="91425" bIns="91425" anchor="t" anchorCtr="0">
            <a:noAutofit/>
          </a:bodyPr>
          <a:lstStyle/>
          <a:p>
            <a:pPr marL="285750" indent="-285750">
              <a:buFont typeface="Arial" panose="020B0604020202020204" pitchFamily="34" charset="0"/>
              <a:buChar char="•"/>
            </a:pPr>
            <a:r>
              <a:rPr lang="en-US" sz="1600" dirty="0"/>
              <a:t>Things change fast - you need to learn constantly. Subscriptions, YouTube, Twitter. Get YouTube Premium.</a:t>
            </a:r>
          </a:p>
          <a:p>
            <a:pPr marL="285750" lvl="0" indent="-285750">
              <a:buFont typeface="Arial" panose="020B0604020202020204" pitchFamily="34" charset="0"/>
              <a:buChar char="•"/>
            </a:pPr>
            <a:r>
              <a:rPr lang="en-US" sz="1600" dirty="0"/>
              <a:t>Start following some famous people on YouTube, Facebook, Twitter: </a:t>
            </a:r>
            <a:br>
              <a:rPr lang="en-US" sz="1600" dirty="0"/>
            </a:br>
            <a:r>
              <a:rPr lang="en-US" sz="1600" dirty="0"/>
              <a:t>(Yann </a:t>
            </a:r>
            <a:r>
              <a:rPr lang="en-US" sz="1600" dirty="0" err="1"/>
              <a:t>LeCun</a:t>
            </a:r>
            <a:r>
              <a:rPr lang="en-US" sz="1600" dirty="0"/>
              <a:t>, Geoffrey Hinton, Ian Goodfellow, </a:t>
            </a:r>
            <a:r>
              <a:rPr lang="en-US" sz="1600" dirty="0" err="1"/>
              <a:t>Yoshua</a:t>
            </a:r>
            <a:r>
              <a:rPr lang="en-US" sz="1600" dirty="0"/>
              <a:t> </a:t>
            </a:r>
            <a:r>
              <a:rPr lang="en-US" sz="1600" dirty="0" err="1"/>
              <a:t>Bengio</a:t>
            </a:r>
            <a:r>
              <a:rPr lang="en-US" sz="1600" dirty="0"/>
              <a:t>, Jürgen </a:t>
            </a:r>
            <a:r>
              <a:rPr lang="en-US" sz="1600" dirty="0" err="1"/>
              <a:t>Schmidhuber</a:t>
            </a:r>
            <a:r>
              <a:rPr lang="en-US" sz="1600" dirty="0"/>
              <a:t>, Andrew Ng, etc.)</a:t>
            </a:r>
          </a:p>
          <a:p>
            <a:pPr marL="285750" lvl="3" indent="-285750">
              <a:buFont typeface="Arial" panose="020B0604020202020204" pitchFamily="34" charset="0"/>
              <a:buChar char="•"/>
            </a:pPr>
            <a:r>
              <a:rPr lang="en-US" sz="1600" dirty="0"/>
              <a:t>Learn (</a:t>
            </a:r>
            <a:r>
              <a:rPr lang="en-US" sz="1600" dirty="0" err="1"/>
              <a:t>youtube</a:t>
            </a:r>
            <a:r>
              <a:rPr lang="en-US" sz="1600" dirty="0"/>
              <a:t>, </a:t>
            </a:r>
            <a:r>
              <a:rPr lang="en-US" sz="1600" dirty="0" err="1"/>
              <a:t>coursera</a:t>
            </a:r>
            <a:r>
              <a:rPr lang="en-US" sz="1600" dirty="0"/>
              <a:t>, …) : </a:t>
            </a:r>
            <a:br>
              <a:rPr lang="en-US" sz="1600" dirty="0"/>
            </a:br>
            <a:r>
              <a:rPr lang="en-US" sz="1600" dirty="0"/>
              <a:t>  ..  Python programming (also Pandas, </a:t>
            </a:r>
            <a:r>
              <a:rPr lang="en-US" sz="1600" dirty="0" err="1"/>
              <a:t>Numpy</a:t>
            </a:r>
            <a:r>
              <a:rPr lang="en-US" sz="1600" dirty="0"/>
              <a:t>, Scikit-Learn)</a:t>
            </a:r>
            <a:br>
              <a:rPr lang="en-US" sz="1600" dirty="0"/>
            </a:br>
            <a:r>
              <a:rPr lang="en-US" sz="1600" dirty="0"/>
              <a:t>  ..  Unix commands (Linux or Mac)</a:t>
            </a:r>
            <a:br>
              <a:rPr lang="en-US" sz="1600" dirty="0"/>
            </a:br>
            <a:r>
              <a:rPr lang="en-US" sz="1600" dirty="0"/>
              <a:t>  ..  SQL, Excel</a:t>
            </a:r>
            <a:br>
              <a:rPr lang="en-US" sz="1600" dirty="0"/>
            </a:br>
            <a:r>
              <a:rPr lang="en-US" sz="1600" dirty="0"/>
              <a:t>  ..  Some Statistics (</a:t>
            </a:r>
            <a:r>
              <a:rPr lang="en-US" sz="1600" dirty="0" err="1"/>
              <a:t>youtube</a:t>
            </a:r>
            <a:r>
              <a:rPr lang="en-US" sz="1600" dirty="0"/>
              <a:t>, ...) - </a:t>
            </a:r>
            <a:r>
              <a:rPr lang="en-US" sz="1600" dirty="0">
                <a:solidFill>
                  <a:schemeClr val="dk1"/>
                </a:solidFill>
              </a:rPr>
              <a:t>Normal distribution, CLT, Binomial Distribution, </a:t>
            </a:r>
            <a:br>
              <a:rPr lang="en-US" sz="1600" dirty="0">
                <a:solidFill>
                  <a:schemeClr val="dk1"/>
                </a:solidFill>
              </a:rPr>
            </a:br>
            <a:r>
              <a:rPr lang="en-US" sz="1600" dirty="0">
                <a:solidFill>
                  <a:schemeClr val="dk1"/>
                </a:solidFill>
              </a:rPr>
              <a:t>       Hypothesis testing, P-value, t-test, Chi-square test, Linear Regression</a:t>
            </a:r>
            <a:br>
              <a:rPr lang="en-US" sz="1600" dirty="0">
                <a:solidFill>
                  <a:schemeClr val="dk1"/>
                </a:solidFill>
              </a:rPr>
            </a:br>
            <a:r>
              <a:rPr lang="en-US" sz="1600" dirty="0">
                <a:solidFill>
                  <a:schemeClr val="dk1"/>
                </a:solidFill>
              </a:rPr>
              <a:t>  ..  Logistic Regression</a:t>
            </a:r>
            <a:br>
              <a:rPr lang="en-US" sz="1600" dirty="0">
                <a:solidFill>
                  <a:schemeClr val="dk1"/>
                </a:solidFill>
              </a:rPr>
            </a:br>
            <a:r>
              <a:rPr lang="en-US" sz="1600" dirty="0">
                <a:solidFill>
                  <a:schemeClr val="dk1"/>
                </a:solidFill>
              </a:rPr>
              <a:t>  .. Standard Machine Learning (Linear &amp; Logistic Regression, Random Forest, </a:t>
            </a:r>
            <a:r>
              <a:rPr lang="en-US" sz="1600" dirty="0" err="1">
                <a:solidFill>
                  <a:schemeClr val="dk1"/>
                </a:solidFill>
              </a:rPr>
              <a:t>XGBoost</a:t>
            </a:r>
            <a:r>
              <a:rPr lang="en-US" sz="1600" dirty="0">
                <a:solidFill>
                  <a:schemeClr val="dk1"/>
                </a:solidFill>
              </a:rPr>
              <a:t>, etc.)</a:t>
            </a:r>
            <a:br>
              <a:rPr lang="en-US" sz="1600" dirty="0">
                <a:solidFill>
                  <a:schemeClr val="dk1"/>
                </a:solidFill>
              </a:rPr>
            </a:br>
            <a:r>
              <a:rPr lang="en-US" sz="1600" dirty="0">
                <a:solidFill>
                  <a:schemeClr val="dk1"/>
                </a:solidFill>
              </a:rPr>
              <a:t>  .. Deep Learning (</a:t>
            </a:r>
            <a:r>
              <a:rPr lang="en-US" sz="1600" dirty="0"/>
              <a:t> </a:t>
            </a:r>
            <a:r>
              <a:rPr lang="en-US" sz="1600" dirty="0" err="1"/>
              <a:t>deeplearning.ai</a:t>
            </a:r>
            <a:r>
              <a:rPr lang="en-US" sz="1600" dirty="0"/>
              <a:t> or some other course )</a:t>
            </a:r>
          </a:p>
          <a:p>
            <a:pPr marL="285750" indent="-285750">
              <a:buFont typeface="Arial" panose="020B0604020202020204" pitchFamily="34" charset="0"/>
              <a:buChar char="•"/>
            </a:pPr>
            <a:r>
              <a:rPr lang="en-US" sz="1600" dirty="0"/>
              <a:t>Listen to podcast: Sam </a:t>
            </a:r>
            <a:r>
              <a:rPr lang="en-US" sz="1600" dirty="0" err="1"/>
              <a:t>Charrington</a:t>
            </a:r>
            <a:r>
              <a:rPr lang="en-US" sz="1600" dirty="0"/>
              <a:t> – “This Week in Machine Learning &amp; AI”</a:t>
            </a:r>
          </a:p>
          <a:p>
            <a:pPr marL="285750" indent="-285750">
              <a:buFont typeface="Arial" panose="020B0604020202020204" pitchFamily="34" charset="0"/>
              <a:buChar char="•"/>
            </a:pPr>
            <a:r>
              <a:rPr lang="en-US" sz="1600" dirty="0">
                <a:solidFill>
                  <a:schemeClr val="dk1"/>
                </a:solidFill>
              </a:rPr>
              <a:t>Follow </a:t>
            </a:r>
            <a:r>
              <a:rPr lang="en-US" sz="1600" dirty="0"/>
              <a:t>Siraj </a:t>
            </a:r>
            <a:r>
              <a:rPr lang="en-US" sz="1600" dirty="0" err="1"/>
              <a:t>Raval</a:t>
            </a:r>
            <a:r>
              <a:rPr lang="en-US" sz="1600" dirty="0"/>
              <a:t> on </a:t>
            </a:r>
            <a:r>
              <a:rPr lang="en-US" sz="1600" dirty="0" err="1"/>
              <a:t>youtube</a:t>
            </a:r>
            <a:r>
              <a:rPr lang="en-US" sz="1600" dirty="0"/>
              <a:t>, </a:t>
            </a:r>
          </a:p>
          <a:p>
            <a:pPr marL="285750" indent="-285750">
              <a:buFont typeface="Arial" panose="020B0604020202020204" pitchFamily="34" charset="0"/>
              <a:buChar char="•"/>
            </a:pPr>
            <a:r>
              <a:rPr lang="en-US" sz="1600" dirty="0"/>
              <a:t>Follow Chris </a:t>
            </a:r>
            <a:r>
              <a:rPr lang="en-US" sz="1600" dirty="0" err="1"/>
              <a:t>Olah</a:t>
            </a:r>
            <a:r>
              <a:rPr lang="en-US" sz="1600" dirty="0"/>
              <a:t>: </a:t>
            </a:r>
            <a:r>
              <a:rPr lang="en-US" sz="1600" dirty="0" err="1"/>
              <a:t>colah.github.io</a:t>
            </a:r>
            <a:r>
              <a:rPr lang="en-US" sz="1600" dirty="0"/>
              <a:t> ,  distill.pub </a:t>
            </a:r>
          </a:p>
          <a:p>
            <a:pPr marL="285750" indent="-285750">
              <a:buFont typeface="Arial" panose="020B0604020202020204" pitchFamily="34" charset="0"/>
              <a:buChar char="•"/>
            </a:pPr>
            <a:r>
              <a:rPr lang="en-US" sz="1600" dirty="0"/>
              <a:t>Learn </a:t>
            </a:r>
            <a:r>
              <a:rPr lang="en-US" sz="1600" dirty="0">
                <a:solidFill>
                  <a:schemeClr val="dk1"/>
                </a:solidFill>
              </a:rPr>
              <a:t>100-200 terms (dictionary) r</a:t>
            </a:r>
            <a:r>
              <a:rPr lang="en-US" sz="1600" dirty="0"/>
              <a:t>elated to </a:t>
            </a:r>
            <a:br>
              <a:rPr lang="en-US" sz="1600" dirty="0"/>
            </a:br>
            <a:r>
              <a:rPr lang="en-US" sz="1600" dirty="0"/>
              <a:t>  .. training and evaluating models (error / loss function, Precision and Recall, Accuracy, </a:t>
            </a:r>
            <a:br>
              <a:rPr lang="en-US" sz="1600" dirty="0"/>
            </a:br>
            <a:r>
              <a:rPr lang="en-US" sz="1600" dirty="0"/>
              <a:t>     ROC curve, confusion matrix, regularization, cross-validation, folds, etc.) </a:t>
            </a:r>
            <a:br>
              <a:rPr lang="en-US" sz="1600" dirty="0"/>
            </a:br>
            <a:r>
              <a:rPr lang="en-US" sz="1600" dirty="0"/>
              <a:t>  .. other terms related to </a:t>
            </a:r>
            <a:r>
              <a:rPr lang="en-US" sz="1600" dirty="0">
                <a:solidFill>
                  <a:schemeClr val="dk1"/>
                </a:solidFill>
              </a:rPr>
              <a:t>Data Science, Machine Learning, and AI – google them, make your own dictionary</a:t>
            </a:r>
          </a:p>
          <a:p>
            <a:pPr marL="285750" lvl="0" indent="-285750" algn="l" rtl="0">
              <a:spcBef>
                <a:spcPts val="0"/>
              </a:spcBef>
              <a:spcAft>
                <a:spcPts val="0"/>
              </a:spcAft>
              <a:buFont typeface="Arial" panose="020B0604020202020204" pitchFamily="34" charset="0"/>
              <a:buChar char="•"/>
            </a:pPr>
            <a:r>
              <a:rPr lang="en-US" sz="1600" dirty="0"/>
              <a:t>Look at </a:t>
            </a:r>
            <a:r>
              <a:rPr lang="en-US" sz="1600" dirty="0" err="1"/>
              <a:t>AutoML</a:t>
            </a:r>
            <a:r>
              <a:rPr lang="en-US" sz="1600" dirty="0"/>
              <a:t> (h2o.ai, Microsoft </a:t>
            </a:r>
            <a:r>
              <a:rPr lang="en-US" sz="1600" dirty="0" err="1"/>
              <a:t>AutoML</a:t>
            </a:r>
            <a:r>
              <a:rPr lang="en-US" sz="1600" dirty="0"/>
              <a:t>, etc.)</a:t>
            </a:r>
            <a:endParaRPr sz="1600" dirty="0"/>
          </a:p>
        </p:txBody>
      </p:sp>
    </p:spTree>
    <p:extLst>
      <p:ext uri="{BB962C8B-B14F-4D97-AF65-F5344CB8AC3E}">
        <p14:creationId xmlns:p14="http://schemas.microsoft.com/office/powerpoint/2010/main" val="19601171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3"/>
          <p:cNvSpPr txBox="1"/>
          <p:nvPr/>
        </p:nvSpPr>
        <p:spPr>
          <a:xfrm>
            <a:off x="1927795" y="1781452"/>
            <a:ext cx="7567897" cy="329509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dirty="0">
                <a:solidFill>
                  <a:schemeClr val="dk1"/>
                </a:solidFill>
              </a:rPr>
              <a:t>You first need to study to become a Data Scientist.</a:t>
            </a:r>
          </a:p>
          <a:p>
            <a:pPr marL="0" lvl="0" indent="0" algn="l" rtl="0">
              <a:spcBef>
                <a:spcPts val="0"/>
              </a:spcBef>
              <a:spcAft>
                <a:spcPts val="0"/>
              </a:spcAft>
              <a:buNone/>
            </a:pPr>
            <a:endParaRPr lang="en-US" sz="1800" dirty="0">
              <a:solidFill>
                <a:schemeClr val="dk1"/>
              </a:solidFill>
            </a:endParaRPr>
          </a:p>
          <a:p>
            <a:pPr marL="0" lvl="0" indent="0" algn="l" rtl="0">
              <a:spcBef>
                <a:spcPts val="0"/>
              </a:spcBef>
              <a:spcAft>
                <a:spcPts val="0"/>
              </a:spcAft>
              <a:buNone/>
            </a:pPr>
            <a:r>
              <a:rPr lang="en-US" sz="1800" dirty="0">
                <a:solidFill>
                  <a:schemeClr val="dk1"/>
                </a:solidFill>
              </a:rPr>
              <a:t>Then you need to find a place where people do research.</a:t>
            </a:r>
          </a:p>
          <a:p>
            <a:pPr marL="0" lvl="0" indent="0" algn="l" rtl="0">
              <a:spcBef>
                <a:spcPts val="0"/>
              </a:spcBef>
              <a:spcAft>
                <a:spcPts val="0"/>
              </a:spcAft>
              <a:buNone/>
            </a:pPr>
            <a:r>
              <a:rPr lang="en-US" sz="1800" dirty="0">
                <a:solidFill>
                  <a:schemeClr val="dk1"/>
                </a:solidFill>
              </a:rPr>
              <a:t>It is usually a university of one of just a handful of companies:</a:t>
            </a:r>
          </a:p>
          <a:p>
            <a:pPr marL="342900" lvl="0" indent="-342900" algn="l" rtl="0">
              <a:spcBef>
                <a:spcPts val="0"/>
              </a:spcBef>
              <a:spcAft>
                <a:spcPts val="0"/>
              </a:spcAft>
              <a:buFont typeface="Arial" panose="020B0604020202020204" pitchFamily="34" charset="0"/>
              <a:buChar char="•"/>
            </a:pPr>
            <a:r>
              <a:rPr lang="en-US" sz="1800" dirty="0">
                <a:solidFill>
                  <a:schemeClr val="dk1"/>
                </a:solidFill>
              </a:rPr>
              <a:t>    Google</a:t>
            </a:r>
          </a:p>
          <a:p>
            <a:pPr marL="342900" lvl="0" indent="-342900" algn="l" rtl="0">
              <a:spcBef>
                <a:spcPts val="0"/>
              </a:spcBef>
              <a:spcAft>
                <a:spcPts val="0"/>
              </a:spcAft>
              <a:buFont typeface="Arial" panose="020B0604020202020204" pitchFamily="34" charset="0"/>
              <a:buChar char="•"/>
            </a:pPr>
            <a:r>
              <a:rPr lang="en-US" sz="1800" dirty="0">
                <a:solidFill>
                  <a:schemeClr val="dk1"/>
                </a:solidFill>
              </a:rPr>
              <a:t>    Facebook</a:t>
            </a:r>
          </a:p>
          <a:p>
            <a:pPr marL="342900" lvl="0" indent="-342900" algn="l" rtl="0">
              <a:spcBef>
                <a:spcPts val="0"/>
              </a:spcBef>
              <a:spcAft>
                <a:spcPts val="0"/>
              </a:spcAft>
              <a:buFont typeface="Arial" panose="020B0604020202020204" pitchFamily="34" charset="0"/>
              <a:buChar char="•"/>
            </a:pPr>
            <a:r>
              <a:rPr lang="en-US" sz="1800" dirty="0">
                <a:solidFill>
                  <a:schemeClr val="dk1"/>
                </a:solidFill>
              </a:rPr>
              <a:t>    Open AI</a:t>
            </a:r>
          </a:p>
          <a:p>
            <a:pPr marL="342900" lvl="0" indent="-342900" algn="l" rtl="0">
              <a:spcBef>
                <a:spcPts val="0"/>
              </a:spcBef>
              <a:spcAft>
                <a:spcPts val="0"/>
              </a:spcAft>
              <a:buFont typeface="Arial" panose="020B0604020202020204" pitchFamily="34" charset="0"/>
              <a:buChar char="•"/>
            </a:pPr>
            <a:r>
              <a:rPr lang="en-US" sz="1800" dirty="0">
                <a:solidFill>
                  <a:schemeClr val="dk1"/>
                </a:solidFill>
              </a:rPr>
              <a:t>    Microsoft</a:t>
            </a:r>
          </a:p>
          <a:p>
            <a:pPr marL="342900" lvl="0" indent="-342900" algn="l" rtl="0">
              <a:spcBef>
                <a:spcPts val="0"/>
              </a:spcBef>
              <a:spcAft>
                <a:spcPts val="0"/>
              </a:spcAft>
              <a:buFont typeface="Arial" panose="020B0604020202020204" pitchFamily="34" charset="0"/>
              <a:buChar char="•"/>
            </a:pPr>
            <a:r>
              <a:rPr lang="en-US" sz="1800" dirty="0">
                <a:solidFill>
                  <a:schemeClr val="dk1"/>
                </a:solidFill>
              </a:rPr>
              <a:t>    Apple</a:t>
            </a:r>
          </a:p>
          <a:p>
            <a:pPr marL="342900" lvl="0" indent="-342900" algn="l" rtl="0">
              <a:spcBef>
                <a:spcPts val="0"/>
              </a:spcBef>
              <a:spcAft>
                <a:spcPts val="0"/>
              </a:spcAft>
              <a:buFont typeface="Arial" panose="020B0604020202020204" pitchFamily="34" charset="0"/>
              <a:buChar char="•"/>
            </a:pPr>
            <a:r>
              <a:rPr lang="en-US" sz="1800" dirty="0">
                <a:solidFill>
                  <a:schemeClr val="dk1"/>
                </a:solidFill>
              </a:rPr>
              <a:t>    Baidu</a:t>
            </a:r>
          </a:p>
          <a:p>
            <a:pPr marL="342900" lvl="0" indent="-342900" algn="l" rtl="0">
              <a:spcBef>
                <a:spcPts val="0"/>
              </a:spcBef>
              <a:spcAft>
                <a:spcPts val="0"/>
              </a:spcAft>
              <a:buFont typeface="Arial" panose="020B0604020202020204" pitchFamily="34" charset="0"/>
              <a:buChar char="•"/>
            </a:pPr>
            <a:r>
              <a:rPr lang="en-US" sz="1800" dirty="0">
                <a:solidFill>
                  <a:schemeClr val="dk1"/>
                </a:solidFill>
              </a:rPr>
              <a:t>    etc.</a:t>
            </a:r>
            <a:endParaRPr sz="1800" dirty="0">
              <a:solidFill>
                <a:schemeClr val="dk1"/>
              </a:solidFill>
            </a:endParaRPr>
          </a:p>
          <a:p>
            <a:pPr marL="0" lvl="0" indent="0" algn="l" rtl="0">
              <a:spcBef>
                <a:spcPts val="0"/>
              </a:spcBef>
              <a:spcAft>
                <a:spcPts val="0"/>
              </a:spcAft>
              <a:buNone/>
            </a:pPr>
            <a:endParaRPr sz="1800" dirty="0"/>
          </a:p>
        </p:txBody>
      </p:sp>
      <p:sp>
        <p:nvSpPr>
          <p:cNvPr id="4" name="Google Shape;169;p23">
            <a:extLst>
              <a:ext uri="{FF2B5EF4-FFF2-40B4-BE49-F238E27FC236}">
                <a16:creationId xmlns:a16="http://schemas.microsoft.com/office/drawing/2014/main" id="{C6A45594-6485-C144-8360-1604E36DC676}"/>
              </a:ext>
            </a:extLst>
          </p:cNvPr>
          <p:cNvSpPr txBox="1"/>
          <p:nvPr/>
        </p:nvSpPr>
        <p:spPr>
          <a:xfrm>
            <a:off x="0" y="0"/>
            <a:ext cx="9061938" cy="587973"/>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b="1" dirty="0">
                <a:solidFill>
                  <a:schemeClr val="dk1"/>
                </a:solidFill>
              </a:rPr>
              <a:t>If you want to develop new ML &amp; AI methods.</a:t>
            </a:r>
            <a:endParaRPr sz="2800" dirty="0"/>
          </a:p>
        </p:txBody>
      </p:sp>
    </p:spTree>
    <p:extLst>
      <p:ext uri="{BB962C8B-B14F-4D97-AF65-F5344CB8AC3E}">
        <p14:creationId xmlns:p14="http://schemas.microsoft.com/office/powerpoint/2010/main" val="3234025593"/>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486</TotalTime>
  <Words>1614</Words>
  <Application>Microsoft Macintosh PowerPoint</Application>
  <PresentationFormat>Widescreen</PresentationFormat>
  <Paragraphs>216</Paragraphs>
  <Slides>15</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Menlo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55</cp:revision>
  <dcterms:modified xsi:type="dcterms:W3CDTF">2021-05-30T17:17:27Z</dcterms:modified>
</cp:coreProperties>
</file>