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9"/>
  </p:notesMasterIdLst>
  <p:sldIdLst>
    <p:sldId id="313" r:id="rId2"/>
    <p:sldId id="314" r:id="rId3"/>
    <p:sldId id="319" r:id="rId4"/>
    <p:sldId id="317" r:id="rId5"/>
    <p:sldId id="318" r:id="rId6"/>
    <p:sldId id="315" r:id="rId7"/>
    <p:sldId id="316" r:id="rId8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1618C5A-BF4F-44D7-ADB2-C5301EF81F8A}">
  <a:tblStyle styleId="{B1618C5A-BF4F-44D7-ADB2-C5301EF81F8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323"/>
    <p:restoredTop sz="92276"/>
  </p:normalViewPr>
  <p:slideViewPr>
    <p:cSldViewPr snapToGrid="0" snapToObjects="1">
      <p:cViewPr varScale="1">
        <p:scale>
          <a:sx n="95" d="100"/>
          <a:sy n="95" d="100"/>
        </p:scale>
        <p:origin x="27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091407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36" name="Google Shape;36;p5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2" name="Google Shape;42;p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3" name="Google Shape;43;p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4" name="Google Shape;44;p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5" name="Google Shape;45;p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1" name="Google Shape;51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2" name="Google Shape;52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6" name="Google Shape;56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318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1" name="Google Shape;61;p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2" name="Google Shape;62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67" name="Google Shape;67;p1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8" name="Google Shape;68;p1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0" name="Google Shape;70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1" name="Google Shape;71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4" name="Google Shape;74;p11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7" name="Google Shape;77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0" name="Google Shape;80;p1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2" name="Google Shape;82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3" name="Google Shape;83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azure.microsoft.com/en-us/services/synapse-analytics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4" Type="http://schemas.openxmlformats.org/officeDocument/2006/relationships/hyperlink" Target="https://docs.microsoft.com/en-us/azure/cosmos-db/analytical-store-introduction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portal.azure.com/" TargetMode="External"/><Relationship Id="rId2" Type="http://schemas.openxmlformats.org/officeDocument/2006/relationships/hyperlink" Target="https://ml.azure.com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ml.azure.com/selectWorkspace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ai.plainenglish.io/deploying-ml-models-on-azure-8daa9c10db5a" TargetMode="External"/><Relationship Id="rId2" Type="http://schemas.openxmlformats.org/officeDocument/2006/relationships/hyperlink" Target="https://towardsdatascience.com/deploying-ml-models-on-azure-a948c106f7b5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ocs.microsoft.com/en-us/azure/machine-learning/how-to-deploy-and-where?tabs=azcli#script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microsoft.com/en-us/learn/paths/build-ai-solutions-with-azure-ml-service/" TargetMode="External"/><Relationship Id="rId2" Type="http://schemas.openxmlformats.org/officeDocument/2006/relationships/hyperlink" Target="https://www.youtube.com/watch?v=2OgBxYCnVGk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docs.microsoft.com/en-us/azure/machine-learning/" TargetMode="External"/><Relationship Id="rId4" Type="http://schemas.openxmlformats.org/officeDocument/2006/relationships/hyperlink" Target="https://benalexkeen.com/creating-end-to-end-mlops-pipelines-using-azure-ml-and-azure-pipelines-part-1/" TargetMode="Externa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hyperlink" Target="https://docs.microsoft.com/en-us/python/api/overview/azure/ml/?view=azure-ml-py" TargetMode="External"/><Relationship Id="rId13" Type="http://schemas.openxmlformats.org/officeDocument/2006/relationships/hyperlink" Target="https://docs.microsoft.com/en-us/azure/machine-learning/how-to-configure-auto-train#primary-metric" TargetMode="External"/><Relationship Id="rId3" Type="http://schemas.openxmlformats.org/officeDocument/2006/relationships/hyperlink" Target="https://docs.microsoft.com/en-us/python/api/azureml-core/azureml.core.datastore?view=azure-ml-py" TargetMode="External"/><Relationship Id="rId7" Type="http://schemas.openxmlformats.org/officeDocument/2006/relationships/hyperlink" Target="https://github.com/Azure/azure-sdk-for-python/tree/master/sdk/storage" TargetMode="External"/><Relationship Id="rId12" Type="http://schemas.openxmlformats.org/officeDocument/2006/relationships/hyperlink" Target="https://docs.microsoft.com/en-us/azure/machine-learning/how-to-understand-automated-ml#regressionforecasting-metrics" TargetMode="External"/><Relationship Id="rId2" Type="http://schemas.openxmlformats.org/officeDocument/2006/relationships/hyperlink" Target="https://github.com/microsoft/MLOpsPython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ocs.microsoft.com/en-us/rest/api/azure/" TargetMode="External"/><Relationship Id="rId11" Type="http://schemas.openxmlformats.org/officeDocument/2006/relationships/hyperlink" Target="https://towardsdatascience.com/hidden-tricks-for-running-automl-experiment-from-azure-machine-learning-sdk-915d4e3f840e" TargetMode="External"/><Relationship Id="rId5" Type="http://schemas.openxmlformats.org/officeDocument/2006/relationships/hyperlink" Target="https://docs.microsoft.com/en-us/azure/developer/python/" TargetMode="External"/><Relationship Id="rId10" Type="http://schemas.openxmlformats.org/officeDocument/2006/relationships/hyperlink" Target="https://docs.microsoft.com/en-us/azure/machine-learning/how-to-use-automlstep-in-pipelines" TargetMode="External"/><Relationship Id="rId4" Type="http://schemas.openxmlformats.org/officeDocument/2006/relationships/hyperlink" Target="https://docs.microsoft.com/en-us/azure/storage/files/storage-python-how-to-use-file-storage" TargetMode="External"/><Relationship Id="rId9" Type="http://schemas.openxmlformats.org/officeDocument/2006/relationships/hyperlink" Target="https://docs.microsoft.com/en-us/azure/machine-learning/how-to-trigger-published-pipeline#trigger-pipelines-with-azure-machine-learning-sdk-for-python" TargetMode="Externa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docs.microsoft.com/en-us/azure/machine-learning/concept-automated-ml" TargetMode="External"/><Relationship Id="rId13" Type="http://schemas.openxmlformats.org/officeDocument/2006/relationships/hyperlink" Target="https://github.com/alex-nogue/Machine_Learning_in_Power_BI#invoke-a-model-in-power-bi-using-azure-ml-service" TargetMode="External"/><Relationship Id="rId3" Type="http://schemas.openxmlformats.org/officeDocument/2006/relationships/hyperlink" Target="https://portal.azure.com/" TargetMode="External"/><Relationship Id="rId7" Type="http://schemas.openxmlformats.org/officeDocument/2006/relationships/hyperlink" Target="https://docs.microsoft.com/en-us/azure/synapse-analytics/sql-data-warehouse/sql-data-warehouse-manage-compute-rest-api" TargetMode="External"/><Relationship Id="rId12" Type="http://schemas.openxmlformats.org/officeDocument/2006/relationships/hyperlink" Target="https://docs.microsoft.com/en-us/azure/machine-learning/how-to-configure-auto-train" TargetMode="External"/><Relationship Id="rId2" Type="http://schemas.openxmlformats.org/officeDocument/2006/relationships/hyperlink" Target="https://github.com/microsoft/MCW-Azure-Synapse-Analytics-and-AI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ocs.microsoft.com/en-us/azure/synapse-analytics/sql-data-warehouse/sql-data-warehouse-service-capacity-limits" TargetMode="External"/><Relationship Id="rId11" Type="http://schemas.openxmlformats.org/officeDocument/2006/relationships/hyperlink" Target="https://github.com/microsoft/MCW-ML-Ops" TargetMode="External"/><Relationship Id="rId5" Type="http://schemas.openxmlformats.org/officeDocument/2006/relationships/hyperlink" Target="https://docs.microsoft.com/en-us/azure/synapse-analytics/sql/best-practices-sql-on-demand" TargetMode="External"/><Relationship Id="rId15" Type="http://schemas.openxmlformats.org/officeDocument/2006/relationships/hyperlink" Target="https://github.com/Azure/MachineLearningNotebooks/tree/master/tutorials" TargetMode="External"/><Relationship Id="rId10" Type="http://schemas.openxmlformats.org/officeDocument/2006/relationships/hyperlink" Target="https://github.com/microsoft/MCW-Machine-Learning" TargetMode="External"/><Relationship Id="rId4" Type="http://schemas.openxmlformats.org/officeDocument/2006/relationships/hyperlink" Target="https://github.com/microsoft/MCW-Azure-Synapse-Analytics-and-AI/blob/master/Hands-on%20lab/HOL%20step-by%20step%20-%20Azure%20Synapse%20Analytics%20and%20AI.md" TargetMode="External"/><Relationship Id="rId9" Type="http://schemas.openxmlformats.org/officeDocument/2006/relationships/hyperlink" Target="https://github.com/microsoft/solution-accelerator-many-models" TargetMode="External"/><Relationship Id="rId14" Type="http://schemas.openxmlformats.org/officeDocument/2006/relationships/hyperlink" Target="https://tsmatz.wordpress.com/2018/03/02/patterns-sql-server-machine-learning-services-r-and-python/" TargetMode="Externa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hyperlink" Target="https://azure.microsoft.com/en-us/blog/azure-data-factory-updates-integration-with-azure-machine-learning-2/" TargetMode="External"/><Relationship Id="rId13" Type="http://schemas.openxmlformats.org/officeDocument/2006/relationships/hyperlink" Target="https://docs.microsoft.com/en-us/azure/machine-learning/" TargetMode="External"/><Relationship Id="rId3" Type="http://schemas.openxmlformats.org/officeDocument/2006/relationships/hyperlink" Target="https://docs.microsoft.com/en-us/azure/storage/common/storage-use-azcopy-v10" TargetMode="External"/><Relationship Id="rId7" Type="http://schemas.openxmlformats.org/officeDocument/2006/relationships/hyperlink" Target="https://azure.microsoft.com/en-us/blog/retraining-and-updating-azure-machine-learning-models-with-azure-data-factory/" TargetMode="External"/><Relationship Id="rId12" Type="http://schemas.openxmlformats.org/officeDocument/2006/relationships/hyperlink" Target="https://www.youtube.com/watch?v=7k4XvM4wd0k" TargetMode="External"/><Relationship Id="rId2" Type="http://schemas.openxmlformats.org/officeDocument/2006/relationships/hyperlink" Target="https://www.microsoft.com/en-us/download/details.aspx?id=39717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danielstocker.net/what-is-the-difference-between-azure-standard-storage-and-azure-premium-storage/" TargetMode="External"/><Relationship Id="rId11" Type="http://schemas.openxmlformats.org/officeDocument/2006/relationships/hyperlink" Target="https://www.youtube.com/watch?v=lVP7ywRq8p4" TargetMode="External"/><Relationship Id="rId5" Type="http://schemas.openxmlformats.org/officeDocument/2006/relationships/hyperlink" Target="https://docs.microsoft.com/en-us/azure/storage/common/storage-use-azcopy-s3" TargetMode="External"/><Relationship Id="rId10" Type="http://schemas.openxmlformats.org/officeDocument/2006/relationships/hyperlink" Target="https://docs.microsoft.com/en-us/azure/machine-learning/tutorial-pipeline-batch-scoring-classification" TargetMode="External"/><Relationship Id="rId4" Type="http://schemas.openxmlformats.org/officeDocument/2006/relationships/hyperlink" Target="https://docs.microsoft.com/en-us/azure/storage/common/storage-ref-azcopy-copy" TargetMode="External"/><Relationship Id="rId9" Type="http://schemas.openxmlformats.org/officeDocument/2006/relationships/hyperlink" Target="https://docs.microsoft.com/en-us/azure/data-factory/transform-data-machine-learning-service" TargetMode="External"/><Relationship Id="rId14" Type="http://schemas.openxmlformats.org/officeDocument/2006/relationships/hyperlink" Target="https://docs.microsoft.com/en-us/learn/paths/build-ai-solutions-with-azure-ml-service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39E9F61-055F-1F43-B6F0-A3330AAA1662}"/>
              </a:ext>
            </a:extLst>
          </p:cNvPr>
          <p:cNvSpPr txBox="1"/>
          <p:nvPr/>
        </p:nvSpPr>
        <p:spPr>
          <a:xfrm>
            <a:off x="175971" y="37396"/>
            <a:ext cx="318124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Azure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86E237C-37FE-1047-BAB5-D55DF45BDC9E}"/>
              </a:ext>
            </a:extLst>
          </p:cNvPr>
          <p:cNvCxnSpPr/>
          <p:nvPr/>
        </p:nvCxnSpPr>
        <p:spPr>
          <a:xfrm flipV="1">
            <a:off x="5892800" y="329784"/>
            <a:ext cx="0" cy="6299616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BEF0E5AE-176E-D141-99F8-35ED49666992}"/>
              </a:ext>
            </a:extLst>
          </p:cNvPr>
          <p:cNvSpPr txBox="1"/>
          <p:nvPr/>
        </p:nvSpPr>
        <p:spPr>
          <a:xfrm>
            <a:off x="175971" y="935534"/>
            <a:ext cx="5334813" cy="56938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Machine Learning Workspace</a:t>
            </a:r>
            <a:r>
              <a:rPr lang="en-US" dirty="0"/>
              <a:t> – set of tools for ML</a:t>
            </a:r>
          </a:p>
          <a:p>
            <a:r>
              <a:rPr lang="en-US" dirty="0"/>
              <a:t>Azure Machine Learning Studio - python scripts, </a:t>
            </a:r>
            <a:r>
              <a:rPr lang="en-US" dirty="0" err="1"/>
              <a:t>jupyter</a:t>
            </a:r>
            <a:r>
              <a:rPr lang="en-US" dirty="0"/>
              <a:t> notebook, ML Studio notebooks, data storage, Linux VMs (single or clusters), </a:t>
            </a:r>
            <a:r>
              <a:rPr lang="en-US" dirty="0" err="1"/>
              <a:t>AutoML</a:t>
            </a:r>
            <a:r>
              <a:rPr lang="en-US" dirty="0"/>
              <a:t> (regression, classification, forecasting), automating experiments and whole ML workflows.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b="1" dirty="0">
                <a:solidFill>
                  <a:srgbClr val="FF0000"/>
                </a:solidFill>
              </a:rPr>
              <a:t>Azure Synapse Workspace</a:t>
            </a:r>
            <a:r>
              <a:rPr lang="en-US" dirty="0"/>
              <a:t> – newest collection of Azure tools for Analytics. </a:t>
            </a:r>
          </a:p>
          <a:p>
            <a:r>
              <a:rPr lang="en-US" dirty="0"/>
              <a:t> - </a:t>
            </a:r>
            <a:r>
              <a:rPr lang="en-US" dirty="0">
                <a:hlinkClick r:id="rId3"/>
              </a:rPr>
              <a:t>https://azure.microsoft.com/en-us/services/synapse-analytics/</a:t>
            </a:r>
            <a:endParaRPr lang="en-US" dirty="0"/>
          </a:p>
          <a:p>
            <a:r>
              <a:rPr lang="en-US" dirty="0"/>
              <a:t>It is a big set of tools: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Azure Storage Gen 2 - substitutes for Storage Gen1 and Data Lake Gen 1. Gen 2 is more reliable, efficient, cheaper, support for “Big Data” technologies.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Data pools (serverless, dedicated, spark, </a:t>
            </a:r>
            <a:r>
              <a:rPr lang="en-US" dirty="0" err="1"/>
              <a:t>databricks</a:t>
            </a:r>
            <a:r>
              <a:rPr lang="en-US" dirty="0"/>
              <a:t>).</a:t>
            </a:r>
            <a:br>
              <a:rPr lang="en-US" dirty="0"/>
            </a:br>
            <a:r>
              <a:rPr lang="en-US" dirty="0"/>
              <a:t>Dedicated SQL Pool = SQL </a:t>
            </a:r>
            <a:r>
              <a:rPr lang="en-US" dirty="0" err="1"/>
              <a:t>DataWarehouse</a:t>
            </a:r>
            <a:br>
              <a:rPr lang="en-US" dirty="0"/>
            </a:br>
            <a:r>
              <a:rPr lang="en-US" dirty="0"/>
              <a:t>You can query csv, </a:t>
            </a:r>
            <a:r>
              <a:rPr lang="en-US" dirty="0" err="1"/>
              <a:t>jason</a:t>
            </a:r>
            <a:r>
              <a:rPr lang="en-US" dirty="0"/>
              <a:t>, parquet files - serverless SQL pools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Compute clusters – including Spark &amp; Databricks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Data Factory – to automate data flows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Azure Synapse Link for Azure Cosmos DB - https://</a:t>
            </a:r>
            <a:r>
              <a:rPr lang="en-US" dirty="0" err="1"/>
              <a:t>docs.microsoft.com</a:t>
            </a:r>
            <a:r>
              <a:rPr lang="en-US" dirty="0"/>
              <a:t>/</a:t>
            </a:r>
            <a:r>
              <a:rPr lang="en-US" dirty="0" err="1"/>
              <a:t>en</a:t>
            </a:r>
            <a:r>
              <a:rPr lang="en-US" dirty="0"/>
              <a:t>-us/azure/cosmos-</a:t>
            </a:r>
            <a:r>
              <a:rPr lang="en-US" dirty="0" err="1"/>
              <a:t>db</a:t>
            </a:r>
            <a:r>
              <a:rPr lang="en-US" dirty="0"/>
              <a:t>/synapse-link -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Cosmos DB Analytica Store - </a:t>
            </a:r>
            <a:r>
              <a:rPr lang="en-US" dirty="0">
                <a:hlinkClick r:id="rId4"/>
              </a:rPr>
              <a:t>https://docs.microsoft.com/en-us/azure/cosmos-db/analytical-store-introduction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Power BI Integration</a:t>
            </a:r>
          </a:p>
        </p:txBody>
      </p:sp>
      <p:pic>
        <p:nvPicPr>
          <p:cNvPr id="1026" name="Picture 2" descr="Microsoft’s Azure Synapse Overview Slide">
            <a:extLst>
              <a:ext uri="{FF2B5EF4-FFF2-40B4-BE49-F238E27FC236}">
                <a16:creationId xmlns:a16="http://schemas.microsoft.com/office/drawing/2014/main" id="{C2E86A75-27FF-874C-996C-46322D019D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892800" y="37396"/>
            <a:ext cx="6228967" cy="37587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Elements inside Azure Synapse Analytics">
            <a:extLst>
              <a:ext uri="{FF2B5EF4-FFF2-40B4-BE49-F238E27FC236}">
                <a16:creationId xmlns:a16="http://schemas.microsoft.com/office/drawing/2014/main" id="{A7ED3D6D-D2F1-8C4A-BAE7-BABD4B6AF8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051850" y="4096512"/>
            <a:ext cx="5964180" cy="26202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798849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7384ECF0-3C64-8241-99B2-0AA612206F2C}"/>
              </a:ext>
            </a:extLst>
          </p:cNvPr>
          <p:cNvSpPr txBox="1"/>
          <p:nvPr/>
        </p:nvSpPr>
        <p:spPr>
          <a:xfrm>
            <a:off x="215153" y="152975"/>
            <a:ext cx="1133856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Azure ML : </a:t>
            </a:r>
            <a:r>
              <a:rPr lang="en-US" sz="2400" b="1" dirty="0">
                <a:hlinkClick r:id="rId2"/>
              </a:rPr>
              <a:t>https://ml.azure.com</a:t>
            </a:r>
            <a:r>
              <a:rPr lang="en-US" sz="2400" b="1" dirty="0"/>
              <a:t> </a:t>
            </a:r>
          </a:p>
          <a:p>
            <a:endParaRPr lang="en-US" sz="1200" dirty="0"/>
          </a:p>
          <a:p>
            <a:r>
              <a:rPr lang="en-US" sz="1200" dirty="0"/>
              <a:t>Login into  </a:t>
            </a:r>
            <a:r>
              <a:rPr lang="en-US" sz="1200" dirty="0" err="1"/>
              <a:t>portal.azure.com</a:t>
            </a:r>
            <a:r>
              <a:rPr lang="en-US" sz="1200" dirty="0"/>
              <a:t>  ( </a:t>
            </a:r>
            <a:r>
              <a:rPr lang="en-US" sz="1200" dirty="0">
                <a:hlinkClick r:id="rId3"/>
              </a:rPr>
              <a:t>https://portal.azure.com</a:t>
            </a:r>
            <a:r>
              <a:rPr lang="en-US" sz="1200" dirty="0"/>
              <a:t> )</a:t>
            </a:r>
          </a:p>
          <a:p>
            <a:r>
              <a:rPr lang="en-US" sz="1200" dirty="0"/>
              <a:t>Move mouse to top-right and click on your icon (sign-in/sign-out) – and select a directory.</a:t>
            </a:r>
          </a:p>
          <a:p>
            <a:r>
              <a:rPr lang="en-US" sz="1200" dirty="0"/>
              <a:t>You may have several directories corresponding to your work with different clients.</a:t>
            </a:r>
          </a:p>
          <a:p>
            <a:endParaRPr lang="en-US" sz="1200" dirty="0"/>
          </a:p>
          <a:p>
            <a:r>
              <a:rPr lang="en-US" sz="1200" dirty="0"/>
              <a:t>Then select subscription</a:t>
            </a:r>
          </a:p>
          <a:p>
            <a:r>
              <a:rPr lang="en-US" sz="1200" dirty="0"/>
              <a:t>Then go to Machine learning (can search for it, or it is in the list)</a:t>
            </a:r>
          </a:p>
          <a:p>
            <a:endParaRPr lang="en-US" sz="1200" dirty="0"/>
          </a:p>
          <a:p>
            <a:r>
              <a:rPr lang="en-US" sz="1200" dirty="0"/>
              <a:t> - </a:t>
            </a:r>
            <a:r>
              <a:rPr lang="en-US" sz="1200" dirty="0">
                <a:hlinkClick r:id="rId4"/>
              </a:rPr>
              <a:t>https://ml.azure.com/selectWorkspace</a:t>
            </a:r>
            <a:r>
              <a:rPr lang="en-US" sz="1200" dirty="0"/>
              <a:t>  </a:t>
            </a:r>
          </a:p>
          <a:p>
            <a:r>
              <a:rPr lang="en-US" sz="1200" dirty="0"/>
              <a:t>Go into workspace machine learning, then find and click the </a:t>
            </a:r>
            <a:r>
              <a:rPr lang="en-US" sz="1200" dirty="0" err="1"/>
              <a:t>url</a:t>
            </a:r>
            <a:r>
              <a:rPr lang="en-US" sz="1200" dirty="0"/>
              <a:t> to </a:t>
            </a:r>
            <a:r>
              <a:rPr lang="en-US" sz="1200" b="1" dirty="0"/>
              <a:t>Azure Machine Learning Studio.</a:t>
            </a:r>
            <a:endParaRPr lang="en-US" sz="1200" dirty="0"/>
          </a:p>
          <a:p>
            <a:r>
              <a:rPr lang="en-US" sz="1200" dirty="0"/>
              <a:t>Here you can work with python notebooks, </a:t>
            </a:r>
          </a:p>
          <a:p>
            <a:r>
              <a:rPr lang="en-US" sz="1200" dirty="0"/>
              <a:t>create compute instances or clusters, </a:t>
            </a:r>
          </a:p>
          <a:p>
            <a:r>
              <a:rPr lang="en-US" sz="1200" dirty="0"/>
              <a:t>work with multiple data stores, </a:t>
            </a:r>
          </a:p>
          <a:p>
            <a:r>
              <a:rPr lang="en-US" sz="1200" dirty="0"/>
              <a:t>create datasets, pipelines, experiments, </a:t>
            </a:r>
          </a:p>
          <a:p>
            <a:r>
              <a:rPr lang="en-US" sz="1200" dirty="0"/>
              <a:t>run Automated ML, </a:t>
            </a:r>
          </a:p>
          <a:p>
            <a:r>
              <a:rPr lang="en-US" sz="1200" dirty="0"/>
              <a:t>create pickle model files, </a:t>
            </a:r>
          </a:p>
          <a:p>
            <a:r>
              <a:rPr lang="en-US" sz="1200" dirty="0"/>
              <a:t>use different open-source libraries (</a:t>
            </a:r>
            <a:r>
              <a:rPr lang="en-US" sz="1200" dirty="0" err="1"/>
              <a:t>sklearn</a:t>
            </a:r>
            <a:r>
              <a:rPr lang="en-US" sz="1200" dirty="0"/>
              <a:t>, TF, etc.), </a:t>
            </a:r>
          </a:p>
          <a:p>
            <a:r>
              <a:rPr lang="en-US" sz="1200" dirty="0"/>
              <a:t>register model endpoints, etc.</a:t>
            </a:r>
          </a:p>
          <a:p>
            <a:r>
              <a:rPr lang="en-US" sz="1200" dirty="0"/>
              <a:t># ----------------------------------------------</a:t>
            </a:r>
          </a:p>
        </p:txBody>
      </p:sp>
    </p:spTree>
    <p:extLst>
      <p:ext uri="{BB962C8B-B14F-4D97-AF65-F5344CB8AC3E}">
        <p14:creationId xmlns:p14="http://schemas.microsoft.com/office/powerpoint/2010/main" val="40457252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7384ECF0-3C64-8241-99B2-0AA612206F2C}"/>
              </a:ext>
            </a:extLst>
          </p:cNvPr>
          <p:cNvSpPr txBox="1"/>
          <p:nvPr/>
        </p:nvSpPr>
        <p:spPr>
          <a:xfrm>
            <a:off x="0" y="58846"/>
            <a:ext cx="7113494" cy="67403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Azure ML : Some Links</a:t>
            </a:r>
            <a:endParaRPr lang="en-US" sz="1200" dirty="0"/>
          </a:p>
          <a:p>
            <a:endParaRPr lang="en-US" sz="1200" dirty="0"/>
          </a:p>
          <a:p>
            <a:r>
              <a:rPr lang="en-US" sz="1200" dirty="0"/>
              <a:t>Here is a very good post on training using </a:t>
            </a:r>
            <a:r>
              <a:rPr lang="en-US" sz="1200" dirty="0" err="1"/>
              <a:t>sklearn</a:t>
            </a:r>
            <a:r>
              <a:rPr lang="en-US" sz="1200" dirty="0"/>
              <a:t> – and then register the model in ML Studio:</a:t>
            </a:r>
          </a:p>
          <a:p>
            <a:r>
              <a:rPr lang="en-US" sz="1200" dirty="0">
                <a:hlinkClick r:id="rId2"/>
              </a:rPr>
              <a:t>https://towardsdatascience.com/deploying-ml-models-on-azure-a948c106f7b5</a:t>
            </a:r>
            <a:r>
              <a:rPr lang="en-US" sz="1200" dirty="0"/>
              <a:t> </a:t>
            </a:r>
          </a:p>
          <a:p>
            <a:r>
              <a:rPr lang="en-US" sz="1200" dirty="0"/>
              <a:t>or</a:t>
            </a:r>
          </a:p>
          <a:p>
            <a:r>
              <a:rPr lang="en-US" sz="1200" dirty="0">
                <a:hlinkClick r:id="rId3"/>
              </a:rPr>
              <a:t>https://ai.plainenglish.io/deploying-ml-models-on-azure-8daa9c10db5a</a:t>
            </a:r>
            <a:r>
              <a:rPr lang="en-US" sz="1200" dirty="0"/>
              <a:t> </a:t>
            </a:r>
          </a:p>
          <a:p>
            <a:endParaRPr lang="en-US" sz="1200" dirty="0"/>
          </a:p>
          <a:p>
            <a:r>
              <a:rPr lang="en-US" sz="1200" dirty="0"/>
              <a:t>This above tutorial doesn't actually "deploy" the model.</a:t>
            </a:r>
          </a:p>
          <a:p>
            <a:r>
              <a:rPr lang="en-US" sz="1200" dirty="0"/>
              <a:t>The more appropriate title should be "</a:t>
            </a:r>
            <a:r>
              <a:rPr lang="en-US" sz="1200" b="1" dirty="0">
                <a:solidFill>
                  <a:srgbClr val="00B050"/>
                </a:solidFill>
              </a:rPr>
              <a:t>Register your custom python model in ML Studio</a:t>
            </a:r>
            <a:r>
              <a:rPr lang="en-US" sz="1200" dirty="0"/>
              <a:t>"</a:t>
            </a:r>
          </a:p>
          <a:p>
            <a:r>
              <a:rPr lang="en-US" sz="1200" dirty="0"/>
              <a:t>Note</a:t>
            </a:r>
          </a:p>
          <a:p>
            <a:r>
              <a:rPr lang="en-US" sz="1200" dirty="0"/>
              <a:t>The author uses specific library to store the model into pickle:</a:t>
            </a:r>
          </a:p>
          <a:p>
            <a:r>
              <a:rPr lang="en-US" sz="1200" dirty="0"/>
              <a:t> </a:t>
            </a: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from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sklearn.externals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import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joblib</a:t>
            </a:r>
            <a:endParaRPr lang="en-US" sz="1200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joblib.dump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(value=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mymodel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 filename="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mymodel.pkl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")</a:t>
            </a:r>
          </a:p>
          <a:p>
            <a:r>
              <a:rPr lang="en-US" sz="1200" dirty="0"/>
              <a:t> </a:t>
            </a:r>
          </a:p>
          <a:p>
            <a:r>
              <a:rPr lang="en-US" sz="1200" dirty="0"/>
              <a:t>and then:</a:t>
            </a:r>
          </a:p>
          <a:p>
            <a:r>
              <a:rPr lang="en-US" sz="1200" dirty="0"/>
              <a:t> </a:t>
            </a: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from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azureml.core.model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import Model</a:t>
            </a: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model =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Model.register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workspace=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ws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model_path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="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mymodel.pkl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",</a:t>
            </a: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model_name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="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boston_housing_lr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")</a:t>
            </a:r>
          </a:p>
          <a:p>
            <a:r>
              <a:rPr lang="en-US" sz="1200" dirty="0"/>
              <a:t> </a:t>
            </a:r>
          </a:p>
          <a:p>
            <a:r>
              <a:rPr lang="en-US" sz="1200" dirty="0"/>
              <a:t>Then you can use the second tutorial:</a:t>
            </a:r>
          </a:p>
          <a:p>
            <a:r>
              <a:rPr lang="en-US" sz="1200" dirty="0">
                <a:hlinkClick r:id="rId4"/>
              </a:rPr>
              <a:t>https://docs.microsoft.com/en-us/azure/machine-learning/how-to-deploy-and-where?tabs=azcli#script</a:t>
            </a:r>
            <a:r>
              <a:rPr lang="en-US" sz="1200" dirty="0"/>
              <a:t> </a:t>
            </a:r>
          </a:p>
          <a:p>
            <a:endParaRPr lang="en-US" sz="1200" dirty="0"/>
          </a:p>
          <a:p>
            <a:r>
              <a:rPr lang="en-US" sz="1200" dirty="0"/>
              <a:t>which shows how to deploy the model.</a:t>
            </a:r>
          </a:p>
          <a:p>
            <a:r>
              <a:rPr lang="en-US" sz="1200" dirty="0"/>
              <a:t>For this deployment you will need to write the "</a:t>
            </a:r>
            <a:r>
              <a:rPr lang="en-US" sz="1200" b="1" dirty="0">
                <a:solidFill>
                  <a:srgbClr val="00B050"/>
                </a:solidFill>
              </a:rPr>
              <a:t>entry script</a:t>
            </a:r>
            <a:r>
              <a:rPr lang="en-US" sz="1200" dirty="0"/>
              <a:t>"</a:t>
            </a:r>
          </a:p>
          <a:p>
            <a:r>
              <a:rPr lang="en-US" sz="1200" dirty="0"/>
              <a:t> </a:t>
            </a:r>
          </a:p>
          <a:p>
            <a:r>
              <a:rPr lang="en-US" sz="1200" dirty="0"/>
              <a:t>which has to have two methods: </a:t>
            </a:r>
          </a:p>
          <a:p>
            <a:r>
              <a:rPr lang="en-US" sz="1200" dirty="0"/>
              <a:t>   </a:t>
            </a:r>
            <a:r>
              <a:rPr lang="en-US" sz="1200" b="1" dirty="0" err="1">
                <a:solidFill>
                  <a:srgbClr val="00B050"/>
                </a:solidFill>
              </a:rPr>
              <a:t>init</a:t>
            </a:r>
            <a:r>
              <a:rPr lang="en-US" sz="1200" b="1" dirty="0">
                <a:solidFill>
                  <a:srgbClr val="00B050"/>
                </a:solidFill>
              </a:rPr>
              <a:t>() and run()</a:t>
            </a:r>
          </a:p>
          <a:p>
            <a:r>
              <a:rPr lang="en-US" sz="1200" dirty="0"/>
              <a:t> </a:t>
            </a:r>
          </a:p>
          <a:p>
            <a:r>
              <a:rPr lang="en-US" sz="1200" dirty="0"/>
              <a:t>Once you have this script, you can go to your models (in ML Studio), </a:t>
            </a:r>
          </a:p>
          <a:p>
            <a:r>
              <a:rPr lang="en-US" sz="1200" dirty="0"/>
              <a:t>click on your model, then click on "Deploy" on top, </a:t>
            </a:r>
          </a:p>
          <a:p>
            <a:r>
              <a:rPr lang="en-US" sz="1200" dirty="0"/>
              <a:t>fill-in parameters (name, ... , entry script, ...) - and click the button to deploy it </a:t>
            </a:r>
          </a:p>
        </p:txBody>
      </p:sp>
    </p:spTree>
    <p:extLst>
      <p:ext uri="{BB962C8B-B14F-4D97-AF65-F5344CB8AC3E}">
        <p14:creationId xmlns:p14="http://schemas.microsoft.com/office/powerpoint/2010/main" val="230451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7384ECF0-3C64-8241-99B2-0AA612206F2C}"/>
              </a:ext>
            </a:extLst>
          </p:cNvPr>
          <p:cNvSpPr txBox="1"/>
          <p:nvPr/>
        </p:nvSpPr>
        <p:spPr>
          <a:xfrm>
            <a:off x="0" y="58846"/>
            <a:ext cx="1133856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Azure ML : Some Links</a:t>
            </a:r>
            <a:endParaRPr lang="en-US" sz="1200" dirty="0"/>
          </a:p>
          <a:p>
            <a:endParaRPr lang="en-US" sz="1200" dirty="0"/>
          </a:p>
          <a:p>
            <a:r>
              <a:rPr lang="en-US" sz="1200" dirty="0"/>
              <a:t>Good </a:t>
            </a:r>
            <a:r>
              <a:rPr lang="en-US" sz="1200" dirty="0" err="1"/>
              <a:t>youtube</a:t>
            </a:r>
            <a:r>
              <a:rPr lang="en-US" sz="1200" dirty="0"/>
              <a:t> video "Train and deploy ML models at scale using Azure Machine Learning | INT134C"  - </a:t>
            </a:r>
          </a:p>
          <a:p>
            <a:r>
              <a:rPr lang="en-US" sz="1200" dirty="0"/>
              <a:t>- </a:t>
            </a:r>
            <a:r>
              <a:rPr lang="en-US" sz="1200" u="sng" dirty="0">
                <a:hlinkClick r:id="rId2" tooltip="https://www.youtube.com/watch?v=2ogbxycnvgk"/>
              </a:rPr>
              <a:t>https://www.youtube.com/watch?v=2OgBxYCnVGk</a:t>
            </a:r>
            <a:r>
              <a:rPr lang="en-US" sz="1200" dirty="0"/>
              <a:t> </a:t>
            </a:r>
          </a:p>
          <a:p>
            <a:endParaRPr lang="en-US" sz="1200" dirty="0"/>
          </a:p>
          <a:p>
            <a:r>
              <a:rPr lang="en-US" sz="1200" dirty="0"/>
              <a:t>And here is the link from this video to a good 10-hrs course: "Build AI solutions with Azure Machine Learning" - 10 </a:t>
            </a:r>
            <a:r>
              <a:rPr lang="en-US" sz="1200" dirty="0" err="1"/>
              <a:t>hrs</a:t>
            </a:r>
            <a:r>
              <a:rPr lang="en-US" sz="1200" dirty="0"/>
              <a:t> - </a:t>
            </a:r>
            <a:br>
              <a:rPr lang="en-US" sz="1200" dirty="0"/>
            </a:br>
            <a:r>
              <a:rPr lang="en-US" sz="1200" dirty="0"/>
              <a:t> - </a:t>
            </a:r>
            <a:r>
              <a:rPr lang="en-US" sz="1200" u="sng" dirty="0">
                <a:hlinkClick r:id="rId3" tooltip="https://docs.microsoft.com/en-us/learn/paths/build-ai-solutions-with-azure-ml-service/"/>
              </a:rPr>
              <a:t>https://docs.microsoft.com/en-us/learn/paths/build-ai-solutions-with-azure-ml-service/</a:t>
            </a:r>
            <a:endParaRPr lang="en-US" sz="1200" dirty="0"/>
          </a:p>
          <a:p>
            <a:endParaRPr lang="en-US" sz="1200" dirty="0"/>
          </a:p>
          <a:p>
            <a:r>
              <a:rPr lang="en-US" sz="1200" dirty="0"/>
              <a:t>Yet another good tutorial - "Creating End-to-End </a:t>
            </a:r>
            <a:r>
              <a:rPr lang="en-US" sz="1200" dirty="0" err="1"/>
              <a:t>MLOps</a:t>
            </a:r>
            <a:r>
              <a:rPr lang="en-US" sz="1200" dirty="0"/>
              <a:t> pipelines:</a:t>
            </a:r>
            <a:br>
              <a:rPr lang="en-US" sz="1200" dirty="0"/>
            </a:br>
            <a:r>
              <a:rPr lang="en-US" sz="1200" dirty="0"/>
              <a:t> - </a:t>
            </a:r>
            <a:r>
              <a:rPr lang="en-US" sz="1200" u="sng" dirty="0">
                <a:hlinkClick r:id="rId4"/>
              </a:rPr>
              <a:t>https://benalexkeen.com/creating-end-to-end-mlops-pipelines-using-azure-ml-and-azure-pipelines-part-1/</a:t>
            </a:r>
            <a:endParaRPr lang="en-US" sz="1200" dirty="0"/>
          </a:p>
          <a:p>
            <a:endParaRPr lang="en-US" sz="1200" dirty="0"/>
          </a:p>
          <a:p>
            <a:r>
              <a:rPr lang="en-US" sz="1200" dirty="0"/>
              <a:t>Also:</a:t>
            </a:r>
          </a:p>
          <a:p>
            <a:r>
              <a:rPr lang="en-US" sz="1200" dirty="0">
                <a:hlinkClick r:id="rId5"/>
              </a:rPr>
              <a:t>https://docs.microsoft.com/en-us/azure/machine-learning/</a:t>
            </a:r>
            <a:r>
              <a:rPr lang="en-US" sz="1200" dirty="0"/>
              <a:t> </a:t>
            </a:r>
          </a:p>
          <a:p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2182771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7384ECF0-3C64-8241-99B2-0AA612206F2C}"/>
              </a:ext>
            </a:extLst>
          </p:cNvPr>
          <p:cNvSpPr txBox="1"/>
          <p:nvPr/>
        </p:nvSpPr>
        <p:spPr>
          <a:xfrm>
            <a:off x="0" y="58846"/>
            <a:ext cx="11338560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Azure ML : More Links</a:t>
            </a:r>
            <a:endParaRPr lang="en-US" sz="1200" dirty="0"/>
          </a:p>
          <a:p>
            <a:endParaRPr lang="en-US" sz="1200" dirty="0"/>
          </a:p>
          <a:p>
            <a:r>
              <a:rPr lang="en-US" sz="1200" dirty="0"/>
              <a:t>Google-</a:t>
            </a:r>
            <a:r>
              <a:rPr lang="en-US" sz="1200" dirty="0" err="1"/>
              <a:t>ing</a:t>
            </a:r>
            <a:r>
              <a:rPr lang="en-US" sz="1200" dirty="0"/>
              <a:t> mount datastore azure ml notebook - </a:t>
            </a:r>
          </a:p>
          <a:p>
            <a:r>
              <a:rPr lang="en-US" sz="1200" dirty="0"/>
              <a:t> - </a:t>
            </a:r>
            <a:r>
              <a:rPr lang="en-US" sz="1200" u="sng" dirty="0">
                <a:hlinkClick r:id="rId2"/>
              </a:rPr>
              <a:t>https://github.com/microsoft/MLOpsPython</a:t>
            </a:r>
            <a:r>
              <a:rPr lang="en-US" sz="1200" dirty="0"/>
              <a:t> </a:t>
            </a:r>
          </a:p>
          <a:p>
            <a:r>
              <a:rPr lang="en-US" sz="1200" dirty="0"/>
              <a:t> - </a:t>
            </a:r>
            <a:r>
              <a:rPr lang="en-US" sz="1200" u="sng" dirty="0">
                <a:hlinkClick r:id="rId3"/>
              </a:rPr>
              <a:t>https://docs.microsoft.com/en-us/python/api/azureml-core/azureml.core.datastore?view=azure-ml-py</a:t>
            </a:r>
            <a:endParaRPr lang="en-US" sz="1200" dirty="0"/>
          </a:p>
          <a:p>
            <a:endParaRPr lang="en-US" sz="1200" dirty="0"/>
          </a:p>
          <a:p>
            <a:r>
              <a:rPr lang="en-US" sz="1200" dirty="0"/>
              <a:t>Develop for Azure Files with Python - </a:t>
            </a:r>
          </a:p>
          <a:p>
            <a:r>
              <a:rPr lang="en-US" sz="1200" dirty="0"/>
              <a:t> - </a:t>
            </a:r>
            <a:r>
              <a:rPr lang="en-US" sz="1200" u="sng" dirty="0">
                <a:hlinkClick r:id="rId4"/>
              </a:rPr>
              <a:t>https://docs.microsoft.com/en-us/azure/storage/files/storage-python-how-to-use-file-storage</a:t>
            </a:r>
            <a:endParaRPr lang="en-US" sz="1200" dirty="0"/>
          </a:p>
          <a:p>
            <a:endParaRPr lang="en-US" sz="1200" dirty="0"/>
          </a:p>
          <a:p>
            <a:r>
              <a:rPr lang="en-US" sz="1200" dirty="0"/>
              <a:t>Azure for Python Developers - </a:t>
            </a:r>
          </a:p>
          <a:p>
            <a:r>
              <a:rPr lang="en-US" sz="1200" dirty="0"/>
              <a:t> - </a:t>
            </a:r>
            <a:r>
              <a:rPr lang="en-US" sz="1200" u="sng" dirty="0">
                <a:hlinkClick r:id="rId5"/>
              </a:rPr>
              <a:t>https://docs.microsoft.com/en-us/azure/developer/python/</a:t>
            </a:r>
            <a:r>
              <a:rPr lang="en-US" sz="1200" dirty="0"/>
              <a:t> </a:t>
            </a:r>
          </a:p>
          <a:p>
            <a:endParaRPr lang="en-US" sz="1200" dirty="0"/>
          </a:p>
          <a:p>
            <a:r>
              <a:rPr lang="en-US" sz="1200" dirty="0"/>
              <a:t>Azure REST API Reference - </a:t>
            </a:r>
          </a:p>
          <a:p>
            <a:r>
              <a:rPr lang="en-US" sz="1200" dirty="0"/>
              <a:t> - </a:t>
            </a:r>
            <a:r>
              <a:rPr lang="en-US" sz="1200" u="sng" dirty="0">
                <a:hlinkClick r:id="rId6"/>
              </a:rPr>
              <a:t>https://docs.microsoft.com/en-us/rest/api/azure/</a:t>
            </a:r>
            <a:endParaRPr lang="en-US" sz="1200" dirty="0"/>
          </a:p>
          <a:p>
            <a:endParaRPr lang="en-US" sz="1200" dirty="0"/>
          </a:p>
          <a:p>
            <a:r>
              <a:rPr lang="en-US" sz="1200" dirty="0"/>
              <a:t>Azure SDK for Python - </a:t>
            </a:r>
          </a:p>
          <a:p>
            <a:r>
              <a:rPr lang="en-US" sz="1200" dirty="0"/>
              <a:t> - </a:t>
            </a:r>
            <a:r>
              <a:rPr lang="en-US" sz="1200" u="sng" dirty="0">
                <a:hlinkClick r:id="rId7"/>
              </a:rPr>
              <a:t>https://github.com/Azure/azure-sdk-for-python/tree/master/sdk/storage</a:t>
            </a:r>
            <a:endParaRPr lang="en-US" sz="1200" dirty="0"/>
          </a:p>
          <a:p>
            <a:r>
              <a:rPr lang="en-US" sz="1200" dirty="0"/>
              <a:t> - </a:t>
            </a:r>
            <a:r>
              <a:rPr lang="en-US" sz="1200" u="sng" dirty="0">
                <a:hlinkClick r:id="rId8"/>
              </a:rPr>
              <a:t>https://docs.microsoft.com/en-us/python/api/overview/azure/ml/?view=azure-ml-py</a:t>
            </a:r>
            <a:r>
              <a:rPr lang="en-US" sz="1200" dirty="0"/>
              <a:t> – </a:t>
            </a:r>
          </a:p>
          <a:p>
            <a:endParaRPr lang="en-US" sz="1200" dirty="0"/>
          </a:p>
          <a:p>
            <a:r>
              <a:rPr lang="en-US" sz="1200" dirty="0"/>
              <a:t>Azure SDK – trigger published pipeline - </a:t>
            </a:r>
          </a:p>
          <a:p>
            <a:r>
              <a:rPr lang="en-US" sz="1200" dirty="0"/>
              <a:t> - </a:t>
            </a:r>
            <a:r>
              <a:rPr lang="en-US" sz="1200" dirty="0">
                <a:hlinkClick r:id="rId9"/>
              </a:rPr>
              <a:t>https://docs.microsoft.com/en-us/azure/machine-learning/how-to-trigger-published-pipeline#trigger-pipelines-with-azure-machine-learning-sdk-for-python</a:t>
            </a:r>
            <a:r>
              <a:rPr lang="en-US" sz="1200" dirty="0"/>
              <a:t> –</a:t>
            </a:r>
          </a:p>
          <a:p>
            <a:endParaRPr lang="en-US" sz="1200" dirty="0"/>
          </a:p>
          <a:p>
            <a:r>
              <a:rPr lang="en-US" sz="1200" dirty="0"/>
              <a:t>Automate ML Experiments</a:t>
            </a:r>
          </a:p>
          <a:p>
            <a:r>
              <a:rPr lang="en-US" sz="1200" dirty="0"/>
              <a:t> - </a:t>
            </a:r>
            <a:r>
              <a:rPr lang="en-US" sz="1200" dirty="0">
                <a:hlinkClick r:id="rId10"/>
              </a:rPr>
              <a:t>https://docs.microsoft.com/en-us/azure/machine-learning/how-to-use-automlstep-in-pipelines</a:t>
            </a:r>
            <a:r>
              <a:rPr lang="en-US" sz="1200" dirty="0"/>
              <a:t> - </a:t>
            </a:r>
          </a:p>
          <a:p>
            <a:r>
              <a:rPr lang="en-US" sz="1200" dirty="0"/>
              <a:t> - </a:t>
            </a:r>
            <a:r>
              <a:rPr lang="en-US" sz="1200" dirty="0">
                <a:hlinkClick r:id="rId11"/>
              </a:rPr>
              <a:t>https://towardsdatascience.com/hidden-tricks-for-running-automl-experiment-from-azure-machine-learning-sdk-915d4e3f840e</a:t>
            </a:r>
            <a:r>
              <a:rPr lang="en-US" sz="1200" dirty="0"/>
              <a:t> - </a:t>
            </a:r>
          </a:p>
          <a:p>
            <a:endParaRPr lang="en-US" sz="1200" dirty="0"/>
          </a:p>
          <a:p>
            <a:r>
              <a:rPr lang="en-US" sz="1200" dirty="0"/>
              <a:t>Understand </a:t>
            </a:r>
            <a:r>
              <a:rPr lang="en-US" sz="1200" dirty="0" err="1"/>
              <a:t>AutoML</a:t>
            </a:r>
            <a:endParaRPr lang="en-US" sz="1200" dirty="0"/>
          </a:p>
          <a:p>
            <a:r>
              <a:rPr lang="en-US" sz="1200" dirty="0"/>
              <a:t> - </a:t>
            </a:r>
            <a:r>
              <a:rPr lang="en-US" sz="1200" dirty="0">
                <a:hlinkClick r:id="rId12"/>
              </a:rPr>
              <a:t>https://docs.microsoft.com/en-us/azure/machine-learning/how-to-understand-automated-ml#regressionforecasting-metrics</a:t>
            </a:r>
            <a:r>
              <a:rPr lang="en-US" sz="1200" dirty="0"/>
              <a:t> - </a:t>
            </a:r>
          </a:p>
          <a:p>
            <a:r>
              <a:rPr lang="en-US" sz="1200" dirty="0"/>
              <a:t> - </a:t>
            </a:r>
            <a:r>
              <a:rPr lang="en-US" sz="1200" dirty="0">
                <a:hlinkClick r:id="rId13"/>
              </a:rPr>
              <a:t>https://docs.microsoft.com/en-us/azure/machine-learning/how-to-configure-auto-train#primary-metric</a:t>
            </a:r>
            <a:r>
              <a:rPr lang="en-US" sz="1200" dirty="0"/>
              <a:t> - </a:t>
            </a:r>
          </a:p>
        </p:txBody>
      </p:sp>
    </p:spTree>
    <p:extLst>
      <p:ext uri="{BB962C8B-B14F-4D97-AF65-F5344CB8AC3E}">
        <p14:creationId xmlns:p14="http://schemas.microsoft.com/office/powerpoint/2010/main" val="9273181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F24A4CB-AFAA-7F41-BCCE-3BB4D32B9131}"/>
              </a:ext>
            </a:extLst>
          </p:cNvPr>
          <p:cNvSpPr txBox="1"/>
          <p:nvPr/>
        </p:nvSpPr>
        <p:spPr>
          <a:xfrm>
            <a:off x="0" y="316992"/>
            <a:ext cx="12094464" cy="56015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Azure Synapse Analytics and AI</a:t>
            </a:r>
            <a:r>
              <a:rPr lang="en-US" sz="1200" dirty="0"/>
              <a:t> </a:t>
            </a:r>
          </a:p>
          <a:p>
            <a:r>
              <a:rPr lang="en-US" sz="1200" dirty="0"/>
              <a:t>(MCW = Microsoft Cloud Workshop) - </a:t>
            </a:r>
            <a:r>
              <a:rPr lang="en-US" sz="1200" dirty="0">
                <a:hlinkClick r:id="rId2"/>
              </a:rPr>
              <a:t>https://github.com/microsoft/MCW-Azure-Synapse-Analytics-and-AI</a:t>
            </a:r>
            <a:r>
              <a:rPr lang="en-US" sz="1200" dirty="0"/>
              <a:t> </a:t>
            </a:r>
          </a:p>
          <a:p>
            <a:r>
              <a:rPr lang="en-US" sz="1200" dirty="0"/>
              <a:t>Log-in to the Azure portal </a:t>
            </a:r>
            <a:r>
              <a:rPr lang="en-US" sz="1200" dirty="0">
                <a:hlinkClick r:id="rId3"/>
              </a:rPr>
              <a:t>https://portal.azure.com/</a:t>
            </a:r>
            <a:r>
              <a:rPr lang="en-US" sz="1200" dirty="0"/>
              <a:t> with provided credentials</a:t>
            </a:r>
          </a:p>
          <a:p>
            <a:r>
              <a:rPr lang="en-US" sz="1200" dirty="0"/>
              <a:t>Note - use incognito mode in Chrome, allow all cookies, stop all ad-blockers</a:t>
            </a:r>
          </a:p>
          <a:p>
            <a:r>
              <a:rPr lang="en-US" sz="1200" dirty="0"/>
              <a:t>Lab step-by-step here: </a:t>
            </a:r>
            <a:r>
              <a:rPr lang="en-US" sz="1000" dirty="0">
                <a:hlinkClick r:id="rId4"/>
              </a:rPr>
              <a:t>https://github.com/microsoft/MCW-Azure-Synapse-Analytics-and-AI/blob/master/Hands-on%20lab/HOL%20step-by%20step%20-%20Azure%20Synapse%20Analytics%20and%20AI.md</a:t>
            </a:r>
            <a:r>
              <a:rPr lang="en-US" sz="1200" dirty="0"/>
              <a:t> </a:t>
            </a:r>
          </a:p>
          <a:p>
            <a:endParaRPr lang="en-US" sz="1200" dirty="0"/>
          </a:p>
          <a:p>
            <a:r>
              <a:rPr lang="en-US" sz="1200" dirty="0"/>
              <a:t>Notes:</a:t>
            </a:r>
          </a:p>
          <a:p>
            <a:r>
              <a:rPr lang="en-US" sz="1200" dirty="0"/>
              <a:t>Three similar serverless solutions: Azure Serverless, Google </a:t>
            </a:r>
            <a:r>
              <a:rPr lang="en-US" sz="1200" dirty="0" err="1"/>
              <a:t>BigQuery</a:t>
            </a:r>
            <a:r>
              <a:rPr lang="en-US" sz="1200" dirty="0"/>
              <a:t>, AWS Athena. - </a:t>
            </a:r>
          </a:p>
          <a:p>
            <a:r>
              <a:rPr lang="en-US" sz="1200" dirty="0"/>
              <a:t>Best practices for serverless SQL pool: </a:t>
            </a:r>
            <a:r>
              <a:rPr lang="en-US" sz="1000" dirty="0">
                <a:hlinkClick r:id="rId5"/>
              </a:rPr>
              <a:t>https://docs.microsoft.com/en-us/azure/synapse-analytics/sql/best-practices-sql-on-demand</a:t>
            </a:r>
            <a:r>
              <a:rPr lang="en-US" sz="1000" dirty="0"/>
              <a:t> </a:t>
            </a:r>
          </a:p>
          <a:p>
            <a:r>
              <a:rPr lang="en-US" sz="1200" dirty="0"/>
              <a:t>Capacity limits for dedicated SQL pool in Azure Synapse Analytics: </a:t>
            </a:r>
            <a:r>
              <a:rPr lang="en-US" sz="1000" dirty="0">
                <a:hlinkClick r:id="rId6"/>
              </a:rPr>
              <a:t>https://docs.microsoft.com/en-us/azure/synapse-analytics/sql-data-warehouse/sql-data-warehouse-service-capacity-limits</a:t>
            </a:r>
            <a:r>
              <a:rPr lang="en-US" sz="1000" dirty="0"/>
              <a:t> </a:t>
            </a:r>
          </a:p>
          <a:p>
            <a:r>
              <a:rPr lang="en-US" sz="1200" dirty="0"/>
              <a:t>================================</a:t>
            </a:r>
          </a:p>
          <a:p>
            <a:r>
              <a:rPr lang="en-US" sz="1200" dirty="0"/>
              <a:t>REST APIs for dedicated SQL pool (formerly SQL DW) in Azure Synapse Analytics: </a:t>
            </a:r>
            <a:r>
              <a:rPr lang="en-US" sz="1000" dirty="0">
                <a:hlinkClick r:id="rId7"/>
              </a:rPr>
              <a:t>https://docs.microsoft.com/en-us/azure/synapse-analytics/sql-data-warehouse/sql-data-warehouse-manage-compute-rest-api</a:t>
            </a:r>
            <a:r>
              <a:rPr lang="en-US" sz="1000" dirty="0"/>
              <a:t> </a:t>
            </a:r>
          </a:p>
          <a:p>
            <a:r>
              <a:rPr lang="en-US" sz="1200" dirty="0"/>
              <a:t>What is Automated ML: </a:t>
            </a:r>
            <a:r>
              <a:rPr lang="en-US" sz="1000" dirty="0">
                <a:hlinkClick r:id="rId8"/>
              </a:rPr>
              <a:t>https://docs.microsoft.com/en-us/azure/machine-learning/concept-automated-ml</a:t>
            </a:r>
            <a:r>
              <a:rPr lang="en-US" sz="1200" dirty="0"/>
              <a:t> </a:t>
            </a:r>
          </a:p>
          <a:p>
            <a:r>
              <a:rPr lang="en-US" sz="1200" dirty="0"/>
              <a:t>Many Models Solution Accelerator: </a:t>
            </a:r>
            <a:r>
              <a:rPr lang="en-US" sz="1000" dirty="0">
                <a:hlinkClick r:id="rId9"/>
              </a:rPr>
              <a:t>https://github.com/microsoft/solution-accelerator-many-models</a:t>
            </a:r>
            <a:r>
              <a:rPr lang="en-US" sz="1200" dirty="0"/>
              <a:t> </a:t>
            </a:r>
          </a:p>
          <a:p>
            <a:r>
              <a:rPr lang="en-US" sz="1200" dirty="0"/>
              <a:t>Machine Learning Workshop: </a:t>
            </a:r>
            <a:r>
              <a:rPr lang="en-US" sz="1200" dirty="0">
                <a:hlinkClick r:id="rId10"/>
              </a:rPr>
              <a:t>https://github.com/microsoft/MCW-Machine-Learning</a:t>
            </a:r>
            <a:r>
              <a:rPr lang="en-US" sz="1200" dirty="0"/>
              <a:t> </a:t>
            </a:r>
          </a:p>
          <a:p>
            <a:r>
              <a:rPr lang="en-US" sz="1200" dirty="0"/>
              <a:t>ML Ops Workshop: </a:t>
            </a:r>
            <a:r>
              <a:rPr lang="en-US" sz="1200" dirty="0">
                <a:hlinkClick r:id="rId11"/>
              </a:rPr>
              <a:t>https://github.com/microsoft/MCW-ML-Ops</a:t>
            </a:r>
            <a:r>
              <a:rPr lang="en-US" sz="1200" dirty="0"/>
              <a:t> </a:t>
            </a:r>
          </a:p>
          <a:p>
            <a:r>
              <a:rPr lang="en-US" sz="1200" dirty="0"/>
              <a:t>Configure automated ML experiments in Python: </a:t>
            </a:r>
            <a:r>
              <a:rPr lang="en-US" sz="1200" dirty="0">
                <a:hlinkClick r:id="rId12"/>
              </a:rPr>
              <a:t>https://docs.microsoft.com/en-us/azure/machine-learning/how-to-configure-auto-train</a:t>
            </a:r>
            <a:r>
              <a:rPr lang="en-US" sz="1200" dirty="0"/>
              <a:t> </a:t>
            </a:r>
          </a:p>
          <a:p>
            <a:r>
              <a:rPr lang="en-US" sz="1200" dirty="0"/>
              <a:t>Trained Model can be registered in SQL as a function ! Recommended approach: pickle file of the model, convert to ONNX, use it from SQL server: </a:t>
            </a:r>
            <a:br>
              <a:rPr lang="en-US" sz="1200" dirty="0"/>
            </a:br>
            <a:r>
              <a:rPr lang="en-US" sz="1200" dirty="0"/>
              <a:t>   https://</a:t>
            </a:r>
            <a:r>
              <a:rPr lang="en-US" sz="1200" dirty="0" err="1"/>
              <a:t>docs.microsoft.com</a:t>
            </a:r>
            <a:r>
              <a:rPr lang="en-US" sz="1200" dirty="0"/>
              <a:t>/</a:t>
            </a:r>
            <a:r>
              <a:rPr lang="en-US" sz="1200" dirty="0" err="1"/>
              <a:t>en</a:t>
            </a:r>
            <a:r>
              <a:rPr lang="en-US" sz="1200" dirty="0"/>
              <a:t>-us/azure/synapse-analytics/</a:t>
            </a:r>
            <a:r>
              <a:rPr lang="en-US" sz="1200" dirty="0" err="1"/>
              <a:t>sql</a:t>
            </a:r>
            <a:r>
              <a:rPr lang="en-US" sz="1200" dirty="0"/>
              <a:t>-data-warehouse/</a:t>
            </a:r>
            <a:r>
              <a:rPr lang="en-US" sz="1200" dirty="0" err="1"/>
              <a:t>sql</a:t>
            </a:r>
            <a:r>
              <a:rPr lang="en-US" sz="1200" dirty="0"/>
              <a:t>-data-warehouse-predict</a:t>
            </a:r>
          </a:p>
          <a:p>
            <a:r>
              <a:rPr lang="en-US" sz="1200" dirty="0"/>
              <a:t>Alternatively - create a stored procedure to get the data - and then invoke model via cursor</a:t>
            </a:r>
          </a:p>
          <a:p>
            <a:r>
              <a:rPr lang="en-US" sz="1200" dirty="0"/>
              <a:t>Also the model may be invoked via REST API endpoint.</a:t>
            </a:r>
          </a:p>
          <a:p>
            <a:r>
              <a:rPr lang="en-US" sz="1200" dirty="0"/>
              <a:t>Invoke model from </a:t>
            </a:r>
            <a:r>
              <a:rPr lang="en-US" sz="1200" dirty="0" err="1"/>
              <a:t>PowerBI</a:t>
            </a:r>
            <a:r>
              <a:rPr lang="en-US" sz="1200" dirty="0"/>
              <a:t>: </a:t>
            </a:r>
            <a:r>
              <a:rPr lang="en-US" sz="1200" dirty="0">
                <a:hlinkClick r:id="rId13"/>
              </a:rPr>
              <a:t>https://github.com/alex-nogue/Machine_Learning_in_Power_BI#invoke-a-model-in-power-bi-using-azure-ml-service</a:t>
            </a:r>
            <a:r>
              <a:rPr lang="en-US" sz="1200" dirty="0"/>
              <a:t> </a:t>
            </a:r>
          </a:p>
          <a:p>
            <a:r>
              <a:rPr lang="en-US" sz="1200" dirty="0"/>
              <a:t>3 Ways to Run ML on SQL Server (ML Service, native PREDICT, and Remote Compute Context): </a:t>
            </a:r>
            <a:r>
              <a:rPr lang="en-US" sz="1200" dirty="0">
                <a:hlinkClick r:id="rId14"/>
              </a:rPr>
              <a:t>https://tsmatz.wordpress.com/2018/03/02/patterns-sql-server-machine-learning-services-r-and-python/</a:t>
            </a:r>
            <a:r>
              <a:rPr lang="en-US" sz="1200" dirty="0"/>
              <a:t> </a:t>
            </a:r>
          </a:p>
          <a:p>
            <a:r>
              <a:rPr lang="en-US" sz="1200" dirty="0"/>
              <a:t>Azure Machine Learning Tutorials: </a:t>
            </a:r>
            <a:r>
              <a:rPr lang="en-US" sz="1200" dirty="0">
                <a:hlinkClick r:id="rId15"/>
              </a:rPr>
              <a:t>https://github.com/Azure/MachineLearningNotebooks/tree/master/tutorials</a:t>
            </a:r>
            <a:r>
              <a:rPr lang="en-US" sz="1200" dirty="0"/>
              <a:t>  - </a:t>
            </a:r>
          </a:p>
          <a:p>
            <a:r>
              <a:rPr lang="en-US" sz="1200" dirty="0"/>
              <a:t> - </a:t>
            </a:r>
          </a:p>
          <a:p>
            <a:r>
              <a:rPr lang="en-US" sz="1200" dirty="0"/>
              <a:t> - </a:t>
            </a:r>
          </a:p>
          <a:p>
            <a:r>
              <a:rPr lang="en-US" sz="1200" dirty="0"/>
              <a:t> - </a:t>
            </a:r>
          </a:p>
          <a:p>
            <a:r>
              <a:rPr lang="en-US" sz="1200" dirty="0"/>
              <a:t> - </a:t>
            </a:r>
          </a:p>
        </p:txBody>
      </p:sp>
    </p:spTree>
    <p:extLst>
      <p:ext uri="{BB962C8B-B14F-4D97-AF65-F5344CB8AC3E}">
        <p14:creationId xmlns:p14="http://schemas.microsoft.com/office/powerpoint/2010/main" val="40655444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E6D09084-6DFA-8E43-8E28-6E16628E7670}"/>
              </a:ext>
            </a:extLst>
          </p:cNvPr>
          <p:cNvSpPr txBox="1"/>
          <p:nvPr/>
        </p:nvSpPr>
        <p:spPr>
          <a:xfrm>
            <a:off x="463296" y="316992"/>
            <a:ext cx="1116787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More Links:</a:t>
            </a:r>
          </a:p>
          <a:p>
            <a:endParaRPr lang="en-US" sz="1200" dirty="0"/>
          </a:p>
          <a:p>
            <a:r>
              <a:rPr lang="en-US" sz="1200" dirty="0"/>
              <a:t>Download Integration Runtime: </a:t>
            </a:r>
            <a:r>
              <a:rPr lang="en-US" sz="1200" dirty="0">
                <a:hlinkClick r:id="rId2"/>
              </a:rPr>
              <a:t>https://www.microsoft.com/en-us/download/details.aspx?id=39717</a:t>
            </a:r>
            <a:r>
              <a:rPr lang="en-US" sz="1200" dirty="0"/>
              <a:t> - </a:t>
            </a:r>
          </a:p>
          <a:p>
            <a:r>
              <a:rPr lang="en-US" sz="1200" dirty="0"/>
              <a:t>Download </a:t>
            </a:r>
            <a:r>
              <a:rPr lang="en-US" sz="1200" dirty="0" err="1"/>
              <a:t>AZCopy</a:t>
            </a:r>
            <a:r>
              <a:rPr lang="en-US" sz="1200" dirty="0"/>
              <a:t>: </a:t>
            </a:r>
            <a:r>
              <a:rPr lang="en-US" sz="1200" dirty="0">
                <a:hlinkClick r:id="rId3"/>
              </a:rPr>
              <a:t>https://docs.microsoft.com/en-us/azure/storage/common/storage-use-azcopy-v10</a:t>
            </a:r>
            <a:r>
              <a:rPr lang="en-US" sz="1200" dirty="0"/>
              <a:t> - </a:t>
            </a:r>
          </a:p>
          <a:p>
            <a:r>
              <a:rPr lang="en-US" sz="1200" dirty="0" err="1"/>
              <a:t>AZCopy</a:t>
            </a:r>
            <a:r>
              <a:rPr lang="en-US" sz="1200" dirty="0"/>
              <a:t> Documentation: </a:t>
            </a:r>
            <a:r>
              <a:rPr lang="en-US" sz="1200" dirty="0">
                <a:hlinkClick r:id="rId4"/>
              </a:rPr>
              <a:t>https://docs.microsoft.com/en-us/azure/storage/common/storage-ref-azcopy-copy</a:t>
            </a:r>
            <a:r>
              <a:rPr lang="en-US" sz="1200" dirty="0"/>
              <a:t> - </a:t>
            </a:r>
          </a:p>
          <a:p>
            <a:r>
              <a:rPr lang="en-US" sz="1200" dirty="0"/>
              <a:t>Transfer S3 using </a:t>
            </a:r>
            <a:r>
              <a:rPr lang="en-US" sz="1200" dirty="0" err="1"/>
              <a:t>AzCopy</a:t>
            </a:r>
            <a:r>
              <a:rPr lang="en-US" sz="1200" dirty="0"/>
              <a:t>: </a:t>
            </a:r>
            <a:r>
              <a:rPr lang="en-US" sz="1200" dirty="0">
                <a:hlinkClick r:id="rId5"/>
              </a:rPr>
              <a:t>https://docs.microsoft.com/en-us/azure/storage/common/storage-use-azcopy-s3</a:t>
            </a:r>
            <a:r>
              <a:rPr lang="en-US" sz="1200" dirty="0"/>
              <a:t> - </a:t>
            </a:r>
          </a:p>
          <a:p>
            <a:r>
              <a:rPr lang="en-US" sz="1200" dirty="0"/>
              <a:t>Differences between Standard and Premium storage: </a:t>
            </a:r>
            <a:r>
              <a:rPr lang="en-US" sz="1000" dirty="0">
                <a:hlinkClick r:id="rId6"/>
              </a:rPr>
              <a:t>https://www.danielstocker.net/what-is-the-difference-between-azure-standard-storage-and-azure-premium-storage/</a:t>
            </a:r>
            <a:r>
              <a:rPr lang="en-US" sz="1200" dirty="0"/>
              <a:t> - </a:t>
            </a:r>
          </a:p>
          <a:p>
            <a:r>
              <a:rPr lang="en-US" sz="1200" dirty="0"/>
              <a:t> -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D6F75D9-FF22-714C-8ECB-FD844B7B1C37}"/>
              </a:ext>
            </a:extLst>
          </p:cNvPr>
          <p:cNvSpPr txBox="1"/>
          <p:nvPr/>
        </p:nvSpPr>
        <p:spPr>
          <a:xfrm>
            <a:off x="463296" y="2548128"/>
            <a:ext cx="10106092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More links about deploying ML models &amp; pipelines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hlinkClick r:id="rId7"/>
              </a:rPr>
              <a:t>https://azure.microsoft.com/en-us/blog/retraining-and-updating-azure-machine-learning-models-with-azure-data-factory/</a:t>
            </a:r>
            <a:r>
              <a:rPr lang="en-US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hlinkClick r:id="rId8"/>
              </a:rPr>
              <a:t>https://azure.microsoft.com/en-us/blog/azure-data-factory-updates-integration-with-azure-machine-learning-2/</a:t>
            </a:r>
            <a:r>
              <a:rPr lang="en-US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hlinkClick r:id="rId9"/>
              </a:rPr>
              <a:t>https://docs.microsoft.com/en-us/azure///data-factory/transform-data-machine-learning-service</a:t>
            </a:r>
            <a:r>
              <a:rPr lang="en-US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hlinkClick r:id="rId10"/>
              </a:rPr>
              <a:t>https://docs.microsoft.com/en-us/azure/machine-learning/tutorial-pipeline-batch-scoring-classification</a:t>
            </a:r>
            <a:r>
              <a:rPr lang="en-US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hlinkClick r:id="rId11"/>
              </a:rPr>
              <a:t>https://www.youtube.com/watch?v=lVP7ywRq8p4</a:t>
            </a:r>
            <a:r>
              <a:rPr lang="en-US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hlinkClick r:id="rId12"/>
              </a:rPr>
              <a:t>https://www.youtube.com/watch?v=7k4XvM4wd0k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hlinkClick r:id="rId13"/>
              </a:rPr>
              <a:t>https://docs.microsoft.com/en-us/azure/machine-learning/</a:t>
            </a:r>
            <a:r>
              <a:rPr lang="en-US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hlinkClick r:id="rId14"/>
              </a:rPr>
              <a:t>https://docs.microsoft.com/en-us/learn/paths/build-ai-solutions-with-azure-ml-service/</a:t>
            </a:r>
            <a:endParaRPr lang="en-US" dirty="0"/>
          </a:p>
          <a:p>
            <a:r>
              <a:rPr lang="en-US" dirty="0"/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39334020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3323</TotalTime>
  <Words>1710</Words>
  <Application>Microsoft Macintosh PowerPoint</Application>
  <PresentationFormat>Widescreen</PresentationFormat>
  <Paragraphs>157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Menlo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Lev Selector</cp:lastModifiedBy>
  <cp:revision>318</cp:revision>
  <cp:lastPrinted>2020-09-21T17:22:59Z</cp:lastPrinted>
  <dcterms:modified xsi:type="dcterms:W3CDTF">2021-03-04T20:35:40Z</dcterms:modified>
</cp:coreProperties>
</file>