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6"/>
  </p:notesMasterIdLst>
  <p:sldIdLst>
    <p:sldId id="313" r:id="rId2"/>
    <p:sldId id="314" r:id="rId3"/>
    <p:sldId id="315" r:id="rId4"/>
    <p:sldId id="316" r:id="rId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59"/>
    <p:restoredTop sz="92244"/>
  </p:normalViewPr>
  <p:slideViewPr>
    <p:cSldViewPr snapToGrid="0" snapToObjects="1">
      <p:cViewPr varScale="1">
        <p:scale>
          <a:sx n="105" d="100"/>
          <a:sy n="105" d="100"/>
        </p:scale>
        <p:origin x="108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6091407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azure.microsoft.com/en-us/services/synapse-analytics/"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docs.microsoft.com/en-us/azure/cosmos-db/analytical-store-introduction" TargetMode="External"/></Relationships>
</file>

<file path=ppt/slides/_rels/slide2.xml.rels><?xml version="1.0" encoding="UTF-8" standalone="yes"?>
<Relationships xmlns="http://schemas.openxmlformats.org/package/2006/relationships"><Relationship Id="rId8" Type="http://schemas.openxmlformats.org/officeDocument/2006/relationships/hyperlink" Target="https://docs.microsoft.com/en-us/python/api/azureml-core/azureml.core.datastore?view=azure-ml-py" TargetMode="External"/><Relationship Id="rId13" Type="http://schemas.openxmlformats.org/officeDocument/2006/relationships/hyperlink" Target="https://docs.microsoft.com/en-us/python/api/overview/azure/ml/?view=azure-ml-py" TargetMode="External"/><Relationship Id="rId18" Type="http://schemas.openxmlformats.org/officeDocument/2006/relationships/hyperlink" Target="https://docs.microsoft.com/en-us/azure/machine-learning/how-to-configure-auto-train#primary-metric" TargetMode="External"/><Relationship Id="rId3" Type="http://schemas.openxmlformats.org/officeDocument/2006/relationships/hyperlink" Target="https://ml.azure.com/selectWorkspace" TargetMode="External"/><Relationship Id="rId7" Type="http://schemas.openxmlformats.org/officeDocument/2006/relationships/hyperlink" Target="https://github.com/microsoft/MLOpsPython" TargetMode="External"/><Relationship Id="rId12" Type="http://schemas.openxmlformats.org/officeDocument/2006/relationships/hyperlink" Target="https://github.com/Azure/azure-sdk-for-python/tree/master/sdk/storage" TargetMode="External"/><Relationship Id="rId17" Type="http://schemas.openxmlformats.org/officeDocument/2006/relationships/hyperlink" Target="https://docs.microsoft.com/en-us/azure/machine-learning/how-to-understand-automated-ml#regressionforecasting-metrics" TargetMode="External"/><Relationship Id="rId2" Type="http://schemas.openxmlformats.org/officeDocument/2006/relationships/hyperlink" Target="https://ml.azure.com/" TargetMode="External"/><Relationship Id="rId16" Type="http://schemas.openxmlformats.org/officeDocument/2006/relationships/hyperlink" Target="https://towardsdatascience.com/hidden-tricks-for-running-automl-experiment-from-azure-machine-learning-sdk-915d4e3f840e" TargetMode="External"/><Relationship Id="rId1" Type="http://schemas.openxmlformats.org/officeDocument/2006/relationships/slideLayout" Target="../slideLayouts/slideLayout2.xml"/><Relationship Id="rId6" Type="http://schemas.openxmlformats.org/officeDocument/2006/relationships/hyperlink" Target="https://benalexkeen.com/creating-end-to-end-mlops-pipelines-using-azure-ml-and-azure-pipelines-part-1/" TargetMode="External"/><Relationship Id="rId11" Type="http://schemas.openxmlformats.org/officeDocument/2006/relationships/hyperlink" Target="https://docs.microsoft.com/en-us/rest/api/azure/" TargetMode="External"/><Relationship Id="rId5" Type="http://schemas.openxmlformats.org/officeDocument/2006/relationships/hyperlink" Target="https://docs.microsoft.com/en-us/learn/paths/build-ai-solutions-with-azure-ml-service/" TargetMode="External"/><Relationship Id="rId15" Type="http://schemas.openxmlformats.org/officeDocument/2006/relationships/hyperlink" Target="https://docs.microsoft.com/en-us/azure/machine-learning/how-to-use-automlstep-in-pipelines" TargetMode="External"/><Relationship Id="rId10" Type="http://schemas.openxmlformats.org/officeDocument/2006/relationships/hyperlink" Target="https://docs.microsoft.com/en-us/azure/developer/python/" TargetMode="External"/><Relationship Id="rId4" Type="http://schemas.openxmlformats.org/officeDocument/2006/relationships/hyperlink" Target="https://www.youtube.com/watch?v=2OgBxYCnVGk" TargetMode="External"/><Relationship Id="rId9" Type="http://schemas.openxmlformats.org/officeDocument/2006/relationships/hyperlink" Target="https://docs.microsoft.com/en-us/azure/storage/files/storage-python-how-to-use-file-storage" TargetMode="External"/><Relationship Id="rId14" Type="http://schemas.openxmlformats.org/officeDocument/2006/relationships/hyperlink" Target="https://docs.microsoft.com/en-us/azure/machine-learning/how-to-trigger-published-pipeline#trigger-pipelines-with-azure-machine-learning-sdk-for-python" TargetMode="External"/></Relationships>
</file>

<file path=ppt/slides/_rels/slide3.xml.rels><?xml version="1.0" encoding="UTF-8" standalone="yes"?>
<Relationships xmlns="http://schemas.openxmlformats.org/package/2006/relationships"><Relationship Id="rId8" Type="http://schemas.openxmlformats.org/officeDocument/2006/relationships/hyperlink" Target="https://docs.microsoft.com/en-us/azure/machine-learning/concept-automated-ml" TargetMode="External"/><Relationship Id="rId13" Type="http://schemas.openxmlformats.org/officeDocument/2006/relationships/hyperlink" Target="https://github.com/alex-nogue/Machine_Learning_in_Power_BI#invoke-a-model-in-power-bi-using-azure-ml-service" TargetMode="External"/><Relationship Id="rId3" Type="http://schemas.openxmlformats.org/officeDocument/2006/relationships/hyperlink" Target="https://portal.azure.com/" TargetMode="External"/><Relationship Id="rId7" Type="http://schemas.openxmlformats.org/officeDocument/2006/relationships/hyperlink" Target="https://docs.microsoft.com/en-us/azure/synapse-analytics/sql-data-warehouse/sql-data-warehouse-manage-compute-rest-api" TargetMode="External"/><Relationship Id="rId12" Type="http://schemas.openxmlformats.org/officeDocument/2006/relationships/hyperlink" Target="https://docs.microsoft.com/en-us/azure/machine-learning/how-to-configure-auto-train" TargetMode="External"/><Relationship Id="rId2" Type="http://schemas.openxmlformats.org/officeDocument/2006/relationships/hyperlink" Target="https://github.com/microsoft/MCW-Azure-Synapse-Analytics-and-AI" TargetMode="External"/><Relationship Id="rId1" Type="http://schemas.openxmlformats.org/officeDocument/2006/relationships/slideLayout" Target="../slideLayouts/slideLayout2.xml"/><Relationship Id="rId6" Type="http://schemas.openxmlformats.org/officeDocument/2006/relationships/hyperlink" Target="https://docs.microsoft.com/en-us/azure/synapse-analytics/sql-data-warehouse/sql-data-warehouse-service-capacity-limits" TargetMode="External"/><Relationship Id="rId11" Type="http://schemas.openxmlformats.org/officeDocument/2006/relationships/hyperlink" Target="https://github.com/microsoft/MCW-ML-Ops" TargetMode="External"/><Relationship Id="rId5" Type="http://schemas.openxmlformats.org/officeDocument/2006/relationships/hyperlink" Target="https://docs.microsoft.com/en-us/azure/synapse-analytics/sql/best-practices-sql-on-demand" TargetMode="External"/><Relationship Id="rId15" Type="http://schemas.openxmlformats.org/officeDocument/2006/relationships/hyperlink" Target="https://github.com/Azure/MachineLearningNotebooks/tree/master/tutorials" TargetMode="External"/><Relationship Id="rId10" Type="http://schemas.openxmlformats.org/officeDocument/2006/relationships/hyperlink" Target="https://github.com/microsoft/MCW-Machine-Learning" TargetMode="External"/><Relationship Id="rId4" Type="http://schemas.openxmlformats.org/officeDocument/2006/relationships/hyperlink" Target="https://github.com/microsoft/MCW-Azure-Synapse-Analytics-and-AI/blob/master/Hands-on%20lab/HOL%20step-by%20step%20-%20Azure%20Synapse%20Analytics%20and%20AI.md" TargetMode="External"/><Relationship Id="rId9" Type="http://schemas.openxmlformats.org/officeDocument/2006/relationships/hyperlink" Target="https://github.com/microsoft/solution-accelerator-many-models" TargetMode="External"/><Relationship Id="rId14" Type="http://schemas.openxmlformats.org/officeDocument/2006/relationships/hyperlink" Target="https://tsmatz.wordpress.com/2018/03/02/patterns-sql-server-machine-learning-services-r-and-python/"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docs.microsoft.com/en-us/azure/storage/common/storage-use-azcopy-v10" TargetMode="External"/><Relationship Id="rId2" Type="http://schemas.openxmlformats.org/officeDocument/2006/relationships/hyperlink" Target="https://www.microsoft.com/en-us/download/details.aspx?id=39717" TargetMode="External"/><Relationship Id="rId1" Type="http://schemas.openxmlformats.org/officeDocument/2006/relationships/slideLayout" Target="../slideLayouts/slideLayout2.xml"/><Relationship Id="rId6" Type="http://schemas.openxmlformats.org/officeDocument/2006/relationships/hyperlink" Target="https://www.danielstocker.net/what-is-the-difference-between-azure-standard-storage-and-azure-premium-storage/" TargetMode="External"/><Relationship Id="rId5" Type="http://schemas.openxmlformats.org/officeDocument/2006/relationships/hyperlink" Target="https://docs.microsoft.com/en-us/azure/storage/common/storage-use-azcopy-s3" TargetMode="External"/><Relationship Id="rId4" Type="http://schemas.openxmlformats.org/officeDocument/2006/relationships/hyperlink" Target="https://docs.microsoft.com/en-us/azure/storage/common/storage-ref-azcopy-copy"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39E9F61-055F-1F43-B6F0-A3330AAA1662}"/>
              </a:ext>
            </a:extLst>
          </p:cNvPr>
          <p:cNvSpPr txBox="1"/>
          <p:nvPr/>
        </p:nvSpPr>
        <p:spPr>
          <a:xfrm>
            <a:off x="175971" y="37396"/>
            <a:ext cx="3181241" cy="584775"/>
          </a:xfrm>
          <a:prstGeom prst="rect">
            <a:avLst/>
          </a:prstGeom>
          <a:noFill/>
        </p:spPr>
        <p:txBody>
          <a:bodyPr wrap="square" rtlCol="0">
            <a:spAutoFit/>
          </a:bodyPr>
          <a:lstStyle/>
          <a:p>
            <a:r>
              <a:rPr lang="en-US" sz="3200" b="1" dirty="0">
                <a:solidFill>
                  <a:srgbClr val="0070C0"/>
                </a:solidFill>
              </a:rPr>
              <a:t>Azure</a:t>
            </a:r>
          </a:p>
        </p:txBody>
      </p:sp>
      <p:cxnSp>
        <p:nvCxnSpPr>
          <p:cNvPr id="8" name="Straight Connector 7">
            <a:extLst>
              <a:ext uri="{FF2B5EF4-FFF2-40B4-BE49-F238E27FC236}">
                <a16:creationId xmlns:a16="http://schemas.microsoft.com/office/drawing/2014/main" id="{E86E237C-37FE-1047-BAB5-D55DF45BDC9E}"/>
              </a:ext>
            </a:extLst>
          </p:cNvPr>
          <p:cNvCxnSpPr/>
          <p:nvPr/>
        </p:nvCxnSpPr>
        <p:spPr>
          <a:xfrm flipV="1">
            <a:off x="5892800" y="329784"/>
            <a:ext cx="0" cy="6299616"/>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BEF0E5AE-176E-D141-99F8-35ED49666992}"/>
              </a:ext>
            </a:extLst>
          </p:cNvPr>
          <p:cNvSpPr txBox="1"/>
          <p:nvPr/>
        </p:nvSpPr>
        <p:spPr>
          <a:xfrm>
            <a:off x="175971" y="935534"/>
            <a:ext cx="5334813" cy="5693866"/>
          </a:xfrm>
          <a:prstGeom prst="rect">
            <a:avLst/>
          </a:prstGeom>
          <a:noFill/>
        </p:spPr>
        <p:txBody>
          <a:bodyPr wrap="square" rtlCol="0">
            <a:spAutoFit/>
          </a:bodyPr>
          <a:lstStyle/>
          <a:p>
            <a:r>
              <a:rPr lang="en-US" b="1" dirty="0">
                <a:solidFill>
                  <a:srgbClr val="FF0000"/>
                </a:solidFill>
              </a:rPr>
              <a:t>Machine Learning Workspace</a:t>
            </a:r>
            <a:r>
              <a:rPr lang="en-US" dirty="0"/>
              <a:t> – set of tools for ML</a:t>
            </a:r>
          </a:p>
          <a:p>
            <a:r>
              <a:rPr lang="en-US" dirty="0"/>
              <a:t>Azure Machine Learning Studio - python scripts, </a:t>
            </a:r>
            <a:r>
              <a:rPr lang="en-US" dirty="0" err="1"/>
              <a:t>jupyter</a:t>
            </a:r>
            <a:r>
              <a:rPr lang="en-US" dirty="0"/>
              <a:t> notebook, ML Studio notebooks, data storage, Linux VMs (single or clusters), </a:t>
            </a:r>
            <a:r>
              <a:rPr lang="en-US" dirty="0" err="1"/>
              <a:t>AutoML</a:t>
            </a:r>
            <a:r>
              <a:rPr lang="en-US" dirty="0"/>
              <a:t> (regression, classification, forecasting), automating experiments and whole ML workflows.</a:t>
            </a:r>
          </a:p>
          <a:p>
            <a:endParaRPr lang="en-US" dirty="0"/>
          </a:p>
          <a:p>
            <a:endParaRPr lang="en-US" dirty="0"/>
          </a:p>
          <a:p>
            <a:r>
              <a:rPr lang="en-US" b="1" dirty="0">
                <a:solidFill>
                  <a:srgbClr val="FF0000"/>
                </a:solidFill>
              </a:rPr>
              <a:t>Azure Synapse Workspace</a:t>
            </a:r>
            <a:r>
              <a:rPr lang="en-US" dirty="0"/>
              <a:t> – newest collection of Azure tools for Analytics. </a:t>
            </a:r>
          </a:p>
          <a:p>
            <a:r>
              <a:rPr lang="en-US" dirty="0"/>
              <a:t> - </a:t>
            </a:r>
            <a:r>
              <a:rPr lang="en-US" dirty="0">
                <a:hlinkClick r:id="rId3"/>
              </a:rPr>
              <a:t>https://azure.microsoft.com/en-us/services/synapse-analytics/</a:t>
            </a:r>
            <a:endParaRPr lang="en-US" dirty="0"/>
          </a:p>
          <a:p>
            <a:r>
              <a:rPr lang="en-US" dirty="0"/>
              <a:t>It is a big set of tools:</a:t>
            </a:r>
          </a:p>
          <a:p>
            <a:pPr marL="285750" indent="-285750">
              <a:buFont typeface="Arial" panose="020B0604020202020204" pitchFamily="34" charset="0"/>
              <a:buChar char="•"/>
            </a:pPr>
            <a:r>
              <a:rPr lang="en-US" dirty="0"/>
              <a:t>Azure Storage Gen 2 - substitutes for Storage Gen1 and Data Lake Gen 1. Gen 2 is more reliable, efficient, cheaper, support for “Big Data” technologies.</a:t>
            </a:r>
          </a:p>
          <a:p>
            <a:pPr marL="285750" indent="-285750">
              <a:buFont typeface="Arial" panose="020B0604020202020204" pitchFamily="34" charset="0"/>
              <a:buChar char="•"/>
            </a:pPr>
            <a:r>
              <a:rPr lang="en-US" dirty="0"/>
              <a:t>Data pools (serverless, dedicated, spark, </a:t>
            </a:r>
            <a:r>
              <a:rPr lang="en-US" dirty="0" err="1"/>
              <a:t>databricks</a:t>
            </a:r>
            <a:r>
              <a:rPr lang="en-US" dirty="0"/>
              <a:t>).</a:t>
            </a:r>
            <a:br>
              <a:rPr lang="en-US" dirty="0"/>
            </a:br>
            <a:r>
              <a:rPr lang="en-US" dirty="0"/>
              <a:t>Dedicated SQL Pool = SQL </a:t>
            </a:r>
            <a:r>
              <a:rPr lang="en-US" dirty="0" err="1"/>
              <a:t>DataWarehouse</a:t>
            </a:r>
            <a:br>
              <a:rPr lang="en-US" dirty="0"/>
            </a:br>
            <a:r>
              <a:rPr lang="en-US" dirty="0"/>
              <a:t>You can query csv, </a:t>
            </a:r>
            <a:r>
              <a:rPr lang="en-US" dirty="0" err="1"/>
              <a:t>jason</a:t>
            </a:r>
            <a:r>
              <a:rPr lang="en-US" dirty="0"/>
              <a:t>, parquet files - serverless SQL pools</a:t>
            </a:r>
          </a:p>
          <a:p>
            <a:pPr marL="285750" indent="-285750">
              <a:buFont typeface="Arial" panose="020B0604020202020204" pitchFamily="34" charset="0"/>
              <a:buChar char="•"/>
            </a:pPr>
            <a:r>
              <a:rPr lang="en-US" dirty="0"/>
              <a:t>Compute clusters – including Spark &amp; Databricks</a:t>
            </a:r>
          </a:p>
          <a:p>
            <a:pPr marL="285750" indent="-285750">
              <a:buFont typeface="Arial" panose="020B0604020202020204" pitchFamily="34" charset="0"/>
              <a:buChar char="•"/>
            </a:pPr>
            <a:r>
              <a:rPr lang="en-US" dirty="0"/>
              <a:t>Data Factory – to automate data flows</a:t>
            </a:r>
          </a:p>
          <a:p>
            <a:pPr marL="285750" indent="-285750">
              <a:buFont typeface="Arial" panose="020B0604020202020204" pitchFamily="34" charset="0"/>
              <a:buChar char="•"/>
            </a:pPr>
            <a:r>
              <a:rPr lang="en-US" dirty="0"/>
              <a:t>Azure Synapse Link for Azure Cosmos DB - https://</a:t>
            </a:r>
            <a:r>
              <a:rPr lang="en-US" dirty="0" err="1"/>
              <a:t>docs.microsoft.com</a:t>
            </a:r>
            <a:r>
              <a:rPr lang="en-US" dirty="0"/>
              <a:t>/</a:t>
            </a:r>
            <a:r>
              <a:rPr lang="en-US" dirty="0" err="1"/>
              <a:t>en</a:t>
            </a:r>
            <a:r>
              <a:rPr lang="en-US" dirty="0"/>
              <a:t>-us/azure/cosmos-</a:t>
            </a:r>
            <a:r>
              <a:rPr lang="en-US" dirty="0" err="1"/>
              <a:t>db</a:t>
            </a:r>
            <a:r>
              <a:rPr lang="en-US" dirty="0"/>
              <a:t>/synapse-link -</a:t>
            </a:r>
          </a:p>
          <a:p>
            <a:pPr marL="285750" indent="-285750">
              <a:buFont typeface="Arial" panose="020B0604020202020204" pitchFamily="34" charset="0"/>
              <a:buChar char="•"/>
            </a:pPr>
            <a:r>
              <a:rPr lang="en-US" dirty="0"/>
              <a:t>Cosmos DB Analytica Store - </a:t>
            </a:r>
            <a:r>
              <a:rPr lang="en-US" dirty="0">
                <a:hlinkClick r:id="rId4"/>
              </a:rPr>
              <a:t>https://docs.microsoft.com/en-us/azure/cosmos-db/analytical-store-introduction</a:t>
            </a:r>
            <a:endParaRPr lang="en-US" dirty="0"/>
          </a:p>
          <a:p>
            <a:pPr marL="285750" indent="-285750">
              <a:buFont typeface="Arial" panose="020B0604020202020204" pitchFamily="34" charset="0"/>
              <a:buChar char="•"/>
            </a:pPr>
            <a:r>
              <a:rPr lang="en-US" dirty="0"/>
              <a:t>Power BI Integration</a:t>
            </a:r>
          </a:p>
        </p:txBody>
      </p:sp>
      <p:pic>
        <p:nvPicPr>
          <p:cNvPr id="1026" name="Picture 2" descr="Microsoft’s Azure Synapse Overview Slide">
            <a:extLst>
              <a:ext uri="{FF2B5EF4-FFF2-40B4-BE49-F238E27FC236}">
                <a16:creationId xmlns:a16="http://schemas.microsoft.com/office/drawing/2014/main" id="{C2E86A75-27FF-874C-996C-46322D019D1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892800" y="37396"/>
            <a:ext cx="6228967" cy="375878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Elements inside Azure Synapse Analytics">
            <a:extLst>
              <a:ext uri="{FF2B5EF4-FFF2-40B4-BE49-F238E27FC236}">
                <a16:creationId xmlns:a16="http://schemas.microsoft.com/office/drawing/2014/main" id="{A7ED3D6D-D2F1-8C4A-BAE7-BABD4B6AF8AF}"/>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6051850" y="4096512"/>
            <a:ext cx="5964180" cy="26202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98849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384ECF0-3C64-8241-99B2-0AA612206F2C}"/>
              </a:ext>
            </a:extLst>
          </p:cNvPr>
          <p:cNvSpPr txBox="1"/>
          <p:nvPr/>
        </p:nvSpPr>
        <p:spPr>
          <a:xfrm>
            <a:off x="0" y="58846"/>
            <a:ext cx="11338560" cy="6740307"/>
          </a:xfrm>
          <a:prstGeom prst="rect">
            <a:avLst/>
          </a:prstGeom>
          <a:noFill/>
        </p:spPr>
        <p:txBody>
          <a:bodyPr wrap="square" rtlCol="0">
            <a:spAutoFit/>
          </a:bodyPr>
          <a:lstStyle/>
          <a:p>
            <a:r>
              <a:rPr lang="en-US" sz="2400" b="1" dirty="0"/>
              <a:t>Azure ML : </a:t>
            </a:r>
            <a:r>
              <a:rPr lang="en-US" sz="2400" b="1" dirty="0">
                <a:hlinkClick r:id="rId2"/>
              </a:rPr>
              <a:t>https://ml.azure.com</a:t>
            </a:r>
            <a:r>
              <a:rPr lang="en-US" sz="2400" b="1" dirty="0"/>
              <a:t> </a:t>
            </a:r>
          </a:p>
          <a:p>
            <a:endParaRPr lang="en-US" sz="1200" dirty="0"/>
          </a:p>
          <a:p>
            <a:r>
              <a:rPr lang="en-US" sz="1200" dirty="0"/>
              <a:t> - </a:t>
            </a:r>
            <a:r>
              <a:rPr lang="en-US" sz="1200" dirty="0">
                <a:hlinkClick r:id="rId3"/>
              </a:rPr>
              <a:t>https://ml.azure.com/selectWorkspace</a:t>
            </a:r>
            <a:r>
              <a:rPr lang="en-US" sz="1200" dirty="0"/>
              <a:t>  </a:t>
            </a:r>
          </a:p>
          <a:p>
            <a:r>
              <a:rPr lang="en-US" sz="1200" dirty="0"/>
              <a:t>Select Directory and Subscription, go into workspace machine learning, then to </a:t>
            </a:r>
            <a:r>
              <a:rPr lang="en-US" sz="1200" b="1" dirty="0"/>
              <a:t>Azure Machine Learning Studio.</a:t>
            </a:r>
            <a:endParaRPr lang="en-US" sz="1200" dirty="0"/>
          </a:p>
          <a:p>
            <a:r>
              <a:rPr lang="en-US" sz="1200" dirty="0"/>
              <a:t>Here you can work with python notebooks, create compute instances or clusters, work with multiple data stores, create datasets, pipelines, experiments, run Automated ML, create pickle model files, use different open-source libraries (</a:t>
            </a:r>
            <a:r>
              <a:rPr lang="en-US" sz="1200" dirty="0" err="1"/>
              <a:t>sklearn</a:t>
            </a:r>
            <a:r>
              <a:rPr lang="en-US" sz="1200" dirty="0"/>
              <a:t>, TF, etc.), register model endpoints, etc.</a:t>
            </a:r>
          </a:p>
          <a:p>
            <a:r>
              <a:rPr lang="en-US" sz="1200" dirty="0"/>
              <a:t># ----------------------------------------------</a:t>
            </a:r>
          </a:p>
          <a:p>
            <a:r>
              <a:rPr lang="en-US" sz="1200" dirty="0"/>
              <a:t>Good </a:t>
            </a:r>
            <a:r>
              <a:rPr lang="en-US" sz="1200" dirty="0" err="1"/>
              <a:t>youtube</a:t>
            </a:r>
            <a:r>
              <a:rPr lang="en-US" sz="1200" dirty="0"/>
              <a:t> video "Train and deploy ML models at scale using Azure Machine Learning | INT134C"  - </a:t>
            </a:r>
          </a:p>
          <a:p>
            <a:r>
              <a:rPr lang="en-US" sz="1200" dirty="0"/>
              <a:t>- </a:t>
            </a:r>
            <a:r>
              <a:rPr lang="en-US" sz="1200" u="sng" dirty="0">
                <a:hlinkClick r:id="rId4" tooltip="https://www.youtube.com/watch?v=2ogbxycnvgk"/>
              </a:rPr>
              <a:t>https://www.youtube.com/watch?v=2OgBxYCnVGk</a:t>
            </a:r>
            <a:r>
              <a:rPr lang="en-US" sz="1200" dirty="0"/>
              <a:t> </a:t>
            </a:r>
          </a:p>
          <a:p>
            <a:r>
              <a:rPr lang="en-US" sz="1200" dirty="0"/>
              <a:t>And here is the link from this video to a good 10-hrs course: "Build AI solutions with Azure Machine Learning" - 10 </a:t>
            </a:r>
            <a:r>
              <a:rPr lang="en-US" sz="1200" dirty="0" err="1"/>
              <a:t>hrs</a:t>
            </a:r>
            <a:r>
              <a:rPr lang="en-US" sz="1200" dirty="0"/>
              <a:t> - </a:t>
            </a:r>
            <a:br>
              <a:rPr lang="en-US" sz="1200" dirty="0"/>
            </a:br>
            <a:r>
              <a:rPr lang="en-US" sz="1200" dirty="0"/>
              <a:t> - </a:t>
            </a:r>
            <a:r>
              <a:rPr lang="en-US" sz="1200" u="sng" dirty="0">
                <a:hlinkClick r:id="rId5" tooltip="https://docs.microsoft.com/en-us/learn/paths/build-ai-solutions-with-azure-ml-service/"/>
              </a:rPr>
              <a:t>https://docs.microsoft.com/en-us/learn/paths/build-ai-solutions-with-azure-ml-service/</a:t>
            </a:r>
            <a:endParaRPr lang="en-US" sz="1200" dirty="0"/>
          </a:p>
          <a:p>
            <a:r>
              <a:rPr lang="en-US" sz="1200" dirty="0"/>
              <a:t>Yet another good tutorial - "Creating End-to-End </a:t>
            </a:r>
            <a:r>
              <a:rPr lang="en-US" sz="1200" dirty="0" err="1"/>
              <a:t>MLOps</a:t>
            </a:r>
            <a:r>
              <a:rPr lang="en-US" sz="1200" dirty="0"/>
              <a:t> pipelines:</a:t>
            </a:r>
            <a:br>
              <a:rPr lang="en-US" sz="1200" dirty="0"/>
            </a:br>
            <a:r>
              <a:rPr lang="en-US" sz="1200" dirty="0"/>
              <a:t> - </a:t>
            </a:r>
            <a:r>
              <a:rPr lang="en-US" sz="1200" u="sng" dirty="0">
                <a:hlinkClick r:id="rId6"/>
              </a:rPr>
              <a:t>https://benalexkeen.com/creating-end-to-end-mlops-pipelines-using-azure-ml-and-azure-pipelines-part-1/</a:t>
            </a:r>
            <a:endParaRPr lang="en-US" sz="1200" dirty="0"/>
          </a:p>
          <a:p>
            <a:r>
              <a:rPr lang="en-US" sz="1200" dirty="0"/>
              <a:t>Google-</a:t>
            </a:r>
            <a:r>
              <a:rPr lang="en-US" sz="1200" dirty="0" err="1"/>
              <a:t>ing</a:t>
            </a:r>
            <a:r>
              <a:rPr lang="en-US" sz="1200" dirty="0"/>
              <a:t> mount datastore azure ml notebook - </a:t>
            </a:r>
          </a:p>
          <a:p>
            <a:r>
              <a:rPr lang="en-US" sz="1200" dirty="0"/>
              <a:t> - </a:t>
            </a:r>
            <a:r>
              <a:rPr lang="en-US" sz="1200" u="sng" dirty="0">
                <a:hlinkClick r:id="rId7"/>
              </a:rPr>
              <a:t>https://github.com/microsoft/MLOpsPython</a:t>
            </a:r>
            <a:r>
              <a:rPr lang="en-US" sz="1200" dirty="0"/>
              <a:t> </a:t>
            </a:r>
          </a:p>
          <a:p>
            <a:r>
              <a:rPr lang="en-US" sz="1200" dirty="0"/>
              <a:t> - </a:t>
            </a:r>
            <a:r>
              <a:rPr lang="en-US" sz="1200" u="sng" dirty="0">
                <a:hlinkClick r:id="rId8"/>
              </a:rPr>
              <a:t>https://docs.microsoft.com/en-us/python/api/azureml-core/azureml.core.datastore?view=azure-ml-py</a:t>
            </a:r>
            <a:endParaRPr lang="en-US" sz="1200" dirty="0"/>
          </a:p>
          <a:p>
            <a:r>
              <a:rPr lang="en-US" sz="1200" dirty="0"/>
              <a:t>Develop for Azure Files with Python - </a:t>
            </a:r>
          </a:p>
          <a:p>
            <a:r>
              <a:rPr lang="en-US" sz="1200" dirty="0"/>
              <a:t> - </a:t>
            </a:r>
            <a:r>
              <a:rPr lang="en-US" sz="1200" u="sng" dirty="0">
                <a:hlinkClick r:id="rId9"/>
              </a:rPr>
              <a:t>https://docs.microsoft.com/en-us/azure/storage/files/storage-python-how-to-use-file-storage</a:t>
            </a:r>
            <a:endParaRPr lang="en-US" sz="1200" dirty="0"/>
          </a:p>
          <a:p>
            <a:r>
              <a:rPr lang="en-US" sz="1200" dirty="0"/>
              <a:t>Azure for Python Developers - </a:t>
            </a:r>
          </a:p>
          <a:p>
            <a:r>
              <a:rPr lang="en-US" sz="1200" dirty="0"/>
              <a:t> - </a:t>
            </a:r>
            <a:r>
              <a:rPr lang="en-US" sz="1200" u="sng" dirty="0">
                <a:hlinkClick r:id="rId10"/>
              </a:rPr>
              <a:t>https://docs.microsoft.com/en-us/azure/developer/python/</a:t>
            </a:r>
            <a:r>
              <a:rPr lang="en-US" sz="1200" dirty="0"/>
              <a:t> </a:t>
            </a:r>
          </a:p>
          <a:p>
            <a:r>
              <a:rPr lang="en-US" sz="1200" dirty="0"/>
              <a:t>Azure REST API Reference - </a:t>
            </a:r>
          </a:p>
          <a:p>
            <a:r>
              <a:rPr lang="en-US" sz="1200" dirty="0"/>
              <a:t> - </a:t>
            </a:r>
            <a:r>
              <a:rPr lang="en-US" sz="1200" u="sng" dirty="0">
                <a:hlinkClick r:id="rId11"/>
              </a:rPr>
              <a:t>https://docs.microsoft.com/en-us/rest/api/azure/</a:t>
            </a:r>
            <a:endParaRPr lang="en-US" sz="1200" dirty="0"/>
          </a:p>
          <a:p>
            <a:r>
              <a:rPr lang="en-US" sz="1200" dirty="0"/>
              <a:t>Azure SDK for Python - </a:t>
            </a:r>
          </a:p>
          <a:p>
            <a:r>
              <a:rPr lang="en-US" sz="1200" dirty="0"/>
              <a:t> - </a:t>
            </a:r>
            <a:r>
              <a:rPr lang="en-US" sz="1200" u="sng" dirty="0">
                <a:hlinkClick r:id="rId12"/>
              </a:rPr>
              <a:t>https://github.com/Azure/azure-sdk-for-python/tree/master/sdk/storage</a:t>
            </a:r>
            <a:endParaRPr lang="en-US" sz="1200" dirty="0"/>
          </a:p>
          <a:p>
            <a:r>
              <a:rPr lang="en-US" sz="1200" dirty="0"/>
              <a:t> - </a:t>
            </a:r>
            <a:r>
              <a:rPr lang="en-US" sz="1200" u="sng" dirty="0">
                <a:hlinkClick r:id="rId13"/>
              </a:rPr>
              <a:t>https://docs.microsoft.com/en-us/python/api/overview/azure/ml/?view=azure-ml-py</a:t>
            </a:r>
            <a:r>
              <a:rPr lang="en-US" sz="1200" dirty="0"/>
              <a:t> – </a:t>
            </a:r>
          </a:p>
          <a:p>
            <a:r>
              <a:rPr lang="en-US" sz="1200" dirty="0"/>
              <a:t>Azure SDK – trigger published pipeline - </a:t>
            </a:r>
          </a:p>
          <a:p>
            <a:r>
              <a:rPr lang="en-US" sz="1200" dirty="0"/>
              <a:t> - </a:t>
            </a:r>
            <a:r>
              <a:rPr lang="en-US" sz="1200" dirty="0">
                <a:hlinkClick r:id="rId14"/>
              </a:rPr>
              <a:t>https://docs.microsoft.com/en-us/azure/machine-learning/how-to-trigger-published-pipeline#trigger-pipelines-with-azure-machine-learning-sdk-for-python</a:t>
            </a:r>
            <a:r>
              <a:rPr lang="en-US" sz="1200" dirty="0"/>
              <a:t> –</a:t>
            </a:r>
          </a:p>
          <a:p>
            <a:r>
              <a:rPr lang="en-US" sz="1200" dirty="0"/>
              <a:t>Automate ML Experiments</a:t>
            </a:r>
          </a:p>
          <a:p>
            <a:r>
              <a:rPr lang="en-US" sz="1200" dirty="0"/>
              <a:t> - </a:t>
            </a:r>
            <a:r>
              <a:rPr lang="en-US" sz="1200" dirty="0">
                <a:hlinkClick r:id="rId15"/>
              </a:rPr>
              <a:t>https://docs.microsoft.com/en-us/azure/machine-learning/how-to-use-automlstep-in-pipelines</a:t>
            </a:r>
            <a:r>
              <a:rPr lang="en-US" sz="1200" dirty="0"/>
              <a:t> - </a:t>
            </a:r>
          </a:p>
          <a:p>
            <a:r>
              <a:rPr lang="en-US" sz="1200" dirty="0"/>
              <a:t> - </a:t>
            </a:r>
            <a:r>
              <a:rPr lang="en-US" sz="1200" dirty="0">
                <a:hlinkClick r:id="rId16"/>
              </a:rPr>
              <a:t>https://towardsdatascience.com/hidden-tricks-for-running-automl-experiment-from-azure-machine-learning-sdk-915d4e3f840e</a:t>
            </a:r>
            <a:r>
              <a:rPr lang="en-US" sz="1200" dirty="0"/>
              <a:t> - </a:t>
            </a:r>
          </a:p>
          <a:p>
            <a:r>
              <a:rPr lang="en-US" sz="1200" dirty="0"/>
              <a:t>Understand </a:t>
            </a:r>
            <a:r>
              <a:rPr lang="en-US" sz="1200" dirty="0" err="1"/>
              <a:t>AutoML</a:t>
            </a:r>
            <a:endParaRPr lang="en-US" sz="1200" dirty="0"/>
          </a:p>
          <a:p>
            <a:r>
              <a:rPr lang="en-US" sz="1200" dirty="0"/>
              <a:t> - </a:t>
            </a:r>
            <a:r>
              <a:rPr lang="en-US" sz="1200" dirty="0">
                <a:hlinkClick r:id="rId17"/>
              </a:rPr>
              <a:t>https://docs.microsoft.com/en-us/azure/machine-learning/how-to-understand-automated-ml#regressionforecasting-metrics</a:t>
            </a:r>
            <a:r>
              <a:rPr lang="en-US" sz="1200" dirty="0"/>
              <a:t> - </a:t>
            </a:r>
          </a:p>
          <a:p>
            <a:r>
              <a:rPr lang="en-US" sz="1200" dirty="0"/>
              <a:t> - </a:t>
            </a:r>
            <a:r>
              <a:rPr lang="en-US" sz="1200" dirty="0">
                <a:hlinkClick r:id="rId18"/>
              </a:rPr>
              <a:t>https://docs.microsoft.com/en-us/azure/machine-learning/how-to-configure-auto-train#primary-metric</a:t>
            </a:r>
            <a:r>
              <a:rPr lang="en-US" sz="1200" dirty="0"/>
              <a:t> - </a:t>
            </a:r>
          </a:p>
          <a:p>
            <a:r>
              <a:rPr lang="en-US" sz="1200" dirty="0"/>
              <a:t> -  </a:t>
            </a:r>
          </a:p>
        </p:txBody>
      </p:sp>
    </p:spTree>
    <p:extLst>
      <p:ext uri="{BB962C8B-B14F-4D97-AF65-F5344CB8AC3E}">
        <p14:creationId xmlns:p14="http://schemas.microsoft.com/office/powerpoint/2010/main" val="40457252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F24A4CB-AFAA-7F41-BCCE-3BB4D32B9131}"/>
              </a:ext>
            </a:extLst>
          </p:cNvPr>
          <p:cNvSpPr txBox="1"/>
          <p:nvPr/>
        </p:nvSpPr>
        <p:spPr>
          <a:xfrm>
            <a:off x="0" y="316992"/>
            <a:ext cx="12094464" cy="5601533"/>
          </a:xfrm>
          <a:prstGeom prst="rect">
            <a:avLst/>
          </a:prstGeom>
          <a:noFill/>
        </p:spPr>
        <p:txBody>
          <a:bodyPr wrap="square" rtlCol="0">
            <a:spAutoFit/>
          </a:bodyPr>
          <a:lstStyle/>
          <a:p>
            <a:r>
              <a:rPr lang="en-US" sz="2400" b="1" dirty="0"/>
              <a:t>Azure Synapse Analytics and AI</a:t>
            </a:r>
            <a:r>
              <a:rPr lang="en-US" sz="1200" dirty="0"/>
              <a:t> </a:t>
            </a:r>
          </a:p>
          <a:p>
            <a:r>
              <a:rPr lang="en-US" sz="1200" dirty="0"/>
              <a:t>(MCW = Microsoft Cloud Workshop) - </a:t>
            </a:r>
            <a:r>
              <a:rPr lang="en-US" sz="1200" dirty="0">
                <a:hlinkClick r:id="rId2"/>
              </a:rPr>
              <a:t>https://github.com/microsoft/MCW-Azure-Synapse-Analytics-and-AI</a:t>
            </a:r>
            <a:r>
              <a:rPr lang="en-US" sz="1200" dirty="0"/>
              <a:t> </a:t>
            </a:r>
          </a:p>
          <a:p>
            <a:r>
              <a:rPr lang="en-US" sz="1200" dirty="0"/>
              <a:t>Log-in to the Azure portal </a:t>
            </a:r>
            <a:r>
              <a:rPr lang="en-US" sz="1200" dirty="0">
                <a:hlinkClick r:id="rId3"/>
              </a:rPr>
              <a:t>https://portal.azure.com/</a:t>
            </a:r>
            <a:r>
              <a:rPr lang="en-US" sz="1200" dirty="0"/>
              <a:t> with provided credentials</a:t>
            </a:r>
          </a:p>
          <a:p>
            <a:r>
              <a:rPr lang="en-US" sz="1200" dirty="0"/>
              <a:t>Note - use incognito mode in Chrome, allow all cookies, stop all ad-blockers</a:t>
            </a:r>
          </a:p>
          <a:p>
            <a:r>
              <a:rPr lang="en-US" sz="1200" dirty="0"/>
              <a:t>Lab step-by-step here: </a:t>
            </a:r>
            <a:r>
              <a:rPr lang="en-US" sz="1000" dirty="0">
                <a:hlinkClick r:id="rId4"/>
              </a:rPr>
              <a:t>https://github.com/microsoft/MCW-Azure-Synapse-Analytics-and-AI/blob/master/Hands-on%20lab/HOL%20step-by%20step%20-%20Azure%20Synapse%20Analytics%20and%20AI.md</a:t>
            </a:r>
            <a:r>
              <a:rPr lang="en-US" sz="1200" dirty="0"/>
              <a:t> </a:t>
            </a:r>
          </a:p>
          <a:p>
            <a:endParaRPr lang="en-US" sz="1200" dirty="0"/>
          </a:p>
          <a:p>
            <a:r>
              <a:rPr lang="en-US" sz="1200" dirty="0"/>
              <a:t>Notes:</a:t>
            </a:r>
          </a:p>
          <a:p>
            <a:r>
              <a:rPr lang="en-US" sz="1200" dirty="0"/>
              <a:t>Three similar serverless solutions: Azure Serverless, Google </a:t>
            </a:r>
            <a:r>
              <a:rPr lang="en-US" sz="1200" dirty="0" err="1"/>
              <a:t>BigQuery</a:t>
            </a:r>
            <a:r>
              <a:rPr lang="en-US" sz="1200" dirty="0"/>
              <a:t>, AWS Athena. - </a:t>
            </a:r>
          </a:p>
          <a:p>
            <a:r>
              <a:rPr lang="en-US" sz="1200" dirty="0"/>
              <a:t>Best practices for serverless SQL pool: </a:t>
            </a:r>
            <a:r>
              <a:rPr lang="en-US" sz="1000" dirty="0">
                <a:hlinkClick r:id="rId5"/>
              </a:rPr>
              <a:t>https://docs.microsoft.com/en-us/azure/synapse-analytics/sql/best-practices-sql-on-demand</a:t>
            </a:r>
            <a:r>
              <a:rPr lang="en-US" sz="1000" dirty="0"/>
              <a:t> </a:t>
            </a:r>
          </a:p>
          <a:p>
            <a:r>
              <a:rPr lang="en-US" sz="1200" dirty="0"/>
              <a:t>Capacity limits for dedicated SQL pool in Azure Synapse Analytics: </a:t>
            </a:r>
            <a:r>
              <a:rPr lang="en-US" sz="1000" dirty="0">
                <a:hlinkClick r:id="rId6"/>
              </a:rPr>
              <a:t>https://docs.microsoft.com/en-us/azure/synapse-analytics/sql-data-warehouse/sql-data-warehouse-service-capacity-limits</a:t>
            </a:r>
            <a:r>
              <a:rPr lang="en-US" sz="1000" dirty="0"/>
              <a:t> </a:t>
            </a:r>
          </a:p>
          <a:p>
            <a:r>
              <a:rPr lang="en-US" sz="1200" dirty="0"/>
              <a:t>================================</a:t>
            </a:r>
          </a:p>
          <a:p>
            <a:r>
              <a:rPr lang="en-US" sz="1200" dirty="0"/>
              <a:t>REST APIs for dedicated SQL pool (formerly SQL DW) in Azure Synapse Analytics: </a:t>
            </a:r>
            <a:r>
              <a:rPr lang="en-US" sz="1000" dirty="0">
                <a:hlinkClick r:id="rId7"/>
              </a:rPr>
              <a:t>https://docs.microsoft.com/en-us/azure/synapse-analytics/sql-data-warehouse/sql-data-warehouse-manage-compute-rest-api</a:t>
            </a:r>
            <a:r>
              <a:rPr lang="en-US" sz="1000" dirty="0"/>
              <a:t> </a:t>
            </a:r>
          </a:p>
          <a:p>
            <a:r>
              <a:rPr lang="en-US" sz="1200" dirty="0"/>
              <a:t>What is Automated ML: </a:t>
            </a:r>
            <a:r>
              <a:rPr lang="en-US" sz="1000" dirty="0">
                <a:hlinkClick r:id="rId8"/>
              </a:rPr>
              <a:t>https://docs.microsoft.com/en-us/azure/machine-learning/concept-automated-ml</a:t>
            </a:r>
            <a:r>
              <a:rPr lang="en-US" sz="1200" dirty="0"/>
              <a:t> </a:t>
            </a:r>
          </a:p>
          <a:p>
            <a:r>
              <a:rPr lang="en-US" sz="1200" dirty="0"/>
              <a:t>Many Models Solution Accelerator: </a:t>
            </a:r>
            <a:r>
              <a:rPr lang="en-US" sz="1000" dirty="0">
                <a:hlinkClick r:id="rId9"/>
              </a:rPr>
              <a:t>https://github.com/microsoft/solution-accelerator-many-models</a:t>
            </a:r>
            <a:r>
              <a:rPr lang="en-US" sz="1200" dirty="0"/>
              <a:t> </a:t>
            </a:r>
          </a:p>
          <a:p>
            <a:r>
              <a:rPr lang="en-US" sz="1200" dirty="0"/>
              <a:t>Machine Learning Workshop: </a:t>
            </a:r>
            <a:r>
              <a:rPr lang="en-US" sz="1200" dirty="0">
                <a:hlinkClick r:id="rId10"/>
              </a:rPr>
              <a:t>https://github.com/microsoft/MCW-Machine-Learning</a:t>
            </a:r>
            <a:r>
              <a:rPr lang="en-US" sz="1200" dirty="0"/>
              <a:t> </a:t>
            </a:r>
          </a:p>
          <a:p>
            <a:r>
              <a:rPr lang="en-US" sz="1200" dirty="0"/>
              <a:t>ML Ops Workshop: </a:t>
            </a:r>
            <a:r>
              <a:rPr lang="en-US" sz="1200" dirty="0">
                <a:hlinkClick r:id="rId11"/>
              </a:rPr>
              <a:t>https://github.com/microsoft/MCW-ML-Ops</a:t>
            </a:r>
            <a:r>
              <a:rPr lang="en-US" sz="1200" dirty="0"/>
              <a:t> </a:t>
            </a:r>
          </a:p>
          <a:p>
            <a:r>
              <a:rPr lang="en-US" sz="1200" dirty="0"/>
              <a:t>Configure automated ML experiments in Python: </a:t>
            </a:r>
            <a:r>
              <a:rPr lang="en-US" sz="1200" dirty="0">
                <a:hlinkClick r:id="rId12"/>
              </a:rPr>
              <a:t>https://docs.microsoft.com/en-us/azure/machine-learning/how-to-configure-auto-train</a:t>
            </a:r>
            <a:r>
              <a:rPr lang="en-US" sz="1200" dirty="0"/>
              <a:t> </a:t>
            </a:r>
          </a:p>
          <a:p>
            <a:r>
              <a:rPr lang="en-US" sz="1200" dirty="0"/>
              <a:t>Trained Model can be registered in SQL as a function ! Recommended approach: pickle file of the model, convert to ONNX, use it from SQL server: </a:t>
            </a:r>
            <a:br>
              <a:rPr lang="en-US" sz="1200" dirty="0"/>
            </a:br>
            <a:r>
              <a:rPr lang="en-US" sz="1200" dirty="0"/>
              <a:t>   https://</a:t>
            </a:r>
            <a:r>
              <a:rPr lang="en-US" sz="1200" dirty="0" err="1"/>
              <a:t>docs.microsoft.com</a:t>
            </a:r>
            <a:r>
              <a:rPr lang="en-US" sz="1200" dirty="0"/>
              <a:t>/</a:t>
            </a:r>
            <a:r>
              <a:rPr lang="en-US" sz="1200" dirty="0" err="1"/>
              <a:t>en</a:t>
            </a:r>
            <a:r>
              <a:rPr lang="en-US" sz="1200" dirty="0"/>
              <a:t>-us/azure/synapse-analytics/</a:t>
            </a:r>
            <a:r>
              <a:rPr lang="en-US" sz="1200" dirty="0" err="1"/>
              <a:t>sql</a:t>
            </a:r>
            <a:r>
              <a:rPr lang="en-US" sz="1200" dirty="0"/>
              <a:t>-data-warehouse/</a:t>
            </a:r>
            <a:r>
              <a:rPr lang="en-US" sz="1200" dirty="0" err="1"/>
              <a:t>sql</a:t>
            </a:r>
            <a:r>
              <a:rPr lang="en-US" sz="1200" dirty="0"/>
              <a:t>-data-warehouse-predict</a:t>
            </a:r>
          </a:p>
          <a:p>
            <a:r>
              <a:rPr lang="en-US" sz="1200" dirty="0"/>
              <a:t>Alternatively - create a stored procedure to get the data - and then invoke model via cursor</a:t>
            </a:r>
          </a:p>
          <a:p>
            <a:r>
              <a:rPr lang="en-US" sz="1200" dirty="0"/>
              <a:t>Also the model may be invoked via REST API endpoint.</a:t>
            </a:r>
          </a:p>
          <a:p>
            <a:r>
              <a:rPr lang="en-US" sz="1200" dirty="0"/>
              <a:t>Invoke model from </a:t>
            </a:r>
            <a:r>
              <a:rPr lang="en-US" sz="1200" dirty="0" err="1"/>
              <a:t>PowerBI</a:t>
            </a:r>
            <a:r>
              <a:rPr lang="en-US" sz="1200" dirty="0"/>
              <a:t>: </a:t>
            </a:r>
            <a:r>
              <a:rPr lang="en-US" sz="1200" dirty="0">
                <a:hlinkClick r:id="rId13"/>
              </a:rPr>
              <a:t>https://github.com/alex-nogue/Machine_Learning_in_Power_BI#invoke-a-model-in-power-bi-using-azure-ml-service</a:t>
            </a:r>
            <a:r>
              <a:rPr lang="en-US" sz="1200" dirty="0"/>
              <a:t> </a:t>
            </a:r>
          </a:p>
          <a:p>
            <a:r>
              <a:rPr lang="en-US" sz="1200" dirty="0"/>
              <a:t>3 Ways to Run ML on SQL Server (ML Service, native PREDICT, and Remote Compute Context): </a:t>
            </a:r>
            <a:r>
              <a:rPr lang="en-US" sz="1200" dirty="0">
                <a:hlinkClick r:id="rId14"/>
              </a:rPr>
              <a:t>https://tsmatz.wordpress.com/2018/03/02/patterns-sql-server-machine-learning-services-r-and-python/</a:t>
            </a:r>
            <a:r>
              <a:rPr lang="en-US" sz="1200" dirty="0"/>
              <a:t> </a:t>
            </a:r>
          </a:p>
          <a:p>
            <a:r>
              <a:rPr lang="en-US" sz="1200" dirty="0"/>
              <a:t>Azure Machine Learning Tutorials: </a:t>
            </a:r>
            <a:r>
              <a:rPr lang="en-US" sz="1200" dirty="0">
                <a:hlinkClick r:id="rId15"/>
              </a:rPr>
              <a:t>https://github.com/Azure/MachineLearningNotebooks/tree/master/tutorials</a:t>
            </a:r>
            <a:r>
              <a:rPr lang="en-US" sz="1200" dirty="0"/>
              <a:t>  - </a:t>
            </a:r>
          </a:p>
          <a:p>
            <a:r>
              <a:rPr lang="en-US" sz="1200" dirty="0"/>
              <a:t> - </a:t>
            </a:r>
          </a:p>
          <a:p>
            <a:r>
              <a:rPr lang="en-US" sz="1200" dirty="0"/>
              <a:t> - </a:t>
            </a:r>
          </a:p>
          <a:p>
            <a:r>
              <a:rPr lang="en-US" sz="1200" dirty="0"/>
              <a:t> - </a:t>
            </a:r>
          </a:p>
          <a:p>
            <a:r>
              <a:rPr lang="en-US" sz="1200" dirty="0"/>
              <a:t> - </a:t>
            </a:r>
          </a:p>
        </p:txBody>
      </p:sp>
    </p:spTree>
    <p:extLst>
      <p:ext uri="{BB962C8B-B14F-4D97-AF65-F5344CB8AC3E}">
        <p14:creationId xmlns:p14="http://schemas.microsoft.com/office/powerpoint/2010/main" val="40655444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E6D09084-6DFA-8E43-8E28-6E16628E7670}"/>
              </a:ext>
            </a:extLst>
          </p:cNvPr>
          <p:cNvSpPr txBox="1"/>
          <p:nvPr/>
        </p:nvSpPr>
        <p:spPr>
          <a:xfrm>
            <a:off x="463296" y="316992"/>
            <a:ext cx="11167872" cy="2123658"/>
          </a:xfrm>
          <a:prstGeom prst="rect">
            <a:avLst/>
          </a:prstGeom>
          <a:noFill/>
        </p:spPr>
        <p:txBody>
          <a:bodyPr wrap="square" rtlCol="0">
            <a:spAutoFit/>
          </a:bodyPr>
          <a:lstStyle/>
          <a:p>
            <a:r>
              <a:rPr lang="en-US" sz="1200" dirty="0"/>
              <a:t>More Links:</a:t>
            </a:r>
          </a:p>
          <a:p>
            <a:endParaRPr lang="en-US" sz="1200" dirty="0"/>
          </a:p>
          <a:p>
            <a:r>
              <a:rPr lang="en-US" sz="1200" dirty="0"/>
              <a:t>Download Integration Runtime: </a:t>
            </a:r>
            <a:r>
              <a:rPr lang="en-US" sz="1200" dirty="0">
                <a:hlinkClick r:id="rId2"/>
              </a:rPr>
              <a:t>https://www.microsoft.com/en-us/download/details.aspx?id=39717</a:t>
            </a:r>
            <a:r>
              <a:rPr lang="en-US" sz="1200" dirty="0"/>
              <a:t> - </a:t>
            </a:r>
          </a:p>
          <a:p>
            <a:r>
              <a:rPr lang="en-US" sz="1200" dirty="0"/>
              <a:t>Download </a:t>
            </a:r>
            <a:r>
              <a:rPr lang="en-US" sz="1200" dirty="0" err="1"/>
              <a:t>AZCopy</a:t>
            </a:r>
            <a:r>
              <a:rPr lang="en-US" sz="1200" dirty="0"/>
              <a:t>: </a:t>
            </a:r>
            <a:r>
              <a:rPr lang="en-US" sz="1200" dirty="0">
                <a:hlinkClick r:id="rId3"/>
              </a:rPr>
              <a:t>https://docs.microsoft.com/en-us/azure/storage/common/storage-use-azcopy-v10</a:t>
            </a:r>
            <a:r>
              <a:rPr lang="en-US" sz="1200" dirty="0"/>
              <a:t> - </a:t>
            </a:r>
          </a:p>
          <a:p>
            <a:r>
              <a:rPr lang="en-US" sz="1200" dirty="0" err="1"/>
              <a:t>AZCopy</a:t>
            </a:r>
            <a:r>
              <a:rPr lang="en-US" sz="1200" dirty="0"/>
              <a:t> Documentation: </a:t>
            </a:r>
            <a:r>
              <a:rPr lang="en-US" sz="1200" dirty="0">
                <a:hlinkClick r:id="rId4"/>
              </a:rPr>
              <a:t>https://docs.microsoft.com/en-us/azure/storage/common/storage-ref-azcopy-copy</a:t>
            </a:r>
            <a:r>
              <a:rPr lang="en-US" sz="1200" dirty="0"/>
              <a:t> - </a:t>
            </a:r>
          </a:p>
          <a:p>
            <a:r>
              <a:rPr lang="en-US" sz="1200" dirty="0"/>
              <a:t>Transfer S3 using </a:t>
            </a:r>
            <a:r>
              <a:rPr lang="en-US" sz="1200" dirty="0" err="1"/>
              <a:t>AzCopy</a:t>
            </a:r>
            <a:r>
              <a:rPr lang="en-US" sz="1200" dirty="0"/>
              <a:t>: </a:t>
            </a:r>
            <a:r>
              <a:rPr lang="en-US" sz="1200" dirty="0">
                <a:hlinkClick r:id="rId5"/>
              </a:rPr>
              <a:t>https://docs.microsoft.com/en-us/azure/storage/common/storage-use-azcopy-s3</a:t>
            </a:r>
            <a:r>
              <a:rPr lang="en-US" sz="1200" dirty="0"/>
              <a:t> - </a:t>
            </a:r>
          </a:p>
          <a:p>
            <a:r>
              <a:rPr lang="en-US" sz="1200" dirty="0"/>
              <a:t>Differences between Standard and Premium storage: </a:t>
            </a:r>
            <a:r>
              <a:rPr lang="en-US" sz="1000" dirty="0">
                <a:hlinkClick r:id="rId6"/>
              </a:rPr>
              <a:t>https://www.danielstocker.net/what-is-the-difference-between-azure-standard-storage-and-azure-premium-storage/</a:t>
            </a:r>
            <a:r>
              <a:rPr lang="en-US" sz="1200" dirty="0"/>
              <a:t> - </a:t>
            </a:r>
          </a:p>
          <a:p>
            <a:r>
              <a:rPr lang="en-US" sz="1200" dirty="0"/>
              <a:t> - </a:t>
            </a:r>
          </a:p>
          <a:p>
            <a:r>
              <a:rPr lang="en-US" sz="1200" dirty="0"/>
              <a:t> - </a:t>
            </a:r>
          </a:p>
          <a:p>
            <a:r>
              <a:rPr lang="en-US" sz="1200" dirty="0"/>
              <a:t> - </a:t>
            </a:r>
          </a:p>
          <a:p>
            <a:endParaRPr lang="en-US" sz="1200" dirty="0"/>
          </a:p>
        </p:txBody>
      </p:sp>
    </p:spTree>
    <p:extLst>
      <p:ext uri="{BB962C8B-B14F-4D97-AF65-F5344CB8AC3E}">
        <p14:creationId xmlns:p14="http://schemas.microsoft.com/office/powerpoint/2010/main" val="393340204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3118</TotalTime>
  <Words>1234</Words>
  <Application>Microsoft Macintosh PowerPoint</Application>
  <PresentationFormat>Widescreen</PresentationFormat>
  <Paragraphs>84</Paragraphs>
  <Slides>4</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310</cp:revision>
  <cp:lastPrinted>2020-09-21T17:22:59Z</cp:lastPrinted>
  <dcterms:modified xsi:type="dcterms:W3CDTF">2021-02-18T23:17:11Z</dcterms:modified>
</cp:coreProperties>
</file>