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3"/>
  </p:notesMasterIdLst>
  <p:sldIdLst>
    <p:sldId id="296" r:id="rId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1618C5A-BF4F-44D7-ADB2-C5301EF81F8A}">
  <a:tblStyle styleId="{B1618C5A-BF4F-44D7-ADB2-C5301EF81F8A}"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660"/>
    <p:restoredTop sz="92197"/>
  </p:normalViewPr>
  <p:slideViewPr>
    <p:cSldViewPr snapToGrid="0" snapToObjects="1">
      <p:cViewPr varScale="1">
        <p:scale>
          <a:sx n="69" d="100"/>
          <a:sy n="69" d="100"/>
        </p:scale>
        <p:origin x="208" y="4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91425" rIns="91425" bIns="91425"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91425" rIns="91425" bIns="91425"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91425" rIns="91425" bIns="91425"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3"/>
          <p:cNvSpPr txBox="1">
            <a:spLocks noGrp="1"/>
          </p:cNvSpPr>
          <p:nvPr>
            <p:ph type="title"/>
          </p:nvPr>
        </p:nvSpPr>
        <p:spPr>
          <a:xfrm>
            <a:off x="838200" y="365125"/>
            <a:ext cx="10515600" cy="1325563"/>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3" name="Google Shape;23;p3"/>
          <p:cNvSpPr txBox="1">
            <a:spLocks noGrp="1"/>
          </p:cNvSpPr>
          <p:nvPr>
            <p:ph type="body" idx="1"/>
          </p:nvPr>
        </p:nvSpPr>
        <p:spPr>
          <a:xfrm>
            <a:off x="838200" y="1825625"/>
            <a:ext cx="10515600" cy="4351338"/>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4" name="Google Shape;24;p3"/>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5" name="Google Shape;25;p3"/>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6" name="Google Shape;26;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4"/>
        <p:cNvGrpSpPr/>
        <p:nvPr/>
      </p:nvGrpSpPr>
      <p:grpSpPr>
        <a:xfrm>
          <a:off x="0" y="0"/>
          <a:ext cx="0" cy="0"/>
          <a:chOff x="0" y="0"/>
          <a:chExt cx="0" cy="0"/>
        </a:xfrm>
      </p:grpSpPr>
      <p:sp>
        <p:nvSpPr>
          <p:cNvPr id="35" name="Google Shape;35;p5"/>
          <p:cNvSpPr txBox="1">
            <a:spLocks noGrp="1"/>
          </p:cNvSpPr>
          <p:nvPr>
            <p:ph type="title"/>
          </p:nvPr>
        </p:nvSpPr>
        <p:spPr>
          <a:xfrm>
            <a:off x="831850" y="1709738"/>
            <a:ext cx="10515600" cy="2852737"/>
          </a:xfrm>
          <a:prstGeom prst="rect">
            <a:avLst/>
          </a:prstGeom>
          <a:noFill/>
          <a:ln>
            <a:noFill/>
          </a:ln>
        </p:spPr>
        <p:txBody>
          <a:bodyPr spcFirstLastPara="1" wrap="square" lIns="91425" tIns="91425" rIns="91425" bIns="91425" anchor="b" anchorCtr="0">
            <a:noAutofit/>
          </a:bodyPr>
          <a:lstStyle>
            <a:lvl1pPr marR="0" lvl="0" algn="l" rtl="0">
              <a:lnSpc>
                <a:spcPct val="90000"/>
              </a:lnSpc>
              <a:spcBef>
                <a:spcPts val="0"/>
              </a:spcBef>
              <a:spcAft>
                <a:spcPts val="0"/>
              </a:spcAft>
              <a:buClr>
                <a:schemeClr val="dk1"/>
              </a:buClr>
              <a:buSzPts val="6000"/>
              <a:buFont typeface="Calibri"/>
              <a:buNone/>
              <a:defRPr sz="60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6" name="Google Shape;36;p5"/>
          <p:cNvSpPr txBox="1">
            <a:spLocks noGrp="1"/>
          </p:cNvSpPr>
          <p:nvPr>
            <p:ph type="body" idx="1"/>
          </p:nvPr>
        </p:nvSpPr>
        <p:spPr>
          <a:xfrm>
            <a:off x="831850" y="4589463"/>
            <a:ext cx="10515600" cy="1500187"/>
          </a:xfrm>
          <a:prstGeom prst="rect">
            <a:avLst/>
          </a:prstGeom>
          <a:noFill/>
          <a:ln>
            <a:noFill/>
          </a:ln>
        </p:spPr>
        <p:txBody>
          <a:bodyPr spcFirstLastPara="1" wrap="square" lIns="91425" tIns="91425" rIns="91425" bIns="91425" anchor="t" anchorCtr="0">
            <a:noAutofit/>
          </a:bodyPr>
          <a:lstStyle>
            <a:lvl1pPr marL="457200" marR="0" lvl="0" indent="-228600" algn="l" rtl="0">
              <a:lnSpc>
                <a:spcPct val="90000"/>
              </a:lnSpc>
              <a:spcBef>
                <a:spcPts val="1000"/>
              </a:spcBef>
              <a:spcAft>
                <a:spcPts val="0"/>
              </a:spcAft>
              <a:buClr>
                <a:srgbClr val="888888"/>
              </a:buClr>
              <a:buSzPts val="2400"/>
              <a:buFont typeface="Arial"/>
              <a:buNone/>
              <a:defRPr sz="2400" b="0" i="0" u="none" strike="noStrike" cap="none">
                <a:solidFill>
                  <a:srgbClr val="888888"/>
                </a:solidFill>
                <a:latin typeface="Calibri"/>
                <a:ea typeface="Calibri"/>
                <a:cs typeface="Calibri"/>
                <a:sym typeface="Calibri"/>
              </a:defRPr>
            </a:lvl1pPr>
            <a:lvl2pPr marL="914400" marR="0" lvl="1" indent="-228600" algn="l" rtl="0">
              <a:lnSpc>
                <a:spcPct val="90000"/>
              </a:lnSpc>
              <a:spcBef>
                <a:spcPts val="5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2pPr>
            <a:lvl3pPr marL="1371600" marR="0" lvl="2" indent="-228600" algn="l" rtl="0">
              <a:lnSpc>
                <a:spcPct val="90000"/>
              </a:lnSpc>
              <a:spcBef>
                <a:spcPts val="50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3pPr>
            <a:lvl4pPr marL="1828800" marR="0" lvl="3"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4pPr>
            <a:lvl5pPr marL="2286000" marR="0" lvl="4"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5pPr>
            <a:lvl6pPr marL="2743200" marR="0" lvl="5"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6pPr>
            <a:lvl7pPr marL="3200400" marR="0" lvl="6"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7pPr>
            <a:lvl8pPr marL="3657600" marR="0" lvl="7"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8pPr>
            <a:lvl9pPr marL="4114800" marR="0" lvl="8"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9pPr>
          </a:lstStyle>
          <a:p>
            <a:endParaRPr/>
          </a:p>
        </p:txBody>
      </p:sp>
      <p:sp>
        <p:nvSpPr>
          <p:cNvPr id="37" name="Google Shape;37;p5"/>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8" name="Google Shape;38;p5"/>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9" name="Google Shape;39;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6"/>
          <p:cNvSpPr txBox="1">
            <a:spLocks noGrp="1"/>
          </p:cNvSpPr>
          <p:nvPr>
            <p:ph type="title"/>
          </p:nvPr>
        </p:nvSpPr>
        <p:spPr>
          <a:xfrm>
            <a:off x="839788" y="365125"/>
            <a:ext cx="10515600" cy="1325563"/>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42" name="Google Shape;42;p6"/>
          <p:cNvSpPr txBox="1">
            <a:spLocks noGrp="1"/>
          </p:cNvSpPr>
          <p:nvPr>
            <p:ph type="body" idx="1"/>
          </p:nvPr>
        </p:nvSpPr>
        <p:spPr>
          <a:xfrm>
            <a:off x="839788" y="1681163"/>
            <a:ext cx="5157787" cy="823912"/>
          </a:xfrm>
          <a:prstGeom prst="rect">
            <a:avLst/>
          </a:prstGeom>
          <a:noFill/>
          <a:ln>
            <a:noFill/>
          </a:ln>
        </p:spPr>
        <p:txBody>
          <a:bodyPr spcFirstLastPara="1" wrap="square" lIns="91425" tIns="91425" rIns="91425" bIns="91425" anchor="b" anchorCtr="0">
            <a:noAutofit/>
          </a:bodyPr>
          <a:lstStyle>
            <a:lvl1pPr marL="457200" marR="0" lvl="0" indent="-228600" algn="l" rtl="0">
              <a:lnSpc>
                <a:spcPct val="90000"/>
              </a:lnSpc>
              <a:spcBef>
                <a:spcPts val="100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43" name="Google Shape;43;p6"/>
          <p:cNvSpPr txBox="1">
            <a:spLocks noGrp="1"/>
          </p:cNvSpPr>
          <p:nvPr>
            <p:ph type="body" idx="2"/>
          </p:nvPr>
        </p:nvSpPr>
        <p:spPr>
          <a:xfrm>
            <a:off x="839788" y="2505075"/>
            <a:ext cx="5157787" cy="3684588"/>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4" name="Google Shape;44;p6"/>
          <p:cNvSpPr txBox="1">
            <a:spLocks noGrp="1"/>
          </p:cNvSpPr>
          <p:nvPr>
            <p:ph type="body" idx="3"/>
          </p:nvPr>
        </p:nvSpPr>
        <p:spPr>
          <a:xfrm>
            <a:off x="6172200" y="1681163"/>
            <a:ext cx="5183188" cy="823912"/>
          </a:xfrm>
          <a:prstGeom prst="rect">
            <a:avLst/>
          </a:prstGeom>
          <a:noFill/>
          <a:ln>
            <a:noFill/>
          </a:ln>
        </p:spPr>
        <p:txBody>
          <a:bodyPr spcFirstLastPara="1" wrap="square" lIns="91425" tIns="91425" rIns="91425" bIns="91425" anchor="b" anchorCtr="0">
            <a:noAutofit/>
          </a:bodyPr>
          <a:lstStyle>
            <a:lvl1pPr marL="457200" marR="0" lvl="0" indent="-228600" algn="l" rtl="0">
              <a:lnSpc>
                <a:spcPct val="90000"/>
              </a:lnSpc>
              <a:spcBef>
                <a:spcPts val="100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45" name="Google Shape;45;p6"/>
          <p:cNvSpPr txBox="1">
            <a:spLocks noGrp="1"/>
          </p:cNvSpPr>
          <p:nvPr>
            <p:ph type="body" idx="4"/>
          </p:nvPr>
        </p:nvSpPr>
        <p:spPr>
          <a:xfrm>
            <a:off x="6172200" y="2505075"/>
            <a:ext cx="5183188" cy="3684588"/>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6" name="Google Shape;46;p6"/>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7" name="Google Shape;47;p6"/>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8" name="Google Shape;48;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7"/>
          <p:cNvSpPr txBox="1">
            <a:spLocks noGrp="1"/>
          </p:cNvSpPr>
          <p:nvPr>
            <p:ph type="title"/>
          </p:nvPr>
        </p:nvSpPr>
        <p:spPr>
          <a:xfrm>
            <a:off x="838200" y="365125"/>
            <a:ext cx="10515600" cy="1325563"/>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1" name="Google Shape;51;p7"/>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2" name="Google Shape;52;p7"/>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3" name="Google Shape;53;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8"/>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6" name="Google Shape;56;p8"/>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7" name="Google Shape;57;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839788" y="457200"/>
            <a:ext cx="3932237" cy="1600200"/>
          </a:xfrm>
          <a:prstGeom prst="rect">
            <a:avLst/>
          </a:prstGeom>
          <a:noFill/>
          <a:ln>
            <a:noFill/>
          </a:ln>
        </p:spPr>
        <p:txBody>
          <a:bodyPr spcFirstLastPara="1" wrap="square" lIns="91425" tIns="91425" rIns="91425" bIns="91425" anchor="b" anchorCtr="0">
            <a:noAutofit/>
          </a:bodyPr>
          <a:lstStyle>
            <a:lvl1pPr marR="0" lvl="0" algn="l" rtl="0">
              <a:lnSpc>
                <a:spcPct val="9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0" name="Google Shape;60;p9"/>
          <p:cNvSpPr txBox="1">
            <a:spLocks noGrp="1"/>
          </p:cNvSpPr>
          <p:nvPr>
            <p:ph type="body" idx="1"/>
          </p:nvPr>
        </p:nvSpPr>
        <p:spPr>
          <a:xfrm>
            <a:off x="5183188" y="987425"/>
            <a:ext cx="6172200" cy="4873625"/>
          </a:xfrm>
          <a:prstGeom prst="rect">
            <a:avLst/>
          </a:prstGeom>
          <a:noFill/>
          <a:ln>
            <a:noFill/>
          </a:ln>
        </p:spPr>
        <p:txBody>
          <a:bodyPr spcFirstLastPara="1" wrap="square" lIns="91425" tIns="91425" rIns="91425" bIns="91425" anchor="t" anchorCtr="0">
            <a:noAutofit/>
          </a:bodyPr>
          <a:lstStyle>
            <a:lvl1pPr marL="457200" marR="0" lvl="0" indent="-431800" algn="l" rtl="0">
              <a:lnSpc>
                <a:spcPct val="90000"/>
              </a:lnSpc>
              <a:spcBef>
                <a:spcPts val="10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90000"/>
              </a:lnSpc>
              <a:spcBef>
                <a:spcPts val="5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61" name="Google Shape;61;p9"/>
          <p:cNvSpPr txBox="1">
            <a:spLocks noGrp="1"/>
          </p:cNvSpPr>
          <p:nvPr>
            <p:ph type="body" idx="2"/>
          </p:nvPr>
        </p:nvSpPr>
        <p:spPr>
          <a:xfrm>
            <a:off x="839788" y="2057400"/>
            <a:ext cx="3932237" cy="3811588"/>
          </a:xfrm>
          <a:prstGeom prst="rect">
            <a:avLst/>
          </a:prstGeom>
          <a:noFill/>
          <a:ln>
            <a:noFill/>
          </a:ln>
        </p:spPr>
        <p:txBody>
          <a:bodyPr spcFirstLastPara="1" wrap="square" lIns="91425" tIns="91425" rIns="91425" bIns="91425" anchor="t" anchorCtr="0">
            <a:noAutofit/>
          </a:bodyPr>
          <a:lstStyle>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9pPr>
          </a:lstStyle>
          <a:p>
            <a:endParaRPr/>
          </a:p>
        </p:txBody>
      </p:sp>
      <p:sp>
        <p:nvSpPr>
          <p:cNvPr id="62" name="Google Shape;62;p9"/>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3" name="Google Shape;63;p9"/>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4" name="Google Shape;6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839788" y="457200"/>
            <a:ext cx="3932237" cy="1600200"/>
          </a:xfrm>
          <a:prstGeom prst="rect">
            <a:avLst/>
          </a:prstGeom>
          <a:noFill/>
          <a:ln>
            <a:noFill/>
          </a:ln>
        </p:spPr>
        <p:txBody>
          <a:bodyPr spcFirstLastPara="1" wrap="square" lIns="91425" tIns="91425" rIns="91425" bIns="91425" anchor="b" anchorCtr="0">
            <a:noAutofit/>
          </a:bodyPr>
          <a:lstStyle>
            <a:lvl1pPr marR="0" lvl="0" algn="l" rtl="0">
              <a:lnSpc>
                <a:spcPct val="9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7" name="Google Shape;67;p10"/>
          <p:cNvSpPr>
            <a:spLocks noGrp="1"/>
          </p:cNvSpPr>
          <p:nvPr>
            <p:ph type="pic" idx="2"/>
          </p:nvPr>
        </p:nvSpPr>
        <p:spPr>
          <a:xfrm>
            <a:off x="5183188" y="987425"/>
            <a:ext cx="6172200" cy="4873625"/>
          </a:xfrm>
          <a:prstGeom prst="rect">
            <a:avLst/>
          </a:prstGeom>
          <a:noFill/>
          <a:ln>
            <a:noFill/>
          </a:ln>
        </p:spPr>
        <p:txBody>
          <a:bodyPr spcFirstLastPara="1" wrap="square" lIns="91425" tIns="91425" rIns="91425" bIns="91425" anchor="t" anchorCtr="0">
            <a:noAutofit/>
          </a:bodyPr>
          <a:lstStyle>
            <a:lvl1pPr marR="0" lvl="0" algn="l" rtl="0">
              <a:lnSpc>
                <a:spcPct val="90000"/>
              </a:lnSpc>
              <a:spcBef>
                <a:spcPts val="100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68" name="Google Shape;68;p10"/>
          <p:cNvSpPr txBox="1">
            <a:spLocks noGrp="1"/>
          </p:cNvSpPr>
          <p:nvPr>
            <p:ph type="body" idx="1"/>
          </p:nvPr>
        </p:nvSpPr>
        <p:spPr>
          <a:xfrm>
            <a:off x="839788" y="2057400"/>
            <a:ext cx="3932237" cy="3811588"/>
          </a:xfrm>
          <a:prstGeom prst="rect">
            <a:avLst/>
          </a:prstGeom>
          <a:noFill/>
          <a:ln>
            <a:noFill/>
          </a:ln>
        </p:spPr>
        <p:txBody>
          <a:bodyPr spcFirstLastPara="1" wrap="square" lIns="91425" tIns="91425" rIns="91425" bIns="91425" anchor="t" anchorCtr="0">
            <a:noAutofit/>
          </a:bodyPr>
          <a:lstStyle>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9pPr>
          </a:lstStyle>
          <a:p>
            <a:endParaRPr/>
          </a:p>
        </p:txBody>
      </p:sp>
      <p:sp>
        <p:nvSpPr>
          <p:cNvPr id="69" name="Google Shape;69;p10"/>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0" name="Google Shape;70;p10"/>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1" name="Google Shape;7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838200" y="365125"/>
            <a:ext cx="10515600" cy="1325563"/>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4" name="Google Shape;74;p1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75" name="Google Shape;75;p11"/>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6" name="Google Shape;76;p11"/>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7" name="Google Shape;77;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7133431" y="1956594"/>
            <a:ext cx="5811838" cy="2628900"/>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0" name="Google Shape;80;p1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1" name="Google Shape;81;p12"/>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2" name="Google Shape;82;p12"/>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3" name="Google Shape;8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en.wikipedia.org/wiki/Kurtosis" TargetMode="External"/><Relationship Id="rId2" Type="http://schemas.openxmlformats.org/officeDocument/2006/relationships/hyperlink" Target="https://en.wikipedia.org/wiki/Hoeffding%27s_inequality" TargetMode="External"/><Relationship Id="rId1" Type="http://schemas.openxmlformats.org/officeDocument/2006/relationships/slideLayout" Target="../slideLayouts/slideLayout1.xml"/><Relationship Id="rId6" Type="http://schemas.openxmlformats.org/officeDocument/2006/relationships/hyperlink" Target="https://en.wikipedia.org/wiki/Cluster_analysis" TargetMode="External"/><Relationship Id="rId5" Type="http://schemas.openxmlformats.org/officeDocument/2006/relationships/hyperlink" Target="https://en.wikipedia.org/wiki/Cauchy_distribution" TargetMode="External"/><Relationship Id="rId4" Type="http://schemas.openxmlformats.org/officeDocument/2006/relationships/hyperlink" Target="https://en.wikipedia.org/wiki/Weibull_distributio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56432189-ED90-2949-9A3D-194D62BBF5FF}"/>
              </a:ext>
            </a:extLst>
          </p:cNvPr>
          <p:cNvSpPr txBox="1"/>
          <p:nvPr/>
        </p:nvSpPr>
        <p:spPr>
          <a:xfrm>
            <a:off x="0" y="0"/>
            <a:ext cx="4595181" cy="523220"/>
          </a:xfrm>
          <a:prstGeom prst="rect">
            <a:avLst/>
          </a:prstGeom>
          <a:noFill/>
        </p:spPr>
        <p:txBody>
          <a:bodyPr wrap="square" rtlCol="0">
            <a:spAutoFit/>
          </a:bodyPr>
          <a:lstStyle/>
          <a:p>
            <a:r>
              <a:rPr lang="en-US" sz="2800" b="1" dirty="0"/>
              <a:t>More Topics &amp; Links</a:t>
            </a:r>
          </a:p>
        </p:txBody>
      </p:sp>
      <p:sp>
        <p:nvSpPr>
          <p:cNvPr id="2" name="TextBox 1">
            <a:extLst>
              <a:ext uri="{FF2B5EF4-FFF2-40B4-BE49-F238E27FC236}">
                <a16:creationId xmlns:a16="http://schemas.microsoft.com/office/drawing/2014/main" id="{27B1EABB-156F-CB45-B614-5211732034DF}"/>
              </a:ext>
            </a:extLst>
          </p:cNvPr>
          <p:cNvSpPr txBox="1"/>
          <p:nvPr/>
        </p:nvSpPr>
        <p:spPr>
          <a:xfrm>
            <a:off x="0" y="565374"/>
            <a:ext cx="6912864" cy="4893647"/>
          </a:xfrm>
          <a:prstGeom prst="rect">
            <a:avLst/>
          </a:prstGeom>
          <a:noFill/>
        </p:spPr>
        <p:txBody>
          <a:bodyPr wrap="square" rtlCol="0">
            <a:spAutoFit/>
          </a:bodyPr>
          <a:lstStyle/>
          <a:p>
            <a:pPr marL="171450" indent="-171450">
              <a:buFont typeface="Arial" panose="020B0604020202020204" pitchFamily="34" charset="0"/>
              <a:buChar char="•"/>
            </a:pPr>
            <a:r>
              <a:rPr lang="en-US" sz="1200" dirty="0" err="1"/>
              <a:t>Hoeffding's</a:t>
            </a:r>
            <a:r>
              <a:rPr lang="en-US" sz="1200" dirty="0"/>
              <a:t> inequality - </a:t>
            </a:r>
            <a:r>
              <a:rPr lang="en-US" sz="1200" dirty="0">
                <a:hlinkClick r:id="rId2"/>
              </a:rPr>
              <a:t>https://en.wikipedia.org/wiki/Hoeffding%27s_inequality</a:t>
            </a:r>
            <a:r>
              <a:rPr lang="en-US" sz="1200" dirty="0"/>
              <a:t>  </a:t>
            </a:r>
          </a:p>
          <a:p>
            <a:pPr marL="171450" indent="-171450">
              <a:buFont typeface="Arial" panose="020B0604020202020204" pitchFamily="34" charset="0"/>
              <a:buChar char="•"/>
            </a:pPr>
            <a:r>
              <a:rPr lang="en-US" sz="1200" dirty="0"/>
              <a:t>Gaussian Mixture Models</a:t>
            </a:r>
          </a:p>
          <a:p>
            <a:pPr marL="171450" indent="-171450">
              <a:buFont typeface="Arial" panose="020B0604020202020204" pitchFamily="34" charset="0"/>
              <a:buChar char="•"/>
            </a:pPr>
            <a:r>
              <a:rPr lang="en-US" sz="1200" dirty="0"/>
              <a:t>Higher order moments</a:t>
            </a:r>
          </a:p>
          <a:p>
            <a:pPr marL="171450" indent="-171450">
              <a:buFont typeface="Arial" panose="020B0604020202020204" pitchFamily="34" charset="0"/>
              <a:buChar char="•"/>
            </a:pPr>
            <a:r>
              <a:rPr lang="en-US" sz="1200" dirty="0"/>
              <a:t>Kurtosis - </a:t>
            </a:r>
            <a:r>
              <a:rPr lang="en-US" sz="1200" dirty="0">
                <a:hlinkClick r:id="rId3"/>
              </a:rPr>
              <a:t>https://en.wikipedia.org/wiki/Kurtosis</a:t>
            </a:r>
            <a:r>
              <a:rPr lang="en-US" sz="1200" dirty="0"/>
              <a:t>  </a:t>
            </a:r>
          </a:p>
          <a:p>
            <a:pPr marL="171450" indent="-171450">
              <a:buFont typeface="Arial" panose="020B0604020202020204" pitchFamily="34" charset="0"/>
              <a:buChar char="•"/>
            </a:pPr>
            <a:r>
              <a:rPr lang="en-US" sz="1200" dirty="0"/>
              <a:t>Blind source separation</a:t>
            </a:r>
          </a:p>
          <a:p>
            <a:pPr marL="171450" indent="-171450">
              <a:buFont typeface="Arial" panose="020B0604020202020204" pitchFamily="34" charset="0"/>
              <a:buChar char="•"/>
            </a:pPr>
            <a:r>
              <a:rPr lang="en-US" sz="1200" dirty="0"/>
              <a:t>ICA = Independent Component Analysis</a:t>
            </a:r>
          </a:p>
          <a:p>
            <a:pPr marL="171450" indent="-171450">
              <a:buFont typeface="Arial" panose="020B0604020202020204" pitchFamily="34" charset="0"/>
              <a:buChar char="•"/>
            </a:pPr>
            <a:r>
              <a:rPr lang="en-US" sz="1200" dirty="0">
                <a:hlinkClick r:id="rId4"/>
              </a:rPr>
              <a:t>https://en.wikipedia.org/wiki/Weibull_distribution</a:t>
            </a:r>
            <a:r>
              <a:rPr lang="en-US" sz="1200" dirty="0"/>
              <a:t> </a:t>
            </a:r>
          </a:p>
          <a:p>
            <a:pPr marL="171450" indent="-171450">
              <a:buFont typeface="Arial" panose="020B0604020202020204" pitchFamily="34" charset="0"/>
              <a:buChar char="•"/>
            </a:pPr>
            <a:r>
              <a:rPr lang="en-US" sz="1200" dirty="0"/>
              <a:t>Maximum Likelihood estimation</a:t>
            </a:r>
          </a:p>
          <a:p>
            <a:pPr marL="171450" indent="-171450">
              <a:buFont typeface="Arial" panose="020B0604020202020204" pitchFamily="34" charset="0"/>
              <a:buChar char="•"/>
            </a:pPr>
            <a:r>
              <a:rPr lang="en-US" sz="1200" dirty="0"/>
              <a:t>Biased and unbiased estimators</a:t>
            </a:r>
          </a:p>
          <a:p>
            <a:pPr marL="171450" indent="-171450">
              <a:buFont typeface="Arial" panose="020B0604020202020204" pitchFamily="34" charset="0"/>
              <a:buChar char="•"/>
            </a:pPr>
            <a:r>
              <a:rPr lang="en-US" sz="1200" dirty="0"/>
              <a:t>Question to answer: how confident are you about ... ? focus on uncertainty ...</a:t>
            </a:r>
          </a:p>
          <a:p>
            <a:pPr marL="171450" indent="-171450">
              <a:buFont typeface="Arial" panose="020B0604020202020204" pitchFamily="34" charset="0"/>
              <a:buChar char="•"/>
            </a:pPr>
            <a:r>
              <a:rPr lang="en-US" sz="1200" dirty="0"/>
              <a:t>Cauchy distribution – ratio of </a:t>
            </a:r>
            <a:r>
              <a:rPr lang="en-US" sz="1200" dirty="0" err="1"/>
              <a:t>normals</a:t>
            </a:r>
            <a:r>
              <a:rPr lang="en-US" sz="1200" dirty="0"/>
              <a:t> </a:t>
            </a:r>
            <a:r>
              <a:rPr lang="en-US" sz="1200" dirty="0">
                <a:hlinkClick r:id="rId5"/>
              </a:rPr>
              <a:t>https://en.wikipedia.org/wiki/Cauchy_distribution</a:t>
            </a:r>
            <a:r>
              <a:rPr lang="en-US" sz="1200" dirty="0"/>
              <a:t> </a:t>
            </a:r>
          </a:p>
          <a:p>
            <a:pPr marL="171450" indent="-171450">
              <a:buFont typeface="Arial" panose="020B0604020202020204" pitchFamily="34" charset="0"/>
              <a:buChar char="•"/>
            </a:pPr>
            <a:r>
              <a:rPr lang="en-US" sz="1200" dirty="0" err="1"/>
              <a:t>Bootstraping</a:t>
            </a:r>
            <a:r>
              <a:rPr lang="en-US" sz="1200" dirty="0"/>
              <a:t> – estimating uncertainty of your estimator when CLT doesn't apply</a:t>
            </a:r>
          </a:p>
          <a:p>
            <a:pPr marL="171450" indent="-171450">
              <a:buFont typeface="Arial" panose="020B0604020202020204" pitchFamily="34" charset="0"/>
              <a:buChar char="•"/>
            </a:pPr>
            <a:r>
              <a:rPr lang="en-US" sz="1200" dirty="0"/>
              <a:t>Negative binomial distribution - how many steps until N successes achieved</a:t>
            </a:r>
          </a:p>
          <a:p>
            <a:pPr marL="171450" indent="-171450">
              <a:buFont typeface="Arial" panose="020B0604020202020204" pitchFamily="34" charset="0"/>
              <a:buChar char="•"/>
            </a:pPr>
            <a:r>
              <a:rPr lang="en-US" sz="1200" dirty="0"/>
              <a:t>Poisson approximation for rare events</a:t>
            </a:r>
          </a:p>
          <a:p>
            <a:pPr marL="171450" indent="-171450">
              <a:buFont typeface="Arial" panose="020B0604020202020204" pitchFamily="34" charset="0"/>
              <a:buChar char="•"/>
            </a:pPr>
            <a:r>
              <a:rPr lang="en-US" sz="1200" dirty="0"/>
              <a:t>Hyper geometric distribution use cases – without replacement in finite population</a:t>
            </a:r>
          </a:p>
          <a:p>
            <a:pPr marL="171450" indent="-171450">
              <a:buFont typeface="Arial" panose="020B0604020202020204" pitchFamily="34" charset="0"/>
              <a:buChar char="•"/>
            </a:pPr>
            <a:r>
              <a:rPr lang="en-US" sz="1200" dirty="0"/>
              <a:t>Cluster Analysis (finding groups (clusters) in data) - </a:t>
            </a:r>
            <a:r>
              <a:rPr lang="en-US" sz="1200" dirty="0">
                <a:hlinkClick r:id="rId6"/>
              </a:rPr>
              <a:t>https://en.wikipedia.org/wiki/Cluster_analysis</a:t>
            </a:r>
            <a:r>
              <a:rPr lang="en-US" sz="1200" dirty="0"/>
              <a:t> </a:t>
            </a:r>
          </a:p>
          <a:p>
            <a:pPr marL="171450" indent="-171450">
              <a:buFont typeface="Arial" panose="020B0604020202020204" pitchFamily="34" charset="0"/>
              <a:buChar char="•"/>
            </a:pPr>
            <a:r>
              <a:rPr lang="en-US" sz="1200" dirty="0"/>
              <a:t>Convolution - https://</a:t>
            </a:r>
            <a:r>
              <a:rPr lang="en-US" sz="1200" dirty="0" err="1"/>
              <a:t>en.wikipedia.org</a:t>
            </a:r>
            <a:r>
              <a:rPr lang="en-US" sz="1200" dirty="0"/>
              <a:t>/wiki/Convolution </a:t>
            </a:r>
          </a:p>
          <a:p>
            <a:pPr marL="171450" indent="-171450">
              <a:buFont typeface="Arial" panose="020B0604020202020204" pitchFamily="34" charset="0"/>
              <a:buChar char="•"/>
            </a:pPr>
            <a:r>
              <a:rPr lang="en-US" sz="1200" dirty="0"/>
              <a:t>Functional Analysis - https://</a:t>
            </a:r>
            <a:r>
              <a:rPr lang="en-US" sz="1200" dirty="0" err="1"/>
              <a:t>en.wikipedia.org</a:t>
            </a:r>
            <a:r>
              <a:rPr lang="en-US" sz="1200" dirty="0"/>
              <a:t>/wiki/</a:t>
            </a:r>
            <a:r>
              <a:rPr lang="en-US" sz="1200" dirty="0" err="1"/>
              <a:t>Functional_analysis</a:t>
            </a:r>
            <a:r>
              <a:rPr lang="en-US" sz="1200" dirty="0"/>
              <a:t> </a:t>
            </a:r>
          </a:p>
          <a:p>
            <a:pPr marL="171450" indent="-171450">
              <a:buFont typeface="Arial" panose="020B0604020202020204" pitchFamily="34" charset="0"/>
              <a:buChar char="•"/>
            </a:pPr>
            <a:r>
              <a:rPr lang="en-US" sz="1200" dirty="0"/>
              <a:t>Extracting signal from Noise</a:t>
            </a:r>
          </a:p>
          <a:p>
            <a:pPr marL="171450" indent="-171450">
              <a:buFont typeface="Arial" panose="020B0604020202020204" pitchFamily="34" charset="0"/>
              <a:buChar char="•"/>
            </a:pPr>
            <a:r>
              <a:rPr lang="en-US" sz="1200" dirty="0"/>
              <a:t> - https://</a:t>
            </a:r>
            <a:r>
              <a:rPr lang="en-US" sz="1200" dirty="0" err="1"/>
              <a:t>en.wikipedia.org</a:t>
            </a:r>
            <a:r>
              <a:rPr lang="en-US" sz="1200" dirty="0"/>
              <a:t>/wiki/Signal-to-</a:t>
            </a:r>
            <a:r>
              <a:rPr lang="en-US" sz="1200" dirty="0" err="1"/>
              <a:t>noise_ratio</a:t>
            </a:r>
            <a:r>
              <a:rPr lang="en-US" sz="1200" dirty="0"/>
              <a:t> –</a:t>
            </a:r>
          </a:p>
          <a:p>
            <a:pPr marL="171450" indent="-171450">
              <a:buFont typeface="Arial" panose="020B0604020202020204" pitchFamily="34" charset="0"/>
              <a:buChar char="•"/>
            </a:pPr>
            <a:r>
              <a:rPr lang="en-US" sz="1200" dirty="0"/>
              <a:t> - https://</a:t>
            </a:r>
            <a:r>
              <a:rPr lang="en-US" sz="1200" dirty="0" err="1"/>
              <a:t>en.wikipedia.org</a:t>
            </a:r>
            <a:r>
              <a:rPr lang="en-US" sz="1200" dirty="0"/>
              <a:t>/wiki/</a:t>
            </a:r>
            <a:r>
              <a:rPr lang="en-US" sz="1200" dirty="0" err="1"/>
              <a:t>Noise_reduction</a:t>
            </a:r>
            <a:r>
              <a:rPr lang="en-US" sz="1200" dirty="0"/>
              <a:t> – (filtering, etc.). If we add N samples “s” of noisy data, then the signal will add proportionally to N, whereas noise will grow only as sqrt(N). So, if we add 100 samples, we will improve out Signal/Noise ratio ~10 times.</a:t>
            </a:r>
          </a:p>
          <a:p>
            <a:pPr marL="171450" indent="-171450">
              <a:buFont typeface="Arial" panose="020B0604020202020204" pitchFamily="34" charset="0"/>
              <a:buChar char="•"/>
            </a:pPr>
            <a:r>
              <a:rPr lang="en-US" sz="1200" dirty="0"/>
              <a:t>Monte Carlo - evaluate by using randomly-generated samples </a:t>
            </a:r>
            <a:br>
              <a:rPr lang="en-US" sz="1200" dirty="0"/>
            </a:br>
            <a:r>
              <a:rPr lang="en-US" sz="1200" dirty="0"/>
              <a:t> - https://</a:t>
            </a:r>
            <a:r>
              <a:rPr lang="en-US" sz="1200" dirty="0" err="1"/>
              <a:t>en.wikipedia.org</a:t>
            </a:r>
            <a:r>
              <a:rPr lang="en-US" sz="1200" dirty="0"/>
              <a:t>/wiki/</a:t>
            </a:r>
            <a:r>
              <a:rPr lang="en-US" sz="1200" dirty="0" err="1"/>
              <a:t>Monte_Carlo_method</a:t>
            </a:r>
            <a:r>
              <a:rPr lang="en-US" sz="1200" dirty="0"/>
              <a:t> </a:t>
            </a:r>
          </a:p>
        </p:txBody>
      </p:sp>
      <p:sp>
        <p:nvSpPr>
          <p:cNvPr id="6" name="TextBox 5">
            <a:extLst>
              <a:ext uri="{FF2B5EF4-FFF2-40B4-BE49-F238E27FC236}">
                <a16:creationId xmlns:a16="http://schemas.microsoft.com/office/drawing/2014/main" id="{C8FF63A9-0523-1047-8FD8-F5F7507AD1C0}"/>
              </a:ext>
            </a:extLst>
          </p:cNvPr>
          <p:cNvSpPr txBox="1"/>
          <p:nvPr/>
        </p:nvSpPr>
        <p:spPr>
          <a:xfrm>
            <a:off x="7240555" y="196042"/>
            <a:ext cx="4951445" cy="6463308"/>
          </a:xfrm>
          <a:prstGeom prst="rect">
            <a:avLst/>
          </a:prstGeom>
          <a:noFill/>
        </p:spPr>
        <p:txBody>
          <a:bodyPr wrap="square" rtlCol="0">
            <a:spAutoFit/>
          </a:bodyPr>
          <a:lstStyle/>
          <a:p>
            <a:r>
              <a:rPr lang="en-US" sz="1800" b="1" dirty="0"/>
              <a:t>More links:</a:t>
            </a:r>
          </a:p>
          <a:p>
            <a:endParaRPr lang="en-US" sz="1200" dirty="0"/>
          </a:p>
          <a:p>
            <a:r>
              <a:rPr lang="en-US" sz="1200" dirty="0"/>
              <a:t>Stochastic Processes, Time Series Analysis</a:t>
            </a:r>
          </a:p>
          <a:p>
            <a:r>
              <a:rPr lang="en-US" sz="1200" dirty="0"/>
              <a:t>- https://</a:t>
            </a:r>
            <a:r>
              <a:rPr lang="en-US" sz="1200" dirty="0" err="1"/>
              <a:t>en.wikipedia.org</a:t>
            </a:r>
            <a:r>
              <a:rPr lang="en-US" sz="1200" dirty="0"/>
              <a:t>/wiki/</a:t>
            </a:r>
            <a:r>
              <a:rPr lang="en-US" sz="1200" dirty="0" err="1"/>
              <a:t>Stochastic_process</a:t>
            </a:r>
            <a:r>
              <a:rPr lang="en-US" sz="1200" dirty="0"/>
              <a:t> –</a:t>
            </a:r>
          </a:p>
          <a:p>
            <a:r>
              <a:rPr lang="en-US" sz="1200" dirty="0"/>
              <a:t>- https://</a:t>
            </a:r>
            <a:r>
              <a:rPr lang="en-US" sz="1200" dirty="0" err="1"/>
              <a:t>en.wikipedia.org</a:t>
            </a:r>
            <a:r>
              <a:rPr lang="en-US" sz="1200" dirty="0"/>
              <a:t>/wiki/</a:t>
            </a:r>
            <a:r>
              <a:rPr lang="en-US" sz="1200" dirty="0" err="1"/>
              <a:t>Time_series</a:t>
            </a:r>
            <a:r>
              <a:rPr lang="en-US" sz="1200" dirty="0"/>
              <a:t> –</a:t>
            </a:r>
          </a:p>
          <a:p>
            <a:r>
              <a:rPr lang="en-US" sz="1200" dirty="0"/>
              <a:t>- https://</a:t>
            </a:r>
            <a:r>
              <a:rPr lang="en-US" sz="1200" dirty="0" err="1"/>
              <a:t>en.wikipedia.org</a:t>
            </a:r>
            <a:r>
              <a:rPr lang="en-US" sz="1200" dirty="0"/>
              <a:t>/wiki/</a:t>
            </a:r>
            <a:r>
              <a:rPr lang="en-US" sz="1200" dirty="0" err="1"/>
              <a:t>Random_walk</a:t>
            </a:r>
            <a:r>
              <a:rPr lang="en-US" sz="1200" dirty="0"/>
              <a:t> –</a:t>
            </a:r>
          </a:p>
          <a:p>
            <a:r>
              <a:rPr lang="en-US" sz="1200" dirty="0"/>
              <a:t>- https://</a:t>
            </a:r>
            <a:r>
              <a:rPr lang="en-US" sz="1200" dirty="0" err="1"/>
              <a:t>en.wikipedia.org</a:t>
            </a:r>
            <a:r>
              <a:rPr lang="en-US" sz="1200" dirty="0"/>
              <a:t>/wiki/</a:t>
            </a:r>
            <a:r>
              <a:rPr lang="en-US" sz="1200" dirty="0" err="1"/>
              <a:t>Brownian_motion</a:t>
            </a:r>
            <a:r>
              <a:rPr lang="en-US" sz="1200" dirty="0"/>
              <a:t> –</a:t>
            </a:r>
          </a:p>
          <a:p>
            <a:r>
              <a:rPr lang="en-US" sz="1200" dirty="0"/>
              <a:t>- https://</a:t>
            </a:r>
            <a:r>
              <a:rPr lang="en-US" sz="1200" dirty="0" err="1"/>
              <a:t>en.wikipedia.org</a:t>
            </a:r>
            <a:r>
              <a:rPr lang="en-US" sz="1200" dirty="0"/>
              <a:t>/wiki/Diffusion , </a:t>
            </a:r>
          </a:p>
          <a:p>
            <a:r>
              <a:rPr lang="en-US" sz="1200" dirty="0"/>
              <a:t>- https://</a:t>
            </a:r>
            <a:r>
              <a:rPr lang="en-US" sz="1200" dirty="0" err="1"/>
              <a:t>en.wikipedia.org</a:t>
            </a:r>
            <a:r>
              <a:rPr lang="en-US" sz="1200" dirty="0"/>
              <a:t>/wiki/</a:t>
            </a:r>
            <a:r>
              <a:rPr lang="en-US" sz="1200" dirty="0" err="1"/>
              <a:t>Diffusion_process</a:t>
            </a:r>
            <a:r>
              <a:rPr lang="en-US" sz="1200" dirty="0"/>
              <a:t> –</a:t>
            </a:r>
          </a:p>
          <a:p>
            <a:r>
              <a:rPr lang="en-US" sz="1200" dirty="0"/>
              <a:t>- https://</a:t>
            </a:r>
            <a:r>
              <a:rPr lang="en-US" sz="1200" dirty="0" err="1"/>
              <a:t>en.wikipedia.org</a:t>
            </a:r>
            <a:r>
              <a:rPr lang="en-US" sz="1200" dirty="0"/>
              <a:t>/wiki/</a:t>
            </a:r>
            <a:r>
              <a:rPr lang="en-US" sz="1200" dirty="0" err="1"/>
              <a:t>Stationary_process</a:t>
            </a:r>
            <a:r>
              <a:rPr lang="en-US" sz="1200" dirty="0"/>
              <a:t> –</a:t>
            </a:r>
          </a:p>
          <a:p>
            <a:r>
              <a:rPr lang="en-US" sz="1200" dirty="0"/>
              <a:t>- https://</a:t>
            </a:r>
            <a:r>
              <a:rPr lang="en-US" sz="1200" dirty="0" err="1"/>
              <a:t>en.wikipedia.org</a:t>
            </a:r>
            <a:r>
              <a:rPr lang="en-US" sz="1200" dirty="0"/>
              <a:t>/wiki/</a:t>
            </a:r>
            <a:r>
              <a:rPr lang="en-US" sz="1200" dirty="0" err="1"/>
              <a:t>Stable_process</a:t>
            </a:r>
            <a:r>
              <a:rPr lang="en-US" sz="1200" dirty="0"/>
              <a:t> –</a:t>
            </a:r>
          </a:p>
          <a:p>
            <a:endParaRPr lang="en-US" sz="1200" dirty="0"/>
          </a:p>
          <a:p>
            <a:r>
              <a:rPr lang="en-US" sz="1200" dirty="0"/>
              <a:t>Poisson Process</a:t>
            </a:r>
          </a:p>
          <a:p>
            <a:r>
              <a:rPr lang="en-US" sz="1200" dirty="0"/>
              <a:t>– https://</a:t>
            </a:r>
            <a:r>
              <a:rPr lang="en-US" sz="1200" dirty="0" err="1"/>
              <a:t>en.wikipedia.org</a:t>
            </a:r>
            <a:r>
              <a:rPr lang="en-US" sz="1200" dirty="0"/>
              <a:t>/wiki/</a:t>
            </a:r>
            <a:r>
              <a:rPr lang="en-US" sz="1200" dirty="0" err="1"/>
              <a:t>Poisson_point_process</a:t>
            </a:r>
            <a:r>
              <a:rPr lang="en-US" sz="1200" dirty="0"/>
              <a:t> –</a:t>
            </a:r>
          </a:p>
          <a:p>
            <a:r>
              <a:rPr lang="en-US" sz="1200" dirty="0"/>
              <a:t>– https://</a:t>
            </a:r>
            <a:r>
              <a:rPr lang="en-US" sz="1200" dirty="0" err="1"/>
              <a:t>en.wikipedia.org</a:t>
            </a:r>
            <a:r>
              <a:rPr lang="en-US" sz="1200" dirty="0"/>
              <a:t>/wiki/</a:t>
            </a:r>
            <a:r>
              <a:rPr lang="en-US" sz="1200" dirty="0" err="1"/>
              <a:t>Dirac_delta_function</a:t>
            </a:r>
            <a:r>
              <a:rPr lang="en-US" sz="1200" dirty="0"/>
              <a:t> –</a:t>
            </a:r>
          </a:p>
          <a:p>
            <a:r>
              <a:rPr lang="en-US" sz="1200" dirty="0"/>
              <a:t>– https://</a:t>
            </a:r>
            <a:r>
              <a:rPr lang="en-US" sz="1200" dirty="0" err="1"/>
              <a:t>en.wikipedia.org</a:t>
            </a:r>
            <a:r>
              <a:rPr lang="en-US" sz="1200" dirty="0"/>
              <a:t>/wiki/</a:t>
            </a:r>
            <a:r>
              <a:rPr lang="en-US" sz="1200" dirty="0" err="1"/>
              <a:t>Compound_Poisson_process</a:t>
            </a:r>
            <a:r>
              <a:rPr lang="en-US" sz="1200" dirty="0"/>
              <a:t> –</a:t>
            </a:r>
          </a:p>
          <a:p>
            <a:endParaRPr lang="en-US" sz="1200" dirty="0"/>
          </a:p>
          <a:p>
            <a:r>
              <a:rPr lang="en-US" sz="1200" dirty="0"/>
              <a:t>White Noise, Gaussian Noise, Brownian Noise</a:t>
            </a:r>
          </a:p>
          <a:p>
            <a:r>
              <a:rPr lang="en-US" sz="1200" dirty="0"/>
              <a:t>– https://</a:t>
            </a:r>
            <a:r>
              <a:rPr lang="en-US" sz="1200" dirty="0" err="1"/>
              <a:t>en.wikipedia.org</a:t>
            </a:r>
            <a:r>
              <a:rPr lang="en-US" sz="1200" dirty="0"/>
              <a:t>/wiki/</a:t>
            </a:r>
            <a:r>
              <a:rPr lang="en-US" sz="1200" dirty="0" err="1"/>
              <a:t>White_noise</a:t>
            </a:r>
            <a:r>
              <a:rPr lang="en-US" sz="1200" dirty="0"/>
              <a:t> –</a:t>
            </a:r>
          </a:p>
          <a:p>
            <a:r>
              <a:rPr lang="en-US" sz="1200" dirty="0"/>
              <a:t>– https://</a:t>
            </a:r>
            <a:r>
              <a:rPr lang="en-US" sz="1200" dirty="0" err="1"/>
              <a:t>en.wikipedia.org</a:t>
            </a:r>
            <a:r>
              <a:rPr lang="en-US" sz="1200" dirty="0"/>
              <a:t>/wiki/</a:t>
            </a:r>
            <a:r>
              <a:rPr lang="en-US" sz="1200" dirty="0" err="1"/>
              <a:t>Gaussian_noise</a:t>
            </a:r>
            <a:r>
              <a:rPr lang="en-US" sz="1200" dirty="0"/>
              <a:t> –</a:t>
            </a:r>
          </a:p>
          <a:p>
            <a:r>
              <a:rPr lang="en-US" sz="1200" dirty="0"/>
              <a:t>– https://</a:t>
            </a:r>
            <a:r>
              <a:rPr lang="en-US" sz="1200" dirty="0" err="1"/>
              <a:t>en.wikipedia.org</a:t>
            </a:r>
            <a:r>
              <a:rPr lang="en-US" sz="1200" dirty="0"/>
              <a:t>/wiki/</a:t>
            </a:r>
            <a:r>
              <a:rPr lang="en-US" sz="1200" dirty="0" err="1"/>
              <a:t>Brownian_noise</a:t>
            </a:r>
            <a:r>
              <a:rPr lang="en-US" sz="1200" dirty="0"/>
              <a:t> –</a:t>
            </a:r>
          </a:p>
          <a:p>
            <a:endParaRPr lang="en-US" sz="1200" dirty="0"/>
          </a:p>
          <a:p>
            <a:r>
              <a:rPr lang="en-US" sz="1200" dirty="0"/>
              <a:t>Markov Process</a:t>
            </a:r>
          </a:p>
          <a:p>
            <a:r>
              <a:rPr lang="en-US" sz="1200" dirty="0"/>
              <a:t>– https://</a:t>
            </a:r>
            <a:r>
              <a:rPr lang="en-US" sz="1200" dirty="0" err="1"/>
              <a:t>en.wikipedia.org</a:t>
            </a:r>
            <a:r>
              <a:rPr lang="en-US" sz="1200" dirty="0"/>
              <a:t>/wiki/</a:t>
            </a:r>
            <a:r>
              <a:rPr lang="en-US" sz="1200" dirty="0" err="1"/>
              <a:t>Markov_chain</a:t>
            </a:r>
            <a:r>
              <a:rPr lang="en-US" sz="1200" dirty="0"/>
              <a:t> –</a:t>
            </a:r>
          </a:p>
          <a:p>
            <a:r>
              <a:rPr lang="en-US" sz="1200" dirty="0"/>
              <a:t>– https://</a:t>
            </a:r>
            <a:r>
              <a:rPr lang="en-US" sz="1200" dirty="0" err="1"/>
              <a:t>en.wikipedia.org</a:t>
            </a:r>
            <a:r>
              <a:rPr lang="en-US" sz="1200" dirty="0"/>
              <a:t>/wiki/</a:t>
            </a:r>
            <a:r>
              <a:rPr lang="en-US" sz="1200" dirty="0" err="1"/>
              <a:t>Markov_process</a:t>
            </a:r>
            <a:r>
              <a:rPr lang="en-US" sz="1200" dirty="0"/>
              <a:t> –</a:t>
            </a:r>
          </a:p>
          <a:p>
            <a:endParaRPr lang="en-US" sz="1200" dirty="0"/>
          </a:p>
          <a:p>
            <a:r>
              <a:rPr lang="en-US" sz="1200" dirty="0"/>
              <a:t>Correlation function:</a:t>
            </a:r>
          </a:p>
          <a:p>
            <a:r>
              <a:rPr lang="en-US" sz="1200" dirty="0"/>
              <a:t>– https://</a:t>
            </a:r>
            <a:r>
              <a:rPr lang="en-US" sz="1200" dirty="0" err="1"/>
              <a:t>en.wikipedia.org</a:t>
            </a:r>
            <a:r>
              <a:rPr lang="en-US" sz="1200" dirty="0"/>
              <a:t>/wiki/</a:t>
            </a:r>
            <a:r>
              <a:rPr lang="en-US" sz="1200" dirty="0" err="1"/>
              <a:t>Correlation_function</a:t>
            </a:r>
            <a:r>
              <a:rPr lang="en-US" sz="1200" dirty="0"/>
              <a:t> –</a:t>
            </a:r>
          </a:p>
          <a:p>
            <a:r>
              <a:rPr lang="en-US" sz="1200" dirty="0"/>
              <a:t>– https://</a:t>
            </a:r>
            <a:r>
              <a:rPr lang="en-US" sz="1200" dirty="0" err="1"/>
              <a:t>en.wikipedia.org</a:t>
            </a:r>
            <a:r>
              <a:rPr lang="en-US" sz="1200" dirty="0"/>
              <a:t>/wiki/Autocorrelation –</a:t>
            </a:r>
          </a:p>
          <a:p>
            <a:endParaRPr lang="en-US" sz="1200" dirty="0"/>
          </a:p>
          <a:p>
            <a:r>
              <a:rPr lang="en-US" sz="1200" dirty="0"/>
              <a:t>Spectral Density, Fourier Analysis</a:t>
            </a:r>
          </a:p>
          <a:p>
            <a:r>
              <a:rPr lang="en-US" sz="1200" dirty="0"/>
              <a:t>– https://</a:t>
            </a:r>
            <a:r>
              <a:rPr lang="en-US" sz="1200" dirty="0" err="1"/>
              <a:t>en.wikipedia.org</a:t>
            </a:r>
            <a:r>
              <a:rPr lang="en-US" sz="1200" dirty="0"/>
              <a:t>/wiki/</a:t>
            </a:r>
            <a:r>
              <a:rPr lang="en-US" sz="1200" dirty="0" err="1"/>
              <a:t>Spectral_density</a:t>
            </a:r>
            <a:r>
              <a:rPr lang="en-US" sz="1200" dirty="0"/>
              <a:t> –</a:t>
            </a:r>
          </a:p>
          <a:p>
            <a:r>
              <a:rPr lang="en-US" sz="1200" dirty="0"/>
              <a:t>– https://</a:t>
            </a:r>
            <a:r>
              <a:rPr lang="en-US" sz="1200" dirty="0" err="1"/>
              <a:t>en.wikipedia.org</a:t>
            </a:r>
            <a:r>
              <a:rPr lang="en-US" sz="1200" dirty="0"/>
              <a:t>/wiki/</a:t>
            </a:r>
            <a:r>
              <a:rPr lang="en-US" sz="1200" dirty="0" err="1"/>
              <a:t>Fourier_analysis</a:t>
            </a:r>
            <a:r>
              <a:rPr lang="en-US" sz="1200" dirty="0"/>
              <a:t> –</a:t>
            </a:r>
          </a:p>
          <a:p>
            <a:r>
              <a:rPr lang="en-US" sz="1200" dirty="0"/>
              <a:t>– https://</a:t>
            </a:r>
            <a:r>
              <a:rPr lang="en-US" sz="1200" dirty="0" err="1"/>
              <a:t>en.wikipedia.org</a:t>
            </a:r>
            <a:r>
              <a:rPr lang="en-US" sz="1200" dirty="0"/>
              <a:t>/wiki/</a:t>
            </a:r>
            <a:r>
              <a:rPr lang="en-US" sz="1200" dirty="0" err="1"/>
              <a:t>Fast_Fourier_transform</a:t>
            </a:r>
            <a:r>
              <a:rPr lang="en-US" sz="1200" dirty="0"/>
              <a:t> –</a:t>
            </a:r>
          </a:p>
        </p:txBody>
      </p:sp>
    </p:spTree>
    <p:extLst>
      <p:ext uri="{BB962C8B-B14F-4D97-AF65-F5344CB8AC3E}">
        <p14:creationId xmlns:p14="http://schemas.microsoft.com/office/powerpoint/2010/main" val="851684096"/>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2776</TotalTime>
  <Words>661</Words>
  <Application>Microsoft Macintosh PowerPoint</Application>
  <PresentationFormat>Widescreen</PresentationFormat>
  <Paragraphs>57</Paragraphs>
  <Slides>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PowerPoint Presentation</vt:lpstr>
    </vt:vector>
  </TitlesOfParts>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Lev Selector</cp:lastModifiedBy>
  <cp:revision>273</cp:revision>
  <cp:lastPrinted>2020-09-21T17:22:59Z</cp:lastPrinted>
  <dcterms:modified xsi:type="dcterms:W3CDTF">2020-10-13T23:48:45Z</dcterms:modified>
</cp:coreProperties>
</file>