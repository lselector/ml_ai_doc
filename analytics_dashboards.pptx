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62" r:id="rId5"/>
    <p:sldId id="263" r:id="rId6"/>
    <p:sldId id="259" r:id="rId7"/>
    <p:sldId id="261" r:id="rId8"/>
    <p:sldId id="260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6"/>
    <p:restoredTop sz="94804"/>
  </p:normalViewPr>
  <p:slideViewPr>
    <p:cSldViewPr snapToGrid="0" snapToObjects="1">
      <p:cViewPr>
        <p:scale>
          <a:sx n="90" d="100"/>
          <a:sy n="90" d="100"/>
        </p:scale>
        <p:origin x="22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60bda0dc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60bda0dc2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60bda0dc20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62eab4c84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62eab4c84d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62eab4c84d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63d2f48a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63d2f48a2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63d2f48a2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63e51e399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63e51e399b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63e51e399b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3e51e399b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3e51e399b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63e51e399b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voila.readthedocs.io/en/stable/" TargetMode="External"/><Relationship Id="rId13" Type="http://schemas.openxmlformats.org/officeDocument/2006/relationships/hyperlink" Target="https://docs.microsoft.com/en-us/sql/relational-databases/indexes/columnstore-indexes-overview?view=sql-server-2017" TargetMode="External"/><Relationship Id="rId3" Type="http://schemas.openxmlformats.org/officeDocument/2006/relationships/hyperlink" Target="https://powerbi.microsoft.com/en-us/" TargetMode="External"/><Relationship Id="rId7" Type="http://schemas.openxmlformats.org/officeDocument/2006/relationships/hyperlink" Target="https://chartio.com/" TargetMode="External"/><Relationship Id="rId12" Type="http://schemas.openxmlformats.org/officeDocument/2006/relationships/hyperlink" Target="https://www.youtube.com/watch?v=7XliLU7ZC_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atastudio.google.com/" TargetMode="External"/><Relationship Id="rId11" Type="http://schemas.openxmlformats.org/officeDocument/2006/relationships/hyperlink" Target="https://www.youtube.com/watch?v=mQyFp2MSl-s" TargetMode="External"/><Relationship Id="rId5" Type="http://schemas.openxmlformats.org/officeDocument/2006/relationships/hyperlink" Target="https://www.qlik.com/us/" TargetMode="External"/><Relationship Id="rId15" Type="http://schemas.openxmlformats.org/officeDocument/2006/relationships/image" Target="../media/image2.png"/><Relationship Id="rId10" Type="http://schemas.openxmlformats.org/officeDocument/2006/relationships/hyperlink" Target="https://preset.io/" TargetMode="External"/><Relationship Id="rId4" Type="http://schemas.openxmlformats.org/officeDocument/2006/relationships/hyperlink" Target="https://www.tableau.com/" TargetMode="External"/><Relationship Id="rId9" Type="http://schemas.openxmlformats.org/officeDocument/2006/relationships/hyperlink" Target="https://superset.incubator.apache.org/" TargetMode="External"/><Relationship Id="rId1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statsbot.co/blog/modern-data-warehouse" TargetMode="External"/><Relationship Id="rId3" Type="http://schemas.openxmlformats.org/officeDocument/2006/relationships/hyperlink" Target="https://www.gartner.com/doc/reprints?id=1-65P04FG&amp;ct=190125" TargetMode="External"/><Relationship Id="rId7" Type="http://schemas.openxmlformats.org/officeDocument/2006/relationships/hyperlink" Target="https://www.omnisci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inetica.com/partner/google-cloud-platform/" TargetMode="External"/><Relationship Id="rId11" Type="http://schemas.openxmlformats.org/officeDocument/2006/relationships/image" Target="../media/image3.tiff"/><Relationship Id="rId5" Type="http://schemas.openxmlformats.org/officeDocument/2006/relationships/hyperlink" Target="https://powerbi.microsoft.com/en-us/" TargetMode="External"/><Relationship Id="rId10" Type="http://schemas.openxmlformats.org/officeDocument/2006/relationships/hyperlink" Target="https://www.omnisci.com/demos/" TargetMode="External"/><Relationship Id="rId4" Type="http://schemas.openxmlformats.org/officeDocument/2006/relationships/hyperlink" Target="https://azure.microsoft.com/en-us/services/sql-data-warehouse/" TargetMode="External"/><Relationship Id="rId9" Type="http://schemas.openxmlformats.org/officeDocument/2006/relationships/hyperlink" Target="https://fivetran.com/blog/warehouse-benchmark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jupyterlab.readthedocs.io/en/stable/" TargetMode="External"/><Relationship Id="rId13" Type="http://schemas.openxmlformats.org/officeDocument/2006/relationships/hyperlink" Target="https://github.com/bloomberg/bqplot" TargetMode="External"/><Relationship Id="rId18" Type="http://schemas.openxmlformats.org/officeDocument/2006/relationships/hyperlink" Target="https://superset.incubator.apache.org/installation.html#getting-started" TargetMode="External"/><Relationship Id="rId3" Type="http://schemas.openxmlformats.org/officeDocument/2006/relationships/hyperlink" Target="http://druid.io/" TargetMode="External"/><Relationship Id="rId21" Type="http://schemas.openxmlformats.org/officeDocument/2006/relationships/hyperlink" Target="http://nvd3.org/examples/index.html" TargetMode="External"/><Relationship Id="rId7" Type="http://schemas.openxmlformats.org/officeDocument/2006/relationships/hyperlink" Target="https://annefou.github.io/jupyter_dashboards/02-dashboards/index.html" TargetMode="External"/><Relationship Id="rId12" Type="http://schemas.openxmlformats.org/officeDocument/2006/relationships/hyperlink" Target="https://www.youtube.com/watch?v=i40d8-Hu4vM" TargetMode="External"/><Relationship Id="rId17" Type="http://schemas.openxmlformats.org/officeDocument/2006/relationships/hyperlink" Target="https://chartio.com/" TargetMode="External"/><Relationship Id="rId25" Type="http://schemas.openxmlformats.org/officeDocument/2006/relationships/image" Target="../media/image4.tiff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github.com/maartenbreddels/ipyvolume" TargetMode="External"/><Relationship Id="rId20" Type="http://schemas.openxmlformats.org/officeDocument/2006/relationships/hyperlink" Target="https://youtu.be/24XDOkGJrEY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shiny.rstudio.com/" TargetMode="External"/><Relationship Id="rId11" Type="http://schemas.openxmlformats.org/officeDocument/2006/relationships/hyperlink" Target="https://github.com/jupyter-widgets/ipywidgets" TargetMode="External"/><Relationship Id="rId24" Type="http://schemas.openxmlformats.org/officeDocument/2006/relationships/hyperlink" Target="https://www.youtube.com/watch?v=vbH8E0nH2Nw" TargetMode="External"/><Relationship Id="rId5" Type="http://schemas.openxmlformats.org/officeDocument/2006/relationships/hyperlink" Target="https://www.anaconda.com/python-data-visualization-2018-why-so-many-libraries/" TargetMode="External"/><Relationship Id="rId15" Type="http://schemas.openxmlformats.org/officeDocument/2006/relationships/hyperlink" Target="https://docs.bokeh.org/en/latest/docs/user_guide.html" TargetMode="External"/><Relationship Id="rId23" Type="http://schemas.openxmlformats.org/officeDocument/2006/relationships/hyperlink" Target="https://druid.apache.org/" TargetMode="External"/><Relationship Id="rId10" Type="http://schemas.openxmlformats.org/officeDocument/2006/relationships/hyperlink" Target="https://github.com/voila-dashboards/voilai" TargetMode="External"/><Relationship Id="rId19" Type="http://schemas.openxmlformats.org/officeDocument/2006/relationships/hyperlink" Target="https://www.youtube.com/watch?v=AqousXQ7YHw" TargetMode="External"/><Relationship Id="rId4" Type="http://schemas.openxmlformats.org/officeDocument/2006/relationships/hyperlink" Target="https://calcite.apache.org/" TargetMode="External"/><Relationship Id="rId9" Type="http://schemas.openxmlformats.org/officeDocument/2006/relationships/hyperlink" Target="https://github.com/jupyter/dashboards" TargetMode="External"/><Relationship Id="rId14" Type="http://schemas.openxmlformats.org/officeDocument/2006/relationships/hyperlink" Target="https://www.youtube.com/watch?v=Dmxa2Kyfzxk" TargetMode="External"/><Relationship Id="rId22" Type="http://schemas.openxmlformats.org/officeDocument/2006/relationships/hyperlink" Target="http://nvd3.org/examples/stackedArea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jupyter.org/a-gallery-of-voil%C3%A0-examples-a2ce7ef99130" TargetMode="External"/><Relationship Id="rId7" Type="http://schemas.openxmlformats.org/officeDocument/2006/relationships/image" Target="../media/image7.tiff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tiff"/><Relationship Id="rId5" Type="http://schemas.openxmlformats.org/officeDocument/2006/relationships/hyperlink" Target="https://blog.jupyter.org/voila-gridstack-template-8a431c2b353e" TargetMode="External"/><Relationship Id="rId4" Type="http://schemas.openxmlformats.org/officeDocument/2006/relationships/hyperlink" Target="https://jupyter-flex.extrapolations.dev/voila-ipywidgets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olistics.io/blog/the-rise-and-fall-of-the-olap-cube/" TargetMode="Externa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7XliLU7ZC_s" TargetMode="External"/><Relationship Id="rId3" Type="http://schemas.openxmlformats.org/officeDocument/2006/relationships/hyperlink" Target="https://www.youtube.com/watch?v=vPN8_PCsJm4" TargetMode="External"/><Relationship Id="rId7" Type="http://schemas.openxmlformats.org/officeDocument/2006/relationships/hyperlink" Target="https://www.youtube.com/watch?v=mQyFp2MSl-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owerbi.microsoft.com/" TargetMode="External"/><Relationship Id="rId5" Type="http://schemas.openxmlformats.org/officeDocument/2006/relationships/hyperlink" Target="https://en.wikipedia.org/wiki/Microsoft_Analysis_Services" TargetMode="External"/><Relationship Id="rId4" Type="http://schemas.openxmlformats.org/officeDocument/2006/relationships/hyperlink" Target="https://azure.microsoft.com/en-us/services/sql-data-warehouse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Inverted_index" TargetMode="External"/><Relationship Id="rId5" Type="http://schemas.openxmlformats.org/officeDocument/2006/relationships/hyperlink" Target="https://stackoverflow.com/questions/47537318/b-tree-index-vs-inverted-index" TargetMode="External"/><Relationship Id="rId4" Type="http://schemas.openxmlformats.org/officeDocument/2006/relationships/hyperlink" Target="https://www.quora.com/In-database-design-what-exactly-is-the-difference-between-inverted-index-and-a-normal-inde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/>
        </p:nvSpPr>
        <p:spPr>
          <a:xfrm>
            <a:off x="79075" y="58250"/>
            <a:ext cx="8242500" cy="67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There are many tools on the market to help visualize data in graphs and dashboards.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-US" sz="1600" b="1" dirty="0">
                <a:solidFill>
                  <a:srgbClr val="1155CC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 is a combination of graphs, text fields, and controls 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allowing user to select the data, filter data (for example, by date range or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by geography or by user),  aggregate, compare. etc.</a:t>
            </a:r>
            <a:endParaRPr sz="16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The data queries are usually formulated in SQL.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Most common dashboards are: </a:t>
            </a:r>
          </a:p>
          <a:p>
            <a:pPr lvl="0"/>
            <a:endParaRPr lang="en-US" sz="1600" dirty="0">
              <a:latin typeface="+mj-lt"/>
              <a:ea typeface="Calibri"/>
              <a:cs typeface="Calibri"/>
              <a:sym typeface="Calibri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Microsoft Power BI - </a:t>
            </a:r>
            <a:r>
              <a:rPr lang="en-US" sz="1600" dirty="0">
                <a:latin typeface="+mj-lt"/>
                <a:hlinkClick r:id="rId3"/>
              </a:rPr>
              <a:t>https://powerbi.microsoft.com/en-us/</a:t>
            </a:r>
            <a:endParaRPr lang="en-US" sz="1600" dirty="0">
              <a:solidFill>
                <a:schemeClr val="dk1"/>
              </a:solidFill>
              <a:latin typeface="+mj-lt"/>
              <a:ea typeface="Calibri"/>
              <a:cs typeface="Calibri"/>
              <a:sym typeface="Calibri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Tableau - </a:t>
            </a:r>
            <a:r>
              <a:rPr lang="en-US" sz="1600" dirty="0">
                <a:latin typeface="+mj-lt"/>
                <a:hlinkClick r:id="rId4"/>
              </a:rPr>
              <a:t>https://www.tableau.com/</a:t>
            </a:r>
            <a:endParaRPr sz="1600" dirty="0">
              <a:latin typeface="+mj-lt"/>
              <a:ea typeface="Calibri"/>
              <a:cs typeface="Calibri"/>
              <a:sym typeface="Calibri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latin typeface="+mj-lt"/>
                <a:ea typeface="Calibri"/>
                <a:cs typeface="Calibri"/>
                <a:sym typeface="Calibri"/>
              </a:rPr>
              <a:t>Qlik - </a:t>
            </a:r>
            <a:r>
              <a:rPr lang="en-US" sz="1600" dirty="0">
                <a:latin typeface="+mj-lt"/>
                <a:hlinkClick r:id="rId5"/>
              </a:rPr>
              <a:t>https://www.qlik.com/us/</a:t>
            </a:r>
            <a:r>
              <a:rPr lang="en-US" sz="1600" dirty="0">
                <a:latin typeface="+mj-lt"/>
              </a:rPr>
              <a:t>  </a:t>
            </a: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Google </a:t>
            </a:r>
            <a:r>
              <a:rPr lang="en-US" sz="1600" dirty="0" err="1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DataStudio</a:t>
            </a:r>
            <a:r>
              <a:rPr lang="en-US" sz="1600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 - </a:t>
            </a:r>
            <a:r>
              <a:rPr lang="en-US" sz="1600" dirty="0">
                <a:latin typeface="+mj-lt"/>
                <a:hlinkClick r:id="rId6"/>
              </a:rPr>
              <a:t>https://datastudio.google.com/</a:t>
            </a:r>
            <a:r>
              <a:rPr lang="en-US" sz="1600" dirty="0">
                <a:latin typeface="+mj-lt"/>
              </a:rPr>
              <a:t> </a:t>
            </a: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 err="1"/>
              <a:t>Chartio</a:t>
            </a:r>
            <a:r>
              <a:rPr lang="en-US" sz="1600" dirty="0"/>
              <a:t> - </a:t>
            </a:r>
            <a:r>
              <a:rPr lang="en-US" sz="1600" dirty="0">
                <a:hlinkClick r:id="rId7"/>
              </a:rPr>
              <a:t>https://</a:t>
            </a:r>
            <a:r>
              <a:rPr lang="en-US" sz="1600" dirty="0" err="1">
                <a:hlinkClick r:id="rId7"/>
              </a:rPr>
              <a:t>chartio.com</a:t>
            </a:r>
            <a:r>
              <a:rPr lang="en-US" sz="1600" dirty="0">
                <a:hlinkClick r:id="rId7"/>
              </a:rPr>
              <a:t>/</a:t>
            </a:r>
            <a:endParaRPr lang="en-US" sz="1600" dirty="0">
              <a:latin typeface="+mj-lt"/>
            </a:endParaRP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 err="1">
                <a:latin typeface="+mj-lt"/>
              </a:rPr>
              <a:t>Jupyter</a:t>
            </a:r>
            <a:r>
              <a:rPr lang="en-US" sz="1600" dirty="0">
                <a:latin typeface="+mj-lt"/>
              </a:rPr>
              <a:t> dashboards - </a:t>
            </a:r>
            <a:r>
              <a:rPr lang="en-US" sz="1600" dirty="0">
                <a:hlinkClick r:id="rId8"/>
              </a:rPr>
              <a:t>https://voila.readthedocs.io/en/stable/</a:t>
            </a:r>
            <a:r>
              <a:rPr lang="en-US" sz="1600" dirty="0"/>
              <a:t> </a:t>
            </a:r>
          </a:p>
          <a:p>
            <a:pPr marL="285750" lvl="0" indent="-285750">
              <a:buSzPct val="100000"/>
              <a:buFont typeface="Wingdings" pitchFamily="2" charset="2"/>
              <a:buChar char="§"/>
            </a:pPr>
            <a:r>
              <a:rPr lang="en-US" sz="1600" dirty="0">
                <a:latin typeface="+mj-lt"/>
              </a:rPr>
              <a:t>Apache Superset - </a:t>
            </a:r>
            <a:r>
              <a:rPr lang="en-US" sz="1600" dirty="0">
                <a:hlinkClick r:id="rId9"/>
              </a:rPr>
              <a:t>https://superset.incubator.apache.org/</a:t>
            </a:r>
            <a:r>
              <a:rPr lang="en-US" sz="1600" dirty="0"/>
              <a:t> ( also </a:t>
            </a:r>
            <a:r>
              <a:rPr lang="en-US" sz="1600" dirty="0">
                <a:hlinkClick r:id="rId10"/>
              </a:rPr>
              <a:t>https://preset.io/</a:t>
            </a:r>
            <a:r>
              <a:rPr lang="en-US" sz="1600" dirty="0"/>
              <a:t> )</a:t>
            </a:r>
            <a:endParaRPr lang="en-US" sz="1600" dirty="0"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 is a demo of how fast Microsoft Power BI Premium works with MS SQL Server - 500+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rows of data -</a:t>
            </a:r>
            <a:r>
              <a:rPr lang="en-US" sz="16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1"/>
              </a:rPr>
              <a:t>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https://www.youtube.com/watch?v=mQyFp2MSl-s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here is a demo of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lang="en-US" sz="1600" dirty="0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12"/>
              </a:rPr>
              <a:t> </a:t>
            </a:r>
            <a:r>
              <a:rPr lang="en-US" sz="16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https://www.youtube.com/watch?v=7XliLU7ZC_s</a:t>
            </a:r>
            <a:endParaRPr sz="1600" u="sng" dirty="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Notice: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sub-second response on billions of rows of data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no need in waiting to create indexes, fast load (even live streaming) of data (modern databases use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columnstore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indexes - and are highly parallelized)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chemeClr val="dk1"/>
                </a:solidFill>
              </a:rPr>
              <a:t>-</a:t>
            </a:r>
            <a:r>
              <a:rPr lang="en-US" sz="1000" dirty="0">
                <a:solidFill>
                  <a:schemeClr val="dk1"/>
                </a:solidFill>
                <a:uFill>
                  <a:noFill/>
                </a:uFill>
                <a:hlinkClick r:id="rId13"/>
              </a:rPr>
              <a:t> </a:t>
            </a:r>
            <a:r>
              <a:rPr lang="en-US" sz="1000" u="sng" dirty="0">
                <a:solidFill>
                  <a:schemeClr val="hlink"/>
                </a:solidFill>
                <a:hlinkClick r:id="rId13"/>
              </a:rPr>
              <a:t>https://docs.microsoft.com/en-us/sql/relational-databases/indexes/columnstore-indexes-overview?view=sql-server-2017</a:t>
            </a:r>
            <a:endParaRPr sz="10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6" y="589200"/>
            <a:ext cx="3392676" cy="17988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33025" y="3324624"/>
            <a:ext cx="3392675" cy="255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/>
        </p:nvSpPr>
        <p:spPr>
          <a:xfrm>
            <a:off x="-1" y="76200"/>
            <a:ext cx="5631705" cy="678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The top leaders for analytics platforms are </a:t>
            </a:r>
            <a:r>
              <a:rPr lang="en-US" sz="1200" b="1" dirty="0">
                <a:solidFill>
                  <a:srgbClr val="FF0000"/>
                </a:solidFill>
              </a:rPr>
              <a:t>Microsoft</a:t>
            </a:r>
            <a:r>
              <a:rPr lang="en-US" sz="1200" dirty="0"/>
              <a:t> and </a:t>
            </a:r>
            <a:r>
              <a:rPr lang="en-US" sz="1200" b="1" dirty="0">
                <a:solidFill>
                  <a:srgbClr val="FF0000"/>
                </a:solidFill>
              </a:rPr>
              <a:t>Tableau</a:t>
            </a:r>
            <a:r>
              <a:rPr lang="en-US" sz="1200" dirty="0"/>
              <a:t>. 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Both use standard SQL to get data.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hlink"/>
                </a:solidFill>
                <a:hlinkClick r:id="rId3"/>
              </a:rPr>
              <a:t>https://www.gartner.com/doc/reprints?id=1-65P04FG&amp;ct=190125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</a:rPr>
              <a:t>Which database to use?</a:t>
            </a:r>
            <a:endParaRPr sz="18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There are many options for SQL database.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For example, on Azure Cloud - Azure SQL Data Warehouse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  - </a:t>
            </a:r>
            <a:r>
              <a:rPr lang="en-US" sz="1200" u="sng" dirty="0">
                <a:solidFill>
                  <a:schemeClr val="hlink"/>
                </a:solidFill>
                <a:hlinkClick r:id="rId4"/>
              </a:rPr>
              <a:t>https://azure.microsoft.com/en-us/services/sql-data-warehouse/</a:t>
            </a:r>
            <a:r>
              <a:rPr lang="en-US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 BI &amp; Power BI - </a:t>
            </a:r>
            <a:r>
              <a:rPr lang="en-US" sz="1200" u="sng" dirty="0">
                <a:solidFill>
                  <a:schemeClr val="hlink"/>
                </a:solidFill>
                <a:hlinkClick r:id="rId5"/>
              </a:rPr>
              <a:t>https://powerbi.microsoft.com/en-us/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On Google Cloud we can use "Cloud SQL" (managed PostgreSQL) or </a:t>
            </a:r>
            <a:r>
              <a:rPr lang="en-US" sz="1200" dirty="0" err="1">
                <a:solidFill>
                  <a:schemeClr val="dk1"/>
                </a:solidFill>
              </a:rPr>
              <a:t>BigQuery</a:t>
            </a:r>
            <a:r>
              <a:rPr lang="en-US" sz="1200" dirty="0">
                <a:solidFill>
                  <a:schemeClr val="dk1"/>
                </a:solidFill>
              </a:rPr>
              <a:t>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We can also consider GPU-based databases, for example: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- </a:t>
            </a:r>
            <a:r>
              <a:rPr lang="en-US" sz="1200" dirty="0" err="1">
                <a:solidFill>
                  <a:schemeClr val="dk1"/>
                </a:solidFill>
              </a:rPr>
              <a:t>Kinetica</a:t>
            </a:r>
            <a:r>
              <a:rPr lang="en-US" sz="1200" dirty="0">
                <a:solidFill>
                  <a:schemeClr val="dk1"/>
                </a:solidFill>
              </a:rPr>
              <a:t> on Google Cloud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dirty="0">
                <a:solidFill>
                  <a:schemeClr val="dk1"/>
                </a:solidFill>
              </a:rPr>
              <a:t>    - </a:t>
            </a:r>
            <a:r>
              <a:rPr lang="en-US" sz="1200" u="sng" dirty="0">
                <a:solidFill>
                  <a:schemeClr val="hlink"/>
                </a:solidFill>
                <a:hlinkClick r:id="rId6"/>
              </a:rPr>
              <a:t>https://www.kinetica.com/partner/google-cloud-platform/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 - </a:t>
            </a:r>
            <a:r>
              <a:rPr lang="en-US" sz="1200" dirty="0" err="1"/>
              <a:t>MapD</a:t>
            </a:r>
            <a:r>
              <a:rPr lang="en-US" sz="1200" dirty="0"/>
              <a:t> = </a:t>
            </a:r>
            <a:r>
              <a:rPr lang="en-US" sz="1200" dirty="0" err="1"/>
              <a:t>OmniSci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   - </a:t>
            </a:r>
            <a:r>
              <a:rPr lang="en-US" sz="1200" u="sng" dirty="0">
                <a:solidFill>
                  <a:schemeClr val="hlink"/>
                </a:solidFill>
                <a:hlinkClick r:id="rId7"/>
              </a:rPr>
              <a:t>https://www.omnisci.com/</a:t>
            </a:r>
            <a:r>
              <a:rPr lang="en-US" sz="1200" dirty="0"/>
              <a:t> 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Similar options are available on AWS: Amazon RDS (PostgreSQL), Redshift, </a:t>
            </a:r>
            <a:r>
              <a:rPr lang="en-US" sz="1200" dirty="0" err="1"/>
              <a:t>SnowFlake</a:t>
            </a:r>
            <a:r>
              <a:rPr lang="en-US" sz="1200" dirty="0"/>
              <a:t>, Aurora, </a:t>
            </a:r>
            <a:r>
              <a:rPr lang="en-US" sz="1200" dirty="0" err="1"/>
              <a:t>kinetica</a:t>
            </a:r>
            <a:r>
              <a:rPr lang="en-US" sz="1200" dirty="0"/>
              <a:t>, </a:t>
            </a:r>
            <a:r>
              <a:rPr lang="en-US" sz="1200" dirty="0" err="1"/>
              <a:t>MapD</a:t>
            </a:r>
            <a:r>
              <a:rPr lang="en-US" sz="1200" dirty="0"/>
              <a:t>, etc.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Generally for sizes more than 1TB it is preferable to have a distributed DB like Google </a:t>
            </a:r>
            <a:r>
              <a:rPr lang="en-US" sz="1200" dirty="0" err="1">
                <a:solidFill>
                  <a:schemeClr val="dk1"/>
                </a:solidFill>
              </a:rPr>
              <a:t>BigQuery</a:t>
            </a:r>
            <a:r>
              <a:rPr lang="en-US" sz="1200" dirty="0">
                <a:solidFill>
                  <a:schemeClr val="dk1"/>
                </a:solidFill>
              </a:rPr>
              <a:t> (or Amazon </a:t>
            </a:r>
            <a:r>
              <a:rPr lang="en-US" sz="1200" dirty="0" err="1">
                <a:solidFill>
                  <a:schemeClr val="dk1"/>
                </a:solidFill>
              </a:rPr>
              <a:t>SnowFlake.net</a:t>
            </a:r>
            <a:r>
              <a:rPr lang="en-US" sz="1200" dirty="0">
                <a:solidFill>
                  <a:schemeClr val="dk1"/>
                </a:solidFill>
              </a:rPr>
              <a:t>)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	</a:t>
            </a:r>
            <a:r>
              <a:rPr lang="en-US" sz="1200" u="sng" dirty="0">
                <a:solidFill>
                  <a:schemeClr val="hlink"/>
                </a:solidFill>
                <a:hlinkClick r:id="rId8"/>
              </a:rPr>
              <a:t>https://statsbot.co/blog/modern-data-warehouse</a:t>
            </a:r>
            <a:endParaRPr sz="12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Speed depends on the size of the data too.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At small sizes (&lt;1TB) single-node solutions are faster (GPU-based are fastest).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So it maybe either one reasonably fast DB (Azure SQL Datawarehouse), or two databases - on big - but slow (Google </a:t>
            </a:r>
            <a:r>
              <a:rPr lang="en-US" sz="1200" dirty="0" err="1">
                <a:solidFill>
                  <a:schemeClr val="dk1"/>
                </a:solidFill>
              </a:rPr>
              <a:t>BigQuery</a:t>
            </a:r>
            <a:r>
              <a:rPr lang="en-US" sz="1200" dirty="0">
                <a:solidFill>
                  <a:schemeClr val="dk1"/>
                </a:solidFill>
              </a:rPr>
              <a:t>), and second smaller - but very fast (</a:t>
            </a:r>
            <a:r>
              <a:rPr lang="en-US" sz="1200" dirty="0" err="1">
                <a:solidFill>
                  <a:schemeClr val="dk1"/>
                </a:solidFill>
              </a:rPr>
              <a:t>omnisci</a:t>
            </a:r>
            <a:r>
              <a:rPr lang="en-US" sz="1200" dirty="0">
                <a:solidFill>
                  <a:schemeClr val="dk1"/>
                </a:solidFill>
              </a:rPr>
              <a:t> </a:t>
            </a:r>
            <a:r>
              <a:rPr lang="en-US" sz="1200" dirty="0" err="1">
                <a:solidFill>
                  <a:schemeClr val="dk1"/>
                </a:solidFill>
              </a:rPr>
              <a:t>MapD</a:t>
            </a:r>
            <a:r>
              <a:rPr lang="en-US" sz="1200" dirty="0">
                <a:solidFill>
                  <a:schemeClr val="dk1"/>
                </a:solidFill>
              </a:rPr>
              <a:t> GPU DB for interactive visual querying)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 -</a:t>
            </a:r>
            <a:r>
              <a:rPr lang="en-US" sz="1200" dirty="0">
                <a:solidFill>
                  <a:schemeClr val="dk1"/>
                </a:solidFill>
                <a:uFill>
                  <a:noFill/>
                </a:uFill>
                <a:hlinkClick r:id="rId9"/>
              </a:rPr>
              <a:t> </a:t>
            </a:r>
            <a:r>
              <a:rPr lang="en-US" sz="1200" u="sng" dirty="0">
                <a:solidFill>
                  <a:schemeClr val="hlink"/>
                </a:solidFill>
                <a:hlinkClick r:id="rId9"/>
              </a:rPr>
              <a:t>https://fivetran.com/blog/warehouse-benchmark</a:t>
            </a:r>
            <a:endParaRPr sz="1200" u="sng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</a:rPr>
              <a:t> -</a:t>
            </a:r>
            <a:r>
              <a:rPr lang="en-US" sz="1200" dirty="0">
                <a:solidFill>
                  <a:schemeClr val="dk1"/>
                </a:solidFill>
                <a:uFill>
                  <a:noFill/>
                </a:uFill>
                <a:hlinkClick r:id="rId10"/>
              </a:rPr>
              <a:t> </a:t>
            </a:r>
            <a:r>
              <a:rPr lang="en-US" sz="1200" u="sng" dirty="0">
                <a:solidFill>
                  <a:schemeClr val="hlink"/>
                </a:solidFill>
                <a:hlinkClick r:id="rId10"/>
              </a:rPr>
              <a:t>https://www.omnisci.com/demos/</a:t>
            </a:r>
            <a:endParaRPr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0FA918-49D9-E34F-A2D6-4AE71DCA1C6C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1705" y="14208"/>
            <a:ext cx="656996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0" y="0"/>
            <a:ext cx="7724274" cy="493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Open Source for building dashboards</a:t>
            </a:r>
            <a:endParaRPr sz="18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4;p15">
            <a:extLst>
              <a:ext uri="{FF2B5EF4-FFF2-40B4-BE49-F238E27FC236}">
                <a16:creationId xmlns:a16="http://schemas.microsoft.com/office/drawing/2014/main" id="{E7D5F79C-D4AD-A540-BA9D-F89E2BB72A81}"/>
              </a:ext>
            </a:extLst>
          </p:cNvPr>
          <p:cNvSpPr txBox="1"/>
          <p:nvPr/>
        </p:nvSpPr>
        <p:spPr>
          <a:xfrm>
            <a:off x="6509083" y="4554321"/>
            <a:ext cx="5666872" cy="2218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Apache Druid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-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  <a:hlinkClick r:id="rId3"/>
              </a:rPr>
              <a:t>http://druid.io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open-source analytics data store (OLAP). Fast data ingestion and aggregation, scales to trillions of events and petabytes of data. Druid is best used to power analytic dashboards and applications.</a:t>
            </a:r>
          </a:p>
          <a:p>
            <a:pPr lvl="0"/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Apache Calcite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200" dirty="0">
                <a:hlinkClick r:id="rId4"/>
              </a:rPr>
              <a:t>https://calcite.apache.org/</a:t>
            </a:r>
            <a:r>
              <a:rPr lang="en-US" sz="1200" dirty="0"/>
              <a:t> - translate SQL to JSON queries for Druid and other systems</a:t>
            </a: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Visualization - why so many packages?</a:t>
            </a:r>
            <a:br>
              <a:rPr lang="en-US" sz="12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https://www.anaconda.com/python-data-visualization-2018-why-so-many-libraries/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Visualization for R - Shiny (R-Studio) - 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  <a:hlinkClick r:id="rId6"/>
              </a:rPr>
              <a:t>https://shiny.rstudio.com/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</p:txBody>
      </p:sp>
      <p:sp>
        <p:nvSpPr>
          <p:cNvPr id="4" name="Google Shape;104;p15">
            <a:extLst>
              <a:ext uri="{FF2B5EF4-FFF2-40B4-BE49-F238E27FC236}">
                <a16:creationId xmlns:a16="http://schemas.microsoft.com/office/drawing/2014/main" id="{9D1DDD27-DE6B-9942-ACEC-480DFD9B07D6}"/>
              </a:ext>
            </a:extLst>
          </p:cNvPr>
          <p:cNvSpPr txBox="1"/>
          <p:nvPr/>
        </p:nvSpPr>
        <p:spPr>
          <a:xfrm>
            <a:off x="72190" y="4144005"/>
            <a:ext cx="6436895" cy="2509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Dashboards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: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notebooks and dashboards </a:t>
            </a:r>
            <a:br>
              <a:rPr lang="en-US" sz="12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https://annefou.github.io/jupyter_dashboards/02-dashboards/index.html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Lab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https://jupyterlab.readthedocs.io/en/stable/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Dashboards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https://github.com/jupyter/dashboards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indent="-342900">
              <a:buSzPts val="1800"/>
              <a:buFont typeface="Calibri"/>
              <a:buChar char="●"/>
            </a:pPr>
            <a:r>
              <a:rPr lang="en-US" sz="12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Voila - serve dashboards - </a:t>
            </a:r>
            <a:r>
              <a:rPr lang="en-US" sz="1200" u="sng" dirty="0">
                <a:solidFill>
                  <a:schemeClr val="hlink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  <a:hlinkClick r:id="rId10"/>
              </a:rPr>
              <a:t>https://github.com/voila-dashboards/voila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- now part of </a:t>
            </a: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</a:t>
            </a:r>
          </a:p>
          <a:p>
            <a:pPr marL="114300">
              <a:buSzPts val="1800"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================================</a:t>
            </a:r>
          </a:p>
          <a:p>
            <a:pPr marL="457200" indent="-342900">
              <a:buSzPts val="1800"/>
              <a:buFont typeface="Calibri"/>
              <a:buChar char="●"/>
            </a:pP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ipywidgets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https://github.com/jupyter-widgets/ipywidgets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 </a:t>
            </a:r>
            <a:br>
              <a:rPr lang="en-US" sz="12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                 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https://www.youtube.com/watch?v=i40d8-Hu4vM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(40 min demo from 2017)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bqplot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https://github.com/bloomberg/bqplot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https://www.youtube.com/watch?v=Dmxa2Kyfzxk</a:t>
            </a:r>
            <a:r>
              <a:rPr 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(demo 2018)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Bokeh - interactive graphics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https://docs.bokeh.org/en/latest/docs/user_guide.html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457200" indent="-342900">
              <a:buSzPts val="1800"/>
              <a:buFont typeface="Calibri"/>
              <a:buChar char="●"/>
            </a:pP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ipyvolume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- 3-D  visualization (rotate &amp; resize 3D graphs) in </a:t>
            </a:r>
            <a:r>
              <a:rPr lang="en-US" sz="1200" dirty="0" err="1">
                <a:latin typeface="Calibri"/>
                <a:ea typeface="Calibri"/>
                <a:cs typeface="Calibri"/>
                <a:sym typeface="Calibri"/>
              </a:rPr>
              <a:t>Jupyter</a:t>
            </a:r>
            <a:br>
              <a:rPr lang="en-US" sz="12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https://github.com/maartenbreddels/ipyvolume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alibri"/>
              <a:buChar char="●"/>
            </a:pPr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B2D23F-B132-2948-8E84-3E1C1B049FB5}"/>
              </a:ext>
            </a:extLst>
          </p:cNvPr>
          <p:cNvSpPr txBox="1"/>
          <p:nvPr/>
        </p:nvSpPr>
        <p:spPr>
          <a:xfrm>
            <a:off x="0" y="792645"/>
            <a:ext cx="65090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Apache Superset</a:t>
            </a:r>
            <a:r>
              <a:rPr lang="en-US" sz="1200" dirty="0"/>
              <a:t>, open-source, similar to Tableau or  </a:t>
            </a:r>
            <a:r>
              <a:rPr lang="en-US" sz="1200" dirty="0" err="1"/>
              <a:t>Chartio</a:t>
            </a:r>
            <a:r>
              <a:rPr lang="en-US" sz="1200" dirty="0"/>
              <a:t> ( </a:t>
            </a:r>
            <a:r>
              <a:rPr lang="en-US" sz="1200" dirty="0">
                <a:hlinkClick r:id="rId17"/>
              </a:rPr>
              <a:t>https://chartio.com/</a:t>
            </a:r>
            <a:r>
              <a:rPr lang="en-US" sz="1200" dirty="0"/>
              <a:t> ). </a:t>
            </a:r>
            <a:br>
              <a:rPr lang="en-US" sz="1200" dirty="0"/>
            </a:br>
            <a:r>
              <a:rPr lang="en-US" sz="1200" dirty="0"/>
              <a:t>The dashboard definition is in JSON file, the data is queried using SQL from a database.</a:t>
            </a:r>
          </a:p>
          <a:p>
            <a:r>
              <a:rPr lang="en-US" sz="1200" dirty="0"/>
              <a:t> - </a:t>
            </a:r>
            <a:r>
              <a:rPr lang="en-US" sz="1200" dirty="0">
                <a:hlinkClick r:id="rId18"/>
              </a:rPr>
              <a:t>https://superset.incubator.apache.org/installation.html#getting-started</a:t>
            </a:r>
            <a:r>
              <a:rPr lang="en-US" sz="1200" dirty="0"/>
              <a:t> </a:t>
            </a:r>
            <a:br>
              <a:rPr lang="en-US" sz="1200" dirty="0"/>
            </a:br>
            <a:r>
              <a:rPr lang="en-US" sz="1200" dirty="0"/>
              <a:t> - </a:t>
            </a:r>
            <a:r>
              <a:rPr lang="en-US" sz="1200" dirty="0">
                <a:hlinkClick r:id="rId19"/>
              </a:rPr>
              <a:t>https://www.youtube.com/watch?v=AqousXQ7YHw</a:t>
            </a:r>
            <a:r>
              <a:rPr lang="en-US" sz="1200" dirty="0"/>
              <a:t> – 15 min demo</a:t>
            </a:r>
            <a:br>
              <a:rPr lang="en-US" sz="1200" dirty="0"/>
            </a:br>
            <a:r>
              <a:rPr lang="en-US" sz="1200" dirty="0"/>
              <a:t> - </a:t>
            </a:r>
            <a:r>
              <a:rPr lang="en-US" sz="1200" dirty="0">
                <a:hlinkClick r:id="rId20"/>
              </a:rPr>
              <a:t>https://youtu.be/24XDOkGJrEY</a:t>
            </a:r>
            <a:r>
              <a:rPr lang="en-US" sz="1200" dirty="0"/>
              <a:t> - very good lecture (history and anatomy of Apache Superset).</a:t>
            </a:r>
          </a:p>
          <a:p>
            <a:br>
              <a:rPr lang="en-US" sz="1200" dirty="0"/>
            </a:br>
            <a:r>
              <a:rPr lang="en-US" sz="1200" dirty="0"/>
              <a:t>Looks like it has good documentation on how to install it on Linux, Mac, or Windows. </a:t>
            </a:r>
            <a:br>
              <a:rPr lang="en-US" sz="1200" dirty="0"/>
            </a:br>
            <a:r>
              <a:rPr lang="en-US" sz="1200" dirty="0"/>
              <a:t>And how to work with various SQL databases. Superset's stack is: Python backend (Flask App Builder (authentication, roles, CRUD,...), pandas, </a:t>
            </a:r>
            <a:r>
              <a:rPr lang="en-US" sz="1200" dirty="0" err="1"/>
              <a:t>SqlAlchemy</a:t>
            </a:r>
            <a:r>
              <a:rPr lang="en-US" sz="1200" dirty="0"/>
              <a:t>) + </a:t>
            </a:r>
            <a:r>
              <a:rPr lang="en-US" sz="1200" dirty="0" err="1"/>
              <a:t>Javascript</a:t>
            </a:r>
            <a:r>
              <a:rPr lang="en-US" sz="1200" dirty="0"/>
              <a:t> frontend Here are some examples from nvd3.org - </a:t>
            </a:r>
            <a:r>
              <a:rPr lang="en-US" sz="1200" dirty="0">
                <a:hlinkClick r:id="rId21"/>
              </a:rPr>
              <a:t>http://nvd3.org/examples/index.html</a:t>
            </a:r>
            <a:endParaRPr lang="en-US" sz="1200" dirty="0"/>
          </a:p>
          <a:p>
            <a:r>
              <a:rPr lang="en-US" sz="1200" dirty="0"/>
              <a:t>Try clicking on charts - enjoy animation effects - </a:t>
            </a:r>
            <a:r>
              <a:rPr lang="en-US" sz="1200" dirty="0">
                <a:hlinkClick r:id="rId22"/>
              </a:rPr>
              <a:t>http://nvd3.org/examples/stackedArea.html</a:t>
            </a:r>
            <a:r>
              <a:rPr lang="en-US" sz="1200" dirty="0"/>
              <a:t> </a:t>
            </a:r>
          </a:p>
          <a:p>
            <a:r>
              <a:rPr lang="en-US" sz="1200" dirty="0"/>
              <a:t>Superset works very well with Druid - </a:t>
            </a:r>
            <a:r>
              <a:rPr lang="en-US" sz="1200" dirty="0">
                <a:hlinkClick r:id="rId23"/>
              </a:rPr>
              <a:t>https://druid.apache.org/</a:t>
            </a:r>
            <a:r>
              <a:rPr lang="en-US" sz="1200" dirty="0"/>
              <a:t> - </a:t>
            </a:r>
          </a:p>
          <a:p>
            <a:r>
              <a:rPr lang="en-US" sz="1200" dirty="0"/>
              <a:t>Watch this lecture - </a:t>
            </a:r>
            <a:r>
              <a:rPr lang="en-US" sz="1200" dirty="0">
                <a:hlinkClick r:id="rId24"/>
              </a:rPr>
              <a:t>https://www.youtube.com/watch?v=vbH8E0nH2Nw</a:t>
            </a:r>
            <a:r>
              <a:rPr lang="en-US" sz="1200" dirty="0"/>
              <a:t> - lecture about technologies to be used behind Interactive dashboards. He goes over OLAP, SQL, star-schema, key-value stores, and columnar stores. Then describes in detail why Druid is an excellent solution.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FEAD13-36EC-6044-A80C-95A5F00CF368}"/>
              </a:ext>
            </a:extLst>
          </p:cNvPr>
          <p:cNvPicPr>
            <a:picLocks noChangeAspect="1"/>
          </p:cNvPicPr>
          <p:nvPr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6987" y="1386138"/>
            <a:ext cx="4351065" cy="1402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28D429-9DBA-0344-B929-047ED92C65AE}"/>
              </a:ext>
            </a:extLst>
          </p:cNvPr>
          <p:cNvSpPr txBox="1"/>
          <p:nvPr/>
        </p:nvSpPr>
        <p:spPr>
          <a:xfrm>
            <a:off x="6972300" y="234770"/>
            <a:ext cx="13655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Apache </a:t>
            </a:r>
            <a:r>
              <a:rPr lang="en-US" b="1" dirty="0">
                <a:solidFill>
                  <a:srgbClr val="FF0000"/>
                </a:solidFill>
              </a:rPr>
              <a:t>Druid</a:t>
            </a:r>
          </a:p>
          <a:p>
            <a:r>
              <a:rPr lang="en-US" dirty="0"/>
              <a:t>columnar storage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4B71F6-DE4B-DC47-BA80-D5D8AC089559}"/>
              </a:ext>
            </a:extLst>
          </p:cNvPr>
          <p:cNvSpPr txBox="1"/>
          <p:nvPr/>
        </p:nvSpPr>
        <p:spPr>
          <a:xfrm>
            <a:off x="8614611" y="231685"/>
            <a:ext cx="14678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Apache </a:t>
            </a:r>
            <a:r>
              <a:rPr lang="en-US" b="1" dirty="0">
                <a:solidFill>
                  <a:srgbClr val="FF0000"/>
                </a:solidFill>
              </a:rPr>
              <a:t>Airflow</a:t>
            </a:r>
          </a:p>
          <a:p>
            <a:r>
              <a:rPr lang="en-US" dirty="0"/>
              <a:t>workflow management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28116A-75BB-9D41-8309-6A322A60D556}"/>
              </a:ext>
            </a:extLst>
          </p:cNvPr>
          <p:cNvSpPr txBox="1"/>
          <p:nvPr/>
        </p:nvSpPr>
        <p:spPr>
          <a:xfrm>
            <a:off x="10359187" y="231685"/>
            <a:ext cx="16844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Apache </a:t>
            </a:r>
            <a:r>
              <a:rPr lang="en-US" b="1" dirty="0">
                <a:solidFill>
                  <a:srgbClr val="FF0000"/>
                </a:solidFill>
              </a:rPr>
              <a:t>Superset</a:t>
            </a:r>
          </a:p>
          <a:p>
            <a:r>
              <a:rPr lang="en-US" dirty="0"/>
              <a:t>Dashboards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3CBA9F-5E53-794B-A6B7-6C00679DD87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66509" y="106189"/>
            <a:ext cx="2976438" cy="41491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F3338B-8AFE-D94B-8672-7C668B65C048}"/>
              </a:ext>
            </a:extLst>
          </p:cNvPr>
          <p:cNvSpPr txBox="1"/>
          <p:nvPr/>
        </p:nvSpPr>
        <p:spPr>
          <a:xfrm>
            <a:off x="371958" y="929691"/>
            <a:ext cx="612183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Gallery of Voilà Examples</a:t>
            </a:r>
          </a:p>
          <a:p>
            <a:r>
              <a:rPr lang="en-US" dirty="0">
                <a:hlinkClick r:id="rId3"/>
              </a:rPr>
              <a:t>https://blog.jupyter.org/a-gallery-of-voil%C3%A0-examples-a2ce7ef99130</a:t>
            </a:r>
            <a:endParaRPr lang="en-US" dirty="0"/>
          </a:p>
          <a:p>
            <a:endParaRPr lang="en-US" dirty="0"/>
          </a:p>
          <a:p>
            <a:r>
              <a:rPr lang="en-US" dirty="0"/>
              <a:t>Voila, widgets, extrapolations</a:t>
            </a:r>
          </a:p>
          <a:p>
            <a:r>
              <a:rPr lang="en-US" dirty="0"/>
              <a:t> </a:t>
            </a:r>
            <a:r>
              <a:rPr lang="en-US" dirty="0">
                <a:hlinkClick r:id="rId4"/>
              </a:rPr>
              <a:t>https://jupyter-flex.extrapolations.dev/voila-ipywidgets/</a:t>
            </a:r>
            <a:r>
              <a:rPr lang="en-US" dirty="0"/>
              <a:t>  - </a:t>
            </a:r>
          </a:p>
          <a:p>
            <a:endParaRPr lang="en-US" dirty="0"/>
          </a:p>
          <a:p>
            <a:r>
              <a:rPr lang="en-US" dirty="0"/>
              <a:t>Configure your dashboards with Voilà </a:t>
            </a:r>
            <a:r>
              <a:rPr lang="en-US" dirty="0" err="1"/>
              <a:t>gridstack</a:t>
            </a:r>
            <a:r>
              <a:rPr lang="en-US" dirty="0"/>
              <a:t> template</a:t>
            </a:r>
          </a:p>
          <a:p>
            <a:r>
              <a:rPr lang="en-US" dirty="0">
                <a:hlinkClick r:id="rId5"/>
              </a:rPr>
              <a:t>https://blog.jupyter.org/voila-gridstack-template-8a431c2b353e</a:t>
            </a:r>
            <a:r>
              <a:rPr lang="en-US" dirty="0"/>
              <a:t> -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509ECF-272A-D44B-B4D5-8C4F4437983D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185" y="4525505"/>
            <a:ext cx="4269761" cy="233249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979259-7B66-2244-B851-19ECF889A6B9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969" y="3107410"/>
            <a:ext cx="5331417" cy="3332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6AF37B-4C49-284C-9B11-EF05D49A10D3}"/>
              </a:ext>
            </a:extLst>
          </p:cNvPr>
          <p:cNvSpPr txBox="1"/>
          <p:nvPr/>
        </p:nvSpPr>
        <p:spPr>
          <a:xfrm>
            <a:off x="0" y="106189"/>
            <a:ext cx="77731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Jupyter</a:t>
            </a:r>
            <a:r>
              <a:rPr lang="en-US" sz="2400" b="1" dirty="0"/>
              <a:t> Dashboards – open source and flexibility</a:t>
            </a:r>
          </a:p>
        </p:txBody>
      </p:sp>
    </p:spTree>
    <p:extLst>
      <p:ext uri="{BB962C8B-B14F-4D97-AF65-F5344CB8AC3E}">
        <p14:creationId xmlns:p14="http://schemas.microsoft.com/office/powerpoint/2010/main" val="1385454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130DB6-EAE0-B841-A247-A5E02499036A}"/>
              </a:ext>
            </a:extLst>
          </p:cNvPr>
          <p:cNvSpPr txBox="1"/>
          <p:nvPr/>
        </p:nvSpPr>
        <p:spPr>
          <a:xfrm>
            <a:off x="0" y="93785"/>
            <a:ext cx="55567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Typical Data Organization for Analytics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854B268A-643E-9B4F-B623-63EFBF3615A0}"/>
              </a:ext>
            </a:extLst>
          </p:cNvPr>
          <p:cNvSpPr/>
          <p:nvPr/>
        </p:nvSpPr>
        <p:spPr>
          <a:xfrm>
            <a:off x="779216" y="978078"/>
            <a:ext cx="984738" cy="125436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OLTP</a:t>
            </a:r>
          </a:p>
          <a:p>
            <a:pPr algn="ctr"/>
            <a:r>
              <a:rPr lang="en-US" dirty="0"/>
              <a:t>DB</a:t>
            </a:r>
          </a:p>
        </p:txBody>
      </p:sp>
      <p:pic>
        <p:nvPicPr>
          <p:cNvPr id="1026" name="Picture 2" descr="Multiple Files Icon - 6244 - Dryicons">
            <a:extLst>
              <a:ext uri="{FF2B5EF4-FFF2-40B4-BE49-F238E27FC236}">
                <a16:creationId xmlns:a16="http://schemas.microsoft.com/office/drawing/2014/main" id="{318D204D-22B8-154C-8595-E8A970098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8586" y="2492977"/>
            <a:ext cx="1184031" cy="1184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5BB060B-5423-9043-8B16-33F8CFBAE9E8}"/>
              </a:ext>
            </a:extLst>
          </p:cNvPr>
          <p:cNvSpPr txBox="1"/>
          <p:nvPr/>
        </p:nvSpPr>
        <p:spPr>
          <a:xfrm>
            <a:off x="280986" y="3763054"/>
            <a:ext cx="6799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Files</a:t>
            </a:r>
          </a:p>
        </p:txBody>
      </p:sp>
      <p:pic>
        <p:nvPicPr>
          <p:cNvPr id="1028" name="Picture 4" descr="Rest API Icon - Free Download, PNG and Vector">
            <a:extLst>
              <a:ext uri="{FF2B5EF4-FFF2-40B4-BE49-F238E27FC236}">
                <a16:creationId xmlns:a16="http://schemas.microsoft.com/office/drawing/2014/main" id="{0811F92F-5393-A449-AC67-E99DFE48D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248" y="4156877"/>
            <a:ext cx="984738" cy="984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nalytics, olap, big data icon - Download on Iconfinder">
            <a:extLst>
              <a:ext uri="{FF2B5EF4-FFF2-40B4-BE49-F238E27FC236}">
                <a16:creationId xmlns:a16="http://schemas.microsoft.com/office/drawing/2014/main" id="{5BB445C1-D1D3-684A-BB8A-8577409662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325" t="12774" r="12388" b="11796"/>
          <a:stretch/>
        </p:blipFill>
        <p:spPr bwMode="auto">
          <a:xfrm>
            <a:off x="4048551" y="2040538"/>
            <a:ext cx="2112335" cy="211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C9126FF6-C14E-7B4F-BF11-8F22787B6C46}"/>
              </a:ext>
            </a:extLst>
          </p:cNvPr>
          <p:cNvSpPr/>
          <p:nvPr/>
        </p:nvSpPr>
        <p:spPr>
          <a:xfrm>
            <a:off x="2166352" y="2478690"/>
            <a:ext cx="1406769" cy="131225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15835FB6-081A-CB44-A9F4-C47DBE54889D}"/>
              </a:ext>
            </a:extLst>
          </p:cNvPr>
          <p:cNvSpPr/>
          <p:nvPr/>
        </p:nvSpPr>
        <p:spPr>
          <a:xfrm>
            <a:off x="6903065" y="3338503"/>
            <a:ext cx="1406769" cy="452439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24322037-4F54-9E4D-A0FB-F0F681C10D99}"/>
              </a:ext>
            </a:extLst>
          </p:cNvPr>
          <p:cNvSpPr/>
          <p:nvPr/>
        </p:nvSpPr>
        <p:spPr>
          <a:xfrm rot="10800000">
            <a:off x="6677510" y="2552691"/>
            <a:ext cx="1406769" cy="452439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F1EDF-504A-2F45-8374-23559C7C26DD}"/>
              </a:ext>
            </a:extLst>
          </p:cNvPr>
          <p:cNvSpPr txBox="1"/>
          <p:nvPr/>
        </p:nvSpPr>
        <p:spPr>
          <a:xfrm>
            <a:off x="7015145" y="2232447"/>
            <a:ext cx="1069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Queries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82BCAC-B9B4-F045-8EF9-1BC8FFB72315}"/>
              </a:ext>
            </a:extLst>
          </p:cNvPr>
          <p:cNvSpPr txBox="1"/>
          <p:nvPr/>
        </p:nvSpPr>
        <p:spPr>
          <a:xfrm>
            <a:off x="6929211" y="3736694"/>
            <a:ext cx="1069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Results</a:t>
            </a:r>
          </a:p>
        </p:txBody>
      </p:sp>
      <p:pic>
        <p:nvPicPr>
          <p:cNvPr id="1032" name="Picture 8" descr="Interactive Dashboards - Benefits">
            <a:extLst>
              <a:ext uri="{FF2B5EF4-FFF2-40B4-BE49-F238E27FC236}">
                <a16:creationId xmlns:a16="http://schemas.microsoft.com/office/drawing/2014/main" id="{35987B55-3385-A049-8191-961CDB844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52604" y="2232447"/>
            <a:ext cx="3253943" cy="196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5B5DC0-E23C-EC49-96AC-723901C51D49}"/>
              </a:ext>
            </a:extLst>
          </p:cNvPr>
          <p:cNvSpPr txBox="1"/>
          <p:nvPr/>
        </p:nvSpPr>
        <p:spPr>
          <a:xfrm>
            <a:off x="3573121" y="4201922"/>
            <a:ext cx="31043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70C0"/>
                </a:solidFill>
              </a:rPr>
              <a:t>OLAP database </a:t>
            </a:r>
            <a:br>
              <a:rPr lang="en-US" sz="1800" b="1" dirty="0">
                <a:solidFill>
                  <a:srgbClr val="0070C0"/>
                </a:solidFill>
              </a:rPr>
            </a:br>
            <a:r>
              <a:rPr lang="en-US" sz="1800" b="1" dirty="0">
                <a:solidFill>
                  <a:srgbClr val="0070C0"/>
                </a:solidFill>
              </a:rPr>
              <a:t>with columnar storage </a:t>
            </a:r>
            <a:br>
              <a:rPr lang="en-US" sz="1800" dirty="0"/>
            </a:br>
            <a:r>
              <a:rPr lang="en-US" sz="1800" dirty="0"/>
              <a:t>for fast and flexible querying</a:t>
            </a:r>
            <a:br>
              <a:rPr lang="en-US" sz="1800" dirty="0"/>
            </a:br>
            <a:r>
              <a:rPr lang="en-US" sz="1800" dirty="0"/>
              <a:t>(a.k.a. Analytical Store).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F4D67-6F3D-4740-AB35-D5180A5AB412}"/>
              </a:ext>
            </a:extLst>
          </p:cNvPr>
          <p:cNvSpPr txBox="1"/>
          <p:nvPr/>
        </p:nvSpPr>
        <p:spPr>
          <a:xfrm>
            <a:off x="6889421" y="5967919"/>
            <a:ext cx="52171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Rise and Fall of the OLAP Cubes:</a:t>
            </a:r>
          </a:p>
          <a:p>
            <a:r>
              <a:rPr lang="en-US" dirty="0">
                <a:hlinkClick r:id="rId6"/>
              </a:rPr>
              <a:t>https://www.holistics.io/blog/the-rise-and-fall-of-the-olap-cube/</a:t>
            </a:r>
            <a:r>
              <a:rPr lang="en-US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A897-448E-FC4A-91E6-06E28F891253}"/>
              </a:ext>
            </a:extLst>
          </p:cNvPr>
          <p:cNvSpPr txBox="1"/>
          <p:nvPr/>
        </p:nvSpPr>
        <p:spPr>
          <a:xfrm>
            <a:off x="9002158" y="4218285"/>
            <a:ext cx="31043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70C0"/>
                </a:solidFill>
              </a:rPr>
              <a:t>Interactive</a:t>
            </a:r>
          </a:p>
          <a:p>
            <a:pPr algn="ctr"/>
            <a:r>
              <a:rPr lang="en-US" sz="1800" b="1" dirty="0">
                <a:solidFill>
                  <a:srgbClr val="0070C0"/>
                </a:solidFill>
              </a:rPr>
              <a:t>Dashboards</a:t>
            </a:r>
          </a:p>
          <a:p>
            <a:pPr algn="ctr"/>
            <a:r>
              <a:rPr lang="en-US" sz="1800" b="1" dirty="0">
                <a:solidFill>
                  <a:srgbClr val="0070C0"/>
                </a:solidFill>
              </a:rPr>
              <a:t>(Power BI, Tableau, etc.)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906584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0" y="0"/>
            <a:ext cx="58824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Databases optimized for analytics.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Databases can be optimized for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OLTP (On-Line Transactional Processing)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OLAP (On-Line Analytical Processing)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. For analytics we need OLAP databases.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They achieve high performance of queries by using columnar indexes, massive parallelism, taking advantage of large memory and GPU.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Columnar Indexes: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Here is a short video (4 min) made long time ago (in 2011) showing performance advantage of columnar store indexes in Microsoft SQL server.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https://www.youtube.com/watch?v=vPN8_PCsJm4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video demonstrates that columnar indexing is at least 40 times faster than traditional index. The query was done over a 2 Billion rows "fact" table.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- this video is ~8 years old. Since then MS SQL Server made lots of other performance improvements.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first release of MS SQL Server was on April 24, 1989, 30 years!!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Modern hardware is much faster than that used in the above video.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Columnar store indexing is standard/default nowadays.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of course it is available on Microsoft SQL Server on Azure cloud.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Microsoft SQL Datawarehouse on Azure cloud - fast OLAP solution.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4"/>
              </a:rPr>
              <a:t>https://azure.microsoft.com/en-us/services/sql-data-warehouse/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lvl="0">
              <a:buClr>
                <a:schemeClr val="dk1"/>
              </a:buClr>
              <a:buSzPts val="1100"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SSAS = Microsoft SQL Server Analysis Services – uses tabular models 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( in-memory compressed databases) for serving fast queries to BI tools: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dirty="0">
                <a:hlinkClick r:id="rId5"/>
              </a:rPr>
              <a:t>https://en.wikipedia.org/wiki/Microsoft_Analysis_Services</a:t>
            </a:r>
            <a:r>
              <a:rPr lang="en-US" dirty="0"/>
              <a:t> </a:t>
            </a:r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 txBox="1"/>
          <p:nvPr/>
        </p:nvSpPr>
        <p:spPr>
          <a:xfrm>
            <a:off x="6028050" y="-1"/>
            <a:ext cx="6164100" cy="4618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Power BI - Standard Microsoft Business Intelligence tool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6"/>
              </a:rPr>
              <a:t>https://powerbi.microsoft.com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lvl="0">
              <a:buClr>
                <a:schemeClr val="dk1"/>
              </a:buClr>
              <a:buSzPts val="1100"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Demo of how fast Power BI Premium works with MS SQL Server - 500+ 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Mln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rows of data </a:t>
            </a:r>
          </a:p>
          <a:p>
            <a:pPr lvl="0"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https://www.youtube.com/watch?v=mQyFp2MSl-s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Demo of 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Kinetica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DB using Tableau &amp; Power BI: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https://www.youtube.com/watch?v=7XliLU7ZC_s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Notice: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sub-second response on billions of rows of data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not need to create indexes, no wait time, fast load (even live streaming) of data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Main points: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select from many different BI tools - they all support SQL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select from many SQL databases - they are fast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simplify your development time using standard SQL features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select dedicated hardware to tune your speed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achieve very fast response time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- you can enjoy lower prices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3A6C75-68B8-5644-948E-180B3A70F546}"/>
              </a:ext>
            </a:extLst>
          </p:cNvPr>
          <p:cNvSpPr txBox="1"/>
          <p:nvPr/>
        </p:nvSpPr>
        <p:spPr>
          <a:xfrm>
            <a:off x="120316" y="108284"/>
            <a:ext cx="6015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Columnar Index =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Columnstore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A4C8B-3597-654F-9DC6-BEBE8FF288E1}"/>
              </a:ext>
            </a:extLst>
          </p:cNvPr>
          <p:cNvSpPr txBox="1"/>
          <p:nvPr/>
        </p:nvSpPr>
        <p:spPr>
          <a:xfrm>
            <a:off x="108283" y="770021"/>
            <a:ext cx="70866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column-oriented DBMS (or columnar database management system) stores data tables by column rather than by row. Mostly used for analytical queries on large tables. Query performance can be 10-40 times faster than in traditional row-accessing DBMS.</a:t>
            </a:r>
          </a:p>
          <a:p>
            <a:endParaRPr lang="en-US" dirty="0"/>
          </a:p>
          <a:p>
            <a:r>
              <a:rPr lang="en-US" dirty="0"/>
              <a:t>But inserts are slower (need to add and compress) - not suited for OLTP transactional databases.</a:t>
            </a:r>
          </a:p>
          <a:p>
            <a:endParaRPr lang="en-US" dirty="0"/>
          </a:p>
          <a:p>
            <a:r>
              <a:rPr lang="en-US" dirty="0"/>
              <a:t>Column data is of uniform type – therefore it can be compressed better than row-oriented data (using bitmap indexes and sorting).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1914E6-B684-EF42-BA16-C01A7614821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72642" y="108284"/>
            <a:ext cx="3683000" cy="18796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7DE5E6-0D8B-2547-A9FF-70ADBADC8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924180"/>
              </p:ext>
            </p:extLst>
          </p:nvPr>
        </p:nvGraphicFramePr>
        <p:xfrm>
          <a:off x="120316" y="2934783"/>
          <a:ext cx="7303168" cy="36047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1584">
                  <a:extLst>
                    <a:ext uri="{9D8B030D-6E8A-4147-A177-3AD203B41FA5}">
                      <a16:colId xmlns:a16="http://schemas.microsoft.com/office/drawing/2014/main" val="2504409829"/>
                    </a:ext>
                  </a:extLst>
                </a:gridCol>
                <a:gridCol w="3651584">
                  <a:extLst>
                    <a:ext uri="{9D8B030D-6E8A-4147-A177-3AD203B41FA5}">
                      <a16:colId xmlns:a16="http://schemas.microsoft.com/office/drawing/2014/main" val="1923324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Traditional Row-storing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Columnar storing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20369"/>
                  </a:ext>
                </a:extLst>
              </a:tr>
              <a:tr h="852420">
                <a:tc>
                  <a:txBody>
                    <a:bodyPr/>
                    <a:lstStyle/>
                    <a:p>
                      <a:r>
                        <a:rPr lang="en-US" dirty="0"/>
                        <a:t>Excessive disk IO – read whole rows, discards most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Disk IO smaller because we need to read only few columns. This allows to fit more rows into memory, thus making the query much faster </a:t>
                      </a:r>
                      <a:r>
                        <a:rPr lang="en-US"/>
                        <a:t>(all-in-memory).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469239"/>
                  </a:ext>
                </a:extLst>
              </a:tr>
              <a:tr h="587222">
                <a:tc>
                  <a:txBody>
                    <a:bodyPr/>
                    <a:lstStyle/>
                    <a:p>
                      <a:r>
                        <a:rPr lang="en-US" dirty="0"/>
                        <a:t>Compression is not very good.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data compression using the fact that all data in one column has the same type.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98359"/>
                  </a:ext>
                </a:extLst>
              </a:tr>
              <a:tr h="4546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random access.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Good for analytics, not so good for random access.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893754"/>
                  </a:ext>
                </a:extLst>
              </a:tr>
              <a:tr h="2975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Can use clustered and </a:t>
                      </a:r>
                      <a:r>
                        <a:rPr lang="en-US" dirty="0" err="1"/>
                        <a:t>nonclustered</a:t>
                      </a:r>
                      <a:r>
                        <a:rPr lang="en-US" dirty="0"/>
                        <a:t> indexes.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 err="1"/>
                        <a:t>Columnstore</a:t>
                      </a:r>
                      <a:r>
                        <a:rPr lang="en-US" dirty="0"/>
                        <a:t> index is usually clustered. But also can use separate </a:t>
                      </a:r>
                      <a:r>
                        <a:rPr lang="en-US" dirty="0" err="1"/>
                        <a:t>nonclustered</a:t>
                      </a:r>
                      <a:r>
                        <a:rPr lang="en-US" dirty="0"/>
                        <a:t> indexes for some columns.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41525"/>
                  </a:ext>
                </a:extLst>
              </a:tr>
              <a:tr h="4575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for transactions (OLTP)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Good for read-only analytical queries in big fact tables (OLAP)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1844801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F9824DD-4EDC-7E43-AAE2-3E9CD88A7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642" y="2709110"/>
            <a:ext cx="3733721" cy="2380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266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/>
        </p:nvSpPr>
        <p:spPr>
          <a:xfrm>
            <a:off x="100016" y="0"/>
            <a:ext cx="67707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Inverted Indexes: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Salesforce Einstein Analytics stores data not in regular SQL database, but in files and so called "inverted indexes" (II).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motivation for selecting this technology was to have fast interactive data access.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price to pay - the slowness of creating these "inverted indexes".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Every time you add data - you need to rebuild the whole index.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article gives a nice explanation of what is II: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- https://</a:t>
            </a:r>
            <a:r>
              <a:rPr lang="en-US" dirty="0" err="1">
                <a:latin typeface="Calibri"/>
                <a:ea typeface="Calibri"/>
                <a:cs typeface="Calibri"/>
                <a:sym typeface="Calibri"/>
              </a:rPr>
              <a:t>www.eternussolutions.com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/2016/11/13/10-things-love-wave-analytics/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here is a picture showing the data - and its inverted index.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128" y="2474170"/>
            <a:ext cx="6096000" cy="27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7"/>
          <p:cNvSpPr txBox="1"/>
          <p:nvPr/>
        </p:nvSpPr>
        <p:spPr>
          <a:xfrm>
            <a:off x="7207450" y="108700"/>
            <a:ext cx="4911600" cy="4877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I've first worked with an SQL database with compressed bitmap indexes in 2001-2002. The database was called "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Sybase IQ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".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It was an SQL database for doing analytics (as opposed to transactional processing).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Since then most SQL database vendors have adopted this "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columnar indexing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". They switched from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row-oriented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storage and indexing to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compressed column-oriented storage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is basically equivalent to the "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Inverted Index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" idea.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Modern SQL databases can provide performance much faster than EA. You just need to select an implementation with appropriate characteristics.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For example, on AWS (or other clouds) you can select a GPU-based SQL database on a server with terabytes of memory.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This database can query the data and give updates with a speed of a live movie (milliseconds) !!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And we can still use conventional ETL tools and enjoy fast data load speeds.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85728" y="5228865"/>
            <a:ext cx="7125000" cy="15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Inverted indexes are usually implemented as compressed bitmaps - and cached in memory.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They may be also implemented as "conventional" trees.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Here are more links about Inverted indexes: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https://www.quora.com/In-database-design-what-exactly-is-the-difference-between-inverted-index-and-a-normal-index</a:t>
            </a:r>
            <a:r>
              <a:rPr lang="en-US" sz="11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https://stackoverflow.com/questions/47537318/b-tree-index-vs-inverted-index</a:t>
            </a:r>
            <a:r>
              <a:rPr lang="en-US" sz="11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11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https://en.wikipedia.org/wiki/Inverted_index</a:t>
            </a:r>
            <a:r>
              <a:rPr lang="en-US" sz="1100" dirty="0"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2289</Words>
  <Application>Microsoft Macintosh PowerPoint</Application>
  <PresentationFormat>Widescreen</PresentationFormat>
  <Paragraphs>199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36</cp:revision>
  <cp:lastPrinted>2020-07-13T02:48:41Z</cp:lastPrinted>
  <dcterms:modified xsi:type="dcterms:W3CDTF">2020-12-11T03:07:17Z</dcterms:modified>
</cp:coreProperties>
</file>