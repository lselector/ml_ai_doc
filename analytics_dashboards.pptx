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/>
    <p:restoredTop sz="94732"/>
  </p:normalViewPr>
  <p:slideViewPr>
    <p:cSldViewPr snapToGrid="0" snapToObjects="1">
      <p:cViewPr varScale="1">
        <p:scale>
          <a:sx n="87" d="100"/>
          <a:sy n="87" d="100"/>
        </p:scale>
        <p:origin x="6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60bda0dc2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60bda0dc20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60bda0dc20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62eab4c84d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62eab4c84d_0_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g62eab4c84d_0_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63d2f48a2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63d2f48a2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g63d2f48a2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63e51e399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63e51e399b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g63e51e399b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63e51e399b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63e51e399b_0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g63e51e399b_0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mQyFp2MSl-s" TargetMode="External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hyperlink" Target="https://docs.microsoft.com/en-us/sql/relational-databases/indexes/columnstore-indexes-overview?view=sql-server-2017" TargetMode="External"/><Relationship Id="rId4" Type="http://schemas.openxmlformats.org/officeDocument/2006/relationships/hyperlink" Target="https://www.youtube.com/watch?v=7XliLU7ZC_s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omnisci.com/" TargetMode="External"/><Relationship Id="rId3" Type="http://schemas.openxmlformats.org/officeDocument/2006/relationships/image" Target="../media/image3.png"/><Relationship Id="rId7" Type="http://schemas.openxmlformats.org/officeDocument/2006/relationships/hyperlink" Target="https://www.kinetica.com/partner/google-cloud-platfor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owerbi.microsoft.com/en-us/" TargetMode="External"/><Relationship Id="rId11" Type="http://schemas.openxmlformats.org/officeDocument/2006/relationships/hyperlink" Target="https://www.omnisci.com/demos/" TargetMode="External"/><Relationship Id="rId5" Type="http://schemas.openxmlformats.org/officeDocument/2006/relationships/hyperlink" Target="https://azure.microsoft.com/en-us/services/sql-data-warehouse/" TargetMode="External"/><Relationship Id="rId10" Type="http://schemas.openxmlformats.org/officeDocument/2006/relationships/hyperlink" Target="https://fivetran.com/blog/warehouse-benchmark" TargetMode="External"/><Relationship Id="rId4" Type="http://schemas.openxmlformats.org/officeDocument/2006/relationships/hyperlink" Target="https://www.gartner.com/doc/reprints?id=1-65P04FG&amp;ct=190125" TargetMode="External"/><Relationship Id="rId9" Type="http://schemas.openxmlformats.org/officeDocument/2006/relationships/hyperlink" Target="https://statsbot.co/blog/modern-data-warehouse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bloomberg/bqplot" TargetMode="External"/><Relationship Id="rId13" Type="http://schemas.openxmlformats.org/officeDocument/2006/relationships/hyperlink" Target="https://github.com/teamclairvoyant/panoramix" TargetMode="External"/><Relationship Id="rId3" Type="http://schemas.openxmlformats.org/officeDocument/2006/relationships/hyperlink" Target="https://annefou.github.io/jupyter_dashboards/02-dashboards/index.html" TargetMode="External"/><Relationship Id="rId7" Type="http://schemas.openxmlformats.org/officeDocument/2006/relationships/hyperlink" Target="https://www.youtube.com/watch?v=i40d8-Hu4vM" TargetMode="External"/><Relationship Id="rId12" Type="http://schemas.openxmlformats.org/officeDocument/2006/relationships/hyperlink" Target="https://shiny.rstudio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jupyter-widgets/ipywidgets" TargetMode="External"/><Relationship Id="rId11" Type="http://schemas.openxmlformats.org/officeDocument/2006/relationships/hyperlink" Target="https://github.com/voila-dashboards/voila" TargetMode="External"/><Relationship Id="rId5" Type="http://schemas.openxmlformats.org/officeDocument/2006/relationships/hyperlink" Target="https://github.com/jupyter/dashboards" TargetMode="External"/><Relationship Id="rId15" Type="http://schemas.openxmlformats.org/officeDocument/2006/relationships/hyperlink" Target="https://github.com/maartenbreddels/ipyvolume" TargetMode="External"/><Relationship Id="rId10" Type="http://schemas.openxmlformats.org/officeDocument/2006/relationships/hyperlink" Target="https://docs.bokeh.org/en/latest/docs/user_guide.html" TargetMode="External"/><Relationship Id="rId4" Type="http://schemas.openxmlformats.org/officeDocument/2006/relationships/hyperlink" Target="https://jupyterlab.readthedocs.io/en/stable/" TargetMode="External"/><Relationship Id="rId9" Type="http://schemas.openxmlformats.org/officeDocument/2006/relationships/hyperlink" Target="https://www.youtube.com/watch?v=Dmxa2Kyfzxk" TargetMode="External"/><Relationship Id="rId14" Type="http://schemas.openxmlformats.org/officeDocument/2006/relationships/hyperlink" Target="https://www.anaconda.com/python-data-visualization-2018-why-so-many-libraries/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en.wikipedia.org/wiki/Inverted_index" TargetMode="External"/><Relationship Id="rId5" Type="http://schemas.openxmlformats.org/officeDocument/2006/relationships/hyperlink" Target="https://stackoverflow.com/questions/47537318/b-tree-index-vs-inverted-index" TargetMode="External"/><Relationship Id="rId4" Type="http://schemas.openxmlformats.org/officeDocument/2006/relationships/hyperlink" Target="https://www.quora.com/In-database-design-what-exactly-is-the-difference-between-inverted-index-and-a-normal-index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 txBox="1"/>
          <p:nvPr/>
        </p:nvSpPr>
        <p:spPr>
          <a:xfrm>
            <a:off x="79075" y="58250"/>
            <a:ext cx="8242500" cy="67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latin typeface="Calibri"/>
                <a:ea typeface="Calibri"/>
                <a:cs typeface="Calibri"/>
                <a:sym typeface="Calibri"/>
              </a:rPr>
              <a:t>Analytics Dashboards</a:t>
            </a:r>
            <a:endParaRPr sz="3600" b="1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There are many tools on the market to help visualize data in graphs and dashboards.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US" sz="1800" b="1" dirty="0">
                <a:solidFill>
                  <a:srgbClr val="1155CC"/>
                </a:solidFill>
                <a:latin typeface="Calibri"/>
                <a:ea typeface="Calibri"/>
                <a:cs typeface="Calibri"/>
                <a:sym typeface="Calibri"/>
              </a:rPr>
              <a:t>interactive dashboard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is a combination of graphs, text fields, and controls 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allowing user to select the data, filter data (for example, by date range or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by geography or by user),  aggregate, compare. etc.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The data queries are usually formulated in SQL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Here is a demo of how fast Microsoft Power BI works with MS SQL Server - 500+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Mln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rows of data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</a:t>
            </a:r>
            <a:r>
              <a:rPr lang="en-US" sz="1800" dirty="0">
                <a:solidFill>
                  <a:schemeClr val="dk1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3"/>
              </a:rPr>
              <a:t>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https://www.youtube.com/watch?v=mQyFp2MSl-s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here is a demo of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Kinetica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DB using Tableau &amp; Power BI: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</a:t>
            </a:r>
            <a:r>
              <a:rPr lang="en-US" sz="1800" dirty="0">
                <a:solidFill>
                  <a:schemeClr val="dk1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4"/>
              </a:rPr>
              <a:t>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https://www.youtube.com/watch?v=7XliLU7ZC_s</a:t>
            </a:r>
            <a:endParaRPr sz="1800" u="sng" dirty="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Notice: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sub-second response on billions of rows of data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not need to create indexes, no wait time, fast load (even live streaming) of data (modern databases use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columnstore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indexes - and are highly parallelized)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</a:rPr>
              <a:t>-</a:t>
            </a:r>
            <a:r>
              <a:rPr lang="en-US" sz="1100" dirty="0">
                <a:solidFill>
                  <a:schemeClr val="dk1"/>
                </a:solidFill>
                <a:uFill>
                  <a:noFill/>
                </a:uFill>
                <a:hlinkClick r:id="rId5"/>
              </a:rPr>
              <a:t> </a:t>
            </a:r>
            <a:r>
              <a:rPr lang="en-US" sz="1100" u="sng" dirty="0">
                <a:solidFill>
                  <a:schemeClr val="hlink"/>
                </a:solidFill>
                <a:hlinkClick r:id="rId5"/>
              </a:rPr>
              <a:t>https://docs.microsoft.com/en-us/sql/relational-databases/indexes/columnstore-indexes-overview?view=sql-server-2017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33026" y="589200"/>
            <a:ext cx="3392676" cy="1798839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3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33025" y="3324624"/>
            <a:ext cx="3392675" cy="2556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4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97600" y="152400"/>
            <a:ext cx="5994400" cy="65532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0" y="76200"/>
            <a:ext cx="6097500" cy="62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The top leaders for analytics platforms are </a:t>
            </a:r>
            <a:r>
              <a:rPr lang="en-US" sz="1200" b="1">
                <a:solidFill>
                  <a:srgbClr val="FF0000"/>
                </a:solidFill>
              </a:rPr>
              <a:t>Microsoft</a:t>
            </a:r>
            <a:r>
              <a:rPr lang="en-US" sz="1200"/>
              <a:t> and </a:t>
            </a:r>
            <a:r>
              <a:rPr lang="en-US" sz="1200" b="1">
                <a:solidFill>
                  <a:srgbClr val="FF0000"/>
                </a:solidFill>
              </a:rPr>
              <a:t>Tableau</a:t>
            </a:r>
            <a:r>
              <a:rPr lang="en-US" sz="1200"/>
              <a:t>. 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Both use standard SQL to get data.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sng">
                <a:solidFill>
                  <a:schemeClr val="hlink"/>
                </a:solidFill>
                <a:hlinkClick r:id="rId4"/>
              </a:rPr>
              <a:t>https://www.gartner.com/doc/reprints?id=1-65P04FG&amp;ct=190125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b="1">
                <a:solidFill>
                  <a:schemeClr val="dk1"/>
                </a:solidFill>
              </a:rPr>
              <a:t>Which database to use?</a:t>
            </a:r>
            <a:endParaRPr sz="18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</a:rPr>
              <a:t>There are many options for SQL database.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For example, on Azure Cloud - Azure SQL Data Warehouse 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</a:rPr>
              <a:t>   - </a:t>
            </a:r>
            <a:r>
              <a:rPr lang="en-US" sz="1200" u="sng">
                <a:solidFill>
                  <a:schemeClr val="hlink"/>
                </a:solidFill>
                <a:hlinkClick r:id="rId5"/>
              </a:rPr>
              <a:t>https://azure.microsoft.com/en-us/services/sql-data-warehouse/</a:t>
            </a:r>
            <a:r>
              <a:rPr lang="en-US" sz="1200">
                <a:solidFill>
                  <a:schemeClr val="dk1"/>
                </a:solidFill>
              </a:rPr>
              <a:t> 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</a:rPr>
              <a:t>  BI &amp; Power BI - </a:t>
            </a:r>
            <a:r>
              <a:rPr lang="en-US" sz="1200" u="sng">
                <a:solidFill>
                  <a:schemeClr val="hlink"/>
                </a:solidFill>
                <a:hlinkClick r:id="rId6"/>
              </a:rPr>
              <a:t>https://powerbi.microsoft.com/en-us/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On Google Cloud we can use "Cloud SQL" (managed PostgreSQL) or BigQuery.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We can also consider GPU-based databases, for example: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</a:rPr>
              <a:t> - Kinetica on Google Cloud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</a:rPr>
              <a:t>    - </a:t>
            </a:r>
            <a:r>
              <a:rPr lang="en-US" sz="1200" u="sng">
                <a:solidFill>
                  <a:schemeClr val="hlink"/>
                </a:solidFill>
                <a:hlinkClick r:id="rId7"/>
              </a:rPr>
              <a:t>https://www.kinetica.com/partner/google-cloud-platform/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 - </a:t>
            </a:r>
            <a:r>
              <a:rPr lang="en-US" sz="1200"/>
              <a:t>MapD = OmniSci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   - </a:t>
            </a:r>
            <a:r>
              <a:rPr lang="en-US" sz="1200" u="sng">
                <a:solidFill>
                  <a:schemeClr val="hlink"/>
                </a:solidFill>
                <a:hlinkClick r:id="rId8"/>
              </a:rPr>
              <a:t>https://www.omnisci.com/</a:t>
            </a:r>
            <a:r>
              <a:rPr lang="en-US" sz="1200"/>
              <a:t> 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Similar options are available on AWS: Amazon RDS (PostgreSQL), Redshift, SnowFlake, Aurora, kinetica, MapD, etc.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Generally for sizes more than 1TB it is preferable to have a distributed DB like Google BigQuery (or Amazon SnowFlake.net)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	</a:t>
            </a:r>
            <a:r>
              <a:rPr lang="en-US" sz="1200" u="sng">
                <a:solidFill>
                  <a:schemeClr val="hlink"/>
                </a:solidFill>
                <a:hlinkClick r:id="rId9"/>
              </a:rPr>
              <a:t>https://statsbot.co/blog/modern-data-warehouse</a:t>
            </a:r>
            <a:endParaRPr sz="1200" u="sng">
              <a:solidFill>
                <a:schemeClr val="hlink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Speed depends on the size of the data too.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At small sizes (&lt;1TB) single-node solutions are faster (GPU-based are fastest).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So it maybe either one reasonably fast DB (Azure SQL Datawarehouse), or two databases - on big - but slow (Google BigQuery), and second smaller - but very fast (omnisci MapD GPU DB for interactive visual querying)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 -</a:t>
            </a:r>
            <a:r>
              <a:rPr lang="en-US" sz="1200">
                <a:solidFill>
                  <a:schemeClr val="dk1"/>
                </a:solidFill>
                <a:uFill>
                  <a:noFill/>
                </a:uFill>
                <a:hlinkClick r:id="rId10"/>
              </a:rPr>
              <a:t> </a:t>
            </a:r>
            <a:r>
              <a:rPr lang="en-US" sz="1200" u="sng">
                <a:solidFill>
                  <a:schemeClr val="hlink"/>
                </a:solidFill>
                <a:hlinkClick r:id="rId10"/>
              </a:rPr>
              <a:t>https://fivetran.com/blog/warehouse-benchmark</a:t>
            </a:r>
            <a:endParaRPr sz="1200" u="sng">
              <a:solidFill>
                <a:schemeClr val="hlink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 -</a:t>
            </a:r>
            <a:r>
              <a:rPr lang="en-US" sz="1200">
                <a:solidFill>
                  <a:schemeClr val="dk1"/>
                </a:solidFill>
                <a:uFill>
                  <a:noFill/>
                </a:uFill>
                <a:hlinkClick r:id="rId11"/>
              </a:rPr>
              <a:t> </a:t>
            </a:r>
            <a:r>
              <a:rPr lang="en-US" sz="1200" u="sng">
                <a:solidFill>
                  <a:schemeClr val="hlink"/>
                </a:solidFill>
                <a:hlinkClick r:id="rId11"/>
              </a:rPr>
              <a:t>https://www.omnisci.com/demos/</a:t>
            </a:r>
            <a:endParaRPr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 txBox="1"/>
          <p:nvPr/>
        </p:nvSpPr>
        <p:spPr>
          <a:xfrm>
            <a:off x="0" y="0"/>
            <a:ext cx="11715900" cy="66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latin typeface="Calibri"/>
                <a:ea typeface="Calibri"/>
                <a:cs typeface="Calibri"/>
                <a:sym typeface="Calibri"/>
              </a:rPr>
              <a:t>Open Source for building dashboards</a:t>
            </a:r>
            <a:endParaRPr sz="2400" b="1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: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notebooks and dashboards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https://annefou.github.io/jupyter_dashboards/02-dashboards/index.html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Lab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https://jupyterlab.readthedocs.io/en/stable/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Dashboards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https://github.com/jupyter/dashboards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 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ipywidgets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https://github.com/jupyter-widgets/ipywidgets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  </a:t>
            </a:r>
            <a:br>
              <a:rPr lang="en-US" sz="180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                  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https://www.youtube.com/watch?v=i40d8-Hu4vM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 (40 min demo from 2017)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bqplot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https://github.com/bloomberg/bqplot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https://www.youtube.com/watch?v=Dmxa2Kyfzxk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(demo 2018)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Bokeh - interactive graphics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https://docs.bokeh.org/en/latest/docs/user_guide.html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 dirty="0"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Voila - serve dashboards - </a:t>
            </a:r>
            <a:r>
              <a:rPr lang="en-US" sz="1800" u="sng" dirty="0">
                <a:solidFill>
                  <a:schemeClr val="hlink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  <a:hlinkClick r:id="rId11"/>
              </a:rPr>
              <a:t>https://github.com/voila-dashboards/voila</a:t>
            </a:r>
            <a:r>
              <a:rPr lang="en-US" sz="1800" u="sng" dirty="0">
                <a:solidFill>
                  <a:schemeClr val="hlink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42900">
              <a:buSzPts val="1800"/>
              <a:buFont typeface="Calibri"/>
              <a:buChar char="●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Shiny (R-Studio) -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12"/>
              </a:rPr>
              <a:t>https://shiny.rstudio.com/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Panoramix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https://github.com/teamclairvoyant/panoramix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Visualization - why so many packages?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https://www.anaconda.com/python-data-visualization-2018-why-so-many-libraries/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ipyvolume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- 3-D  visualization (rotate &amp; resize 3D graphs)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/>
              </a:rPr>
              <a:t>https://github.com/maartenbreddels/ipyvolume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import </a:t>
            </a: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matplotlib.pyplot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as </a:t>
            </a: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plt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import seaborn as </a:t>
            </a: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sns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6"/>
          <p:cNvSpPr txBox="1"/>
          <p:nvPr/>
        </p:nvSpPr>
        <p:spPr>
          <a:xfrm>
            <a:off x="0" y="0"/>
            <a:ext cx="5882400" cy="642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latin typeface="Calibri"/>
                <a:ea typeface="Calibri"/>
                <a:cs typeface="Calibri"/>
                <a:sym typeface="Calibri"/>
              </a:rPr>
              <a:t>Databases optimized for analytics.</a:t>
            </a:r>
            <a:endParaRPr sz="2400" b="1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Databases can be optimized for OLTP (On-Line Transactional Processing) or OLAP (On-Line Analytical Processing). For analytics we need OLAP databases.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They achieve high performance of queries by using columnar indexes, massive parallelism, taking advantage of large memory and GPU.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Columnar Indexes: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Here is a short video (4 min) made long time ago (in 2011) showing performance advantage of columnar store indexes in Microsoft SQL server.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 - https://www.youtube.com/watch?v=vPN8_PCsJm4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The video demonstrates that columnar indexing is at least 40 times faster than traditional index. The query was done over a 2 Billion rows "fact" table.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Note - this video is ~8 years old. Since then MS SQL Server made lots of other performance improvements. 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first release of MS SQL Server was on April 24, 1989, 30 years!!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Modern hardware is much faster than that used in the above video.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Columnar store indexing is standard/default nowadays.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And of course it is available on Microsoft SQL Server on Azure cloud.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Microsoft SQL Datawarehouse on Azure cloud - fast OLAP solution.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https://azure.microsoft.com/en-us/services/sql-data-warehouse/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Power BI - Standard Microsoft Business Intelligence tool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https://powerbi.microsoft.com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Demo of how fast Power BI works with MS SQL Server - 500+ Mln rows of data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https://www.youtube.com/watch?v=mQyFp2MSl-s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6"/>
          <p:cNvSpPr txBox="1"/>
          <p:nvPr/>
        </p:nvSpPr>
        <p:spPr>
          <a:xfrm>
            <a:off x="6028050" y="0"/>
            <a:ext cx="6164100" cy="31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Demo of Kinetica DB using Tableau &amp; Power BI: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https://www.youtube.com/watch?v=7XliLU7ZC_s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Notice: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sub-second response on billions of rows of data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not need to create indexes, no wait time, fast load (even live streaming) of data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Main points: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you can select from many different BI tools - they all support SQL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you can select from many SQL databases - they are fast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you can simplify your development time using standard SQL features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you can select dedicated hardware to tune your speed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you can achieve very fast response time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you can enjoy lower prices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7"/>
          <p:cNvSpPr txBox="1"/>
          <p:nvPr/>
        </p:nvSpPr>
        <p:spPr>
          <a:xfrm>
            <a:off x="0" y="0"/>
            <a:ext cx="6770700" cy="19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latin typeface="Calibri"/>
                <a:ea typeface="Calibri"/>
                <a:cs typeface="Calibri"/>
                <a:sym typeface="Calibri"/>
              </a:rPr>
              <a:t>About Einstein Analytics (EA):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EA stores data not in regular SQL database, but in files and so called "inverted indexes" (II).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The motivation for selecting this technology was to have fast interactive data access.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The price to pay - the slowness of creating these "inverted indexes".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Every time you add data - you need to rebuild the whole index.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This article gives a nice explanation of what is II: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 - https://www.eternussolutions.com/2016/11/13/10-things-love-wave-analytics/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And here is a picture showing the data - and its inverted index.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100" y="1988388"/>
            <a:ext cx="6096000" cy="2752725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7"/>
          <p:cNvSpPr txBox="1"/>
          <p:nvPr/>
        </p:nvSpPr>
        <p:spPr>
          <a:xfrm>
            <a:off x="7207450" y="108700"/>
            <a:ext cx="4911600" cy="47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I've first worked with an SQL database with compressed bitmap indexes in 2001-2002. The database was called "Sybase IQ".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It was an SQL database for doing analytics (as opposed to transactional processing).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Since then most SQL database vendors have adopted this "columnar" indexing. They switched from row-oriented storage and indexing to compressed column-oriented storage. 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This is basically equivalent to the "Inverted Index" idea.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Modern SQL databases can provide performance much faster than EA. You just need to select an implementation with appropriate characteristics.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For example, on AWS (or other clouds) you can select a GPU-based SQL database on a server with terabytes of memory.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This database can query the data and give updates with a speed of a live movie (milliseconds).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And we can still use conventional ETL tools and enjoy fast data load speeds.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And it will be probably cheaper than EA.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7"/>
          <p:cNvSpPr txBox="1"/>
          <p:nvPr/>
        </p:nvSpPr>
        <p:spPr>
          <a:xfrm>
            <a:off x="0" y="4813150"/>
            <a:ext cx="7125000" cy="15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Inverted indexes are usually implemented as compressed bitmaps - and cached in memory.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They may be also implemented as "conventional" trees.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Here are more links about Inverted indexes: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https://www.quora.com/In-database-design-what-exactly-is-the-difference-between-inverted-index-and-a-normal-index</a:t>
            </a: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https://stackoverflow.com/questions/47537318/b-tree-index-vs-inverted-index</a:t>
            </a: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https://en.wikipedia.org/wiki/Inverted_index</a:t>
            </a: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1489</Words>
  <Application>Microsoft Macintosh PowerPoint</Application>
  <PresentationFormat>Widescreen</PresentationFormat>
  <Paragraphs>138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3</cp:revision>
  <dcterms:modified xsi:type="dcterms:W3CDTF">2020-02-18T13:04:49Z</dcterms:modified>
</cp:coreProperties>
</file>