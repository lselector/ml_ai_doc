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85" r:id="rId2"/>
    <p:sldId id="270" r:id="rId3"/>
    <p:sldId id="300" r:id="rId4"/>
    <p:sldId id="288" r:id="rId5"/>
    <p:sldId id="301" r:id="rId6"/>
    <p:sldId id="302" r:id="rId7"/>
    <p:sldId id="303" r:id="rId8"/>
    <p:sldId id="260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618C5A-BF4F-44D7-ADB2-C5301EF81F8A}">
  <a:tblStyle styleId="{B1618C5A-BF4F-44D7-ADB2-C5301EF81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69"/>
    <p:restoredTop sz="92197"/>
  </p:normalViewPr>
  <p:slideViewPr>
    <p:cSldViewPr snapToGrid="0" snapToObjects="1">
      <p:cViewPr varScale="1">
        <p:scale>
          <a:sx n="105" d="100"/>
          <a:sy n="105" d="100"/>
        </p:scale>
        <p:origin x="11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0335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5559a5d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g3d5559a5d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3809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3801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tif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5.tiff"/><Relationship Id="rId4" Type="http://schemas.openxmlformats.org/officeDocument/2006/relationships/hyperlink" Target="https://en.wikipedia.org/wiki/Pearson_correlation_coefficient" TargetMode="External"/><Relationship Id="rId9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tiff"/><Relationship Id="rId3" Type="http://schemas.openxmlformats.org/officeDocument/2006/relationships/hyperlink" Target="https://en.wikipedia.org/wiki/Simple_linear_regression" TargetMode="External"/><Relationship Id="rId7" Type="http://schemas.openxmlformats.org/officeDocument/2006/relationships/image" Target="../media/image7.tiff"/><Relationship Id="rId12" Type="http://schemas.openxmlformats.org/officeDocument/2006/relationships/image" Target="../media/image12.tiff"/><Relationship Id="rId2" Type="http://schemas.openxmlformats.org/officeDocument/2006/relationships/hyperlink" Target="https://en.wikipedia.org/wiki/Linear_regression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tiff"/><Relationship Id="rId11" Type="http://schemas.openxmlformats.org/officeDocument/2006/relationships/image" Target="../media/image11.tiff"/><Relationship Id="rId5" Type="http://schemas.openxmlformats.org/officeDocument/2006/relationships/hyperlink" Target="https://en.wikipedia.org/wiki/Coefficient_of_determination" TargetMode="External"/><Relationship Id="rId10" Type="http://schemas.openxmlformats.org/officeDocument/2006/relationships/image" Target="../media/image10.tiff"/><Relationship Id="rId4" Type="http://schemas.openxmlformats.org/officeDocument/2006/relationships/hyperlink" Target="https://paternogbc.shinyapps.io/SS_regression/" TargetMode="External"/><Relationship Id="rId9" Type="http://schemas.openxmlformats.org/officeDocument/2006/relationships/image" Target="../media/image9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tiff"/><Relationship Id="rId4" Type="http://schemas.openxmlformats.org/officeDocument/2006/relationships/image" Target="../media/image15.tif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tiff"/><Relationship Id="rId3" Type="http://schemas.openxmlformats.org/officeDocument/2006/relationships/image" Target="../media/image18.tiff"/><Relationship Id="rId7" Type="http://schemas.openxmlformats.org/officeDocument/2006/relationships/image" Target="../media/image22.tiff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tiff"/><Relationship Id="rId5" Type="http://schemas.openxmlformats.org/officeDocument/2006/relationships/image" Target="../media/image20.tiff"/><Relationship Id="rId4" Type="http://schemas.openxmlformats.org/officeDocument/2006/relationships/image" Target="../media/image19.tif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tiff"/><Relationship Id="rId3" Type="http://schemas.openxmlformats.org/officeDocument/2006/relationships/image" Target="../media/image24.tiff"/><Relationship Id="rId7" Type="http://schemas.openxmlformats.org/officeDocument/2006/relationships/image" Target="../media/image26.tiff"/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tiff"/><Relationship Id="rId5" Type="http://schemas.openxmlformats.org/officeDocument/2006/relationships/hyperlink" Target="https://www.slideserve.com/karis/introduction-to-linear-regression-and-correlation-analysis" TargetMode="External"/><Relationship Id="rId4" Type="http://schemas.openxmlformats.org/officeDocument/2006/relationships/hyperlink" Target="https://stats.stackexchange.com/questions/342632/how-to-understand-se-of-regression-slope-equation/342672" TargetMode="External"/><Relationship Id="rId9" Type="http://schemas.openxmlformats.org/officeDocument/2006/relationships/image" Target="../media/image28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iff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ts.stackexchange.com/questions/29781/when-conducting-multiple-regression-when-should-you-center-your-predictor-varia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AFEF5C-D88E-AB40-A582-44278153535D}"/>
              </a:ext>
            </a:extLst>
          </p:cNvPr>
          <p:cNvSpPr txBox="1"/>
          <p:nvPr/>
        </p:nvSpPr>
        <p:spPr>
          <a:xfrm>
            <a:off x="84666" y="101598"/>
            <a:ext cx="502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Correlation and Regression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12745-E76C-5042-8284-5378351DB634}"/>
              </a:ext>
            </a:extLst>
          </p:cNvPr>
          <p:cNvSpPr txBox="1"/>
          <p:nvPr/>
        </p:nvSpPr>
        <p:spPr>
          <a:xfrm>
            <a:off x="84665" y="646523"/>
            <a:ext cx="351717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Pearson Correlation   </a:t>
            </a:r>
            <a:r>
              <a:rPr lang="en-US" sz="2400" b="1" dirty="0">
                <a:solidFill>
                  <a:srgbClr val="0070C0"/>
                </a:solidFill>
              </a:rPr>
              <a:t>r</a:t>
            </a:r>
          </a:p>
          <a:p>
            <a:r>
              <a:rPr lang="en-US" sz="900" dirty="0">
                <a:hlinkClick r:id="rId4"/>
              </a:rPr>
              <a:t>https://</a:t>
            </a:r>
            <a:r>
              <a:rPr lang="en-US" sz="900" dirty="0" err="1">
                <a:hlinkClick r:id="rId4"/>
              </a:rPr>
              <a:t>en.wikipedia.org</a:t>
            </a:r>
            <a:r>
              <a:rPr lang="en-US" sz="900" dirty="0">
                <a:hlinkClick r:id="rId4"/>
              </a:rPr>
              <a:t>/wiki/</a:t>
            </a:r>
            <a:r>
              <a:rPr lang="en-US" sz="900" dirty="0" err="1">
                <a:hlinkClick r:id="rId4"/>
              </a:rPr>
              <a:t>Pearson_correlation_coefficient</a:t>
            </a:r>
            <a:endParaRPr lang="en-US" sz="900" dirty="0"/>
          </a:p>
        </p:txBody>
      </p:sp>
      <p:graphicFrame>
        <p:nvGraphicFramePr>
          <p:cNvPr id="7" name="Object 3" descr="An equation reads, r equals SP divided by square root of SS subscript X SS subscript Y.">
            <a:extLst>
              <a:ext uri="{FF2B5EF4-FFF2-40B4-BE49-F238E27FC236}">
                <a16:creationId xmlns:a16="http://schemas.microsoft.com/office/drawing/2014/main" id="{1BAE69CE-C1AE-4247-8CF6-BDBC3B5FB6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3674772"/>
              </p:ext>
            </p:extLst>
          </p:nvPr>
        </p:nvGraphicFramePr>
        <p:xfrm>
          <a:off x="310201" y="1580551"/>
          <a:ext cx="1645597" cy="858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2" name="Equation" r:id="rId5" imgW="876240" imgH="457200" progId="Equation.DSMT4">
                  <p:embed/>
                </p:oleObj>
              </mc:Choice>
              <mc:Fallback>
                <p:oleObj name="Equation" r:id="rId5" imgW="876240" imgH="457200" progId="Equation.DSMT4">
                  <p:embed/>
                  <p:pic>
                    <p:nvPicPr>
                      <p:cNvPr id="7" name="Object 3" descr="An equation reads, r equals SP divided by square root of SS subscript X SS subscript Y.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201" y="1580551"/>
                        <a:ext cx="1645597" cy="8585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24AF0FB-2C68-C94E-8FAD-63EC040D852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62976" y="1457388"/>
            <a:ext cx="2942062" cy="1104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E9E20F-43B6-4143-82F1-9FFA69A420AB}"/>
              </a:ext>
            </a:extLst>
          </p:cNvPr>
          <p:cNvSpPr txBox="1"/>
          <p:nvPr/>
        </p:nvSpPr>
        <p:spPr>
          <a:xfrm>
            <a:off x="84665" y="5658328"/>
            <a:ext cx="31268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r</a:t>
            </a:r>
            <a:r>
              <a:rPr lang="en-US" sz="1600" dirty="0">
                <a:solidFill>
                  <a:srgbClr val="0070C0"/>
                </a:solidFill>
              </a:rPr>
              <a:t> </a:t>
            </a:r>
            <a:r>
              <a:rPr lang="en-US" sz="1600" dirty="0"/>
              <a:t> </a:t>
            </a:r>
            <a:r>
              <a:rPr lang="en-US" dirty="0"/>
              <a:t>can vary from -1 to 1:</a:t>
            </a:r>
          </a:p>
          <a:p>
            <a:r>
              <a:rPr lang="en-US" dirty="0"/>
              <a:t>-1 – perfect negative correlation</a:t>
            </a:r>
          </a:p>
          <a:p>
            <a:r>
              <a:rPr lang="en-US" dirty="0"/>
              <a:t>+1 – perfect positive correlation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CD6708-EC38-8741-AA12-36FF8B0D6856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7421" y="100672"/>
            <a:ext cx="4152900" cy="2463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FF4474A-1C0D-3D42-98AA-2DC6FE0BBDF0}"/>
              </a:ext>
            </a:extLst>
          </p:cNvPr>
          <p:cNvSpPr txBox="1"/>
          <p:nvPr/>
        </p:nvSpPr>
        <p:spPr>
          <a:xfrm>
            <a:off x="8134321" y="4956726"/>
            <a:ext cx="285940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</a:rPr>
              <a:t>Karl Pearson</a:t>
            </a:r>
            <a:br>
              <a:rPr lang="en-US" dirty="0"/>
            </a:br>
            <a:r>
              <a:rPr lang="en-US" dirty="0"/>
              <a:t>(1857 - 1936)</a:t>
            </a:r>
          </a:p>
          <a:p>
            <a:pPr algn="ctr"/>
            <a:r>
              <a:rPr lang="en-US" dirty="0"/>
              <a:t>Famous English mathematician and biostatistician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3E6DE4-FC9B-5241-85B1-1313B14C0121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2194" y="3134152"/>
            <a:ext cx="1811606" cy="18116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F5ABF80-09BA-A04A-9DD2-79333A5D12B1}"/>
              </a:ext>
            </a:extLst>
          </p:cNvPr>
          <p:cNvSpPr txBox="1"/>
          <p:nvPr/>
        </p:nvSpPr>
        <p:spPr>
          <a:xfrm>
            <a:off x="84665" y="4282716"/>
            <a:ext cx="50292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Pearson correlation is also known under names: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Pearson correlation coefficient (PCC)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Pearson's 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Pearson product-moment correlation coefficient (PPMCC)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Bivariate correlation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2BA5C64-0C74-1D4A-B81B-5F79DBCD3820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201" y="3090278"/>
            <a:ext cx="4275462" cy="72619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3B3E23E-7700-D34B-86E4-56141243BCC9}"/>
              </a:ext>
            </a:extLst>
          </p:cNvPr>
          <p:cNvSpPr txBox="1"/>
          <p:nvPr/>
        </p:nvSpPr>
        <p:spPr>
          <a:xfrm>
            <a:off x="3771401" y="5820076"/>
            <a:ext cx="304174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en-US" baseline="30000" dirty="0"/>
              <a:t>2</a:t>
            </a:r>
            <a:r>
              <a:rPr lang="en-US" dirty="0"/>
              <a:t> is the square of the Pearson's correlation coefficient </a:t>
            </a:r>
            <a:r>
              <a:rPr lang="en-US" sz="1800" b="1" dirty="0">
                <a:solidFill>
                  <a:srgbClr val="0070C0"/>
                </a:solidFill>
              </a:rPr>
              <a:t>r</a:t>
            </a:r>
            <a:r>
              <a:rPr lang="en-US" dirty="0"/>
              <a:t> (for a single regressor, fitted by least squares)</a:t>
            </a:r>
          </a:p>
        </p:txBody>
      </p:sp>
    </p:spTree>
    <p:extLst>
      <p:ext uri="{BB962C8B-B14F-4D97-AF65-F5344CB8AC3E}">
        <p14:creationId xmlns:p14="http://schemas.microsoft.com/office/powerpoint/2010/main" val="213272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B5F268-965F-C142-A102-83C02389B555}"/>
              </a:ext>
            </a:extLst>
          </p:cNvPr>
          <p:cNvSpPr txBox="1"/>
          <p:nvPr/>
        </p:nvSpPr>
        <p:spPr>
          <a:xfrm>
            <a:off x="111512" y="142019"/>
            <a:ext cx="581864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Linear Regression</a:t>
            </a:r>
          </a:p>
          <a:p>
            <a:r>
              <a:rPr lang="en-US" dirty="0"/>
              <a:t>Linear Regression = draw a line through experimental points.</a:t>
            </a:r>
          </a:p>
          <a:p>
            <a:r>
              <a:rPr lang="en-US" dirty="0"/>
              <a:t>  - </a:t>
            </a:r>
            <a:r>
              <a:rPr lang="en-US" dirty="0">
                <a:hlinkClick r:id="rId2"/>
              </a:rPr>
              <a:t>https://en.wikipedia.org/wiki/Linear_regression</a:t>
            </a:r>
            <a:r>
              <a:rPr lang="en-US" dirty="0"/>
              <a:t> </a:t>
            </a:r>
          </a:p>
          <a:p>
            <a:r>
              <a:rPr lang="en-US" dirty="0"/>
              <a:t>  - </a:t>
            </a:r>
            <a:r>
              <a:rPr lang="en-US" dirty="0">
                <a:hlinkClick r:id="rId3"/>
              </a:rPr>
              <a:t>https://en.wikipedia.org/wiki/Simple_linear_regression</a:t>
            </a:r>
            <a:endParaRPr lang="en-US" dirty="0"/>
          </a:p>
          <a:p>
            <a:r>
              <a:rPr lang="en-US" dirty="0"/>
              <a:t>  - </a:t>
            </a:r>
            <a:r>
              <a:rPr lang="en-US" dirty="0">
                <a:hlinkClick r:id="rId4"/>
              </a:rPr>
              <a:t>https://paternogbc.shinyapps.io/SS_regression/</a:t>
            </a:r>
            <a:r>
              <a:rPr lang="en-US" dirty="0"/>
              <a:t> - play with it</a:t>
            </a:r>
          </a:p>
          <a:p>
            <a:r>
              <a:rPr lang="en-US" dirty="0"/>
              <a:t>We derive linear model by minimization the mean square error (MSE):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2EEA3B-9D50-A145-B8FE-B6686486D979}"/>
              </a:ext>
            </a:extLst>
          </p:cNvPr>
          <p:cNvSpPr txBox="1"/>
          <p:nvPr/>
        </p:nvSpPr>
        <p:spPr>
          <a:xfrm>
            <a:off x="6858000" y="34297"/>
            <a:ext cx="53340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drawing a curve through experimental points, </a:t>
            </a:r>
          </a:p>
          <a:p>
            <a:r>
              <a:rPr lang="en-US" dirty="0"/>
              <a:t>it is very important to estimate how good this curve </a:t>
            </a:r>
          </a:p>
          <a:p>
            <a:r>
              <a:rPr lang="en-US" dirty="0"/>
              <a:t>fits the data, and if fitting the data with this curve makes sense. </a:t>
            </a:r>
          </a:p>
          <a:p>
            <a:r>
              <a:rPr lang="en-US" dirty="0"/>
              <a:t>For this you can use the </a:t>
            </a:r>
            <a:r>
              <a:rPr lang="en-US" b="1" dirty="0">
                <a:solidFill>
                  <a:srgbClr val="0070C0"/>
                </a:solidFill>
              </a:rPr>
              <a:t>Coefficient of Determination R</a:t>
            </a:r>
            <a:r>
              <a:rPr lang="en-US" b="1" baseline="30000" dirty="0">
                <a:solidFill>
                  <a:srgbClr val="0070C0"/>
                </a:solidFill>
              </a:rPr>
              <a:t>2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    –  </a:t>
            </a:r>
            <a:r>
              <a:rPr lang="en-US" dirty="0">
                <a:hlinkClick r:id="rId5"/>
              </a:rPr>
              <a:t>https://en.wikipedia.org/wiki/Coefficient_of_determination</a:t>
            </a:r>
            <a:r>
              <a:rPr lang="en-US" dirty="0"/>
              <a:t>  </a:t>
            </a:r>
          </a:p>
          <a:p>
            <a:r>
              <a:rPr lang="en-US" dirty="0"/>
              <a:t>“</a:t>
            </a:r>
            <a:r>
              <a:rPr lang="en-US" b="1" dirty="0">
                <a:solidFill>
                  <a:srgbClr val="0070C0"/>
                </a:solidFill>
              </a:rPr>
              <a:t>R squared</a:t>
            </a:r>
            <a:r>
              <a:rPr lang="en-US" dirty="0"/>
              <a:t>” is a number between 0 and 1. </a:t>
            </a:r>
            <a:br>
              <a:rPr lang="en-US" dirty="0"/>
            </a:br>
            <a:r>
              <a:rPr lang="en-US" b="1" dirty="0">
                <a:solidFill>
                  <a:srgbClr val="0070C0"/>
                </a:solidFill>
              </a:rPr>
              <a:t>R</a:t>
            </a:r>
            <a:r>
              <a:rPr lang="en-US" b="1" baseline="30000" dirty="0">
                <a:solidFill>
                  <a:srgbClr val="0070C0"/>
                </a:solidFill>
              </a:rPr>
              <a:t>2</a:t>
            </a:r>
            <a:r>
              <a:rPr lang="en-US" dirty="0"/>
              <a:t> close to 1 – good model. </a:t>
            </a:r>
          </a:p>
          <a:p>
            <a:r>
              <a:rPr lang="en-US" b="1" dirty="0">
                <a:solidFill>
                  <a:srgbClr val="0070C0"/>
                </a:solidFill>
              </a:rPr>
              <a:t>R</a:t>
            </a:r>
            <a:r>
              <a:rPr lang="en-US" b="1" baseline="30000" dirty="0">
                <a:solidFill>
                  <a:srgbClr val="0070C0"/>
                </a:solidFill>
              </a:rPr>
              <a:t>2</a:t>
            </a:r>
            <a:r>
              <a:rPr lang="en-US" dirty="0"/>
              <a:t>  = </a:t>
            </a:r>
            <a:r>
              <a:rPr lang="en-US" b="1" dirty="0"/>
              <a:t>r</a:t>
            </a:r>
            <a:r>
              <a:rPr lang="en-US" b="1" baseline="30000" dirty="0"/>
              <a:t>2</a:t>
            </a:r>
            <a:r>
              <a:rPr lang="en-US" dirty="0"/>
              <a:t>  (the square of the Pearson's correlation coefficient </a:t>
            </a:r>
            <a:r>
              <a:rPr lang="en-US" sz="1800" b="1" dirty="0">
                <a:solidFill>
                  <a:srgbClr val="0070C0"/>
                </a:solidFill>
              </a:rPr>
              <a:t>r</a:t>
            </a:r>
            <a:r>
              <a:rPr lang="en-US" dirty="0"/>
              <a:t> (for a single regressor, fitted by least squares)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0E0B71-9796-224E-B0B8-1567F37D9C0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2745" y="2295151"/>
            <a:ext cx="5168900" cy="1765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A5B322-C61E-494A-91E3-E7BEA2067D6A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411" y="1732311"/>
            <a:ext cx="2436951" cy="7335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B08050-696D-8F46-A2BD-EEF8FA37E114}"/>
              </a:ext>
            </a:extLst>
          </p:cNvPr>
          <p:cNvSpPr txBox="1"/>
          <p:nvPr/>
        </p:nvSpPr>
        <p:spPr>
          <a:xfrm>
            <a:off x="111513" y="2478676"/>
            <a:ext cx="6558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take partial derivatives by two coefficients - and solve system of 2 equations,</a:t>
            </a:r>
          </a:p>
          <a:p>
            <a:r>
              <a:rPr lang="en-US" dirty="0"/>
              <a:t>and after some algebraic transformations, we derive the standard </a:t>
            </a:r>
            <a:r>
              <a:rPr lang="en-US" b="1" dirty="0">
                <a:solidFill>
                  <a:srgbClr val="0070C0"/>
                </a:solidFill>
              </a:rPr>
              <a:t>OLS</a:t>
            </a:r>
            <a:r>
              <a:rPr lang="en-US" dirty="0"/>
              <a:t> method </a:t>
            </a:r>
          </a:p>
          <a:p>
            <a:r>
              <a:rPr lang="en-US" dirty="0"/>
              <a:t>(</a:t>
            </a:r>
            <a:r>
              <a:rPr lang="en-US" b="1" dirty="0">
                <a:solidFill>
                  <a:srgbClr val="0070C0"/>
                </a:solidFill>
              </a:rPr>
              <a:t>OLS = Ordinary Least Squares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 = </a:t>
            </a:r>
            <a:r>
              <a:rPr lang="en-US" dirty="0" err="1"/>
              <a:t>y_mean</a:t>
            </a:r>
            <a:r>
              <a:rPr lang="en-US" dirty="0"/>
              <a:t> = sum(y)/N</a:t>
            </a:r>
          </a:p>
          <a:p>
            <a:r>
              <a:rPr lang="en-US" dirty="0"/>
              <a:t>    </a:t>
            </a:r>
            <a:r>
              <a:rPr lang="en-US" dirty="0" err="1"/>
              <a:t>x</a:t>
            </a:r>
            <a:r>
              <a:rPr lang="en-US" baseline="-25000" dirty="0" err="1"/>
              <a:t>m</a:t>
            </a:r>
            <a:r>
              <a:rPr lang="en-US" dirty="0"/>
              <a:t> = </a:t>
            </a:r>
            <a:r>
              <a:rPr lang="en-US" dirty="0" err="1"/>
              <a:t>x_mean</a:t>
            </a:r>
            <a:r>
              <a:rPr lang="en-US" dirty="0"/>
              <a:t> = sum(x)/N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var(x) = variance(x) = sum((x-</a:t>
            </a:r>
            <a:r>
              <a:rPr lang="en-US" dirty="0" err="1"/>
              <a:t>x</a:t>
            </a:r>
            <a:r>
              <a:rPr lang="en-US" baseline="-25000" dirty="0" err="1"/>
              <a:t>m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r>
              <a:rPr lang="en-US" dirty="0"/>
              <a:t>    </a:t>
            </a:r>
            <a:r>
              <a:rPr lang="en-US" dirty="0" err="1"/>
              <a:t>covar</a:t>
            </a:r>
            <a:r>
              <a:rPr lang="en-US" dirty="0"/>
              <a:t>(</a:t>
            </a:r>
            <a:r>
              <a:rPr lang="en-US" dirty="0" err="1"/>
              <a:t>x,y</a:t>
            </a:r>
            <a:r>
              <a:rPr lang="en-US" dirty="0"/>
              <a:t>) = covariance(</a:t>
            </a:r>
            <a:r>
              <a:rPr lang="en-US" dirty="0" err="1"/>
              <a:t>x,y</a:t>
            </a:r>
            <a:r>
              <a:rPr lang="en-US" dirty="0"/>
              <a:t>) = sum((y-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)*(x-</a:t>
            </a:r>
            <a:r>
              <a:rPr lang="en-US" dirty="0" err="1"/>
              <a:t>x</a:t>
            </a:r>
            <a:r>
              <a:rPr lang="en-US" baseline="-25000" dirty="0" err="1"/>
              <a:t>m</a:t>
            </a:r>
            <a:r>
              <a:rPr lang="en-US" dirty="0"/>
              <a:t>))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slope b</a:t>
            </a:r>
            <a:r>
              <a:rPr lang="en-US" baseline="-25000" dirty="0"/>
              <a:t>1</a:t>
            </a:r>
            <a:r>
              <a:rPr lang="en-US" dirty="0"/>
              <a:t> = </a:t>
            </a:r>
            <a:r>
              <a:rPr lang="en-US" dirty="0" err="1"/>
              <a:t>covar</a:t>
            </a:r>
            <a:r>
              <a:rPr lang="en-US" dirty="0"/>
              <a:t>(</a:t>
            </a:r>
            <a:r>
              <a:rPr lang="en-US" dirty="0" err="1"/>
              <a:t>x,y</a:t>
            </a:r>
            <a:r>
              <a:rPr lang="en-US" dirty="0"/>
              <a:t>) / var(x)</a:t>
            </a:r>
          </a:p>
          <a:p>
            <a:r>
              <a:rPr lang="en-US" dirty="0"/>
              <a:t>    intercept b</a:t>
            </a:r>
            <a:r>
              <a:rPr lang="en-US" baseline="-25000" dirty="0"/>
              <a:t>0</a:t>
            </a:r>
            <a:r>
              <a:rPr lang="en-US" dirty="0"/>
              <a:t> =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 - b</a:t>
            </a:r>
            <a:r>
              <a:rPr lang="en-US" baseline="-25000" dirty="0"/>
              <a:t>1</a:t>
            </a:r>
            <a:r>
              <a:rPr lang="en-US" dirty="0"/>
              <a:t>*</a:t>
            </a:r>
            <a:r>
              <a:rPr lang="en-US" dirty="0" err="1"/>
              <a:t>x</a:t>
            </a:r>
            <a:r>
              <a:rPr lang="en-US" baseline="-25000" dirty="0" err="1"/>
              <a:t>m</a:t>
            </a:r>
            <a:endParaRPr lang="en-US" baseline="-25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8DB97D-009D-4148-8872-89E0506D1946}"/>
              </a:ext>
            </a:extLst>
          </p:cNvPr>
          <p:cNvSpPr txBox="1"/>
          <p:nvPr/>
        </p:nvSpPr>
        <p:spPr>
          <a:xfrm>
            <a:off x="111512" y="5301761"/>
            <a:ext cx="29690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y-GB" dirty="0"/>
              <a:t>Standard Error of regression slope: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3EC09B-6448-7A4B-A837-82C57BDAC2F4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096" y="5728275"/>
            <a:ext cx="2517913" cy="7169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3EDFA0-A40B-C34E-AABE-E232B71AD4BB}"/>
              </a:ext>
            </a:extLst>
          </p:cNvPr>
          <p:cNvSpPr txBox="1"/>
          <p:nvPr/>
        </p:nvSpPr>
        <p:spPr>
          <a:xfrm>
            <a:off x="297340" y="6546574"/>
            <a:ext cx="5593057" cy="311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</a:t>
            </a:r>
            <a:r>
              <a:rPr lang="en-US" dirty="0" err="1"/>
              <a:t>sd</a:t>
            </a:r>
            <a:r>
              <a:rPr lang="en-US" dirty="0"/>
              <a:t>(...) is standard deviation, and r – correlation coefficient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710D6B5-E2B3-0946-9F82-1B2469879F1E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3905" y="4322416"/>
            <a:ext cx="1748491" cy="6426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632EDCC-7AAA-284A-8E96-9A90AE9F5A02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3470" y="4874501"/>
            <a:ext cx="3506915" cy="58086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8E6AE66-7E6F-714F-979D-2B12578D53C4}"/>
              </a:ext>
            </a:extLst>
          </p:cNvPr>
          <p:cNvSpPr txBox="1"/>
          <p:nvPr/>
        </p:nvSpPr>
        <p:spPr>
          <a:xfrm>
            <a:off x="7430462" y="5449714"/>
            <a:ext cx="47310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where:</a:t>
            </a:r>
          </a:p>
          <a:p>
            <a:r>
              <a:rPr lang="en-US" dirty="0"/>
              <a:t>SS = Sum of Squared </a:t>
            </a:r>
          </a:p>
          <a:p>
            <a:r>
              <a:rPr lang="en-US" dirty="0"/>
              <a:t>   RES – residual errors = diffs between model and points)</a:t>
            </a:r>
          </a:p>
          <a:p>
            <a:r>
              <a:rPr lang="en-US" dirty="0"/>
              <a:t>   TOT – total, diffs between mean and points</a:t>
            </a:r>
          </a:p>
          <a:p>
            <a:r>
              <a:rPr lang="en-US" dirty="0" err="1"/>
              <a:t>y_bar</a:t>
            </a:r>
            <a:r>
              <a:rPr lang="en-US" dirty="0"/>
              <a:t> – mean</a:t>
            </a:r>
          </a:p>
          <a:p>
            <a:r>
              <a:rPr lang="en-US" dirty="0" err="1"/>
              <a:t>y_hat</a:t>
            </a:r>
            <a:r>
              <a:rPr lang="en-US" dirty="0"/>
              <a:t> – model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29FDD4-BB0E-544E-9C05-846B6E3C4C40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3470" y="4156593"/>
            <a:ext cx="2586714" cy="6134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10920F9-460D-694A-83DF-F3ABFE1C9D99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86200" y="5685234"/>
            <a:ext cx="2056102" cy="8613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704D40A-2660-3B46-8A0F-487C5F3D5EF3}"/>
              </a:ext>
            </a:extLst>
          </p:cNvPr>
          <p:cNvSpPr txBox="1"/>
          <p:nvPr/>
        </p:nvSpPr>
        <p:spPr>
          <a:xfrm>
            <a:off x="3291613" y="5838091"/>
            <a:ext cx="509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417852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2A4687-0F9D-2040-B743-B6D0C15CC372}"/>
              </a:ext>
            </a:extLst>
          </p:cNvPr>
          <p:cNvSpPr txBox="1"/>
          <p:nvPr/>
        </p:nvSpPr>
        <p:spPr>
          <a:xfrm>
            <a:off x="-6538" y="78780"/>
            <a:ext cx="68052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Linear Regression - assumptions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A2B325-9A7B-0B49-8495-D29AAB5F4E6A}"/>
              </a:ext>
            </a:extLst>
          </p:cNvPr>
          <p:cNvSpPr txBox="1"/>
          <p:nvPr/>
        </p:nvSpPr>
        <p:spPr>
          <a:xfrm>
            <a:off x="-6538" y="903456"/>
            <a:ext cx="72147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Linearity</a:t>
            </a:r>
            <a:r>
              <a:rPr lang="en-US" dirty="0"/>
              <a:t>: The relationship between X and the mean of Y is linear.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Normality</a:t>
            </a:r>
            <a:r>
              <a:rPr lang="en-US" dirty="0"/>
              <a:t>: For any fixed value of X, Y is normally distributed. We presume that deviations </a:t>
            </a:r>
            <a:r>
              <a:rPr lang="el-GR" dirty="0"/>
              <a:t>ϵ</a:t>
            </a:r>
            <a:r>
              <a:rPr lang="en-US" baseline="-25000" dirty="0" err="1"/>
              <a:t>i</a:t>
            </a:r>
            <a:r>
              <a:rPr lang="en-US" dirty="0"/>
              <a:t> are picked from normal distribution. From this follows that the sampling distributions of slope and intercept (b</a:t>
            </a:r>
            <a:r>
              <a:rPr lang="en-US" baseline="-25000" dirty="0"/>
              <a:t>1</a:t>
            </a:r>
            <a:r>
              <a:rPr lang="en-US" dirty="0"/>
              <a:t> &amp; b</a:t>
            </a:r>
            <a:r>
              <a:rPr lang="en-US" baseline="-25000" dirty="0"/>
              <a:t>0</a:t>
            </a:r>
            <a:r>
              <a:rPr lang="en-US" dirty="0"/>
              <a:t>) are also normally distributed. </a:t>
            </a:r>
            <a:br>
              <a:rPr lang="en-US" dirty="0"/>
            </a:br>
            <a:r>
              <a:rPr lang="en-US" dirty="0"/>
              <a:t>Note:  even if the </a:t>
            </a:r>
            <a:r>
              <a:rPr lang="el-GR" dirty="0"/>
              <a:t>ϵ</a:t>
            </a:r>
            <a:r>
              <a:rPr lang="en-US" baseline="-25000" dirty="0" err="1"/>
              <a:t>i</a:t>
            </a:r>
            <a:r>
              <a:rPr lang="en-US" dirty="0"/>
              <a:t> are not Normally distributed, a general form of the central limit theorem tells us that the distributions of slope and intercept will be approximately normal if number "n" is big enough.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Independence</a:t>
            </a:r>
            <a:r>
              <a:rPr lang="en-US" dirty="0"/>
              <a:t>: Observations are independent of each other.</a:t>
            </a:r>
            <a:br>
              <a:rPr lang="en-US" dirty="0"/>
            </a:br>
            <a:r>
              <a:rPr lang="en-US" dirty="0"/>
              <a:t>We assume that our sample is a SRS (simple random sample) of size "n". This means that it consists of "n" points chosen from the population in such a way that every set of n individuals has an equal chance to be the sample actually selected.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Homoscedasticity</a:t>
            </a:r>
            <a:r>
              <a:rPr lang="en-US" dirty="0"/>
              <a:t>: The variance of residual is the same for any value of X.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39BF92-8268-4E40-ACE9-70CE046F2D3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36170" y="61195"/>
            <a:ext cx="3358662" cy="22991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9B6470-AAF1-5D4E-B4D8-BA9123DA26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642" y="4995543"/>
            <a:ext cx="2532186" cy="17584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546678-7616-7343-A512-26A00E1E4A3F}"/>
              </a:ext>
            </a:extLst>
          </p:cNvPr>
          <p:cNvSpPr txBox="1"/>
          <p:nvPr/>
        </p:nvSpPr>
        <p:spPr>
          <a:xfrm>
            <a:off x="8036170" y="2331560"/>
            <a:ext cx="4009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Linearity, normality,</a:t>
            </a:r>
          </a:p>
          <a:p>
            <a:r>
              <a:rPr lang="en-US" dirty="0"/>
              <a:t>same deviation ( same </a:t>
            </a:r>
            <a:r>
              <a:rPr lang="el-GR" dirty="0"/>
              <a:t>σ</a:t>
            </a:r>
            <a:r>
              <a:rPr lang="en-US" dirty="0"/>
              <a:t> ) - </a:t>
            </a:r>
            <a:r>
              <a:rPr lang="en-US" b="1" dirty="0">
                <a:solidFill>
                  <a:srgbClr val="0070C0"/>
                </a:solidFill>
              </a:rPr>
              <a:t>Homoscedasticity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B3F8E4-223D-2544-85D8-EF121FD7E66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96085" y="4966951"/>
            <a:ext cx="2514600" cy="18463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539BE3-D6A9-7146-A646-0D296C6BC282}"/>
              </a:ext>
            </a:extLst>
          </p:cNvPr>
          <p:cNvSpPr txBox="1"/>
          <p:nvPr/>
        </p:nvSpPr>
        <p:spPr>
          <a:xfrm>
            <a:off x="91642" y="4206377"/>
            <a:ext cx="2532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Heteroscedasticity</a:t>
            </a:r>
          </a:p>
          <a:p>
            <a:pPr algn="ctr"/>
            <a:r>
              <a:rPr lang="en-US" sz="1800" dirty="0"/>
              <a:t>Variance changes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614611-7427-7B48-B095-D5C8F07E74F4}"/>
              </a:ext>
            </a:extLst>
          </p:cNvPr>
          <p:cNvSpPr txBox="1"/>
          <p:nvPr/>
        </p:nvSpPr>
        <p:spPr>
          <a:xfrm>
            <a:off x="3123523" y="3960103"/>
            <a:ext cx="30597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Autocorrelation.</a:t>
            </a:r>
          </a:p>
          <a:p>
            <a:pPr algn="ctr"/>
            <a:r>
              <a:rPr lang="en-US" sz="1800" dirty="0"/>
              <a:t>Observations are NOT independent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625152-AB37-6141-A2CE-80D8F643880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44866" y="4057696"/>
            <a:ext cx="2700596" cy="26560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88A5A8-A307-A146-82E5-6D477EC3724E}"/>
              </a:ext>
            </a:extLst>
          </p:cNvPr>
          <p:cNvSpPr txBox="1"/>
          <p:nvPr/>
        </p:nvSpPr>
        <p:spPr>
          <a:xfrm>
            <a:off x="6682942" y="5890144"/>
            <a:ext cx="13532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Four sets of points – fit by the same line.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F3C0A43F-7D49-0042-BA76-12AB861385B9}"/>
              </a:ext>
            </a:extLst>
          </p:cNvPr>
          <p:cNvSpPr/>
          <p:nvPr/>
        </p:nvSpPr>
        <p:spPr>
          <a:xfrm rot="19902071">
            <a:off x="7965789" y="5660875"/>
            <a:ext cx="1198529" cy="2849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70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E10522-B5F6-B94F-B3D3-28A9BC049671}"/>
              </a:ext>
            </a:extLst>
          </p:cNvPr>
          <p:cNvSpPr txBox="1"/>
          <p:nvPr/>
        </p:nvSpPr>
        <p:spPr>
          <a:xfrm>
            <a:off x="111512" y="142019"/>
            <a:ext cx="5818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Linear Regression – Slope Error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AE97D27-5273-5047-95A4-1E94050CEEBE}"/>
              </a:ext>
            </a:extLst>
          </p:cNvPr>
          <p:cNvCxnSpPr>
            <a:cxnSpLocks/>
          </p:cNvCxnSpPr>
          <p:nvPr/>
        </p:nvCxnSpPr>
        <p:spPr>
          <a:xfrm flipV="1">
            <a:off x="98404" y="627852"/>
            <a:ext cx="2497015" cy="896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564E0AD-D6B5-414A-9E64-11E5F526B520}"/>
              </a:ext>
            </a:extLst>
          </p:cNvPr>
          <p:cNvCxnSpPr>
            <a:cxnSpLocks/>
          </p:cNvCxnSpPr>
          <p:nvPr/>
        </p:nvCxnSpPr>
        <p:spPr>
          <a:xfrm flipV="1">
            <a:off x="127709" y="991272"/>
            <a:ext cx="2497015" cy="896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B69458D-0D53-3143-86FE-16DCFA6A9080}"/>
              </a:ext>
            </a:extLst>
          </p:cNvPr>
          <p:cNvCxnSpPr>
            <a:cxnSpLocks/>
          </p:cNvCxnSpPr>
          <p:nvPr/>
        </p:nvCxnSpPr>
        <p:spPr>
          <a:xfrm flipV="1">
            <a:off x="174599" y="1407437"/>
            <a:ext cx="2497015" cy="896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ECD25A0-9D19-8641-8C1F-AB8490109AA6}"/>
              </a:ext>
            </a:extLst>
          </p:cNvPr>
          <p:cNvCxnSpPr>
            <a:cxnSpLocks/>
          </p:cNvCxnSpPr>
          <p:nvPr/>
        </p:nvCxnSpPr>
        <p:spPr>
          <a:xfrm>
            <a:off x="657997" y="2304253"/>
            <a:ext cx="1673653" cy="0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1BAE11-AAB1-9445-A18F-2F14C4583644}"/>
              </a:ext>
            </a:extLst>
          </p:cNvPr>
          <p:cNvCxnSpPr>
            <a:cxnSpLocks/>
          </p:cNvCxnSpPr>
          <p:nvPr/>
        </p:nvCxnSpPr>
        <p:spPr>
          <a:xfrm>
            <a:off x="2276033" y="772376"/>
            <a:ext cx="0" cy="706214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19F1A04-855E-9F49-BD3F-300C8B596C14}"/>
              </a:ext>
            </a:extLst>
          </p:cNvPr>
          <p:cNvCxnSpPr>
            <a:cxnSpLocks/>
          </p:cNvCxnSpPr>
          <p:nvPr/>
        </p:nvCxnSpPr>
        <p:spPr>
          <a:xfrm>
            <a:off x="657998" y="1372241"/>
            <a:ext cx="0" cy="706214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1706A93-D4B8-2143-A90A-2422176F19F4}"/>
              </a:ext>
            </a:extLst>
          </p:cNvPr>
          <p:cNvCxnSpPr>
            <a:cxnSpLocks/>
          </p:cNvCxnSpPr>
          <p:nvPr/>
        </p:nvCxnSpPr>
        <p:spPr>
          <a:xfrm flipV="1">
            <a:off x="657998" y="865294"/>
            <a:ext cx="1618035" cy="121316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5C32EF6-65BA-CD4E-8E71-6B9D39DEF7C6}"/>
              </a:ext>
            </a:extLst>
          </p:cNvPr>
          <p:cNvCxnSpPr>
            <a:cxnSpLocks/>
          </p:cNvCxnSpPr>
          <p:nvPr/>
        </p:nvCxnSpPr>
        <p:spPr>
          <a:xfrm>
            <a:off x="657997" y="1372241"/>
            <a:ext cx="1647341" cy="1063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F8BD0B0-CDFB-BD4D-836A-EE8BB2A4A40E}"/>
              </a:ext>
            </a:extLst>
          </p:cNvPr>
          <p:cNvSpPr txBox="1"/>
          <p:nvPr/>
        </p:nvSpPr>
        <p:spPr>
          <a:xfrm>
            <a:off x="2409594" y="642528"/>
            <a:ext cx="946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2</a:t>
            </a:r>
            <a:r>
              <a:rPr lang="el-GR" sz="3200" dirty="0"/>
              <a:t>σ</a:t>
            </a:r>
            <a:r>
              <a:rPr lang="el-GR" sz="3600" baseline="-25000" dirty="0"/>
              <a:t>ε</a:t>
            </a:r>
            <a:endParaRPr lang="en-US" sz="3600" baseline="-25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79428E9-5782-DB47-88C2-2214E46225D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15271" y="4021207"/>
            <a:ext cx="1567224" cy="8073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71C55B9-B5E8-864E-8B20-6250579F40E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3609" y="537374"/>
            <a:ext cx="3699186" cy="205890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1A30449-E4BB-4D43-8FF5-6DCFD983C67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3610" y="3677004"/>
            <a:ext cx="3699185" cy="204469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76E6D6C-B61B-454F-944C-ACC545F2030F}"/>
              </a:ext>
            </a:extLst>
          </p:cNvPr>
          <p:cNvSpPr txBox="1"/>
          <p:nvPr/>
        </p:nvSpPr>
        <p:spPr>
          <a:xfrm>
            <a:off x="3857173" y="627852"/>
            <a:ext cx="393318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do not know real population </a:t>
            </a:r>
            <a:r>
              <a:rPr lang="el-GR" sz="1800" b="1" dirty="0">
                <a:solidFill>
                  <a:srgbClr val="0070C0"/>
                </a:solidFill>
              </a:rPr>
              <a:t>σ</a:t>
            </a:r>
            <a:r>
              <a:rPr lang="el-GR" dirty="0"/>
              <a:t>, </a:t>
            </a:r>
            <a:r>
              <a:rPr lang="en-US" dirty="0"/>
              <a:t>we use the estimated model standard deviation </a:t>
            </a:r>
            <a:r>
              <a:rPr lang="en-US" sz="1800" b="1" dirty="0">
                <a:solidFill>
                  <a:srgbClr val="0070C0"/>
                </a:solidFill>
              </a:rPr>
              <a:t>s</a:t>
            </a:r>
            <a:r>
              <a:rPr lang="en-US" dirty="0"/>
              <a:t>.</a:t>
            </a:r>
          </a:p>
          <a:p>
            <a:r>
              <a:rPr lang="en-US" dirty="0"/>
              <a:t>When we do this, we move from the Normal distribution to </a:t>
            </a:r>
            <a:r>
              <a:rPr lang="en-US" sz="1800" b="1" dirty="0">
                <a:solidFill>
                  <a:srgbClr val="0070C0"/>
                </a:solidFill>
              </a:rPr>
              <a:t>t</a:t>
            </a:r>
            <a:r>
              <a:rPr lang="en-US" dirty="0"/>
              <a:t>-distributions with degrees of freedom </a:t>
            </a:r>
            <a:r>
              <a:rPr lang="en-US" sz="1800" b="1" dirty="0">
                <a:solidFill>
                  <a:srgbClr val="0070C0"/>
                </a:solidFill>
              </a:rPr>
              <a:t>n – 2</a:t>
            </a:r>
            <a:r>
              <a:rPr lang="en-US" dirty="0"/>
              <a:t>, the degrees of freedom of </a:t>
            </a:r>
            <a:r>
              <a:rPr lang="en-US" sz="1800" b="1" dirty="0">
                <a:solidFill>
                  <a:srgbClr val="0070C0"/>
                </a:solidFill>
              </a:rPr>
              <a:t>s</a:t>
            </a:r>
            <a:r>
              <a:rPr lang="en-US" dirty="0"/>
              <a:t>. 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8890555-5BD1-C645-BA55-41491ACDE3B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35636" y="2036458"/>
            <a:ext cx="2247900" cy="9779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E21FD7D-5AA7-CB4B-A821-DCEC0505CB33}"/>
              </a:ext>
            </a:extLst>
          </p:cNvPr>
          <p:cNvSpPr txBox="1"/>
          <p:nvPr/>
        </p:nvSpPr>
        <p:spPr>
          <a:xfrm>
            <a:off x="3874936" y="2981937"/>
            <a:ext cx="382837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confidence interval for the slope </a:t>
            </a:r>
            <a:r>
              <a:rPr lang="el-GR" dirty="0"/>
              <a:t>β1 </a:t>
            </a:r>
            <a:endParaRPr lang="en-US" dirty="0"/>
          </a:p>
          <a:p>
            <a:r>
              <a:rPr lang="en-US" dirty="0"/>
              <a:t>is b1 ± t*SEb1</a:t>
            </a:r>
          </a:p>
          <a:p>
            <a:r>
              <a:rPr lang="en-US" dirty="0"/>
              <a:t>In this expression, t is the value for the t-distribution density curve with (n – 2) degrees of freedom with area between [ −t, t ].</a:t>
            </a:r>
          </a:p>
          <a:p>
            <a:endParaRPr lang="en-US" dirty="0"/>
          </a:p>
          <a:p>
            <a:r>
              <a:rPr lang="en-US" dirty="0"/>
              <a:t>To test the hypothesis H0: </a:t>
            </a:r>
            <a:r>
              <a:rPr lang="el-GR" dirty="0"/>
              <a:t>β1 = 0, </a:t>
            </a:r>
            <a:endParaRPr lang="en-US" dirty="0"/>
          </a:p>
          <a:p>
            <a:r>
              <a:rPr lang="en-US" dirty="0"/>
              <a:t>compute the test statistic :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059F626-D94C-FB48-98F6-217410EE458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84651" y="4610032"/>
            <a:ext cx="1301316" cy="623467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F8E5AEB-937E-5848-8B40-7D0F30BB4EA3}"/>
              </a:ext>
            </a:extLst>
          </p:cNvPr>
          <p:cNvCxnSpPr/>
          <p:nvPr/>
        </p:nvCxnSpPr>
        <p:spPr>
          <a:xfrm>
            <a:off x="7896744" y="142019"/>
            <a:ext cx="0" cy="6659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289CBC-ADDB-CB43-8685-C6EFA2492E58}"/>
              </a:ext>
            </a:extLst>
          </p:cNvPr>
          <p:cNvCxnSpPr>
            <a:cxnSpLocks/>
          </p:cNvCxnSpPr>
          <p:nvPr/>
        </p:nvCxnSpPr>
        <p:spPr>
          <a:xfrm>
            <a:off x="3675927" y="891059"/>
            <a:ext cx="0" cy="5910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C12B00A-09D0-104E-8206-F76E206039CA}"/>
              </a:ext>
            </a:extLst>
          </p:cNvPr>
          <p:cNvSpPr txBox="1"/>
          <p:nvPr/>
        </p:nvSpPr>
        <p:spPr>
          <a:xfrm>
            <a:off x="131390" y="5168103"/>
            <a:ext cx="338158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</a:t>
            </a:r>
            <a:br>
              <a:rPr lang="en-US" dirty="0"/>
            </a:br>
            <a:r>
              <a:rPr lang="en-US" dirty="0"/>
              <a:t>even if the </a:t>
            </a:r>
            <a:r>
              <a:rPr lang="el-GR" dirty="0"/>
              <a:t>ϵ</a:t>
            </a:r>
            <a:r>
              <a:rPr lang="en-US" baseline="-25000" dirty="0" err="1"/>
              <a:t>i</a:t>
            </a:r>
            <a:r>
              <a:rPr lang="en-US" dirty="0"/>
              <a:t> are not Normally distributed, a general form of the central limit theorem tells us that the distributions of slope and intercept will be approximately Normal if number "n" is big enough.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8EDA2B-4FB7-0A4C-B540-E9E263DFF33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-701163" y="1555548"/>
            <a:ext cx="2049874" cy="5207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2CE4B6D-249F-934A-84F2-003C6580AAFA}"/>
              </a:ext>
            </a:extLst>
          </p:cNvPr>
          <p:cNvSpPr txBox="1"/>
          <p:nvPr/>
        </p:nvSpPr>
        <p:spPr>
          <a:xfrm>
            <a:off x="103813" y="2944257"/>
            <a:ext cx="34091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ϵ</a:t>
            </a:r>
            <a:r>
              <a:rPr lang="en-US" baseline="-25000" dirty="0" err="1"/>
              <a:t>i</a:t>
            </a:r>
            <a:r>
              <a:rPr lang="en-US" dirty="0"/>
              <a:t> are Normally distributed with standard error </a:t>
            </a:r>
            <a:r>
              <a:rPr lang="el-GR" dirty="0"/>
              <a:t>σ</a:t>
            </a:r>
            <a:r>
              <a:rPr lang="en-US" dirty="0"/>
              <a:t>. "x" is distributed uniformly ? </a:t>
            </a:r>
          </a:p>
          <a:p>
            <a:r>
              <a:rPr lang="en-US" dirty="0"/>
              <a:t>The error of the slope is calculated as: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87C08F-160A-BD4B-A13F-959A11A9C017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590" y="3754859"/>
            <a:ext cx="1854200" cy="9779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98F0F1A-E865-2647-B770-199283188C70}"/>
              </a:ext>
            </a:extLst>
          </p:cNvPr>
          <p:cNvSpPr txBox="1"/>
          <p:nvPr/>
        </p:nvSpPr>
        <p:spPr>
          <a:xfrm>
            <a:off x="3747592" y="5305125"/>
            <a:ext cx="408394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 42 points, </a:t>
            </a:r>
            <a:r>
              <a:rPr lang="en-US" dirty="0" err="1"/>
              <a:t>df</a:t>
            </a:r>
            <a:r>
              <a:rPr lang="en-US" dirty="0"/>
              <a:t>= n-2 = 40.</a:t>
            </a:r>
          </a:p>
          <a:p>
            <a:r>
              <a:rPr lang="en-US" dirty="0"/>
              <a:t>Looking for a critical value in t-test table for </a:t>
            </a:r>
            <a:r>
              <a:rPr lang="en-US" dirty="0" err="1"/>
              <a:t>df</a:t>
            </a:r>
            <a:r>
              <a:rPr lang="en-US" dirty="0"/>
              <a:t>=40, P=0.05, two-tails combined: cv = 2.021 </a:t>
            </a:r>
          </a:p>
          <a:p>
            <a:endParaRPr lang="en-US" sz="800" dirty="0"/>
          </a:p>
          <a:p>
            <a:r>
              <a:rPr lang="en-US" dirty="0"/>
              <a:t>Then if  slope b1=35, error SEb1=10,</a:t>
            </a:r>
          </a:p>
          <a:p>
            <a:r>
              <a:rPr lang="en-US" dirty="0"/>
              <a:t>then t = 35/10 = 3.5 &gt;&gt; 2.021, so we reject the null hypothesis that slope = 0</a:t>
            </a:r>
          </a:p>
        </p:txBody>
      </p:sp>
    </p:spTree>
    <p:extLst>
      <p:ext uri="{BB962C8B-B14F-4D97-AF65-F5344CB8AC3E}">
        <p14:creationId xmlns:p14="http://schemas.microsoft.com/office/powerpoint/2010/main" val="3732203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E10522-B5F6-B94F-B3D3-28A9BC049671}"/>
              </a:ext>
            </a:extLst>
          </p:cNvPr>
          <p:cNvSpPr txBox="1"/>
          <p:nvPr/>
        </p:nvSpPr>
        <p:spPr>
          <a:xfrm>
            <a:off x="111512" y="142019"/>
            <a:ext cx="6196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Linear Regression – Slope Error via "r"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ADAEDA-D4AD-9141-A09B-7C565EA7A341}"/>
              </a:ext>
            </a:extLst>
          </p:cNvPr>
          <p:cNvSpPr txBox="1"/>
          <p:nvPr/>
        </p:nvSpPr>
        <p:spPr>
          <a:xfrm>
            <a:off x="111512" y="743013"/>
            <a:ext cx="29690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y-GB" dirty="0"/>
              <a:t>Standard Error of regression slope: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6233A9-83CF-DB44-8B23-1F0F7ED778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096" y="1169527"/>
            <a:ext cx="2517913" cy="7169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D910E3-98A7-EE44-8960-12777007A84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1409" y="1196219"/>
            <a:ext cx="2273967" cy="5928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715A33-D11F-9A4E-AAEF-AABC888FB025}"/>
              </a:ext>
            </a:extLst>
          </p:cNvPr>
          <p:cNvSpPr txBox="1"/>
          <p:nvPr/>
        </p:nvSpPr>
        <p:spPr>
          <a:xfrm>
            <a:off x="3007580" y="1325490"/>
            <a:ext cx="55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 ...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6F72C2-2F51-5244-905A-545DAC4338C5}"/>
              </a:ext>
            </a:extLst>
          </p:cNvPr>
          <p:cNvSpPr txBox="1"/>
          <p:nvPr/>
        </p:nvSpPr>
        <p:spPr>
          <a:xfrm>
            <a:off x="297340" y="1987826"/>
            <a:ext cx="601069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</a:t>
            </a:r>
            <a:r>
              <a:rPr lang="en-US" dirty="0" err="1"/>
              <a:t>sd</a:t>
            </a:r>
            <a:r>
              <a:rPr lang="en-US" dirty="0"/>
              <a:t>(...) is standard deviation, and </a:t>
            </a:r>
            <a:r>
              <a:rPr lang="en-US" b="1" dirty="0">
                <a:solidFill>
                  <a:srgbClr val="0070C0"/>
                </a:solidFill>
              </a:rPr>
              <a:t>r – correlation coefficient.</a:t>
            </a:r>
          </a:p>
          <a:p>
            <a:endParaRPr lang="en-US" dirty="0"/>
          </a:p>
          <a:p>
            <a:r>
              <a:rPr lang="en-US" sz="900" dirty="0">
                <a:hlinkClick r:id="rId4"/>
              </a:rPr>
              <a:t>https://stats.stackexchange.com/questions/342632/how-to-understand-se-of-regression-slope-equation/342672</a:t>
            </a:r>
            <a:r>
              <a:rPr lang="en-US" sz="900" dirty="0"/>
              <a:t>   </a:t>
            </a:r>
          </a:p>
          <a:p>
            <a:endParaRPr lang="en-US" sz="900" dirty="0"/>
          </a:p>
          <a:p>
            <a:r>
              <a:rPr lang="en-US" sz="900" dirty="0">
                <a:hlinkClick r:id="rId5"/>
              </a:rPr>
              <a:t>https://</a:t>
            </a:r>
            <a:r>
              <a:rPr lang="en-US" sz="900" dirty="0" err="1">
                <a:hlinkClick r:id="rId5"/>
              </a:rPr>
              <a:t>www.slideserve.com</a:t>
            </a:r>
            <a:r>
              <a:rPr lang="en-US" sz="900" dirty="0">
                <a:hlinkClick r:id="rId5"/>
              </a:rPr>
              <a:t>/</a:t>
            </a:r>
            <a:r>
              <a:rPr lang="en-US" sz="900" dirty="0" err="1">
                <a:hlinkClick r:id="rId5"/>
              </a:rPr>
              <a:t>karis</a:t>
            </a:r>
            <a:r>
              <a:rPr lang="en-US" sz="900" dirty="0">
                <a:hlinkClick r:id="rId5"/>
              </a:rPr>
              <a:t>/introduction-to-linear-regression-and-correlation-analysis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CC820C-4D0A-AF40-AC5C-3ED4DFF13B44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3033" y="3281104"/>
            <a:ext cx="4126070" cy="28148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236F15-62B7-AF4E-B96E-6A9F63CC111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62665" y="283507"/>
            <a:ext cx="3352800" cy="20839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93E32CC-BB1F-3349-9FE1-CC681C8B727C}"/>
              </a:ext>
            </a:extLst>
          </p:cNvPr>
          <p:cNvSpPr txBox="1"/>
          <p:nvPr/>
        </p:nvSpPr>
        <p:spPr>
          <a:xfrm>
            <a:off x="7458092" y="3199838"/>
            <a:ext cx="35130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df</a:t>
            </a:r>
            <a:r>
              <a:rPr lang="en-US" b="1" dirty="0">
                <a:solidFill>
                  <a:srgbClr val="0070C0"/>
                </a:solidFill>
              </a:rPr>
              <a:t> = degrees of freedom = n-2</a:t>
            </a:r>
            <a:endParaRPr lang="en-US" dirty="0"/>
          </a:p>
          <a:p>
            <a:r>
              <a:rPr lang="en-US" dirty="0"/>
              <a:t>If we have 2 points – we can draw only </a:t>
            </a:r>
          </a:p>
          <a:p>
            <a:r>
              <a:rPr lang="en-US" dirty="0"/>
              <a:t>one line, no freedom, </a:t>
            </a:r>
            <a:r>
              <a:rPr lang="en-US" dirty="0" err="1"/>
              <a:t>df</a:t>
            </a:r>
            <a:r>
              <a:rPr lang="en-US" dirty="0"/>
              <a:t> = 0. </a:t>
            </a:r>
            <a:br>
              <a:rPr lang="en-US" dirty="0"/>
            </a:br>
            <a:r>
              <a:rPr lang="en-US" dirty="0"/>
              <a:t>As we add points – we get more freedom.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65BE08-7070-8E4A-A3A9-F63F5F75770D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4951" y="5528869"/>
            <a:ext cx="2155695" cy="11063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7F0FE4-24AE-1E47-9DA5-512B379E120D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4951" y="4296229"/>
            <a:ext cx="2155695" cy="110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468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BA6B30F-33C1-B247-83FA-38C969C91770}"/>
              </a:ext>
            </a:extLst>
          </p:cNvPr>
          <p:cNvSpPr txBox="1"/>
          <p:nvPr/>
        </p:nvSpPr>
        <p:spPr>
          <a:xfrm>
            <a:off x="109728" y="121920"/>
            <a:ext cx="7522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Multidimensional Linear Regression (MLR)</a:t>
            </a:r>
          </a:p>
          <a:p>
            <a:r>
              <a:rPr lang="en-US" sz="2800" b="1" dirty="0"/>
              <a:t>(a.k.a. Multiple Linear Regression)</a:t>
            </a:r>
          </a:p>
        </p:txBody>
      </p:sp>
      <p:pic>
        <p:nvPicPr>
          <p:cNvPr id="11266" name="Picture 2" descr="Multiple Linear Regression and Visualization in Python | Pythonic Excursions">
            <a:extLst>
              <a:ext uri="{FF2B5EF4-FFF2-40B4-BE49-F238E27FC236}">
                <a16:creationId xmlns:a16="http://schemas.microsoft.com/office/drawing/2014/main" id="{E97E34B9-790E-8540-BB0C-6F1040908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08940" y="187452"/>
            <a:ext cx="4051300" cy="200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C4566C-6247-5344-8626-770D30319EE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2461" y="1190752"/>
            <a:ext cx="4140200" cy="571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CFBC7E-1D74-114C-9ED5-C112605CF3F2}"/>
              </a:ext>
            </a:extLst>
          </p:cNvPr>
          <p:cNvSpPr txBox="1"/>
          <p:nvPr/>
        </p:nvSpPr>
        <p:spPr>
          <a:xfrm>
            <a:off x="633494" y="1993433"/>
            <a:ext cx="49438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people recommend to preprocess data as following:</a:t>
            </a:r>
          </a:p>
          <a:p>
            <a:r>
              <a:rPr lang="en-US" dirty="0"/>
              <a:t> - center variables to their mean values</a:t>
            </a:r>
          </a:p>
          <a:p>
            <a:r>
              <a:rPr lang="en-US" dirty="0"/>
              <a:t> - scale</a:t>
            </a:r>
          </a:p>
          <a:p>
            <a:endParaRPr lang="en-US" dirty="0"/>
          </a:p>
          <a:p>
            <a:r>
              <a:rPr lang="en-US" dirty="0"/>
              <a:t>Others argue that this doesn't improve the model.</a:t>
            </a:r>
          </a:p>
          <a:p>
            <a:r>
              <a:rPr lang="en-US" dirty="0"/>
              <a:t> - </a:t>
            </a:r>
            <a:r>
              <a:rPr lang="en-US" dirty="0">
                <a:hlinkClick r:id="rId4"/>
              </a:rPr>
              <a:t>https://stats.stackexchange.com/questions/29781/when-conducting-multiple-regression-when-should-you-center-your-predictor-varia</a:t>
            </a:r>
            <a:r>
              <a:rPr lang="en-US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988221-3460-8648-BB3D-D2684F454CB1}"/>
              </a:ext>
            </a:extLst>
          </p:cNvPr>
          <p:cNvSpPr txBox="1"/>
          <p:nvPr/>
        </p:nvSpPr>
        <p:spPr>
          <a:xfrm>
            <a:off x="7044400" y="3429000"/>
            <a:ext cx="48158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Another problem - Multicollinearity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Multicollinearity</a:t>
            </a:r>
            <a:r>
              <a:rPr lang="en-US" dirty="0"/>
              <a:t> - one predictor variable can be linearly predicted from the others with a substantial degree of accuracy.</a:t>
            </a:r>
          </a:p>
          <a:p>
            <a:endParaRPr lang="en-US" dirty="0"/>
          </a:p>
          <a:p>
            <a:r>
              <a:rPr lang="en-US" dirty="0"/>
              <a:t>In this situation, the coefficient estimates of the multiple regression may change erratically in response to small changes in the model or the data. 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Multicollinearity</a:t>
            </a:r>
            <a:r>
              <a:rPr lang="en-US" dirty="0"/>
              <a:t> does not reduce the predictive power or reliability of the model as a whole, at least within the sample data set; it only affects calculations regarding individual predictors.</a:t>
            </a:r>
          </a:p>
        </p:txBody>
      </p:sp>
    </p:spTree>
    <p:extLst>
      <p:ext uri="{BB962C8B-B14F-4D97-AF65-F5344CB8AC3E}">
        <p14:creationId xmlns:p14="http://schemas.microsoft.com/office/powerpoint/2010/main" val="1797589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A578F5-0048-3945-B581-5FC45F05D21B}"/>
              </a:ext>
            </a:extLst>
          </p:cNvPr>
          <p:cNvSpPr txBox="1"/>
          <p:nvPr/>
        </p:nvSpPr>
        <p:spPr>
          <a:xfrm>
            <a:off x="256032" y="1047476"/>
            <a:ext cx="857097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not add dummy variables which could cause multicollinearity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Try subsets of training data – watch how stable the coefficients 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Leave the model as is, despite multicollinearity. It will still work well as a predictor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Try dropping one of the variables – see if coefficients for others will change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Get more data – thus get better estimates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Mean-center the predictor variables. Generating polynomial terms or interaction terms can cause some multicollinearity otherwise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Standardize your independent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has also been suggested that using the Shapley value, a game theory tool, the model could account for the effects of multicollinearity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Ridge regression or principal component regression or partial least squares regression can be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the correlated explanators are different lagged values of the same underlying explanator, </a:t>
            </a:r>
            <a:br>
              <a:rPr lang="en-US" dirty="0"/>
            </a:br>
            <a:r>
              <a:rPr lang="en-US" dirty="0"/>
              <a:t>then a distributed lag technique can be used, </a:t>
            </a:r>
            <a:br>
              <a:rPr lang="en-US" dirty="0"/>
            </a:br>
            <a:r>
              <a:rPr lang="en-US" dirty="0"/>
              <a:t>imposing a general structure on the relative values of the coefficients to be estimated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DBE239-3E71-C048-B7AE-BE26616C3ED5}"/>
              </a:ext>
            </a:extLst>
          </p:cNvPr>
          <p:cNvSpPr txBox="1"/>
          <p:nvPr/>
        </p:nvSpPr>
        <p:spPr>
          <a:xfrm>
            <a:off x="256032" y="97536"/>
            <a:ext cx="6900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Remedies to Multicollinearity problem.</a:t>
            </a:r>
          </a:p>
        </p:txBody>
      </p:sp>
    </p:spTree>
    <p:extLst>
      <p:ext uri="{BB962C8B-B14F-4D97-AF65-F5344CB8AC3E}">
        <p14:creationId xmlns:p14="http://schemas.microsoft.com/office/powerpoint/2010/main" val="1457476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/>
        </p:nvSpPr>
        <p:spPr>
          <a:xfrm>
            <a:off x="0" y="0"/>
            <a:ext cx="7025400" cy="3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Regression: Ridge, LASSO, Elastic Net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Multivariate (multiple) Linear Regression Regularization.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we have a OLS (Ordinary Linear Squared) regression where two parameters x1 &amp; x2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not orthogonal, but in fact highly correlated.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there may be is infinite number of coefficients which will fit the model.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example, (x1 - x2), (10*x1 - 10*x2), (100*x1 - 100*x2), etc.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are trying to minimize the cost function in the multidimensional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space of coefficients, we will get an infinite diagonal groove (ridge) for x1=x2.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place at the bottom of this ridge is equally good for us.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we will get a big variability in possible values of coefficients for x1 &amp; x2.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solution will be unstable.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reduce this variability by adding additional regularization factor like this: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8703" y="4231125"/>
            <a:ext cx="3549800" cy="181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5201" y="223025"/>
            <a:ext cx="5296801" cy="2665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275" y="3345300"/>
            <a:ext cx="5267325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 txBox="1"/>
          <p:nvPr/>
        </p:nvSpPr>
        <p:spPr>
          <a:xfrm>
            <a:off x="0" y="4231125"/>
            <a:ext cx="7025400" cy="26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we minimizing this expression, bigger  "lambda" value will cause smaller "beta" values, thus keeping the coefficients "beta" from becoming too large.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called "</a:t>
            </a:r>
            <a:r>
              <a:rPr lang="en-US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Ridge Regression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". It changes the infinitely long ridge into a local minimum.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US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Ridge Regression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 add a "</a:t>
            </a:r>
            <a:r>
              <a:rPr lang="en-US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regularization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 term as sum of squares (</a:t>
            </a:r>
            <a:r>
              <a:rPr lang="en-US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L2 norm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instead we use </a:t>
            </a:r>
            <a:r>
              <a:rPr lang="en-US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L1 norm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(sum of abs values) - it is called "LASSO Regression",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lang="en-US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LASSO = Least Absolute Shrinkage and Selection Operator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LASSO favors solutions on the tips of the bounding surface for coefficients, where some of coefficients are zero. Thus it favors "sparse" solutions.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combination of Ridge Regression and LASSO Regression is called "</a:t>
            </a:r>
            <a:r>
              <a:rPr lang="en-US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Elastic Net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7090350" y="3025700"/>
            <a:ext cx="4906500" cy="5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Ridge Regression is called Ridge ...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7173950" y="6151750"/>
            <a:ext cx="4906500" cy="5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LASSO favors sparse solutions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29551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2834</TotalTime>
  <Words>1639</Words>
  <Application>Microsoft Macintosh PowerPoint</Application>
  <PresentationFormat>Widescreen</PresentationFormat>
  <Paragraphs>140</Paragraphs>
  <Slides>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281</cp:revision>
  <cp:lastPrinted>2020-09-21T17:22:59Z</cp:lastPrinted>
  <dcterms:modified xsi:type="dcterms:W3CDTF">2021-03-13T03:39:10Z</dcterms:modified>
</cp:coreProperties>
</file>