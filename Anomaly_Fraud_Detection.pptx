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16"/>
    <p:restoredTop sz="94636"/>
  </p:normalViewPr>
  <p:slideViewPr>
    <p:cSldViewPr snapToGrid="0" snapToObjects="1">
      <p:cViewPr varScale="1">
        <p:scale>
          <a:sx n="88" d="100"/>
          <a:sy n="88" d="100"/>
        </p:scale>
        <p:origin x="2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497c60d2de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497c60d2de_0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g497c60d2de_0_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Benford%27s_law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ieeexplore.ieee.org/document/8782457" TargetMode="External"/><Relationship Id="rId3" Type="http://schemas.openxmlformats.org/officeDocument/2006/relationships/hyperlink" Target="https://pages.dataiku.com/hubfs/Guidebooks/Anomaly%20Detection/anomaly-detection-guidebook.pdf" TargetMode="External"/><Relationship Id="rId7" Type="http://schemas.openxmlformats.org/officeDocument/2006/relationships/hyperlink" Target="https://github.com/dachosen1/Feature-Engineering-for-Fraud-Detection" TargetMode="External"/><Relationship Id="rId2" Type="http://schemas.openxmlformats.org/officeDocument/2006/relationships/hyperlink" Target="https://mapr.com/practical-machine-learning-new-look-anomaly-detection/assets/practical-machine-learning-new-look-anomaly-detection.pdf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towardsdatascience.com/how-to-create-good-features-in-fraud-detection-de6562f249ef" TargetMode="External"/><Relationship Id="rId5" Type="http://schemas.openxmlformats.org/officeDocument/2006/relationships/hyperlink" Target="https://www.kaggle.com/mlg-ulb/creditcardfraud" TargetMode="External"/><Relationship Id="rId10" Type="http://schemas.openxmlformats.org/officeDocument/2006/relationships/hyperlink" Target="https://stats.stackexchange.com/questions/1001/is-spearmans-correlation" TargetMode="External"/><Relationship Id="rId4" Type="http://schemas.openxmlformats.org/officeDocument/2006/relationships/hyperlink" Target="https://stats.stackexchange.com/questions/141017/how-to-prepare-construct-features-for-anomaly-detection-network-security-data" TargetMode="External"/><Relationship Id="rId9" Type="http://schemas.openxmlformats.org/officeDocument/2006/relationships/hyperlink" Target="https://en.wikipedia.org/wiki/Kolmogorov%E2%80%93Smirnov_tes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>
          <a:xfrm>
            <a:off x="0" y="663405"/>
            <a:ext cx="8020200" cy="4067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Anomalies a.k.a. outliers, novelties, noise, deviations, exceptions.</a:t>
            </a:r>
            <a:endParaRPr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Examples: </a:t>
            </a:r>
            <a:r>
              <a:rPr lang="en-US" sz="1800" b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fraud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 structural defect, medical problems or errors in a text.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Anomaly detection techniques: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Unsupervised </a:t>
            </a:r>
            <a:b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Supervised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Semi-supervised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Anomalies may be not rare, for example, bursts of intrusion activity. 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Unsupervised methods may fail in these cases. 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 of methods: 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clustering (SVM, etc.)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represent state as image, use </a:t>
            </a:r>
            <a:r>
              <a:rPr lang="en-US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ConvoNet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detect anomaly "visually"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" name="Google Shape;89;p13"/>
          <p:cNvPicPr preferRelativeResize="0"/>
          <p:nvPr/>
        </p:nvPicPr>
        <p:blipFill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12100" y="0"/>
            <a:ext cx="4079898" cy="2598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38700" y="2909400"/>
            <a:ext cx="3953312" cy="182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76125" y="5041725"/>
            <a:ext cx="1951850" cy="16411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54B93EE-149F-334C-A7E5-2E6A9DC90DE6}"/>
              </a:ext>
            </a:extLst>
          </p:cNvPr>
          <p:cNvSpPr txBox="1"/>
          <p:nvPr/>
        </p:nvSpPr>
        <p:spPr>
          <a:xfrm>
            <a:off x="0" y="0"/>
            <a:ext cx="58637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Anomaly Detection, Fraud Detection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/>
        </p:nvSpPr>
        <p:spPr>
          <a:xfrm>
            <a:off x="0" y="0"/>
            <a:ext cx="12001500" cy="6691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/>
              <a:t>Outlier Detection methods:</a:t>
            </a:r>
            <a:endParaRPr sz="3000" b="1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 dirty="0"/>
              <a:t>Density-based techniques (k-nearest neighbor, local outlier factor,  isolation forests, etc.).</a:t>
            </a:r>
            <a:endParaRPr sz="18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 dirty="0"/>
              <a:t>Subspace- and correlation-based outlier detection for high-dimensional data.</a:t>
            </a:r>
            <a:endParaRPr sz="18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 dirty="0"/>
              <a:t>One-class support vector machines.</a:t>
            </a:r>
            <a:endParaRPr sz="18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 dirty="0"/>
              <a:t>Replicator neural networks.</a:t>
            </a:r>
            <a:endParaRPr sz="18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 dirty="0"/>
              <a:t>Bayesian Networks.</a:t>
            </a:r>
            <a:endParaRPr sz="18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 dirty="0"/>
              <a:t>Hidden Markov models (HMMs).</a:t>
            </a:r>
            <a:endParaRPr sz="18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 dirty="0"/>
              <a:t>Cluster analysis-based outlier detection.</a:t>
            </a:r>
            <a:endParaRPr sz="18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 dirty="0"/>
              <a:t>Deviations from association rules and frequent </a:t>
            </a:r>
            <a:r>
              <a:rPr lang="en-US" sz="1800" dirty="0" err="1"/>
              <a:t>itemsets</a:t>
            </a:r>
            <a:r>
              <a:rPr lang="en-US" sz="1800" dirty="0"/>
              <a:t>.</a:t>
            </a:r>
            <a:endParaRPr sz="18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 dirty="0"/>
              <a:t>Fuzzy logic-based outlier detection.</a:t>
            </a:r>
            <a:endParaRPr sz="18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 dirty="0"/>
              <a:t>Ensemble techniques, using feature bagging, score normalization, and different sources of diversity.</a:t>
            </a:r>
          </a:p>
          <a:p>
            <a:pPr marL="457200" lvl="0" indent="-342900">
              <a:buSzPts val="1800"/>
              <a:buChar char="●"/>
            </a:pPr>
            <a:r>
              <a:rPr lang="en-US" sz="1800" dirty="0" err="1"/>
              <a:t>Benford's</a:t>
            </a:r>
            <a:r>
              <a:rPr lang="en-US" sz="1800" dirty="0"/>
              <a:t> law - </a:t>
            </a:r>
            <a:r>
              <a:rPr lang="en-US" sz="1800" dirty="0">
                <a:hlinkClick r:id="rId3"/>
              </a:rPr>
              <a:t>https://en.wikipedia.org/wiki/Benford%27s_law</a:t>
            </a:r>
            <a:r>
              <a:rPr lang="en-US" sz="1800" dirty="0"/>
              <a:t> - first-digit law, is an observation about the frequency distribution of leading digits in many real-life sets of numerical data. </a:t>
            </a: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/>
              <a:t>Application to data security:</a:t>
            </a:r>
            <a:endParaRPr sz="24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intrusion detection systems using threshold statistics </a:t>
            </a: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based on profiles of users, workstations, networks, </a:t>
            </a: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remote hosts, groups of users, and programs based </a:t>
            </a: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on frequencies, means, variances &amp; covariances.</a:t>
            </a: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The counterpart of anomaly detection in intrusion detection is misuse detection.</a:t>
            </a:r>
            <a:endParaRPr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85A9E7-CA1E-6B4F-A4E5-1A770A40C6DD}"/>
              </a:ext>
            </a:extLst>
          </p:cNvPr>
          <p:cNvSpPr txBox="1"/>
          <p:nvPr/>
        </p:nvSpPr>
        <p:spPr>
          <a:xfrm>
            <a:off x="0" y="4210930"/>
            <a:ext cx="11391254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Practical Machine Learning: New Look at Anomaly Detection - by Ted Dunning and Ellen Friedman (2014)</a:t>
            </a:r>
          </a:p>
          <a:p>
            <a:r>
              <a:rPr lang="en-US" dirty="0"/>
              <a:t> - </a:t>
            </a:r>
            <a:r>
              <a:rPr lang="en-US" dirty="0">
                <a:hlinkClick r:id="rId2"/>
              </a:rPr>
              <a:t>https://mapr.com/practical-machine-learning-new-look-anomaly-detection/assets/practical-machine-learning-new-look-anomaly-detection.pdf</a:t>
            </a:r>
            <a:endParaRPr lang="en-US" dirty="0"/>
          </a:p>
          <a:p>
            <a:r>
              <a:rPr lang="en-US" dirty="0"/>
              <a:t>How to: Execute Anomaly Detection at Scale (</a:t>
            </a:r>
            <a:r>
              <a:rPr lang="en-US" dirty="0" err="1"/>
              <a:t>Dataiku.com</a:t>
            </a:r>
            <a:r>
              <a:rPr lang="en-US" dirty="0"/>
              <a:t>. 2020)</a:t>
            </a:r>
          </a:p>
          <a:p>
            <a:r>
              <a:rPr lang="en-US" dirty="0"/>
              <a:t> - </a:t>
            </a:r>
            <a:r>
              <a:rPr lang="en-US" dirty="0">
                <a:hlinkClick r:id="rId3"/>
              </a:rPr>
              <a:t>https://pages.dataiku.com/hubfs/Guidebooks/Anomaly%20Detection/anomaly-detection-guidebook.pdf</a:t>
            </a:r>
            <a:r>
              <a:rPr lang="en-US" dirty="0"/>
              <a:t>     </a:t>
            </a:r>
          </a:p>
          <a:p>
            <a:r>
              <a:rPr lang="en-US" dirty="0"/>
              <a:t>How to prepare/construct features for anomaly detection (network security data)</a:t>
            </a:r>
          </a:p>
          <a:p>
            <a:r>
              <a:rPr lang="en-US" dirty="0"/>
              <a:t> - </a:t>
            </a:r>
            <a:r>
              <a:rPr lang="en-US" dirty="0">
                <a:hlinkClick r:id="rId4"/>
              </a:rPr>
              <a:t>https://stats.stackexchange.com/questions/141017/how-to-prepare-construct-features-for-anomaly-detection-network-security-data</a:t>
            </a:r>
            <a:r>
              <a:rPr lang="en-US" dirty="0"/>
              <a:t>   </a:t>
            </a:r>
          </a:p>
          <a:p>
            <a:r>
              <a:rPr lang="en-US" dirty="0"/>
              <a:t>Kaggle Credit Card Fraud Data Set - </a:t>
            </a:r>
            <a:r>
              <a:rPr lang="en-US" dirty="0">
                <a:hlinkClick r:id="rId5"/>
              </a:rPr>
              <a:t>https://www.kaggle.com/mlg-ulb/creditcardfraud</a:t>
            </a:r>
            <a:r>
              <a:rPr lang="en-US" dirty="0"/>
              <a:t> -</a:t>
            </a:r>
          </a:p>
          <a:p>
            <a:r>
              <a:rPr lang="en-US" dirty="0"/>
              <a:t>Features for Credit Card Fraud Detection - </a:t>
            </a:r>
            <a:r>
              <a:rPr lang="en-US" dirty="0">
                <a:hlinkClick r:id="rId6"/>
              </a:rPr>
              <a:t>https://towardsdatascience.com/how-to-create-good-features-in-fraud-detection-de6562f249ef</a:t>
            </a:r>
            <a:r>
              <a:rPr lang="en-US" dirty="0"/>
              <a:t>  </a:t>
            </a:r>
          </a:p>
          <a:p>
            <a:r>
              <a:rPr lang="en-US" dirty="0"/>
              <a:t>Feature Engineering for Fraud Detection - </a:t>
            </a:r>
            <a:r>
              <a:rPr lang="en-US" dirty="0">
                <a:hlinkClick r:id="rId7"/>
              </a:rPr>
              <a:t>https://github.com/dachosen1/Feature-Engineering-for-Fraud-Detection</a:t>
            </a:r>
            <a:r>
              <a:rPr lang="en-US" dirty="0"/>
              <a:t> </a:t>
            </a:r>
          </a:p>
          <a:p>
            <a:r>
              <a:rPr lang="en-US" dirty="0"/>
              <a:t>A Feature Extraction Method for Credit Card Fraud Detection - </a:t>
            </a:r>
            <a:r>
              <a:rPr lang="en-US" dirty="0">
                <a:hlinkClick r:id="rId8"/>
              </a:rPr>
              <a:t>https://ieeexplore.ieee.org/document/8782457</a:t>
            </a:r>
            <a:r>
              <a:rPr lang="en-US" dirty="0"/>
              <a:t> </a:t>
            </a:r>
          </a:p>
          <a:p>
            <a:r>
              <a:rPr lang="en-US" dirty="0"/>
              <a:t>etc.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4D6496-46DF-EC4E-8558-820FEF2B8A74}"/>
              </a:ext>
            </a:extLst>
          </p:cNvPr>
          <p:cNvSpPr txBox="1"/>
          <p:nvPr/>
        </p:nvSpPr>
        <p:spPr>
          <a:xfrm>
            <a:off x="244548" y="187210"/>
            <a:ext cx="757867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to select features to train anomaly-detection model.</a:t>
            </a:r>
          </a:p>
          <a:p>
            <a:r>
              <a:rPr lang="en-US" dirty="0"/>
              <a:t> - remove features with a lot of missing data (we don't want to impute missing data)</a:t>
            </a:r>
          </a:p>
          <a:p>
            <a:r>
              <a:rPr lang="en-US" dirty="0"/>
              <a:t> - remove features which have no variance (no relation to events)</a:t>
            </a:r>
          </a:p>
          <a:p>
            <a:r>
              <a:rPr lang="en-US" dirty="0"/>
              <a:t> - look at collinearity of features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52C5C4-F3F9-8949-B2FD-FEF8C159E1A9}"/>
              </a:ext>
            </a:extLst>
          </p:cNvPr>
          <p:cNvSpPr txBox="1"/>
          <p:nvPr/>
        </p:nvSpPr>
        <p:spPr>
          <a:xfrm>
            <a:off x="244548" y="1445017"/>
            <a:ext cx="792699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find which columns' values change their distribution the most</a:t>
            </a: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when we change from rows with Class=0 to Class==1.</a:t>
            </a: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To compare two distributions we will use Kolmogorov-Smirnov test.</a:t>
            </a: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-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  <a:hlinkClick r:id="rId9"/>
              </a:rPr>
              <a:t>https://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  <a:hlinkClick r:id="rId9"/>
              </a:rPr>
              <a:t>en.wikipedia.org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  <a:hlinkClick r:id="rId9"/>
              </a:rPr>
              <a:t>/wiki/Kolmogorov%E2%80%93Smirnov_test</a:t>
            </a:r>
            <a:endParaRPr lang="en-US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Note - this is just one of many tests, for example, read this discussion:</a:t>
            </a: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-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  <a:hlinkClick r:id="rId10"/>
              </a:rPr>
              <a:t>https://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  <a:hlinkClick r:id="rId10"/>
              </a:rPr>
              <a:t>stats.stackexchange.com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  <a:hlinkClick r:id="rId10"/>
              </a:rPr>
              <a:t>/questions/1001/is-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  <a:hlinkClick r:id="rId10"/>
              </a:rPr>
              <a:t>spearmans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  <a:hlinkClick r:id="rId10"/>
              </a:rPr>
              <a:t>-correlation</a:t>
            </a:r>
            <a:endParaRPr lang="en-US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</a:t>
            </a: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function ks_2samp(array1, array2)</a:t>
            </a: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compares distributions of values in two arrays and returns 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p_value</a:t>
            </a:r>
            <a:endParaRPr lang="en-US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p_value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&gt; 0.4 - distributions are very similar (identical)</a:t>
            </a: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p_value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very small - distributions differ</a:t>
            </a:r>
          </a:p>
        </p:txBody>
      </p:sp>
    </p:spTree>
    <p:extLst>
      <p:ext uri="{BB962C8B-B14F-4D97-AF65-F5344CB8AC3E}">
        <p14:creationId xmlns:p14="http://schemas.microsoft.com/office/powerpoint/2010/main" val="666839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627</Words>
  <Application>Microsoft Macintosh PowerPoint</Application>
  <PresentationFormat>Widescreen</PresentationFormat>
  <Paragraphs>62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Lev Selector</cp:lastModifiedBy>
  <cp:revision>5</cp:revision>
  <dcterms:modified xsi:type="dcterms:W3CDTF">2020-09-30T16:45:30Z</dcterms:modified>
</cp:coreProperties>
</file>