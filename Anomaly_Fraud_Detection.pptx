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02"/>
    <p:restoredTop sz="94649"/>
  </p:normalViewPr>
  <p:slideViewPr>
    <p:cSldViewPr snapToGrid="0" snapToObjects="1">
      <p:cViewPr varScale="1">
        <p:scale>
          <a:sx n="97" d="100"/>
          <a:sy n="97" d="100"/>
        </p:scale>
        <p:origin x="11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497c60d2de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497c60d2de_0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g497c60d2de_0_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dataiku.com/hubfs/Guidebooks/Anomaly%20Detection/anomaly-detection-guidebook.pdf" TargetMode="External"/><Relationship Id="rId7" Type="http://schemas.openxmlformats.org/officeDocument/2006/relationships/hyperlink" Target="https://stats.stackexchange.com/questions/1001/is-spearmans-correlation" TargetMode="External"/><Relationship Id="rId2" Type="http://schemas.openxmlformats.org/officeDocument/2006/relationships/hyperlink" Target="https://mapr.com/practical-machine-learning-new-look-anomaly-detection/assets/practical-machine-learning-new-look-anomaly-detection.pdf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n.wikipedia.org/wiki/Kolmogorov%E2%80%93Smirnov_test" TargetMode="External"/><Relationship Id="rId5" Type="http://schemas.openxmlformats.org/officeDocument/2006/relationships/hyperlink" Target="https://www.kaggle.com/mlg-ulb/creditcardfraud" TargetMode="External"/><Relationship Id="rId4" Type="http://schemas.openxmlformats.org/officeDocument/2006/relationships/hyperlink" Target="https://stats.stackexchange.com/questions/141017/how-to-prepare-construct-features-for-anomaly-detection-network-security-dat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0" y="0"/>
            <a:ext cx="8020200" cy="44919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Anomaly Detection</a:t>
            </a:r>
            <a:endParaRPr sz="24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Anomalies a.k.a. outliers, novelties, noise, deviations, exceptions.</a:t>
            </a:r>
            <a:endParaRPr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Examples: fraud, a structural defect, medical problems or errors in a text.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Anomaly detection techniques: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Unsupervised </a:t>
            </a:r>
            <a:b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Supervised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 Semi-supervised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Anomalies may be not rare, for example, bursts of intrusion activity.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Unsupervised methods may fail in these cases.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Examples of methods: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clustering (SVM, etc.)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represent state as image, use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ConvoNet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detect anomaly "visually"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9" name="Google Shape;8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12100" y="0"/>
            <a:ext cx="4079898" cy="2598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8700" y="2909400"/>
            <a:ext cx="3953312" cy="1821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176125" y="5041725"/>
            <a:ext cx="1951850" cy="1641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4"/>
          <p:cNvSpPr txBox="1"/>
          <p:nvPr/>
        </p:nvSpPr>
        <p:spPr>
          <a:xfrm>
            <a:off x="0" y="0"/>
            <a:ext cx="12001500" cy="58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/>
              <a:t>Outlier Detection methods:</a:t>
            </a:r>
            <a:endParaRPr sz="3000" b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/>
              <a:t>Density-based techniques (k-nearest neighbor, local outlier factor,  isolation forests, etc.).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/>
              <a:t>Subspace- and correlation-based outlier detection for high-dimensional data.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/>
              <a:t>One-class support vector machines.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/>
              <a:t>Replicator neural networks.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/>
              <a:t>Bayesian Networks.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/>
              <a:t>Hidden Markov models (HMMs).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/>
              <a:t>Cluster analysis-based outlier detection.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/>
              <a:t>Deviations from association rules and frequent itemsets.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/>
              <a:t>Fuzzy logic-based outlier detection.</a:t>
            </a:r>
            <a:endParaRPr sz="18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/>
              <a:t>Ensemble techniques, using feature bagging, score normalization, and different sources of diversity.</a:t>
            </a: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/>
              <a:t>Application to data security:</a:t>
            </a:r>
            <a:endParaRPr sz="2400"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/>
              <a:t>intrusion detection systems using threshold statistics </a:t>
            </a: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/>
              <a:t>based on profiles of users, workstations, networks, </a:t>
            </a: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/>
              <a:t>remote hosts, groups of users, and programs based </a:t>
            </a: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/>
              <a:t>on frequencies, means, variances &amp; covariances.</a:t>
            </a: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/>
              <a:t>The counterpart of anomaly detection in intrusion detection is misuse detection.</a:t>
            </a:r>
            <a:endParaRPr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185A9E7-CA1E-6B4F-A4E5-1A770A40C6DD}"/>
              </a:ext>
            </a:extLst>
          </p:cNvPr>
          <p:cNvSpPr txBox="1"/>
          <p:nvPr/>
        </p:nvSpPr>
        <p:spPr>
          <a:xfrm>
            <a:off x="206322" y="4571587"/>
            <a:ext cx="1139125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Practical Machine Learning: New Look at Anomaly Detection - by Ted Dunning and Ellen Friedman (2014)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https://mapr.com/practical-machine-learning-new-look-anomaly-detection/assets/practical-machine-learning-new-look-anomaly-detection.pdf</a:t>
            </a:r>
            <a:endParaRPr lang="en-US" dirty="0"/>
          </a:p>
          <a:p>
            <a:r>
              <a:rPr lang="en-US" dirty="0"/>
              <a:t>How to: Execute Anomaly Detection at Scale (</a:t>
            </a:r>
            <a:r>
              <a:rPr lang="en-US" dirty="0" err="1"/>
              <a:t>Dataiku.com</a:t>
            </a:r>
            <a:r>
              <a:rPr lang="en-US" dirty="0"/>
              <a:t>. 2020)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https://pages.dataiku.com/hubfs/Guidebooks/Anomaly%20Detection/anomaly-detection-guidebook.pdf</a:t>
            </a:r>
            <a:r>
              <a:rPr lang="en-US" dirty="0"/>
              <a:t>     </a:t>
            </a:r>
          </a:p>
          <a:p>
            <a:r>
              <a:rPr lang="en-US" dirty="0"/>
              <a:t>How to prepare/construct features for anomaly detection (network security data)</a:t>
            </a:r>
          </a:p>
          <a:p>
            <a:r>
              <a:rPr lang="en-US" dirty="0"/>
              <a:t> - </a:t>
            </a:r>
            <a:r>
              <a:rPr lang="en-US" dirty="0">
                <a:hlinkClick r:id="rId4"/>
              </a:rPr>
              <a:t>https://stats.stackexchange.com/questions/141017/how-to-prepare-construct-features-for-anomaly-detection-network-security-data</a:t>
            </a:r>
            <a:r>
              <a:rPr lang="en-US" dirty="0"/>
              <a:t>   </a:t>
            </a:r>
          </a:p>
          <a:p>
            <a:r>
              <a:rPr lang="en-US" dirty="0"/>
              <a:t>Kaggle Credit Card Fraud Data Set </a:t>
            </a:r>
          </a:p>
          <a:p>
            <a:r>
              <a:rPr lang="en-US" dirty="0"/>
              <a:t> - </a:t>
            </a:r>
            <a:r>
              <a:rPr lang="en-US" dirty="0">
                <a:hlinkClick r:id="rId5"/>
              </a:rPr>
              <a:t>https://www.kaggle.com/mlg-ulb/creditcardfraud</a:t>
            </a:r>
            <a:r>
              <a:rPr lang="en-US" dirty="0"/>
              <a:t> -</a:t>
            </a:r>
          </a:p>
          <a:p>
            <a:r>
              <a:rPr lang="en-US" dirty="0"/>
              <a:t>...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4D6496-46DF-EC4E-8558-820FEF2B8A74}"/>
              </a:ext>
            </a:extLst>
          </p:cNvPr>
          <p:cNvSpPr txBox="1"/>
          <p:nvPr/>
        </p:nvSpPr>
        <p:spPr>
          <a:xfrm>
            <a:off x="387458" y="433953"/>
            <a:ext cx="757867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to select features to train anomaly-detection model.</a:t>
            </a:r>
          </a:p>
          <a:p>
            <a:r>
              <a:rPr lang="en-US" dirty="0"/>
              <a:t> - remove features with a lot of missing data (we don't want to impute missing data)</a:t>
            </a:r>
          </a:p>
          <a:p>
            <a:r>
              <a:rPr lang="en-US" dirty="0"/>
              <a:t> - remove features which have no variance (no relation to events)</a:t>
            </a:r>
          </a:p>
          <a:p>
            <a:r>
              <a:rPr lang="en-US" dirty="0"/>
              <a:t> - look at collinearity of features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52C5C4-F3F9-8949-B2FD-FEF8C159E1A9}"/>
              </a:ext>
            </a:extLst>
          </p:cNvPr>
          <p:cNvSpPr txBox="1"/>
          <p:nvPr/>
        </p:nvSpPr>
        <p:spPr>
          <a:xfrm>
            <a:off x="302605" y="1748717"/>
            <a:ext cx="9128501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find which columns' values change their distribution the most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when we change from rows with Class=0 to Class==1.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To compare two distributions we will use Kolmogorov-Smirnov test.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-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6"/>
              </a:rPr>
              <a:t>https://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6"/>
              </a:rPr>
              <a:t>en.wikipedia.org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6"/>
              </a:rPr>
              <a:t>/wiki/Kolmogorov%E2%80%93Smirnov_test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Note - this is just one of many tests, for example, read this discussion: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-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7"/>
              </a:rPr>
              <a:t>https://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7"/>
              </a:rPr>
              <a:t>stats.stackexchange.com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7"/>
              </a:rPr>
              <a:t>/questions/1001/is-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7"/>
              </a:rPr>
              <a:t>spearmans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7"/>
              </a:rPr>
              <a:t>-correlation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function ks_2samp(array1, array2)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compares distributions of values in two arrays and returns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p_value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p_value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0.4 - distributions are very similar (identical)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p_value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very small - distributions differ</a:t>
            </a:r>
          </a:p>
        </p:txBody>
      </p:sp>
    </p:spTree>
    <p:extLst>
      <p:ext uri="{BB962C8B-B14F-4D97-AF65-F5344CB8AC3E}">
        <p14:creationId xmlns:p14="http://schemas.microsoft.com/office/powerpoint/2010/main" val="666839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534</Words>
  <Application>Microsoft Macintosh PowerPoint</Application>
  <PresentationFormat>Widescreen</PresentationFormat>
  <Paragraphs>58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3</cp:revision>
  <dcterms:modified xsi:type="dcterms:W3CDTF">2020-08-28T01:17:58Z</dcterms:modified>
</cp:coreProperties>
</file>