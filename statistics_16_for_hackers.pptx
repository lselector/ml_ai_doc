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
  </p:notesMasterIdLst>
  <p:sldIdLst>
    <p:sldId id="310" r:id="rId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213"/>
    <p:restoredTop sz="92157"/>
  </p:normalViewPr>
  <p:slideViewPr>
    <p:cSldViewPr snapToGrid="0" snapToObjects="1">
      <p:cViewPr varScale="1">
        <p:scale>
          <a:sx n="105" d="100"/>
          <a:sy n="105" d="100"/>
        </p:scale>
        <p:origin x="24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74789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jpeg"/><Relationship Id="rId13" Type="http://schemas.openxmlformats.org/officeDocument/2006/relationships/image" Target="../media/image8.jpeg"/><Relationship Id="rId3" Type="http://schemas.openxmlformats.org/officeDocument/2006/relationships/hyperlink" Target="https://www.youtube.com/watch?v=Iq9DzN6mvYA" TargetMode="External"/><Relationship Id="rId7" Type="http://schemas.openxmlformats.org/officeDocument/2006/relationships/image" Target="../media/image2.jpeg"/><Relationship Id="rId12" Type="http://schemas.openxmlformats.org/officeDocument/2006/relationships/image" Target="../media/image7.tif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png"/><Relationship Id="rId11" Type="http://schemas.openxmlformats.org/officeDocument/2006/relationships/image" Target="../media/image6.tiff"/><Relationship Id="rId5" Type="http://schemas.openxmlformats.org/officeDocument/2006/relationships/hyperlink" Target="https://github.com/CamDavidsonPilon/Probabilistic-Programming-and-Bayesian-Methods-for-Hackers" TargetMode="External"/><Relationship Id="rId10" Type="http://schemas.openxmlformats.org/officeDocument/2006/relationships/image" Target="../media/image5.tiff"/><Relationship Id="rId4" Type="http://schemas.openxmlformats.org/officeDocument/2006/relationships/hyperlink" Target="https://www.youtube.com/watch?v=TGGGDpb04Yc" TargetMode="External"/><Relationship Id="rId9" Type="http://schemas.openxmlformats.org/officeDocument/2006/relationships/image" Target="../media/image4.jpeg"/><Relationship Id="rId14" Type="http://schemas.openxmlformats.org/officeDocument/2006/relationships/image" Target="../media/image9.tif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5510784" cy="523220"/>
          </a:xfrm>
          <a:prstGeom prst="rect">
            <a:avLst/>
          </a:prstGeom>
          <a:noFill/>
        </p:spPr>
        <p:txBody>
          <a:bodyPr wrap="square" rtlCol="0">
            <a:spAutoFit/>
          </a:bodyPr>
          <a:lstStyle/>
          <a:p>
            <a:r>
              <a:rPr lang="en-US" sz="2800" b="1" dirty="0"/>
              <a:t>Statistics for Hackers</a:t>
            </a:r>
          </a:p>
        </p:txBody>
      </p:sp>
      <p:sp>
        <p:nvSpPr>
          <p:cNvPr id="5" name="TextBox 4">
            <a:extLst>
              <a:ext uri="{FF2B5EF4-FFF2-40B4-BE49-F238E27FC236}">
                <a16:creationId xmlns:a16="http://schemas.microsoft.com/office/drawing/2014/main" id="{27AD4B69-569A-F246-A34E-1020E0FF5EF7}"/>
              </a:ext>
            </a:extLst>
          </p:cNvPr>
          <p:cNvSpPr txBox="1"/>
          <p:nvPr/>
        </p:nvSpPr>
        <p:spPr>
          <a:xfrm>
            <a:off x="3627042" y="602786"/>
            <a:ext cx="7144512" cy="6186309"/>
          </a:xfrm>
          <a:prstGeom prst="rect">
            <a:avLst/>
          </a:prstGeom>
          <a:noFill/>
        </p:spPr>
        <p:txBody>
          <a:bodyPr wrap="square" rtlCol="0">
            <a:spAutoFit/>
          </a:bodyPr>
          <a:lstStyle/>
          <a:p>
            <a:r>
              <a:rPr lang="en-US" sz="1200" dirty="0"/>
              <a:t>Excellent talk by  Jake </a:t>
            </a:r>
            <a:r>
              <a:rPr lang="en-US" sz="1200" dirty="0" err="1"/>
              <a:t>Vanderplas</a:t>
            </a:r>
            <a:r>
              <a:rPr lang="en-US" sz="1200" dirty="0"/>
              <a:t>, </a:t>
            </a:r>
            <a:r>
              <a:rPr lang="en-US" sz="1200" dirty="0" err="1"/>
              <a:t>PyCon</a:t>
            </a:r>
            <a:r>
              <a:rPr lang="en-US" sz="1200" dirty="0"/>
              <a:t> 2016</a:t>
            </a:r>
          </a:p>
          <a:p>
            <a:r>
              <a:rPr lang="en-US" sz="1200" dirty="0"/>
              <a:t> - </a:t>
            </a:r>
            <a:r>
              <a:rPr lang="en-US" sz="1200" dirty="0">
                <a:hlinkClick r:id="rId3"/>
              </a:rPr>
              <a:t>https://www.youtube.com/watch?v=Iq9DzN6mvYA</a:t>
            </a:r>
            <a:endParaRPr lang="en-US" sz="1200" dirty="0"/>
          </a:p>
          <a:p>
            <a:endParaRPr lang="en-US" sz="1200" dirty="0"/>
          </a:p>
          <a:p>
            <a:r>
              <a:rPr lang="en-US" sz="1800" b="1" dirty="0">
                <a:solidFill>
                  <a:srgbClr val="0070C0"/>
                </a:solidFill>
              </a:rPr>
              <a:t>Four Recipes for Hacking Statistics:</a:t>
            </a:r>
          </a:p>
          <a:p>
            <a:endParaRPr lang="en-US" sz="1200" dirty="0"/>
          </a:p>
          <a:p>
            <a:pPr marL="342900" indent="-342900">
              <a:buFont typeface="+mj-lt"/>
              <a:buAutoNum type="arabicPeriod"/>
            </a:pPr>
            <a:r>
              <a:rPr lang="en-US" sz="1200" b="1" dirty="0">
                <a:solidFill>
                  <a:srgbClr val="FF0000"/>
                </a:solidFill>
              </a:rPr>
              <a:t>Direct Simulation</a:t>
            </a:r>
            <a:r>
              <a:rPr lang="en-US" sz="1200" dirty="0"/>
              <a:t>. What is p-value of getting 22 heads of 30 coin tosses.</a:t>
            </a:r>
            <a:br>
              <a:rPr lang="en-US" sz="1200" dirty="0"/>
            </a:br>
            <a:r>
              <a:rPr lang="en-US" sz="1200" dirty="0"/>
              <a:t>Approach 1 – calculate Binomial distribution for N=30, and P-value for N=22.</a:t>
            </a:r>
            <a:br>
              <a:rPr lang="en-US" sz="1200" dirty="0"/>
            </a:br>
            <a:r>
              <a:rPr lang="en-US" sz="1200" dirty="0"/>
              <a:t>Approach 2 – Monte Carlo. Just write 5 lines of python code to run 1000 30-tosses experiments. Calculate percent of experiments with </a:t>
            </a:r>
            <a:r>
              <a:rPr lang="en-US" sz="1200" dirty="0" err="1"/>
              <a:t>N_heads</a:t>
            </a:r>
            <a:r>
              <a:rPr lang="en-US" sz="1200" dirty="0"/>
              <a:t> &gt;= 22. </a:t>
            </a:r>
          </a:p>
          <a:p>
            <a:pPr marL="342900" indent="-342900">
              <a:buFont typeface="+mj-lt"/>
              <a:buAutoNum type="arabicPeriod"/>
            </a:pPr>
            <a:r>
              <a:rPr lang="en-US" sz="1200" b="1" dirty="0">
                <a:solidFill>
                  <a:srgbClr val="FF0000"/>
                </a:solidFill>
              </a:rPr>
              <a:t>Shuffling</a:t>
            </a:r>
            <a:r>
              <a:rPr lang="en-US" sz="1200" dirty="0"/>
              <a:t>. We comparing two groups and see that their means differ. Is this difference statistically significant? To answer we use random experiments. In each experiment we simply shaffle values between groups, calculate means in both groups, calculate difference. We plot histogram of differences. This will give us distribution and P-values (confidence interval).</a:t>
            </a:r>
          </a:p>
          <a:p>
            <a:pPr marL="342900" indent="-342900">
              <a:buFont typeface="+mj-lt"/>
              <a:buAutoNum type="arabicPeriod"/>
            </a:pPr>
            <a:r>
              <a:rPr lang="en-US" sz="1200" b="1" dirty="0">
                <a:solidFill>
                  <a:srgbClr val="FF0000"/>
                </a:solidFill>
              </a:rPr>
              <a:t>Bootstrapping</a:t>
            </a:r>
            <a:r>
              <a:rPr lang="en-US" sz="1200" dirty="0"/>
              <a:t>. Sampling with replacement. We take a sample consisting of 20 values. Each value is selected independently and randomly. There may be repeats (this is why it is said "with replacement"). We calculate the mean value in the sample. We repeat this sampling experiment 10,000 times – and make a distribution of these means – which will give us a good idea about the mean and error. Another example, we have (</a:t>
            </a:r>
            <a:r>
              <a:rPr lang="en-US" sz="1200" dirty="0" err="1"/>
              <a:t>x,y</a:t>
            </a:r>
            <a:r>
              <a:rPr lang="en-US" sz="1200" dirty="0"/>
              <a:t>) points – and want to estimate the slope and intercept. We take 10,000 random samples of 20 – for each sample calculate slope and intercept – and then plot joint distribution of them.</a:t>
            </a:r>
          </a:p>
          <a:p>
            <a:pPr marL="342900" indent="-342900">
              <a:buFont typeface="+mj-lt"/>
              <a:buAutoNum type="arabicPeriod"/>
            </a:pPr>
            <a:r>
              <a:rPr lang="en-US" sz="1200" b="1" dirty="0">
                <a:solidFill>
                  <a:srgbClr val="FF0000"/>
                </a:solidFill>
              </a:rPr>
              <a:t>Cross Validation</a:t>
            </a:r>
            <a:r>
              <a:rPr lang="en-US" sz="1200" dirty="0"/>
              <a:t>. We fit points with polynomial models – linear, quadratic, etc. The more complex models always give smaller error. But they may overfit. If we split data in two or more folds, we can see which model generalize better between folds.</a:t>
            </a:r>
          </a:p>
          <a:p>
            <a:endParaRPr lang="en-US" sz="1200" dirty="0"/>
          </a:p>
          <a:p>
            <a:r>
              <a:rPr lang="en-US" sz="1200" dirty="0"/>
              <a:t>More info:</a:t>
            </a:r>
          </a:p>
          <a:p>
            <a:pPr marL="285750" indent="-285750">
              <a:buFont typeface="Arial" panose="020B0604020202020204" pitchFamily="34" charset="0"/>
              <a:buChar char="•"/>
            </a:pPr>
            <a:r>
              <a:rPr lang="en-US" sz="1200" dirty="0"/>
              <a:t>Chris </a:t>
            </a:r>
            <a:r>
              <a:rPr lang="en-US" sz="1200" dirty="0" err="1"/>
              <a:t>Fonnesbeck</a:t>
            </a:r>
            <a:r>
              <a:rPr lang="en-US" sz="1200" dirty="0"/>
              <a:t> - SciPy 2015 talk "Statistical Thinking for Data Science"</a:t>
            </a:r>
            <a:br>
              <a:rPr lang="en-US" sz="1200" dirty="0"/>
            </a:br>
            <a:r>
              <a:rPr lang="en-US" sz="1200" dirty="0"/>
              <a:t> - </a:t>
            </a:r>
            <a:r>
              <a:rPr lang="en-US" sz="1200" dirty="0">
                <a:hlinkClick r:id="rId4"/>
              </a:rPr>
              <a:t>https://www.youtube.com/watch?v=TGGGDpb04Yc</a:t>
            </a:r>
            <a:r>
              <a:rPr lang="ru-RU" sz="1200" dirty="0"/>
              <a:t> </a:t>
            </a:r>
            <a:endParaRPr lang="en-US" sz="1200" dirty="0"/>
          </a:p>
          <a:p>
            <a:pPr marL="285750" indent="-285750">
              <a:buFont typeface="Arial" panose="020B0604020202020204" pitchFamily="34" charset="0"/>
              <a:buChar char="•"/>
            </a:pPr>
            <a:r>
              <a:rPr lang="en-US" sz="1200" dirty="0"/>
              <a:t>book "Bayesian Methods for Hackers: Probabilistic Programming and Bayesian Inference" by Cameron Davidson-Pilon - </a:t>
            </a:r>
            <a:r>
              <a:rPr lang="en-US" sz="1200" dirty="0">
                <a:hlinkClick r:id="rId5"/>
              </a:rPr>
              <a:t>https://github.com/CamDavidsonPilon/Probabilistic-Programming-and-Bayesian-Methods-for-Hackers</a:t>
            </a:r>
            <a:r>
              <a:rPr lang="en-US" sz="1200" dirty="0"/>
              <a:t> </a:t>
            </a:r>
          </a:p>
          <a:p>
            <a:pPr marL="285750" indent="-285750">
              <a:buFont typeface="Arial" panose="020B0604020202020204" pitchFamily="34" charset="0"/>
              <a:buChar char="•"/>
            </a:pPr>
            <a:r>
              <a:rPr lang="en-US" sz="1200" dirty="0"/>
              <a:t>book "Statistics is Easy! (Synthesis Lectures on Mathematics and Statistics)" by Dennis </a:t>
            </a:r>
            <a:r>
              <a:rPr lang="en-US" sz="1200" dirty="0" err="1"/>
              <a:t>Shasha</a:t>
            </a:r>
            <a:r>
              <a:rPr lang="en-US" sz="1200" dirty="0"/>
              <a:t> &amp; Manda Wilson</a:t>
            </a:r>
          </a:p>
        </p:txBody>
      </p:sp>
      <p:pic>
        <p:nvPicPr>
          <p:cNvPr id="1026" name="Picture 2" descr="Christopher Fonnesbeck">
            <a:extLst>
              <a:ext uri="{FF2B5EF4-FFF2-40B4-BE49-F238E27FC236}">
                <a16:creationId xmlns:a16="http://schemas.microsoft.com/office/drawing/2014/main" id="{E34A263D-157C-DF47-821F-41485D7F288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9305814" y="4960266"/>
            <a:ext cx="553703" cy="55370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ake Vanderplas - Python Interviews">
            <a:extLst>
              <a:ext uri="{FF2B5EF4-FFF2-40B4-BE49-F238E27FC236}">
                <a16:creationId xmlns:a16="http://schemas.microsoft.com/office/drawing/2014/main" id="{BA8285CE-B34D-CF48-A67F-4A43D1977698}"/>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p:blipFill>
        <p:spPr bwMode="auto">
          <a:xfrm>
            <a:off x="10784096" y="48768"/>
            <a:ext cx="1261510" cy="149961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E7B0910-69CC-114E-BC15-F26688160E1C}"/>
              </a:ext>
            </a:extLst>
          </p:cNvPr>
          <p:cNvSpPr txBox="1"/>
          <p:nvPr/>
        </p:nvSpPr>
        <p:spPr>
          <a:xfrm>
            <a:off x="10661477" y="1548384"/>
            <a:ext cx="1530523" cy="307777"/>
          </a:xfrm>
          <a:prstGeom prst="rect">
            <a:avLst/>
          </a:prstGeom>
          <a:noFill/>
        </p:spPr>
        <p:txBody>
          <a:bodyPr wrap="square" rtlCol="0">
            <a:spAutoFit/>
          </a:bodyPr>
          <a:lstStyle/>
          <a:p>
            <a:r>
              <a:rPr lang="en-US" dirty="0"/>
              <a:t>Jake </a:t>
            </a:r>
            <a:r>
              <a:rPr lang="en-US" dirty="0" err="1"/>
              <a:t>Vanderplas</a:t>
            </a:r>
            <a:endParaRPr lang="en-US" dirty="0"/>
          </a:p>
        </p:txBody>
      </p:sp>
      <p:pic>
        <p:nvPicPr>
          <p:cNvPr id="1030" name="Picture 6" descr="Bayesian Methods for Hackers: Probabilistic Programming and Bayesian  Inference (Addison-Wesley Data &amp; Analytics): Davidson-Pilon, Cameron:  9780133902839: Amazon.com: Books">
            <a:extLst>
              <a:ext uri="{FF2B5EF4-FFF2-40B4-BE49-F238E27FC236}">
                <a16:creationId xmlns:a16="http://schemas.microsoft.com/office/drawing/2014/main" id="{87209003-E54E-D54B-B900-BBB21B78CC6D}"/>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11109709" y="3854850"/>
            <a:ext cx="1054181" cy="138226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atistics is Easy! Second Edition (Synthesis Lectures on Mathematics and  Statistics): Shasha, Dennis, Wilson, Manda, Krantz, Steven G.:  9781608455706: Amazon.com: Books">
            <a:extLst>
              <a:ext uri="{FF2B5EF4-FFF2-40B4-BE49-F238E27FC236}">
                <a16:creationId xmlns:a16="http://schemas.microsoft.com/office/drawing/2014/main" id="{5371D94D-2E73-C84D-8B4A-9DBF095CF284}"/>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11040797" y="5420852"/>
            <a:ext cx="1123093" cy="138226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9508C2CC-DB56-5744-A08C-FC63084F4362}"/>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38349" y="4705913"/>
            <a:ext cx="3219450" cy="1525683"/>
          </a:xfrm>
          <a:prstGeom prst="rect">
            <a:avLst/>
          </a:prstGeom>
        </p:spPr>
      </p:pic>
      <p:sp>
        <p:nvSpPr>
          <p:cNvPr id="6" name="TextBox 5">
            <a:extLst>
              <a:ext uri="{FF2B5EF4-FFF2-40B4-BE49-F238E27FC236}">
                <a16:creationId xmlns:a16="http://schemas.microsoft.com/office/drawing/2014/main" id="{ACA20E3D-5B6E-5E4C-A609-2502C613F9FC}"/>
              </a:ext>
            </a:extLst>
          </p:cNvPr>
          <p:cNvSpPr txBox="1"/>
          <p:nvPr/>
        </p:nvSpPr>
        <p:spPr>
          <a:xfrm>
            <a:off x="1912061" y="895617"/>
            <a:ext cx="1017618" cy="523220"/>
          </a:xfrm>
          <a:prstGeom prst="rect">
            <a:avLst/>
          </a:prstGeom>
          <a:noFill/>
        </p:spPr>
        <p:txBody>
          <a:bodyPr wrap="square" rtlCol="0">
            <a:spAutoFit/>
          </a:bodyPr>
          <a:lstStyle/>
          <a:p>
            <a:pPr algn="ctr"/>
            <a:r>
              <a:rPr lang="en-US" b="1" dirty="0">
                <a:solidFill>
                  <a:srgbClr val="FF0000"/>
                </a:solidFill>
              </a:rPr>
              <a:t>Shuffling:</a:t>
            </a:r>
          </a:p>
          <a:p>
            <a:pPr algn="ctr"/>
            <a:r>
              <a:rPr lang="en-US" b="1" dirty="0">
                <a:solidFill>
                  <a:srgbClr val="FF0000"/>
                </a:solidFill>
              </a:rPr>
              <a:t>A       B</a:t>
            </a:r>
          </a:p>
        </p:txBody>
      </p:sp>
      <p:pic>
        <p:nvPicPr>
          <p:cNvPr id="9" name="Picture 8">
            <a:extLst>
              <a:ext uri="{FF2B5EF4-FFF2-40B4-BE49-F238E27FC236}">
                <a16:creationId xmlns:a16="http://schemas.microsoft.com/office/drawing/2014/main" id="{FE90A836-48F3-4C45-BA47-2586686D952C}"/>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1848251" y="1399953"/>
            <a:ext cx="1145238" cy="1382730"/>
          </a:xfrm>
          <a:prstGeom prst="rect">
            <a:avLst/>
          </a:prstGeom>
        </p:spPr>
      </p:pic>
      <p:sp>
        <p:nvSpPr>
          <p:cNvPr id="14" name="TextBox 13">
            <a:extLst>
              <a:ext uri="{FF2B5EF4-FFF2-40B4-BE49-F238E27FC236}">
                <a16:creationId xmlns:a16="http://schemas.microsoft.com/office/drawing/2014/main" id="{6EA0B4F3-30F2-8E4F-8D6F-37E7195036FE}"/>
              </a:ext>
            </a:extLst>
          </p:cNvPr>
          <p:cNvSpPr txBox="1"/>
          <p:nvPr/>
        </p:nvSpPr>
        <p:spPr>
          <a:xfrm>
            <a:off x="984504" y="2988005"/>
            <a:ext cx="1608582" cy="307777"/>
          </a:xfrm>
          <a:prstGeom prst="rect">
            <a:avLst/>
          </a:prstGeom>
          <a:noFill/>
        </p:spPr>
        <p:txBody>
          <a:bodyPr wrap="square" rtlCol="0">
            <a:spAutoFit/>
          </a:bodyPr>
          <a:lstStyle/>
          <a:p>
            <a:r>
              <a:rPr lang="en-US" b="1" dirty="0">
                <a:solidFill>
                  <a:srgbClr val="FF0000"/>
                </a:solidFill>
              </a:rPr>
              <a:t>Cross Validation</a:t>
            </a:r>
          </a:p>
        </p:txBody>
      </p:sp>
      <p:pic>
        <p:nvPicPr>
          <p:cNvPr id="10" name="Picture 9">
            <a:extLst>
              <a:ext uri="{FF2B5EF4-FFF2-40B4-BE49-F238E27FC236}">
                <a16:creationId xmlns:a16="http://schemas.microsoft.com/office/drawing/2014/main" id="{8B3E9F60-1A2D-9141-B12D-851942D84974}"/>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400563" y="3333273"/>
            <a:ext cx="2692735" cy="1278310"/>
          </a:xfrm>
          <a:prstGeom prst="rect">
            <a:avLst/>
          </a:prstGeom>
        </p:spPr>
      </p:pic>
      <p:pic>
        <p:nvPicPr>
          <p:cNvPr id="11" name="Picture 10">
            <a:extLst>
              <a:ext uri="{FF2B5EF4-FFF2-40B4-BE49-F238E27FC236}">
                <a16:creationId xmlns:a16="http://schemas.microsoft.com/office/drawing/2014/main" id="{BBEF31FB-E595-D744-B92B-3BFB779CE0F9}"/>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10918782" y="2795556"/>
            <a:ext cx="1231893" cy="875560"/>
          </a:xfrm>
          <a:prstGeom prst="rect">
            <a:avLst/>
          </a:prstGeom>
        </p:spPr>
      </p:pic>
      <p:pic>
        <p:nvPicPr>
          <p:cNvPr id="8" name="Picture 7">
            <a:extLst>
              <a:ext uri="{FF2B5EF4-FFF2-40B4-BE49-F238E27FC236}">
                <a16:creationId xmlns:a16="http://schemas.microsoft.com/office/drawing/2014/main" id="{375B171D-A4E0-AF48-9CC3-578F5FA3869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386727" y="1398909"/>
            <a:ext cx="1152098" cy="1396647"/>
          </a:xfrm>
          <a:prstGeom prst="rect">
            <a:avLst/>
          </a:prstGeom>
        </p:spPr>
      </p:pic>
      <p:sp>
        <p:nvSpPr>
          <p:cNvPr id="17" name="TextBox 16">
            <a:extLst>
              <a:ext uri="{FF2B5EF4-FFF2-40B4-BE49-F238E27FC236}">
                <a16:creationId xmlns:a16="http://schemas.microsoft.com/office/drawing/2014/main" id="{371FAA65-8718-2146-B750-DD7A6343067C}"/>
              </a:ext>
            </a:extLst>
          </p:cNvPr>
          <p:cNvSpPr txBox="1"/>
          <p:nvPr/>
        </p:nvSpPr>
        <p:spPr>
          <a:xfrm>
            <a:off x="361202" y="904699"/>
            <a:ext cx="1220177" cy="523220"/>
          </a:xfrm>
          <a:prstGeom prst="rect">
            <a:avLst/>
          </a:prstGeom>
          <a:noFill/>
        </p:spPr>
        <p:txBody>
          <a:bodyPr wrap="square" rtlCol="0">
            <a:spAutoFit/>
          </a:bodyPr>
          <a:lstStyle/>
          <a:p>
            <a:pPr algn="ctr"/>
            <a:r>
              <a:rPr lang="en-US" b="1" dirty="0">
                <a:solidFill>
                  <a:srgbClr val="FF0000"/>
                </a:solidFill>
              </a:rPr>
              <a:t>Means:</a:t>
            </a:r>
          </a:p>
          <a:p>
            <a:pPr algn="ctr"/>
            <a:r>
              <a:rPr lang="en-US" b="1" dirty="0">
                <a:solidFill>
                  <a:srgbClr val="FF0000"/>
                </a:solidFill>
              </a:rPr>
              <a:t>73.5   66.9</a:t>
            </a:r>
          </a:p>
        </p:txBody>
      </p:sp>
    </p:spTree>
    <p:extLst>
      <p:ext uri="{BB962C8B-B14F-4D97-AF65-F5344CB8AC3E}">
        <p14:creationId xmlns:p14="http://schemas.microsoft.com/office/powerpoint/2010/main" val="217980816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2918</TotalTime>
  <Words>421</Words>
  <Application>Microsoft Macintosh PowerPoint</Application>
  <PresentationFormat>Widescreen</PresentationFormat>
  <Paragraphs>22</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285</cp:revision>
  <cp:lastPrinted>2020-09-21T17:22:59Z</cp:lastPrinted>
  <dcterms:modified xsi:type="dcterms:W3CDTF">2021-05-10T03:12:17Z</dcterms:modified>
</cp:coreProperties>
</file>