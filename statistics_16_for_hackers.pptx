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6"/>
  </p:notesMasterIdLst>
  <p:sldIdLst>
    <p:sldId id="310" r:id="rId2"/>
    <p:sldId id="311" r:id="rId3"/>
    <p:sldId id="312" r:id="rId4"/>
    <p:sldId id="313" r:id="rId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1618C5A-BF4F-44D7-ADB2-C5301EF81F8A}">
  <a:tblStyle styleId="{B1618C5A-BF4F-44D7-ADB2-C5301EF81F8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770"/>
    <p:restoredTop sz="92157"/>
  </p:normalViewPr>
  <p:slideViewPr>
    <p:cSldViewPr snapToGrid="0" snapToObjects="1">
      <p:cViewPr varScale="1">
        <p:scale>
          <a:sx n="105" d="100"/>
          <a:sy n="105" d="100"/>
        </p:scale>
        <p:origin x="87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91425" rIns="91425" bIns="91425"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91425" rIns="91425" bIns="91425"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747892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831850" y="1709738"/>
            <a:ext cx="10515600" cy="2852737"/>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6" name="Google Shape;36;p5"/>
          <p:cNvSpPr txBox="1">
            <a:spLocks noGrp="1"/>
          </p:cNvSpPr>
          <p:nvPr>
            <p:ph type="body" idx="1"/>
          </p:nvPr>
        </p:nvSpPr>
        <p:spPr>
          <a:xfrm>
            <a:off x="831850" y="4589463"/>
            <a:ext cx="10515600" cy="1500187"/>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jpeg"/><Relationship Id="rId13" Type="http://schemas.openxmlformats.org/officeDocument/2006/relationships/image" Target="../media/image8.jpeg"/><Relationship Id="rId3" Type="http://schemas.openxmlformats.org/officeDocument/2006/relationships/hyperlink" Target="https://www.youtube.com/watch?v=Iq9DzN6mvYA" TargetMode="External"/><Relationship Id="rId7" Type="http://schemas.openxmlformats.org/officeDocument/2006/relationships/image" Target="../media/image2.jpeg"/><Relationship Id="rId12" Type="http://schemas.openxmlformats.org/officeDocument/2006/relationships/image" Target="../media/image7.tiff"/><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png"/><Relationship Id="rId11" Type="http://schemas.openxmlformats.org/officeDocument/2006/relationships/image" Target="../media/image6.tiff"/><Relationship Id="rId5" Type="http://schemas.openxmlformats.org/officeDocument/2006/relationships/hyperlink" Target="https://github.com/CamDavidsonPilon/Probabilistic-Programming-and-Bayesian-Methods-for-Hackers" TargetMode="External"/><Relationship Id="rId10" Type="http://schemas.openxmlformats.org/officeDocument/2006/relationships/image" Target="../media/image5.tiff"/><Relationship Id="rId4" Type="http://schemas.openxmlformats.org/officeDocument/2006/relationships/hyperlink" Target="https://www.youtube.com/watch?v=TGGGDpb04Yc" TargetMode="External"/><Relationship Id="rId9" Type="http://schemas.openxmlformats.org/officeDocument/2006/relationships/image" Target="../media/image4.jpeg"/><Relationship Id="rId14" Type="http://schemas.openxmlformats.org/officeDocument/2006/relationships/image" Target="../media/image9.tif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1.tiff"/><Relationship Id="rId2" Type="http://schemas.openxmlformats.org/officeDocument/2006/relationships/image" Target="../media/image10.tiff"/><Relationship Id="rId1" Type="http://schemas.openxmlformats.org/officeDocument/2006/relationships/slideLayout" Target="../slideLayouts/slideLayout5.xml"/><Relationship Id="rId4" Type="http://schemas.openxmlformats.org/officeDocument/2006/relationships/image" Target="../media/image12.tiff"/></Relationships>
</file>

<file path=ppt/slides/_rels/slide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4522214-AFB0-564D-BD12-807FFF240F75}"/>
              </a:ext>
            </a:extLst>
          </p:cNvPr>
          <p:cNvSpPr txBox="1"/>
          <p:nvPr/>
        </p:nvSpPr>
        <p:spPr>
          <a:xfrm>
            <a:off x="0" y="0"/>
            <a:ext cx="5510784" cy="523220"/>
          </a:xfrm>
          <a:prstGeom prst="rect">
            <a:avLst/>
          </a:prstGeom>
          <a:noFill/>
        </p:spPr>
        <p:txBody>
          <a:bodyPr wrap="square" rtlCol="0">
            <a:spAutoFit/>
          </a:bodyPr>
          <a:lstStyle/>
          <a:p>
            <a:r>
              <a:rPr lang="en-US" sz="2800" b="1" dirty="0"/>
              <a:t>Statistics for Hackers</a:t>
            </a:r>
          </a:p>
        </p:txBody>
      </p:sp>
      <p:sp>
        <p:nvSpPr>
          <p:cNvPr id="5" name="TextBox 4">
            <a:extLst>
              <a:ext uri="{FF2B5EF4-FFF2-40B4-BE49-F238E27FC236}">
                <a16:creationId xmlns:a16="http://schemas.microsoft.com/office/drawing/2014/main" id="{27AD4B69-569A-F246-A34E-1020E0FF5EF7}"/>
              </a:ext>
            </a:extLst>
          </p:cNvPr>
          <p:cNvSpPr txBox="1"/>
          <p:nvPr/>
        </p:nvSpPr>
        <p:spPr>
          <a:xfrm>
            <a:off x="3627042" y="602786"/>
            <a:ext cx="7144512" cy="6186309"/>
          </a:xfrm>
          <a:prstGeom prst="rect">
            <a:avLst/>
          </a:prstGeom>
          <a:noFill/>
        </p:spPr>
        <p:txBody>
          <a:bodyPr wrap="square" rtlCol="0">
            <a:spAutoFit/>
          </a:bodyPr>
          <a:lstStyle/>
          <a:p>
            <a:r>
              <a:rPr lang="en-US" sz="1200" dirty="0"/>
              <a:t>Excellent talk by  Jake </a:t>
            </a:r>
            <a:r>
              <a:rPr lang="en-US" sz="1200" dirty="0" err="1"/>
              <a:t>Vanderplas</a:t>
            </a:r>
            <a:r>
              <a:rPr lang="en-US" sz="1200" dirty="0"/>
              <a:t>, </a:t>
            </a:r>
            <a:r>
              <a:rPr lang="en-US" sz="1200" dirty="0" err="1"/>
              <a:t>PyCon</a:t>
            </a:r>
            <a:r>
              <a:rPr lang="en-US" sz="1200" dirty="0"/>
              <a:t> 2016</a:t>
            </a:r>
          </a:p>
          <a:p>
            <a:r>
              <a:rPr lang="en-US" sz="1200" dirty="0"/>
              <a:t> - </a:t>
            </a:r>
            <a:r>
              <a:rPr lang="en-US" sz="1200" dirty="0">
                <a:hlinkClick r:id="rId3"/>
              </a:rPr>
              <a:t>https://www.youtube.com/watch?v=Iq9DzN6mvYA</a:t>
            </a:r>
            <a:endParaRPr lang="en-US" sz="1200" dirty="0"/>
          </a:p>
          <a:p>
            <a:endParaRPr lang="en-US" sz="1200" dirty="0"/>
          </a:p>
          <a:p>
            <a:r>
              <a:rPr lang="en-US" sz="1800" b="1" dirty="0">
                <a:solidFill>
                  <a:srgbClr val="0070C0"/>
                </a:solidFill>
              </a:rPr>
              <a:t>Four Recipes for Hacking Statistics:</a:t>
            </a:r>
          </a:p>
          <a:p>
            <a:endParaRPr lang="en-US" sz="1200" dirty="0"/>
          </a:p>
          <a:p>
            <a:pPr marL="342900" indent="-342900">
              <a:buFont typeface="+mj-lt"/>
              <a:buAutoNum type="arabicPeriod"/>
            </a:pPr>
            <a:r>
              <a:rPr lang="en-US" sz="1200" b="1" dirty="0">
                <a:solidFill>
                  <a:srgbClr val="FF0000"/>
                </a:solidFill>
              </a:rPr>
              <a:t>Direct Simulation</a:t>
            </a:r>
            <a:r>
              <a:rPr lang="en-US" sz="1200" dirty="0"/>
              <a:t>. What is p-value of getting 22 heads of 30 coin tosses.</a:t>
            </a:r>
            <a:br>
              <a:rPr lang="en-US" sz="1200" dirty="0"/>
            </a:br>
            <a:r>
              <a:rPr lang="en-US" sz="1200" dirty="0"/>
              <a:t>Approach 1 – calculate Binomial distribution for N=30, and P-value for N=22.</a:t>
            </a:r>
            <a:br>
              <a:rPr lang="en-US" sz="1200" dirty="0"/>
            </a:br>
            <a:r>
              <a:rPr lang="en-US" sz="1200" dirty="0"/>
              <a:t>Approach 2 – Monte Carlo. Just write 5 lines of python code to run 1000 30-tosses experiments. Calculate percent of experiments with </a:t>
            </a:r>
            <a:r>
              <a:rPr lang="en-US" sz="1200" dirty="0" err="1"/>
              <a:t>N_heads</a:t>
            </a:r>
            <a:r>
              <a:rPr lang="en-US" sz="1200" dirty="0"/>
              <a:t> &gt;= 22. </a:t>
            </a:r>
          </a:p>
          <a:p>
            <a:pPr marL="342900" indent="-342900">
              <a:buFont typeface="+mj-lt"/>
              <a:buAutoNum type="arabicPeriod"/>
            </a:pPr>
            <a:r>
              <a:rPr lang="en-US" sz="1200" b="1" dirty="0">
                <a:solidFill>
                  <a:srgbClr val="FF0000"/>
                </a:solidFill>
              </a:rPr>
              <a:t>Shuffling</a:t>
            </a:r>
            <a:r>
              <a:rPr lang="en-US" sz="1200" dirty="0"/>
              <a:t>. We comparing two groups and see that their means differ. Is this difference statistically significant? To answer we use random experiments. In each experiment we simply shaffle values between groups, calculate means in both groups, calculate difference. We plot histogram of differences. This will give us distribution and P-values (confidence interval).</a:t>
            </a:r>
          </a:p>
          <a:p>
            <a:pPr marL="342900" indent="-342900">
              <a:buFont typeface="+mj-lt"/>
              <a:buAutoNum type="arabicPeriod"/>
            </a:pPr>
            <a:r>
              <a:rPr lang="en-US" sz="1200" b="1" dirty="0">
                <a:solidFill>
                  <a:srgbClr val="FF0000"/>
                </a:solidFill>
              </a:rPr>
              <a:t>Bootstrapping</a:t>
            </a:r>
            <a:r>
              <a:rPr lang="en-US" sz="1200" dirty="0"/>
              <a:t>. Sampling with replacement. We take a sample consisting of 20 values. Each value is selected independently and randomly. There may be repeats (this is why it is said "with replacement"). We calculate the mean value in the sample. We repeat this sampling experiment 10,000 times – and make a distribution of these means – which will give us a good idea about the mean and error. Another example, we have (</a:t>
            </a:r>
            <a:r>
              <a:rPr lang="en-US" sz="1200" dirty="0" err="1"/>
              <a:t>x,y</a:t>
            </a:r>
            <a:r>
              <a:rPr lang="en-US" sz="1200" dirty="0"/>
              <a:t>) points – and want to estimate the slope and intercept. We take 10,000 random samples of 20 – for each sample calculate slope and intercept – and then plot joint distribution of them.</a:t>
            </a:r>
          </a:p>
          <a:p>
            <a:pPr marL="342900" indent="-342900">
              <a:buFont typeface="+mj-lt"/>
              <a:buAutoNum type="arabicPeriod"/>
            </a:pPr>
            <a:r>
              <a:rPr lang="en-US" sz="1200" b="1" dirty="0">
                <a:solidFill>
                  <a:srgbClr val="FF0000"/>
                </a:solidFill>
              </a:rPr>
              <a:t>Cross Validation</a:t>
            </a:r>
            <a:r>
              <a:rPr lang="en-US" sz="1200" dirty="0"/>
              <a:t>. We fit points with polynomial models – linear, quadratic, etc. The more complex models always give smaller error. But they may overfit. If we split data in two or more folds, we can see which model generalize better between folds.</a:t>
            </a:r>
          </a:p>
          <a:p>
            <a:endParaRPr lang="en-US" sz="1200" dirty="0"/>
          </a:p>
          <a:p>
            <a:r>
              <a:rPr lang="en-US" sz="1200" dirty="0"/>
              <a:t>More info:</a:t>
            </a:r>
          </a:p>
          <a:p>
            <a:pPr marL="285750" indent="-285750">
              <a:buFont typeface="Arial" panose="020B0604020202020204" pitchFamily="34" charset="0"/>
              <a:buChar char="•"/>
            </a:pPr>
            <a:r>
              <a:rPr lang="en-US" sz="1200" dirty="0"/>
              <a:t>Chris </a:t>
            </a:r>
            <a:r>
              <a:rPr lang="en-US" sz="1200" dirty="0" err="1"/>
              <a:t>Fonnesbeck</a:t>
            </a:r>
            <a:r>
              <a:rPr lang="en-US" sz="1200" dirty="0"/>
              <a:t> - SciPy 2015 talk "Statistical Thinking for Data Science"</a:t>
            </a:r>
            <a:br>
              <a:rPr lang="en-US" sz="1200" dirty="0"/>
            </a:br>
            <a:r>
              <a:rPr lang="en-US" sz="1200" dirty="0"/>
              <a:t> - </a:t>
            </a:r>
            <a:r>
              <a:rPr lang="en-US" sz="1200" dirty="0">
                <a:hlinkClick r:id="rId4"/>
              </a:rPr>
              <a:t>https://www.youtube.com/watch?v=TGGGDpb04Yc</a:t>
            </a:r>
            <a:r>
              <a:rPr lang="ru-RU" sz="1200" dirty="0"/>
              <a:t> </a:t>
            </a:r>
            <a:endParaRPr lang="en-US" sz="1200" dirty="0"/>
          </a:p>
          <a:p>
            <a:pPr marL="285750" indent="-285750">
              <a:buFont typeface="Arial" panose="020B0604020202020204" pitchFamily="34" charset="0"/>
              <a:buChar char="•"/>
            </a:pPr>
            <a:r>
              <a:rPr lang="en-US" sz="1200" dirty="0"/>
              <a:t>book "Bayesian Methods for Hackers: Probabilistic Programming and Bayesian Inference" by Cameron Davidson-Pilon - </a:t>
            </a:r>
            <a:r>
              <a:rPr lang="en-US" sz="1200" dirty="0">
                <a:hlinkClick r:id="rId5"/>
              </a:rPr>
              <a:t>https://github.com/CamDavidsonPilon/Probabilistic-Programming-and-Bayesian-Methods-for-Hackers</a:t>
            </a:r>
            <a:r>
              <a:rPr lang="en-US" sz="1200" dirty="0"/>
              <a:t> </a:t>
            </a:r>
          </a:p>
          <a:p>
            <a:pPr marL="285750" indent="-285750">
              <a:buFont typeface="Arial" panose="020B0604020202020204" pitchFamily="34" charset="0"/>
              <a:buChar char="•"/>
            </a:pPr>
            <a:r>
              <a:rPr lang="en-US" sz="1200" dirty="0"/>
              <a:t>book "Statistics is Easy! (Synthesis Lectures on Mathematics and Statistics)" by Dennis </a:t>
            </a:r>
            <a:r>
              <a:rPr lang="en-US" sz="1200" dirty="0" err="1"/>
              <a:t>Shasha</a:t>
            </a:r>
            <a:r>
              <a:rPr lang="en-US" sz="1200" dirty="0"/>
              <a:t> &amp; Manda Wilson</a:t>
            </a:r>
          </a:p>
        </p:txBody>
      </p:sp>
      <p:pic>
        <p:nvPicPr>
          <p:cNvPr id="1026" name="Picture 2" descr="Christopher Fonnesbeck">
            <a:extLst>
              <a:ext uri="{FF2B5EF4-FFF2-40B4-BE49-F238E27FC236}">
                <a16:creationId xmlns:a16="http://schemas.microsoft.com/office/drawing/2014/main" id="{E34A263D-157C-DF47-821F-41485D7F2885}"/>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9305814" y="4960266"/>
            <a:ext cx="553703" cy="55370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Jake Vanderplas - Python Interviews">
            <a:extLst>
              <a:ext uri="{FF2B5EF4-FFF2-40B4-BE49-F238E27FC236}">
                <a16:creationId xmlns:a16="http://schemas.microsoft.com/office/drawing/2014/main" id="{BA8285CE-B34D-CF48-A67F-4A43D1977698}"/>
              </a:ext>
            </a:extLst>
          </p:cNvPr>
          <p:cNvPicPr>
            <a:picLocks noChangeAspect="1" noChangeArrowheads="1"/>
          </p:cNvPicPr>
          <p:nvPr/>
        </p:nvPicPr>
        <p:blipFill rotWithShape="1">
          <a:blip r:embed="rId7" cstate="email">
            <a:extLst>
              <a:ext uri="{28A0092B-C50C-407E-A947-70E740481C1C}">
                <a14:useLocalDpi xmlns:a14="http://schemas.microsoft.com/office/drawing/2010/main"/>
              </a:ext>
            </a:extLst>
          </a:blip>
          <a:srcRect/>
          <a:stretch/>
        </p:blipFill>
        <p:spPr bwMode="auto">
          <a:xfrm>
            <a:off x="10784096" y="48768"/>
            <a:ext cx="1261510" cy="149961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E7B0910-69CC-114E-BC15-F26688160E1C}"/>
              </a:ext>
            </a:extLst>
          </p:cNvPr>
          <p:cNvSpPr txBox="1"/>
          <p:nvPr/>
        </p:nvSpPr>
        <p:spPr>
          <a:xfrm>
            <a:off x="10661477" y="1548384"/>
            <a:ext cx="1530523" cy="307777"/>
          </a:xfrm>
          <a:prstGeom prst="rect">
            <a:avLst/>
          </a:prstGeom>
          <a:noFill/>
        </p:spPr>
        <p:txBody>
          <a:bodyPr wrap="square" rtlCol="0">
            <a:spAutoFit/>
          </a:bodyPr>
          <a:lstStyle/>
          <a:p>
            <a:r>
              <a:rPr lang="en-US" dirty="0"/>
              <a:t>Jake </a:t>
            </a:r>
            <a:r>
              <a:rPr lang="en-US" dirty="0" err="1"/>
              <a:t>Vanderplas</a:t>
            </a:r>
            <a:endParaRPr lang="en-US" dirty="0"/>
          </a:p>
        </p:txBody>
      </p:sp>
      <p:pic>
        <p:nvPicPr>
          <p:cNvPr id="1030" name="Picture 6" descr="Bayesian Methods for Hackers: Probabilistic Programming and Bayesian  Inference (Addison-Wesley Data &amp; Analytics): Davidson-Pilon, Cameron:  9780133902839: Amazon.com: Books">
            <a:extLst>
              <a:ext uri="{FF2B5EF4-FFF2-40B4-BE49-F238E27FC236}">
                <a16:creationId xmlns:a16="http://schemas.microsoft.com/office/drawing/2014/main" id="{87209003-E54E-D54B-B900-BBB21B78CC6D}"/>
              </a:ext>
            </a:extLst>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11109709" y="3854850"/>
            <a:ext cx="1054181" cy="138226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tatistics is Easy! Second Edition (Synthesis Lectures on Mathematics and  Statistics): Shasha, Dennis, Wilson, Manda, Krantz, Steven G.:  9781608455706: Amazon.com: Books">
            <a:extLst>
              <a:ext uri="{FF2B5EF4-FFF2-40B4-BE49-F238E27FC236}">
                <a16:creationId xmlns:a16="http://schemas.microsoft.com/office/drawing/2014/main" id="{5371D94D-2E73-C84D-8B4A-9DBF095CF284}"/>
              </a:ext>
            </a:extLst>
          </p:cNvPr>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11040797" y="5420852"/>
            <a:ext cx="1123093" cy="13822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9508C2CC-DB56-5744-A08C-FC63084F4362}"/>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138349" y="4705913"/>
            <a:ext cx="3219450" cy="1525683"/>
          </a:xfrm>
          <a:prstGeom prst="rect">
            <a:avLst/>
          </a:prstGeom>
        </p:spPr>
      </p:pic>
      <p:sp>
        <p:nvSpPr>
          <p:cNvPr id="6" name="TextBox 5">
            <a:extLst>
              <a:ext uri="{FF2B5EF4-FFF2-40B4-BE49-F238E27FC236}">
                <a16:creationId xmlns:a16="http://schemas.microsoft.com/office/drawing/2014/main" id="{ACA20E3D-5B6E-5E4C-A609-2502C613F9FC}"/>
              </a:ext>
            </a:extLst>
          </p:cNvPr>
          <p:cNvSpPr txBox="1"/>
          <p:nvPr/>
        </p:nvSpPr>
        <p:spPr>
          <a:xfrm>
            <a:off x="1912061" y="895617"/>
            <a:ext cx="1017618" cy="523220"/>
          </a:xfrm>
          <a:prstGeom prst="rect">
            <a:avLst/>
          </a:prstGeom>
          <a:noFill/>
        </p:spPr>
        <p:txBody>
          <a:bodyPr wrap="square" rtlCol="0">
            <a:spAutoFit/>
          </a:bodyPr>
          <a:lstStyle/>
          <a:p>
            <a:pPr algn="ctr"/>
            <a:r>
              <a:rPr lang="en-US" b="1" dirty="0">
                <a:solidFill>
                  <a:srgbClr val="FF0000"/>
                </a:solidFill>
              </a:rPr>
              <a:t>Shuffling:</a:t>
            </a:r>
          </a:p>
          <a:p>
            <a:pPr algn="ctr"/>
            <a:r>
              <a:rPr lang="en-US" b="1" dirty="0">
                <a:solidFill>
                  <a:srgbClr val="FF0000"/>
                </a:solidFill>
              </a:rPr>
              <a:t>A       B</a:t>
            </a:r>
          </a:p>
        </p:txBody>
      </p:sp>
      <p:pic>
        <p:nvPicPr>
          <p:cNvPr id="9" name="Picture 8">
            <a:extLst>
              <a:ext uri="{FF2B5EF4-FFF2-40B4-BE49-F238E27FC236}">
                <a16:creationId xmlns:a16="http://schemas.microsoft.com/office/drawing/2014/main" id="{FE90A836-48F3-4C45-BA47-2586686D952C}"/>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1848251" y="1399953"/>
            <a:ext cx="1145238" cy="1382730"/>
          </a:xfrm>
          <a:prstGeom prst="rect">
            <a:avLst/>
          </a:prstGeom>
        </p:spPr>
      </p:pic>
      <p:sp>
        <p:nvSpPr>
          <p:cNvPr id="14" name="TextBox 13">
            <a:extLst>
              <a:ext uri="{FF2B5EF4-FFF2-40B4-BE49-F238E27FC236}">
                <a16:creationId xmlns:a16="http://schemas.microsoft.com/office/drawing/2014/main" id="{6EA0B4F3-30F2-8E4F-8D6F-37E7195036FE}"/>
              </a:ext>
            </a:extLst>
          </p:cNvPr>
          <p:cNvSpPr txBox="1"/>
          <p:nvPr/>
        </p:nvSpPr>
        <p:spPr>
          <a:xfrm>
            <a:off x="984504" y="2988005"/>
            <a:ext cx="1608582" cy="307777"/>
          </a:xfrm>
          <a:prstGeom prst="rect">
            <a:avLst/>
          </a:prstGeom>
          <a:noFill/>
        </p:spPr>
        <p:txBody>
          <a:bodyPr wrap="square" rtlCol="0">
            <a:spAutoFit/>
          </a:bodyPr>
          <a:lstStyle/>
          <a:p>
            <a:r>
              <a:rPr lang="en-US" b="1" dirty="0">
                <a:solidFill>
                  <a:srgbClr val="FF0000"/>
                </a:solidFill>
              </a:rPr>
              <a:t>Cross Validation</a:t>
            </a:r>
          </a:p>
        </p:txBody>
      </p:sp>
      <p:pic>
        <p:nvPicPr>
          <p:cNvPr id="10" name="Picture 9">
            <a:extLst>
              <a:ext uri="{FF2B5EF4-FFF2-40B4-BE49-F238E27FC236}">
                <a16:creationId xmlns:a16="http://schemas.microsoft.com/office/drawing/2014/main" id="{8B3E9F60-1A2D-9141-B12D-851942D84974}"/>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400563" y="3333273"/>
            <a:ext cx="2692735" cy="1278310"/>
          </a:xfrm>
          <a:prstGeom prst="rect">
            <a:avLst/>
          </a:prstGeom>
        </p:spPr>
      </p:pic>
      <p:pic>
        <p:nvPicPr>
          <p:cNvPr id="11" name="Picture 10">
            <a:extLst>
              <a:ext uri="{FF2B5EF4-FFF2-40B4-BE49-F238E27FC236}">
                <a16:creationId xmlns:a16="http://schemas.microsoft.com/office/drawing/2014/main" id="{BBEF31FB-E595-D744-B92B-3BFB779CE0F9}"/>
              </a:ext>
            </a:extLst>
          </p:cNvPr>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10918782" y="2795556"/>
            <a:ext cx="1231893" cy="875560"/>
          </a:xfrm>
          <a:prstGeom prst="rect">
            <a:avLst/>
          </a:prstGeom>
        </p:spPr>
      </p:pic>
      <p:pic>
        <p:nvPicPr>
          <p:cNvPr id="8" name="Picture 7">
            <a:extLst>
              <a:ext uri="{FF2B5EF4-FFF2-40B4-BE49-F238E27FC236}">
                <a16:creationId xmlns:a16="http://schemas.microsoft.com/office/drawing/2014/main" id="{375B171D-A4E0-AF48-9CC3-578F5FA38694}"/>
              </a:ext>
            </a:extLst>
          </p:cNvPr>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386727" y="1398909"/>
            <a:ext cx="1152098" cy="1396647"/>
          </a:xfrm>
          <a:prstGeom prst="rect">
            <a:avLst/>
          </a:prstGeom>
        </p:spPr>
      </p:pic>
      <p:sp>
        <p:nvSpPr>
          <p:cNvPr id="17" name="TextBox 16">
            <a:extLst>
              <a:ext uri="{FF2B5EF4-FFF2-40B4-BE49-F238E27FC236}">
                <a16:creationId xmlns:a16="http://schemas.microsoft.com/office/drawing/2014/main" id="{371FAA65-8718-2146-B750-DD7A6343067C}"/>
              </a:ext>
            </a:extLst>
          </p:cNvPr>
          <p:cNvSpPr txBox="1"/>
          <p:nvPr/>
        </p:nvSpPr>
        <p:spPr>
          <a:xfrm>
            <a:off x="361202" y="904699"/>
            <a:ext cx="1220177" cy="523220"/>
          </a:xfrm>
          <a:prstGeom prst="rect">
            <a:avLst/>
          </a:prstGeom>
          <a:noFill/>
        </p:spPr>
        <p:txBody>
          <a:bodyPr wrap="square" rtlCol="0">
            <a:spAutoFit/>
          </a:bodyPr>
          <a:lstStyle/>
          <a:p>
            <a:pPr algn="ctr"/>
            <a:r>
              <a:rPr lang="en-US" b="1" dirty="0">
                <a:solidFill>
                  <a:srgbClr val="FF0000"/>
                </a:solidFill>
              </a:rPr>
              <a:t>Means:</a:t>
            </a:r>
          </a:p>
          <a:p>
            <a:pPr algn="ctr"/>
            <a:r>
              <a:rPr lang="en-US" b="1" dirty="0">
                <a:solidFill>
                  <a:srgbClr val="FF0000"/>
                </a:solidFill>
              </a:rPr>
              <a:t>73.5   66.9</a:t>
            </a:r>
          </a:p>
        </p:txBody>
      </p:sp>
    </p:spTree>
    <p:extLst>
      <p:ext uri="{BB962C8B-B14F-4D97-AF65-F5344CB8AC3E}">
        <p14:creationId xmlns:p14="http://schemas.microsoft.com/office/powerpoint/2010/main" val="21798081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FF755FE-9EC5-2243-8B9B-E4A9E7CEC3D9}"/>
              </a:ext>
            </a:extLst>
          </p:cNvPr>
          <p:cNvSpPr txBox="1"/>
          <p:nvPr/>
        </p:nvSpPr>
        <p:spPr>
          <a:xfrm>
            <a:off x="0" y="0"/>
            <a:ext cx="7656576" cy="523220"/>
          </a:xfrm>
          <a:prstGeom prst="rect">
            <a:avLst/>
          </a:prstGeom>
          <a:noFill/>
        </p:spPr>
        <p:txBody>
          <a:bodyPr wrap="square" rtlCol="0">
            <a:spAutoFit/>
          </a:bodyPr>
          <a:lstStyle/>
          <a:p>
            <a:r>
              <a:rPr lang="en-US" sz="2800" b="1" dirty="0"/>
              <a:t>Example – direct simulation to find P-value</a:t>
            </a:r>
          </a:p>
        </p:txBody>
      </p:sp>
      <p:sp>
        <p:nvSpPr>
          <p:cNvPr id="3" name="TextBox 2">
            <a:extLst>
              <a:ext uri="{FF2B5EF4-FFF2-40B4-BE49-F238E27FC236}">
                <a16:creationId xmlns:a16="http://schemas.microsoft.com/office/drawing/2014/main" id="{B4214305-FB5A-AA42-89E0-5393ADEB579E}"/>
              </a:ext>
            </a:extLst>
          </p:cNvPr>
          <p:cNvSpPr txBox="1"/>
          <p:nvPr/>
        </p:nvSpPr>
        <p:spPr>
          <a:xfrm>
            <a:off x="1376975" y="1291772"/>
            <a:ext cx="5589881" cy="2308324"/>
          </a:xfrm>
          <a:prstGeom prst="rect">
            <a:avLst/>
          </a:prstGeom>
          <a:noFill/>
        </p:spPr>
        <p:txBody>
          <a:bodyPr wrap="square" rtlCol="0">
            <a:spAutoFit/>
          </a:bodyPr>
          <a:lstStyle/>
          <a:p>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counter=0</a:t>
            </a:r>
          </a:p>
          <a:p>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N=10000</a:t>
            </a:r>
          </a:p>
          <a:p>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for ii in range(N):</a:t>
            </a:r>
          </a:p>
          <a:p>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    trials = </a:t>
            </a:r>
            <a:r>
              <a:rPr lang="en-US" sz="1800" dirty="0" err="1">
                <a:solidFill>
                  <a:srgbClr val="0070C0"/>
                </a:solidFill>
                <a:latin typeface="Menlo" panose="020B0609030804020204" pitchFamily="49" charset="0"/>
                <a:ea typeface="Menlo" panose="020B0609030804020204" pitchFamily="49" charset="0"/>
                <a:cs typeface="Menlo" panose="020B0609030804020204" pitchFamily="49" charset="0"/>
              </a:rPr>
              <a:t>randint</a:t>
            </a:r>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(2, size=30)</a:t>
            </a:r>
          </a:p>
          <a:p>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    if </a:t>
            </a:r>
            <a:r>
              <a:rPr lang="en-US" sz="1800" dirty="0" err="1">
                <a:solidFill>
                  <a:srgbClr val="0070C0"/>
                </a:solidFill>
                <a:latin typeface="Menlo" panose="020B0609030804020204" pitchFamily="49" charset="0"/>
                <a:ea typeface="Menlo" panose="020B0609030804020204" pitchFamily="49" charset="0"/>
                <a:cs typeface="Menlo" panose="020B0609030804020204" pitchFamily="49" charset="0"/>
              </a:rPr>
              <a:t>trials.sum</a:t>
            </a:r>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 &gt;= 22:</a:t>
            </a:r>
          </a:p>
          <a:p>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        counter += 1</a:t>
            </a:r>
          </a:p>
          <a:p>
            <a:endParaRPr lang="en-US" sz="18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800" dirty="0" err="1">
                <a:solidFill>
                  <a:srgbClr val="0070C0"/>
                </a:solidFill>
                <a:latin typeface="Menlo" panose="020B0609030804020204" pitchFamily="49" charset="0"/>
                <a:ea typeface="Menlo" panose="020B0609030804020204" pitchFamily="49" charset="0"/>
                <a:cs typeface="Menlo" panose="020B0609030804020204" pitchFamily="49" charset="0"/>
              </a:rPr>
              <a:t>P_val</a:t>
            </a:r>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 = counter / N     </a:t>
            </a:r>
            <a:r>
              <a:rPr lang="en-US" sz="1800" dirty="0">
                <a:solidFill>
                  <a:srgbClr val="00B050"/>
                </a:solidFill>
                <a:latin typeface="Menlo" panose="020B0609030804020204" pitchFamily="49" charset="0"/>
                <a:ea typeface="Menlo" panose="020B0609030804020204" pitchFamily="49" charset="0"/>
                <a:cs typeface="Menlo" panose="020B0609030804020204" pitchFamily="49" charset="0"/>
              </a:rPr>
              <a:t># 0.008</a:t>
            </a:r>
            <a:endParaRPr lang="en-US" sz="1800" dirty="0">
              <a:solidFill>
                <a:srgbClr val="0070C0"/>
              </a:solidFill>
              <a:latin typeface="Menlo" panose="020B0609030804020204" pitchFamily="49" charset="0"/>
              <a:ea typeface="Menlo" panose="020B0609030804020204" pitchFamily="49" charset="0"/>
              <a:cs typeface="Menlo" panose="020B0609030804020204" pitchFamily="49" charset="0"/>
            </a:endParaRPr>
          </a:p>
        </p:txBody>
      </p:sp>
    </p:spTree>
    <p:extLst>
      <p:ext uri="{BB962C8B-B14F-4D97-AF65-F5344CB8AC3E}">
        <p14:creationId xmlns:p14="http://schemas.microsoft.com/office/powerpoint/2010/main" val="5345019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FF755FE-9EC5-2243-8B9B-E4A9E7CEC3D9}"/>
              </a:ext>
            </a:extLst>
          </p:cNvPr>
          <p:cNvSpPr txBox="1"/>
          <p:nvPr/>
        </p:nvSpPr>
        <p:spPr>
          <a:xfrm>
            <a:off x="0" y="0"/>
            <a:ext cx="7656576" cy="523220"/>
          </a:xfrm>
          <a:prstGeom prst="rect">
            <a:avLst/>
          </a:prstGeom>
          <a:noFill/>
        </p:spPr>
        <p:txBody>
          <a:bodyPr wrap="square" rtlCol="0">
            <a:spAutoFit/>
          </a:bodyPr>
          <a:lstStyle/>
          <a:p>
            <a:r>
              <a:rPr lang="en-US" sz="2800" b="1" dirty="0"/>
              <a:t>Example – Shuffling</a:t>
            </a:r>
          </a:p>
        </p:txBody>
      </p:sp>
      <p:sp>
        <p:nvSpPr>
          <p:cNvPr id="3" name="TextBox 2">
            <a:extLst>
              <a:ext uri="{FF2B5EF4-FFF2-40B4-BE49-F238E27FC236}">
                <a16:creationId xmlns:a16="http://schemas.microsoft.com/office/drawing/2014/main" id="{B4214305-FB5A-AA42-89E0-5393ADEB579E}"/>
              </a:ext>
            </a:extLst>
          </p:cNvPr>
          <p:cNvSpPr txBox="1"/>
          <p:nvPr/>
        </p:nvSpPr>
        <p:spPr>
          <a:xfrm>
            <a:off x="31775" y="523220"/>
            <a:ext cx="8417282" cy="738664"/>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rgbClr val="0070C0"/>
                </a:solidFill>
                <a:latin typeface="Menlo" panose="020B0609030804020204" pitchFamily="49" charset="0"/>
                <a:ea typeface="Menlo" panose="020B0609030804020204" pitchFamily="49" charset="0"/>
                <a:cs typeface="Menlo" panose="020B0609030804020204" pitchFamily="49" charset="0"/>
              </a:rPr>
              <a:t>Shuffling works when the Null Hypothesis assumes two groups are equivalent</a:t>
            </a:r>
          </a:p>
          <a:p>
            <a:pPr marL="285750" indent="-285750">
              <a:buFont typeface="Arial" panose="020B0604020202020204" pitchFamily="34" charset="0"/>
              <a:buChar char="•"/>
            </a:pPr>
            <a:r>
              <a:rPr lang="en-US" dirty="0">
                <a:solidFill>
                  <a:srgbClr val="0070C0"/>
                </a:solidFill>
                <a:latin typeface="Menlo" panose="020B0609030804020204" pitchFamily="49" charset="0"/>
                <a:ea typeface="Menlo" panose="020B0609030804020204" pitchFamily="49" charset="0"/>
                <a:cs typeface="Menlo" panose="020B0609030804020204" pitchFamily="49" charset="0"/>
              </a:rPr>
              <a:t>Only works when there is no selection biases</a:t>
            </a:r>
          </a:p>
          <a:p>
            <a:pPr marL="285750" indent="-285750">
              <a:buFont typeface="Arial" panose="020B0604020202020204" pitchFamily="34" charset="0"/>
              <a:buChar char="•"/>
            </a:pPr>
            <a:r>
              <a:rPr lang="en-US" dirty="0">
                <a:solidFill>
                  <a:srgbClr val="0070C0"/>
                </a:solidFill>
                <a:latin typeface="Menlo" panose="020B0609030804020204" pitchFamily="49" charset="0"/>
                <a:ea typeface="Menlo" panose="020B0609030804020204" pitchFamily="49" charset="0"/>
                <a:cs typeface="Menlo" panose="020B0609030804020204" pitchFamily="49" charset="0"/>
              </a:rPr>
              <a:t>The trials must be independent (!)</a:t>
            </a:r>
          </a:p>
        </p:txBody>
      </p:sp>
      <p:sp>
        <p:nvSpPr>
          <p:cNvPr id="4" name="TextBox 3">
            <a:extLst>
              <a:ext uri="{FF2B5EF4-FFF2-40B4-BE49-F238E27FC236}">
                <a16:creationId xmlns:a16="http://schemas.microsoft.com/office/drawing/2014/main" id="{70E595A3-403F-6749-95B4-96B9355C9FC4}"/>
              </a:ext>
            </a:extLst>
          </p:cNvPr>
          <p:cNvSpPr txBox="1"/>
          <p:nvPr/>
        </p:nvSpPr>
        <p:spPr>
          <a:xfrm>
            <a:off x="1423491" y="1349187"/>
            <a:ext cx="3566009" cy="369332"/>
          </a:xfrm>
          <a:prstGeom prst="rect">
            <a:avLst/>
          </a:prstGeom>
          <a:noFill/>
        </p:spPr>
        <p:txBody>
          <a:bodyPr wrap="square" rtlCol="0">
            <a:spAutoFit/>
          </a:bodyPr>
          <a:lstStyle/>
          <a:p>
            <a:r>
              <a:rPr lang="en-US" sz="1600" dirty="0">
                <a:solidFill>
                  <a:srgbClr val="0070C0"/>
                </a:solidFill>
                <a:latin typeface="Menlo" panose="020B0609030804020204" pitchFamily="49" charset="0"/>
                <a:ea typeface="Menlo" panose="020B0609030804020204" pitchFamily="49" charset="0"/>
                <a:cs typeface="Menlo" panose="020B0609030804020204" pitchFamily="49" charset="0"/>
              </a:rPr>
              <a:t>Example</a:t>
            </a:r>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 A/B Split Test</a:t>
            </a:r>
          </a:p>
        </p:txBody>
      </p:sp>
      <p:pic>
        <p:nvPicPr>
          <p:cNvPr id="5" name="Picture 4">
            <a:extLst>
              <a:ext uri="{FF2B5EF4-FFF2-40B4-BE49-F238E27FC236}">
                <a16:creationId xmlns:a16="http://schemas.microsoft.com/office/drawing/2014/main" id="{44670FF3-E80B-EB4A-8B34-22B9059C788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55614" y="1746504"/>
            <a:ext cx="2079355" cy="1046718"/>
          </a:xfrm>
          <a:prstGeom prst="rect">
            <a:avLst/>
          </a:prstGeom>
        </p:spPr>
      </p:pic>
      <p:pic>
        <p:nvPicPr>
          <p:cNvPr id="6" name="Picture 5">
            <a:extLst>
              <a:ext uri="{FF2B5EF4-FFF2-40B4-BE49-F238E27FC236}">
                <a16:creationId xmlns:a16="http://schemas.microsoft.com/office/drawing/2014/main" id="{5996D345-1AD7-C44B-A5D5-92104089260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035808" y="1746504"/>
            <a:ext cx="2079355" cy="1046718"/>
          </a:xfrm>
          <a:prstGeom prst="rect">
            <a:avLst/>
          </a:prstGeom>
        </p:spPr>
      </p:pic>
      <p:sp>
        <p:nvSpPr>
          <p:cNvPr id="7" name="TextBox 6">
            <a:extLst>
              <a:ext uri="{FF2B5EF4-FFF2-40B4-BE49-F238E27FC236}">
                <a16:creationId xmlns:a16="http://schemas.microsoft.com/office/drawing/2014/main" id="{BA7671ED-AC2B-434A-B53F-6906D1E2DAB3}"/>
              </a:ext>
            </a:extLst>
          </p:cNvPr>
          <p:cNvSpPr txBox="1"/>
          <p:nvPr/>
        </p:nvSpPr>
        <p:spPr>
          <a:xfrm>
            <a:off x="415955" y="2071874"/>
            <a:ext cx="411405" cy="369332"/>
          </a:xfrm>
          <a:prstGeom prst="rect">
            <a:avLst/>
          </a:prstGeom>
          <a:noFill/>
        </p:spPr>
        <p:txBody>
          <a:bodyPr wrap="square" rtlCol="0">
            <a:spAutoFit/>
          </a:bodyPr>
          <a:lstStyle/>
          <a:p>
            <a:r>
              <a:rPr lang="en-US" sz="1800" b="1" dirty="0">
                <a:solidFill>
                  <a:srgbClr val="00B050"/>
                </a:solidFill>
                <a:latin typeface="Menlo" panose="020B0609030804020204" pitchFamily="49" charset="0"/>
                <a:ea typeface="Menlo" panose="020B0609030804020204" pitchFamily="49" charset="0"/>
                <a:cs typeface="Menlo" panose="020B0609030804020204" pitchFamily="49" charset="0"/>
              </a:rPr>
              <a:t>A</a:t>
            </a:r>
          </a:p>
        </p:txBody>
      </p:sp>
      <p:sp>
        <p:nvSpPr>
          <p:cNvPr id="8" name="TextBox 7">
            <a:extLst>
              <a:ext uri="{FF2B5EF4-FFF2-40B4-BE49-F238E27FC236}">
                <a16:creationId xmlns:a16="http://schemas.microsoft.com/office/drawing/2014/main" id="{FEEB07CE-582A-044D-9FC6-EF4B1DC52B88}"/>
              </a:ext>
            </a:extLst>
          </p:cNvPr>
          <p:cNvSpPr txBox="1"/>
          <p:nvPr/>
        </p:nvSpPr>
        <p:spPr>
          <a:xfrm>
            <a:off x="5224891" y="2071874"/>
            <a:ext cx="411405" cy="369332"/>
          </a:xfrm>
          <a:prstGeom prst="rect">
            <a:avLst/>
          </a:prstGeom>
          <a:noFill/>
        </p:spPr>
        <p:txBody>
          <a:bodyPr wrap="square" rtlCol="0">
            <a:spAutoFit/>
          </a:bodyPr>
          <a:lstStyle/>
          <a:p>
            <a:r>
              <a:rPr lang="en-US" sz="1800" b="1" dirty="0">
                <a:solidFill>
                  <a:srgbClr val="00B050"/>
                </a:solidFill>
                <a:latin typeface="Menlo" panose="020B0609030804020204" pitchFamily="49" charset="0"/>
                <a:ea typeface="Menlo" panose="020B0609030804020204" pitchFamily="49" charset="0"/>
                <a:cs typeface="Menlo" panose="020B0609030804020204" pitchFamily="49" charset="0"/>
              </a:rPr>
              <a:t>B</a:t>
            </a:r>
          </a:p>
        </p:txBody>
      </p:sp>
      <p:sp>
        <p:nvSpPr>
          <p:cNvPr id="10" name="Rectangle 9">
            <a:extLst>
              <a:ext uri="{FF2B5EF4-FFF2-40B4-BE49-F238E27FC236}">
                <a16:creationId xmlns:a16="http://schemas.microsoft.com/office/drawing/2014/main" id="{9CD7ACBE-9D26-1F4C-A0EA-9DEA5B58888A}"/>
              </a:ext>
            </a:extLst>
          </p:cNvPr>
          <p:cNvSpPr/>
          <p:nvPr/>
        </p:nvSpPr>
        <p:spPr>
          <a:xfrm>
            <a:off x="7074665" y="1349187"/>
            <a:ext cx="5158912" cy="5170646"/>
          </a:xfrm>
          <a:prstGeom prst="rect">
            <a:avLst/>
          </a:prstGeom>
        </p:spPr>
        <p:txBody>
          <a:bodyPr wrap="square">
            <a:spAutoFit/>
          </a:bodyPr>
          <a:lstStyle/>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N=10000</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A = </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np.random.exponential</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(scale=2.0, size=N)</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B = </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np.random.exponential</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(scale=2.4, size=N)</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C = </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np.concatenate</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((A,B))</a:t>
            </a:r>
            <a:r>
              <a:rPr lang="en-US" sz="1100" dirty="0">
                <a:solidFill>
                  <a:srgbClr val="00B050"/>
                </a:solidFill>
                <a:latin typeface="Menlo" panose="020B0609030804020204" pitchFamily="49" charset="0"/>
                <a:ea typeface="Menlo" panose="020B0609030804020204" pitchFamily="49" charset="0"/>
                <a:cs typeface="Menlo" panose="020B0609030804020204" pitchFamily="49" charset="0"/>
              </a:rPr>
              <a:t> # Combined</a:t>
            </a:r>
          </a:p>
          <a:p>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diff_AB</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 = </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np.mean</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(A) - </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np.mean</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(B)</a:t>
            </a:r>
          </a:p>
          <a:p>
            <a:endParaRPr lang="en-US" sz="11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N_shuf</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 = 5000</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counter = 1</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diffs = </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np.zeros</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N_shuf</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dtype</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=float)</a:t>
            </a:r>
          </a:p>
          <a:p>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rng</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 = </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np.random.default_rng</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for ii in range(</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N_shuf</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rng.shuffle</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(C, axis = 0)</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    split1 = C[:N]</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    split2 = C[N:]</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    diffs[ii] = </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np.mean</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(split2) - </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np.mean</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(split1)</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    if diffs[ii] &lt;= </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diff_AB</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        counter += 1</a:t>
            </a:r>
          </a:p>
          <a:p>
            <a:endParaRPr lang="en-US" sz="11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diffs_mean</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 = </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np.mean</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(diffs)   </a:t>
            </a:r>
          </a:p>
          <a:p>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diffs_std</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  = </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np.std</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(diffs)</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print(</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f"diff_AB</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    = {diff_AB:.5f}")   </a:t>
            </a:r>
            <a:r>
              <a:rPr lang="en-US" sz="1100" dirty="0">
                <a:solidFill>
                  <a:srgbClr val="00B050"/>
                </a:solidFill>
                <a:latin typeface="Menlo" panose="020B0609030804020204" pitchFamily="49" charset="0"/>
                <a:ea typeface="Menlo" panose="020B0609030804020204" pitchFamily="49" charset="0"/>
                <a:cs typeface="Menlo" panose="020B0609030804020204" pitchFamily="49" charset="0"/>
              </a:rPr>
              <a:t>  # 0.4</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print(</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f"diffs</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 mean = {diffs_mean:.5f}")</a:t>
            </a:r>
            <a:r>
              <a:rPr lang="en-US" sz="1100" dirty="0">
                <a:solidFill>
                  <a:srgbClr val="00B050"/>
                </a:solidFill>
                <a:latin typeface="Menlo" panose="020B0609030804020204" pitchFamily="49" charset="0"/>
                <a:ea typeface="Menlo" panose="020B0609030804020204" pitchFamily="49" charset="0"/>
                <a:cs typeface="Menlo" panose="020B0609030804020204" pitchFamily="49" charset="0"/>
              </a:rPr>
              <a:t>  # 0</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print(</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f"diffs</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 std  = {diffs_std:.5f}") </a:t>
            </a:r>
            <a:r>
              <a:rPr lang="en-US" sz="1100" dirty="0">
                <a:solidFill>
                  <a:srgbClr val="00B050"/>
                </a:solidFill>
                <a:latin typeface="Menlo" panose="020B0609030804020204" pitchFamily="49" charset="0"/>
                <a:ea typeface="Menlo" panose="020B0609030804020204" pitchFamily="49" charset="0"/>
                <a:cs typeface="Menlo" panose="020B0609030804020204" pitchFamily="49" charset="0"/>
              </a:rPr>
              <a:t>  # 0.03</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print(</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f"P</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-value    = {counter/</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N_shuf</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1100" dirty="0">
                <a:solidFill>
                  <a:srgbClr val="00B050"/>
                </a:solidFill>
                <a:latin typeface="Menlo" panose="020B0609030804020204" pitchFamily="49" charset="0"/>
                <a:ea typeface="Menlo" panose="020B0609030804020204" pitchFamily="49" charset="0"/>
                <a:cs typeface="Menlo" panose="020B0609030804020204" pitchFamily="49" charset="0"/>
              </a:rPr>
              <a:t> # 0.0002</a:t>
            </a:r>
          </a:p>
          <a:p>
            <a:endParaRPr lang="en-US" sz="11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plt.rcParams</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figure.figsize</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 = (8, 4) </a:t>
            </a:r>
            <a:r>
              <a:rPr lang="en-US" sz="1100" dirty="0">
                <a:solidFill>
                  <a:srgbClr val="00B050"/>
                </a:solidFill>
                <a:latin typeface="Menlo" panose="020B0609030804020204" pitchFamily="49" charset="0"/>
                <a:ea typeface="Menlo" panose="020B0609030804020204" pitchFamily="49" charset="0"/>
                <a:cs typeface="Menlo" panose="020B0609030804020204" pitchFamily="49" charset="0"/>
              </a:rPr>
              <a:t># (width, height)</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fig, ax = </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plt.subplots</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nrows</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=1, </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ncols</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=1)</a:t>
            </a:r>
          </a:p>
          <a:p>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ax.hist</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diffs,bins</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=100)</a:t>
            </a:r>
          </a:p>
          <a:p>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ax.set_xlim</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(left=0,right=0.2)</a:t>
            </a:r>
          </a:p>
          <a:p>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plt.show</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a:t>
            </a:r>
          </a:p>
        </p:txBody>
      </p:sp>
      <p:pic>
        <p:nvPicPr>
          <p:cNvPr id="11" name="Picture 10">
            <a:extLst>
              <a:ext uri="{FF2B5EF4-FFF2-40B4-BE49-F238E27FC236}">
                <a16:creationId xmlns:a16="http://schemas.microsoft.com/office/drawing/2014/main" id="{819CECB9-FA40-2B4A-8E80-911C091D3BD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970456" y="3158775"/>
            <a:ext cx="2130703" cy="1072566"/>
          </a:xfrm>
          <a:prstGeom prst="rect">
            <a:avLst/>
          </a:prstGeom>
        </p:spPr>
      </p:pic>
      <p:sp>
        <p:nvSpPr>
          <p:cNvPr id="12" name="TextBox 11">
            <a:extLst>
              <a:ext uri="{FF2B5EF4-FFF2-40B4-BE49-F238E27FC236}">
                <a16:creationId xmlns:a16="http://schemas.microsoft.com/office/drawing/2014/main" id="{99770D08-03F1-D24C-A73C-37974E179C5F}"/>
              </a:ext>
            </a:extLst>
          </p:cNvPr>
          <p:cNvSpPr txBox="1"/>
          <p:nvPr/>
        </p:nvSpPr>
        <p:spPr>
          <a:xfrm>
            <a:off x="1240611" y="2822110"/>
            <a:ext cx="3566009" cy="307777"/>
          </a:xfrm>
          <a:prstGeom prst="rect">
            <a:avLst/>
          </a:prstGeom>
          <a:noFill/>
        </p:spPr>
        <p:txBody>
          <a:bodyPr wrap="square" rtlCol="0">
            <a:spAutoFit/>
          </a:bodyPr>
          <a:lstStyle/>
          <a:p>
            <a:pPr algn="ctr"/>
            <a:r>
              <a:rPr lang="en-US" dirty="0">
                <a:solidFill>
                  <a:srgbClr val="0070C0"/>
                </a:solidFill>
                <a:latin typeface="+mj-lt"/>
                <a:ea typeface="Menlo" panose="020B0609030804020204" pitchFamily="49" charset="0"/>
                <a:cs typeface="Menlo" panose="020B0609030804020204" pitchFamily="49" charset="0"/>
              </a:rPr>
              <a:t>Distribution of diffs of shuffled parts</a:t>
            </a:r>
          </a:p>
        </p:txBody>
      </p:sp>
      <p:sp>
        <p:nvSpPr>
          <p:cNvPr id="13" name="TextBox 12">
            <a:extLst>
              <a:ext uri="{FF2B5EF4-FFF2-40B4-BE49-F238E27FC236}">
                <a16:creationId xmlns:a16="http://schemas.microsoft.com/office/drawing/2014/main" id="{86023C08-35C4-CF4E-B4AF-CFB2312D7594}"/>
              </a:ext>
            </a:extLst>
          </p:cNvPr>
          <p:cNvSpPr txBox="1"/>
          <p:nvPr/>
        </p:nvSpPr>
        <p:spPr>
          <a:xfrm>
            <a:off x="5373441" y="3955130"/>
            <a:ext cx="1625766" cy="461665"/>
          </a:xfrm>
          <a:prstGeom prst="rect">
            <a:avLst/>
          </a:prstGeom>
          <a:noFill/>
        </p:spPr>
        <p:txBody>
          <a:bodyPr wrap="none" rtlCol="0">
            <a:spAutoFit/>
          </a:bodyPr>
          <a:lstStyle/>
          <a:p>
            <a:r>
              <a:rPr lang="en-US" sz="1200" dirty="0">
                <a:solidFill>
                  <a:srgbClr val="00B050"/>
                </a:solidFill>
              </a:rPr>
              <a:t>P-value is estimated </a:t>
            </a:r>
          </a:p>
          <a:p>
            <a:r>
              <a:rPr lang="en-US" sz="1200" dirty="0">
                <a:solidFill>
                  <a:srgbClr val="00B050"/>
                </a:solidFill>
              </a:rPr>
              <a:t>by counting</a:t>
            </a:r>
          </a:p>
        </p:txBody>
      </p:sp>
      <p:sp>
        <p:nvSpPr>
          <p:cNvPr id="14" name="Right Arrow 13">
            <a:extLst>
              <a:ext uri="{FF2B5EF4-FFF2-40B4-BE49-F238E27FC236}">
                <a16:creationId xmlns:a16="http://schemas.microsoft.com/office/drawing/2014/main" id="{36A8D943-90BE-FB4B-B711-182B969661B6}"/>
              </a:ext>
            </a:extLst>
          </p:cNvPr>
          <p:cNvSpPr/>
          <p:nvPr/>
        </p:nvSpPr>
        <p:spPr>
          <a:xfrm>
            <a:off x="6946317" y="4117236"/>
            <a:ext cx="457532" cy="178375"/>
          </a:xfrm>
          <a:prstGeom prst="right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A62F9F1-3396-C540-ACEF-C2F3ECF4FAA2}"/>
              </a:ext>
            </a:extLst>
          </p:cNvPr>
          <p:cNvSpPr txBox="1"/>
          <p:nvPr/>
        </p:nvSpPr>
        <p:spPr>
          <a:xfrm>
            <a:off x="961992" y="4541883"/>
            <a:ext cx="4904156" cy="2292935"/>
          </a:xfrm>
          <a:prstGeom prst="rect">
            <a:avLst/>
          </a:prstGeom>
          <a:noFill/>
        </p:spPr>
        <p:txBody>
          <a:bodyPr wrap="square" rtlCol="0">
            <a:spAutoFit/>
          </a:bodyPr>
          <a:lstStyle/>
          <a:p>
            <a:r>
              <a:rPr lang="en-US" sz="1100" dirty="0">
                <a:solidFill>
                  <a:srgbClr val="00B050"/>
                </a:solidFill>
                <a:latin typeface="Menlo" panose="020B0609030804020204" pitchFamily="49" charset="0"/>
                <a:ea typeface="Menlo" panose="020B0609030804020204" pitchFamily="49" charset="0"/>
                <a:cs typeface="Menlo" panose="020B0609030804020204" pitchFamily="49" charset="0"/>
              </a:rPr>
              <a:t># Note about other different ways to shuffle:</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import </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numpy</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 as np </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from </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sklearn.model_selection</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 import </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train_test_split</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 </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data = </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np.random.random</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(2*N)</a:t>
            </a:r>
          </a:p>
          <a:p>
            <a:endParaRPr lang="en-US" sz="11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100" dirty="0">
                <a:solidFill>
                  <a:srgbClr val="00B050"/>
                </a:solidFill>
                <a:latin typeface="Menlo" panose="020B0609030804020204" pitchFamily="49" charset="0"/>
                <a:ea typeface="Menlo" panose="020B0609030804020204" pitchFamily="49" charset="0"/>
                <a:cs typeface="Menlo" panose="020B0609030804020204" pitchFamily="49" charset="0"/>
              </a:rPr>
              <a:t># using </a:t>
            </a:r>
            <a:r>
              <a:rPr lang="en-US" sz="1100" dirty="0" err="1">
                <a:solidFill>
                  <a:srgbClr val="00B050"/>
                </a:solidFill>
                <a:latin typeface="Menlo" panose="020B0609030804020204" pitchFamily="49" charset="0"/>
                <a:ea typeface="Menlo" panose="020B0609030804020204" pitchFamily="49" charset="0"/>
                <a:cs typeface="Menlo" panose="020B0609030804020204" pitchFamily="49" charset="0"/>
              </a:rPr>
              <a:t>sklearn</a:t>
            </a:r>
            <a:r>
              <a:rPr lang="en-US" sz="1100" dirty="0">
                <a:solidFill>
                  <a:srgbClr val="00B050"/>
                </a:solidFill>
                <a:latin typeface="Menlo" panose="020B0609030804020204" pitchFamily="49" charset="0"/>
                <a:ea typeface="Menlo" panose="020B0609030804020204" pitchFamily="49" charset="0"/>
                <a:cs typeface="Menlo" panose="020B0609030804020204" pitchFamily="49" charset="0"/>
              </a:rPr>
              <a:t> </a:t>
            </a:r>
            <a:r>
              <a:rPr lang="en-US" sz="1100" dirty="0" err="1">
                <a:solidFill>
                  <a:srgbClr val="00B050"/>
                </a:solidFill>
                <a:latin typeface="Menlo" panose="020B0609030804020204" pitchFamily="49" charset="0"/>
                <a:ea typeface="Menlo" panose="020B0609030804020204" pitchFamily="49" charset="0"/>
                <a:cs typeface="Menlo" panose="020B0609030804020204" pitchFamily="49" charset="0"/>
              </a:rPr>
              <a:t>train_test_split</a:t>
            </a:r>
            <a:r>
              <a:rPr lang="en-US" sz="1100" dirty="0">
                <a:solidFill>
                  <a:srgbClr val="00B050"/>
                </a:solidFill>
                <a:latin typeface="Menlo" panose="020B0609030804020204" pitchFamily="49" charset="0"/>
                <a:ea typeface="Menlo" panose="020B0609030804020204" pitchFamily="49" charset="0"/>
                <a:cs typeface="Menlo" panose="020B0609030804020204" pitchFamily="49" charset="0"/>
              </a:rPr>
              <a:t>()</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X1, X2 = </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train_test_split</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(data, </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test_size</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=N)</a:t>
            </a:r>
          </a:p>
          <a:p>
            <a:endParaRPr lang="en-US" sz="11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100" dirty="0">
                <a:solidFill>
                  <a:srgbClr val="00B050"/>
                </a:solidFill>
                <a:latin typeface="Menlo" panose="020B0609030804020204" pitchFamily="49" charset="0"/>
                <a:ea typeface="Menlo" panose="020B0609030804020204" pitchFamily="49" charset="0"/>
                <a:cs typeface="Menlo" panose="020B0609030804020204" pitchFamily="49" charset="0"/>
              </a:rPr>
              <a:t># using only </a:t>
            </a:r>
            <a:r>
              <a:rPr lang="en-US" sz="1100" dirty="0" err="1">
                <a:solidFill>
                  <a:srgbClr val="00B050"/>
                </a:solidFill>
                <a:latin typeface="Menlo" panose="020B0609030804020204" pitchFamily="49" charset="0"/>
                <a:ea typeface="Menlo" panose="020B0609030804020204" pitchFamily="49" charset="0"/>
                <a:cs typeface="Menlo" panose="020B0609030804020204" pitchFamily="49" charset="0"/>
              </a:rPr>
              <a:t>Numpy</a:t>
            </a:r>
            <a:r>
              <a:rPr lang="en-US" sz="1100" dirty="0">
                <a:solidFill>
                  <a:srgbClr val="00B050"/>
                </a:solidFill>
                <a:latin typeface="Menlo" panose="020B0609030804020204" pitchFamily="49" charset="0"/>
                <a:ea typeface="Menlo" panose="020B0609030804020204" pitchFamily="49" charset="0"/>
                <a:cs typeface="Menlo" panose="020B0609030804020204" pitchFamily="49" charset="0"/>
              </a:rPr>
              <a:t>:</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s1 = </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np.random.choice</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(2*N, N, replace=False)</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s2 = list( set(range(2*N)) - set(s1) )</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split1 = data[s1]</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split2 = data[s2]</a:t>
            </a:r>
          </a:p>
        </p:txBody>
      </p:sp>
    </p:spTree>
    <p:extLst>
      <p:ext uri="{BB962C8B-B14F-4D97-AF65-F5344CB8AC3E}">
        <p14:creationId xmlns:p14="http://schemas.microsoft.com/office/powerpoint/2010/main" val="274343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FF755FE-9EC5-2243-8B9B-E4A9E7CEC3D9}"/>
              </a:ext>
            </a:extLst>
          </p:cNvPr>
          <p:cNvSpPr txBox="1"/>
          <p:nvPr/>
        </p:nvSpPr>
        <p:spPr>
          <a:xfrm>
            <a:off x="0" y="0"/>
            <a:ext cx="7656576" cy="523220"/>
          </a:xfrm>
          <a:prstGeom prst="rect">
            <a:avLst/>
          </a:prstGeom>
          <a:noFill/>
        </p:spPr>
        <p:txBody>
          <a:bodyPr wrap="square" rtlCol="0">
            <a:spAutoFit/>
          </a:bodyPr>
          <a:lstStyle/>
          <a:p>
            <a:r>
              <a:rPr lang="en-US" sz="2800" b="1" dirty="0"/>
              <a:t>Example – Bootstrapping</a:t>
            </a:r>
          </a:p>
        </p:txBody>
      </p:sp>
      <p:sp>
        <p:nvSpPr>
          <p:cNvPr id="3" name="TextBox 2">
            <a:extLst>
              <a:ext uri="{FF2B5EF4-FFF2-40B4-BE49-F238E27FC236}">
                <a16:creationId xmlns:a16="http://schemas.microsoft.com/office/drawing/2014/main" id="{B4214305-FB5A-AA42-89E0-5393ADEB579E}"/>
              </a:ext>
            </a:extLst>
          </p:cNvPr>
          <p:cNvSpPr txBox="1"/>
          <p:nvPr/>
        </p:nvSpPr>
        <p:spPr>
          <a:xfrm>
            <a:off x="6492391" y="2996329"/>
            <a:ext cx="5394809" cy="2862322"/>
          </a:xfrm>
          <a:prstGeom prst="rect">
            <a:avLst/>
          </a:prstGeom>
          <a:noFill/>
        </p:spPr>
        <p:txBody>
          <a:bodyPr wrap="square" rtlCol="0">
            <a:spAutoFit/>
          </a:bodyPr>
          <a:lstStyle/>
          <a:p>
            <a:r>
              <a:rPr lang="en-US" sz="1200" dirty="0">
                <a:solidFill>
                  <a:srgbClr val="00B050"/>
                </a:solidFill>
                <a:latin typeface="Menlo" panose="020B0609030804020204" pitchFamily="49" charset="0"/>
                <a:ea typeface="Menlo" panose="020B0609030804020204" pitchFamily="49" charset="0"/>
                <a:cs typeface="Menlo" panose="020B0609030804020204" pitchFamily="49" charset="0"/>
              </a:rPr>
              <a:t># Heights of turtle towers</a:t>
            </a:r>
          </a:p>
          <a:p>
            <a:endParaRPr lang="en-US" sz="12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import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numpy</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as np</a:t>
            </a:r>
          </a:p>
          <a:p>
            <a:endParaRPr lang="en-US" sz="12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N=10000</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heights =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np.zeros</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(N,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dtype</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=float)</a:t>
            </a:r>
          </a:p>
          <a:p>
            <a:endParaRPr lang="en-US" sz="12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for ii in range(N):</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sample =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randint</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(20,size=20)</a:t>
            </a:r>
            <a:r>
              <a:rPr lang="en-US" sz="1200" dirty="0">
                <a:solidFill>
                  <a:srgbClr val="00B050"/>
                </a:solidFill>
                <a:latin typeface="Menlo" panose="020B0609030804020204" pitchFamily="49" charset="0"/>
                <a:ea typeface="Menlo" panose="020B0609030804020204" pitchFamily="49" charset="0"/>
                <a:cs typeface="Menlo" panose="020B0609030804020204" pitchFamily="49" charset="0"/>
              </a:rPr>
              <a:t> # bootstrap 20 numbers</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heights[ii] =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np.mean</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(sample)</a:t>
            </a:r>
          </a:p>
          <a:p>
            <a:endParaRPr lang="en-US" sz="12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heights_mean</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np.mean</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(heights)   </a:t>
            </a:r>
          </a:p>
          <a:p>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heights_std</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np.std</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(heights)</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print(</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f"heights</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mean = {heights_mean:.3f}")</a:t>
            </a:r>
            <a:r>
              <a:rPr lang="en-US" sz="1200" dirty="0">
                <a:solidFill>
                  <a:srgbClr val="00B050"/>
                </a:solidFill>
                <a:latin typeface="Menlo" panose="020B0609030804020204" pitchFamily="49" charset="0"/>
                <a:ea typeface="Menlo" panose="020B0609030804020204" pitchFamily="49" charset="0"/>
                <a:cs typeface="Menlo" panose="020B0609030804020204" pitchFamily="49" charset="0"/>
              </a:rPr>
              <a:t>  # 9.52</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print(</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f"heights</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std  = {heights_std:.3f}")</a:t>
            </a:r>
            <a:r>
              <a:rPr lang="en-US" sz="1200" dirty="0">
                <a:solidFill>
                  <a:srgbClr val="00B050"/>
                </a:solidFill>
                <a:latin typeface="Menlo" panose="020B0609030804020204" pitchFamily="49" charset="0"/>
                <a:ea typeface="Menlo" panose="020B0609030804020204" pitchFamily="49" charset="0"/>
                <a:cs typeface="Menlo" panose="020B0609030804020204" pitchFamily="49" charset="0"/>
              </a:rPr>
              <a:t>   # 1.27</a:t>
            </a:r>
          </a:p>
        </p:txBody>
      </p:sp>
      <p:sp>
        <p:nvSpPr>
          <p:cNvPr id="5" name="TextBox 4">
            <a:extLst>
              <a:ext uri="{FF2B5EF4-FFF2-40B4-BE49-F238E27FC236}">
                <a16:creationId xmlns:a16="http://schemas.microsoft.com/office/drawing/2014/main" id="{BCBEE07D-A5DF-F74F-8D7F-9F8677072775}"/>
              </a:ext>
            </a:extLst>
          </p:cNvPr>
          <p:cNvSpPr txBox="1"/>
          <p:nvPr/>
        </p:nvSpPr>
        <p:spPr>
          <a:xfrm>
            <a:off x="115673" y="885547"/>
            <a:ext cx="4974336" cy="2246769"/>
          </a:xfrm>
          <a:prstGeom prst="rect">
            <a:avLst/>
          </a:prstGeom>
          <a:noFill/>
        </p:spPr>
        <p:txBody>
          <a:bodyPr wrap="square" rtlCol="0">
            <a:spAutoFit/>
          </a:bodyPr>
          <a:lstStyle/>
          <a:p>
            <a:r>
              <a:rPr lang="en-US" b="1" dirty="0">
                <a:solidFill>
                  <a:srgbClr val="FF0000"/>
                </a:solidFill>
              </a:rPr>
              <a:t>Bootstrapping</a:t>
            </a:r>
            <a:r>
              <a:rPr lang="en-US" dirty="0"/>
              <a:t> (Bootstrap Sampling) is any test or metric that uses random sampling with replacement (e.g. mimicking the sampling process), </a:t>
            </a:r>
          </a:p>
          <a:p>
            <a:endParaRPr lang="en-US" dirty="0"/>
          </a:p>
          <a:p>
            <a:r>
              <a:rPr lang="en-US" dirty="0"/>
              <a:t>Advantages of bootstrapping: </a:t>
            </a:r>
            <a:r>
              <a:rPr lang="en-US" b="1" dirty="0">
                <a:solidFill>
                  <a:srgbClr val="FF0000"/>
                </a:solidFill>
              </a:rPr>
              <a:t>simplicity</a:t>
            </a:r>
            <a:r>
              <a:rPr lang="en-US" dirty="0"/>
              <a:t>.</a:t>
            </a:r>
          </a:p>
          <a:p>
            <a:r>
              <a:rPr lang="en-US" dirty="0"/>
              <a:t>It is a simple way to estimate means, standard errors and confidence intervals for complex (non-linear) estimators.</a:t>
            </a:r>
          </a:p>
          <a:p>
            <a:endParaRPr lang="en-US" dirty="0"/>
          </a:p>
          <a:p>
            <a:r>
              <a:rPr lang="en-US" dirty="0"/>
              <a:t>For example, for estimators like percentile points, proportions, odds ratio, and correlation coefficients.</a:t>
            </a:r>
          </a:p>
        </p:txBody>
      </p:sp>
      <p:pic>
        <p:nvPicPr>
          <p:cNvPr id="1026" name="Picture 2" descr="Yertle the Turtle and Other Stories By Dr. Seuss | Used | 9780007173143 |  World of Books">
            <a:extLst>
              <a:ext uri="{FF2B5EF4-FFF2-40B4-BE49-F238E27FC236}">
                <a16:creationId xmlns:a16="http://schemas.microsoft.com/office/drawing/2014/main" id="{056A484B-6B4B-CC46-81E3-8E9E0CA07831}"/>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0204189" y="109728"/>
            <a:ext cx="1872138" cy="26294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9940923"/>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3076</TotalTime>
  <Words>1135</Words>
  <Application>Microsoft Macintosh PowerPoint</Application>
  <PresentationFormat>Widescreen</PresentationFormat>
  <Paragraphs>106</Paragraphs>
  <Slides>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Menlo</vt:lpstr>
      <vt:lpstr>Office Theme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298</cp:revision>
  <cp:lastPrinted>2020-09-21T17:22:59Z</cp:lastPrinted>
  <dcterms:modified xsi:type="dcterms:W3CDTF">2021-05-11T17:47:35Z</dcterms:modified>
</cp:coreProperties>
</file>