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1"/>
  </p:notesMasterIdLst>
  <p:sldIdLst>
    <p:sldId id="262" r:id="rId2"/>
    <p:sldId id="263" r:id="rId3"/>
    <p:sldId id="264" r:id="rId4"/>
    <p:sldId id="273" r:id="rId5"/>
    <p:sldId id="274" r:id="rId6"/>
    <p:sldId id="265" r:id="rId7"/>
    <p:sldId id="266" r:id="rId8"/>
    <p:sldId id="267" r:id="rId9"/>
    <p:sldId id="268" r:id="rId10"/>
    <p:sldId id="269" r:id="rId11"/>
    <p:sldId id="270" r:id="rId12"/>
    <p:sldId id="257" r:id="rId13"/>
    <p:sldId id="258" r:id="rId14"/>
    <p:sldId id="259" r:id="rId15"/>
    <p:sldId id="260" r:id="rId16"/>
    <p:sldId id="261" r:id="rId17"/>
    <p:sldId id="275" r:id="rId18"/>
    <p:sldId id="271" r:id="rId19"/>
    <p:sldId id="272"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618C5A-BF4F-44D7-ADB2-C5301EF81F8A}">
  <a:tblStyle styleId="{B1618C5A-BF4F-44D7-ADB2-C5301EF81F8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8"/>
    <p:restoredTop sz="94692"/>
  </p:normalViewPr>
  <p:slideViewPr>
    <p:cSldViewPr snapToGrid="0" snapToObjects="1">
      <p:cViewPr varScale="1">
        <p:scale>
          <a:sx n="106" d="100"/>
          <a:sy n="106" d="100"/>
        </p:scale>
        <p:origin x="51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26304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60bda0dc20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60bda0dc20_0_7: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g60bda0dc20_0_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602e96b36d_0_1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g602e96b36d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603061e44c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603061e44c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g603061e44c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60bda0dc20_0_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60bda0dc20_0_28: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g60bda0dc20_0_2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91425" rIns="91425" bIns="91425"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91425" rIns="91425" bIns="91425" anchor="t" anchorCtr="0">
            <a:no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 name="Google Shape;29;p4"/>
          <p:cNvSpPr txBox="1">
            <a:spLocks noGrp="1"/>
          </p:cNvSpPr>
          <p:nvPr>
            <p:ph type="body" idx="1"/>
          </p:nvPr>
        </p:nvSpPr>
        <p:spPr>
          <a:xfrm>
            <a:off x="838200" y="1825625"/>
            <a:ext cx="5181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0" name="Google Shape;30;p4"/>
          <p:cNvSpPr txBox="1">
            <a:spLocks noGrp="1"/>
          </p:cNvSpPr>
          <p:nvPr>
            <p:ph type="body" idx="2"/>
          </p:nvPr>
        </p:nvSpPr>
        <p:spPr>
          <a:xfrm>
            <a:off x="6172200" y="1825625"/>
            <a:ext cx="5181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1" name="Google Shape;31;p4"/>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4"/>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3" name="Google Shape;33;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831850" y="1709738"/>
            <a:ext cx="10515600" cy="2852737"/>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 name="Google Shape;36;p5"/>
          <p:cNvSpPr txBox="1">
            <a:spLocks noGrp="1"/>
          </p:cNvSpPr>
          <p:nvPr>
            <p:ph type="body" idx="1"/>
          </p:nvPr>
        </p:nvSpPr>
        <p:spPr>
          <a:xfrm>
            <a:off x="831850" y="4589463"/>
            <a:ext cx="10515600" cy="1500187"/>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quora.com/What-are-some-good-books-for-learning-probability-and-statistics"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wiki/Bayes%27_theorem" TargetMode="External"/><Relationship Id="rId2" Type="http://schemas.openxmlformats.org/officeDocument/2006/relationships/hyperlink" Target="https://en.wikipedia.org/wiki/Thomas_Bayes" TargetMode="External"/><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hyperlink" Target="https://en.wikipedia.org/wiki/Bayesian_inference"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en.wikipedia.org/wiki/Binomial_distribution"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en.wikipedia.org/wiki/Exponential_distribution" TargetMode="External"/><Relationship Id="rId2" Type="http://schemas.openxmlformats.org/officeDocument/2006/relationships/hyperlink" Target="https://en.wikipedia.org/wiki/Poisson_distribution" TargetMode="External"/><Relationship Id="rId1" Type="http://schemas.openxmlformats.org/officeDocument/2006/relationships/slideLayout" Target="../slideLayouts/slideLayout2.xml"/><Relationship Id="rId5" Type="http://schemas.openxmlformats.org/officeDocument/2006/relationships/image" Target="../media/image6.tiff"/><Relationship Id="rId4" Type="http://schemas.openxmlformats.org/officeDocument/2006/relationships/image" Target="../media/image5.tiff"/></Relationships>
</file>

<file path=ppt/slides/_rels/slide9.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hyperlink" Target="https://en.wikipedia.org/wiki/De_Moivre&#8211;Laplace_theorem" TargetMode="External"/><Relationship Id="rId1" Type="http://schemas.openxmlformats.org/officeDocument/2006/relationships/slideLayout" Target="../slideLayouts/slideLayout2.xml"/><Relationship Id="rId4" Type="http://schemas.openxmlformats.org/officeDocument/2006/relationships/image" Target="../media/image8.tiff"/></Relationships>
</file>

<file path=ppt/slides/_rels/slide10.xml.rels><?xml version="1.0" encoding="UTF-8" standalone="yes"?>
<Relationships xmlns="http://schemas.openxmlformats.org/package/2006/relationships"><Relationship Id="rId3" Type="http://schemas.openxmlformats.org/officeDocument/2006/relationships/hyperlink" Target="http://stats.stackexchange.com/questions/3931/intuitive-explanation-for-dividing-by-n-1-when-calculating-standard-deviation" TargetMode="External"/><Relationship Id="rId2" Type="http://schemas.openxmlformats.org/officeDocument/2006/relationships/image" Target="../media/image9.tif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en.wikipedia.org/wiki/Simple_linear_regression" TargetMode="External"/><Relationship Id="rId2" Type="http://schemas.openxmlformats.org/officeDocument/2006/relationships/hyperlink" Target="https://en.wikipedia.org/wiki/Linear_regression" TargetMode="External"/><Relationship Id="rId1" Type="http://schemas.openxmlformats.org/officeDocument/2006/relationships/slideLayout" Target="../slideLayouts/slideLayout2.xml"/><Relationship Id="rId6" Type="http://schemas.openxmlformats.org/officeDocument/2006/relationships/image" Target="../media/image11.tiff"/><Relationship Id="rId5" Type="http://schemas.openxmlformats.org/officeDocument/2006/relationships/image" Target="../media/image10.tiff"/><Relationship Id="rId4" Type="http://schemas.openxmlformats.org/officeDocument/2006/relationships/hyperlink" Target="https://en.wikipedia.org/wiki/Coefficient_of_determination"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stattrek.com/chi-square-test/goodness-of-fit.aspx"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hyperlink" Target="https://stattrek.com/chi-square-test/goodness-of-fit.aspx"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23.tiff"/><Relationship Id="rId3" Type="http://schemas.openxmlformats.org/officeDocument/2006/relationships/image" Target="../media/image18.tiff"/><Relationship Id="rId7" Type="http://schemas.openxmlformats.org/officeDocument/2006/relationships/image" Target="../media/image22.tiff"/><Relationship Id="rId2" Type="http://schemas.openxmlformats.org/officeDocument/2006/relationships/hyperlink" Target="https://en.wikipedia.org/wiki/Student%27s_t-distribution" TargetMode="External"/><Relationship Id="rId1" Type="http://schemas.openxmlformats.org/officeDocument/2006/relationships/slideLayout" Target="../slideLayouts/slideLayout2.xml"/><Relationship Id="rId6" Type="http://schemas.openxmlformats.org/officeDocument/2006/relationships/image" Target="../media/image21.tiff"/><Relationship Id="rId5" Type="http://schemas.openxmlformats.org/officeDocument/2006/relationships/image" Target="../media/image20.jpeg"/><Relationship Id="rId4" Type="http://schemas.openxmlformats.org/officeDocument/2006/relationships/image" Target="../media/image19.tiff"/><Relationship Id="rId9" Type="http://schemas.openxmlformats.org/officeDocument/2006/relationships/image" Target="../media/image24.tif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7FF3915-155C-654B-9482-71A1ADB58F39}"/>
              </a:ext>
            </a:extLst>
          </p:cNvPr>
          <p:cNvSpPr txBox="1"/>
          <p:nvPr/>
        </p:nvSpPr>
        <p:spPr>
          <a:xfrm>
            <a:off x="157655" y="165651"/>
            <a:ext cx="3920359" cy="461665"/>
          </a:xfrm>
          <a:prstGeom prst="rect">
            <a:avLst/>
          </a:prstGeom>
          <a:noFill/>
        </p:spPr>
        <p:txBody>
          <a:bodyPr wrap="square" rtlCol="0">
            <a:spAutoFit/>
          </a:bodyPr>
          <a:lstStyle/>
          <a:p>
            <a:r>
              <a:rPr lang="en-US" sz="2400" b="1" dirty="0"/>
              <a:t>Probability &amp; Statistics</a:t>
            </a:r>
          </a:p>
        </p:txBody>
      </p:sp>
      <p:sp>
        <p:nvSpPr>
          <p:cNvPr id="5" name="TextBox 4">
            <a:extLst>
              <a:ext uri="{FF2B5EF4-FFF2-40B4-BE49-F238E27FC236}">
                <a16:creationId xmlns:a16="http://schemas.microsoft.com/office/drawing/2014/main" id="{0B4D9DED-88C7-6644-AF6D-10C72AB27353}"/>
              </a:ext>
            </a:extLst>
          </p:cNvPr>
          <p:cNvSpPr txBox="1"/>
          <p:nvPr/>
        </p:nvSpPr>
        <p:spPr>
          <a:xfrm>
            <a:off x="157655" y="998483"/>
            <a:ext cx="5549462" cy="5262979"/>
          </a:xfrm>
          <a:prstGeom prst="rect">
            <a:avLst/>
          </a:prstGeom>
          <a:noFill/>
        </p:spPr>
        <p:txBody>
          <a:bodyPr wrap="square" rtlCol="0">
            <a:spAutoFit/>
          </a:bodyPr>
          <a:lstStyle/>
          <a:p>
            <a:r>
              <a:rPr lang="en-US" dirty="0"/>
              <a:t>Books on probability and statistics</a:t>
            </a:r>
          </a:p>
          <a:p>
            <a:r>
              <a:rPr lang="en-US" dirty="0"/>
              <a:t>    </a:t>
            </a:r>
            <a:r>
              <a:rPr lang="en-US" dirty="0">
                <a:hlinkClick r:id="rId2"/>
              </a:rPr>
              <a:t>https://</a:t>
            </a:r>
            <a:r>
              <a:rPr lang="en-US" dirty="0" err="1">
                <a:hlinkClick r:id="rId2"/>
              </a:rPr>
              <a:t>www.quora.com</a:t>
            </a:r>
            <a:r>
              <a:rPr lang="en-US" dirty="0">
                <a:hlinkClick r:id="rId2"/>
              </a:rPr>
              <a:t>/What-are-some-good-books-for-learning-probability-and-statistics</a:t>
            </a:r>
            <a:endParaRPr lang="en-US" dirty="0"/>
          </a:p>
          <a:p>
            <a:endParaRPr lang="en-US" dirty="0"/>
          </a:p>
          <a:p>
            <a:r>
              <a:rPr lang="en-US" dirty="0"/>
              <a:t>Introduction to Probability Theory</a:t>
            </a:r>
          </a:p>
          <a:p>
            <a:endParaRPr lang="en-US" dirty="0"/>
          </a:p>
          <a:p>
            <a:r>
              <a:rPr lang="en-US" dirty="0"/>
              <a:t>Probability Definitions</a:t>
            </a:r>
          </a:p>
          <a:p>
            <a:r>
              <a:rPr lang="en-US" dirty="0"/>
              <a:t>Probability of an event is the measure of the likelihood that </a:t>
            </a:r>
          </a:p>
          <a:p>
            <a:r>
              <a:rPr lang="en-US" dirty="0"/>
              <a:t>the event will occur (in some experiment). </a:t>
            </a:r>
          </a:p>
          <a:p>
            <a:endParaRPr lang="en-US" dirty="0"/>
          </a:p>
          <a:p>
            <a:r>
              <a:rPr lang="en-US" dirty="0"/>
              <a:t>Probability is a number between 0 and 1. </a:t>
            </a:r>
          </a:p>
          <a:p>
            <a:r>
              <a:rPr lang="en-US" dirty="0"/>
              <a:t>But sometimes people express probability using </a:t>
            </a:r>
            <a:r>
              <a:rPr lang="en-US" dirty="0" err="1"/>
              <a:t>percents</a:t>
            </a:r>
            <a:r>
              <a:rPr lang="en-US" dirty="0"/>
              <a:t>.</a:t>
            </a:r>
          </a:p>
          <a:p>
            <a:endParaRPr lang="en-US" dirty="0"/>
          </a:p>
          <a:p>
            <a:r>
              <a:rPr lang="en-US" dirty="0"/>
              <a:t>0 – event is impossible</a:t>
            </a:r>
          </a:p>
          <a:p>
            <a:r>
              <a:rPr lang="en-US" dirty="0"/>
              <a:t>0.5 – the event is just as likely to occur as it is to not occur</a:t>
            </a:r>
          </a:p>
          <a:p>
            <a:r>
              <a:rPr lang="en-US" dirty="0"/>
              <a:t>1 – event will certainly happen, 100%.</a:t>
            </a:r>
          </a:p>
          <a:p>
            <a:endParaRPr lang="en-US" dirty="0"/>
          </a:p>
          <a:p>
            <a:r>
              <a:rPr lang="en-US" dirty="0"/>
              <a:t>The sum of probabilities of all outcomes of an experiment </a:t>
            </a:r>
          </a:p>
          <a:p>
            <a:r>
              <a:rPr lang="en-US" dirty="0"/>
              <a:t>should always be 1.</a:t>
            </a:r>
          </a:p>
          <a:p>
            <a:endParaRPr lang="en-US" dirty="0"/>
          </a:p>
          <a:p>
            <a:r>
              <a:rPr lang="en-US" dirty="0"/>
              <a:t>Outcomes can be combinations of individual events.</a:t>
            </a:r>
          </a:p>
          <a:p>
            <a:endParaRPr lang="en-US" dirty="0"/>
          </a:p>
          <a:p>
            <a:r>
              <a:rPr lang="en-US" dirty="0"/>
              <a:t>For example, if we throw one dice cube – there are 6 possible</a:t>
            </a:r>
          </a:p>
          <a:p>
            <a:r>
              <a:rPr lang="en-US" dirty="0"/>
              <a:t>outcomes (1,2,3,4,5,6), each one has same probability – 1/6.</a:t>
            </a:r>
          </a:p>
        </p:txBody>
      </p:sp>
      <p:sp>
        <p:nvSpPr>
          <p:cNvPr id="6" name="TextBox 5">
            <a:extLst>
              <a:ext uri="{FF2B5EF4-FFF2-40B4-BE49-F238E27FC236}">
                <a16:creationId xmlns:a16="http://schemas.microsoft.com/office/drawing/2014/main" id="{114DD0B7-6869-094A-81E2-14D593C7ED9E}"/>
              </a:ext>
            </a:extLst>
          </p:cNvPr>
          <p:cNvSpPr txBox="1"/>
          <p:nvPr/>
        </p:nvSpPr>
        <p:spPr>
          <a:xfrm>
            <a:off x="6096000" y="588579"/>
            <a:ext cx="6096000" cy="5816977"/>
          </a:xfrm>
          <a:prstGeom prst="rect">
            <a:avLst/>
          </a:prstGeom>
          <a:noFill/>
        </p:spPr>
        <p:txBody>
          <a:bodyPr wrap="square" rtlCol="0">
            <a:spAutoFit/>
          </a:bodyPr>
          <a:lstStyle/>
          <a:p>
            <a:r>
              <a:rPr lang="en-US" dirty="0"/>
              <a:t>If we throw 2 cubes, there are 6*6=36 possible combinations.</a:t>
            </a:r>
          </a:p>
          <a:p>
            <a:r>
              <a:rPr lang="en-US" dirty="0"/>
              <a:t>Probability of each combination is the same – 1/36.</a:t>
            </a:r>
          </a:p>
          <a:p>
            <a:endParaRPr lang="en-US" dirty="0"/>
          </a:p>
          <a:p>
            <a:r>
              <a:rPr lang="en-US" dirty="0"/>
              <a:t>If we define an outcome as a sum of numbers on top side of </a:t>
            </a:r>
          </a:p>
          <a:p>
            <a:r>
              <a:rPr lang="en-US" dirty="0"/>
              <a:t>cubes after the throw, then there are 11 possible outcomes:</a:t>
            </a:r>
          </a:p>
          <a:p>
            <a:endParaRPr lang="en-US" dirty="0"/>
          </a:p>
          <a:p>
            <a:r>
              <a:rPr lang="en-US" sz="1200" dirty="0">
                <a:solidFill>
                  <a:srgbClr val="0070C0"/>
                </a:solidFill>
                <a:latin typeface="Monaco" pitchFamily="2" charset="77"/>
              </a:rPr>
              <a:t>---------------------------------------------------------</a:t>
            </a:r>
          </a:p>
          <a:p>
            <a:r>
              <a:rPr lang="en-US" sz="1200" dirty="0">
                <a:solidFill>
                  <a:srgbClr val="0070C0"/>
                </a:solidFill>
                <a:latin typeface="Monaco" pitchFamily="2" charset="77"/>
              </a:rPr>
              <a:t>Sum    Combinations             Number of</a:t>
            </a:r>
          </a:p>
          <a:p>
            <a:r>
              <a:rPr lang="en-US" sz="1200" dirty="0">
                <a:solidFill>
                  <a:srgbClr val="0070C0"/>
                </a:solidFill>
                <a:latin typeface="Monaco" pitchFamily="2" charset="77"/>
              </a:rPr>
              <a:t>                                combinations  Probability</a:t>
            </a:r>
          </a:p>
          <a:p>
            <a:r>
              <a:rPr lang="en-US" sz="1200" dirty="0">
                <a:solidFill>
                  <a:srgbClr val="0070C0"/>
                </a:solidFill>
                <a:latin typeface="Monaco" pitchFamily="2" charset="77"/>
              </a:rPr>
              <a:t>---------------------------------------------------------</a:t>
            </a:r>
          </a:p>
          <a:p>
            <a:r>
              <a:rPr lang="en-US" sz="1200" dirty="0">
                <a:solidFill>
                  <a:srgbClr val="0070C0"/>
                </a:solidFill>
                <a:latin typeface="Monaco" pitchFamily="2" charset="77"/>
              </a:rPr>
              <a:t>2      1+1                          1             1/36</a:t>
            </a:r>
          </a:p>
          <a:p>
            <a:r>
              <a:rPr lang="en-US" sz="1200" dirty="0">
                <a:solidFill>
                  <a:srgbClr val="0070C0"/>
                </a:solidFill>
                <a:latin typeface="Monaco" pitchFamily="2" charset="77"/>
              </a:rPr>
              <a:t>3      1+2,2+1                      2             2/36</a:t>
            </a:r>
          </a:p>
          <a:p>
            <a:r>
              <a:rPr lang="en-US" sz="1200" dirty="0">
                <a:solidFill>
                  <a:srgbClr val="0070C0"/>
                </a:solidFill>
                <a:latin typeface="Monaco" pitchFamily="2" charset="77"/>
              </a:rPr>
              <a:t>4      1+3,2+2,3+1                  3             3/36</a:t>
            </a:r>
          </a:p>
          <a:p>
            <a:r>
              <a:rPr lang="en-US" sz="1200" dirty="0">
                <a:solidFill>
                  <a:srgbClr val="0070C0"/>
                </a:solidFill>
                <a:latin typeface="Monaco" pitchFamily="2" charset="77"/>
              </a:rPr>
              <a:t>5      1+4,2+3,3+2,4+1              4             4/36</a:t>
            </a:r>
          </a:p>
          <a:p>
            <a:r>
              <a:rPr lang="en-US" sz="1200" dirty="0">
                <a:solidFill>
                  <a:srgbClr val="0070C0"/>
                </a:solidFill>
                <a:latin typeface="Monaco" pitchFamily="2" charset="77"/>
              </a:rPr>
              <a:t>6      1+5,2+4,3+3,4+2,5+1          5             5/36</a:t>
            </a:r>
          </a:p>
          <a:p>
            <a:r>
              <a:rPr lang="en-US" sz="1200" dirty="0">
                <a:solidFill>
                  <a:srgbClr val="0070C0"/>
                </a:solidFill>
                <a:latin typeface="Monaco" pitchFamily="2" charset="77"/>
              </a:rPr>
              <a:t>7      1+6,2+5,3+4,4+3,5+2,6+1      6             6/36</a:t>
            </a:r>
          </a:p>
          <a:p>
            <a:r>
              <a:rPr lang="en-US" sz="1200" dirty="0">
                <a:solidFill>
                  <a:srgbClr val="0070C0"/>
                </a:solidFill>
                <a:latin typeface="Monaco" pitchFamily="2" charset="77"/>
              </a:rPr>
              <a:t>8      2+6,3+5,4+4,5+3,6+2          5             5/36</a:t>
            </a:r>
          </a:p>
          <a:p>
            <a:r>
              <a:rPr lang="en-US" sz="1200" dirty="0">
                <a:solidFill>
                  <a:srgbClr val="0070C0"/>
                </a:solidFill>
                <a:latin typeface="Monaco" pitchFamily="2" charset="77"/>
              </a:rPr>
              <a:t>9      3+6,4+5,5+4,6+3              4             4/36</a:t>
            </a:r>
          </a:p>
          <a:p>
            <a:r>
              <a:rPr lang="en-US" sz="1200" dirty="0">
                <a:solidFill>
                  <a:srgbClr val="0070C0"/>
                </a:solidFill>
                <a:latin typeface="Monaco" pitchFamily="2" charset="77"/>
              </a:rPr>
              <a:t>10     4+6,5+5,6+4                  3             3/36</a:t>
            </a:r>
          </a:p>
          <a:p>
            <a:r>
              <a:rPr lang="en-US" sz="1200" dirty="0">
                <a:solidFill>
                  <a:srgbClr val="0070C0"/>
                </a:solidFill>
                <a:latin typeface="Monaco" pitchFamily="2" charset="77"/>
              </a:rPr>
              <a:t>11     5+6,6+5                      2             2/36</a:t>
            </a:r>
          </a:p>
          <a:p>
            <a:r>
              <a:rPr lang="en-US" sz="1200" dirty="0">
                <a:solidFill>
                  <a:srgbClr val="0070C0"/>
                </a:solidFill>
                <a:latin typeface="Monaco" pitchFamily="2" charset="77"/>
              </a:rPr>
              <a:t>12     6+6                          1             1/36</a:t>
            </a:r>
          </a:p>
          <a:p>
            <a:r>
              <a:rPr lang="en-US" sz="1200" dirty="0">
                <a:solidFill>
                  <a:srgbClr val="0070C0"/>
                </a:solidFill>
                <a:latin typeface="Monaco" pitchFamily="2" charset="77"/>
              </a:rPr>
              <a:t>---------------------------------------------------------</a:t>
            </a:r>
          </a:p>
          <a:p>
            <a:r>
              <a:rPr lang="en-US" sz="1200" dirty="0">
                <a:solidFill>
                  <a:srgbClr val="0070C0"/>
                </a:solidFill>
                <a:latin typeface="Monaco" pitchFamily="2" charset="77"/>
              </a:rPr>
              <a:t>Total                              36              1</a:t>
            </a:r>
            <a:br>
              <a:rPr lang="en-US" sz="1200" dirty="0">
                <a:solidFill>
                  <a:srgbClr val="0070C0"/>
                </a:solidFill>
                <a:latin typeface="Monaco" pitchFamily="2" charset="77"/>
              </a:rPr>
            </a:br>
            <a:endParaRPr lang="en-US" dirty="0"/>
          </a:p>
          <a:p>
            <a:r>
              <a:rPr lang="en-US" dirty="0"/>
              <a:t>From the table above you see how some outcomes can result </a:t>
            </a:r>
          </a:p>
          <a:p>
            <a:r>
              <a:rPr lang="en-US" dirty="0"/>
              <a:t>from more combinations, thus have higher probability of happening.</a:t>
            </a:r>
          </a:p>
          <a:p>
            <a:endParaRPr lang="en-US" dirty="0"/>
          </a:p>
          <a:p>
            <a:r>
              <a:rPr lang="en-US" dirty="0"/>
              <a:t>Note: Events can be mutually exclusive, or not. </a:t>
            </a:r>
          </a:p>
          <a:p>
            <a:r>
              <a:rPr lang="en-US" dirty="0"/>
              <a:t>Also, events may be independent, or dependent on each other.</a:t>
            </a:r>
          </a:p>
        </p:txBody>
      </p:sp>
    </p:spTree>
    <p:extLst>
      <p:ext uri="{BB962C8B-B14F-4D97-AF65-F5344CB8AC3E}">
        <p14:creationId xmlns:p14="http://schemas.microsoft.com/office/powerpoint/2010/main" val="4124639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F33A883-0865-B144-AFA6-9A8B821FB9CB}"/>
              </a:ext>
            </a:extLst>
          </p:cNvPr>
          <p:cNvSpPr txBox="1"/>
          <p:nvPr/>
        </p:nvSpPr>
        <p:spPr>
          <a:xfrm>
            <a:off x="220717" y="283779"/>
            <a:ext cx="5728138" cy="5693866"/>
          </a:xfrm>
          <a:prstGeom prst="rect">
            <a:avLst/>
          </a:prstGeom>
          <a:noFill/>
        </p:spPr>
        <p:txBody>
          <a:bodyPr wrap="square" rtlCol="0">
            <a:spAutoFit/>
          </a:bodyPr>
          <a:lstStyle/>
          <a:p>
            <a:r>
              <a:rPr lang="en-US" b="1" dirty="0">
                <a:solidFill>
                  <a:srgbClr val="0070C0"/>
                </a:solidFill>
              </a:rPr>
              <a:t>Marginal Probability </a:t>
            </a:r>
            <a:r>
              <a:rPr lang="en-US" dirty="0"/>
              <a:t>= Simple Probability , a probability </a:t>
            </a:r>
          </a:p>
          <a:p>
            <a:r>
              <a:rPr lang="en-US" dirty="0"/>
              <a:t>of an independent event occurring.</a:t>
            </a:r>
          </a:p>
          <a:p>
            <a:endParaRPr lang="en-US" dirty="0"/>
          </a:p>
          <a:p>
            <a:r>
              <a:rPr lang="en-US" dirty="0"/>
              <a:t>The term “marginal variable” is used to refer to a subset </a:t>
            </a:r>
          </a:p>
          <a:p>
            <a:r>
              <a:rPr lang="en-US" dirty="0"/>
              <a:t>of variables in a table. They called “marginal” because they </a:t>
            </a:r>
          </a:p>
          <a:p>
            <a:r>
              <a:rPr lang="en-US" dirty="0"/>
              <a:t>used to be calculated by summing values in a table along </a:t>
            </a:r>
          </a:p>
          <a:p>
            <a:r>
              <a:rPr lang="en-US" dirty="0"/>
              <a:t>rows or columns , and writing the sum in the margins of the table.</a:t>
            </a:r>
          </a:p>
          <a:p>
            <a:endParaRPr lang="en-US" dirty="0"/>
          </a:p>
          <a:p>
            <a:r>
              <a:rPr lang="en-US" dirty="0"/>
              <a:t>Examples of assigning probability.</a:t>
            </a:r>
          </a:p>
          <a:p>
            <a:endParaRPr lang="en-US" dirty="0"/>
          </a:p>
          <a:p>
            <a:r>
              <a:rPr lang="en-US" b="1" dirty="0">
                <a:solidFill>
                  <a:srgbClr val="0070C0"/>
                </a:solidFill>
              </a:rPr>
              <a:t>Example 1. Tossing a coin.</a:t>
            </a:r>
          </a:p>
          <a:p>
            <a:endParaRPr lang="en-US" dirty="0"/>
          </a:p>
          <a:p>
            <a:r>
              <a:rPr lang="en-US" dirty="0"/>
              <a:t>Possible outcomes : (tails or heads).</a:t>
            </a:r>
          </a:p>
          <a:p>
            <a:r>
              <a:rPr lang="en-US" dirty="0"/>
              <a:t>Events (tails of heads) are mutually exclusive. </a:t>
            </a:r>
          </a:p>
          <a:p>
            <a:r>
              <a:rPr lang="en-US" dirty="0"/>
              <a:t>Their probabilities should be equal.</a:t>
            </a:r>
          </a:p>
          <a:p>
            <a:endParaRPr lang="en-US" dirty="0"/>
          </a:p>
          <a:p>
            <a:r>
              <a:rPr lang="en-US" dirty="0"/>
              <a:t>P</a:t>
            </a:r>
            <a:r>
              <a:rPr lang="en-US" baseline="-25000" dirty="0"/>
              <a:t>t</a:t>
            </a:r>
            <a:r>
              <a:rPr lang="en-US" dirty="0"/>
              <a:t> + P</a:t>
            </a:r>
            <a:r>
              <a:rPr lang="en-US" baseline="-25000" dirty="0"/>
              <a:t>h</a:t>
            </a:r>
            <a:r>
              <a:rPr lang="en-US" dirty="0"/>
              <a:t> = 1</a:t>
            </a:r>
          </a:p>
          <a:p>
            <a:r>
              <a:rPr lang="en-US" dirty="0"/>
              <a:t>P</a:t>
            </a:r>
            <a:r>
              <a:rPr lang="en-US" baseline="-25000" dirty="0"/>
              <a:t>t</a:t>
            </a:r>
            <a:r>
              <a:rPr lang="en-US" dirty="0"/>
              <a:t> = 0.5</a:t>
            </a:r>
          </a:p>
          <a:p>
            <a:r>
              <a:rPr lang="en-US" dirty="0"/>
              <a:t>P</a:t>
            </a:r>
            <a:r>
              <a:rPr lang="en-US" baseline="-25000" dirty="0"/>
              <a:t>h</a:t>
            </a:r>
            <a:r>
              <a:rPr lang="en-US" dirty="0"/>
              <a:t> = 0.5</a:t>
            </a:r>
          </a:p>
          <a:p>
            <a:endParaRPr lang="en-US" dirty="0"/>
          </a:p>
          <a:p>
            <a:r>
              <a:rPr lang="en-US" b="1" dirty="0">
                <a:solidFill>
                  <a:srgbClr val="0070C0"/>
                </a:solidFill>
              </a:rPr>
              <a:t>Example 2. Rolling a die.</a:t>
            </a:r>
          </a:p>
          <a:p>
            <a:endParaRPr lang="en-US" dirty="0"/>
          </a:p>
          <a:p>
            <a:r>
              <a:rPr lang="en-US" dirty="0"/>
              <a:t>Possible outcomes: (1,2,3,4,5,6).</a:t>
            </a:r>
          </a:p>
          <a:p>
            <a:r>
              <a:rPr lang="en-US" dirty="0"/>
              <a:t>They are mutually exclusive, probability equal, sum() = 1</a:t>
            </a:r>
          </a:p>
          <a:p>
            <a:r>
              <a:rPr lang="en-US" dirty="0"/>
              <a:t>So each probability = 1/6 = 0.167 3.</a:t>
            </a:r>
          </a:p>
        </p:txBody>
      </p:sp>
      <p:sp>
        <p:nvSpPr>
          <p:cNvPr id="5" name="TextBox 4">
            <a:extLst>
              <a:ext uri="{FF2B5EF4-FFF2-40B4-BE49-F238E27FC236}">
                <a16:creationId xmlns:a16="http://schemas.microsoft.com/office/drawing/2014/main" id="{4EFE259D-D05B-5F41-8BD0-9A4D34A8B30A}"/>
              </a:ext>
            </a:extLst>
          </p:cNvPr>
          <p:cNvSpPr txBox="1"/>
          <p:nvPr/>
        </p:nvSpPr>
        <p:spPr>
          <a:xfrm>
            <a:off x="6190593" y="663672"/>
            <a:ext cx="6001407" cy="3970318"/>
          </a:xfrm>
          <a:prstGeom prst="rect">
            <a:avLst/>
          </a:prstGeom>
          <a:noFill/>
        </p:spPr>
        <p:txBody>
          <a:bodyPr wrap="square" rtlCol="0">
            <a:spAutoFit/>
          </a:bodyPr>
          <a:lstStyle/>
          <a:p>
            <a:r>
              <a:rPr lang="en-US" b="1" dirty="0">
                <a:solidFill>
                  <a:srgbClr val="0070C0"/>
                </a:solidFill>
              </a:rPr>
              <a:t>Example 3. Job Search.</a:t>
            </a:r>
          </a:p>
          <a:p>
            <a:endParaRPr lang="en-US" dirty="0"/>
          </a:p>
          <a:p>
            <a:r>
              <a:rPr lang="en-US" dirty="0"/>
              <a:t>I get 2 emails with job descriptions every day, 10 per week.</a:t>
            </a:r>
          </a:p>
          <a:p>
            <a:endParaRPr lang="en-US" dirty="0"/>
          </a:p>
          <a:p>
            <a:r>
              <a:rPr lang="en-US" dirty="0"/>
              <a:t>Two of them may be a fit: 2 of 10 (0.2).</a:t>
            </a:r>
          </a:p>
          <a:p>
            <a:endParaRPr lang="en-US" dirty="0"/>
          </a:p>
          <a:p>
            <a:r>
              <a:rPr lang="en-US" dirty="0"/>
              <a:t>So I send an email that I am interested. </a:t>
            </a:r>
          </a:p>
          <a:p>
            <a:r>
              <a:rPr lang="en-US" dirty="0"/>
              <a:t>I am invited to every third position I requested (0.2/3 = 0.067)</a:t>
            </a:r>
          </a:p>
          <a:p>
            <a:endParaRPr lang="en-US" dirty="0"/>
          </a:p>
          <a:p>
            <a:r>
              <a:rPr lang="en-US" dirty="0"/>
              <a:t>And I get 1 position out of 10 initial interviews (0.0067).</a:t>
            </a:r>
          </a:p>
          <a:p>
            <a:endParaRPr lang="en-US" dirty="0"/>
          </a:p>
          <a:p>
            <a:r>
              <a:rPr lang="en-US" dirty="0"/>
              <a:t>So the probability that an incoming email will result </a:t>
            </a:r>
          </a:p>
          <a:p>
            <a:r>
              <a:rPr lang="en-US" dirty="0"/>
              <a:t>in a job is 0.0067, or ~1%. </a:t>
            </a:r>
          </a:p>
          <a:p>
            <a:r>
              <a:rPr lang="en-US" dirty="0"/>
              <a:t>So, I need to consider 100 positions (this will take 10 weeks), </a:t>
            </a:r>
          </a:p>
          <a:p>
            <a:r>
              <a:rPr lang="en-US" dirty="0"/>
              <a:t>send 20 emails asking to invite, go to 6..7 interviews, </a:t>
            </a:r>
          </a:p>
          <a:p>
            <a:r>
              <a:rPr lang="en-US" dirty="0"/>
              <a:t>and eventually get a job.</a:t>
            </a:r>
          </a:p>
          <a:p>
            <a:endParaRPr lang="en-US" dirty="0"/>
          </a:p>
          <a:p>
            <a:r>
              <a:rPr lang="en-US" dirty="0"/>
              <a:t>So job search takes 2..3 months.</a:t>
            </a:r>
          </a:p>
        </p:txBody>
      </p:sp>
    </p:spTree>
    <p:extLst>
      <p:ext uri="{BB962C8B-B14F-4D97-AF65-F5344CB8AC3E}">
        <p14:creationId xmlns:p14="http://schemas.microsoft.com/office/powerpoint/2010/main" val="8842660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EB5F268-965F-C142-A102-83C02389B555}"/>
              </a:ext>
            </a:extLst>
          </p:cNvPr>
          <p:cNvSpPr txBox="1"/>
          <p:nvPr/>
        </p:nvSpPr>
        <p:spPr>
          <a:xfrm>
            <a:off x="189186" y="258901"/>
            <a:ext cx="5675586" cy="6340197"/>
          </a:xfrm>
          <a:prstGeom prst="rect">
            <a:avLst/>
          </a:prstGeom>
          <a:noFill/>
        </p:spPr>
        <p:txBody>
          <a:bodyPr wrap="square" rtlCol="0">
            <a:spAutoFit/>
          </a:bodyPr>
          <a:lstStyle/>
          <a:p>
            <a:r>
              <a:rPr lang="en-US" b="1" dirty="0">
                <a:solidFill>
                  <a:srgbClr val="0070C0"/>
                </a:solidFill>
              </a:rPr>
              <a:t>Rules (Or, And, etc.)</a:t>
            </a:r>
          </a:p>
          <a:p>
            <a:endParaRPr lang="en-US" dirty="0"/>
          </a:p>
          <a:p>
            <a:r>
              <a:rPr lang="en-US" dirty="0"/>
              <a:t>Lets A be an event. </a:t>
            </a:r>
          </a:p>
          <a:p>
            <a:r>
              <a:rPr lang="en-US" dirty="0"/>
              <a:t>P(A) – </a:t>
            </a:r>
            <a:r>
              <a:rPr lang="en-US" dirty="0" err="1"/>
              <a:t>probabiltiy</a:t>
            </a:r>
            <a:r>
              <a:rPr lang="en-US" dirty="0"/>
              <a:t> of event A </a:t>
            </a:r>
          </a:p>
          <a:p>
            <a:r>
              <a:rPr lang="en-US" dirty="0"/>
              <a:t>then: P(A) + P(not A) = 1 </a:t>
            </a:r>
          </a:p>
          <a:p>
            <a:endParaRPr lang="en-US" dirty="0"/>
          </a:p>
          <a:p>
            <a:r>
              <a:rPr lang="en-US" dirty="0"/>
              <a:t>If A and B are events, then: </a:t>
            </a:r>
          </a:p>
          <a:p>
            <a:r>
              <a:rPr lang="en-US" dirty="0"/>
              <a:t>P(A or B) = P(A) + P(B) – P(A and B) </a:t>
            </a:r>
          </a:p>
          <a:p>
            <a:endParaRPr lang="en-US" dirty="0"/>
          </a:p>
          <a:p>
            <a:r>
              <a:rPr lang="en-US" dirty="0"/>
              <a:t>for mutually exclusive events P(A and B) = 0, </a:t>
            </a:r>
          </a:p>
          <a:p>
            <a:r>
              <a:rPr lang="en-US" dirty="0"/>
              <a:t>so P(A or B) = P(A) + P(B)</a:t>
            </a:r>
          </a:p>
          <a:p>
            <a:endParaRPr lang="en-US" dirty="0"/>
          </a:p>
          <a:p>
            <a:r>
              <a:rPr lang="en-US" b="1" dirty="0">
                <a:solidFill>
                  <a:srgbClr val="0070C0"/>
                </a:solidFill>
              </a:rPr>
              <a:t>Venn Diagrams</a:t>
            </a:r>
          </a:p>
          <a:p>
            <a:endParaRPr lang="en-US" dirty="0"/>
          </a:p>
          <a:p>
            <a:r>
              <a:rPr lang="en-US" dirty="0"/>
              <a:t>Venn Diagrams = Graphical representation of events as circles.</a:t>
            </a:r>
          </a:p>
          <a:p>
            <a:r>
              <a:rPr lang="en-US" dirty="0"/>
              <a:t>See many examples – just google images for: Venn Diagram A or B.</a:t>
            </a:r>
          </a:p>
          <a:p>
            <a:endParaRPr lang="en-US" dirty="0"/>
          </a:p>
          <a:p>
            <a:r>
              <a:rPr lang="en-US" dirty="0"/>
              <a:t>For example, this image shows Intersection (A and B),</a:t>
            </a:r>
          </a:p>
          <a:p>
            <a:r>
              <a:rPr lang="en-US" dirty="0"/>
              <a:t>negation of intersection (A but not B, or B but not A),</a:t>
            </a:r>
          </a:p>
          <a:p>
            <a:r>
              <a:rPr lang="en-US" dirty="0"/>
              <a:t>union (A or B), and subtraction (A but not B) :</a:t>
            </a:r>
          </a:p>
          <a:p>
            <a:endParaRPr lang="en-US" dirty="0"/>
          </a:p>
          <a:p>
            <a:r>
              <a:rPr lang="en-US" dirty="0"/>
              <a:t>Conditional Probability</a:t>
            </a:r>
          </a:p>
          <a:p>
            <a:r>
              <a:rPr lang="en-US" dirty="0"/>
              <a:t>P(A|B) – probability of A given that B has occurred.</a:t>
            </a:r>
          </a:p>
          <a:p>
            <a:r>
              <a:rPr lang="en-US" dirty="0"/>
              <a:t>P(A|B) = P(A and B) / P(B) (if P(B) is not zero)</a:t>
            </a:r>
          </a:p>
          <a:p>
            <a:endParaRPr lang="en-US" dirty="0"/>
          </a:p>
          <a:p>
            <a:r>
              <a:rPr lang="en-US" dirty="0"/>
              <a:t>If A &amp; B are independent form each other, then:</a:t>
            </a:r>
          </a:p>
          <a:p>
            <a:r>
              <a:rPr lang="en-US" dirty="0"/>
              <a:t>P(A|B) = P(A)</a:t>
            </a:r>
          </a:p>
          <a:p>
            <a:r>
              <a:rPr lang="en-US" dirty="0"/>
              <a:t>P(B|A) = P(B)</a:t>
            </a:r>
          </a:p>
        </p:txBody>
      </p:sp>
      <p:pic>
        <p:nvPicPr>
          <p:cNvPr id="2" name="Picture 1">
            <a:extLst>
              <a:ext uri="{FF2B5EF4-FFF2-40B4-BE49-F238E27FC236}">
                <a16:creationId xmlns:a16="http://schemas.microsoft.com/office/drawing/2014/main" id="{53B9C2FE-C703-344E-807C-1F34D0C8391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695908" y="258901"/>
            <a:ext cx="5143166" cy="6227906"/>
          </a:xfrm>
          <a:prstGeom prst="rect">
            <a:avLst/>
          </a:prstGeom>
        </p:spPr>
      </p:pic>
    </p:spTree>
    <p:extLst>
      <p:ext uri="{BB962C8B-B14F-4D97-AF65-F5344CB8AC3E}">
        <p14:creationId xmlns:p14="http://schemas.microsoft.com/office/powerpoint/2010/main" val="3345387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A133424-AF22-CA4F-9D1C-1219C4769656}"/>
              </a:ext>
            </a:extLst>
          </p:cNvPr>
          <p:cNvSpPr txBox="1"/>
          <p:nvPr/>
        </p:nvSpPr>
        <p:spPr>
          <a:xfrm>
            <a:off x="6505765" y="4242179"/>
            <a:ext cx="5517931" cy="2462213"/>
          </a:xfrm>
          <a:prstGeom prst="rect">
            <a:avLst/>
          </a:prstGeom>
          <a:noFill/>
        </p:spPr>
        <p:txBody>
          <a:bodyPr wrap="square" rtlCol="0">
            <a:spAutoFit/>
          </a:bodyPr>
          <a:lstStyle/>
          <a:p>
            <a:r>
              <a:rPr lang="en-US" dirty="0"/>
              <a:t>For proposition A and evidence B,</a:t>
            </a:r>
          </a:p>
          <a:p>
            <a:r>
              <a:rPr lang="en-US" dirty="0"/>
              <a:t>P(A), the prior, is the initial degree of belief in A.</a:t>
            </a:r>
          </a:p>
          <a:p>
            <a:r>
              <a:rPr lang="en-US" dirty="0"/>
              <a:t>P(A|B), the posterior, is the degree of belief having accounted for B.</a:t>
            </a:r>
          </a:p>
          <a:p>
            <a:r>
              <a:rPr lang="en-US" dirty="0"/>
              <a:t>P(B|A)/P(B) – represents the support B provides for A.</a:t>
            </a:r>
          </a:p>
          <a:p>
            <a:endParaRPr lang="en-US" dirty="0"/>
          </a:p>
          <a:p>
            <a:r>
              <a:rPr lang="en-US" dirty="0"/>
              <a:t>See also Bayesian inference.</a:t>
            </a:r>
          </a:p>
          <a:p>
            <a:r>
              <a:rPr lang="en-US" dirty="0"/>
              <a:t>– https://</a:t>
            </a:r>
            <a:r>
              <a:rPr lang="en-US" dirty="0" err="1"/>
              <a:t>en.wikipedia.org</a:t>
            </a:r>
            <a:r>
              <a:rPr lang="en-US" dirty="0"/>
              <a:t>/wiki/</a:t>
            </a:r>
            <a:r>
              <a:rPr lang="en-US" dirty="0" err="1"/>
              <a:t>Bayesian_inference</a:t>
            </a:r>
            <a:endParaRPr lang="en-US" dirty="0"/>
          </a:p>
          <a:p>
            <a:endParaRPr lang="en-US" dirty="0"/>
          </a:p>
          <a:p>
            <a:r>
              <a:rPr lang="en-US" dirty="0"/>
              <a:t>Bayesian inference is a method of statistical inference in which</a:t>
            </a:r>
          </a:p>
          <a:p>
            <a:r>
              <a:rPr lang="en-US" dirty="0"/>
              <a:t>Bayes’ theorem is used to update the probability for a hypothesis</a:t>
            </a:r>
          </a:p>
          <a:p>
            <a:r>
              <a:rPr lang="en-US" dirty="0"/>
              <a:t>as more evidence or information becomes available.</a:t>
            </a:r>
          </a:p>
        </p:txBody>
      </p:sp>
      <p:sp>
        <p:nvSpPr>
          <p:cNvPr id="5" name="TextBox 4">
            <a:extLst>
              <a:ext uri="{FF2B5EF4-FFF2-40B4-BE49-F238E27FC236}">
                <a16:creationId xmlns:a16="http://schemas.microsoft.com/office/drawing/2014/main" id="{DB6CFF65-663B-CB43-B815-53184C5B9CE5}"/>
              </a:ext>
            </a:extLst>
          </p:cNvPr>
          <p:cNvSpPr txBox="1"/>
          <p:nvPr/>
        </p:nvSpPr>
        <p:spPr>
          <a:xfrm>
            <a:off x="84083" y="86343"/>
            <a:ext cx="6011917" cy="6771084"/>
          </a:xfrm>
          <a:prstGeom prst="rect">
            <a:avLst/>
          </a:prstGeom>
          <a:noFill/>
        </p:spPr>
        <p:txBody>
          <a:bodyPr wrap="square" rtlCol="0">
            <a:spAutoFit/>
          </a:bodyPr>
          <a:lstStyle/>
          <a:p>
            <a:r>
              <a:rPr lang="en-US" dirty="0"/>
              <a:t>Bayes’ Theorem (Law, Rule)</a:t>
            </a:r>
          </a:p>
          <a:p>
            <a:r>
              <a:rPr lang="en-US" dirty="0"/>
              <a:t>– </a:t>
            </a:r>
            <a:r>
              <a:rPr lang="en-US" dirty="0">
                <a:hlinkClick r:id="rId2"/>
              </a:rPr>
              <a:t>https://en.wikipedia.org/wiki/Thomas_Bayes</a:t>
            </a:r>
            <a:r>
              <a:rPr lang="en-US" dirty="0"/>
              <a:t> - </a:t>
            </a:r>
            <a:br>
              <a:rPr lang="en-US" dirty="0"/>
            </a:br>
            <a:r>
              <a:rPr lang="en-US" dirty="0"/>
              <a:t>– </a:t>
            </a:r>
            <a:r>
              <a:rPr lang="en-US" dirty="0">
                <a:hlinkClick r:id="rId3"/>
              </a:rPr>
              <a:t>https://</a:t>
            </a:r>
            <a:r>
              <a:rPr lang="en-US" dirty="0" err="1">
                <a:hlinkClick r:id="rId3"/>
              </a:rPr>
              <a:t>en.wikipedia.org</a:t>
            </a:r>
            <a:r>
              <a:rPr lang="en-US" dirty="0">
                <a:hlinkClick r:id="rId3"/>
              </a:rPr>
              <a:t>/wiki/Bayes%27_theorem</a:t>
            </a:r>
            <a:r>
              <a:rPr lang="en-US" dirty="0"/>
              <a:t> –</a:t>
            </a:r>
          </a:p>
          <a:p>
            <a:r>
              <a:rPr lang="en-US" dirty="0"/>
              <a:t>– </a:t>
            </a:r>
            <a:r>
              <a:rPr lang="en-US" dirty="0">
                <a:hlinkClick r:id="rId4"/>
              </a:rPr>
              <a:t>https://</a:t>
            </a:r>
            <a:r>
              <a:rPr lang="en-US" dirty="0" err="1">
                <a:hlinkClick r:id="rId4"/>
              </a:rPr>
              <a:t>en.wikipedia.org</a:t>
            </a:r>
            <a:r>
              <a:rPr lang="en-US" dirty="0">
                <a:hlinkClick r:id="rId4"/>
              </a:rPr>
              <a:t>/wiki/</a:t>
            </a:r>
            <a:r>
              <a:rPr lang="en-US" dirty="0" err="1">
                <a:hlinkClick r:id="rId4"/>
              </a:rPr>
              <a:t>Bayesian_inference</a:t>
            </a:r>
            <a:r>
              <a:rPr lang="en-US" dirty="0"/>
              <a:t> –</a:t>
            </a:r>
          </a:p>
          <a:p>
            <a:endParaRPr lang="en-US" dirty="0"/>
          </a:p>
          <a:p>
            <a:r>
              <a:rPr lang="en-US" dirty="0"/>
              <a:t>P(A|B) = P(B|A)*P(A)/P(B)</a:t>
            </a:r>
          </a:p>
          <a:p>
            <a:endParaRPr lang="en-US" dirty="0"/>
          </a:p>
          <a:p>
            <a:r>
              <a:rPr lang="en-US" dirty="0"/>
              <a:t>where A and B are events and P(B) not equal 0.</a:t>
            </a:r>
          </a:p>
          <a:p>
            <a:endParaRPr lang="en-US" dirty="0"/>
          </a:p>
          <a:p>
            <a:r>
              <a:rPr lang="en-US" dirty="0"/>
              <a:t>Frequentist interpretation of Bayes’ theorem.</a:t>
            </a:r>
          </a:p>
          <a:p>
            <a:r>
              <a:rPr lang="en-US" dirty="0"/>
              <a:t>Probability measures a proportion of outcomes.</a:t>
            </a:r>
          </a:p>
          <a:p>
            <a:r>
              <a:rPr lang="en-US" dirty="0"/>
              <a:t>Suppose an experiment is performed many times.</a:t>
            </a:r>
          </a:p>
          <a:p>
            <a:endParaRPr lang="en-US" dirty="0"/>
          </a:p>
          <a:p>
            <a:r>
              <a:rPr lang="en-US" dirty="0"/>
              <a:t>P(A) is the proportion of outcomes with property A,</a:t>
            </a:r>
          </a:p>
          <a:p>
            <a:r>
              <a:rPr lang="en-US" dirty="0"/>
              <a:t>and P(B) that with property B.</a:t>
            </a:r>
          </a:p>
          <a:p>
            <a:endParaRPr lang="en-US" dirty="0"/>
          </a:p>
          <a:p>
            <a:r>
              <a:rPr lang="en-US" dirty="0"/>
              <a:t>P(B|A) is the proportion of outcomes with property B </a:t>
            </a:r>
          </a:p>
          <a:p>
            <a:r>
              <a:rPr lang="en-US" dirty="0"/>
              <a:t>out of outcomes with property A,</a:t>
            </a:r>
          </a:p>
          <a:p>
            <a:endParaRPr lang="en-US" dirty="0"/>
          </a:p>
          <a:p>
            <a:r>
              <a:rPr lang="en-US" dirty="0"/>
              <a:t>and P(A|B) the proportion of those with A out of those with B.</a:t>
            </a:r>
          </a:p>
          <a:p>
            <a:endParaRPr lang="en-US" dirty="0"/>
          </a:p>
          <a:p>
            <a:r>
              <a:rPr lang="en-US" dirty="0"/>
              <a:t>Bayesian interpretation of Bayes’ theorem.</a:t>
            </a:r>
          </a:p>
          <a:p>
            <a:r>
              <a:rPr lang="en-US" dirty="0"/>
              <a:t>Probability measures a degree of belief.</a:t>
            </a:r>
          </a:p>
          <a:p>
            <a:r>
              <a:rPr lang="en-US" dirty="0"/>
              <a:t>Bayes’ theorem then links the degree of belief in a proposition before (A)</a:t>
            </a:r>
          </a:p>
          <a:p>
            <a:r>
              <a:rPr lang="en-US" dirty="0"/>
              <a:t>and after (B) accounting for evidence.</a:t>
            </a:r>
          </a:p>
          <a:p>
            <a:endParaRPr lang="en-US" dirty="0"/>
          </a:p>
          <a:p>
            <a:r>
              <a:rPr lang="en-US" dirty="0"/>
              <a:t>For example, suppose it is believed with 50% certainty </a:t>
            </a:r>
          </a:p>
          <a:p>
            <a:r>
              <a:rPr lang="en-US" dirty="0"/>
              <a:t>that a coin is twice as likely to land heads than tails.</a:t>
            </a:r>
          </a:p>
          <a:p>
            <a:r>
              <a:rPr lang="en-US" dirty="0"/>
              <a:t>If the coin is flipped a number of times and the outcomes observed,</a:t>
            </a:r>
          </a:p>
          <a:p>
            <a:r>
              <a:rPr lang="en-US" dirty="0"/>
              <a:t>then that degree of belief may rise, fall or </a:t>
            </a:r>
          </a:p>
          <a:p>
            <a:r>
              <a:rPr lang="en-US" dirty="0"/>
              <a:t>remain the same depending on the results.</a:t>
            </a:r>
          </a:p>
        </p:txBody>
      </p:sp>
      <p:pic>
        <p:nvPicPr>
          <p:cNvPr id="3" name="Picture 2">
            <a:extLst>
              <a:ext uri="{FF2B5EF4-FFF2-40B4-BE49-F238E27FC236}">
                <a16:creationId xmlns:a16="http://schemas.microsoft.com/office/drawing/2014/main" id="{5C70D884-EC0B-1A48-94E2-CD2923F3622A}"/>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8070850" y="177588"/>
            <a:ext cx="3822700" cy="2044700"/>
          </a:xfrm>
          <a:prstGeom prst="rect">
            <a:avLst/>
          </a:prstGeom>
        </p:spPr>
      </p:pic>
      <p:sp>
        <p:nvSpPr>
          <p:cNvPr id="6" name="TextBox 5">
            <a:extLst>
              <a:ext uri="{FF2B5EF4-FFF2-40B4-BE49-F238E27FC236}">
                <a16:creationId xmlns:a16="http://schemas.microsoft.com/office/drawing/2014/main" id="{6CB6F775-63F0-274F-A53D-9922B5035949}"/>
              </a:ext>
            </a:extLst>
          </p:cNvPr>
          <p:cNvSpPr txBox="1"/>
          <p:nvPr/>
        </p:nvSpPr>
        <p:spPr>
          <a:xfrm>
            <a:off x="8404392" y="2322095"/>
            <a:ext cx="3489158" cy="307777"/>
          </a:xfrm>
          <a:prstGeom prst="rect">
            <a:avLst/>
          </a:prstGeom>
          <a:noFill/>
        </p:spPr>
        <p:txBody>
          <a:bodyPr wrap="square" rtlCol="0">
            <a:spAutoFit/>
          </a:bodyPr>
          <a:lstStyle/>
          <a:p>
            <a:r>
              <a:rPr lang="en-US" dirty="0" err="1"/>
              <a:t>Thomas_Bayes</a:t>
            </a:r>
            <a:r>
              <a:rPr lang="en-US" dirty="0"/>
              <a:t> – (/’</a:t>
            </a:r>
            <a:r>
              <a:rPr lang="en-US" dirty="0" err="1"/>
              <a:t>be?z</a:t>
            </a:r>
            <a:r>
              <a:rPr lang="en-US" dirty="0"/>
              <a:t>/; 1701–1761)</a:t>
            </a:r>
          </a:p>
        </p:txBody>
      </p:sp>
    </p:spTree>
    <p:extLst>
      <p:ext uri="{BB962C8B-B14F-4D97-AF65-F5344CB8AC3E}">
        <p14:creationId xmlns:p14="http://schemas.microsoft.com/office/powerpoint/2010/main" val="822577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8" name="Google Shape;88;p13"/>
              <p:cNvSpPr txBox="1"/>
              <p:nvPr/>
            </p:nvSpPr>
            <p:spPr>
              <a:xfrm>
                <a:off x="45811" y="978513"/>
                <a:ext cx="6187097" cy="2739291"/>
              </a:xfrm>
              <a:prstGeom prst="rect">
                <a:avLst/>
              </a:prstGeom>
              <a:noFill/>
              <a:ln w="63500"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i="0" u="none" strike="noStrike" cap="none" dirty="0">
                    <a:solidFill>
                      <a:srgbClr val="0070C0"/>
                    </a:solidFill>
                    <a:latin typeface="Calibri"/>
                    <a:ea typeface="Calibri"/>
                    <a:cs typeface="Calibri"/>
                    <a:sym typeface="Calibri"/>
                  </a:rPr>
                  <a:t>Bayes’ Theorem </a:t>
                </a:r>
                <a:r>
                  <a:rPr lang="en-US" sz="2000" b="0" i="0" u="none" strike="noStrike" cap="none" dirty="0">
                    <a:solidFill>
                      <a:schemeClr val="dk1"/>
                    </a:solidFill>
                    <a:latin typeface="Calibri"/>
                    <a:ea typeface="Calibri"/>
                    <a:cs typeface="Calibri"/>
                    <a:sym typeface="Calibri"/>
                  </a:rPr>
                  <a:t>(conditional probability)</a:t>
                </a:r>
              </a:p>
              <a:p>
                <a:pPr marL="0" marR="0" lvl="0" indent="0" algn="l" rtl="0">
                  <a:spcBef>
                    <a:spcPts val="0"/>
                  </a:spcBef>
                  <a:spcAft>
                    <a:spcPts val="0"/>
                  </a:spcAft>
                  <a:buNone/>
                </a:pPr>
                <a:endParaRPr lang="en-US" sz="2000" b="0" i="0" u="none" strike="noStrike" cap="none" dirty="0">
                  <a:solidFill>
                    <a:schemeClr val="dk1"/>
                  </a:solidFill>
                  <a:latin typeface="Calibri"/>
                  <a:ea typeface="Calibri"/>
                  <a:cs typeface="Calibri"/>
                  <a:sym typeface="Calibri"/>
                </a:endParaRPr>
              </a:p>
              <a:p>
                <a:pPr/>
                <a14:m>
                  <m:oMathPara xmlns:m="http://schemas.openxmlformats.org/officeDocument/2006/math">
                    <m:oMathParaPr>
                      <m:jc m:val="center"/>
                    </m:oMathParaPr>
                    <m:oMath xmlns:m="http://schemas.openxmlformats.org/officeDocument/2006/math">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 = </m:t>
                      </m:r>
                      <m:f>
                        <m:fPr>
                          <m:ctrlPr>
                            <a:rPr lang="en-US" b="1" i="1">
                              <a:latin typeface="Cambria Math" panose="02040503050406030204" pitchFamily="18" charset="0"/>
                            </a:rPr>
                          </m:ctrlPr>
                        </m:fPr>
                        <m:num>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 ∗ </m:t>
                          </m:r>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m:t>
                          </m:r>
                        </m:num>
                        <m:den>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m:t>
                          </m:r>
                        </m:den>
                      </m:f>
                    </m:oMath>
                  </m:oMathPara>
                </a14:m>
                <a:endParaRPr lang="en-US" dirty="0"/>
              </a:p>
              <a:p>
                <a:pPr marL="0" marR="0" lvl="0" indent="0" algn="l" rtl="0">
                  <a:spcBef>
                    <a:spcPts val="0"/>
                  </a:spcBef>
                  <a:spcAft>
                    <a:spcPts val="0"/>
                  </a:spcAft>
                  <a:buNone/>
                </a:pPr>
                <a:r>
                  <a:rPr lang="en-US" sz="2000" dirty="0">
                    <a:solidFill>
                      <a:schemeClr val="dk1"/>
                    </a:solidFill>
                    <a:latin typeface="Calibri"/>
                    <a:cs typeface="Calibri"/>
                    <a:sym typeface="Calibri"/>
                  </a:rPr>
                  <a:t>or</a:t>
                </a:r>
              </a:p>
              <a:p>
                <a:pPr algn="ctr"/>
                <a:r>
                  <a:rPr lang="en-US" sz="2000" dirty="0">
                    <a:solidFill>
                      <a:schemeClr val="dk1"/>
                    </a:solidFill>
                    <a:latin typeface="Calibri"/>
                    <a:cs typeface="Calibri"/>
                    <a:sym typeface="Calibri"/>
                  </a:rPr>
                  <a:t>     </a:t>
                </a:r>
                <a14:m>
                  <m:oMath xmlns:m="http://schemas.openxmlformats.org/officeDocument/2006/math">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 </m:t>
                    </m:r>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 = </m:t>
                    </m:r>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 ∗ </m:t>
                    </m:r>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m:t>
                    </m:r>
                  </m:oMath>
                </a14:m>
                <a:endParaRPr lang="en-US" dirty="0"/>
              </a:p>
              <a:p>
                <a:pPr marL="0" marR="0" lvl="0" indent="0" algn="l" rtl="0">
                  <a:spcBef>
                    <a:spcPts val="0"/>
                  </a:spcBef>
                  <a:spcAft>
                    <a:spcPts val="0"/>
                  </a:spcAft>
                  <a:buNone/>
                </a:pPr>
                <a:endParaRPr lang="en-US" sz="2000" dirty="0">
                  <a:solidFill>
                    <a:schemeClr val="dk1"/>
                  </a:solidFill>
                  <a:latin typeface="Calibri"/>
                  <a:cs typeface="Calibri"/>
                  <a:sym typeface="Calibri"/>
                </a:endParaRPr>
              </a:p>
              <a:p>
                <a:pPr marL="0" marR="0" lvl="0" indent="0" algn="l" rtl="0">
                  <a:spcBef>
                    <a:spcPts val="0"/>
                  </a:spcBef>
                  <a:spcAft>
                    <a:spcPts val="0"/>
                  </a:spcAft>
                  <a:buNone/>
                </a:pPr>
                <a:r>
                  <a:rPr lang="en-US" sz="2400" b="0" i="0" u="none" strike="noStrike" cap="none" dirty="0">
                    <a:solidFill>
                      <a:schemeClr val="dk1"/>
                    </a:solidFill>
                    <a:latin typeface="Calibri"/>
                    <a:ea typeface="Calibri"/>
                    <a:cs typeface="Calibri"/>
                    <a:sym typeface="Calibri"/>
                  </a:rPr>
                  <a:t>where A and B are events, and P(B) not equal 0.</a:t>
                </a:r>
                <a:endParaRPr sz="2400" b="0" i="0" u="none" strike="noStrike" cap="none" dirty="0">
                  <a:solidFill>
                    <a:schemeClr val="dk1"/>
                  </a:solidFill>
                  <a:latin typeface="Calibri"/>
                  <a:ea typeface="Calibri"/>
                  <a:cs typeface="Calibri"/>
                  <a:sym typeface="Calibri"/>
                </a:endParaRPr>
              </a:p>
            </p:txBody>
          </p:sp>
        </mc:Choice>
        <mc:Fallback xmlns="">
          <p:sp>
            <p:nvSpPr>
              <p:cNvPr id="88" name="Google Shape;88;p13"/>
              <p:cNvSpPr txBox="1">
                <a:spLocks noRot="1" noChangeAspect="1" noMove="1" noResize="1" noEditPoints="1" noAdjustHandles="1" noChangeArrowheads="1" noChangeShapeType="1" noTextEdit="1"/>
              </p:cNvSpPr>
              <p:nvPr/>
            </p:nvSpPr>
            <p:spPr>
              <a:xfrm>
                <a:off x="45811" y="978513"/>
                <a:ext cx="6187097" cy="2739291"/>
              </a:xfrm>
              <a:prstGeom prst="rect">
                <a:avLst/>
              </a:prstGeom>
              <a:blipFill>
                <a:blip r:embed="rId3"/>
                <a:stretch>
                  <a:fillRect l="-2051" t="-1743"/>
                </a:stretch>
              </a:blipFill>
              <a:ln w="63500" cap="flat" cmpd="sng">
                <a:solidFill>
                  <a:schemeClr val="accent6"/>
                </a:solidFill>
                <a:prstDash val="solid"/>
                <a:round/>
                <a:headEnd type="none" w="sm" len="sm"/>
                <a:tailEnd type="none" w="sm" len="sm"/>
              </a:ln>
            </p:spPr>
            <p:txBody>
              <a:bodyPr/>
              <a:lstStyle/>
              <a:p>
                <a:r>
                  <a:rPr lang="en-US">
                    <a:noFill/>
                  </a:rPr>
                  <a:t> </a:t>
                </a:r>
              </a:p>
            </p:txBody>
          </p:sp>
        </mc:Fallback>
      </mc:AlternateContent>
      <p:sp>
        <p:nvSpPr>
          <p:cNvPr id="89" name="Google Shape;89;p13"/>
          <p:cNvSpPr txBox="1"/>
          <p:nvPr/>
        </p:nvSpPr>
        <p:spPr>
          <a:xfrm>
            <a:off x="6532782" y="3589349"/>
            <a:ext cx="5637488" cy="327820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0" i="0" u="none" strike="noStrike" cap="none" dirty="0">
                <a:solidFill>
                  <a:schemeClr val="dk1"/>
                </a:solidFill>
                <a:latin typeface="Calibri"/>
                <a:ea typeface="Calibri"/>
                <a:cs typeface="Calibri"/>
                <a:sym typeface="Calibri"/>
              </a:rPr>
              <a:t>Intuitive explanation of Bayesian rule (on the left). </a:t>
            </a:r>
          </a:p>
          <a:p>
            <a:pPr marL="0" marR="0" lvl="0" indent="0" algn="l" rtl="0">
              <a:spcBef>
                <a:spcPts val="0"/>
              </a:spcBef>
              <a:spcAft>
                <a:spcPts val="0"/>
              </a:spcAft>
              <a:buNone/>
            </a:pPr>
            <a:r>
              <a:rPr lang="en-US" sz="1800" dirty="0">
                <a:solidFill>
                  <a:schemeClr val="dk1"/>
                </a:solidFill>
                <a:latin typeface="Calibri"/>
                <a:cs typeface="Calibri"/>
                <a:sym typeface="Calibri"/>
              </a:rPr>
              <a:t>A = Happy, B = Rich</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P(A) = 40% = probability of being happy (Yellow)</a:t>
            </a: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P(B) = 5% = probability of being rich (Blue)</a:t>
            </a: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P(A &amp; B) = 4% = probability of rich &amp; happy (Green)</a:t>
            </a: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P(B|A) = 10% = probability of being rich given that Happy</a:t>
            </a: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P(A|B) = 80% = probability of being happy given that rich</a:t>
            </a:r>
          </a:p>
          <a:p>
            <a:pPr marL="0" marR="0" lvl="0" indent="0" algn="l" rtl="0">
              <a:spcBef>
                <a:spcPts val="0"/>
              </a:spcBef>
              <a:spcAft>
                <a:spcPts val="0"/>
              </a:spcAft>
              <a:buNone/>
            </a:pPr>
            <a:endParaRPr lang="en-US"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You can calculate green intersection using two methods:</a:t>
            </a: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P(A|B)*P(B) = 80%*5% = 4%</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P(B|A)*P(A) = 10%*40% = 4%</a:t>
            </a:r>
          </a:p>
        </p:txBody>
      </p:sp>
      <p:sp>
        <p:nvSpPr>
          <p:cNvPr id="90" name="Google Shape;90;p13"/>
          <p:cNvSpPr txBox="1"/>
          <p:nvPr/>
        </p:nvSpPr>
        <p:spPr>
          <a:xfrm>
            <a:off x="93257" y="-77443"/>
            <a:ext cx="7972927" cy="95410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dirty="0">
                <a:solidFill>
                  <a:srgbClr val="0070C0"/>
                </a:solidFill>
                <a:latin typeface="Calibri"/>
                <a:ea typeface="Calibri"/>
                <a:cs typeface="Calibri"/>
                <a:sym typeface="Calibri"/>
              </a:rPr>
              <a:t>Bayesian inference - </a:t>
            </a:r>
            <a:r>
              <a:rPr lang="en-US" sz="2800" dirty="0">
                <a:solidFill>
                  <a:srgbClr val="0070C0"/>
                </a:solidFill>
                <a:latin typeface="Calibri"/>
                <a:ea typeface="Calibri"/>
                <a:cs typeface="Calibri"/>
                <a:sym typeface="Calibri"/>
              </a:rPr>
              <a:t>calculate probability</a:t>
            </a:r>
            <a:endParaRPr dirty="0"/>
          </a:p>
          <a:p>
            <a:pPr marL="0" marR="0" lvl="0" indent="0" algn="l" rtl="0">
              <a:spcBef>
                <a:spcPts val="0"/>
              </a:spcBef>
              <a:spcAft>
                <a:spcPts val="0"/>
              </a:spcAft>
              <a:buNone/>
            </a:pPr>
            <a:r>
              <a:rPr lang="en-US" sz="2800" dirty="0">
                <a:solidFill>
                  <a:srgbClr val="0070C0"/>
                </a:solidFill>
                <a:latin typeface="Calibri"/>
                <a:ea typeface="Calibri"/>
                <a:cs typeface="Calibri"/>
                <a:sym typeface="Calibri"/>
              </a:rPr>
              <a:t>following chains of dependencies or correlations</a:t>
            </a:r>
            <a:endParaRPr dirty="0"/>
          </a:p>
        </p:txBody>
      </p:sp>
      <p:sp>
        <p:nvSpPr>
          <p:cNvPr id="91" name="Google Shape;91;p13"/>
          <p:cNvSpPr txBox="1"/>
          <p:nvPr/>
        </p:nvSpPr>
        <p:spPr>
          <a:xfrm>
            <a:off x="10587787" y="2213811"/>
            <a:ext cx="1588170"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Thomas Bayes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(1701–1761)</a:t>
            </a:r>
            <a:endParaRPr sz="1800">
              <a:solidFill>
                <a:schemeClr val="dk1"/>
              </a:solidFill>
              <a:latin typeface="Calibri"/>
              <a:ea typeface="Calibri"/>
              <a:cs typeface="Calibri"/>
              <a:sym typeface="Calibri"/>
            </a:endParaRPr>
          </a:p>
        </p:txBody>
      </p:sp>
      <p:pic>
        <p:nvPicPr>
          <p:cNvPr id="92" name="Google Shape;92;p13"/>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351783" y="0"/>
            <a:ext cx="1818487" cy="2213811"/>
          </a:xfrm>
          <a:prstGeom prst="rect">
            <a:avLst/>
          </a:prstGeom>
          <a:noFill/>
          <a:ln>
            <a:noFill/>
          </a:ln>
        </p:spPr>
      </p:pic>
      <p:sp>
        <p:nvSpPr>
          <p:cNvPr id="96" name="Google Shape;96;p13"/>
          <p:cNvSpPr/>
          <p:nvPr/>
        </p:nvSpPr>
        <p:spPr>
          <a:xfrm>
            <a:off x="523454" y="4272171"/>
            <a:ext cx="4588042" cy="2229852"/>
          </a:xfrm>
          <a:prstGeom prst="rect">
            <a:avLst/>
          </a:prstGeom>
          <a:solidFill>
            <a:srgbClr val="FBE4D4"/>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 name="Google Shape;97;p13"/>
          <p:cNvSpPr/>
          <p:nvPr/>
        </p:nvSpPr>
        <p:spPr>
          <a:xfrm>
            <a:off x="1166937" y="4576971"/>
            <a:ext cx="3224463" cy="1764631"/>
          </a:xfrm>
          <a:prstGeom prst="ellipse">
            <a:avLst/>
          </a:prstGeom>
          <a:solidFill>
            <a:srgbClr val="FFC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 name="Google Shape;98;p13"/>
          <p:cNvSpPr/>
          <p:nvPr/>
        </p:nvSpPr>
        <p:spPr>
          <a:xfrm>
            <a:off x="3342855" y="5008818"/>
            <a:ext cx="1397874" cy="900935"/>
          </a:xfrm>
          <a:prstGeom prst="ellipse">
            <a:avLst/>
          </a:prstGeom>
          <a:solidFill>
            <a:srgbClr val="00B0F0">
              <a:alpha val="40784"/>
            </a:srgbClr>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 name="Google Shape;99;p13"/>
          <p:cNvSpPr txBox="1"/>
          <p:nvPr/>
        </p:nvSpPr>
        <p:spPr>
          <a:xfrm>
            <a:off x="2068401" y="5008818"/>
            <a:ext cx="1274454" cy="90093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dirty="0">
                <a:solidFill>
                  <a:srgbClr val="FF0000"/>
                </a:solidFill>
                <a:latin typeface="Calibri"/>
                <a:ea typeface="Calibri"/>
                <a:cs typeface="Calibri"/>
                <a:sym typeface="Calibri"/>
              </a:rPr>
              <a:t>A</a:t>
            </a:r>
          </a:p>
          <a:p>
            <a:pPr marL="0" marR="0" lvl="0" indent="0" algn="l" rtl="0">
              <a:spcBef>
                <a:spcPts val="0"/>
              </a:spcBef>
              <a:spcAft>
                <a:spcPts val="0"/>
              </a:spcAft>
              <a:buNone/>
            </a:pPr>
            <a:r>
              <a:rPr lang="en-US" sz="2400" b="1" dirty="0">
                <a:solidFill>
                  <a:srgbClr val="FF0000"/>
                </a:solidFill>
                <a:latin typeface="Calibri"/>
                <a:ea typeface="Calibri"/>
                <a:cs typeface="Calibri"/>
                <a:sym typeface="Calibri"/>
              </a:rPr>
              <a:t>Happy</a:t>
            </a:r>
            <a:endParaRPr sz="2400" b="1" dirty="0">
              <a:solidFill>
                <a:srgbClr val="FF0000"/>
              </a:solidFill>
              <a:latin typeface="Calibri"/>
              <a:ea typeface="Calibri"/>
              <a:cs typeface="Calibri"/>
              <a:sym typeface="Calibri"/>
            </a:endParaRPr>
          </a:p>
        </p:txBody>
      </p:sp>
      <p:sp>
        <p:nvSpPr>
          <p:cNvPr id="100" name="Google Shape;100;p13"/>
          <p:cNvSpPr txBox="1"/>
          <p:nvPr/>
        </p:nvSpPr>
        <p:spPr>
          <a:xfrm>
            <a:off x="3903802" y="5014208"/>
            <a:ext cx="1083013" cy="74577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dirty="0">
                <a:solidFill>
                  <a:srgbClr val="FF0000"/>
                </a:solidFill>
                <a:latin typeface="Calibri"/>
                <a:ea typeface="Calibri"/>
                <a:cs typeface="Calibri"/>
                <a:sym typeface="Calibri"/>
              </a:rPr>
              <a:t>B</a:t>
            </a:r>
          </a:p>
          <a:p>
            <a:pPr marL="0" marR="0" lvl="0" indent="0" algn="l" rtl="0">
              <a:spcBef>
                <a:spcPts val="0"/>
              </a:spcBef>
              <a:spcAft>
                <a:spcPts val="0"/>
              </a:spcAft>
              <a:buNone/>
            </a:pPr>
            <a:r>
              <a:rPr lang="en-US" sz="2400" b="1" dirty="0">
                <a:solidFill>
                  <a:srgbClr val="FF0000"/>
                </a:solidFill>
                <a:latin typeface="Calibri"/>
                <a:ea typeface="Calibri"/>
                <a:cs typeface="Calibri"/>
                <a:sym typeface="Calibri"/>
              </a:rPr>
              <a:t>Rich</a:t>
            </a:r>
            <a:endParaRPr sz="2400" b="1" dirty="0">
              <a:solidFill>
                <a:srgbClr val="FF0000"/>
              </a:solidFill>
              <a:latin typeface="Calibri"/>
              <a:ea typeface="Calibri"/>
              <a:cs typeface="Calibri"/>
              <a:sym typeface="Calibri"/>
            </a:endParaRPr>
          </a:p>
        </p:txBody>
      </p:sp>
      <p:sp>
        <p:nvSpPr>
          <p:cNvPr id="101" name="Google Shape;101;p13"/>
          <p:cNvSpPr txBox="1"/>
          <p:nvPr/>
        </p:nvSpPr>
        <p:spPr>
          <a:xfrm>
            <a:off x="3693291" y="4254614"/>
            <a:ext cx="1530878"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dirty="0">
                <a:solidFill>
                  <a:srgbClr val="FF0000"/>
                </a:solidFill>
                <a:latin typeface="Calibri"/>
                <a:ea typeface="Calibri"/>
                <a:cs typeface="Calibri"/>
                <a:sym typeface="Calibri"/>
              </a:rPr>
              <a:t>All People</a:t>
            </a:r>
            <a:endParaRPr sz="2400" b="1" dirty="0">
              <a:solidFill>
                <a:srgbClr val="FF0000"/>
              </a:solidFill>
              <a:latin typeface="Calibri"/>
              <a:ea typeface="Calibri"/>
              <a:cs typeface="Calibri"/>
              <a:sym typeface="Calibri"/>
            </a:endParaRPr>
          </a:p>
        </p:txBody>
      </p:sp>
      <p:pic>
        <p:nvPicPr>
          <p:cNvPr id="17" name="Google Shape;102;p13">
            <a:extLst>
              <a:ext uri="{FF2B5EF4-FFF2-40B4-BE49-F238E27FC236}">
                <a16:creationId xmlns:a16="http://schemas.microsoft.com/office/drawing/2014/main" id="{5D5E0C1C-95DE-384B-AD65-D49C976EA70D}"/>
              </a:ext>
            </a:extLst>
          </p:cNvPr>
          <p:cNvPicPr preferRelativeResize="0"/>
          <p:nvPr/>
        </p:nvPicPr>
        <p:blipFill rotWithShape="1">
          <a:blip r:embed="rId5">
            <a:alphaModFix/>
          </a:blip>
          <a:srcRect/>
          <a:stretch/>
        </p:blipFill>
        <p:spPr>
          <a:xfrm>
            <a:off x="6903091" y="1553411"/>
            <a:ext cx="2946400" cy="660400"/>
          </a:xfrm>
          <a:prstGeom prst="rect">
            <a:avLst/>
          </a:prstGeom>
          <a:noFill/>
          <a:ln w="50800" cap="flat" cmpd="sng">
            <a:solidFill>
              <a:srgbClr val="00B050"/>
            </a:solidFill>
            <a:prstDash val="solid"/>
            <a:round/>
            <a:headEnd type="none" w="sm" len="sm"/>
            <a:tailEnd type="none" w="sm" len="sm"/>
          </a:ln>
        </p:spPr>
      </p:pic>
    </p:spTree>
    <p:extLst>
      <p:ext uri="{BB962C8B-B14F-4D97-AF65-F5344CB8AC3E}">
        <p14:creationId xmlns:p14="http://schemas.microsoft.com/office/powerpoint/2010/main" val="4149736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EB5F268-965F-C142-A102-83C02389B555}"/>
              </a:ext>
            </a:extLst>
          </p:cNvPr>
          <p:cNvSpPr txBox="1"/>
          <p:nvPr/>
        </p:nvSpPr>
        <p:spPr>
          <a:xfrm>
            <a:off x="84912" y="85118"/>
            <a:ext cx="5906814" cy="6771084"/>
          </a:xfrm>
          <a:prstGeom prst="rect">
            <a:avLst/>
          </a:prstGeom>
          <a:noFill/>
        </p:spPr>
        <p:txBody>
          <a:bodyPr wrap="square" rtlCol="0">
            <a:spAutoFit/>
          </a:bodyPr>
          <a:lstStyle/>
          <a:p>
            <a:r>
              <a:rPr lang="en-US" sz="1800" b="1" dirty="0"/>
              <a:t>Random Variable. Probability Distribution</a:t>
            </a:r>
          </a:p>
          <a:p>
            <a:br>
              <a:rPr lang="en-US" dirty="0"/>
            </a:br>
            <a:r>
              <a:rPr lang="en-US" b="1" dirty="0">
                <a:solidFill>
                  <a:srgbClr val="0070C0"/>
                </a:solidFill>
              </a:rPr>
              <a:t>Random variable </a:t>
            </a:r>
            <a:r>
              <a:rPr lang="en-US" dirty="0"/>
              <a:t>is a numerical variable taking different values.</a:t>
            </a:r>
          </a:p>
          <a:p>
            <a:r>
              <a:rPr lang="en-US" dirty="0"/>
              <a:t>Values may be </a:t>
            </a:r>
            <a:r>
              <a:rPr lang="en-US" b="1" dirty="0">
                <a:solidFill>
                  <a:srgbClr val="0070C0"/>
                </a:solidFill>
              </a:rPr>
              <a:t>discrete or continuous</a:t>
            </a:r>
            <a:r>
              <a:rPr lang="en-US" dirty="0"/>
              <a:t>.</a:t>
            </a:r>
          </a:p>
          <a:p>
            <a:endParaRPr lang="en-US" dirty="0"/>
          </a:p>
          <a:p>
            <a:r>
              <a:rPr lang="en-US" dirty="0"/>
              <a:t>For example, think of variable “x” which may have any real value between -10 and +10.</a:t>
            </a:r>
          </a:p>
          <a:p>
            <a:endParaRPr lang="en-US" dirty="0"/>
          </a:p>
          <a:p>
            <a:r>
              <a:rPr lang="en-US" dirty="0"/>
              <a:t>Or think of a variable “z” which can have discrete values 0,0.1,0.2, … 0.9, 1.0</a:t>
            </a:r>
          </a:p>
          <a:p>
            <a:endParaRPr lang="en-US" dirty="0"/>
          </a:p>
          <a:p>
            <a:r>
              <a:rPr lang="en-US" sz="2400" b="1" dirty="0">
                <a:solidFill>
                  <a:srgbClr val="FF0000"/>
                </a:solidFill>
              </a:rPr>
              <a:t>Discrete Case</a:t>
            </a:r>
          </a:p>
          <a:p>
            <a:r>
              <a:rPr lang="en-US" b="1" dirty="0">
                <a:solidFill>
                  <a:srgbClr val="0070C0"/>
                </a:solidFill>
              </a:rPr>
              <a:t>Probability function </a:t>
            </a:r>
            <a:r>
              <a:rPr lang="en-US" dirty="0"/>
              <a:t>P(x) of a discrete random variable “x” </a:t>
            </a:r>
          </a:p>
          <a:p>
            <a:r>
              <a:rPr lang="en-US" dirty="0"/>
              <a:t>is simply a function which gives probability of discrete values.</a:t>
            </a:r>
          </a:p>
          <a:p>
            <a:endParaRPr lang="en-US" dirty="0"/>
          </a:p>
          <a:p>
            <a:r>
              <a:rPr lang="en-US" dirty="0"/>
              <a:t>For example, if the random variable “x” may have two values: ( 0 or 1 ),</a:t>
            </a:r>
          </a:p>
          <a:p>
            <a:r>
              <a:rPr lang="en-US" dirty="0"/>
              <a:t>and if probabilities of those values are equal, then</a:t>
            </a:r>
          </a:p>
          <a:p>
            <a:endParaRPr lang="en-US" dirty="0"/>
          </a:p>
          <a:p>
            <a:r>
              <a:rPr lang="en-US" dirty="0"/>
              <a:t>P(0) = 0.5, f(1) = 0.5.</a:t>
            </a:r>
          </a:p>
          <a:p>
            <a:endParaRPr lang="en-US" dirty="0"/>
          </a:p>
          <a:p>
            <a:r>
              <a:rPr lang="en-US" dirty="0"/>
              <a:t>The sum of individual probabilities for all possible values should be 1.</a:t>
            </a:r>
          </a:p>
          <a:p>
            <a:endParaRPr lang="en-US" dirty="0"/>
          </a:p>
          <a:p>
            <a:r>
              <a:rPr lang="en-US" b="1" dirty="0">
                <a:solidFill>
                  <a:srgbClr val="0070C0"/>
                </a:solidFill>
              </a:rPr>
              <a:t>Expected value </a:t>
            </a:r>
            <a:r>
              <a:rPr lang="en-US" dirty="0"/>
              <a:t>is an weighted average of all values.</a:t>
            </a:r>
          </a:p>
          <a:p>
            <a:endParaRPr lang="en-US" dirty="0"/>
          </a:p>
          <a:p>
            <a:r>
              <a:rPr lang="en-US" dirty="0"/>
              <a:t>E(x) = sum(Xi*P(Xi)), where Xi goes through all allowed values of X.</a:t>
            </a:r>
          </a:p>
          <a:p>
            <a:endParaRPr lang="en-US" dirty="0"/>
          </a:p>
          <a:p>
            <a:r>
              <a:rPr lang="en-US" b="1" dirty="0">
                <a:solidFill>
                  <a:srgbClr val="0070C0"/>
                </a:solidFill>
              </a:rPr>
              <a:t>Variance = sigma squared </a:t>
            </a:r>
            <a:r>
              <a:rPr lang="en-US" dirty="0"/>
              <a:t>= sum( (Xi-E(x))**2 * P(Xi) )</a:t>
            </a:r>
          </a:p>
          <a:p>
            <a:endParaRPr lang="en-US" dirty="0"/>
          </a:p>
          <a:p>
            <a:r>
              <a:rPr lang="en-US" b="1" dirty="0">
                <a:solidFill>
                  <a:srgbClr val="0070C0"/>
                </a:solidFill>
              </a:rPr>
              <a:t>Standard Deviation </a:t>
            </a:r>
            <a:r>
              <a:rPr lang="en-US" dirty="0"/>
              <a:t>= sqrt(sigma squared)</a:t>
            </a:r>
          </a:p>
        </p:txBody>
      </p:sp>
      <p:sp>
        <p:nvSpPr>
          <p:cNvPr id="5" name="TextBox 4">
            <a:extLst>
              <a:ext uri="{FF2B5EF4-FFF2-40B4-BE49-F238E27FC236}">
                <a16:creationId xmlns:a16="http://schemas.microsoft.com/office/drawing/2014/main" id="{E72EEA3B-9D50-A145-B8FE-B6686486D979}"/>
              </a:ext>
            </a:extLst>
          </p:cNvPr>
          <p:cNvSpPr txBox="1"/>
          <p:nvPr/>
        </p:nvSpPr>
        <p:spPr>
          <a:xfrm>
            <a:off x="5991726" y="178676"/>
            <a:ext cx="6200274" cy="6494085"/>
          </a:xfrm>
          <a:prstGeom prst="rect">
            <a:avLst/>
          </a:prstGeom>
          <a:noFill/>
        </p:spPr>
        <p:txBody>
          <a:bodyPr wrap="square" rtlCol="0">
            <a:spAutoFit/>
          </a:bodyPr>
          <a:lstStyle/>
          <a:p>
            <a:r>
              <a:rPr lang="en-US" dirty="0"/>
              <a:t>Probability Density Function (PDF)  </a:t>
            </a:r>
          </a:p>
          <a:p>
            <a:r>
              <a:rPr lang="en-US" dirty="0"/>
              <a:t>vs.  Cumulative Probability Function ( CPF)</a:t>
            </a:r>
          </a:p>
          <a:p>
            <a:endParaRPr lang="en-US" dirty="0"/>
          </a:p>
          <a:p>
            <a:r>
              <a:rPr lang="en-US" sz="2400" b="1" dirty="0">
                <a:solidFill>
                  <a:srgbClr val="FF0000"/>
                </a:solidFill>
              </a:rPr>
              <a:t>Continuous Case</a:t>
            </a:r>
          </a:p>
          <a:p>
            <a:endParaRPr lang="en-US" dirty="0"/>
          </a:p>
          <a:p>
            <a:r>
              <a:rPr lang="en-US" b="1" dirty="0">
                <a:solidFill>
                  <a:srgbClr val="0070C0"/>
                </a:solidFill>
              </a:rPr>
              <a:t>Probability Density Function (PDF)</a:t>
            </a:r>
            <a:r>
              <a:rPr lang="en-US" dirty="0"/>
              <a:t> f(x) is a continuous function.</a:t>
            </a:r>
          </a:p>
          <a:p>
            <a:endParaRPr lang="en-US" dirty="0"/>
          </a:p>
          <a:p>
            <a:r>
              <a:rPr lang="en-US" dirty="0"/>
              <a:t>f(x)*dx gives probability that value is between x and </a:t>
            </a:r>
            <a:r>
              <a:rPr lang="en-US" dirty="0" err="1"/>
              <a:t>x+dx</a:t>
            </a:r>
            <a:r>
              <a:rPr lang="en-US" dirty="0"/>
              <a:t>.</a:t>
            </a:r>
          </a:p>
          <a:p>
            <a:endParaRPr lang="en-US" dirty="0"/>
          </a:p>
          <a:p>
            <a:r>
              <a:rPr lang="en-US" dirty="0"/>
              <a:t>The total integral of f(x)*dx should be equal to 1.</a:t>
            </a:r>
          </a:p>
          <a:p>
            <a:endParaRPr lang="en-US" dirty="0"/>
          </a:p>
          <a:p>
            <a:r>
              <a:rPr lang="en-US" b="1" dirty="0">
                <a:solidFill>
                  <a:srgbClr val="0070C0"/>
                </a:solidFill>
              </a:rPr>
              <a:t>Cumulative Probability Function (CPF)</a:t>
            </a:r>
          </a:p>
          <a:p>
            <a:r>
              <a:rPr lang="en-US" dirty="0"/>
              <a:t>This is simply a function F(x) which gives probability that value is less than x.</a:t>
            </a:r>
          </a:p>
          <a:p>
            <a:r>
              <a:rPr lang="en-US" dirty="0"/>
              <a:t>It monotonously grows from 0 to 1 as x grows (from small to large values).</a:t>
            </a:r>
          </a:p>
          <a:p>
            <a:endParaRPr lang="en-US" dirty="0"/>
          </a:p>
          <a:p>
            <a:endParaRPr lang="en-US" dirty="0"/>
          </a:p>
          <a:p>
            <a:r>
              <a:rPr lang="en-US" b="1" dirty="0">
                <a:solidFill>
                  <a:srgbClr val="0070C0"/>
                </a:solidFill>
              </a:rPr>
              <a:t>The PDF is a first derivative of CPF.</a:t>
            </a:r>
          </a:p>
          <a:p>
            <a:endParaRPr lang="en-US" dirty="0"/>
          </a:p>
          <a:p>
            <a:r>
              <a:rPr lang="en-US" dirty="0"/>
              <a:t>CPF(</a:t>
            </a:r>
            <a:r>
              <a:rPr lang="en-US" dirty="0" err="1"/>
              <a:t>x+dx</a:t>
            </a:r>
            <a:r>
              <a:rPr lang="en-US" dirty="0"/>
              <a:t>) – CPF(x) = = [Prob. of value &lt; (</a:t>
            </a:r>
            <a:r>
              <a:rPr lang="en-US" dirty="0" err="1"/>
              <a:t>x+dx</a:t>
            </a:r>
            <a:r>
              <a:rPr lang="en-US" dirty="0"/>
              <a:t>)] – [Prob. of value &lt; x] = f(x)*dx</a:t>
            </a:r>
          </a:p>
          <a:p>
            <a:endParaRPr lang="en-US" dirty="0"/>
          </a:p>
          <a:p>
            <a:r>
              <a:rPr lang="en-US" b="1" dirty="0">
                <a:solidFill>
                  <a:srgbClr val="0070C0"/>
                </a:solidFill>
              </a:rPr>
              <a:t>Mean value = Expected value</a:t>
            </a:r>
          </a:p>
          <a:p>
            <a:endParaRPr lang="en-US" dirty="0"/>
          </a:p>
          <a:p>
            <a:r>
              <a:rPr lang="en-US" dirty="0"/>
              <a:t>For discrete case we had:</a:t>
            </a:r>
          </a:p>
          <a:p>
            <a:r>
              <a:rPr lang="en-US" dirty="0"/>
              <a:t>E(x) = sum(Xi*P(Xi))</a:t>
            </a:r>
          </a:p>
          <a:p>
            <a:endParaRPr lang="en-US" dirty="0"/>
          </a:p>
          <a:p>
            <a:r>
              <a:rPr lang="en-US" dirty="0"/>
              <a:t>For continuous case this translates into</a:t>
            </a:r>
          </a:p>
          <a:p>
            <a:r>
              <a:rPr lang="en-US" dirty="0"/>
              <a:t>E(x) = Integral(</a:t>
            </a:r>
            <a:r>
              <a:rPr lang="en-US" dirty="0" err="1"/>
              <a:t>xF</a:t>
            </a:r>
            <a:r>
              <a:rPr lang="en-US" dirty="0"/>
              <a:t>(x)dx)</a:t>
            </a:r>
          </a:p>
        </p:txBody>
      </p:sp>
    </p:spTree>
    <p:extLst>
      <p:ext uri="{BB962C8B-B14F-4D97-AF65-F5344CB8AC3E}">
        <p14:creationId xmlns:p14="http://schemas.microsoft.com/office/powerpoint/2010/main" val="22494327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EB5F268-965F-C142-A102-83C02389B555}"/>
              </a:ext>
            </a:extLst>
          </p:cNvPr>
          <p:cNvSpPr txBox="1"/>
          <p:nvPr/>
        </p:nvSpPr>
        <p:spPr>
          <a:xfrm>
            <a:off x="189186" y="178676"/>
            <a:ext cx="5150069" cy="6032421"/>
          </a:xfrm>
          <a:prstGeom prst="rect">
            <a:avLst/>
          </a:prstGeom>
          <a:noFill/>
        </p:spPr>
        <p:txBody>
          <a:bodyPr wrap="square" rtlCol="0">
            <a:spAutoFit/>
          </a:bodyPr>
          <a:lstStyle/>
          <a:p>
            <a:r>
              <a:rPr lang="en-US" sz="1800" b="1" dirty="0">
                <a:solidFill>
                  <a:srgbClr val="0070C0"/>
                </a:solidFill>
              </a:rPr>
              <a:t>Binomial Distribution</a:t>
            </a:r>
          </a:p>
          <a:p>
            <a:r>
              <a:rPr lang="en-US" dirty="0"/>
              <a:t>– </a:t>
            </a:r>
            <a:r>
              <a:rPr lang="en-US" dirty="0">
                <a:hlinkClick r:id="rId2"/>
              </a:rPr>
              <a:t>https://</a:t>
            </a:r>
            <a:r>
              <a:rPr lang="en-US" dirty="0" err="1">
                <a:hlinkClick r:id="rId2"/>
              </a:rPr>
              <a:t>en.wikipedia.org</a:t>
            </a:r>
            <a:r>
              <a:rPr lang="en-US" dirty="0">
                <a:hlinkClick r:id="rId2"/>
              </a:rPr>
              <a:t>/wiki/</a:t>
            </a:r>
            <a:r>
              <a:rPr lang="en-US" dirty="0" err="1">
                <a:hlinkClick r:id="rId2"/>
              </a:rPr>
              <a:t>Binomial_distribution</a:t>
            </a:r>
            <a:endParaRPr lang="en-US" dirty="0"/>
          </a:p>
          <a:p>
            <a:endParaRPr lang="en-US" dirty="0"/>
          </a:p>
          <a:p>
            <a:r>
              <a:rPr lang="en-US" dirty="0"/>
              <a:t>if:</a:t>
            </a:r>
          </a:p>
          <a:p>
            <a:r>
              <a:rPr lang="en-US" dirty="0"/>
              <a:t>Experiment consists of N trials. </a:t>
            </a:r>
          </a:p>
          <a:p>
            <a:r>
              <a:rPr lang="en-US" dirty="0"/>
              <a:t>Each trial can have two outcomes (True of False).</a:t>
            </a:r>
          </a:p>
          <a:p>
            <a:r>
              <a:rPr lang="en-US" dirty="0"/>
              <a:t>The probabilities of these outcomes are the same </a:t>
            </a:r>
          </a:p>
          <a:p>
            <a:r>
              <a:rPr lang="en-US" dirty="0"/>
              <a:t>for all trials (p and q = 1-p).</a:t>
            </a:r>
          </a:p>
          <a:p>
            <a:r>
              <a:rPr lang="en-US" dirty="0"/>
              <a:t>The trials are independent from each other.</a:t>
            </a:r>
          </a:p>
          <a:p>
            <a:endParaRPr lang="en-US" dirty="0"/>
          </a:p>
          <a:p>
            <a:r>
              <a:rPr lang="en-US" dirty="0"/>
              <a:t>Then:</a:t>
            </a:r>
          </a:p>
          <a:p>
            <a:r>
              <a:rPr lang="en-US" dirty="0"/>
              <a:t>The probability of having “x” True values (out of N) is:</a:t>
            </a:r>
          </a:p>
          <a:p>
            <a:endParaRPr lang="en-US" dirty="0"/>
          </a:p>
          <a:p>
            <a:r>
              <a:rPr lang="en-US" dirty="0"/>
              <a:t>         f(x) = C(</a:t>
            </a:r>
            <a:r>
              <a:rPr lang="en-US" dirty="0" err="1"/>
              <a:t>N,x</a:t>
            </a:r>
            <a:r>
              <a:rPr lang="en-US" dirty="0"/>
              <a:t>)*</a:t>
            </a:r>
            <a:r>
              <a:rPr lang="en-US" dirty="0" err="1"/>
              <a:t>p^x</a:t>
            </a:r>
            <a:r>
              <a:rPr lang="en-US" dirty="0"/>
              <a:t>*(1-p)^(N-x)</a:t>
            </a:r>
          </a:p>
          <a:p>
            <a:endParaRPr lang="en-US" dirty="0"/>
          </a:p>
          <a:p>
            <a:r>
              <a:rPr lang="en-US" dirty="0"/>
              <a:t>where C(</a:t>
            </a:r>
            <a:r>
              <a:rPr lang="en-US" dirty="0" err="1"/>
              <a:t>N,x</a:t>
            </a:r>
            <a:r>
              <a:rPr lang="en-US" dirty="0"/>
              <a:t>) = N!/(x!*(N-x)!) – a binomial coefficient</a:t>
            </a:r>
          </a:p>
          <a:p>
            <a:endParaRPr lang="en-US" dirty="0"/>
          </a:p>
          <a:p>
            <a:r>
              <a:rPr lang="en-US" dirty="0"/>
              <a:t>At large numbers the distribution f(x) has a bell-curve shape</a:t>
            </a:r>
          </a:p>
          <a:p>
            <a:endParaRPr lang="en-US" dirty="0"/>
          </a:p>
          <a:p>
            <a:r>
              <a:rPr lang="en-US" b="1" dirty="0">
                <a:solidFill>
                  <a:srgbClr val="0070C0"/>
                </a:solidFill>
              </a:rPr>
              <a:t>Mean value = Expected value </a:t>
            </a:r>
            <a:r>
              <a:rPr lang="en-US" dirty="0"/>
              <a:t>E(x) = N*p</a:t>
            </a:r>
          </a:p>
          <a:p>
            <a:r>
              <a:rPr lang="en-US" b="1" dirty="0">
                <a:solidFill>
                  <a:srgbClr val="0070C0"/>
                </a:solidFill>
              </a:rPr>
              <a:t>Variance</a:t>
            </a:r>
            <a:r>
              <a:rPr lang="en-US" dirty="0"/>
              <a:t> = N*p*(1-p).</a:t>
            </a:r>
          </a:p>
          <a:p>
            <a:endParaRPr lang="en-US" dirty="0"/>
          </a:p>
          <a:p>
            <a:r>
              <a:rPr lang="en-US" sz="1800" b="1" dirty="0">
                <a:solidFill>
                  <a:srgbClr val="0070C0"/>
                </a:solidFill>
              </a:rPr>
              <a:t>Combinatorics</a:t>
            </a:r>
          </a:p>
          <a:p>
            <a:endParaRPr lang="en-US" dirty="0"/>
          </a:p>
          <a:p>
            <a:r>
              <a:rPr lang="en-US" b="1" dirty="0">
                <a:solidFill>
                  <a:srgbClr val="0070C0"/>
                </a:solidFill>
              </a:rPr>
              <a:t>Factorial</a:t>
            </a:r>
          </a:p>
          <a:p>
            <a:endParaRPr lang="en-US" dirty="0"/>
          </a:p>
          <a:p>
            <a:r>
              <a:rPr lang="en-US" dirty="0"/>
              <a:t>N! = N*(N-1)*(N-2)*…*1</a:t>
            </a:r>
          </a:p>
        </p:txBody>
      </p:sp>
      <p:sp>
        <p:nvSpPr>
          <p:cNvPr id="5" name="TextBox 4">
            <a:extLst>
              <a:ext uri="{FF2B5EF4-FFF2-40B4-BE49-F238E27FC236}">
                <a16:creationId xmlns:a16="http://schemas.microsoft.com/office/drawing/2014/main" id="{E72EEA3B-9D50-A145-B8FE-B6686486D979}"/>
              </a:ext>
            </a:extLst>
          </p:cNvPr>
          <p:cNvSpPr txBox="1"/>
          <p:nvPr/>
        </p:nvSpPr>
        <p:spPr>
          <a:xfrm>
            <a:off x="6096000" y="178676"/>
            <a:ext cx="6011917" cy="6401753"/>
          </a:xfrm>
          <a:prstGeom prst="rect">
            <a:avLst/>
          </a:prstGeom>
          <a:noFill/>
        </p:spPr>
        <p:txBody>
          <a:bodyPr wrap="square" rtlCol="0">
            <a:spAutoFit/>
          </a:bodyPr>
          <a:lstStyle/>
          <a:p>
            <a:r>
              <a:rPr lang="en-US" sz="1800" b="1" dirty="0">
                <a:solidFill>
                  <a:srgbClr val="0070C0"/>
                </a:solidFill>
              </a:rPr>
              <a:t>Reordering</a:t>
            </a:r>
          </a:p>
          <a:p>
            <a:endParaRPr lang="en-US" dirty="0"/>
          </a:p>
          <a:p>
            <a:r>
              <a:rPr lang="en-US" dirty="0"/>
              <a:t>Let’s say, we have N objects (N-element unordered set).</a:t>
            </a:r>
          </a:p>
          <a:p>
            <a:endParaRPr lang="en-US" dirty="0"/>
          </a:p>
          <a:p>
            <a:r>
              <a:rPr lang="en-US" dirty="0"/>
              <a:t>Question: In how many ways can we arrange them?</a:t>
            </a:r>
          </a:p>
          <a:p>
            <a:endParaRPr lang="en-US" dirty="0"/>
          </a:p>
          <a:p>
            <a:r>
              <a:rPr lang="en-US" dirty="0"/>
              <a:t>Answer: N!</a:t>
            </a:r>
          </a:p>
          <a:p>
            <a:endParaRPr lang="en-US" dirty="0"/>
          </a:p>
          <a:p>
            <a:r>
              <a:rPr lang="en-US" dirty="0"/>
              <a:t>Explanation: </a:t>
            </a:r>
          </a:p>
          <a:p>
            <a:r>
              <a:rPr lang="en-US" dirty="0"/>
              <a:t>  N variants for the 1st element (N-1) variants for the 2nd element etc.</a:t>
            </a:r>
          </a:p>
          <a:p>
            <a:r>
              <a:rPr lang="en-US" dirty="0"/>
              <a:t>Example: How many ways are there to arrange the letters ABCDE in a row?</a:t>
            </a:r>
          </a:p>
          <a:p>
            <a:endParaRPr lang="en-US" dirty="0"/>
          </a:p>
          <a:p>
            <a:r>
              <a:rPr lang="en-US" dirty="0"/>
              <a:t>Answer: 5!=120</a:t>
            </a:r>
          </a:p>
          <a:p>
            <a:endParaRPr lang="en-US" dirty="0"/>
          </a:p>
          <a:p>
            <a:r>
              <a:rPr lang="en-US" sz="1800" b="1" dirty="0">
                <a:solidFill>
                  <a:srgbClr val="0070C0"/>
                </a:solidFill>
              </a:rPr>
              <a:t>Subsets</a:t>
            </a:r>
          </a:p>
          <a:p>
            <a:endParaRPr lang="en-US" dirty="0"/>
          </a:p>
          <a:p>
            <a:r>
              <a:rPr lang="en-US" dirty="0"/>
              <a:t>Question: In how many ways can we select m-elements out of N-element set?</a:t>
            </a:r>
          </a:p>
          <a:p>
            <a:endParaRPr lang="en-US" dirty="0"/>
          </a:p>
          <a:p>
            <a:r>
              <a:rPr lang="en-US" dirty="0"/>
              <a:t>Answer: C(</a:t>
            </a:r>
            <a:r>
              <a:rPr lang="en-US" dirty="0" err="1"/>
              <a:t>N,m</a:t>
            </a:r>
            <a:r>
              <a:rPr lang="en-US" dirty="0"/>
              <a:t>) = N!/(m!*(N-m)!) – a binomial coefficient</a:t>
            </a:r>
          </a:p>
          <a:p>
            <a:endParaRPr lang="en-US" dirty="0"/>
          </a:p>
          <a:p>
            <a:r>
              <a:rPr lang="en-US" dirty="0"/>
              <a:t>Explanation: </a:t>
            </a:r>
          </a:p>
          <a:p>
            <a:r>
              <a:rPr lang="en-US" dirty="0"/>
              <a:t>N variants for the first element of subset </a:t>
            </a:r>
          </a:p>
          <a:p>
            <a:r>
              <a:rPr lang="en-US" dirty="0"/>
              <a:t>(N-1) for the 2nd etc. </a:t>
            </a:r>
          </a:p>
          <a:p>
            <a:r>
              <a:rPr lang="en-US" dirty="0"/>
              <a:t>(N-m+1) for the m-</a:t>
            </a:r>
            <a:r>
              <a:rPr lang="en-US" dirty="0" err="1"/>
              <a:t>th</a:t>
            </a:r>
            <a:r>
              <a:rPr lang="en-US" dirty="0"/>
              <a:t> element </a:t>
            </a:r>
          </a:p>
          <a:p>
            <a:r>
              <a:rPr lang="en-US" dirty="0"/>
              <a:t>The above can be written as N!/(N-m)! </a:t>
            </a:r>
          </a:p>
          <a:p>
            <a:r>
              <a:rPr lang="en-US" dirty="0"/>
              <a:t>Then we need to divide by the number of reordering permutations </a:t>
            </a:r>
          </a:p>
          <a:p>
            <a:r>
              <a:rPr lang="en-US" dirty="0"/>
              <a:t>within the subset, that is by m!</a:t>
            </a:r>
          </a:p>
        </p:txBody>
      </p:sp>
    </p:spTree>
    <p:extLst>
      <p:ext uri="{BB962C8B-B14F-4D97-AF65-F5344CB8AC3E}">
        <p14:creationId xmlns:p14="http://schemas.microsoft.com/office/powerpoint/2010/main" val="26887094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EB5F268-965F-C142-A102-83C02389B555}"/>
              </a:ext>
            </a:extLst>
          </p:cNvPr>
          <p:cNvSpPr txBox="1"/>
          <p:nvPr/>
        </p:nvSpPr>
        <p:spPr>
          <a:xfrm>
            <a:off x="189186" y="178676"/>
            <a:ext cx="5906814" cy="5262979"/>
          </a:xfrm>
          <a:prstGeom prst="rect">
            <a:avLst/>
          </a:prstGeom>
          <a:noFill/>
        </p:spPr>
        <p:txBody>
          <a:bodyPr wrap="square" rtlCol="0">
            <a:spAutoFit/>
          </a:bodyPr>
          <a:lstStyle/>
          <a:p>
            <a:r>
              <a:rPr lang="en-US" dirty="0"/>
              <a:t>Poisson and Exponential Distributions</a:t>
            </a:r>
          </a:p>
          <a:p>
            <a:r>
              <a:rPr lang="en-US" dirty="0"/>
              <a:t>– </a:t>
            </a:r>
            <a:r>
              <a:rPr lang="en-US" dirty="0">
                <a:hlinkClick r:id="rId2"/>
              </a:rPr>
              <a:t>https://</a:t>
            </a:r>
            <a:r>
              <a:rPr lang="en-US" dirty="0" err="1">
                <a:hlinkClick r:id="rId2"/>
              </a:rPr>
              <a:t>en.wikipedia.org</a:t>
            </a:r>
            <a:r>
              <a:rPr lang="en-US" dirty="0">
                <a:hlinkClick r:id="rId2"/>
              </a:rPr>
              <a:t>/wiki/</a:t>
            </a:r>
            <a:r>
              <a:rPr lang="en-US" dirty="0" err="1">
                <a:hlinkClick r:id="rId2"/>
              </a:rPr>
              <a:t>Poisson_distribution</a:t>
            </a:r>
            <a:endParaRPr lang="en-US" dirty="0"/>
          </a:p>
          <a:p>
            <a:r>
              <a:rPr lang="en-US" dirty="0"/>
              <a:t>– </a:t>
            </a:r>
            <a:r>
              <a:rPr lang="en-US" dirty="0">
                <a:hlinkClick r:id="rId3"/>
              </a:rPr>
              <a:t>https://</a:t>
            </a:r>
            <a:r>
              <a:rPr lang="en-US" dirty="0" err="1">
                <a:hlinkClick r:id="rId3"/>
              </a:rPr>
              <a:t>en.wikipedia.org</a:t>
            </a:r>
            <a:r>
              <a:rPr lang="en-US" dirty="0">
                <a:hlinkClick r:id="rId3"/>
              </a:rPr>
              <a:t>/wiki/</a:t>
            </a:r>
            <a:r>
              <a:rPr lang="en-US" dirty="0" err="1">
                <a:hlinkClick r:id="rId3"/>
              </a:rPr>
              <a:t>Exponential_distribution</a:t>
            </a:r>
            <a:endParaRPr lang="en-US" dirty="0"/>
          </a:p>
          <a:p>
            <a:endParaRPr lang="en-US" dirty="0"/>
          </a:p>
          <a:p>
            <a:r>
              <a:rPr lang="en-US" dirty="0"/>
              <a:t>Suppose you are sitting near the road. </a:t>
            </a:r>
          </a:p>
          <a:p>
            <a:r>
              <a:rPr lang="en-US" dirty="0"/>
              <a:t>You notice that on average you see 10 cars passing by every minute </a:t>
            </a:r>
          </a:p>
          <a:p>
            <a:r>
              <a:rPr lang="en-US" dirty="0"/>
              <a:t>(we say: the rate lambda = 10/min). </a:t>
            </a:r>
          </a:p>
          <a:p>
            <a:r>
              <a:rPr lang="en-US" dirty="0"/>
              <a:t>Knowing the average rate, what would be the probability </a:t>
            </a:r>
          </a:p>
          <a:p>
            <a:r>
              <a:rPr lang="en-US" dirty="0"/>
              <a:t>of having only 5 cars in one minute? </a:t>
            </a:r>
          </a:p>
          <a:p>
            <a:r>
              <a:rPr lang="en-US" dirty="0"/>
              <a:t>Or 15 cars? Or any given number? </a:t>
            </a:r>
          </a:p>
          <a:p>
            <a:endParaRPr lang="en-US" dirty="0"/>
          </a:p>
          <a:p>
            <a:r>
              <a:rPr lang="en-US" b="1" dirty="0">
                <a:solidFill>
                  <a:srgbClr val="0070C0"/>
                </a:solidFill>
              </a:rPr>
              <a:t>Poisson Probability </a:t>
            </a:r>
            <a:r>
              <a:rPr lang="en-US" dirty="0"/>
              <a:t>P(k) is the probability of a given </a:t>
            </a:r>
          </a:p>
          <a:p>
            <a:r>
              <a:rPr lang="en-US" dirty="0"/>
              <a:t>number of events occurring in a fixed interval (of time) </a:t>
            </a:r>
          </a:p>
          <a:p>
            <a:r>
              <a:rPr lang="en-US" dirty="0"/>
              <a:t>if these events occur with a known average rate </a:t>
            </a:r>
          </a:p>
          <a:p>
            <a:r>
              <a:rPr lang="en-US" dirty="0"/>
              <a:t>and independently of each other </a:t>
            </a:r>
          </a:p>
          <a:p>
            <a:r>
              <a:rPr lang="en-US" dirty="0"/>
              <a:t>and of the time since the previous events.</a:t>
            </a:r>
          </a:p>
          <a:p>
            <a:endParaRPr lang="en-US" dirty="0"/>
          </a:p>
          <a:p>
            <a:r>
              <a:rPr lang="en-US" dirty="0"/>
              <a:t>Poisson Formula</a:t>
            </a:r>
          </a:p>
          <a:p>
            <a:endParaRPr lang="en-US" dirty="0"/>
          </a:p>
          <a:p>
            <a:r>
              <a:rPr lang="en-US" dirty="0"/>
              <a:t>P(x) = (lambda**x)*exp(-lambda)/x!</a:t>
            </a:r>
          </a:p>
          <a:p>
            <a:endParaRPr lang="en-US" dirty="0"/>
          </a:p>
          <a:p>
            <a:r>
              <a:rPr lang="en-US" dirty="0"/>
              <a:t>For example, for x=0 (probability of zero events in given interval):</a:t>
            </a:r>
          </a:p>
          <a:p>
            <a:endParaRPr lang="en-US" dirty="0"/>
          </a:p>
          <a:p>
            <a:r>
              <a:rPr lang="en-US" dirty="0"/>
              <a:t>P(0) = (lambda**0)*exp(-lambda)/0! = 1*exp(-lambda)/1 = exp(-lambda)</a:t>
            </a:r>
          </a:p>
        </p:txBody>
      </p:sp>
      <p:sp>
        <p:nvSpPr>
          <p:cNvPr id="5" name="TextBox 4">
            <a:extLst>
              <a:ext uri="{FF2B5EF4-FFF2-40B4-BE49-F238E27FC236}">
                <a16:creationId xmlns:a16="http://schemas.microsoft.com/office/drawing/2014/main" id="{E72EEA3B-9D50-A145-B8FE-B6686486D979}"/>
              </a:ext>
            </a:extLst>
          </p:cNvPr>
          <p:cNvSpPr txBox="1"/>
          <p:nvPr/>
        </p:nvSpPr>
        <p:spPr>
          <a:xfrm>
            <a:off x="6096000" y="76451"/>
            <a:ext cx="6011917" cy="3816429"/>
          </a:xfrm>
          <a:prstGeom prst="rect">
            <a:avLst/>
          </a:prstGeom>
          <a:noFill/>
        </p:spPr>
        <p:txBody>
          <a:bodyPr wrap="square" rtlCol="0">
            <a:spAutoFit/>
          </a:bodyPr>
          <a:lstStyle/>
          <a:p>
            <a:r>
              <a:rPr lang="en-US" sz="1800" b="1" dirty="0">
                <a:solidFill>
                  <a:srgbClr val="0070C0"/>
                </a:solidFill>
              </a:rPr>
              <a:t>Poisson Distribution</a:t>
            </a:r>
          </a:p>
          <a:p>
            <a:endParaRPr lang="en-US" dirty="0"/>
          </a:p>
          <a:p>
            <a:r>
              <a:rPr lang="en-US" dirty="0"/>
              <a:t>Intervals between Poisson events distributed exponentially.</a:t>
            </a:r>
          </a:p>
          <a:p>
            <a:endParaRPr lang="en-US" dirty="0"/>
          </a:p>
          <a:p>
            <a:r>
              <a:rPr lang="en-US" dirty="0"/>
              <a:t>If we have events happening which follow Poisson Distribution, </a:t>
            </a:r>
          </a:p>
          <a:p>
            <a:r>
              <a:rPr lang="en-US" dirty="0"/>
              <a:t>we can measure the time intervals between these events.</a:t>
            </a:r>
          </a:p>
          <a:p>
            <a:endParaRPr lang="en-US" dirty="0"/>
          </a:p>
          <a:p>
            <a:r>
              <a:rPr lang="en-US" dirty="0"/>
              <a:t>Question: How these times will be distributed?</a:t>
            </a:r>
          </a:p>
          <a:p>
            <a:endParaRPr lang="en-US" dirty="0"/>
          </a:p>
          <a:p>
            <a:r>
              <a:rPr lang="en-US" dirty="0"/>
              <a:t>Answer: These times will have exponential distribution </a:t>
            </a:r>
          </a:p>
          <a:p>
            <a:r>
              <a:rPr lang="en-US" dirty="0"/>
              <a:t>with Probability Density Function (PDF) as:</a:t>
            </a:r>
          </a:p>
          <a:p>
            <a:endParaRPr lang="en-US" dirty="0"/>
          </a:p>
          <a:p>
            <a:r>
              <a:rPr lang="en-US" dirty="0"/>
              <a:t>f(t) = lambda*exp(-lambda*t)</a:t>
            </a:r>
          </a:p>
          <a:p>
            <a:endParaRPr lang="en-US" dirty="0"/>
          </a:p>
          <a:p>
            <a:r>
              <a:rPr lang="en-US" dirty="0"/>
              <a:t>The average time interval will be (1/lambda).</a:t>
            </a:r>
          </a:p>
          <a:p>
            <a:r>
              <a:rPr lang="en-US" dirty="0"/>
              <a:t>Standard deviation happens to be the same (1/lambda).</a:t>
            </a:r>
          </a:p>
          <a:p>
            <a:endParaRPr lang="en-US" dirty="0"/>
          </a:p>
        </p:txBody>
      </p:sp>
      <p:pic>
        <p:nvPicPr>
          <p:cNvPr id="3" name="Picture 2">
            <a:extLst>
              <a:ext uri="{FF2B5EF4-FFF2-40B4-BE49-F238E27FC236}">
                <a16:creationId xmlns:a16="http://schemas.microsoft.com/office/drawing/2014/main" id="{BFF6AF49-4219-9540-B46A-090D8831AC8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232427" y="4146255"/>
            <a:ext cx="1714500" cy="1295400"/>
          </a:xfrm>
          <a:prstGeom prst="rect">
            <a:avLst/>
          </a:prstGeom>
        </p:spPr>
      </p:pic>
      <p:pic>
        <p:nvPicPr>
          <p:cNvPr id="6" name="Picture 5">
            <a:extLst>
              <a:ext uri="{FF2B5EF4-FFF2-40B4-BE49-F238E27FC236}">
                <a16:creationId xmlns:a16="http://schemas.microsoft.com/office/drawing/2014/main" id="{601F9319-35DE-E942-8DC1-E7E7E7414475}"/>
              </a:ext>
            </a:extLst>
          </p:cNvPr>
          <p:cNvPicPr>
            <a:picLocks noChangeAspect="1"/>
          </p:cNvPicPr>
          <p:nvPr/>
        </p:nvPicPr>
        <p:blipFill>
          <a:blip r:embed="rId5"/>
          <a:stretch>
            <a:fillRect/>
          </a:stretch>
        </p:blipFill>
        <p:spPr>
          <a:xfrm>
            <a:off x="8786724" y="3892880"/>
            <a:ext cx="3395131" cy="2724488"/>
          </a:xfrm>
          <a:prstGeom prst="rect">
            <a:avLst/>
          </a:prstGeom>
        </p:spPr>
      </p:pic>
    </p:spTree>
    <p:extLst>
      <p:ext uri="{BB962C8B-B14F-4D97-AF65-F5344CB8AC3E}">
        <p14:creationId xmlns:p14="http://schemas.microsoft.com/office/powerpoint/2010/main" val="2701588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EB5F268-965F-C142-A102-83C02389B555}"/>
              </a:ext>
            </a:extLst>
          </p:cNvPr>
          <p:cNvSpPr txBox="1"/>
          <p:nvPr/>
        </p:nvSpPr>
        <p:spPr>
          <a:xfrm>
            <a:off x="189186" y="178676"/>
            <a:ext cx="5906814" cy="2400657"/>
          </a:xfrm>
          <a:prstGeom prst="rect">
            <a:avLst/>
          </a:prstGeom>
          <a:noFill/>
        </p:spPr>
        <p:txBody>
          <a:bodyPr wrap="square" rtlCol="0">
            <a:spAutoFit/>
          </a:bodyPr>
          <a:lstStyle/>
          <a:p>
            <a:r>
              <a:rPr lang="en-US" sz="2400" b="1" dirty="0">
                <a:solidFill>
                  <a:srgbClr val="0070C0"/>
                </a:solidFill>
              </a:rPr>
              <a:t>Uniform and Normal Distributions. </a:t>
            </a:r>
            <a:br>
              <a:rPr lang="en-US" sz="2400" b="1" dirty="0">
                <a:solidFill>
                  <a:srgbClr val="0070C0"/>
                </a:solidFill>
              </a:rPr>
            </a:br>
            <a:endParaRPr lang="en-US" dirty="0"/>
          </a:p>
          <a:p>
            <a:r>
              <a:rPr lang="en-US" b="1" dirty="0">
                <a:solidFill>
                  <a:srgbClr val="0070C0"/>
                </a:solidFill>
              </a:rPr>
              <a:t>Uniform Distribution</a:t>
            </a:r>
            <a:endParaRPr lang="en-US" dirty="0"/>
          </a:p>
          <a:p>
            <a:r>
              <a:rPr lang="en-US" dirty="0"/>
              <a:t>If some value can change between some minimum and maximum </a:t>
            </a:r>
          </a:p>
          <a:p>
            <a:r>
              <a:rPr lang="en-US" dirty="0"/>
              <a:t>values a &amp; b, and the probability of any value in interval [</a:t>
            </a:r>
            <a:r>
              <a:rPr lang="en-US" dirty="0" err="1"/>
              <a:t>a,b</a:t>
            </a:r>
            <a:r>
              <a:rPr lang="en-US" dirty="0"/>
              <a:t>] </a:t>
            </a:r>
          </a:p>
          <a:p>
            <a:r>
              <a:rPr lang="en-US" dirty="0"/>
              <a:t>is the same, then we say that we have uniform distribution.</a:t>
            </a:r>
          </a:p>
          <a:p>
            <a:endParaRPr lang="en-US" dirty="0"/>
          </a:p>
          <a:p>
            <a:r>
              <a:rPr lang="en-US" dirty="0"/>
              <a:t>The PDF (Probability Density Function) for Uniform Distribution </a:t>
            </a:r>
          </a:p>
          <a:p>
            <a:r>
              <a:rPr lang="en-US" dirty="0"/>
              <a:t>looks like a rectangle with the height (1/(b-a)), </a:t>
            </a:r>
          </a:p>
          <a:p>
            <a:r>
              <a:rPr lang="en-US" dirty="0"/>
              <a:t>so that the total area under the curve is exactly 1.</a:t>
            </a:r>
          </a:p>
        </p:txBody>
      </p:sp>
      <p:sp>
        <p:nvSpPr>
          <p:cNvPr id="5" name="TextBox 4">
            <a:extLst>
              <a:ext uri="{FF2B5EF4-FFF2-40B4-BE49-F238E27FC236}">
                <a16:creationId xmlns:a16="http://schemas.microsoft.com/office/drawing/2014/main" id="{E72EEA3B-9D50-A145-B8FE-B6686486D979}"/>
              </a:ext>
            </a:extLst>
          </p:cNvPr>
          <p:cNvSpPr txBox="1"/>
          <p:nvPr/>
        </p:nvSpPr>
        <p:spPr>
          <a:xfrm>
            <a:off x="6096000" y="252354"/>
            <a:ext cx="6011917" cy="5447645"/>
          </a:xfrm>
          <a:prstGeom prst="rect">
            <a:avLst/>
          </a:prstGeom>
          <a:noFill/>
        </p:spPr>
        <p:txBody>
          <a:bodyPr wrap="square" rtlCol="0">
            <a:spAutoFit/>
          </a:bodyPr>
          <a:lstStyle/>
          <a:p>
            <a:r>
              <a:rPr lang="en-US" sz="1200" b="1" dirty="0">
                <a:solidFill>
                  <a:srgbClr val="0070C0"/>
                </a:solidFill>
              </a:rPr>
              <a:t>Central Limit Theorem (CLT).</a:t>
            </a:r>
          </a:p>
          <a:p>
            <a:endParaRPr lang="en-US" sz="1200" dirty="0"/>
          </a:p>
          <a:p>
            <a:r>
              <a:rPr lang="en-US" sz="1200" dirty="0"/>
              <a:t>The normal distribution is very common in nature. </a:t>
            </a:r>
          </a:p>
          <a:p>
            <a:r>
              <a:rPr lang="en-US" sz="1200" dirty="0"/>
              <a:t>Because when we have big number of sets of variables, </a:t>
            </a:r>
          </a:p>
          <a:p>
            <a:r>
              <a:rPr lang="en-US" sz="1200" dirty="0"/>
              <a:t>the distribution of parameters of these sets (for example, averages) </a:t>
            </a:r>
          </a:p>
          <a:p>
            <a:r>
              <a:rPr lang="en-US" sz="1200" dirty="0"/>
              <a:t>tend to converge to this bell form. </a:t>
            </a:r>
          </a:p>
          <a:p>
            <a:r>
              <a:rPr lang="en-US" sz="1200" dirty="0"/>
              <a:t>This fact is called </a:t>
            </a:r>
            <a:r>
              <a:rPr lang="en-US" sz="1200" b="1" dirty="0">
                <a:solidFill>
                  <a:srgbClr val="0070C0"/>
                </a:solidFill>
              </a:rPr>
              <a:t>Central Limit Theorem (CLT)</a:t>
            </a:r>
            <a:r>
              <a:rPr lang="en-US" sz="1200" dirty="0"/>
              <a:t>.</a:t>
            </a:r>
          </a:p>
          <a:p>
            <a:endParaRPr lang="en-US" sz="1200" dirty="0"/>
          </a:p>
          <a:p>
            <a:r>
              <a:rPr lang="en-US" sz="1200" dirty="0"/>
              <a:t>Here is a simple example of CLT:</a:t>
            </a:r>
          </a:p>
          <a:p>
            <a:endParaRPr lang="en-US" sz="1200" dirty="0"/>
          </a:p>
          <a:p>
            <a:r>
              <a:rPr lang="en-US" sz="1200" dirty="0"/>
              <a:t>Suppose we have N1 sets, each set has N2 values, all values drawn from the same distribution. The shape of distribution may be anything (uniform, bell-curve, triangular, exponential, etc.). </a:t>
            </a:r>
          </a:p>
          <a:p>
            <a:endParaRPr lang="en-US" sz="1200" dirty="0"/>
          </a:p>
          <a:p>
            <a:r>
              <a:rPr lang="en-US" sz="1200" dirty="0"/>
              <a:t>We calculate an average in each set – so we have N1 average values.</a:t>
            </a:r>
          </a:p>
          <a:p>
            <a:r>
              <a:rPr lang="en-US" sz="1200" dirty="0"/>
              <a:t>Question: How will these average values be distributed?</a:t>
            </a:r>
          </a:p>
          <a:p>
            <a:endParaRPr lang="en-US" sz="1200" dirty="0"/>
          </a:p>
          <a:p>
            <a:r>
              <a:rPr lang="en-US" sz="1200" dirty="0"/>
              <a:t>Answer: As N1 &amp; N2 become big enough (30+), the distribution </a:t>
            </a:r>
          </a:p>
          <a:p>
            <a:r>
              <a:rPr lang="en-US" sz="1200" dirty="0"/>
              <a:t>will get close to the Normal Gaussian bell curve.</a:t>
            </a:r>
          </a:p>
          <a:p>
            <a:endParaRPr lang="en-US" sz="1200" dirty="0"/>
          </a:p>
          <a:p>
            <a:r>
              <a:rPr lang="en-US" sz="1200" dirty="0"/>
              <a:t>There are some nice animated demonstrations of CLT - just google for them.</a:t>
            </a:r>
          </a:p>
          <a:p>
            <a:endParaRPr lang="en-US" sz="1200" dirty="0"/>
          </a:p>
          <a:p>
            <a:r>
              <a:rPr lang="en-US" sz="1200" b="1" dirty="0">
                <a:solidFill>
                  <a:srgbClr val="0070C0"/>
                </a:solidFill>
              </a:rPr>
              <a:t>De </a:t>
            </a:r>
            <a:r>
              <a:rPr lang="en-US" sz="1200" b="1" dirty="0" err="1">
                <a:solidFill>
                  <a:srgbClr val="0070C0"/>
                </a:solidFill>
              </a:rPr>
              <a:t>Moivre</a:t>
            </a:r>
            <a:r>
              <a:rPr lang="en-US" sz="1200" b="1" dirty="0">
                <a:solidFill>
                  <a:srgbClr val="0070C0"/>
                </a:solidFill>
              </a:rPr>
              <a:t>–Laplace theorem</a:t>
            </a:r>
          </a:p>
          <a:p>
            <a:endParaRPr lang="en-US" sz="1200" dirty="0"/>
          </a:p>
          <a:p>
            <a:r>
              <a:rPr lang="en-US" sz="1200" dirty="0"/>
              <a:t>De </a:t>
            </a:r>
            <a:r>
              <a:rPr lang="en-US" sz="1200" dirty="0" err="1"/>
              <a:t>Moire</a:t>
            </a:r>
            <a:r>
              <a:rPr lang="en-US" sz="1200" dirty="0"/>
              <a:t>-Laplace theorem is a simple demonstration how a symmetrical binomial distribution can be approximated by Gaussian bell curve (under certain conditions). </a:t>
            </a:r>
          </a:p>
          <a:p>
            <a:r>
              <a:rPr lang="en-US" sz="1200" dirty="0"/>
              <a:t>See video demonstration below.</a:t>
            </a:r>
          </a:p>
          <a:p>
            <a:endParaRPr lang="en-US" sz="1200" dirty="0"/>
          </a:p>
          <a:p>
            <a:r>
              <a:rPr lang="en-US" sz="1200" dirty="0">
                <a:hlinkClick r:id="rId2"/>
              </a:rPr>
              <a:t>https://en.wikipedia.org/wiki/De_Moivre–Laplace_theorem</a:t>
            </a:r>
            <a:endParaRPr lang="en-US" sz="1200" dirty="0"/>
          </a:p>
        </p:txBody>
      </p:sp>
      <p:pic>
        <p:nvPicPr>
          <p:cNvPr id="2" name="Picture 1">
            <a:extLst>
              <a:ext uri="{FF2B5EF4-FFF2-40B4-BE49-F238E27FC236}">
                <a16:creationId xmlns:a16="http://schemas.microsoft.com/office/drawing/2014/main" id="{1DFF2F23-2904-3344-A6A7-B5727528D6B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9186" y="5386605"/>
            <a:ext cx="2942790" cy="1471395"/>
          </a:xfrm>
          <a:prstGeom prst="rect">
            <a:avLst/>
          </a:prstGeom>
        </p:spPr>
      </p:pic>
      <p:sp>
        <p:nvSpPr>
          <p:cNvPr id="3" name="TextBox 2">
            <a:extLst>
              <a:ext uri="{FF2B5EF4-FFF2-40B4-BE49-F238E27FC236}">
                <a16:creationId xmlns:a16="http://schemas.microsoft.com/office/drawing/2014/main" id="{B43A3421-ACF1-E445-9366-AD90709A51F7}"/>
              </a:ext>
            </a:extLst>
          </p:cNvPr>
          <p:cNvSpPr txBox="1"/>
          <p:nvPr/>
        </p:nvSpPr>
        <p:spPr>
          <a:xfrm>
            <a:off x="0" y="3786167"/>
            <a:ext cx="4728410" cy="1600438"/>
          </a:xfrm>
          <a:prstGeom prst="rect">
            <a:avLst/>
          </a:prstGeom>
          <a:noFill/>
        </p:spPr>
        <p:txBody>
          <a:bodyPr wrap="square" rtlCol="0">
            <a:spAutoFit/>
          </a:bodyPr>
          <a:lstStyle/>
          <a:p>
            <a:r>
              <a:rPr lang="en-US" b="1" dirty="0">
                <a:solidFill>
                  <a:srgbClr val="0070C0"/>
                </a:solidFill>
              </a:rPr>
              <a:t>Normal (Gaussian Bell-shaped) Distribution</a:t>
            </a:r>
          </a:p>
          <a:p>
            <a:endParaRPr lang="en-US" dirty="0"/>
          </a:p>
          <a:p>
            <a:r>
              <a:rPr lang="en-US" dirty="0"/>
              <a:t>The basic shape of the PDF is </a:t>
            </a:r>
            <a:r>
              <a:rPr lang="en-US" dirty="0" err="1"/>
              <a:t>exp</a:t>
            </a:r>
            <a:r>
              <a:rPr lang="en-US" dirty="0"/>
              <a:t>(-x*x/2) </a:t>
            </a:r>
          </a:p>
          <a:p>
            <a:r>
              <a:rPr lang="en-US" dirty="0"/>
              <a:t>You need to add a coefficient to normalize it to 1 </a:t>
            </a:r>
          </a:p>
          <a:p>
            <a:r>
              <a:rPr lang="en-US" dirty="0"/>
              <a:t>(means – make area under the curve equal to exactly 1). </a:t>
            </a:r>
          </a:p>
          <a:p>
            <a:r>
              <a:rPr lang="en-US" dirty="0"/>
              <a:t>You can also have the curves have different position </a:t>
            </a:r>
          </a:p>
          <a:p>
            <a:r>
              <a:rPr lang="en-US" dirty="0"/>
              <a:t>(average value) and different width (sigma).</a:t>
            </a:r>
          </a:p>
        </p:txBody>
      </p:sp>
      <p:pic>
        <p:nvPicPr>
          <p:cNvPr id="7" name="Picture 6">
            <a:extLst>
              <a:ext uri="{FF2B5EF4-FFF2-40B4-BE49-F238E27FC236}">
                <a16:creationId xmlns:a16="http://schemas.microsoft.com/office/drawing/2014/main" id="{0B272277-7CF1-0940-9323-8AB6E25E084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02723" y="2668400"/>
            <a:ext cx="1379764" cy="1028700"/>
          </a:xfrm>
          <a:prstGeom prst="rect">
            <a:avLst/>
          </a:prstGeom>
        </p:spPr>
      </p:pic>
    </p:spTree>
    <p:extLst>
      <p:ext uri="{BB962C8B-B14F-4D97-AF65-F5344CB8AC3E}">
        <p14:creationId xmlns:p14="http://schemas.microsoft.com/office/powerpoint/2010/main" val="3913745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2EEA3B-9D50-A145-B8FE-B6686486D979}"/>
              </a:ext>
            </a:extLst>
          </p:cNvPr>
          <p:cNvSpPr txBox="1"/>
          <p:nvPr/>
        </p:nvSpPr>
        <p:spPr>
          <a:xfrm>
            <a:off x="345238" y="316349"/>
            <a:ext cx="7463590" cy="3754874"/>
          </a:xfrm>
          <a:prstGeom prst="rect">
            <a:avLst/>
          </a:prstGeom>
          <a:noFill/>
        </p:spPr>
        <p:txBody>
          <a:bodyPr wrap="square" rtlCol="0">
            <a:spAutoFit/>
          </a:bodyPr>
          <a:lstStyle/>
          <a:p>
            <a:r>
              <a:rPr lang="en-US" dirty="0"/>
              <a:t>Introduction into Statistics</a:t>
            </a:r>
          </a:p>
          <a:p>
            <a:endParaRPr lang="en-US" dirty="0"/>
          </a:p>
          <a:p>
            <a:r>
              <a:rPr lang="en-US" dirty="0"/>
              <a:t>“Statistics is the study of the collection, analysis, </a:t>
            </a:r>
          </a:p>
          <a:p>
            <a:r>
              <a:rPr lang="en-US" dirty="0"/>
              <a:t>interpretation, presentation, and organization of data.” </a:t>
            </a:r>
          </a:p>
          <a:p>
            <a:endParaRPr lang="en-US" dirty="0"/>
          </a:p>
          <a:p>
            <a:r>
              <a:rPr lang="en-US" dirty="0"/>
              <a:t>Being a Statistician is the major part of being a Data Scientist. </a:t>
            </a:r>
          </a:p>
          <a:p>
            <a:r>
              <a:rPr lang="en-US" dirty="0"/>
              <a:t>And it is tricky, because there is easy to misuse statistics:</a:t>
            </a:r>
          </a:p>
          <a:p>
            <a:r>
              <a:rPr lang="en-US" b="1" dirty="0">
                <a:solidFill>
                  <a:srgbClr val="0070C0"/>
                </a:solidFill>
              </a:rPr>
              <a:t>“There are three kinds of lies: lies, damned lies, and statistics.”</a:t>
            </a:r>
            <a:r>
              <a:rPr lang="en-US" dirty="0"/>
              <a:t> </a:t>
            </a:r>
          </a:p>
          <a:p>
            <a:endParaRPr lang="en-US" dirty="0"/>
          </a:p>
          <a:p>
            <a:r>
              <a:rPr lang="en-US" dirty="0"/>
              <a:t>Statistics involves</a:t>
            </a:r>
          </a:p>
          <a:p>
            <a:endParaRPr lang="en-US" dirty="0"/>
          </a:p>
          <a:p>
            <a:pPr marL="285750" indent="-285750">
              <a:buFont typeface="Arial" panose="020B0604020202020204" pitchFamily="34" charset="0"/>
              <a:buChar char="•"/>
            </a:pPr>
            <a:r>
              <a:rPr lang="en-US" dirty="0"/>
              <a:t>Collecting (sampling) the data from different kind of observations</a:t>
            </a:r>
          </a:p>
          <a:p>
            <a:pPr marL="285750" indent="-285750">
              <a:buFont typeface="Arial" panose="020B0604020202020204" pitchFamily="34" charset="0"/>
              <a:buChar char="•"/>
            </a:pPr>
            <a:r>
              <a:rPr lang="en-US" dirty="0"/>
              <a:t>Visualizing the data, estimating the parameters (average/mean values, errors, etc.)</a:t>
            </a:r>
          </a:p>
          <a:p>
            <a:pPr marL="285750" indent="-285750">
              <a:buFont typeface="Arial" panose="020B0604020202020204" pitchFamily="34" charset="0"/>
              <a:buChar char="•"/>
            </a:pPr>
            <a:r>
              <a:rPr lang="en-US" dirty="0"/>
              <a:t>Testing validity of a hypothesis (null hypothesis) – or alternative hypothesis</a:t>
            </a:r>
          </a:p>
          <a:p>
            <a:pPr marL="285750" indent="-285750">
              <a:buFont typeface="Arial" panose="020B0604020202020204" pitchFamily="34" charset="0"/>
              <a:buChar char="•"/>
            </a:pPr>
            <a:r>
              <a:rPr lang="en-US" dirty="0"/>
              <a:t>Estimating intervals, estimating significance of observed differences, etc.</a:t>
            </a:r>
          </a:p>
          <a:p>
            <a:endParaRPr lang="en-US" dirty="0"/>
          </a:p>
          <a:p>
            <a:endParaRPr lang="en-US" dirty="0"/>
          </a:p>
        </p:txBody>
      </p:sp>
      <p:pic>
        <p:nvPicPr>
          <p:cNvPr id="2" name="Picture 1">
            <a:extLst>
              <a:ext uri="{FF2B5EF4-FFF2-40B4-BE49-F238E27FC236}">
                <a16:creationId xmlns:a16="http://schemas.microsoft.com/office/drawing/2014/main" id="{B8D731C5-EDD2-C145-932A-A88B03CA281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097586" y="881194"/>
            <a:ext cx="3452730" cy="3601412"/>
          </a:xfrm>
          <a:prstGeom prst="rect">
            <a:avLst/>
          </a:prstGeom>
        </p:spPr>
      </p:pic>
      <p:sp>
        <p:nvSpPr>
          <p:cNvPr id="3" name="TextBox 2">
            <a:extLst>
              <a:ext uri="{FF2B5EF4-FFF2-40B4-BE49-F238E27FC236}">
                <a16:creationId xmlns:a16="http://schemas.microsoft.com/office/drawing/2014/main" id="{9A24CC4E-3332-5542-A614-EDEF0AE14AAA}"/>
              </a:ext>
            </a:extLst>
          </p:cNvPr>
          <p:cNvSpPr txBox="1"/>
          <p:nvPr/>
        </p:nvSpPr>
        <p:spPr>
          <a:xfrm>
            <a:off x="7712242" y="433137"/>
            <a:ext cx="3019926" cy="307777"/>
          </a:xfrm>
          <a:prstGeom prst="rect">
            <a:avLst/>
          </a:prstGeom>
          <a:noFill/>
        </p:spPr>
        <p:txBody>
          <a:bodyPr wrap="square" rtlCol="0">
            <a:spAutoFit/>
          </a:bodyPr>
          <a:lstStyle/>
          <a:p>
            <a:r>
              <a:rPr lang="en-US" b="1" dirty="0">
                <a:solidFill>
                  <a:srgbClr val="0070C0"/>
                </a:solidFill>
              </a:rPr>
              <a:t>Here are some basic formulas:</a:t>
            </a:r>
          </a:p>
        </p:txBody>
      </p:sp>
      <p:sp>
        <p:nvSpPr>
          <p:cNvPr id="6" name="TextBox 5">
            <a:extLst>
              <a:ext uri="{FF2B5EF4-FFF2-40B4-BE49-F238E27FC236}">
                <a16:creationId xmlns:a16="http://schemas.microsoft.com/office/drawing/2014/main" id="{68CAE6D3-B545-F244-8CA7-FAE7513462A6}"/>
              </a:ext>
            </a:extLst>
          </p:cNvPr>
          <p:cNvSpPr txBox="1"/>
          <p:nvPr/>
        </p:nvSpPr>
        <p:spPr>
          <a:xfrm>
            <a:off x="7074568" y="5029200"/>
            <a:ext cx="4920916" cy="1600438"/>
          </a:xfrm>
          <a:prstGeom prst="rect">
            <a:avLst/>
          </a:prstGeom>
          <a:noFill/>
        </p:spPr>
        <p:txBody>
          <a:bodyPr wrap="square" rtlCol="0">
            <a:spAutoFit/>
          </a:bodyPr>
          <a:lstStyle/>
          <a:p>
            <a:r>
              <a:rPr lang="en-US" dirty="0"/>
              <a:t>Intuitive explanation for dividing by (n-1) </a:t>
            </a:r>
          </a:p>
          <a:p>
            <a:r>
              <a:rPr lang="en-US" dirty="0"/>
              <a:t>when calculating standard deviation:</a:t>
            </a:r>
          </a:p>
          <a:p>
            <a:endParaRPr lang="en-US" dirty="0"/>
          </a:p>
          <a:p>
            <a:r>
              <a:rPr lang="en-US" dirty="0"/>
              <a:t>– </a:t>
            </a:r>
            <a:r>
              <a:rPr lang="en-US" dirty="0">
                <a:hlinkClick r:id="rId3"/>
              </a:rPr>
              <a:t>http://</a:t>
            </a:r>
            <a:r>
              <a:rPr lang="en-US" dirty="0" err="1">
                <a:hlinkClick r:id="rId3"/>
              </a:rPr>
              <a:t>stats.stackexchange.com</a:t>
            </a:r>
            <a:r>
              <a:rPr lang="en-US" dirty="0">
                <a:hlinkClick r:id="rId3"/>
              </a:rPr>
              <a:t>/questions/3931/intuitive-explanation-for-dividing-by-n-1-when-calculating-standard-deviation</a:t>
            </a:r>
            <a:endParaRPr lang="en-US" dirty="0"/>
          </a:p>
          <a:p>
            <a:endParaRPr lang="en-US" dirty="0"/>
          </a:p>
        </p:txBody>
      </p:sp>
    </p:spTree>
    <p:extLst>
      <p:ext uri="{BB962C8B-B14F-4D97-AF65-F5344CB8AC3E}">
        <p14:creationId xmlns:p14="http://schemas.microsoft.com/office/powerpoint/2010/main" val="4004690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EB5F268-965F-C142-A102-83C02389B555}"/>
              </a:ext>
            </a:extLst>
          </p:cNvPr>
          <p:cNvSpPr txBox="1"/>
          <p:nvPr/>
        </p:nvSpPr>
        <p:spPr>
          <a:xfrm>
            <a:off x="0" y="178676"/>
            <a:ext cx="6858000" cy="6555641"/>
          </a:xfrm>
          <a:prstGeom prst="rect">
            <a:avLst/>
          </a:prstGeom>
          <a:noFill/>
        </p:spPr>
        <p:txBody>
          <a:bodyPr wrap="square" rtlCol="0">
            <a:spAutoFit/>
          </a:bodyPr>
          <a:lstStyle/>
          <a:p>
            <a:r>
              <a:rPr lang="en-US" sz="1200" dirty="0"/>
              <a:t>More advanced topics:</a:t>
            </a:r>
          </a:p>
          <a:p>
            <a:endParaRPr lang="en-US" sz="1200" dirty="0"/>
          </a:p>
          <a:p>
            <a:r>
              <a:rPr lang="en-US" sz="1200" dirty="0"/>
              <a:t>Linear Regression </a:t>
            </a:r>
          </a:p>
          <a:p>
            <a:r>
              <a:rPr lang="en-US" sz="1200" dirty="0"/>
              <a:t>  – draw a line through experimental points.</a:t>
            </a:r>
          </a:p>
          <a:p>
            <a:r>
              <a:rPr lang="en-US" sz="1200" dirty="0"/>
              <a:t>  – ( </a:t>
            </a:r>
            <a:r>
              <a:rPr lang="en-US" sz="1200" dirty="0">
                <a:hlinkClick r:id="rId2"/>
              </a:rPr>
              <a:t>https://</a:t>
            </a:r>
            <a:r>
              <a:rPr lang="en-US" sz="1200" dirty="0" err="1">
                <a:hlinkClick r:id="rId2"/>
              </a:rPr>
              <a:t>en.wikipedia.org</a:t>
            </a:r>
            <a:r>
              <a:rPr lang="en-US" sz="1200" dirty="0">
                <a:hlinkClick r:id="rId2"/>
              </a:rPr>
              <a:t>/wiki/</a:t>
            </a:r>
            <a:r>
              <a:rPr lang="en-US" sz="1200" dirty="0" err="1">
                <a:hlinkClick r:id="rId2"/>
              </a:rPr>
              <a:t>Linear_regression</a:t>
            </a:r>
            <a:r>
              <a:rPr lang="en-US" sz="1200" dirty="0"/>
              <a:t> ) </a:t>
            </a:r>
          </a:p>
          <a:p>
            <a:endParaRPr lang="en-US" sz="1200" dirty="0"/>
          </a:p>
          <a:p>
            <a:r>
              <a:rPr lang="en-US" sz="1200" dirty="0"/>
              <a:t>Simple Linear Regression </a:t>
            </a:r>
          </a:p>
          <a:p>
            <a:r>
              <a:rPr lang="en-US" sz="1200" dirty="0"/>
              <a:t>  – ( </a:t>
            </a:r>
            <a:r>
              <a:rPr lang="en-US" sz="1200" dirty="0">
                <a:hlinkClick r:id="rId3"/>
              </a:rPr>
              <a:t>https://</a:t>
            </a:r>
            <a:r>
              <a:rPr lang="en-US" sz="1200" dirty="0" err="1">
                <a:hlinkClick r:id="rId3"/>
              </a:rPr>
              <a:t>en.wikipedia.org</a:t>
            </a:r>
            <a:r>
              <a:rPr lang="en-US" sz="1200" dirty="0">
                <a:hlinkClick r:id="rId3"/>
              </a:rPr>
              <a:t>/wiki/</a:t>
            </a:r>
            <a:r>
              <a:rPr lang="en-US" sz="1200" dirty="0" err="1">
                <a:hlinkClick r:id="rId3"/>
              </a:rPr>
              <a:t>Simple_linear_regression</a:t>
            </a:r>
            <a:r>
              <a:rPr lang="en-US" sz="1200" dirty="0"/>
              <a:t> ) </a:t>
            </a:r>
          </a:p>
          <a:p>
            <a:r>
              <a:rPr lang="en-US" sz="1200" dirty="0"/>
              <a:t>  – the  least squares estimator of a linear regression model.</a:t>
            </a:r>
          </a:p>
          <a:p>
            <a:endParaRPr lang="en-US" sz="1200" dirty="0"/>
          </a:p>
          <a:p>
            <a:r>
              <a:rPr lang="en-US" sz="1200" dirty="0"/>
              <a:t>Here is the simplest standard </a:t>
            </a:r>
            <a:r>
              <a:rPr lang="en-US" sz="1200" b="1" dirty="0">
                <a:solidFill>
                  <a:srgbClr val="0070C0"/>
                </a:solidFill>
              </a:rPr>
              <a:t>OLS</a:t>
            </a:r>
            <a:r>
              <a:rPr lang="en-US" sz="1200" dirty="0"/>
              <a:t> method (</a:t>
            </a:r>
            <a:r>
              <a:rPr lang="en-US" sz="1200" b="1" dirty="0">
                <a:solidFill>
                  <a:srgbClr val="0070C0"/>
                </a:solidFill>
              </a:rPr>
              <a:t>OLS = Ordinary Least Squares</a:t>
            </a:r>
            <a:r>
              <a:rPr lang="en-US" sz="1200" dirty="0"/>
              <a:t>).</a:t>
            </a:r>
          </a:p>
          <a:p>
            <a:endParaRPr lang="en-US" sz="1200" dirty="0"/>
          </a:p>
          <a:p>
            <a:r>
              <a:rPr lang="en-US" sz="1200" dirty="0"/>
              <a:t>    </a:t>
            </a:r>
            <a:r>
              <a:rPr lang="en-US" sz="1200" dirty="0" err="1"/>
              <a:t>ym</a:t>
            </a:r>
            <a:r>
              <a:rPr lang="en-US" sz="1200" dirty="0"/>
              <a:t> = </a:t>
            </a:r>
            <a:r>
              <a:rPr lang="en-US" sz="1200" dirty="0" err="1"/>
              <a:t>y_mean</a:t>
            </a:r>
            <a:r>
              <a:rPr lang="en-US" sz="1200" dirty="0"/>
              <a:t> = sum(y)/N</a:t>
            </a:r>
          </a:p>
          <a:p>
            <a:r>
              <a:rPr lang="en-US" sz="1200" dirty="0"/>
              <a:t>    </a:t>
            </a:r>
            <a:r>
              <a:rPr lang="en-US" sz="1200" dirty="0" err="1"/>
              <a:t>xm</a:t>
            </a:r>
            <a:r>
              <a:rPr lang="en-US" sz="1200" dirty="0"/>
              <a:t> = </a:t>
            </a:r>
            <a:r>
              <a:rPr lang="en-US" sz="1200" dirty="0" err="1"/>
              <a:t>x_mean</a:t>
            </a:r>
            <a:r>
              <a:rPr lang="en-US" sz="1200" dirty="0"/>
              <a:t> = sum(x)/N</a:t>
            </a:r>
          </a:p>
          <a:p>
            <a:r>
              <a:rPr lang="en-US" sz="1200" dirty="0"/>
              <a:t>    </a:t>
            </a:r>
          </a:p>
          <a:p>
            <a:r>
              <a:rPr lang="en-US" sz="1200" dirty="0"/>
              <a:t>    var(x) = variance(x) = sum((x-</a:t>
            </a:r>
            <a:r>
              <a:rPr lang="en-US" sz="1200" dirty="0" err="1"/>
              <a:t>xm</a:t>
            </a:r>
            <a:r>
              <a:rPr lang="en-US" sz="1200" dirty="0"/>
              <a:t>)^2)</a:t>
            </a:r>
          </a:p>
          <a:p>
            <a:r>
              <a:rPr lang="en-US" sz="1200" dirty="0"/>
              <a:t>    </a:t>
            </a:r>
            <a:r>
              <a:rPr lang="en-US" sz="1200" dirty="0" err="1"/>
              <a:t>covar</a:t>
            </a:r>
            <a:r>
              <a:rPr lang="en-US" sz="1200" dirty="0"/>
              <a:t>(</a:t>
            </a:r>
            <a:r>
              <a:rPr lang="en-US" sz="1200" dirty="0" err="1"/>
              <a:t>x,y</a:t>
            </a:r>
            <a:r>
              <a:rPr lang="en-US" sz="1200" dirty="0"/>
              <a:t>) = covariance(</a:t>
            </a:r>
            <a:r>
              <a:rPr lang="en-US" sz="1200" dirty="0" err="1"/>
              <a:t>x,y</a:t>
            </a:r>
            <a:r>
              <a:rPr lang="en-US" sz="1200" dirty="0"/>
              <a:t>) = sum((y-</a:t>
            </a:r>
            <a:r>
              <a:rPr lang="en-US" sz="1200" dirty="0" err="1"/>
              <a:t>ym</a:t>
            </a:r>
            <a:r>
              <a:rPr lang="en-US" sz="1200" dirty="0"/>
              <a:t>)*(x-</a:t>
            </a:r>
            <a:r>
              <a:rPr lang="en-US" sz="1200" dirty="0" err="1"/>
              <a:t>xm</a:t>
            </a:r>
            <a:r>
              <a:rPr lang="en-US" sz="1200" dirty="0"/>
              <a:t>))</a:t>
            </a:r>
          </a:p>
          <a:p>
            <a:r>
              <a:rPr lang="en-US" sz="1200" dirty="0"/>
              <a:t>    </a:t>
            </a:r>
          </a:p>
          <a:p>
            <a:r>
              <a:rPr lang="en-US" sz="1200" dirty="0"/>
              <a:t>    slope b = </a:t>
            </a:r>
            <a:r>
              <a:rPr lang="en-US" sz="1200" dirty="0" err="1"/>
              <a:t>covar</a:t>
            </a:r>
            <a:r>
              <a:rPr lang="en-US" sz="1200" dirty="0"/>
              <a:t>(</a:t>
            </a:r>
            <a:r>
              <a:rPr lang="en-US" sz="1200" dirty="0" err="1"/>
              <a:t>x,y</a:t>
            </a:r>
            <a:r>
              <a:rPr lang="en-US" sz="1200" dirty="0"/>
              <a:t>) / var(x)</a:t>
            </a:r>
          </a:p>
          <a:p>
            <a:r>
              <a:rPr lang="en-US" sz="1200" dirty="0"/>
              <a:t>    intercept a = </a:t>
            </a:r>
            <a:r>
              <a:rPr lang="en-US" sz="1200" dirty="0" err="1"/>
              <a:t>ym</a:t>
            </a:r>
            <a:r>
              <a:rPr lang="en-US" sz="1200" dirty="0"/>
              <a:t> - b*</a:t>
            </a:r>
            <a:r>
              <a:rPr lang="en-US" sz="1200" dirty="0" err="1"/>
              <a:t>xm</a:t>
            </a:r>
            <a:endParaRPr lang="en-US" sz="1200" dirty="0"/>
          </a:p>
          <a:p>
            <a:r>
              <a:rPr lang="en-US" sz="1200" dirty="0"/>
              <a:t>    </a:t>
            </a:r>
          </a:p>
          <a:p>
            <a:r>
              <a:rPr lang="en-US" sz="1200" dirty="0"/>
              <a:t>    We can simplify as following:</a:t>
            </a:r>
          </a:p>
          <a:p>
            <a:endParaRPr lang="en-US" sz="1200" dirty="0"/>
          </a:p>
          <a:p>
            <a:r>
              <a:rPr lang="en-US" sz="1200" dirty="0"/>
              <a:t>    var(x) = sum((x-</a:t>
            </a:r>
            <a:r>
              <a:rPr lang="en-US" sz="1200" dirty="0" err="1"/>
              <a:t>xm</a:t>
            </a:r>
            <a:r>
              <a:rPr lang="en-US" sz="1200" dirty="0"/>
              <a:t>)^2) = sum(x^2) - sum(2*x*</a:t>
            </a:r>
            <a:r>
              <a:rPr lang="en-US" sz="1200" dirty="0" err="1"/>
              <a:t>xm</a:t>
            </a:r>
            <a:r>
              <a:rPr lang="en-US" sz="1200" dirty="0"/>
              <a:t>) + sum(xm^2) = sum(x^2) - N*xm^2</a:t>
            </a:r>
          </a:p>
          <a:p>
            <a:r>
              <a:rPr lang="en-US" sz="1200" dirty="0"/>
              <a:t>    </a:t>
            </a:r>
            <a:r>
              <a:rPr lang="en-US" sz="1200" dirty="0" err="1"/>
              <a:t>covar</a:t>
            </a:r>
            <a:r>
              <a:rPr lang="en-US" sz="1200" dirty="0"/>
              <a:t>(</a:t>
            </a:r>
            <a:r>
              <a:rPr lang="en-US" sz="1200" dirty="0" err="1"/>
              <a:t>x,y</a:t>
            </a:r>
            <a:r>
              <a:rPr lang="en-US" sz="1200" dirty="0"/>
              <a:t>) = ... using similar logic = sum(y*x) - N*</a:t>
            </a:r>
            <a:r>
              <a:rPr lang="en-US" sz="1200" dirty="0" err="1"/>
              <a:t>xm</a:t>
            </a:r>
            <a:r>
              <a:rPr lang="en-US" sz="1200" dirty="0"/>
              <a:t>*</a:t>
            </a:r>
            <a:r>
              <a:rPr lang="en-US" sz="1200" dirty="0" err="1"/>
              <a:t>ym</a:t>
            </a:r>
            <a:endParaRPr lang="en-US" sz="1200" dirty="0"/>
          </a:p>
          <a:p>
            <a:r>
              <a:rPr lang="en-US" sz="1200" dirty="0"/>
              <a:t>    </a:t>
            </a:r>
          </a:p>
          <a:p>
            <a:r>
              <a:rPr lang="en-US" sz="1200" dirty="0"/>
              <a:t>    So:</a:t>
            </a:r>
          </a:p>
          <a:p>
            <a:endParaRPr lang="en-US" sz="1200" dirty="0"/>
          </a:p>
          <a:p>
            <a:r>
              <a:rPr lang="en-US" sz="1200" dirty="0"/>
              <a:t>    slope b = (sum(y*x) - N*</a:t>
            </a:r>
            <a:r>
              <a:rPr lang="en-US" sz="1200" dirty="0" err="1"/>
              <a:t>xm</a:t>
            </a:r>
            <a:r>
              <a:rPr lang="en-US" sz="1200" dirty="0"/>
              <a:t>*</a:t>
            </a:r>
            <a:r>
              <a:rPr lang="en-US" sz="1200" dirty="0" err="1"/>
              <a:t>ym</a:t>
            </a:r>
            <a:r>
              <a:rPr lang="en-US" sz="1200" dirty="0"/>
              <a:t>) / (sum(x^2) - N*xm^2)</a:t>
            </a:r>
          </a:p>
          <a:p>
            <a:endParaRPr lang="en-US" sz="1200" dirty="0"/>
          </a:p>
          <a:p>
            <a:r>
              <a:rPr lang="en-US" sz="1200" dirty="0"/>
              <a:t>    intercept a = </a:t>
            </a:r>
            <a:r>
              <a:rPr lang="en-US" sz="1200" dirty="0" err="1"/>
              <a:t>ym</a:t>
            </a:r>
            <a:r>
              <a:rPr lang="en-US" sz="1200" dirty="0"/>
              <a:t> - b*</a:t>
            </a:r>
            <a:r>
              <a:rPr lang="en-US" sz="1200" dirty="0" err="1"/>
              <a:t>xm</a:t>
            </a:r>
            <a:r>
              <a:rPr lang="en-US" sz="1200" dirty="0"/>
              <a:t> = (</a:t>
            </a:r>
            <a:r>
              <a:rPr lang="en-US" sz="1200" dirty="0" err="1"/>
              <a:t>ym</a:t>
            </a:r>
            <a:r>
              <a:rPr lang="en-US" sz="1200" dirty="0"/>
              <a:t> * sum(x^2) - </a:t>
            </a:r>
            <a:r>
              <a:rPr lang="en-US" sz="1200" dirty="0" err="1"/>
              <a:t>ym</a:t>
            </a:r>
            <a:r>
              <a:rPr lang="en-US" sz="1200" dirty="0"/>
              <a:t>*N*xm^2 -</a:t>
            </a:r>
            <a:r>
              <a:rPr lang="en-US" sz="1200" dirty="0" err="1"/>
              <a:t>xm</a:t>
            </a:r>
            <a:r>
              <a:rPr lang="en-US" sz="1200" dirty="0"/>
              <a:t>*sum(y*x)+</a:t>
            </a:r>
            <a:r>
              <a:rPr lang="en-US" sz="1200" dirty="0" err="1"/>
              <a:t>xm</a:t>
            </a:r>
            <a:r>
              <a:rPr lang="en-US" sz="1200" dirty="0"/>
              <a:t>*N*</a:t>
            </a:r>
            <a:r>
              <a:rPr lang="en-US" sz="1200" dirty="0" err="1"/>
              <a:t>xm</a:t>
            </a:r>
            <a:r>
              <a:rPr lang="en-US" sz="1200" dirty="0"/>
              <a:t>*</a:t>
            </a:r>
            <a:r>
              <a:rPr lang="en-US" sz="1200" dirty="0" err="1"/>
              <a:t>ym</a:t>
            </a:r>
            <a:r>
              <a:rPr lang="en-US" sz="1200" dirty="0"/>
              <a:t>)  /  (sum(x^2) - N*xm^2)</a:t>
            </a:r>
          </a:p>
          <a:p>
            <a:endParaRPr lang="en-US" sz="1200" dirty="0"/>
          </a:p>
          <a:p>
            <a:r>
              <a:rPr lang="en-US" sz="1200" dirty="0"/>
              <a:t>      = (</a:t>
            </a:r>
            <a:r>
              <a:rPr lang="en-US" sz="1200" dirty="0" err="1"/>
              <a:t>ym</a:t>
            </a:r>
            <a:r>
              <a:rPr lang="en-US" sz="1200" dirty="0"/>
              <a:t> * sum(x^2) -</a:t>
            </a:r>
            <a:r>
              <a:rPr lang="en-US" sz="1200" dirty="0" err="1"/>
              <a:t>xm</a:t>
            </a:r>
            <a:r>
              <a:rPr lang="en-US" sz="1200" dirty="0"/>
              <a:t>*sum(y*x))  /  (sum(x^2) - N*xm^2)</a:t>
            </a:r>
          </a:p>
          <a:p>
            <a:endParaRPr lang="en-US" sz="1200" dirty="0"/>
          </a:p>
        </p:txBody>
      </p:sp>
      <p:sp>
        <p:nvSpPr>
          <p:cNvPr id="5" name="TextBox 4">
            <a:extLst>
              <a:ext uri="{FF2B5EF4-FFF2-40B4-BE49-F238E27FC236}">
                <a16:creationId xmlns:a16="http://schemas.microsoft.com/office/drawing/2014/main" id="{E72EEA3B-9D50-A145-B8FE-B6686486D979}"/>
              </a:ext>
            </a:extLst>
          </p:cNvPr>
          <p:cNvSpPr txBox="1"/>
          <p:nvPr/>
        </p:nvSpPr>
        <p:spPr>
          <a:xfrm>
            <a:off x="6858000" y="34297"/>
            <a:ext cx="5334000" cy="1815882"/>
          </a:xfrm>
          <a:prstGeom prst="rect">
            <a:avLst/>
          </a:prstGeom>
          <a:noFill/>
        </p:spPr>
        <p:txBody>
          <a:bodyPr wrap="square" rtlCol="0">
            <a:spAutoFit/>
          </a:bodyPr>
          <a:lstStyle/>
          <a:p>
            <a:r>
              <a:rPr lang="en-US" dirty="0"/>
              <a:t>When drawing a curve through experimental points, </a:t>
            </a:r>
          </a:p>
          <a:p>
            <a:r>
              <a:rPr lang="en-US" dirty="0"/>
              <a:t>it is very important to estimate how good this curve </a:t>
            </a:r>
          </a:p>
          <a:p>
            <a:r>
              <a:rPr lang="en-US" dirty="0"/>
              <a:t>fits the data, and if fitting the data with this curve makes sense. </a:t>
            </a:r>
          </a:p>
          <a:p>
            <a:r>
              <a:rPr lang="en-US" dirty="0"/>
              <a:t>For this you can use the </a:t>
            </a:r>
            <a:r>
              <a:rPr lang="en-US" b="1" dirty="0">
                <a:solidFill>
                  <a:srgbClr val="0070C0"/>
                </a:solidFill>
              </a:rPr>
              <a:t>Coefficient of Determination R</a:t>
            </a:r>
            <a:r>
              <a:rPr lang="en-US" b="1" baseline="30000" dirty="0">
                <a:solidFill>
                  <a:srgbClr val="0070C0"/>
                </a:solidFill>
              </a:rPr>
              <a:t>2</a:t>
            </a:r>
            <a:r>
              <a:rPr lang="en-US" dirty="0"/>
              <a:t>:</a:t>
            </a:r>
          </a:p>
          <a:p>
            <a:br>
              <a:rPr lang="en-US" dirty="0"/>
            </a:br>
            <a:r>
              <a:rPr lang="en-US" dirty="0"/>
              <a:t>    –  </a:t>
            </a:r>
            <a:r>
              <a:rPr lang="en-US" dirty="0">
                <a:hlinkClick r:id="rId4"/>
              </a:rPr>
              <a:t>https://en.wikipedia.org/wiki/Coefficient_of_determination</a:t>
            </a:r>
            <a:r>
              <a:rPr lang="en-US" dirty="0"/>
              <a:t>  </a:t>
            </a:r>
          </a:p>
          <a:p>
            <a:r>
              <a:rPr lang="en-US" dirty="0"/>
              <a:t>“R squared” is a number between 0 and 1. </a:t>
            </a:r>
            <a:br>
              <a:rPr lang="en-US" dirty="0"/>
            </a:br>
            <a:r>
              <a:rPr lang="en-US" dirty="0"/>
              <a:t>R</a:t>
            </a:r>
            <a:r>
              <a:rPr lang="en-US" baseline="30000" dirty="0"/>
              <a:t>2</a:t>
            </a:r>
            <a:r>
              <a:rPr lang="en-US" dirty="0"/>
              <a:t> close to 1 – good model. </a:t>
            </a:r>
          </a:p>
        </p:txBody>
      </p:sp>
      <p:pic>
        <p:nvPicPr>
          <p:cNvPr id="2" name="Picture 1">
            <a:extLst>
              <a:ext uri="{FF2B5EF4-FFF2-40B4-BE49-F238E27FC236}">
                <a16:creationId xmlns:a16="http://schemas.microsoft.com/office/drawing/2014/main" id="{ABAA291F-F324-B342-B7BD-C0A11680ACC7}"/>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7399416" y="4484760"/>
            <a:ext cx="4751077" cy="2249557"/>
          </a:xfrm>
          <a:prstGeom prst="rect">
            <a:avLst/>
          </a:prstGeom>
        </p:spPr>
      </p:pic>
      <p:pic>
        <p:nvPicPr>
          <p:cNvPr id="6" name="Picture 5">
            <a:extLst>
              <a:ext uri="{FF2B5EF4-FFF2-40B4-BE49-F238E27FC236}">
                <a16:creationId xmlns:a16="http://schemas.microsoft.com/office/drawing/2014/main" id="{2C0E0B71-9796-224E-B0B8-1567F37D9C0C}"/>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7012745" y="2161339"/>
            <a:ext cx="5168900" cy="1765300"/>
          </a:xfrm>
          <a:prstGeom prst="rect">
            <a:avLst/>
          </a:prstGeom>
        </p:spPr>
      </p:pic>
    </p:spTree>
    <p:extLst>
      <p:ext uri="{BB962C8B-B14F-4D97-AF65-F5344CB8AC3E}">
        <p14:creationId xmlns:p14="http://schemas.microsoft.com/office/powerpoint/2010/main" val="14178527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4"/>
          <p:cNvSpPr txBox="1"/>
          <p:nvPr/>
        </p:nvSpPr>
        <p:spPr>
          <a:xfrm>
            <a:off x="0" y="0"/>
            <a:ext cx="5802900" cy="675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3000" b="1">
                <a:latin typeface="Calibri"/>
                <a:ea typeface="Calibri"/>
                <a:cs typeface="Calibri"/>
                <a:sym typeface="Calibri"/>
              </a:rPr>
              <a:t>Central Limit Theorem (CLT)</a:t>
            </a:r>
            <a:endParaRPr sz="3000" b="1">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We have all heard about Normal (Gaussian) distribution.</a:t>
            </a:r>
            <a:endParaRPr>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a:latin typeface="Calibri"/>
                <a:ea typeface="Calibri"/>
                <a:cs typeface="Calibri"/>
                <a:sym typeface="Calibri"/>
              </a:rPr>
              <a:t>This distribution is very foundational in statistics. And it comes from CLT.</a:t>
            </a:r>
            <a:endParaRPr>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a:latin typeface="Calibri"/>
                <a:ea typeface="Calibri"/>
                <a:cs typeface="Calibri"/>
                <a:sym typeface="Calibri"/>
              </a:rPr>
              <a:t>Classical CLT mathematically proves that if we calculate group averages in many groups, then the distribution of those averages converges to Normal distribution as long as we have large number of points in each group (30..100 or more) and large number of groups (30-100 or more).</a:t>
            </a:r>
            <a:endParaRPr>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a:latin typeface="Calibri"/>
                <a:ea typeface="Calibri"/>
                <a:cs typeface="Calibri"/>
                <a:sym typeface="Calibri"/>
              </a:rPr>
              <a:t>Specifically, suppose we have our data points sampled from a distribution with finite average and finite variance. We subdivide this data into Ng groups, each containing Ns samples:</a:t>
            </a:r>
            <a:endParaRPr>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a:latin typeface="Calibri"/>
                <a:ea typeface="Calibri"/>
                <a:cs typeface="Calibri"/>
                <a:sym typeface="Calibri"/>
              </a:rPr>
              <a:t>[...]    [...]   [...]   [...]   [...]   [...]   [...]   [...]   [...] </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a:latin typeface="Calibri"/>
                <a:ea typeface="Calibri"/>
                <a:cs typeface="Calibri"/>
                <a:sym typeface="Calibri"/>
              </a:rPr>
              <a:t>For each group we calculate average value of its Ns samples. Thus we have Ng averages values, and we plot them as a histogram.</a:t>
            </a:r>
            <a:endParaRPr>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If Ng and Ns are big enough, the histogram will converge to a normal distribution. This holds true regardless of the shape of the original distribution of data.</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For example, suppose we have a million data points, each value is either 1 or -1 (random coin toss). We split data into Ng=10,000 groups, each sample group has Ns=10,000 data points. Then in each group we calculate the mean value (which will be close to zero). </a:t>
            </a: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Now we have 10,000 of mean values - and we make a histogram of those values. According to CLT it will be bell-shaped.</a:t>
            </a:r>
            <a:endParaRPr>
              <a:latin typeface="Calibri"/>
              <a:ea typeface="Calibri"/>
              <a:cs typeface="Calibri"/>
              <a:sym typeface="Calibri"/>
            </a:endParaRPr>
          </a:p>
        </p:txBody>
      </p:sp>
      <p:pic>
        <p:nvPicPr>
          <p:cNvPr id="96" name="Google Shape;96;p14"/>
          <p:cNvPicPr preferRelativeResize="0"/>
          <p:nvPr/>
        </p:nvPicPr>
        <p:blipFill>
          <a:blip r:embed="rId3">
            <a:alphaModFix/>
          </a:blip>
          <a:stretch>
            <a:fillRect/>
          </a:stretch>
        </p:blipFill>
        <p:spPr>
          <a:xfrm>
            <a:off x="5802900" y="155488"/>
            <a:ext cx="3333750" cy="2276475"/>
          </a:xfrm>
          <a:prstGeom prst="rect">
            <a:avLst/>
          </a:prstGeom>
          <a:noFill/>
          <a:ln>
            <a:noFill/>
          </a:ln>
        </p:spPr>
      </p:pic>
      <p:pic>
        <p:nvPicPr>
          <p:cNvPr id="97" name="Google Shape;97;p1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9321500" y="89600"/>
            <a:ext cx="2793700" cy="2091624"/>
          </a:xfrm>
          <a:prstGeom prst="rect">
            <a:avLst/>
          </a:prstGeom>
          <a:noFill/>
          <a:ln>
            <a:noFill/>
          </a:ln>
        </p:spPr>
      </p:pic>
      <p:pic>
        <p:nvPicPr>
          <p:cNvPr id="98" name="Google Shape;98;p1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7644800" y="2872531"/>
            <a:ext cx="3417600" cy="2153950"/>
          </a:xfrm>
          <a:prstGeom prst="rect">
            <a:avLst/>
          </a:prstGeom>
          <a:noFill/>
          <a:ln>
            <a:noFill/>
          </a:ln>
        </p:spPr>
      </p:pic>
      <p:pic>
        <p:nvPicPr>
          <p:cNvPr id="99" name="Google Shape;99;p14"/>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8859306" y="5156379"/>
            <a:ext cx="1205800" cy="1654000"/>
          </a:xfrm>
          <a:prstGeom prst="rect">
            <a:avLst/>
          </a:prstGeom>
          <a:noFill/>
          <a:ln>
            <a:noFill/>
          </a:ln>
        </p:spPr>
      </p:pic>
      <p:cxnSp>
        <p:nvCxnSpPr>
          <p:cNvPr id="100" name="Google Shape;100;p14"/>
          <p:cNvCxnSpPr/>
          <p:nvPr/>
        </p:nvCxnSpPr>
        <p:spPr>
          <a:xfrm rot="10800000" flipH="1">
            <a:off x="5897875" y="4556700"/>
            <a:ext cx="1707000" cy="1158300"/>
          </a:xfrm>
          <a:prstGeom prst="straightConnector1">
            <a:avLst/>
          </a:prstGeom>
          <a:noFill/>
          <a:ln w="9525" cap="flat" cmpd="sng">
            <a:solidFill>
              <a:schemeClr val="dk2"/>
            </a:solidFill>
            <a:prstDash val="solid"/>
            <a:round/>
            <a:headEnd type="none" w="med" len="med"/>
            <a:tailEnd type="triangle" w="med" len="med"/>
          </a:ln>
        </p:spPr>
      </p:cxnSp>
      <p:cxnSp>
        <p:nvCxnSpPr>
          <p:cNvPr id="101" name="Google Shape;101;p14"/>
          <p:cNvCxnSpPr/>
          <p:nvPr/>
        </p:nvCxnSpPr>
        <p:spPr>
          <a:xfrm rot="10800000" flipH="1">
            <a:off x="5623550" y="6202675"/>
            <a:ext cx="2804100" cy="3522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5"/>
          <p:cNvSpPr txBox="1"/>
          <p:nvPr/>
        </p:nvSpPr>
        <p:spPr>
          <a:xfrm>
            <a:off x="75825" y="71800"/>
            <a:ext cx="6523500" cy="65925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a:solidFill>
                  <a:schemeClr val="dk1"/>
                </a:solidFill>
                <a:latin typeface="Calibri"/>
                <a:ea typeface="Calibri"/>
                <a:cs typeface="Calibri"/>
                <a:sym typeface="Calibri"/>
              </a:rPr>
              <a:t>p-value &amp; null hypothesis</a:t>
            </a:r>
            <a:endParaRPr sz="3200" b="1">
              <a:solidFill>
                <a:schemeClr val="dk1"/>
              </a:solidFill>
              <a:latin typeface="Calibri"/>
              <a:ea typeface="Calibri"/>
              <a:cs typeface="Calibri"/>
              <a:sym typeface="Calibri"/>
            </a:endParaRPr>
          </a:p>
          <a:p>
            <a:pPr marL="0" marR="0" lvl="0" indent="0" algn="l" rtl="0">
              <a:spcBef>
                <a:spcPts val="0"/>
              </a:spcBef>
              <a:spcAft>
                <a:spcPts val="0"/>
              </a:spcAft>
              <a:buSzPts val="1100"/>
              <a:buNone/>
            </a:pPr>
            <a:endParaRPr sz="1800">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sz="1800">
                <a:solidFill>
                  <a:schemeClr val="dk1"/>
                </a:solidFill>
                <a:latin typeface="Calibri"/>
                <a:ea typeface="Calibri"/>
                <a:cs typeface="Calibri"/>
                <a:sym typeface="Calibri"/>
              </a:rPr>
              <a:t>A </a:t>
            </a:r>
            <a:r>
              <a:rPr lang="en-US" sz="1800" b="1">
                <a:solidFill>
                  <a:srgbClr val="0000FF"/>
                </a:solidFill>
                <a:latin typeface="Calibri"/>
                <a:ea typeface="Calibri"/>
                <a:cs typeface="Calibri"/>
                <a:sym typeface="Calibri"/>
              </a:rPr>
              <a:t>p-value</a:t>
            </a:r>
            <a:r>
              <a:rPr lang="en-US" sz="1800">
                <a:solidFill>
                  <a:schemeClr val="dk1"/>
                </a:solidFill>
                <a:latin typeface="Calibri"/>
                <a:ea typeface="Calibri"/>
                <a:cs typeface="Calibri"/>
                <a:sym typeface="Calibri"/>
              </a:rPr>
              <a:t> is a probability of getting results at least as extreme as yours. If this probability is very small, this means that the result is unlikely to be explained by the null hypothesis. So we should reject the null hypothesis.</a:t>
            </a:r>
            <a:endParaRPr sz="1800">
              <a:solidFill>
                <a:schemeClr val="dk1"/>
              </a:solidFill>
              <a:latin typeface="Calibri"/>
              <a:ea typeface="Calibri"/>
              <a:cs typeface="Calibri"/>
              <a:sym typeface="Calibri"/>
            </a:endParaRPr>
          </a:p>
          <a:p>
            <a:pPr marL="0" marR="0" lvl="0" indent="0" algn="l" rtl="0">
              <a:spcBef>
                <a:spcPts val="0"/>
              </a:spcBef>
              <a:spcAft>
                <a:spcPts val="0"/>
              </a:spcAft>
              <a:buSzPts val="1100"/>
              <a:buNone/>
            </a:pPr>
            <a:endParaRPr sz="1800">
              <a:solidFill>
                <a:schemeClr val="dk1"/>
              </a:solidFill>
              <a:latin typeface="Calibri"/>
              <a:ea typeface="Calibri"/>
              <a:cs typeface="Calibri"/>
              <a:sym typeface="Calibri"/>
            </a:endParaRPr>
          </a:p>
          <a:p>
            <a:pPr marL="0" lvl="0" indent="0" algn="l" rtl="0">
              <a:spcBef>
                <a:spcPts val="0"/>
              </a:spcBef>
              <a:spcAft>
                <a:spcPts val="0"/>
              </a:spcAft>
              <a:buSzPts val="1100"/>
              <a:buNone/>
            </a:pPr>
            <a:r>
              <a:rPr lang="en-US">
                <a:solidFill>
                  <a:schemeClr val="dk1"/>
                </a:solidFill>
                <a:latin typeface="Courier New"/>
                <a:ea typeface="Courier New"/>
                <a:cs typeface="Courier New"/>
                <a:sym typeface="Courier New"/>
              </a:rPr>
              <a:t>P-value    probability of observed</a:t>
            </a:r>
            <a:endParaRPr>
              <a:solidFill>
                <a:schemeClr val="dk1"/>
              </a:solidFill>
              <a:latin typeface="Courier New"/>
              <a:ea typeface="Courier New"/>
              <a:cs typeface="Courier New"/>
              <a:sym typeface="Courier New"/>
            </a:endParaRPr>
          </a:p>
          <a:p>
            <a:pPr marL="0" lvl="0" indent="0" algn="l" rtl="0">
              <a:spcBef>
                <a:spcPts val="0"/>
              </a:spcBef>
              <a:spcAft>
                <a:spcPts val="0"/>
              </a:spcAft>
              <a:buSzPts val="1100"/>
              <a:buNone/>
            </a:pPr>
            <a:r>
              <a:rPr lang="en-US">
                <a:solidFill>
                  <a:schemeClr val="dk1"/>
                </a:solidFill>
                <a:latin typeface="Courier New"/>
                <a:ea typeface="Courier New"/>
                <a:cs typeface="Courier New"/>
                <a:sym typeface="Courier New"/>
              </a:rPr>
              <a:t>-------------------------------</a:t>
            </a:r>
            <a:endParaRPr>
              <a:solidFill>
                <a:schemeClr val="dk1"/>
              </a:solidFill>
              <a:latin typeface="Courier New"/>
              <a:ea typeface="Courier New"/>
              <a:cs typeface="Courier New"/>
              <a:sym typeface="Courier New"/>
            </a:endParaRPr>
          </a:p>
          <a:p>
            <a:pPr marL="0" lvl="0" indent="0" algn="l" rtl="0">
              <a:spcBef>
                <a:spcPts val="0"/>
              </a:spcBef>
              <a:spcAft>
                <a:spcPts val="0"/>
              </a:spcAft>
              <a:buSzPts val="1100"/>
              <a:buNone/>
            </a:pPr>
            <a:r>
              <a:rPr lang="en-US">
                <a:solidFill>
                  <a:schemeClr val="dk1"/>
                </a:solidFill>
                <a:latin typeface="Courier New"/>
                <a:ea typeface="Courier New"/>
                <a:cs typeface="Courier New"/>
                <a:sym typeface="Courier New"/>
              </a:rPr>
              <a:t>P &lt; 0.05         5%</a:t>
            </a:r>
            <a:endParaRPr>
              <a:solidFill>
                <a:schemeClr val="dk1"/>
              </a:solidFill>
              <a:latin typeface="Courier New"/>
              <a:ea typeface="Courier New"/>
              <a:cs typeface="Courier New"/>
              <a:sym typeface="Courier New"/>
            </a:endParaRPr>
          </a:p>
          <a:p>
            <a:pPr marL="0" lvl="0" indent="0" algn="l" rtl="0">
              <a:spcBef>
                <a:spcPts val="0"/>
              </a:spcBef>
              <a:spcAft>
                <a:spcPts val="0"/>
              </a:spcAft>
              <a:buSzPts val="1100"/>
              <a:buNone/>
            </a:pPr>
            <a:r>
              <a:rPr lang="en-US">
                <a:solidFill>
                  <a:schemeClr val="dk1"/>
                </a:solidFill>
                <a:latin typeface="Courier New"/>
                <a:ea typeface="Courier New"/>
                <a:cs typeface="Courier New"/>
                <a:sym typeface="Courier New"/>
              </a:rPr>
              <a:t>P &lt; 0.01         1%</a:t>
            </a:r>
            <a:endParaRPr>
              <a:solidFill>
                <a:schemeClr val="dk1"/>
              </a:solidFill>
              <a:latin typeface="Courier New"/>
              <a:ea typeface="Courier New"/>
              <a:cs typeface="Courier New"/>
              <a:sym typeface="Courier New"/>
            </a:endParaRPr>
          </a:p>
          <a:p>
            <a:pPr marL="0" lvl="0" indent="0" algn="l" rtl="0">
              <a:spcBef>
                <a:spcPts val="0"/>
              </a:spcBef>
              <a:spcAft>
                <a:spcPts val="0"/>
              </a:spcAft>
              <a:buSzPts val="1100"/>
              <a:buNone/>
            </a:pPr>
            <a:r>
              <a:rPr lang="en-US">
                <a:solidFill>
                  <a:schemeClr val="dk1"/>
                </a:solidFill>
                <a:latin typeface="Courier New"/>
                <a:ea typeface="Courier New"/>
                <a:cs typeface="Courier New"/>
                <a:sym typeface="Courier New"/>
              </a:rPr>
              <a:t>p &lt; 0.001        0.1%</a:t>
            </a:r>
            <a:endParaRPr>
              <a:solidFill>
                <a:schemeClr val="dk1"/>
              </a:solidFill>
              <a:latin typeface="Courier New"/>
              <a:ea typeface="Courier New"/>
              <a:cs typeface="Courier New"/>
              <a:sym typeface="Courier New"/>
            </a:endParaRPr>
          </a:p>
          <a:p>
            <a:pPr marL="0" lvl="0" indent="0" algn="l" rtl="0">
              <a:spcBef>
                <a:spcPts val="0"/>
              </a:spcBef>
              <a:spcAft>
                <a:spcPts val="0"/>
              </a:spcAft>
              <a:buSzPts val="1100"/>
              <a:buNone/>
            </a:pPr>
            <a:r>
              <a:rPr lang="en-US">
                <a:solidFill>
                  <a:schemeClr val="dk1"/>
                </a:solidFill>
                <a:latin typeface="Courier New"/>
                <a:ea typeface="Courier New"/>
                <a:cs typeface="Courier New"/>
                <a:sym typeface="Courier New"/>
              </a:rPr>
              <a:t>-------------------------------</a:t>
            </a:r>
            <a:endParaRPr>
              <a:solidFill>
                <a:schemeClr val="dk1"/>
              </a:solidFill>
              <a:latin typeface="Courier New"/>
              <a:ea typeface="Courier New"/>
              <a:cs typeface="Courier New"/>
              <a:sym typeface="Courier New"/>
            </a:endParaRPr>
          </a:p>
          <a:p>
            <a:pPr marL="0" marR="0" lvl="0" indent="0" algn="l" rtl="0">
              <a:spcBef>
                <a:spcPts val="0"/>
              </a:spcBef>
              <a:spcAft>
                <a:spcPts val="0"/>
              </a:spcAft>
              <a:buSzPts val="1100"/>
              <a:buNone/>
            </a:pPr>
            <a:endParaRPr sz="1800">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sz="1800">
                <a:solidFill>
                  <a:schemeClr val="dk1"/>
                </a:solidFill>
                <a:latin typeface="Calibri"/>
                <a:ea typeface="Calibri"/>
                <a:cs typeface="Calibri"/>
                <a:sym typeface="Calibri"/>
              </a:rPr>
              <a:t>A small p-value (typically ≤ 0.05) indicates strong evidence against the null hypothesis, so you reject the null hypothesis. People say that this evidence is "statistically significant".</a:t>
            </a:r>
            <a:endParaRPr sz="1800">
              <a:solidFill>
                <a:schemeClr val="dk1"/>
              </a:solidFill>
              <a:latin typeface="Calibri"/>
              <a:ea typeface="Calibri"/>
              <a:cs typeface="Calibri"/>
              <a:sym typeface="Calibri"/>
            </a:endParaRPr>
          </a:p>
          <a:p>
            <a:pPr marL="0" marR="0" lvl="0" indent="0" algn="l" rtl="0">
              <a:spcBef>
                <a:spcPts val="0"/>
              </a:spcBef>
              <a:spcAft>
                <a:spcPts val="0"/>
              </a:spcAft>
              <a:buSzPts val="1100"/>
              <a:buNone/>
            </a:pPr>
            <a:endParaRPr sz="1800">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sz="1800">
                <a:solidFill>
                  <a:schemeClr val="dk1"/>
                </a:solidFill>
                <a:latin typeface="Calibri"/>
                <a:ea typeface="Calibri"/>
                <a:cs typeface="Calibri"/>
                <a:sym typeface="Calibri"/>
              </a:rPr>
              <a:t>Related term is</a:t>
            </a:r>
            <a:r>
              <a:rPr lang="en-US" sz="1800" b="1">
                <a:solidFill>
                  <a:srgbClr val="0000FF"/>
                </a:solidFill>
                <a:latin typeface="Calibri"/>
                <a:ea typeface="Calibri"/>
                <a:cs typeface="Calibri"/>
                <a:sym typeface="Calibri"/>
              </a:rPr>
              <a:t> Confidence Interval (CI)</a:t>
            </a:r>
            <a:r>
              <a:rPr lang="en-US" sz="1800">
                <a:solidFill>
                  <a:schemeClr val="dk1"/>
                </a:solidFill>
                <a:latin typeface="Calibri"/>
                <a:ea typeface="Calibri"/>
                <a:cs typeface="Calibri"/>
                <a:sym typeface="Calibri"/>
              </a:rPr>
              <a:t>. A 95% CI is the interval that you are 95% certain contains the true population value as it might be estimated from a much larger study.</a:t>
            </a:r>
            <a:endParaRPr sz="1800">
              <a:solidFill>
                <a:schemeClr val="dk1"/>
              </a:solidFill>
              <a:latin typeface="Calibri"/>
              <a:ea typeface="Calibri"/>
              <a:cs typeface="Calibri"/>
              <a:sym typeface="Calibri"/>
            </a:endParaRPr>
          </a:p>
          <a:p>
            <a:pPr marL="0" marR="0" lvl="0" indent="0" algn="l" rtl="0">
              <a:spcBef>
                <a:spcPts val="0"/>
              </a:spcBef>
              <a:spcAft>
                <a:spcPts val="0"/>
              </a:spcAft>
              <a:buSzPts val="1100"/>
              <a:buNone/>
            </a:pPr>
            <a:endParaRPr sz="1800">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sz="1800" b="1">
                <a:solidFill>
                  <a:srgbClr val="0000FF"/>
                </a:solidFill>
                <a:latin typeface="Calibri"/>
                <a:ea typeface="Calibri"/>
                <a:cs typeface="Calibri"/>
                <a:sym typeface="Calibri"/>
              </a:rPr>
              <a:t>z-score</a:t>
            </a:r>
            <a:r>
              <a:rPr lang="en-US" sz="1800">
                <a:solidFill>
                  <a:schemeClr val="dk1"/>
                </a:solidFill>
                <a:latin typeface="Calibri"/>
                <a:ea typeface="Calibri"/>
                <a:cs typeface="Calibri"/>
                <a:sym typeface="Calibri"/>
              </a:rPr>
              <a:t> is the distance from the mean measured in the number of standard deviations.</a:t>
            </a:r>
            <a:endParaRPr sz="1800">
              <a:solidFill>
                <a:schemeClr val="dk1"/>
              </a:solidFill>
              <a:latin typeface="Calibri"/>
              <a:ea typeface="Calibri"/>
              <a:cs typeface="Calibri"/>
              <a:sym typeface="Calibri"/>
            </a:endParaRPr>
          </a:p>
        </p:txBody>
      </p:sp>
      <p:pic>
        <p:nvPicPr>
          <p:cNvPr id="107" name="Google Shape;107;p15"/>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7404350" y="129325"/>
            <a:ext cx="4721174" cy="2382325"/>
          </a:xfrm>
          <a:prstGeom prst="rect">
            <a:avLst/>
          </a:prstGeom>
          <a:noFill/>
          <a:ln>
            <a:noFill/>
          </a:ln>
        </p:spPr>
      </p:pic>
      <p:sp>
        <p:nvSpPr>
          <p:cNvPr id="108" name="Google Shape;108;p15"/>
          <p:cNvSpPr txBox="1"/>
          <p:nvPr/>
        </p:nvSpPr>
        <p:spPr>
          <a:xfrm>
            <a:off x="6920825" y="3007950"/>
            <a:ext cx="5204700" cy="842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Type I error - false rejection of the null hypothesis</a:t>
            </a:r>
            <a:endParaRPr sz="18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Type II error - false acceptance of the null hypothesis</a:t>
            </a:r>
            <a:endParaRPr sz="18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800">
              <a:solidFill>
                <a:schemeClr val="dk1"/>
              </a:solidFill>
              <a:latin typeface="Calibri"/>
              <a:ea typeface="Calibri"/>
              <a:cs typeface="Calibri"/>
              <a:sym typeface="Calibri"/>
            </a:endParaRPr>
          </a:p>
        </p:txBody>
      </p:sp>
      <p:graphicFrame>
        <p:nvGraphicFramePr>
          <p:cNvPr id="109" name="Google Shape;109;p15"/>
          <p:cNvGraphicFramePr/>
          <p:nvPr/>
        </p:nvGraphicFramePr>
        <p:xfrm>
          <a:off x="7701913" y="4175913"/>
          <a:ext cx="4126050" cy="2382300"/>
        </p:xfrm>
        <a:graphic>
          <a:graphicData uri="http://schemas.openxmlformats.org/drawingml/2006/table">
            <a:tbl>
              <a:tblPr>
                <a:noFill/>
                <a:tableStyleId>{B1618C5A-BF4F-44D7-ADB2-C5301EF81F8A}</a:tableStyleId>
              </a:tblPr>
              <a:tblGrid>
                <a:gridCol w="1375350">
                  <a:extLst>
                    <a:ext uri="{9D8B030D-6E8A-4147-A177-3AD203B41FA5}">
                      <a16:colId xmlns:a16="http://schemas.microsoft.com/office/drawing/2014/main" val="20000"/>
                    </a:ext>
                  </a:extLst>
                </a:gridCol>
                <a:gridCol w="1375350">
                  <a:extLst>
                    <a:ext uri="{9D8B030D-6E8A-4147-A177-3AD203B41FA5}">
                      <a16:colId xmlns:a16="http://schemas.microsoft.com/office/drawing/2014/main" val="20001"/>
                    </a:ext>
                  </a:extLst>
                </a:gridCol>
                <a:gridCol w="1375350">
                  <a:extLst>
                    <a:ext uri="{9D8B030D-6E8A-4147-A177-3AD203B41FA5}">
                      <a16:colId xmlns:a16="http://schemas.microsoft.com/office/drawing/2014/main" val="20002"/>
                    </a:ext>
                  </a:extLst>
                </a:gridCol>
              </a:tblGrid>
              <a:tr h="794100">
                <a:tc>
                  <a:txBody>
                    <a:bodyPr/>
                    <a:lstStyle/>
                    <a:p>
                      <a:pPr marL="0" lvl="0" indent="0" algn="l" rtl="0">
                        <a:spcBef>
                          <a:spcPts val="0"/>
                        </a:spcBef>
                        <a:spcAft>
                          <a:spcPts val="0"/>
                        </a:spcAft>
                        <a:buNone/>
                      </a:pPr>
                      <a:r>
                        <a:rPr lang="en-US"/>
                        <a:t>        \ Decision</a:t>
                      </a:r>
                      <a:endParaRPr/>
                    </a:p>
                    <a:p>
                      <a:pPr marL="0" lvl="0" indent="0" algn="l" rtl="0">
                        <a:spcBef>
                          <a:spcPts val="0"/>
                        </a:spcBef>
                        <a:spcAft>
                          <a:spcPts val="0"/>
                        </a:spcAft>
                        <a:buNone/>
                      </a:pPr>
                      <a:r>
                        <a:rPr lang="en-US"/>
                        <a:t>Truth \ </a:t>
                      </a:r>
                      <a:endParaRPr/>
                    </a:p>
                  </a:txBody>
                  <a:tcPr marL="91425" marR="91425" marT="91425" marB="91425"/>
                </a:tc>
                <a:tc>
                  <a:txBody>
                    <a:bodyPr/>
                    <a:lstStyle/>
                    <a:p>
                      <a:pPr marL="0" lvl="0" indent="0" algn="l" rtl="0">
                        <a:spcBef>
                          <a:spcPts val="0"/>
                        </a:spcBef>
                        <a:spcAft>
                          <a:spcPts val="0"/>
                        </a:spcAft>
                        <a:buNone/>
                      </a:pPr>
                      <a:r>
                        <a:rPr lang="en-US"/>
                        <a:t>Decision to Accept Ho</a:t>
                      </a:r>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US">
                          <a:solidFill>
                            <a:schemeClr val="dk1"/>
                          </a:solidFill>
                        </a:rPr>
                        <a:t>Decision to Reject Ho</a:t>
                      </a:r>
                      <a:endParaRPr/>
                    </a:p>
                  </a:txBody>
                  <a:tcPr marL="91425" marR="91425" marT="91425" marB="91425"/>
                </a:tc>
                <a:extLst>
                  <a:ext uri="{0D108BD9-81ED-4DB2-BD59-A6C34878D82A}">
                    <a16:rowId xmlns:a16="http://schemas.microsoft.com/office/drawing/2014/main" val="10000"/>
                  </a:ext>
                </a:extLst>
              </a:tr>
              <a:tr h="794100">
                <a:tc>
                  <a:txBody>
                    <a:bodyPr/>
                    <a:lstStyle/>
                    <a:p>
                      <a:pPr marL="0" lvl="0" indent="0" algn="l" rtl="0">
                        <a:spcBef>
                          <a:spcPts val="0"/>
                        </a:spcBef>
                        <a:spcAft>
                          <a:spcPts val="0"/>
                        </a:spcAft>
                        <a:buNone/>
                      </a:pPr>
                      <a:r>
                        <a:rPr lang="en-US"/>
                        <a:t>Ho is True</a:t>
                      </a:r>
                      <a:endParaRPr/>
                    </a:p>
                  </a:txBody>
                  <a:tcPr marL="91425" marR="91425" marT="91425" marB="91425"/>
                </a:tc>
                <a:tc>
                  <a:txBody>
                    <a:bodyPr/>
                    <a:lstStyle/>
                    <a:p>
                      <a:pPr marL="0" lvl="0" indent="0" algn="l" rtl="0">
                        <a:spcBef>
                          <a:spcPts val="0"/>
                        </a:spcBef>
                        <a:spcAft>
                          <a:spcPts val="0"/>
                        </a:spcAft>
                        <a:buNone/>
                      </a:pPr>
                      <a:r>
                        <a:rPr lang="en-US"/>
                        <a:t>Correct</a:t>
                      </a:r>
                      <a:br>
                        <a:rPr lang="en-US"/>
                      </a:br>
                      <a:r>
                        <a:rPr lang="en-US"/>
                        <a:t>Decision</a:t>
                      </a:r>
                      <a:endParaRPr/>
                    </a:p>
                  </a:txBody>
                  <a:tcPr marL="91425" marR="91425" marT="91425" marB="91425">
                    <a:solidFill>
                      <a:srgbClr val="C9DAF8"/>
                    </a:solidFill>
                  </a:tcPr>
                </a:tc>
                <a:tc>
                  <a:txBody>
                    <a:bodyPr/>
                    <a:lstStyle/>
                    <a:p>
                      <a:pPr marL="0" lvl="0" indent="0" algn="l" rtl="0">
                        <a:spcBef>
                          <a:spcPts val="0"/>
                        </a:spcBef>
                        <a:spcAft>
                          <a:spcPts val="0"/>
                        </a:spcAft>
                        <a:buNone/>
                      </a:pPr>
                      <a:r>
                        <a:rPr lang="en-US"/>
                        <a:t>type I error</a:t>
                      </a:r>
                      <a:endParaRPr/>
                    </a:p>
                  </a:txBody>
                  <a:tcPr marL="91425" marR="91425" marT="91425" marB="91425"/>
                </a:tc>
                <a:extLst>
                  <a:ext uri="{0D108BD9-81ED-4DB2-BD59-A6C34878D82A}">
                    <a16:rowId xmlns:a16="http://schemas.microsoft.com/office/drawing/2014/main" val="10001"/>
                  </a:ext>
                </a:extLst>
              </a:tr>
              <a:tr h="794100">
                <a:tc>
                  <a:txBody>
                    <a:bodyPr/>
                    <a:lstStyle/>
                    <a:p>
                      <a:pPr marL="0" lvl="0" indent="0" algn="l" rtl="0">
                        <a:spcBef>
                          <a:spcPts val="0"/>
                        </a:spcBef>
                        <a:spcAft>
                          <a:spcPts val="0"/>
                        </a:spcAft>
                        <a:buNone/>
                      </a:pPr>
                      <a:r>
                        <a:rPr lang="en-US"/>
                        <a:t>Ho is False</a:t>
                      </a:r>
                      <a:endParaRPr/>
                    </a:p>
                  </a:txBody>
                  <a:tcPr marL="91425" marR="91425" marT="91425" marB="91425"/>
                </a:tc>
                <a:tc>
                  <a:txBody>
                    <a:bodyPr/>
                    <a:lstStyle/>
                    <a:p>
                      <a:pPr marL="0" lvl="0" indent="0" algn="l" rtl="0">
                        <a:spcBef>
                          <a:spcPts val="0"/>
                        </a:spcBef>
                        <a:spcAft>
                          <a:spcPts val="0"/>
                        </a:spcAft>
                        <a:buNone/>
                      </a:pPr>
                      <a:r>
                        <a:rPr lang="en-US"/>
                        <a:t>type II error</a:t>
                      </a:r>
                      <a:endParaRPr/>
                    </a:p>
                  </a:txBody>
                  <a:tcPr marL="91425" marR="91425" marT="91425" marB="91425"/>
                </a:tc>
                <a:tc>
                  <a:txBody>
                    <a:bodyPr/>
                    <a:lstStyle/>
                    <a:p>
                      <a:pPr marL="0" lvl="0" indent="0" algn="l" rtl="0">
                        <a:spcBef>
                          <a:spcPts val="0"/>
                        </a:spcBef>
                        <a:spcAft>
                          <a:spcPts val="0"/>
                        </a:spcAft>
                        <a:buNone/>
                      </a:pPr>
                      <a:r>
                        <a:rPr lang="en-US"/>
                        <a:t>Correct </a:t>
                      </a:r>
                      <a:br>
                        <a:rPr lang="en-US"/>
                      </a:br>
                      <a:r>
                        <a:rPr lang="en-US"/>
                        <a:t>Decision</a:t>
                      </a:r>
                      <a:endParaRPr/>
                    </a:p>
                  </a:txBody>
                  <a:tcPr marL="91425" marR="91425" marT="91425" marB="91425">
                    <a:solidFill>
                      <a:srgbClr val="C9DAF8"/>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p:nvPr/>
        </p:nvSpPr>
        <p:spPr>
          <a:xfrm>
            <a:off x="238200" y="238200"/>
            <a:ext cx="4877100" cy="314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atin typeface="Calibri"/>
                <a:ea typeface="Calibri"/>
                <a:cs typeface="Calibri"/>
                <a:sym typeface="Calibri"/>
              </a:rPr>
              <a:t>Problem1:</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Given: women's heights are normally distributed with the mean 65″ and standard deviation of 3.5″</a:t>
            </a: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Question: What is the probability of finding a random sample of 50 women with a mean height of 70″.</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To answer, let's estimate the </a:t>
            </a:r>
            <a:r>
              <a:rPr lang="en-US" b="1">
                <a:solidFill>
                  <a:srgbClr val="0000FF"/>
                </a:solidFill>
                <a:latin typeface="Calibri"/>
                <a:ea typeface="Calibri"/>
                <a:cs typeface="Calibri"/>
                <a:sym typeface="Calibri"/>
              </a:rPr>
              <a:t>z-score</a:t>
            </a:r>
            <a:r>
              <a:rPr lang="en-US">
                <a:latin typeface="Calibri"/>
                <a:ea typeface="Calibri"/>
                <a:cs typeface="Calibri"/>
                <a:sym typeface="Calibri"/>
              </a:rPr>
              <a:t>:</a:t>
            </a:r>
            <a:endParaRPr>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a:latin typeface="Calibri"/>
                <a:ea typeface="Calibri"/>
                <a:cs typeface="Calibri"/>
                <a:sym typeface="Calibri"/>
              </a:rPr>
              <a:t>z = (x – μ) / (σ / √n) = (70 – 65) / (3.5/√50) = 5 / 0.495 = 10.1</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We know that 99% of values fall within 3</a:t>
            </a:r>
            <a:r>
              <a:rPr lang="en-US">
                <a:solidFill>
                  <a:schemeClr val="dk1"/>
                </a:solidFill>
                <a:latin typeface="Calibri"/>
                <a:ea typeface="Calibri"/>
                <a:cs typeface="Calibri"/>
                <a:sym typeface="Calibri"/>
              </a:rPr>
              <a:t>σ</a:t>
            </a:r>
            <a:r>
              <a:rPr lang="en-US">
                <a:latin typeface="Calibri"/>
                <a:ea typeface="Calibri"/>
                <a:cs typeface="Calibri"/>
                <a:sym typeface="Calibri"/>
              </a:rPr>
              <a:t> (68,  95,  99.7 rule).</a:t>
            </a: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We have z-score = 10, which is much more than 3.</a:t>
            </a: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So the probability </a:t>
            </a:r>
            <a:r>
              <a:rPr lang="en-US">
                <a:solidFill>
                  <a:schemeClr val="dk1"/>
                </a:solidFill>
                <a:latin typeface="Calibri"/>
                <a:ea typeface="Calibri"/>
                <a:cs typeface="Calibri"/>
                <a:sym typeface="Calibri"/>
              </a:rPr>
              <a:t>that any sample of 50 women will have a mean height of 70″ will be much-much less than 1%.</a:t>
            </a:r>
            <a:endParaRPr>
              <a:latin typeface="Calibri"/>
              <a:ea typeface="Calibri"/>
              <a:cs typeface="Calibri"/>
              <a:sym typeface="Calibri"/>
            </a:endParaRPr>
          </a:p>
        </p:txBody>
      </p:sp>
      <p:sp>
        <p:nvSpPr>
          <p:cNvPr id="115" name="Google Shape;115;p16"/>
          <p:cNvSpPr txBox="1"/>
          <p:nvPr/>
        </p:nvSpPr>
        <p:spPr>
          <a:xfrm>
            <a:off x="6067250" y="238200"/>
            <a:ext cx="5707800" cy="594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atin typeface="Calibri"/>
                <a:ea typeface="Calibri"/>
                <a:cs typeface="Calibri"/>
                <a:sym typeface="Calibri"/>
              </a:rPr>
              <a:t>Problem 2:</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Suppose you are testing a claim that the percentage of all women with varicose veins is 25%, and your sample of 100 women had 20% with varicose veins. </a:t>
            </a: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Then the sample proportion p=0.20. </a:t>
            </a: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The standard error for your sample percentage is the square root of p(1-p)/n which equals 0.04 or 4%. </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You find the test statistic by taking the proportion in the sample with varicose veins, 0.20, subtracting the claimed proportion of all women with varicose veins, 0.25, and then dividing the result by the standard error, 0.04. </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These calculations give you a test statistic (standard score) of –0.05 divided by 0.04 = –1.25. </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a:latin typeface="Calibri"/>
                <a:ea typeface="Calibri"/>
                <a:cs typeface="Calibri"/>
                <a:sym typeface="Calibri"/>
              </a:rPr>
              <a:t>This tells you that your sample results and the population claim in H0 are 1.25 standard errors apart; in particular, your sample results are 1.25 standard errors below the claim.</a:t>
            </a:r>
            <a:endParaRPr>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When testing H0: p = 0.25 versus Ha: p &lt; 0.25, you find that the p-value of -1.25 by finding the probability that Z is less than -1.25. When you look this number up on the </a:t>
            </a:r>
            <a:r>
              <a:rPr lang="en-US" b="1">
                <a:solidFill>
                  <a:srgbClr val="0000FF"/>
                </a:solidFill>
                <a:latin typeface="Calibri"/>
                <a:ea typeface="Calibri"/>
                <a:cs typeface="Calibri"/>
                <a:sym typeface="Calibri"/>
              </a:rPr>
              <a:t>Z-table</a:t>
            </a:r>
            <a:r>
              <a:rPr lang="en-US">
                <a:latin typeface="Calibri"/>
                <a:ea typeface="Calibri"/>
                <a:cs typeface="Calibri"/>
                <a:sym typeface="Calibri"/>
              </a:rPr>
              <a:t>, you find a probability of 0.1056 of Z being less than this value.</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Note: A </a:t>
            </a:r>
            <a:r>
              <a:rPr lang="en-US" b="1">
                <a:solidFill>
                  <a:srgbClr val="0000FF"/>
                </a:solidFill>
                <a:latin typeface="Calibri"/>
                <a:ea typeface="Calibri"/>
                <a:cs typeface="Calibri"/>
                <a:sym typeface="Calibri"/>
              </a:rPr>
              <a:t>Z-table</a:t>
            </a:r>
            <a:r>
              <a:rPr lang="en-US">
                <a:latin typeface="Calibri"/>
                <a:ea typeface="Calibri"/>
                <a:cs typeface="Calibri"/>
                <a:sym typeface="Calibri"/>
              </a:rPr>
              <a:t> is simply a table of values of the </a:t>
            </a:r>
            <a:r>
              <a:rPr lang="en-US">
                <a:solidFill>
                  <a:schemeClr val="dk1"/>
                </a:solidFill>
                <a:latin typeface="Calibri"/>
                <a:ea typeface="Calibri"/>
                <a:cs typeface="Calibri"/>
                <a:sym typeface="Calibri"/>
              </a:rPr>
              <a:t>cumulative distribution function of the normal distribution.</a:t>
            </a:r>
            <a:endParaRPr>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7"/>
          <p:cNvSpPr txBox="1"/>
          <p:nvPr/>
        </p:nvSpPr>
        <p:spPr>
          <a:xfrm>
            <a:off x="104925" y="105600"/>
            <a:ext cx="6646500" cy="659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a:latin typeface="Calibri"/>
                <a:ea typeface="Calibri"/>
                <a:cs typeface="Calibri"/>
                <a:sym typeface="Calibri"/>
              </a:rPr>
              <a:t>Chi-Square  </a:t>
            </a:r>
            <a:r>
              <a:rPr lang="en-US" sz="3000" b="1" i="1">
                <a:solidFill>
                  <a:srgbClr val="222222"/>
                </a:solidFill>
                <a:highlight>
                  <a:srgbClr val="FFFFFF"/>
                </a:highlight>
                <a:latin typeface="Times New Roman"/>
                <a:ea typeface="Times New Roman"/>
                <a:cs typeface="Times New Roman"/>
                <a:sym typeface="Times New Roman"/>
              </a:rPr>
              <a:t>χ</a:t>
            </a:r>
            <a:r>
              <a:rPr lang="en-US" sz="3000" b="1" baseline="30000">
                <a:solidFill>
                  <a:srgbClr val="222222"/>
                </a:solidFill>
                <a:highlight>
                  <a:srgbClr val="FFFFFF"/>
                </a:highlight>
                <a:latin typeface="Times New Roman"/>
                <a:ea typeface="Times New Roman"/>
                <a:cs typeface="Times New Roman"/>
                <a:sym typeface="Times New Roman"/>
              </a:rPr>
              <a:t>2</a:t>
            </a:r>
            <a:r>
              <a:rPr lang="en-US" sz="3000" b="1">
                <a:latin typeface="Calibri"/>
                <a:ea typeface="Calibri"/>
                <a:cs typeface="Calibri"/>
                <a:sym typeface="Calibri"/>
              </a:rPr>
              <a:t>  Goodness of Fit Test</a:t>
            </a:r>
            <a:endParaRPr sz="3000" b="1">
              <a:latin typeface="Calibri"/>
              <a:ea typeface="Calibri"/>
              <a:cs typeface="Calibri"/>
              <a:sym typeface="Calibri"/>
            </a:endParaRPr>
          </a:p>
          <a:p>
            <a:pPr marL="0" lvl="0" indent="0" algn="l" rtl="0">
              <a:spcBef>
                <a:spcPts val="0"/>
              </a:spcBef>
              <a:spcAft>
                <a:spcPts val="0"/>
              </a:spcAft>
              <a:buNone/>
            </a:pPr>
            <a:endParaRPr sz="1800">
              <a:latin typeface="Calibri"/>
              <a:ea typeface="Calibri"/>
              <a:cs typeface="Calibri"/>
              <a:sym typeface="Calibri"/>
            </a:endParaRPr>
          </a:p>
          <a:p>
            <a:pPr marL="0" lvl="0" indent="0" algn="l" rtl="0">
              <a:spcBef>
                <a:spcPts val="0"/>
              </a:spcBef>
              <a:spcAft>
                <a:spcPts val="0"/>
              </a:spcAft>
              <a:buNone/>
            </a:pPr>
            <a:r>
              <a:rPr lang="en-US" sz="1800" u="sng">
                <a:solidFill>
                  <a:schemeClr val="hlink"/>
                </a:solidFill>
                <a:hlinkClick r:id="rId3"/>
              </a:rPr>
              <a:t>https://stattrek.com/chi-square-test/goodness-of-fit.aspx</a:t>
            </a:r>
            <a:r>
              <a:rPr lang="en-US" sz="1800">
                <a:latin typeface="Calibri"/>
                <a:ea typeface="Calibri"/>
                <a:cs typeface="Calibri"/>
                <a:sym typeface="Calibri"/>
              </a:rPr>
              <a:t> </a:t>
            </a:r>
            <a:endParaRPr sz="1800">
              <a:latin typeface="Calibri"/>
              <a:ea typeface="Calibri"/>
              <a:cs typeface="Calibri"/>
              <a:sym typeface="Calibri"/>
            </a:endParaRPr>
          </a:p>
          <a:p>
            <a:pPr marL="0" lvl="0" indent="0" algn="l" rtl="0">
              <a:spcBef>
                <a:spcPts val="0"/>
              </a:spcBef>
              <a:spcAft>
                <a:spcPts val="0"/>
              </a:spcAft>
              <a:buNone/>
            </a:pPr>
            <a:endParaRPr sz="18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2400">
                <a:latin typeface="Calibri"/>
                <a:ea typeface="Calibri"/>
                <a:cs typeface="Calibri"/>
                <a:sym typeface="Calibri"/>
              </a:rPr>
              <a:t>Pearson, 1900</a:t>
            </a:r>
            <a:endParaRPr sz="24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2400">
                <a:latin typeface="Calibri"/>
                <a:ea typeface="Calibri"/>
                <a:cs typeface="Calibri"/>
                <a:sym typeface="Calibri"/>
              </a:rPr>
              <a:t>Suppose we have k mutually-exclusive classes</a:t>
            </a:r>
            <a:endParaRPr sz="24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2400">
                <a:latin typeface="Calibri"/>
                <a:ea typeface="Calibri"/>
                <a:cs typeface="Calibri"/>
                <a:sym typeface="Calibri"/>
              </a:rPr>
              <a:t>N - total number of all observations,</a:t>
            </a:r>
            <a:endParaRPr sz="24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2400">
                <a:latin typeface="Calibri"/>
                <a:ea typeface="Calibri"/>
                <a:cs typeface="Calibri"/>
                <a:sym typeface="Calibri"/>
              </a:rPr>
              <a:t>n</a:t>
            </a:r>
            <a:r>
              <a:rPr lang="en-US" sz="2400" baseline="-25000">
                <a:latin typeface="Calibri"/>
                <a:ea typeface="Calibri"/>
                <a:cs typeface="Calibri"/>
                <a:sym typeface="Calibri"/>
              </a:rPr>
              <a:t>i</a:t>
            </a:r>
            <a:r>
              <a:rPr lang="en-US" sz="2400">
                <a:latin typeface="Calibri"/>
                <a:ea typeface="Calibri"/>
                <a:cs typeface="Calibri"/>
                <a:sym typeface="Calibri"/>
              </a:rPr>
              <a:t> (i=1,2,...k) - number of observations for each class</a:t>
            </a:r>
            <a:endParaRPr sz="24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2400">
                <a:latin typeface="Calibri"/>
                <a:ea typeface="Calibri"/>
                <a:cs typeface="Calibri"/>
                <a:sym typeface="Calibri"/>
              </a:rPr>
              <a:t>p</a:t>
            </a:r>
            <a:r>
              <a:rPr lang="en-US" sz="2400" baseline="-25000">
                <a:latin typeface="Calibri"/>
                <a:ea typeface="Calibri"/>
                <a:cs typeface="Calibri"/>
                <a:sym typeface="Calibri"/>
              </a:rPr>
              <a:t>i</a:t>
            </a:r>
            <a:r>
              <a:rPr lang="en-US" sz="2400">
                <a:latin typeface="Calibri"/>
                <a:ea typeface="Calibri"/>
                <a:cs typeface="Calibri"/>
                <a:sym typeface="Calibri"/>
              </a:rPr>
              <a:t> - hypothetical probability of each class (null hypothesis). Then sum(p</a:t>
            </a:r>
            <a:r>
              <a:rPr lang="en-US" sz="2400" baseline="-25000">
                <a:latin typeface="Calibri"/>
                <a:ea typeface="Calibri"/>
                <a:cs typeface="Calibri"/>
                <a:sym typeface="Calibri"/>
              </a:rPr>
              <a:t>i</a:t>
            </a:r>
            <a:r>
              <a:rPr lang="en-US" sz="2400">
                <a:latin typeface="Calibri"/>
                <a:ea typeface="Calibri"/>
                <a:cs typeface="Calibri"/>
                <a:sym typeface="Calibri"/>
              </a:rPr>
              <a:t>) = 1</a:t>
            </a:r>
            <a:endParaRPr sz="24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2400">
                <a:latin typeface="Calibri"/>
                <a:ea typeface="Calibri"/>
                <a:cs typeface="Calibri"/>
                <a:sym typeface="Calibri"/>
              </a:rPr>
              <a:t>Then for each class:</a:t>
            </a:r>
            <a:endParaRPr sz="24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2400">
                <a:latin typeface="Calibri"/>
                <a:ea typeface="Calibri"/>
                <a:cs typeface="Calibri"/>
                <a:sym typeface="Calibri"/>
              </a:rPr>
              <a:t>   expected value of observations  m</a:t>
            </a:r>
            <a:r>
              <a:rPr lang="en-US" sz="2400" baseline="-25000">
                <a:latin typeface="Calibri"/>
                <a:ea typeface="Calibri"/>
                <a:cs typeface="Calibri"/>
                <a:sym typeface="Calibri"/>
              </a:rPr>
              <a:t>i</a:t>
            </a:r>
            <a:r>
              <a:rPr lang="en-US" sz="2400">
                <a:latin typeface="Calibri"/>
                <a:ea typeface="Calibri"/>
                <a:cs typeface="Calibri"/>
                <a:sym typeface="Calibri"/>
              </a:rPr>
              <a:t>=N*p</a:t>
            </a:r>
            <a:r>
              <a:rPr lang="en-US" sz="2400" baseline="-25000">
                <a:latin typeface="Calibri"/>
                <a:ea typeface="Calibri"/>
                <a:cs typeface="Calibri"/>
                <a:sym typeface="Calibri"/>
              </a:rPr>
              <a:t>i</a:t>
            </a:r>
            <a:endParaRPr sz="2400" baseline="-250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2400">
                <a:latin typeface="Calibri"/>
                <a:ea typeface="Calibri"/>
                <a:cs typeface="Calibri"/>
                <a:sym typeface="Calibri"/>
              </a:rPr>
              <a:t>   sum(m</a:t>
            </a:r>
            <a:r>
              <a:rPr lang="en-US" sz="2400" baseline="-25000">
                <a:latin typeface="Calibri"/>
                <a:ea typeface="Calibri"/>
                <a:cs typeface="Calibri"/>
                <a:sym typeface="Calibri"/>
              </a:rPr>
              <a:t>i</a:t>
            </a:r>
            <a:r>
              <a:rPr lang="en-US" sz="2400">
                <a:latin typeface="Calibri"/>
                <a:ea typeface="Calibri"/>
                <a:cs typeface="Calibri"/>
                <a:sym typeface="Calibri"/>
              </a:rPr>
              <a:t>) = N*sum(p</a:t>
            </a:r>
            <a:r>
              <a:rPr lang="en-US" sz="2400" baseline="-25000">
                <a:latin typeface="Calibri"/>
                <a:ea typeface="Calibri"/>
                <a:cs typeface="Calibri"/>
                <a:sym typeface="Calibri"/>
              </a:rPr>
              <a:t>i</a:t>
            </a:r>
            <a:r>
              <a:rPr lang="en-US" sz="2400">
                <a:latin typeface="Calibri"/>
                <a:ea typeface="Calibri"/>
                <a:cs typeface="Calibri"/>
                <a:sym typeface="Calibri"/>
              </a:rPr>
              <a:t>) = sum(n</a:t>
            </a:r>
            <a:r>
              <a:rPr lang="en-US" sz="2400" baseline="-25000">
                <a:latin typeface="Calibri"/>
                <a:ea typeface="Calibri"/>
                <a:cs typeface="Calibri"/>
                <a:sym typeface="Calibri"/>
              </a:rPr>
              <a:t>i</a:t>
            </a:r>
            <a:r>
              <a:rPr lang="en-US" sz="2400">
                <a:latin typeface="Calibri"/>
                <a:ea typeface="Calibri"/>
                <a:cs typeface="Calibri"/>
                <a:sym typeface="Calibri"/>
              </a:rPr>
              <a:t>)</a:t>
            </a:r>
            <a:endParaRPr sz="24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24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2400">
                <a:latin typeface="Calibri"/>
                <a:ea typeface="Calibri"/>
                <a:cs typeface="Calibri"/>
                <a:sym typeface="Calibri"/>
              </a:rPr>
              <a:t>Pearson has proposed that as N gets bigger</a:t>
            </a:r>
            <a:endParaRPr sz="24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2400">
                <a:latin typeface="Calibri"/>
                <a:ea typeface="Calibri"/>
                <a:cs typeface="Calibri"/>
                <a:sym typeface="Calibri"/>
              </a:rPr>
              <a:t>X</a:t>
            </a:r>
            <a:r>
              <a:rPr lang="en-US" sz="2400" baseline="30000">
                <a:latin typeface="Calibri"/>
                <a:ea typeface="Calibri"/>
                <a:cs typeface="Calibri"/>
                <a:sym typeface="Calibri"/>
              </a:rPr>
              <a:t>2</a:t>
            </a:r>
            <a:r>
              <a:rPr lang="en-US" sz="2400">
                <a:latin typeface="Calibri"/>
                <a:ea typeface="Calibri"/>
                <a:cs typeface="Calibri"/>
                <a:sym typeface="Calibri"/>
              </a:rPr>
              <a:t> = sum((n</a:t>
            </a:r>
            <a:r>
              <a:rPr lang="en-US" sz="2400" baseline="-25000">
                <a:latin typeface="Calibri"/>
                <a:ea typeface="Calibri"/>
                <a:cs typeface="Calibri"/>
                <a:sym typeface="Calibri"/>
              </a:rPr>
              <a:t>i</a:t>
            </a:r>
            <a:r>
              <a:rPr lang="en-US" sz="2400">
                <a:latin typeface="Calibri"/>
                <a:ea typeface="Calibri"/>
                <a:cs typeface="Calibri"/>
                <a:sym typeface="Calibri"/>
              </a:rPr>
              <a:t>-m</a:t>
            </a:r>
            <a:r>
              <a:rPr lang="en-US" sz="2400" baseline="-25000">
                <a:latin typeface="Calibri"/>
                <a:ea typeface="Calibri"/>
                <a:cs typeface="Calibri"/>
                <a:sym typeface="Calibri"/>
              </a:rPr>
              <a:t>i</a:t>
            </a:r>
            <a:r>
              <a:rPr lang="en-US" sz="2400">
                <a:latin typeface="Calibri"/>
                <a:ea typeface="Calibri"/>
                <a:cs typeface="Calibri"/>
                <a:sym typeface="Calibri"/>
              </a:rPr>
              <a:t>)</a:t>
            </a:r>
            <a:r>
              <a:rPr lang="en-US" sz="2400" baseline="30000">
                <a:latin typeface="Calibri"/>
                <a:ea typeface="Calibri"/>
                <a:cs typeface="Calibri"/>
                <a:sym typeface="Calibri"/>
              </a:rPr>
              <a:t>2</a:t>
            </a:r>
            <a:r>
              <a:rPr lang="en-US" sz="2400">
                <a:latin typeface="Calibri"/>
                <a:ea typeface="Calibri"/>
                <a:cs typeface="Calibri"/>
                <a:sym typeface="Calibri"/>
              </a:rPr>
              <a:t>/m</a:t>
            </a:r>
            <a:r>
              <a:rPr lang="en-US" sz="2400" baseline="-25000">
                <a:latin typeface="Calibri"/>
                <a:ea typeface="Calibri"/>
                <a:cs typeface="Calibri"/>
                <a:sym typeface="Calibri"/>
              </a:rPr>
              <a:t>i</a:t>
            </a:r>
            <a:r>
              <a:rPr lang="en-US" sz="2400">
                <a:latin typeface="Calibri"/>
                <a:ea typeface="Calibri"/>
                <a:cs typeface="Calibri"/>
                <a:sym typeface="Calibri"/>
              </a:rPr>
              <a:t>) --&gt; </a:t>
            </a:r>
            <a:r>
              <a:rPr lang="en-US" sz="2400" i="1">
                <a:solidFill>
                  <a:srgbClr val="222222"/>
                </a:solidFill>
                <a:highlight>
                  <a:srgbClr val="FFFFFF"/>
                </a:highlight>
                <a:latin typeface="Times New Roman"/>
                <a:ea typeface="Times New Roman"/>
                <a:cs typeface="Times New Roman"/>
                <a:sym typeface="Times New Roman"/>
              </a:rPr>
              <a:t>χ</a:t>
            </a:r>
            <a:r>
              <a:rPr lang="en-US" sz="2400" baseline="30000">
                <a:solidFill>
                  <a:srgbClr val="222222"/>
                </a:solidFill>
                <a:highlight>
                  <a:srgbClr val="FFFFFF"/>
                </a:highlight>
                <a:latin typeface="Times New Roman"/>
                <a:ea typeface="Times New Roman"/>
                <a:cs typeface="Times New Roman"/>
                <a:sym typeface="Times New Roman"/>
              </a:rPr>
              <a:t>2</a:t>
            </a:r>
            <a:r>
              <a:rPr lang="en-US" sz="2400">
                <a:latin typeface="Calibri"/>
                <a:ea typeface="Calibri"/>
                <a:cs typeface="Calibri"/>
                <a:sym typeface="Calibri"/>
              </a:rPr>
              <a:t> distribution </a:t>
            </a:r>
            <a:endParaRPr sz="24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2400">
                <a:latin typeface="Calibri"/>
                <a:ea typeface="Calibri"/>
                <a:cs typeface="Calibri"/>
                <a:sym typeface="Calibri"/>
              </a:rPr>
              <a:t>                                               with (k − 1) degrees</a:t>
            </a:r>
            <a:endParaRPr sz="24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2400">
                <a:latin typeface="Calibri"/>
                <a:ea typeface="Calibri"/>
                <a:cs typeface="Calibri"/>
                <a:sym typeface="Calibri"/>
              </a:rPr>
              <a:t>                                               of freedom </a:t>
            </a:r>
            <a:endParaRPr sz="24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latin typeface="Calibri"/>
              <a:ea typeface="Calibri"/>
              <a:cs typeface="Calibri"/>
              <a:sym typeface="Calibri"/>
            </a:endParaRPr>
          </a:p>
          <a:p>
            <a:pPr marL="0" lvl="0" indent="0" algn="l" rtl="0">
              <a:spcBef>
                <a:spcPts val="0"/>
              </a:spcBef>
              <a:spcAft>
                <a:spcPts val="0"/>
              </a:spcAft>
              <a:buNone/>
            </a:pPr>
            <a:endParaRPr sz="1800">
              <a:latin typeface="Calibri"/>
              <a:ea typeface="Calibri"/>
              <a:cs typeface="Calibri"/>
              <a:sym typeface="Calibri"/>
            </a:endParaRPr>
          </a:p>
        </p:txBody>
      </p:sp>
      <p:pic>
        <p:nvPicPr>
          <p:cNvPr id="122" name="Google Shape;122;p1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7025638" y="882850"/>
            <a:ext cx="5135778" cy="3928092"/>
          </a:xfrm>
          <a:prstGeom prst="rect">
            <a:avLst/>
          </a:prstGeom>
          <a:noFill/>
          <a:ln>
            <a:noFill/>
          </a:ln>
        </p:spPr>
      </p:pic>
      <p:sp>
        <p:nvSpPr>
          <p:cNvPr id="123" name="Google Shape;123;p17"/>
          <p:cNvSpPr txBox="1"/>
          <p:nvPr/>
        </p:nvSpPr>
        <p:spPr>
          <a:xfrm>
            <a:off x="6926625" y="0"/>
            <a:ext cx="5257800" cy="97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latin typeface="Calibri"/>
                <a:ea typeface="Calibri"/>
                <a:cs typeface="Calibri"/>
                <a:sym typeface="Calibri"/>
              </a:rPr>
              <a:t>Chi-squared distribution, showing χ2 on the x-axis and p-value on the y-axis.</a:t>
            </a:r>
            <a:endParaRPr sz="2400">
              <a:latin typeface="Calibri"/>
              <a:ea typeface="Calibri"/>
              <a:cs typeface="Calibri"/>
              <a:sym typeface="Calibri"/>
            </a:endParaRPr>
          </a:p>
        </p:txBody>
      </p:sp>
      <p:sp>
        <p:nvSpPr>
          <p:cNvPr id="124" name="Google Shape;124;p17"/>
          <p:cNvSpPr txBox="1"/>
          <p:nvPr/>
        </p:nvSpPr>
        <p:spPr>
          <a:xfrm>
            <a:off x="6797050" y="4961575"/>
            <a:ext cx="5394900" cy="1896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latin typeface="Calibri"/>
                <a:ea typeface="Calibri"/>
                <a:cs typeface="Calibri"/>
                <a:sym typeface="Calibri"/>
              </a:rPr>
              <a:t>In practice we calculate value </a:t>
            </a:r>
            <a:r>
              <a:rPr lang="en-US" sz="2400">
                <a:solidFill>
                  <a:schemeClr val="dk1"/>
                </a:solidFill>
                <a:latin typeface="Calibri"/>
                <a:ea typeface="Calibri"/>
                <a:cs typeface="Calibri"/>
                <a:sym typeface="Calibri"/>
              </a:rPr>
              <a:t>X</a:t>
            </a:r>
            <a:r>
              <a:rPr lang="en-US" sz="2400" baseline="30000">
                <a:solidFill>
                  <a:schemeClr val="dk1"/>
                </a:solidFill>
                <a:latin typeface="Calibri"/>
                <a:ea typeface="Calibri"/>
                <a:cs typeface="Calibri"/>
                <a:sym typeface="Calibri"/>
              </a:rPr>
              <a:t>2</a:t>
            </a:r>
            <a:r>
              <a:rPr lang="en-US" sz="2400">
                <a:solidFill>
                  <a:schemeClr val="dk1"/>
                </a:solidFill>
                <a:latin typeface="Calibri"/>
                <a:ea typeface="Calibri"/>
                <a:cs typeface="Calibri"/>
                <a:sym typeface="Calibri"/>
              </a:rPr>
              <a:t> from our data, then use </a:t>
            </a:r>
            <a:r>
              <a:rPr lang="en-US" sz="2400" i="1">
                <a:solidFill>
                  <a:srgbClr val="222222"/>
                </a:solidFill>
                <a:highlight>
                  <a:schemeClr val="lt1"/>
                </a:highlight>
                <a:latin typeface="Times New Roman"/>
                <a:ea typeface="Times New Roman"/>
                <a:cs typeface="Times New Roman"/>
                <a:sym typeface="Times New Roman"/>
              </a:rPr>
              <a:t>χ</a:t>
            </a:r>
            <a:r>
              <a:rPr lang="en-US" sz="2400" baseline="30000">
                <a:solidFill>
                  <a:srgbClr val="222222"/>
                </a:solidFill>
                <a:highlight>
                  <a:schemeClr val="lt1"/>
                </a:highlight>
                <a:latin typeface="Times New Roman"/>
                <a:ea typeface="Times New Roman"/>
                <a:cs typeface="Times New Roman"/>
                <a:sym typeface="Times New Roman"/>
              </a:rPr>
              <a:t>2</a:t>
            </a:r>
            <a:r>
              <a:rPr lang="en-US" sz="2400">
                <a:solidFill>
                  <a:schemeClr val="dk1"/>
                </a:solidFill>
                <a:latin typeface="Calibri"/>
                <a:ea typeface="Calibri"/>
                <a:cs typeface="Calibri"/>
                <a:sym typeface="Calibri"/>
              </a:rPr>
              <a:t> distribution to estimate the P-value (the </a:t>
            </a:r>
            <a:r>
              <a:rPr lang="en-US" sz="2400">
                <a:latin typeface="Calibri"/>
                <a:ea typeface="Calibri"/>
                <a:cs typeface="Calibri"/>
                <a:sym typeface="Calibri"/>
              </a:rPr>
              <a:t>probability that a chi-square statistic is more extreme than </a:t>
            </a:r>
            <a:r>
              <a:rPr lang="en-US" sz="2400">
                <a:solidFill>
                  <a:schemeClr val="dk1"/>
                </a:solidFill>
                <a:latin typeface="Calibri"/>
                <a:ea typeface="Calibri"/>
                <a:cs typeface="Calibri"/>
                <a:sym typeface="Calibri"/>
              </a:rPr>
              <a:t>X</a:t>
            </a:r>
            <a:r>
              <a:rPr lang="en-US" sz="2400" baseline="30000">
                <a:solidFill>
                  <a:schemeClr val="dk1"/>
                </a:solidFill>
                <a:latin typeface="Calibri"/>
                <a:ea typeface="Calibri"/>
                <a:cs typeface="Calibri"/>
                <a:sym typeface="Calibri"/>
              </a:rPr>
              <a:t>2</a:t>
            </a:r>
            <a:r>
              <a:rPr lang="en-US" sz="2400">
                <a:solidFill>
                  <a:schemeClr val="dk1"/>
                </a:solidFill>
                <a:latin typeface="Calibri"/>
                <a:ea typeface="Calibri"/>
                <a:cs typeface="Calibri"/>
                <a:sym typeface="Calibri"/>
              </a:rPr>
              <a:t> value that we have.</a:t>
            </a:r>
            <a:endParaRPr sz="2400">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8"/>
          <p:cNvSpPr txBox="1"/>
          <p:nvPr/>
        </p:nvSpPr>
        <p:spPr>
          <a:xfrm>
            <a:off x="76200" y="76200"/>
            <a:ext cx="12115800" cy="678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dirty="0">
                <a:latin typeface="Calibri"/>
                <a:ea typeface="Calibri"/>
                <a:cs typeface="Calibri"/>
                <a:sym typeface="Calibri"/>
              </a:rPr>
              <a:t>Example of X2 calculation</a:t>
            </a:r>
            <a:r>
              <a:rPr lang="en-US" sz="1800" dirty="0">
                <a:latin typeface="Calibri"/>
                <a:ea typeface="Calibri"/>
                <a:cs typeface="Calibri"/>
                <a:sym typeface="Calibri"/>
              </a:rPr>
              <a:t>   ( from </a:t>
            </a:r>
            <a:r>
              <a:rPr lang="en-US" sz="1800" u="sng" dirty="0">
                <a:solidFill>
                  <a:schemeClr val="hlink"/>
                </a:solidFill>
                <a:hlinkClick r:id="rId3"/>
              </a:rPr>
              <a:t>https://stattrek.com/chi-square-test/goodness-of-fit.aspx</a:t>
            </a:r>
            <a:r>
              <a:rPr lang="en-US" sz="1800" dirty="0">
                <a:latin typeface="Calibri"/>
                <a:ea typeface="Calibri"/>
                <a:cs typeface="Calibri"/>
                <a:sym typeface="Calibri"/>
              </a:rPr>
              <a:t> )</a:t>
            </a:r>
            <a:endParaRPr sz="18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br>
              <a:rPr lang="en-US" sz="1800" dirty="0">
                <a:latin typeface="Calibri"/>
                <a:ea typeface="Calibri"/>
                <a:cs typeface="Calibri"/>
                <a:sym typeface="Calibri"/>
              </a:rPr>
            </a:br>
            <a:r>
              <a:rPr lang="en-US" sz="1800" b="1" u="sng" dirty="0">
                <a:latin typeface="Calibri"/>
                <a:ea typeface="Calibri"/>
                <a:cs typeface="Calibri"/>
                <a:sym typeface="Calibri"/>
              </a:rPr>
              <a:t>Problem:</a:t>
            </a:r>
            <a:endParaRPr sz="1800" b="1" u="sng" dirty="0">
              <a:latin typeface="Calibri"/>
              <a:ea typeface="Calibri"/>
              <a:cs typeface="Calibri"/>
              <a:sym typeface="Calibri"/>
            </a:endParaRPr>
          </a:p>
          <a:p>
            <a:pPr marL="0" lvl="0" indent="0" algn="l" rtl="0">
              <a:spcBef>
                <a:spcPts val="0"/>
              </a:spcBef>
              <a:spcAft>
                <a:spcPts val="0"/>
              </a:spcAft>
              <a:buNone/>
            </a:pPr>
            <a:r>
              <a:rPr lang="en-US" sz="1800" dirty="0">
                <a:latin typeface="Calibri"/>
                <a:ea typeface="Calibri"/>
                <a:cs typeface="Calibri"/>
                <a:sym typeface="Calibri"/>
              </a:rPr>
              <a:t>We have 3 types of cards (T1,T2,T3) with theoretical frequency of (30%, 60%, 10%).</a:t>
            </a:r>
            <a:endParaRPr sz="1800" dirty="0">
              <a:latin typeface="Calibri"/>
              <a:ea typeface="Calibri"/>
              <a:cs typeface="Calibri"/>
              <a:sym typeface="Calibri"/>
            </a:endParaRPr>
          </a:p>
          <a:p>
            <a:pPr marL="0" lvl="0" indent="0" algn="l" rtl="0">
              <a:spcBef>
                <a:spcPts val="0"/>
              </a:spcBef>
              <a:spcAft>
                <a:spcPts val="0"/>
              </a:spcAft>
              <a:buNone/>
            </a:pPr>
            <a:r>
              <a:rPr lang="en-US" sz="1800" dirty="0">
                <a:latin typeface="Calibri"/>
                <a:ea typeface="Calibri"/>
                <a:cs typeface="Calibri"/>
                <a:sym typeface="Calibri"/>
              </a:rPr>
              <a:t>We have a random sample of 100 cards with counts (50, 45, 5).</a:t>
            </a:r>
            <a:endParaRPr sz="18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800" dirty="0">
                <a:latin typeface="Calibri"/>
                <a:ea typeface="Calibri"/>
                <a:cs typeface="Calibri"/>
                <a:sym typeface="Calibri"/>
              </a:rPr>
              <a:t>Is this sample consistent with theory? Use a 0.05 level of significance.</a:t>
            </a:r>
            <a:endParaRPr sz="18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800" b="1" u="sng" dirty="0">
                <a:latin typeface="Calibri"/>
                <a:ea typeface="Calibri"/>
                <a:cs typeface="Calibri"/>
                <a:sym typeface="Calibri"/>
              </a:rPr>
              <a:t>Solution:</a:t>
            </a:r>
            <a:endParaRPr sz="1800" b="1" u="sng" dirty="0">
              <a:latin typeface="Calibri"/>
              <a:ea typeface="Calibri"/>
              <a:cs typeface="Calibri"/>
              <a:sym typeface="Calibri"/>
            </a:endParaRPr>
          </a:p>
          <a:p>
            <a:pPr marL="0" lvl="0" indent="0" algn="l" rtl="0">
              <a:spcBef>
                <a:spcPts val="0"/>
              </a:spcBef>
              <a:spcAft>
                <a:spcPts val="0"/>
              </a:spcAft>
              <a:buNone/>
            </a:pPr>
            <a:r>
              <a:rPr lang="en-US" sz="1800" dirty="0">
                <a:latin typeface="Calibri"/>
                <a:ea typeface="Calibri"/>
                <a:cs typeface="Calibri"/>
                <a:sym typeface="Calibri"/>
              </a:rPr>
              <a:t>Null hypothesis: The proportions are </a:t>
            </a:r>
            <a:r>
              <a:rPr lang="en-US" sz="1800" dirty="0">
                <a:solidFill>
                  <a:schemeClr val="dk1"/>
                </a:solidFill>
                <a:latin typeface="Calibri"/>
                <a:ea typeface="Calibri"/>
                <a:cs typeface="Calibri"/>
                <a:sym typeface="Calibri"/>
              </a:rPr>
              <a:t>(30%, 60%, 10%)</a:t>
            </a:r>
            <a:endParaRPr sz="1800" dirty="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800" dirty="0">
                <a:latin typeface="Calibri"/>
                <a:ea typeface="Calibri"/>
                <a:cs typeface="Calibri"/>
                <a:sym typeface="Calibri"/>
              </a:rPr>
              <a:t>Alternative hypothesis: At least one of the proportions in the null hypothesis is false.</a:t>
            </a:r>
            <a:endParaRPr sz="1800" dirty="0">
              <a:latin typeface="Calibri"/>
              <a:ea typeface="Calibri"/>
              <a:cs typeface="Calibri"/>
              <a:sym typeface="Calibri"/>
            </a:endParaRPr>
          </a:p>
          <a:p>
            <a:pPr marL="0" lvl="0" indent="0" algn="l" rtl="0">
              <a:spcBef>
                <a:spcPts val="0"/>
              </a:spcBef>
              <a:spcAft>
                <a:spcPts val="0"/>
              </a:spcAft>
              <a:buNone/>
            </a:pPr>
            <a:r>
              <a:rPr lang="en-US" sz="1800" dirty="0">
                <a:latin typeface="Calibri"/>
                <a:ea typeface="Calibri"/>
                <a:cs typeface="Calibri"/>
                <a:sym typeface="Calibri"/>
              </a:rPr>
              <a:t>Degrees of Freedom DF = k-1 = 3-1 = 2</a:t>
            </a:r>
            <a:endParaRPr sz="1800" dirty="0">
              <a:latin typeface="Calibri"/>
              <a:ea typeface="Calibri"/>
              <a:cs typeface="Calibri"/>
              <a:sym typeface="Calibri"/>
            </a:endParaRPr>
          </a:p>
          <a:p>
            <a:pPr marL="0" lvl="0" indent="0" algn="l" rtl="0">
              <a:spcBef>
                <a:spcPts val="0"/>
              </a:spcBef>
              <a:spcAft>
                <a:spcPts val="0"/>
              </a:spcAft>
              <a:buNone/>
            </a:pPr>
            <a:r>
              <a:rPr lang="en-US" sz="1800" dirty="0">
                <a:latin typeface="Calibri"/>
                <a:ea typeface="Calibri"/>
                <a:cs typeface="Calibri"/>
                <a:sym typeface="Calibri"/>
              </a:rPr>
              <a:t>Expected values:</a:t>
            </a:r>
            <a:endParaRPr sz="1800" dirty="0">
              <a:latin typeface="Calibri"/>
              <a:ea typeface="Calibri"/>
              <a:cs typeface="Calibri"/>
              <a:sym typeface="Calibri"/>
            </a:endParaRPr>
          </a:p>
          <a:p>
            <a:pPr marL="0" lvl="0" indent="0" algn="l" rtl="0">
              <a:spcBef>
                <a:spcPts val="0"/>
              </a:spcBef>
              <a:spcAft>
                <a:spcPts val="0"/>
              </a:spcAft>
              <a:buNone/>
            </a:pPr>
            <a:r>
              <a:rPr lang="en-US" sz="1800" dirty="0">
                <a:latin typeface="Calibri"/>
                <a:ea typeface="Calibri"/>
                <a:cs typeface="Calibri"/>
                <a:sym typeface="Calibri"/>
              </a:rPr>
              <a:t>E</a:t>
            </a:r>
            <a:r>
              <a:rPr lang="en-US" sz="1800" baseline="-25000" dirty="0">
                <a:latin typeface="Calibri"/>
                <a:ea typeface="Calibri"/>
                <a:cs typeface="Calibri"/>
                <a:sym typeface="Calibri"/>
              </a:rPr>
              <a:t>1</a:t>
            </a:r>
            <a:r>
              <a:rPr lang="en-US" sz="1800" dirty="0">
                <a:latin typeface="Calibri"/>
                <a:ea typeface="Calibri"/>
                <a:cs typeface="Calibri"/>
                <a:sym typeface="Calibri"/>
              </a:rPr>
              <a:t> = 100*0.3 = 30, E</a:t>
            </a:r>
            <a:r>
              <a:rPr lang="en-US" sz="1800" baseline="-25000" dirty="0">
                <a:latin typeface="Calibri"/>
                <a:ea typeface="Calibri"/>
                <a:cs typeface="Calibri"/>
                <a:sym typeface="Calibri"/>
              </a:rPr>
              <a:t>2</a:t>
            </a:r>
            <a:r>
              <a:rPr lang="en-US" sz="1800" dirty="0">
                <a:latin typeface="Calibri"/>
                <a:ea typeface="Calibri"/>
                <a:cs typeface="Calibri"/>
                <a:sym typeface="Calibri"/>
              </a:rPr>
              <a:t> = 100*0.6 = 60, E</a:t>
            </a:r>
            <a:r>
              <a:rPr lang="en-US" sz="1800" baseline="-25000" dirty="0">
                <a:latin typeface="Calibri"/>
                <a:ea typeface="Calibri"/>
                <a:cs typeface="Calibri"/>
                <a:sym typeface="Calibri"/>
              </a:rPr>
              <a:t>3</a:t>
            </a:r>
            <a:r>
              <a:rPr lang="en-US" sz="1800" dirty="0">
                <a:latin typeface="Calibri"/>
                <a:ea typeface="Calibri"/>
                <a:cs typeface="Calibri"/>
                <a:sym typeface="Calibri"/>
              </a:rPr>
              <a:t> = </a:t>
            </a:r>
            <a:r>
              <a:rPr lang="en-US" sz="1800" dirty="0">
                <a:solidFill>
                  <a:schemeClr val="dk1"/>
                </a:solidFill>
                <a:latin typeface="Calibri"/>
                <a:ea typeface="Calibri"/>
                <a:cs typeface="Calibri"/>
                <a:sym typeface="Calibri"/>
              </a:rPr>
              <a:t>100 * 0.10 = 10</a:t>
            </a:r>
            <a:endParaRPr sz="18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800" dirty="0">
                <a:latin typeface="Calibri"/>
                <a:ea typeface="Calibri"/>
                <a:cs typeface="Calibri"/>
                <a:sym typeface="Calibri"/>
              </a:rPr>
              <a:t>Χ</a:t>
            </a:r>
            <a:r>
              <a:rPr lang="en-US" sz="1800" baseline="30000" dirty="0">
                <a:latin typeface="Calibri"/>
                <a:ea typeface="Calibri"/>
                <a:cs typeface="Calibri"/>
                <a:sym typeface="Calibri"/>
              </a:rPr>
              <a:t>2</a:t>
            </a:r>
            <a:r>
              <a:rPr lang="en-US" sz="1800" dirty="0">
                <a:latin typeface="Calibri"/>
                <a:ea typeface="Calibri"/>
                <a:cs typeface="Calibri"/>
                <a:sym typeface="Calibri"/>
              </a:rPr>
              <a:t> = </a:t>
            </a:r>
            <a:r>
              <a:rPr lang="en-US" sz="1800" dirty="0" err="1">
                <a:latin typeface="Calibri"/>
                <a:ea typeface="Calibri"/>
                <a:cs typeface="Calibri"/>
                <a:sym typeface="Calibri"/>
              </a:rPr>
              <a:t>Σ</a:t>
            </a:r>
            <a:r>
              <a:rPr lang="en-US" sz="1800" dirty="0">
                <a:latin typeface="Calibri"/>
                <a:ea typeface="Calibri"/>
                <a:cs typeface="Calibri"/>
                <a:sym typeface="Calibri"/>
              </a:rPr>
              <a:t> [ (O</a:t>
            </a:r>
            <a:r>
              <a:rPr lang="en-US" sz="1800" baseline="-25000" dirty="0">
                <a:latin typeface="Calibri"/>
                <a:ea typeface="Calibri"/>
                <a:cs typeface="Calibri"/>
                <a:sym typeface="Calibri"/>
              </a:rPr>
              <a:t>i</a:t>
            </a:r>
            <a:r>
              <a:rPr lang="en-US" sz="1800" dirty="0">
                <a:latin typeface="Calibri"/>
                <a:ea typeface="Calibri"/>
                <a:cs typeface="Calibri"/>
                <a:sym typeface="Calibri"/>
              </a:rPr>
              <a:t> - </a:t>
            </a:r>
            <a:r>
              <a:rPr lang="en-US" sz="1800" dirty="0" err="1">
                <a:latin typeface="Calibri"/>
                <a:ea typeface="Calibri"/>
                <a:cs typeface="Calibri"/>
                <a:sym typeface="Calibri"/>
              </a:rPr>
              <a:t>E</a:t>
            </a:r>
            <a:r>
              <a:rPr lang="en-US" sz="1800" baseline="-25000" dirty="0" err="1">
                <a:latin typeface="Calibri"/>
                <a:ea typeface="Calibri"/>
                <a:cs typeface="Calibri"/>
                <a:sym typeface="Calibri"/>
              </a:rPr>
              <a:t>i</a:t>
            </a:r>
            <a:r>
              <a:rPr lang="en-US" sz="1800" dirty="0">
                <a:latin typeface="Calibri"/>
                <a:ea typeface="Calibri"/>
                <a:cs typeface="Calibri"/>
                <a:sym typeface="Calibri"/>
              </a:rPr>
              <a:t>)</a:t>
            </a:r>
            <a:r>
              <a:rPr lang="en-US" sz="1800" baseline="30000" dirty="0">
                <a:latin typeface="Calibri"/>
                <a:ea typeface="Calibri"/>
                <a:cs typeface="Calibri"/>
                <a:sym typeface="Calibri"/>
              </a:rPr>
              <a:t>2</a:t>
            </a:r>
            <a:r>
              <a:rPr lang="en-US" sz="1800" dirty="0">
                <a:latin typeface="Calibri"/>
                <a:ea typeface="Calibri"/>
                <a:cs typeface="Calibri"/>
                <a:sym typeface="Calibri"/>
              </a:rPr>
              <a:t> / </a:t>
            </a:r>
            <a:r>
              <a:rPr lang="en-US" sz="1800" dirty="0" err="1">
                <a:latin typeface="Calibri"/>
                <a:ea typeface="Calibri"/>
                <a:cs typeface="Calibri"/>
                <a:sym typeface="Calibri"/>
              </a:rPr>
              <a:t>E</a:t>
            </a:r>
            <a:r>
              <a:rPr lang="en-US" sz="1800" baseline="-25000" dirty="0" err="1">
                <a:latin typeface="Calibri"/>
                <a:ea typeface="Calibri"/>
                <a:cs typeface="Calibri"/>
                <a:sym typeface="Calibri"/>
              </a:rPr>
              <a:t>i</a:t>
            </a:r>
            <a:r>
              <a:rPr lang="en-US" sz="1800" dirty="0">
                <a:latin typeface="Calibri"/>
                <a:ea typeface="Calibri"/>
                <a:cs typeface="Calibri"/>
                <a:sym typeface="Calibri"/>
              </a:rPr>
              <a:t> ] =  [ (50 - 30)</a:t>
            </a:r>
            <a:r>
              <a:rPr lang="en-US" sz="1800" baseline="30000" dirty="0">
                <a:latin typeface="Calibri"/>
                <a:ea typeface="Calibri"/>
                <a:cs typeface="Calibri"/>
                <a:sym typeface="Calibri"/>
              </a:rPr>
              <a:t>2</a:t>
            </a:r>
            <a:r>
              <a:rPr lang="en-US" sz="1800" dirty="0">
                <a:latin typeface="Calibri"/>
                <a:ea typeface="Calibri"/>
                <a:cs typeface="Calibri"/>
                <a:sym typeface="Calibri"/>
              </a:rPr>
              <a:t> / 30 ] + [ (45 - 60)</a:t>
            </a:r>
            <a:r>
              <a:rPr lang="en-US" sz="1800" baseline="30000" dirty="0">
                <a:latin typeface="Calibri"/>
                <a:ea typeface="Calibri"/>
                <a:cs typeface="Calibri"/>
                <a:sym typeface="Calibri"/>
              </a:rPr>
              <a:t>2</a:t>
            </a:r>
            <a:r>
              <a:rPr lang="en-US" sz="1800" dirty="0">
                <a:latin typeface="Calibri"/>
                <a:ea typeface="Calibri"/>
                <a:cs typeface="Calibri"/>
                <a:sym typeface="Calibri"/>
              </a:rPr>
              <a:t> / 60 ] + [ (5 - 10)</a:t>
            </a:r>
            <a:r>
              <a:rPr lang="en-US" sz="1800" baseline="30000" dirty="0">
                <a:latin typeface="Calibri"/>
                <a:ea typeface="Calibri"/>
                <a:cs typeface="Calibri"/>
                <a:sym typeface="Calibri"/>
              </a:rPr>
              <a:t>2</a:t>
            </a:r>
            <a:r>
              <a:rPr lang="en-US" sz="1800" dirty="0">
                <a:latin typeface="Calibri"/>
                <a:ea typeface="Calibri"/>
                <a:cs typeface="Calibri"/>
                <a:sym typeface="Calibri"/>
              </a:rPr>
              <a:t> / 10 ] = 19.58</a:t>
            </a:r>
            <a:endParaRPr sz="18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800" dirty="0">
                <a:latin typeface="Calibri"/>
                <a:ea typeface="Calibri"/>
                <a:cs typeface="Calibri"/>
                <a:sym typeface="Calibri"/>
              </a:rPr>
              <a:t>The P-value is the probability that a chi-square statistic having 2 degrees of freedom is more extreme than 19.58.</a:t>
            </a:r>
            <a:endParaRPr sz="1800" dirty="0">
              <a:latin typeface="Calibri"/>
              <a:ea typeface="Calibri"/>
              <a:cs typeface="Calibri"/>
              <a:sym typeface="Calibri"/>
            </a:endParaRPr>
          </a:p>
          <a:p>
            <a:pPr marL="0" lvl="0" indent="0" algn="l" rtl="0">
              <a:spcBef>
                <a:spcPts val="0"/>
              </a:spcBef>
              <a:spcAft>
                <a:spcPts val="0"/>
              </a:spcAft>
              <a:buNone/>
            </a:pPr>
            <a:r>
              <a:rPr lang="en-US" sz="1800" dirty="0">
                <a:latin typeface="Calibri"/>
                <a:ea typeface="Calibri"/>
                <a:cs typeface="Calibri"/>
                <a:sym typeface="Calibri"/>
              </a:rPr>
              <a:t>Using Chi-Square Distribution we find P(Χ2 &gt; 19.58) = 0.0001.</a:t>
            </a:r>
            <a:endParaRPr sz="18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dirty="0">
              <a:latin typeface="Calibri"/>
              <a:ea typeface="Calibri"/>
              <a:cs typeface="Calibri"/>
              <a:sym typeface="Calibri"/>
            </a:endParaRPr>
          </a:p>
          <a:p>
            <a:pPr marL="0" lvl="0" indent="0" algn="l" rtl="0">
              <a:spcBef>
                <a:spcPts val="0"/>
              </a:spcBef>
              <a:spcAft>
                <a:spcPts val="0"/>
              </a:spcAft>
              <a:buNone/>
            </a:pPr>
            <a:r>
              <a:rPr lang="en-US" sz="1800" dirty="0">
                <a:latin typeface="Calibri"/>
                <a:ea typeface="Calibri"/>
                <a:cs typeface="Calibri"/>
                <a:sym typeface="Calibri"/>
              </a:rPr>
              <a:t>Since the P-value (0.0001) is less than the significance level (0.05), we cannot accept the null hypothesis.</a:t>
            </a:r>
            <a:endParaRPr sz="18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dirty="0">
              <a:latin typeface="Calibri"/>
              <a:ea typeface="Calibri"/>
              <a:cs typeface="Calibri"/>
              <a:sym typeface="Calibri"/>
            </a:endParaRPr>
          </a:p>
          <a:p>
            <a:pPr marL="0" lvl="0" indent="0" algn="l" rtl="0">
              <a:spcBef>
                <a:spcPts val="0"/>
              </a:spcBef>
              <a:spcAft>
                <a:spcPts val="0"/>
              </a:spcAft>
              <a:buNone/>
            </a:pPr>
            <a:r>
              <a:rPr lang="en-US" sz="1800" dirty="0">
                <a:latin typeface="Calibri"/>
                <a:ea typeface="Calibri"/>
                <a:cs typeface="Calibri"/>
                <a:sym typeface="Calibri"/>
              </a:rPr>
              <a:t>Note: If you use this approach on an exam, you may also want to mention why this approach is appropriate. </a:t>
            </a:r>
            <a:endParaRPr sz="18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800" dirty="0">
                <a:latin typeface="Calibri"/>
                <a:ea typeface="Calibri"/>
                <a:cs typeface="Calibri"/>
                <a:sym typeface="Calibri"/>
              </a:rPr>
              <a:t>Specifically, the approach is appropriate because the sampling method was simple random sampling, the variable under study was categorical, and each level of the categorical variable had an expected frequency count of at least 5.</a:t>
            </a:r>
            <a:endParaRPr sz="1800" dirty="0">
              <a:latin typeface="Calibri"/>
              <a:ea typeface="Calibri"/>
              <a:cs typeface="Calibri"/>
              <a:sym typeface="Calibri"/>
            </a:endParaRPr>
          </a:p>
          <a:p>
            <a:pPr marL="0" lvl="0" indent="0" algn="l" rtl="0">
              <a:spcBef>
                <a:spcPts val="0"/>
              </a:spcBef>
              <a:spcAft>
                <a:spcPts val="0"/>
              </a:spcAft>
              <a:buNone/>
            </a:pPr>
            <a:endParaRPr sz="1800" dirty="0">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79989AD-B381-BE48-B1F5-DEF24A56DF43}"/>
              </a:ext>
            </a:extLst>
          </p:cNvPr>
          <p:cNvSpPr txBox="1"/>
          <p:nvPr/>
        </p:nvSpPr>
        <p:spPr>
          <a:xfrm>
            <a:off x="312820" y="180474"/>
            <a:ext cx="4535905" cy="2554545"/>
          </a:xfrm>
          <a:prstGeom prst="rect">
            <a:avLst/>
          </a:prstGeom>
          <a:noFill/>
        </p:spPr>
        <p:txBody>
          <a:bodyPr wrap="square" rtlCol="0">
            <a:spAutoFit/>
          </a:bodyPr>
          <a:lstStyle/>
          <a:p>
            <a:r>
              <a:rPr lang="en-US" sz="2800" b="1" dirty="0"/>
              <a:t>Student's </a:t>
            </a:r>
            <a:r>
              <a:rPr lang="en-US" sz="2800" b="1" i="1" dirty="0"/>
              <a:t>t</a:t>
            </a:r>
            <a:r>
              <a:rPr lang="en-US" sz="2800" b="1" dirty="0"/>
              <a:t>-distribution </a:t>
            </a:r>
          </a:p>
          <a:p>
            <a:endParaRPr lang="en-US" sz="1200" b="1" dirty="0"/>
          </a:p>
          <a:p>
            <a:r>
              <a:rPr lang="en-US" sz="1200" dirty="0">
                <a:hlinkClick r:id="rId2"/>
              </a:rPr>
              <a:t>https://en.wikipedia.org/wiki/Student%27s_t-distribution</a:t>
            </a:r>
            <a:r>
              <a:rPr lang="en-US" sz="1200" dirty="0"/>
              <a:t>    </a:t>
            </a:r>
          </a:p>
          <a:p>
            <a:endParaRPr lang="en-US" sz="1200" dirty="0"/>
          </a:p>
          <a:p>
            <a:r>
              <a:rPr lang="en-US" sz="1200" dirty="0"/>
              <a:t>Student's t-distribution (or simply the t-distribution) </a:t>
            </a:r>
          </a:p>
          <a:p>
            <a:r>
              <a:rPr lang="en-US" sz="1200" dirty="0"/>
              <a:t>is any member of a family of continuous probability distributions that arises when </a:t>
            </a:r>
            <a:r>
              <a:rPr lang="en-US" sz="1200" b="1" dirty="0">
                <a:solidFill>
                  <a:srgbClr val="0070C0"/>
                </a:solidFill>
              </a:rPr>
              <a:t>estimating the mean of a normally distributed population </a:t>
            </a:r>
          </a:p>
          <a:p>
            <a:r>
              <a:rPr lang="en-US" sz="1200" dirty="0"/>
              <a:t>in situations where the sample size is small </a:t>
            </a:r>
          </a:p>
          <a:p>
            <a:r>
              <a:rPr lang="en-US" sz="1200" dirty="0"/>
              <a:t>and the population standard deviation is unknown. </a:t>
            </a:r>
          </a:p>
          <a:p>
            <a:r>
              <a:rPr lang="en-US" sz="1200" dirty="0"/>
              <a:t>It was developed by William Sealy </a:t>
            </a:r>
            <a:r>
              <a:rPr lang="en-US" sz="1200" dirty="0" err="1"/>
              <a:t>Gosset</a:t>
            </a:r>
            <a:r>
              <a:rPr lang="en-US" sz="1200" dirty="0"/>
              <a:t> (1908)</a:t>
            </a:r>
          </a:p>
          <a:p>
            <a:r>
              <a:rPr lang="en-US" sz="1200" dirty="0"/>
              <a:t>under the pseudonym </a:t>
            </a:r>
            <a:r>
              <a:rPr lang="en-US" sz="1200" b="1" dirty="0">
                <a:solidFill>
                  <a:srgbClr val="0070C0"/>
                </a:solidFill>
              </a:rPr>
              <a:t>Student</a:t>
            </a:r>
            <a:r>
              <a:rPr lang="en-US" sz="1200" dirty="0"/>
              <a:t>.</a:t>
            </a:r>
          </a:p>
        </p:txBody>
      </p:sp>
      <p:pic>
        <p:nvPicPr>
          <p:cNvPr id="5" name="Picture 4">
            <a:extLst>
              <a:ext uri="{FF2B5EF4-FFF2-40B4-BE49-F238E27FC236}">
                <a16:creationId xmlns:a16="http://schemas.microsoft.com/office/drawing/2014/main" id="{68240771-AF9B-7A4E-AC57-79B1658958A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653755" y="180474"/>
            <a:ext cx="4127500" cy="3302000"/>
          </a:xfrm>
          <a:prstGeom prst="rect">
            <a:avLst/>
          </a:prstGeom>
        </p:spPr>
      </p:pic>
      <p:pic>
        <p:nvPicPr>
          <p:cNvPr id="7" name="Picture 6">
            <a:extLst>
              <a:ext uri="{FF2B5EF4-FFF2-40B4-BE49-F238E27FC236}">
                <a16:creationId xmlns:a16="http://schemas.microsoft.com/office/drawing/2014/main" id="{B921A455-CB47-6341-8361-A435C147E04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05821" y="3879516"/>
            <a:ext cx="4064000" cy="1244600"/>
          </a:xfrm>
          <a:prstGeom prst="rect">
            <a:avLst/>
          </a:prstGeom>
        </p:spPr>
      </p:pic>
      <p:pic>
        <p:nvPicPr>
          <p:cNvPr id="8" name="Picture 7">
            <a:extLst>
              <a:ext uri="{FF2B5EF4-FFF2-40B4-BE49-F238E27FC236}">
                <a16:creationId xmlns:a16="http://schemas.microsoft.com/office/drawing/2014/main" id="{E93B6F64-8303-CB4E-BE24-FB13FBF443D0}"/>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5474368" y="180474"/>
            <a:ext cx="1744578" cy="2587083"/>
          </a:xfrm>
          <a:prstGeom prst="rect">
            <a:avLst/>
          </a:prstGeom>
        </p:spPr>
      </p:pic>
      <p:sp>
        <p:nvSpPr>
          <p:cNvPr id="9" name="TextBox 8">
            <a:extLst>
              <a:ext uri="{FF2B5EF4-FFF2-40B4-BE49-F238E27FC236}">
                <a16:creationId xmlns:a16="http://schemas.microsoft.com/office/drawing/2014/main" id="{2BAA1AF7-2EFA-4940-AA88-B4782CE05245}"/>
              </a:ext>
            </a:extLst>
          </p:cNvPr>
          <p:cNvSpPr txBox="1"/>
          <p:nvPr/>
        </p:nvSpPr>
        <p:spPr>
          <a:xfrm>
            <a:off x="5342021" y="2767557"/>
            <a:ext cx="2033337" cy="523220"/>
          </a:xfrm>
          <a:prstGeom prst="rect">
            <a:avLst/>
          </a:prstGeom>
          <a:noFill/>
        </p:spPr>
        <p:txBody>
          <a:bodyPr wrap="square" rtlCol="0">
            <a:spAutoFit/>
          </a:bodyPr>
          <a:lstStyle/>
          <a:p>
            <a:r>
              <a:rPr lang="en-US" dirty="0"/>
              <a:t>William Sealy </a:t>
            </a:r>
            <a:r>
              <a:rPr lang="en-US" dirty="0" err="1"/>
              <a:t>Gosset</a:t>
            </a:r>
            <a:r>
              <a:rPr lang="en-US" dirty="0"/>
              <a:t> (pseudonym "Student")</a:t>
            </a:r>
          </a:p>
        </p:txBody>
      </p:sp>
      <p:pic>
        <p:nvPicPr>
          <p:cNvPr id="10" name="Picture 9">
            <a:extLst>
              <a:ext uri="{FF2B5EF4-FFF2-40B4-BE49-F238E27FC236}">
                <a16:creationId xmlns:a16="http://schemas.microsoft.com/office/drawing/2014/main" id="{8A960005-DB86-C24B-9D90-977F32065D11}"/>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396875" y="3596516"/>
            <a:ext cx="1331161" cy="612140"/>
          </a:xfrm>
          <a:prstGeom prst="rect">
            <a:avLst/>
          </a:prstGeom>
        </p:spPr>
      </p:pic>
      <p:pic>
        <p:nvPicPr>
          <p:cNvPr id="11" name="Picture 10">
            <a:extLst>
              <a:ext uri="{FF2B5EF4-FFF2-40B4-BE49-F238E27FC236}">
                <a16:creationId xmlns:a16="http://schemas.microsoft.com/office/drawing/2014/main" id="{D72A8B16-E053-C44F-856E-288817E75747}"/>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396875" y="4248957"/>
            <a:ext cx="2377908" cy="613968"/>
          </a:xfrm>
          <a:prstGeom prst="rect">
            <a:avLst/>
          </a:prstGeom>
        </p:spPr>
      </p:pic>
      <p:pic>
        <p:nvPicPr>
          <p:cNvPr id="12" name="Picture 11">
            <a:extLst>
              <a:ext uri="{FF2B5EF4-FFF2-40B4-BE49-F238E27FC236}">
                <a16:creationId xmlns:a16="http://schemas.microsoft.com/office/drawing/2014/main" id="{4E967733-FA99-CD47-8F9D-1E8B70BFC5E5}"/>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12820" y="5102941"/>
            <a:ext cx="702080" cy="616692"/>
          </a:xfrm>
          <a:prstGeom prst="rect">
            <a:avLst/>
          </a:prstGeom>
        </p:spPr>
      </p:pic>
      <p:pic>
        <p:nvPicPr>
          <p:cNvPr id="13" name="Picture 12">
            <a:extLst>
              <a:ext uri="{FF2B5EF4-FFF2-40B4-BE49-F238E27FC236}">
                <a16:creationId xmlns:a16="http://schemas.microsoft.com/office/drawing/2014/main" id="{6440922B-2E80-EF43-A53B-34AEA43D3846}"/>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312820" y="5959649"/>
            <a:ext cx="582886" cy="565991"/>
          </a:xfrm>
          <a:prstGeom prst="rect">
            <a:avLst/>
          </a:prstGeom>
        </p:spPr>
      </p:pic>
      <p:sp>
        <p:nvSpPr>
          <p:cNvPr id="14" name="TextBox 13">
            <a:extLst>
              <a:ext uri="{FF2B5EF4-FFF2-40B4-BE49-F238E27FC236}">
                <a16:creationId xmlns:a16="http://schemas.microsoft.com/office/drawing/2014/main" id="{C0D5B479-BD94-1741-AA72-3918F30A6760}"/>
              </a:ext>
            </a:extLst>
          </p:cNvPr>
          <p:cNvSpPr txBox="1"/>
          <p:nvPr/>
        </p:nvSpPr>
        <p:spPr>
          <a:xfrm>
            <a:off x="312820" y="2857852"/>
            <a:ext cx="3756694" cy="738664"/>
          </a:xfrm>
          <a:prstGeom prst="rect">
            <a:avLst/>
          </a:prstGeom>
          <a:noFill/>
        </p:spPr>
        <p:txBody>
          <a:bodyPr wrap="square" rtlCol="0">
            <a:spAutoFit/>
          </a:bodyPr>
          <a:lstStyle/>
          <a:p>
            <a:r>
              <a:rPr lang="en-US" dirty="0"/>
              <a:t>Let Xi be independently and identically drawn from the normal distribution with expected mean value</a:t>
            </a:r>
            <a:r>
              <a:rPr lang="el-GR" dirty="0"/>
              <a:t> μ</a:t>
            </a:r>
            <a:r>
              <a:rPr lang="en-US" dirty="0"/>
              <a:t> and variance </a:t>
            </a:r>
            <a:r>
              <a:rPr lang="el-GR" dirty="0"/>
              <a:t>σ</a:t>
            </a:r>
            <a:r>
              <a:rPr lang="en-US" baseline="30000" dirty="0"/>
              <a:t>2  </a:t>
            </a:r>
            <a:endParaRPr lang="en-US" dirty="0"/>
          </a:p>
        </p:txBody>
      </p:sp>
      <p:sp>
        <p:nvSpPr>
          <p:cNvPr id="16" name="AutoShape 2" descr="{\textstyle X_{1},\ldots ,X_{n}}">
            <a:extLst>
              <a:ext uri="{FF2B5EF4-FFF2-40B4-BE49-F238E27FC236}">
                <a16:creationId xmlns:a16="http://schemas.microsoft.com/office/drawing/2014/main" id="{07D7F508-2895-A94E-9E0B-E77CD726ECDF}"/>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3" descr="N(\mu ,\sigma ^{2})">
            <a:extLst>
              <a:ext uri="{FF2B5EF4-FFF2-40B4-BE49-F238E27FC236}">
                <a16:creationId xmlns:a16="http://schemas.microsoft.com/office/drawing/2014/main" id="{EE5C68D6-4509-A54A-A822-1CFBC52801DA}"/>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4" descr="n">
            <a:extLst>
              <a:ext uri="{FF2B5EF4-FFF2-40B4-BE49-F238E27FC236}">
                <a16:creationId xmlns:a16="http://schemas.microsoft.com/office/drawing/2014/main" id="{D0A4039C-E933-6445-A80D-09E2AEB93AC6}"/>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5" descr="\mu ">
            <a:extLst>
              <a:ext uri="{FF2B5EF4-FFF2-40B4-BE49-F238E27FC236}">
                <a16:creationId xmlns:a16="http://schemas.microsoft.com/office/drawing/2014/main" id="{501FB6EB-157D-BD4B-8779-3E4C3FBC047F}"/>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AutoShape 6" descr="\sigma ^{2}">
            <a:extLst>
              <a:ext uri="{FF2B5EF4-FFF2-40B4-BE49-F238E27FC236}">
                <a16:creationId xmlns:a16="http://schemas.microsoft.com/office/drawing/2014/main" id="{5301A393-B93D-AC48-9A19-60E0D81E0733}"/>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AutoShape 8" descr="{\textstyle X_{1},\ldots ,X_{n}}">
            <a:extLst>
              <a:ext uri="{FF2B5EF4-FFF2-40B4-BE49-F238E27FC236}">
                <a16:creationId xmlns:a16="http://schemas.microsoft.com/office/drawing/2014/main" id="{248AC373-9C4F-EB4C-A2E6-D66AD78D10B4}"/>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AutoShape 9" descr="N(\mu ,\sigma ^{2})">
            <a:extLst>
              <a:ext uri="{FF2B5EF4-FFF2-40B4-BE49-F238E27FC236}">
                <a16:creationId xmlns:a16="http://schemas.microsoft.com/office/drawing/2014/main" id="{008618B9-6A7E-134E-A649-35D5383829ED}"/>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AutoShape 10" descr="n">
            <a:extLst>
              <a:ext uri="{FF2B5EF4-FFF2-40B4-BE49-F238E27FC236}">
                <a16:creationId xmlns:a16="http://schemas.microsoft.com/office/drawing/2014/main" id="{CA603317-BFE0-7749-AB48-553CFC6CD063}"/>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AutoShape 11" descr="\mu ">
            <a:extLst>
              <a:ext uri="{FF2B5EF4-FFF2-40B4-BE49-F238E27FC236}">
                <a16:creationId xmlns:a16="http://schemas.microsoft.com/office/drawing/2014/main" id="{C0FD514A-0A73-7843-A5FA-74ABF61E7511}"/>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AutoShape 12" descr="\sigma ^{2}">
            <a:extLst>
              <a:ext uri="{FF2B5EF4-FFF2-40B4-BE49-F238E27FC236}">
                <a16:creationId xmlns:a16="http://schemas.microsoft.com/office/drawing/2014/main" id="{C6943DA6-E5CB-9741-AD9D-5E1AB734160C}"/>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AutoShape 14" descr="{\textstyle X_{1},\ldots ,X_{n}}">
            <a:extLst>
              <a:ext uri="{FF2B5EF4-FFF2-40B4-BE49-F238E27FC236}">
                <a16:creationId xmlns:a16="http://schemas.microsoft.com/office/drawing/2014/main" id="{5807CA11-FEC0-7E4B-BBCA-04CFE8DA35A6}"/>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AutoShape 15" descr="N(\mu ,\sigma ^{2})">
            <a:extLst>
              <a:ext uri="{FF2B5EF4-FFF2-40B4-BE49-F238E27FC236}">
                <a16:creationId xmlns:a16="http://schemas.microsoft.com/office/drawing/2014/main" id="{6334E346-9AFF-7844-8727-71065320839D}"/>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AutoShape 16" descr="n">
            <a:extLst>
              <a:ext uri="{FF2B5EF4-FFF2-40B4-BE49-F238E27FC236}">
                <a16:creationId xmlns:a16="http://schemas.microsoft.com/office/drawing/2014/main" id="{54E917FD-0239-3344-AA9F-056B86E7A6A8}"/>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AutoShape 17" descr="\mu ">
            <a:extLst>
              <a:ext uri="{FF2B5EF4-FFF2-40B4-BE49-F238E27FC236}">
                <a16:creationId xmlns:a16="http://schemas.microsoft.com/office/drawing/2014/main" id="{12033F84-97C7-9749-9B73-C3190C5DCA19}"/>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AutoShape 18" descr="\sigma ^{2}">
            <a:extLst>
              <a:ext uri="{FF2B5EF4-FFF2-40B4-BE49-F238E27FC236}">
                <a16:creationId xmlns:a16="http://schemas.microsoft.com/office/drawing/2014/main" id="{6665A26D-3C4B-794C-B3F4-AACAC7ADB6FA}"/>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TextBox 32">
            <a:extLst>
              <a:ext uri="{FF2B5EF4-FFF2-40B4-BE49-F238E27FC236}">
                <a16:creationId xmlns:a16="http://schemas.microsoft.com/office/drawing/2014/main" id="{D88C225F-74A8-284B-B086-528622A25343}"/>
              </a:ext>
            </a:extLst>
          </p:cNvPr>
          <p:cNvSpPr txBox="1"/>
          <p:nvPr/>
        </p:nvSpPr>
        <p:spPr>
          <a:xfrm>
            <a:off x="2855075" y="3739303"/>
            <a:ext cx="1911853" cy="307777"/>
          </a:xfrm>
          <a:prstGeom prst="rect">
            <a:avLst/>
          </a:prstGeom>
          <a:noFill/>
        </p:spPr>
        <p:txBody>
          <a:bodyPr wrap="square" rtlCol="0">
            <a:spAutoFit/>
          </a:bodyPr>
          <a:lstStyle/>
          <a:p>
            <a:r>
              <a:rPr lang="en-US" dirty="0"/>
              <a:t>----- Sample mean</a:t>
            </a:r>
          </a:p>
        </p:txBody>
      </p:sp>
      <p:sp>
        <p:nvSpPr>
          <p:cNvPr id="34" name="TextBox 33">
            <a:extLst>
              <a:ext uri="{FF2B5EF4-FFF2-40B4-BE49-F238E27FC236}">
                <a16:creationId xmlns:a16="http://schemas.microsoft.com/office/drawing/2014/main" id="{F58099A2-8589-4949-9C6D-F4D510DDFF0D}"/>
              </a:ext>
            </a:extLst>
          </p:cNvPr>
          <p:cNvSpPr txBox="1"/>
          <p:nvPr/>
        </p:nvSpPr>
        <p:spPr>
          <a:xfrm>
            <a:off x="2855075" y="4344461"/>
            <a:ext cx="2417179" cy="307777"/>
          </a:xfrm>
          <a:prstGeom prst="rect">
            <a:avLst/>
          </a:prstGeom>
          <a:noFill/>
        </p:spPr>
        <p:txBody>
          <a:bodyPr wrap="square" rtlCol="0">
            <a:spAutoFit/>
          </a:bodyPr>
          <a:lstStyle/>
          <a:p>
            <a:r>
              <a:rPr lang="en-US" dirty="0"/>
              <a:t>----- Sample variance</a:t>
            </a:r>
          </a:p>
        </p:txBody>
      </p:sp>
      <p:sp>
        <p:nvSpPr>
          <p:cNvPr id="35" name="TextBox 34">
            <a:extLst>
              <a:ext uri="{FF2B5EF4-FFF2-40B4-BE49-F238E27FC236}">
                <a16:creationId xmlns:a16="http://schemas.microsoft.com/office/drawing/2014/main" id="{24B9A98C-F3BB-7448-9ECD-80269D7A263C}"/>
              </a:ext>
            </a:extLst>
          </p:cNvPr>
          <p:cNvSpPr txBox="1"/>
          <p:nvPr/>
        </p:nvSpPr>
        <p:spPr>
          <a:xfrm>
            <a:off x="1318961" y="5252489"/>
            <a:ext cx="3613986" cy="307777"/>
          </a:xfrm>
          <a:prstGeom prst="rect">
            <a:avLst/>
          </a:prstGeom>
          <a:noFill/>
        </p:spPr>
        <p:txBody>
          <a:bodyPr wrap="square" rtlCol="0">
            <a:spAutoFit/>
          </a:bodyPr>
          <a:lstStyle/>
          <a:p>
            <a:r>
              <a:rPr lang="en-US" dirty="0"/>
              <a:t>----- Random variable, Normal distribution</a:t>
            </a:r>
          </a:p>
        </p:txBody>
      </p:sp>
      <p:sp>
        <p:nvSpPr>
          <p:cNvPr id="36" name="TextBox 35">
            <a:extLst>
              <a:ext uri="{FF2B5EF4-FFF2-40B4-BE49-F238E27FC236}">
                <a16:creationId xmlns:a16="http://schemas.microsoft.com/office/drawing/2014/main" id="{CAA20264-68BC-504C-9790-33B4CAD84579}"/>
              </a:ext>
            </a:extLst>
          </p:cNvPr>
          <p:cNvSpPr txBox="1"/>
          <p:nvPr/>
        </p:nvSpPr>
        <p:spPr>
          <a:xfrm>
            <a:off x="1318961" y="6068334"/>
            <a:ext cx="3613986" cy="307777"/>
          </a:xfrm>
          <a:prstGeom prst="rect">
            <a:avLst/>
          </a:prstGeom>
          <a:noFill/>
        </p:spPr>
        <p:txBody>
          <a:bodyPr wrap="square" rtlCol="0">
            <a:spAutoFit/>
          </a:bodyPr>
          <a:lstStyle/>
          <a:p>
            <a:r>
              <a:rPr lang="en-US" dirty="0"/>
              <a:t>----- Random variable, t-distribution</a:t>
            </a:r>
          </a:p>
        </p:txBody>
      </p:sp>
    </p:spTree>
    <p:extLst>
      <p:ext uri="{BB962C8B-B14F-4D97-AF65-F5344CB8AC3E}">
        <p14:creationId xmlns:p14="http://schemas.microsoft.com/office/powerpoint/2010/main" val="31202597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EB5F268-965F-C142-A102-83C02389B555}"/>
              </a:ext>
            </a:extLst>
          </p:cNvPr>
          <p:cNvSpPr txBox="1"/>
          <p:nvPr/>
        </p:nvSpPr>
        <p:spPr>
          <a:xfrm>
            <a:off x="32770" y="22260"/>
            <a:ext cx="5906814" cy="6986528"/>
          </a:xfrm>
          <a:prstGeom prst="rect">
            <a:avLst/>
          </a:prstGeom>
          <a:noFill/>
        </p:spPr>
        <p:txBody>
          <a:bodyPr wrap="square" rtlCol="0">
            <a:spAutoFit/>
          </a:bodyPr>
          <a:lstStyle/>
          <a:p>
            <a:r>
              <a:rPr lang="en-US" dirty="0"/>
              <a:t>More Statistics:</a:t>
            </a:r>
          </a:p>
          <a:p>
            <a:endParaRPr lang="en-US" dirty="0"/>
          </a:p>
          <a:p>
            <a:r>
              <a:rPr lang="en-US" dirty="0"/>
              <a:t>Confidence Interval </a:t>
            </a:r>
          </a:p>
          <a:p>
            <a:r>
              <a:rPr lang="en-US" dirty="0"/>
              <a:t>  – ( https://</a:t>
            </a:r>
            <a:r>
              <a:rPr lang="en-US" dirty="0" err="1"/>
              <a:t>en.wikipedia.org</a:t>
            </a:r>
            <a:r>
              <a:rPr lang="en-US" dirty="0"/>
              <a:t>/wiki/</a:t>
            </a:r>
            <a:r>
              <a:rPr lang="en-US" dirty="0" err="1"/>
              <a:t>Confidence_interval</a:t>
            </a:r>
            <a:r>
              <a:rPr lang="en-US" dirty="0"/>
              <a:t> ) –</a:t>
            </a:r>
          </a:p>
          <a:p>
            <a:endParaRPr lang="en-US" dirty="0"/>
          </a:p>
          <a:p>
            <a:r>
              <a:rPr lang="en-US" dirty="0"/>
              <a:t>Cluster Analysis </a:t>
            </a:r>
          </a:p>
          <a:p>
            <a:r>
              <a:rPr lang="en-US" dirty="0"/>
              <a:t>  – finding groups (clusters) in data.</a:t>
            </a:r>
          </a:p>
          <a:p>
            <a:r>
              <a:rPr lang="en-US" dirty="0"/>
              <a:t>  – ( https://</a:t>
            </a:r>
            <a:r>
              <a:rPr lang="en-US" dirty="0" err="1"/>
              <a:t>en.wikipedia.org</a:t>
            </a:r>
            <a:r>
              <a:rPr lang="en-US" dirty="0"/>
              <a:t>/wiki/</a:t>
            </a:r>
            <a:r>
              <a:rPr lang="en-US" dirty="0" err="1"/>
              <a:t>Cluster_analysis</a:t>
            </a:r>
            <a:r>
              <a:rPr lang="en-US" dirty="0"/>
              <a:t> ) </a:t>
            </a:r>
          </a:p>
          <a:p>
            <a:endParaRPr lang="en-US" dirty="0"/>
          </a:p>
          <a:p>
            <a:r>
              <a:rPr lang="en-US" dirty="0"/>
              <a:t>Student’s t-distribution </a:t>
            </a:r>
          </a:p>
          <a:p>
            <a:r>
              <a:rPr lang="en-US" dirty="0"/>
              <a:t>  – estimating the mean of a normally distributed population </a:t>
            </a:r>
          </a:p>
          <a:p>
            <a:r>
              <a:rPr lang="en-US" dirty="0"/>
              <a:t>    in situations where the sample size is small and </a:t>
            </a:r>
          </a:p>
          <a:p>
            <a:r>
              <a:rPr lang="en-US" dirty="0"/>
              <a:t>    population standard deviation is unknown.</a:t>
            </a:r>
          </a:p>
          <a:p>
            <a:r>
              <a:rPr lang="en-US" dirty="0"/>
              <a:t>  – ( https://</a:t>
            </a:r>
            <a:r>
              <a:rPr lang="en-US" dirty="0" err="1"/>
              <a:t>en.wikipedia.org</a:t>
            </a:r>
            <a:r>
              <a:rPr lang="en-US" dirty="0"/>
              <a:t>/wiki/Student%27s_t-distribution ) </a:t>
            </a:r>
          </a:p>
          <a:p>
            <a:endParaRPr lang="en-US" dirty="0"/>
          </a:p>
          <a:p>
            <a:r>
              <a:rPr lang="en-US" dirty="0"/>
              <a:t>Chi-squared distribution </a:t>
            </a:r>
          </a:p>
          <a:p>
            <a:r>
              <a:rPr lang="en-US" dirty="0"/>
              <a:t>  – distribution of a sum of the squares of k independent </a:t>
            </a:r>
          </a:p>
          <a:p>
            <a:r>
              <a:rPr lang="en-US" dirty="0"/>
              <a:t>    standard normal random variables.</a:t>
            </a:r>
          </a:p>
          <a:p>
            <a:r>
              <a:rPr lang="en-US" dirty="0"/>
              <a:t>  – ( https://</a:t>
            </a:r>
            <a:r>
              <a:rPr lang="en-US" dirty="0" err="1"/>
              <a:t>en.wikipedia.org</a:t>
            </a:r>
            <a:r>
              <a:rPr lang="en-US" dirty="0"/>
              <a:t>/wiki/Chi-</a:t>
            </a:r>
            <a:r>
              <a:rPr lang="en-US" dirty="0" err="1"/>
              <a:t>squared_distribution</a:t>
            </a:r>
            <a:r>
              <a:rPr lang="en-US" dirty="0"/>
              <a:t> ) </a:t>
            </a:r>
          </a:p>
          <a:p>
            <a:endParaRPr lang="en-US" dirty="0"/>
          </a:p>
          <a:p>
            <a:r>
              <a:rPr lang="en-US" dirty="0"/>
              <a:t>F-distribution </a:t>
            </a:r>
          </a:p>
          <a:p>
            <a:r>
              <a:rPr lang="en-US" dirty="0"/>
              <a:t>  – right-skewed distribution used most commonly in Analysis of </a:t>
            </a:r>
          </a:p>
          <a:p>
            <a:endParaRPr lang="en-US" dirty="0"/>
          </a:p>
          <a:p>
            <a:r>
              <a:rPr lang="en-US" dirty="0"/>
              <a:t>Variance.</a:t>
            </a:r>
          </a:p>
          <a:p>
            <a:r>
              <a:rPr lang="en-US" dirty="0"/>
              <a:t>  – ( https://</a:t>
            </a:r>
            <a:r>
              <a:rPr lang="en-US" dirty="0" err="1"/>
              <a:t>en.wikipedia.org</a:t>
            </a:r>
            <a:r>
              <a:rPr lang="en-US" dirty="0"/>
              <a:t>/wiki/F-distribution ) </a:t>
            </a:r>
          </a:p>
          <a:p>
            <a:endParaRPr lang="en-US" dirty="0"/>
          </a:p>
          <a:p>
            <a:r>
              <a:rPr lang="en-US" dirty="0"/>
              <a:t>Gamma distribution </a:t>
            </a:r>
          </a:p>
          <a:p>
            <a:r>
              <a:rPr lang="en-US" dirty="0"/>
              <a:t>  – ( https://</a:t>
            </a:r>
            <a:r>
              <a:rPr lang="en-US" dirty="0" err="1"/>
              <a:t>en.wikipedia.org</a:t>
            </a:r>
            <a:r>
              <a:rPr lang="en-US" dirty="0"/>
              <a:t>/wiki/</a:t>
            </a:r>
            <a:r>
              <a:rPr lang="en-US" dirty="0" err="1"/>
              <a:t>Gamma_distribution</a:t>
            </a:r>
            <a:r>
              <a:rPr lang="en-US" dirty="0"/>
              <a:t> ) </a:t>
            </a:r>
          </a:p>
          <a:p>
            <a:r>
              <a:rPr lang="en-US" dirty="0"/>
              <a:t>  – a two-parameter family of continuous probability distributions. </a:t>
            </a:r>
          </a:p>
          <a:p>
            <a:r>
              <a:rPr lang="en-US" dirty="0"/>
              <a:t>    The common exponential distribution and chi-squared </a:t>
            </a:r>
          </a:p>
          <a:p>
            <a:r>
              <a:rPr lang="en-US" dirty="0"/>
              <a:t>    distribution are special cases of the gamma distribution.</a:t>
            </a:r>
          </a:p>
        </p:txBody>
      </p:sp>
      <p:sp>
        <p:nvSpPr>
          <p:cNvPr id="5" name="TextBox 4">
            <a:extLst>
              <a:ext uri="{FF2B5EF4-FFF2-40B4-BE49-F238E27FC236}">
                <a16:creationId xmlns:a16="http://schemas.microsoft.com/office/drawing/2014/main" id="{E72EEA3B-9D50-A145-B8FE-B6686486D979}"/>
              </a:ext>
            </a:extLst>
          </p:cNvPr>
          <p:cNvSpPr txBox="1"/>
          <p:nvPr/>
        </p:nvSpPr>
        <p:spPr>
          <a:xfrm>
            <a:off x="6096000" y="178676"/>
            <a:ext cx="6011917" cy="6001643"/>
          </a:xfrm>
          <a:prstGeom prst="rect">
            <a:avLst/>
          </a:prstGeom>
          <a:noFill/>
        </p:spPr>
        <p:txBody>
          <a:bodyPr wrap="square" rtlCol="0">
            <a:spAutoFit/>
          </a:bodyPr>
          <a:lstStyle/>
          <a:p>
            <a:r>
              <a:rPr lang="en-US" sz="1200" dirty="0"/>
              <a:t>Stochastic Processes, Time Series Analysis</a:t>
            </a:r>
          </a:p>
          <a:p>
            <a:r>
              <a:rPr lang="en-US" sz="1200" dirty="0"/>
              <a:t>- https://</a:t>
            </a:r>
            <a:r>
              <a:rPr lang="en-US" sz="1200" dirty="0" err="1"/>
              <a:t>en.wikipedia.org</a:t>
            </a:r>
            <a:r>
              <a:rPr lang="en-US" sz="1200" dirty="0"/>
              <a:t>/wiki/</a:t>
            </a:r>
            <a:r>
              <a:rPr lang="en-US" sz="1200" dirty="0" err="1"/>
              <a:t>Stochastic_process</a:t>
            </a:r>
            <a:r>
              <a:rPr lang="en-US" sz="1200" dirty="0"/>
              <a:t> –</a:t>
            </a:r>
          </a:p>
          <a:p>
            <a:r>
              <a:rPr lang="en-US" sz="1200" dirty="0"/>
              <a:t>- https://</a:t>
            </a:r>
            <a:r>
              <a:rPr lang="en-US" sz="1200" dirty="0" err="1"/>
              <a:t>en.wikipedia.org</a:t>
            </a:r>
            <a:r>
              <a:rPr lang="en-US" sz="1200" dirty="0"/>
              <a:t>/wiki/</a:t>
            </a:r>
            <a:r>
              <a:rPr lang="en-US" sz="1200" dirty="0" err="1"/>
              <a:t>Time_series</a:t>
            </a:r>
            <a:r>
              <a:rPr lang="en-US" sz="1200" dirty="0"/>
              <a:t> –</a:t>
            </a:r>
          </a:p>
          <a:p>
            <a:r>
              <a:rPr lang="en-US" sz="1200" dirty="0"/>
              <a:t>- https://</a:t>
            </a:r>
            <a:r>
              <a:rPr lang="en-US" sz="1200" dirty="0" err="1"/>
              <a:t>en.wikipedia.org</a:t>
            </a:r>
            <a:r>
              <a:rPr lang="en-US" sz="1200" dirty="0"/>
              <a:t>/wiki/</a:t>
            </a:r>
            <a:r>
              <a:rPr lang="en-US" sz="1200" dirty="0" err="1"/>
              <a:t>Random_walk</a:t>
            </a:r>
            <a:r>
              <a:rPr lang="en-US" sz="1200" dirty="0"/>
              <a:t> –</a:t>
            </a:r>
          </a:p>
          <a:p>
            <a:r>
              <a:rPr lang="en-US" sz="1200" dirty="0"/>
              <a:t>- https://</a:t>
            </a:r>
            <a:r>
              <a:rPr lang="en-US" sz="1200" dirty="0" err="1"/>
              <a:t>en.wikipedia.org</a:t>
            </a:r>
            <a:r>
              <a:rPr lang="en-US" sz="1200" dirty="0"/>
              <a:t>/wiki/</a:t>
            </a:r>
            <a:r>
              <a:rPr lang="en-US" sz="1200" dirty="0" err="1"/>
              <a:t>Brownian_motion</a:t>
            </a:r>
            <a:r>
              <a:rPr lang="en-US" sz="1200" dirty="0"/>
              <a:t> –</a:t>
            </a:r>
          </a:p>
          <a:p>
            <a:r>
              <a:rPr lang="en-US" sz="1200" dirty="0"/>
              <a:t>- https://</a:t>
            </a:r>
            <a:r>
              <a:rPr lang="en-US" sz="1200" dirty="0" err="1"/>
              <a:t>en.wikipedia.org</a:t>
            </a:r>
            <a:r>
              <a:rPr lang="en-US" sz="1200" dirty="0"/>
              <a:t>/wiki/Diffusion , </a:t>
            </a:r>
          </a:p>
          <a:p>
            <a:r>
              <a:rPr lang="en-US" sz="1200" dirty="0"/>
              <a:t>- https://</a:t>
            </a:r>
            <a:r>
              <a:rPr lang="en-US" sz="1200" dirty="0" err="1"/>
              <a:t>en.wikipedia.org</a:t>
            </a:r>
            <a:r>
              <a:rPr lang="en-US" sz="1200" dirty="0"/>
              <a:t>/wiki/</a:t>
            </a:r>
            <a:r>
              <a:rPr lang="en-US" sz="1200" dirty="0" err="1"/>
              <a:t>Diffusion_process</a:t>
            </a:r>
            <a:r>
              <a:rPr lang="en-US" sz="1200" dirty="0"/>
              <a:t> –</a:t>
            </a:r>
          </a:p>
          <a:p>
            <a:r>
              <a:rPr lang="en-US" sz="1200" dirty="0"/>
              <a:t>- https://</a:t>
            </a:r>
            <a:r>
              <a:rPr lang="en-US" sz="1200" dirty="0" err="1"/>
              <a:t>en.wikipedia.org</a:t>
            </a:r>
            <a:r>
              <a:rPr lang="en-US" sz="1200" dirty="0"/>
              <a:t>/wiki/</a:t>
            </a:r>
            <a:r>
              <a:rPr lang="en-US" sz="1200" dirty="0" err="1"/>
              <a:t>Stationary_process</a:t>
            </a:r>
            <a:r>
              <a:rPr lang="en-US" sz="1200" dirty="0"/>
              <a:t> –</a:t>
            </a:r>
          </a:p>
          <a:p>
            <a:r>
              <a:rPr lang="en-US" sz="1200" dirty="0"/>
              <a:t>- https://</a:t>
            </a:r>
            <a:r>
              <a:rPr lang="en-US" sz="1200" dirty="0" err="1"/>
              <a:t>en.wikipedia.org</a:t>
            </a:r>
            <a:r>
              <a:rPr lang="en-US" sz="1200" dirty="0"/>
              <a:t>/wiki/</a:t>
            </a:r>
            <a:r>
              <a:rPr lang="en-US" sz="1200" dirty="0" err="1"/>
              <a:t>Stable_process</a:t>
            </a:r>
            <a:r>
              <a:rPr lang="en-US" sz="1200" dirty="0"/>
              <a:t> –</a:t>
            </a:r>
          </a:p>
          <a:p>
            <a:endParaRPr lang="en-US" sz="1200" dirty="0"/>
          </a:p>
          <a:p>
            <a:r>
              <a:rPr lang="en-US" sz="1200" dirty="0"/>
              <a:t>Poisson Process</a:t>
            </a:r>
          </a:p>
          <a:p>
            <a:r>
              <a:rPr lang="en-US" sz="1200" dirty="0"/>
              <a:t>– https://</a:t>
            </a:r>
            <a:r>
              <a:rPr lang="en-US" sz="1200" dirty="0" err="1"/>
              <a:t>en.wikipedia.org</a:t>
            </a:r>
            <a:r>
              <a:rPr lang="en-US" sz="1200" dirty="0"/>
              <a:t>/wiki/</a:t>
            </a:r>
            <a:r>
              <a:rPr lang="en-US" sz="1200" dirty="0" err="1"/>
              <a:t>Poisson_point_process</a:t>
            </a:r>
            <a:r>
              <a:rPr lang="en-US" sz="1200" dirty="0"/>
              <a:t> –</a:t>
            </a:r>
          </a:p>
          <a:p>
            <a:r>
              <a:rPr lang="en-US" sz="1200" dirty="0"/>
              <a:t>– https://</a:t>
            </a:r>
            <a:r>
              <a:rPr lang="en-US" sz="1200" dirty="0" err="1"/>
              <a:t>en.wikipedia.org</a:t>
            </a:r>
            <a:r>
              <a:rPr lang="en-US" sz="1200" dirty="0"/>
              <a:t>/wiki/</a:t>
            </a:r>
            <a:r>
              <a:rPr lang="en-US" sz="1200" dirty="0" err="1"/>
              <a:t>Dirac_delta_function</a:t>
            </a:r>
            <a:r>
              <a:rPr lang="en-US" sz="1200" dirty="0"/>
              <a:t> –</a:t>
            </a:r>
          </a:p>
          <a:p>
            <a:r>
              <a:rPr lang="en-US" sz="1200" dirty="0"/>
              <a:t>– https://</a:t>
            </a:r>
            <a:r>
              <a:rPr lang="en-US" sz="1200" dirty="0" err="1"/>
              <a:t>en.wikipedia.org</a:t>
            </a:r>
            <a:r>
              <a:rPr lang="en-US" sz="1200" dirty="0"/>
              <a:t>/wiki/</a:t>
            </a:r>
            <a:r>
              <a:rPr lang="en-US" sz="1200" dirty="0" err="1"/>
              <a:t>Compound_Poisson_process</a:t>
            </a:r>
            <a:r>
              <a:rPr lang="en-US" sz="1200" dirty="0"/>
              <a:t> –</a:t>
            </a:r>
          </a:p>
          <a:p>
            <a:endParaRPr lang="en-US" sz="1200" dirty="0"/>
          </a:p>
          <a:p>
            <a:r>
              <a:rPr lang="en-US" sz="1200" dirty="0"/>
              <a:t>White Noise, Gaussian Noise, Brownian Noise</a:t>
            </a:r>
          </a:p>
          <a:p>
            <a:r>
              <a:rPr lang="en-US" sz="1200" dirty="0"/>
              <a:t>– https://</a:t>
            </a:r>
            <a:r>
              <a:rPr lang="en-US" sz="1200" dirty="0" err="1"/>
              <a:t>en.wikipedia.org</a:t>
            </a:r>
            <a:r>
              <a:rPr lang="en-US" sz="1200" dirty="0"/>
              <a:t>/wiki/</a:t>
            </a:r>
            <a:r>
              <a:rPr lang="en-US" sz="1200" dirty="0" err="1"/>
              <a:t>White_noise</a:t>
            </a:r>
            <a:r>
              <a:rPr lang="en-US" sz="1200" dirty="0"/>
              <a:t> –</a:t>
            </a:r>
          </a:p>
          <a:p>
            <a:r>
              <a:rPr lang="en-US" sz="1200" dirty="0"/>
              <a:t>– https://</a:t>
            </a:r>
            <a:r>
              <a:rPr lang="en-US" sz="1200" dirty="0" err="1"/>
              <a:t>en.wikipedia.org</a:t>
            </a:r>
            <a:r>
              <a:rPr lang="en-US" sz="1200" dirty="0"/>
              <a:t>/wiki/</a:t>
            </a:r>
            <a:r>
              <a:rPr lang="en-US" sz="1200" dirty="0" err="1"/>
              <a:t>Gaussian_noise</a:t>
            </a:r>
            <a:r>
              <a:rPr lang="en-US" sz="1200" dirty="0"/>
              <a:t> –</a:t>
            </a:r>
          </a:p>
          <a:p>
            <a:r>
              <a:rPr lang="en-US" sz="1200" dirty="0"/>
              <a:t>– https://</a:t>
            </a:r>
            <a:r>
              <a:rPr lang="en-US" sz="1200" dirty="0" err="1"/>
              <a:t>en.wikipedia.org</a:t>
            </a:r>
            <a:r>
              <a:rPr lang="en-US" sz="1200" dirty="0"/>
              <a:t>/wiki/</a:t>
            </a:r>
            <a:r>
              <a:rPr lang="en-US" sz="1200" dirty="0" err="1"/>
              <a:t>Brownian_noise</a:t>
            </a:r>
            <a:r>
              <a:rPr lang="en-US" sz="1200" dirty="0"/>
              <a:t> –</a:t>
            </a:r>
          </a:p>
          <a:p>
            <a:endParaRPr lang="en-US" sz="1200" dirty="0"/>
          </a:p>
          <a:p>
            <a:r>
              <a:rPr lang="en-US" sz="1200" dirty="0"/>
              <a:t>Markov Process</a:t>
            </a:r>
          </a:p>
          <a:p>
            <a:r>
              <a:rPr lang="en-US" sz="1200" dirty="0"/>
              <a:t>– https://</a:t>
            </a:r>
            <a:r>
              <a:rPr lang="en-US" sz="1200" dirty="0" err="1"/>
              <a:t>en.wikipedia.org</a:t>
            </a:r>
            <a:r>
              <a:rPr lang="en-US" sz="1200" dirty="0"/>
              <a:t>/wiki/</a:t>
            </a:r>
            <a:r>
              <a:rPr lang="en-US" sz="1200" dirty="0" err="1"/>
              <a:t>Markov_chain</a:t>
            </a:r>
            <a:r>
              <a:rPr lang="en-US" sz="1200" dirty="0"/>
              <a:t> –</a:t>
            </a:r>
          </a:p>
          <a:p>
            <a:r>
              <a:rPr lang="en-US" sz="1200" dirty="0"/>
              <a:t>– https://</a:t>
            </a:r>
            <a:r>
              <a:rPr lang="en-US" sz="1200" dirty="0" err="1"/>
              <a:t>en.wikipedia.org</a:t>
            </a:r>
            <a:r>
              <a:rPr lang="en-US" sz="1200" dirty="0"/>
              <a:t>/wiki/</a:t>
            </a:r>
            <a:r>
              <a:rPr lang="en-US" sz="1200" dirty="0" err="1"/>
              <a:t>Markov_process</a:t>
            </a:r>
            <a:r>
              <a:rPr lang="en-US" sz="1200" dirty="0"/>
              <a:t> –</a:t>
            </a:r>
          </a:p>
          <a:p>
            <a:endParaRPr lang="en-US" sz="1200" dirty="0"/>
          </a:p>
          <a:p>
            <a:r>
              <a:rPr lang="en-US" sz="1200" dirty="0"/>
              <a:t>Correlation function:</a:t>
            </a:r>
          </a:p>
          <a:p>
            <a:r>
              <a:rPr lang="en-US" sz="1200" dirty="0"/>
              <a:t>– https://</a:t>
            </a:r>
            <a:r>
              <a:rPr lang="en-US" sz="1200" dirty="0" err="1"/>
              <a:t>en.wikipedia.org</a:t>
            </a:r>
            <a:r>
              <a:rPr lang="en-US" sz="1200" dirty="0"/>
              <a:t>/wiki/</a:t>
            </a:r>
            <a:r>
              <a:rPr lang="en-US" sz="1200" dirty="0" err="1"/>
              <a:t>Correlation_function</a:t>
            </a:r>
            <a:r>
              <a:rPr lang="en-US" sz="1200" dirty="0"/>
              <a:t> –</a:t>
            </a:r>
          </a:p>
          <a:p>
            <a:r>
              <a:rPr lang="en-US" sz="1200" dirty="0"/>
              <a:t>– https://</a:t>
            </a:r>
            <a:r>
              <a:rPr lang="en-US" sz="1200" dirty="0" err="1"/>
              <a:t>en.wikipedia.org</a:t>
            </a:r>
            <a:r>
              <a:rPr lang="en-US" sz="1200" dirty="0"/>
              <a:t>/wiki/Autocorrelation –</a:t>
            </a:r>
          </a:p>
          <a:p>
            <a:endParaRPr lang="en-US" sz="1200" dirty="0"/>
          </a:p>
          <a:p>
            <a:r>
              <a:rPr lang="en-US" sz="1200" dirty="0"/>
              <a:t>Spectral Density, Fourier Analysis</a:t>
            </a:r>
          </a:p>
          <a:p>
            <a:r>
              <a:rPr lang="en-US" sz="1200" dirty="0"/>
              <a:t>– https://</a:t>
            </a:r>
            <a:r>
              <a:rPr lang="en-US" sz="1200" dirty="0" err="1"/>
              <a:t>en.wikipedia.org</a:t>
            </a:r>
            <a:r>
              <a:rPr lang="en-US" sz="1200" dirty="0"/>
              <a:t>/wiki/</a:t>
            </a:r>
            <a:r>
              <a:rPr lang="en-US" sz="1200" dirty="0" err="1"/>
              <a:t>Spectral_density</a:t>
            </a:r>
            <a:r>
              <a:rPr lang="en-US" sz="1200" dirty="0"/>
              <a:t> –</a:t>
            </a:r>
          </a:p>
          <a:p>
            <a:r>
              <a:rPr lang="en-US" sz="1200" dirty="0"/>
              <a:t>– https://</a:t>
            </a:r>
            <a:r>
              <a:rPr lang="en-US" sz="1200" dirty="0" err="1"/>
              <a:t>en.wikipedia.org</a:t>
            </a:r>
            <a:r>
              <a:rPr lang="en-US" sz="1200" dirty="0"/>
              <a:t>/wiki/</a:t>
            </a:r>
            <a:r>
              <a:rPr lang="en-US" sz="1200" dirty="0" err="1"/>
              <a:t>Fourier_analysis</a:t>
            </a:r>
            <a:r>
              <a:rPr lang="en-US" sz="1200" dirty="0"/>
              <a:t> –</a:t>
            </a:r>
          </a:p>
          <a:p>
            <a:r>
              <a:rPr lang="en-US" sz="1200" dirty="0"/>
              <a:t>– https://</a:t>
            </a:r>
            <a:r>
              <a:rPr lang="en-US" sz="1200" dirty="0" err="1"/>
              <a:t>en.wikipedia.org</a:t>
            </a:r>
            <a:r>
              <a:rPr lang="en-US" sz="1200" dirty="0"/>
              <a:t>/wiki/</a:t>
            </a:r>
            <a:r>
              <a:rPr lang="en-US" sz="1200" dirty="0" err="1"/>
              <a:t>Fast_Fourier_transform</a:t>
            </a:r>
            <a:r>
              <a:rPr lang="en-US" sz="1200" dirty="0"/>
              <a:t> –</a:t>
            </a:r>
          </a:p>
        </p:txBody>
      </p:sp>
    </p:spTree>
    <p:extLst>
      <p:ext uri="{BB962C8B-B14F-4D97-AF65-F5344CB8AC3E}">
        <p14:creationId xmlns:p14="http://schemas.microsoft.com/office/powerpoint/2010/main" val="42442832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EB5F268-965F-C142-A102-83C02389B555}"/>
              </a:ext>
            </a:extLst>
          </p:cNvPr>
          <p:cNvSpPr txBox="1"/>
          <p:nvPr/>
        </p:nvSpPr>
        <p:spPr>
          <a:xfrm>
            <a:off x="189186" y="178676"/>
            <a:ext cx="5906814" cy="3970318"/>
          </a:xfrm>
          <a:prstGeom prst="rect">
            <a:avLst/>
          </a:prstGeom>
          <a:noFill/>
        </p:spPr>
        <p:txBody>
          <a:bodyPr wrap="square" rtlCol="0">
            <a:spAutoFit/>
          </a:bodyPr>
          <a:lstStyle/>
          <a:p>
            <a:r>
              <a:rPr lang="en-US" dirty="0"/>
              <a:t>Convolution, Functional Analysis</a:t>
            </a:r>
          </a:p>
          <a:p>
            <a:r>
              <a:rPr lang="en-US" dirty="0"/>
              <a:t>– https://</a:t>
            </a:r>
            <a:r>
              <a:rPr lang="en-US" dirty="0" err="1"/>
              <a:t>en.wikipedia.org</a:t>
            </a:r>
            <a:r>
              <a:rPr lang="en-US" dirty="0"/>
              <a:t>/wiki/Convolution –</a:t>
            </a:r>
          </a:p>
          <a:p>
            <a:r>
              <a:rPr lang="en-US" dirty="0"/>
              <a:t>– https://</a:t>
            </a:r>
            <a:r>
              <a:rPr lang="en-US" dirty="0" err="1"/>
              <a:t>en.wikipedia.org</a:t>
            </a:r>
            <a:r>
              <a:rPr lang="en-US" dirty="0"/>
              <a:t>/wiki/</a:t>
            </a:r>
            <a:r>
              <a:rPr lang="en-US" dirty="0" err="1"/>
              <a:t>Functional_analysis</a:t>
            </a:r>
            <a:r>
              <a:rPr lang="en-US" dirty="0"/>
              <a:t> –</a:t>
            </a:r>
          </a:p>
          <a:p>
            <a:endParaRPr lang="en-US" dirty="0"/>
          </a:p>
          <a:p>
            <a:r>
              <a:rPr lang="en-US" dirty="0"/>
              <a:t>Extracting signal from Noise</a:t>
            </a:r>
          </a:p>
          <a:p>
            <a:r>
              <a:rPr lang="en-US" dirty="0"/>
              <a:t>– https://</a:t>
            </a:r>
            <a:r>
              <a:rPr lang="en-US" dirty="0" err="1"/>
              <a:t>en.wikipedia.org</a:t>
            </a:r>
            <a:r>
              <a:rPr lang="en-US" dirty="0"/>
              <a:t>/wiki/Signal-to-</a:t>
            </a:r>
            <a:r>
              <a:rPr lang="en-US" dirty="0" err="1"/>
              <a:t>noise_ratio</a:t>
            </a:r>
            <a:r>
              <a:rPr lang="en-US" dirty="0"/>
              <a:t> –</a:t>
            </a:r>
          </a:p>
          <a:p>
            <a:r>
              <a:rPr lang="en-US" dirty="0"/>
              <a:t>– https://</a:t>
            </a:r>
            <a:r>
              <a:rPr lang="en-US" dirty="0" err="1"/>
              <a:t>en.wikipedia.org</a:t>
            </a:r>
            <a:r>
              <a:rPr lang="en-US" dirty="0"/>
              <a:t>/wiki/</a:t>
            </a:r>
            <a:r>
              <a:rPr lang="en-US" dirty="0" err="1"/>
              <a:t>Noise_reduction</a:t>
            </a:r>
            <a:r>
              <a:rPr lang="en-US" dirty="0"/>
              <a:t> – (filtering, etc.)</a:t>
            </a:r>
          </a:p>
          <a:p>
            <a:r>
              <a:rPr lang="en-US" dirty="0"/>
              <a:t>If we add N samples “s” of noisy data, then the signal will add proportionally to N,</a:t>
            </a:r>
          </a:p>
          <a:p>
            <a:r>
              <a:rPr lang="en-US" dirty="0"/>
              <a:t>whereas noise will grow only as sqrt(N). So, if we add 100 samples, we will</a:t>
            </a:r>
          </a:p>
          <a:p>
            <a:r>
              <a:rPr lang="en-US" dirty="0"/>
              <a:t>improve out Signal/Noise ratio ~10 times.</a:t>
            </a:r>
          </a:p>
          <a:p>
            <a:endParaRPr lang="en-US" dirty="0"/>
          </a:p>
          <a:p>
            <a:r>
              <a:rPr lang="en-US" dirty="0"/>
              <a:t>Monte Carlo Method</a:t>
            </a:r>
          </a:p>
          <a:p>
            <a:r>
              <a:rPr lang="en-US" dirty="0"/>
              <a:t>– https://</a:t>
            </a:r>
            <a:r>
              <a:rPr lang="en-US" dirty="0" err="1"/>
              <a:t>en.wikipedia.org</a:t>
            </a:r>
            <a:r>
              <a:rPr lang="en-US" dirty="0"/>
              <a:t>/wiki/</a:t>
            </a:r>
            <a:r>
              <a:rPr lang="en-US" dirty="0" err="1"/>
              <a:t>Monte_Carlo_method</a:t>
            </a:r>
            <a:r>
              <a:rPr lang="en-US" dirty="0"/>
              <a:t> – </a:t>
            </a:r>
          </a:p>
          <a:p>
            <a:r>
              <a:rPr lang="en-US" dirty="0"/>
              <a:t>used to evaluate something by using randomly-generated samples. </a:t>
            </a:r>
          </a:p>
          <a:p>
            <a:r>
              <a:rPr lang="en-US" dirty="0"/>
              <a:t>The more samples – the more accurate the result.</a:t>
            </a:r>
          </a:p>
          <a:p>
            <a:endParaRPr lang="en-US" dirty="0"/>
          </a:p>
        </p:txBody>
      </p:sp>
    </p:spTree>
    <p:extLst>
      <p:ext uri="{BB962C8B-B14F-4D97-AF65-F5344CB8AC3E}">
        <p14:creationId xmlns:p14="http://schemas.microsoft.com/office/powerpoint/2010/main" val="1295097877"/>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TotalTime>
  <Words>5610</Words>
  <Application>Microsoft Macintosh PowerPoint</Application>
  <PresentationFormat>Widescreen</PresentationFormat>
  <Paragraphs>648</Paragraphs>
  <Slides>19</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Cambria Math</vt:lpstr>
      <vt:lpstr>Courier New</vt:lpstr>
      <vt:lpstr>Monaco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27</cp:revision>
  <dcterms:modified xsi:type="dcterms:W3CDTF">2020-08-09T02:32:09Z</dcterms:modified>
</cp:coreProperties>
</file>