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310" r:id="rId2"/>
    <p:sldId id="311" r:id="rId3"/>
    <p:sldId id="314" r:id="rId4"/>
    <p:sldId id="315" r:id="rId5"/>
    <p:sldId id="312" r:id="rId6"/>
    <p:sldId id="316" r:id="rId7"/>
    <p:sldId id="313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93"/>
    <p:restoredTop sz="92200"/>
  </p:normalViewPr>
  <p:slideViewPr>
    <p:cSldViewPr snapToGrid="0" snapToObjects="1">
      <p:cViewPr varScale="1">
        <p:scale>
          <a:sx n="95" d="100"/>
          <a:sy n="95" d="100"/>
        </p:scale>
        <p:origin x="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4185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5676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tiff"/><Relationship Id="rId5" Type="http://schemas.openxmlformats.org/officeDocument/2006/relationships/hyperlink" Target="https://spatial-data-science-conference.com/" TargetMode="External"/><Relationship Id="rId4" Type="http://schemas.openxmlformats.org/officeDocument/2006/relationships/hyperlink" Target="https://www.sciencedirect.com/topics/engineering/spatial-data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" TargetMode="External"/><Relationship Id="rId13" Type="http://schemas.openxmlformats.org/officeDocument/2006/relationships/hyperlink" Target="https://github.com/ResidentMario/missingno" TargetMode="External"/><Relationship Id="rId18" Type="http://schemas.openxmlformats.org/officeDocument/2006/relationships/hyperlink" Target="https://sequelize.org/" TargetMode="External"/><Relationship Id="rId3" Type="http://schemas.openxmlformats.org/officeDocument/2006/relationships/hyperlink" Target="https://shapely.readthedocs.io/en/stable/" TargetMode="External"/><Relationship Id="rId7" Type="http://schemas.openxmlformats.org/officeDocument/2006/relationships/hyperlink" Target="https://residentmario.github.io/geoplot/index.html" TargetMode="External"/><Relationship Id="rId12" Type="http://schemas.openxmlformats.org/officeDocument/2006/relationships/hyperlink" Target="https://pysal.org/" TargetMode="External"/><Relationship Id="rId17" Type="http://schemas.openxmlformats.org/officeDocument/2006/relationships/hyperlink" Target="https://postgis.net/" TargetMode="External"/><Relationship Id="rId2" Type="http://schemas.openxmlformats.org/officeDocument/2006/relationships/hyperlink" Target="https://geopandas.org/" TargetMode="External"/><Relationship Id="rId16" Type="http://schemas.openxmlformats.org/officeDocument/2006/relationships/hyperlink" Target="http://geojson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tplotlib.org/" TargetMode="External"/><Relationship Id="rId11" Type="http://schemas.openxmlformats.org/officeDocument/2006/relationships/hyperlink" Target="https://gdal.org/" TargetMode="External"/><Relationship Id="rId5" Type="http://schemas.openxmlformats.org/officeDocument/2006/relationships/hyperlink" Target="https://pypi.org/project/descartes/" TargetMode="External"/><Relationship Id="rId15" Type="http://schemas.openxmlformats.org/officeDocument/2006/relationships/hyperlink" Target="https://tools.ietf.org/html/rfc7946" TargetMode="External"/><Relationship Id="rId10" Type="http://schemas.openxmlformats.org/officeDocument/2006/relationships/hyperlink" Target="https://toblerity.org/rtree/" TargetMode="External"/><Relationship Id="rId19" Type="http://schemas.openxmlformats.org/officeDocument/2006/relationships/hyperlink" Target="https://earthengine.google.com/" TargetMode="External"/><Relationship Id="rId4" Type="http://schemas.openxmlformats.org/officeDocument/2006/relationships/hyperlink" Target="https://fiona.readthedocs.io/en/latest/" TargetMode="External"/><Relationship Id="rId9" Type="http://schemas.openxmlformats.org/officeDocument/2006/relationships/hyperlink" Target="https://www.scipy.org/" TargetMode="External"/><Relationship Id="rId14" Type="http://schemas.openxmlformats.org/officeDocument/2006/relationships/hyperlink" Target="https://geojson.or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ourses.cs.vt.edu/cs3114/Fall08/Quadtree.pdf" TargetMode="External"/><Relationship Id="rId7" Type="http://schemas.openxmlformats.org/officeDocument/2006/relationships/image" Target="../media/image6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iff"/><Relationship Id="rId5" Type="http://schemas.openxmlformats.org/officeDocument/2006/relationships/hyperlink" Target="https://en.wikipedia.org/wiki/Quadtree" TargetMode="External"/><Relationship Id="rId4" Type="http://schemas.openxmlformats.org/officeDocument/2006/relationships/hyperlink" Target="https://en.wikipedia.org/wiki/K-d_tre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iff"/><Relationship Id="rId3" Type="http://schemas.openxmlformats.org/officeDocument/2006/relationships/hyperlink" Target="https://www.esri.com/en-us/home" TargetMode="External"/><Relationship Id="rId7" Type="http://schemas.openxmlformats.org/officeDocument/2006/relationships/hyperlink" Target="https://github.com/Esri" TargetMode="External"/><Relationship Id="rId2" Type="http://schemas.openxmlformats.org/officeDocument/2006/relationships/hyperlink" Target="https://en.wikipedia.org/wiki/ArcGI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sri.com/en-us/arcgis/products/arcgis-notebooks/overview" TargetMode="External"/><Relationship Id="rId5" Type="http://schemas.openxmlformats.org/officeDocument/2006/relationships/hyperlink" Target="https://www.esri.com/en-us/arcgis/products/index" TargetMode="External"/><Relationship Id="rId4" Type="http://schemas.openxmlformats.org/officeDocument/2006/relationships/hyperlink" Target="https://www.esri.com/en-us/arcgis/about-arcgis/overvie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rtoDB/cartoframes" TargetMode="External"/><Relationship Id="rId2" Type="http://schemas.openxmlformats.org/officeDocument/2006/relationships/hyperlink" Target="https://carto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tiff"/><Relationship Id="rId5" Type="http://schemas.openxmlformats.org/officeDocument/2006/relationships/hyperlink" Target="https://www.qgis.org/en/site/" TargetMode="External"/><Relationship Id="rId4" Type="http://schemas.openxmlformats.org/officeDocument/2006/relationships/image" Target="../media/image10.tif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demy.com/course/python-for-spatial-data-analysis-with-earth-engine-and-qgis/" TargetMode="External"/><Relationship Id="rId13" Type="http://schemas.openxmlformats.org/officeDocument/2006/relationships/hyperlink" Target="https://en.wikipedia.org/wiki/A*_search_algorithm" TargetMode="External"/><Relationship Id="rId3" Type="http://schemas.openxmlformats.org/officeDocument/2006/relationships/hyperlink" Target="https://www.datacamp.com/community/tutorials/geospatial-data-python" TargetMode="External"/><Relationship Id="rId7" Type="http://schemas.openxmlformats.org/officeDocument/2006/relationships/hyperlink" Target="https://www.atlistmaps.com/" TargetMode="External"/><Relationship Id="rId12" Type="http://schemas.openxmlformats.org/officeDocument/2006/relationships/hyperlink" Target="https://en.wikipedia.org/wiki/Dijkstra%27s_algorith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visualizing-geospatial-data-in-python-e070374fe621" TargetMode="External"/><Relationship Id="rId11" Type="http://schemas.openxmlformats.org/officeDocument/2006/relationships/hyperlink" Target="https://en.wikipedia.org/wiki/Shortest_path_problem" TargetMode="External"/><Relationship Id="rId5" Type="http://schemas.openxmlformats.org/officeDocument/2006/relationships/hyperlink" Target="https://github.com/giswqs/python-geospatial" TargetMode="External"/><Relationship Id="rId10" Type="http://schemas.openxmlformats.org/officeDocument/2006/relationships/image" Target="../media/image13.tiff"/><Relationship Id="rId4" Type="http://schemas.openxmlformats.org/officeDocument/2006/relationships/hyperlink" Target="https://www.earthdatascience.org/courses/use-data-open-source-python/intro-vector-data-python/spatial-data-vector-shapefiles/" TargetMode="External"/><Relationship Id="rId9" Type="http://schemas.openxmlformats.org/officeDocument/2006/relationships/image" Target="../media/image12.tiff"/><Relationship Id="rId14" Type="http://schemas.openxmlformats.org/officeDocument/2006/relationships/hyperlink" Target="http://blog.kdgregory.com/2011/12/how-gps-calculates-route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5751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Spatial Data Science (SDS)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5B2FE-FA72-D242-BBE1-F12333B454CD}"/>
              </a:ext>
            </a:extLst>
          </p:cNvPr>
          <p:cNvSpPr txBox="1"/>
          <p:nvPr/>
        </p:nvSpPr>
        <p:spPr>
          <a:xfrm>
            <a:off x="-1" y="426235"/>
            <a:ext cx="694413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Spatial Data Science (SDS)</a:t>
            </a:r>
            <a:r>
              <a:rPr lang="en-US" sz="12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descriptive - where things happen, </a:t>
            </a:r>
            <a:r>
              <a:rPr lang="en-US" sz="1200" dirty="0" err="1"/>
              <a:t>spatio</a:t>
            </a:r>
            <a:r>
              <a:rPr lang="en-US" sz="1200" dirty="0"/>
              <a:t>-temporal relations,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perspective - why things happen there, make predictions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rgbClr val="0070C0"/>
                </a:solidFill>
              </a:rPr>
              <a:t>Spatial Data (SD)</a:t>
            </a:r>
            <a:r>
              <a:rPr lang="en-US" sz="1200" dirty="0"/>
              <a:t> , a.k.a. Geospatial data, GIS data, or geodata</a:t>
            </a:r>
          </a:p>
          <a:p>
            <a:r>
              <a:rPr lang="en-US" sz="1200" dirty="0"/>
              <a:t>SD consists of two components: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what (attribute data - nominal, ordinal, interval, ratio)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where (spatial data) – </a:t>
            </a:r>
            <a:r>
              <a:rPr lang="en-US" sz="1200" b="1" dirty="0">
                <a:solidFill>
                  <a:srgbClr val="0070C0"/>
                </a:solidFill>
              </a:rPr>
              <a:t>coordinates, topology, locations, shapes</a:t>
            </a:r>
          </a:p>
          <a:p>
            <a:endParaRPr lang="en-US" sz="1200" dirty="0"/>
          </a:p>
          <a:p>
            <a:r>
              <a:rPr lang="en-US" sz="1200" dirty="0"/>
              <a:t>Example of SD - a road map: a 2-dim object that contains </a:t>
            </a:r>
            <a:r>
              <a:rPr lang="en-US" sz="1200" b="1" dirty="0">
                <a:solidFill>
                  <a:srgbClr val="0070C0"/>
                </a:solidFill>
              </a:rPr>
              <a:t>points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0070C0"/>
                </a:solidFill>
              </a:rPr>
              <a:t>lines</a:t>
            </a:r>
            <a:r>
              <a:rPr lang="en-US" sz="1200" dirty="0"/>
              <a:t>, and </a:t>
            </a:r>
            <a:r>
              <a:rPr lang="en-US" sz="1200" b="1" dirty="0">
                <a:solidFill>
                  <a:srgbClr val="0070C0"/>
                </a:solidFill>
              </a:rPr>
              <a:t>polygons</a:t>
            </a:r>
            <a:r>
              <a:rPr lang="en-US" sz="1200" dirty="0"/>
              <a:t>  that can represent cities, roads, boundaries (of states, provinces, ...).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rgbClr val="0070C0"/>
                </a:solidFill>
              </a:rPr>
              <a:t>GIS (Geographic Information System)</a:t>
            </a:r>
            <a:r>
              <a:rPr lang="en-US" sz="1200" dirty="0"/>
              <a:t> - used to store, retrieve, and render the Earth-relative SD. Examples - Canadian GIS, U.S. Census DIME files, POLYVRT system - use Polygonal representations. Surface data has been represented by the triangle structures.</a:t>
            </a:r>
          </a:p>
          <a:p>
            <a:endParaRPr lang="en-US" sz="1200" dirty="0"/>
          </a:p>
          <a:p>
            <a:r>
              <a:rPr lang="en-US" sz="1200" dirty="0"/>
              <a:t>SD can be of 2 types: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70C0"/>
                </a:solidFill>
              </a:rPr>
              <a:t>raster data</a:t>
            </a:r>
            <a:r>
              <a:rPr lang="en-US" sz="1200" dirty="0"/>
              <a:t> (grid of rows/columns)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70C0"/>
                </a:solidFill>
              </a:rPr>
              <a:t>vector data</a:t>
            </a:r>
            <a:r>
              <a:rPr lang="en-US" sz="1200" dirty="0"/>
              <a:t> (points, polylines, and polygons).</a:t>
            </a:r>
          </a:p>
          <a:p>
            <a:endParaRPr lang="en-US" sz="1200" dirty="0"/>
          </a:p>
          <a:p>
            <a:r>
              <a:rPr lang="en-US" sz="1200" dirty="0"/>
              <a:t>SD – data collection: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Satellites (spatial and spectral resolution, time resolution), geostationary orbit satellites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Aerial photography (low-altitude) using unmanned aerial vehicles and delta-winged drones.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Ground photography, streetscape scanning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Ground boring data - resources (water, oil, etc.)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Political and ownership boundaries, geo-political, languages, demographics,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Nature – plants, animals, environmental conditions, land classification for </a:t>
            </a:r>
            <a:r>
              <a:rPr lang="en-US" sz="1200" dirty="0" err="1"/>
              <a:t>aggriculture</a:t>
            </a:r>
            <a:r>
              <a:rPr lang="en-US" sz="1200" dirty="0"/>
              <a:t>, ...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roads, rail-roads, airplane routes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pipes, internet and cables, cellular data, tracking people movements and travel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GPS, Google map, drive routing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Geo-marketing, geo-sales predictions, spatial propensity for products/services, voting, criminal behavior, religion, ...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Follow the money, real estate planning,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4C4CE3-438D-BA46-B103-C29B048442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5423" y="645922"/>
            <a:ext cx="2733237" cy="1580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9541BE-77BA-E740-95F2-15B97467EBF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4799" y="969518"/>
            <a:ext cx="1688345" cy="1079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35FC1A-7105-4140-8342-A9547A64466F}"/>
              </a:ext>
            </a:extLst>
          </p:cNvPr>
          <p:cNvSpPr txBox="1"/>
          <p:nvPr/>
        </p:nvSpPr>
        <p:spPr>
          <a:xfrm>
            <a:off x="7116417" y="145774"/>
            <a:ext cx="5075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Good review:</a:t>
            </a:r>
          </a:p>
          <a:p>
            <a:r>
              <a:rPr lang="en-US" sz="1200" dirty="0">
                <a:hlinkClick r:id="rId4"/>
              </a:rPr>
              <a:t>https://www.sciencedirect.com/topics/engineering/spatial-data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919BB7-23D2-8D4D-BF1D-03B909039E11}"/>
              </a:ext>
            </a:extLst>
          </p:cNvPr>
          <p:cNvSpPr txBox="1"/>
          <p:nvPr/>
        </p:nvSpPr>
        <p:spPr>
          <a:xfrm>
            <a:off x="6944138" y="2505524"/>
            <a:ext cx="524786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Geo-statistics</a:t>
            </a:r>
            <a:r>
              <a:rPr lang="en-US" sz="1200" dirty="0"/>
              <a:t> - analysis of spatial continuity and weak stationarity.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Point process</a:t>
            </a:r>
            <a:r>
              <a:rPr lang="en-US" sz="1200" dirty="0"/>
              <a:t> - model for a spatial distribution of points Example - positions of trees in a forest (comparing with a random pattern).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Lattice</a:t>
            </a:r>
            <a:r>
              <a:rPr lang="en-US" sz="1200" dirty="0"/>
              <a:t> - model a set of (</a:t>
            </a:r>
            <a:r>
              <a:rPr lang="en-US" sz="1200" dirty="0" err="1"/>
              <a:t>ir</a:t>
            </a:r>
            <a:r>
              <a:rPr lang="en-US" sz="1200" dirty="0"/>
              <a:t>)regular shapes with neighborhood relation.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SAR</a:t>
            </a:r>
            <a:r>
              <a:rPr lang="en-US" sz="1200" dirty="0"/>
              <a:t> = Spatial Auto-Regression analysis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MRF</a:t>
            </a:r>
            <a:r>
              <a:rPr lang="en-US" sz="1200" dirty="0"/>
              <a:t> = Markov Random Field analysis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DEM</a:t>
            </a:r>
            <a:r>
              <a:rPr lang="en-US" sz="1200" dirty="0"/>
              <a:t> = Digital Elevation Model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SAC</a:t>
            </a:r>
            <a:r>
              <a:rPr lang="en-US" sz="1200" dirty="0"/>
              <a:t> = Spatial Analysis Center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rgbClr val="0070C0"/>
                </a:solidFill>
              </a:rPr>
              <a:t>SDSC</a:t>
            </a:r>
            <a:r>
              <a:rPr lang="en-US" sz="1200" dirty="0"/>
              <a:t> – SDS Conference - </a:t>
            </a:r>
            <a:r>
              <a:rPr lang="en-US" sz="1200" dirty="0">
                <a:hlinkClick r:id="rId5"/>
              </a:rPr>
              <a:t>https://spatial-data-science-conference.com/</a:t>
            </a:r>
            <a:r>
              <a:rPr lang="en-US" sz="1200" dirty="0"/>
              <a:t> </a:t>
            </a:r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83668-6952-4444-8DAE-10B4E91DAF8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0434" y="5309442"/>
            <a:ext cx="1458226" cy="9136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0E1C2B-3242-674C-81EE-913E40198BB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4004" y="4894640"/>
            <a:ext cx="2322837" cy="154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0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9DD96-D508-154F-8B1F-D0C67CD08442}"/>
              </a:ext>
            </a:extLst>
          </p:cNvPr>
          <p:cNvSpPr txBox="1"/>
          <p:nvPr/>
        </p:nvSpPr>
        <p:spPr>
          <a:xfrm>
            <a:off x="134471" y="94129"/>
            <a:ext cx="11766176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python, </a:t>
            </a:r>
            <a:r>
              <a:rPr lang="en-US" dirty="0" err="1"/>
              <a:t>numpy</a:t>
            </a:r>
            <a:r>
              <a:rPr lang="en-US" dirty="0"/>
              <a:t>, 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</a:rPr>
              <a:t>GeoPandas</a:t>
            </a:r>
            <a:r>
              <a:rPr lang="en-US" dirty="0"/>
              <a:t> - </a:t>
            </a:r>
            <a:r>
              <a:rPr lang="en-US" dirty="0">
                <a:hlinkClick r:id="rId2"/>
              </a:rPr>
              <a:t>https://geopandas.org/</a:t>
            </a:r>
            <a:r>
              <a:rPr lang="en-US" dirty="0"/>
              <a:t>  - open source,  adds datatypes to allow spatial operations on geometric types (using shapely).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Shapely - </a:t>
            </a:r>
            <a:r>
              <a:rPr lang="en-US" dirty="0">
                <a:hlinkClick r:id="rId3"/>
              </a:rPr>
              <a:t>https://shapely.readthedocs.io/en/stable/</a:t>
            </a:r>
            <a:r>
              <a:rPr lang="en-US" dirty="0"/>
              <a:t> - manipulation and analysis of planar geometric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Fiona – </a:t>
            </a:r>
            <a:r>
              <a:rPr lang="en-US" dirty="0">
                <a:hlinkClick r:id="rId4"/>
              </a:rPr>
              <a:t>https://fiona.readthedocs.io/en/latest/</a:t>
            </a:r>
            <a:r>
              <a:rPr lang="en-US" dirty="0"/>
              <a:t> - read/write geo-data, modules to use </a:t>
            </a:r>
            <a:r>
              <a:rPr lang="en-US" b="1" dirty="0">
                <a:solidFill>
                  <a:srgbClr val="0070C0"/>
                </a:solidFill>
              </a:rPr>
              <a:t>GDAL</a:t>
            </a:r>
            <a:r>
              <a:rPr lang="en-US" dirty="0"/>
              <a:t> (Geospatial Data Abstraction Library).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descartes</a:t>
            </a:r>
            <a:r>
              <a:rPr lang="en-US" dirty="0"/>
              <a:t> – </a:t>
            </a:r>
            <a:r>
              <a:rPr lang="en-US" dirty="0">
                <a:hlinkClick r:id="rId5"/>
              </a:rPr>
              <a:t>https://pypi.org/project/descartes/</a:t>
            </a:r>
            <a:r>
              <a:rPr lang="en-US" dirty="0"/>
              <a:t> - Use Shapely or </a:t>
            </a:r>
            <a:r>
              <a:rPr lang="en-US" dirty="0" err="1"/>
              <a:t>GeoJSON</a:t>
            </a:r>
            <a:r>
              <a:rPr lang="en-US" dirty="0"/>
              <a:t>-like geometric objects as matplotlib paths and patches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matplotlib - </a:t>
            </a:r>
            <a:r>
              <a:rPr lang="en-US" dirty="0">
                <a:hlinkClick r:id="rId6"/>
              </a:rPr>
              <a:t>https://matplotlib.org/</a:t>
            </a:r>
            <a:r>
              <a:rPr lang="en-US" dirty="0"/>
              <a:t> - plotting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geoplot</a:t>
            </a:r>
            <a:r>
              <a:rPr lang="en-US" dirty="0"/>
              <a:t> - </a:t>
            </a:r>
            <a:r>
              <a:rPr lang="en-US" dirty="0">
                <a:hlinkClick r:id="rId7"/>
              </a:rPr>
              <a:t>https://residentmario.github.io/geoplot/index.html</a:t>
            </a:r>
            <a:r>
              <a:rPr lang="en-US" dirty="0"/>
              <a:t> - high-level Python geospatial plotting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scikit</a:t>
            </a:r>
            <a:r>
              <a:rPr lang="en-US" dirty="0"/>
              <a:t>-learn - </a:t>
            </a:r>
            <a:r>
              <a:rPr lang="en-US" dirty="0">
                <a:hlinkClick r:id="rId8"/>
              </a:rPr>
              <a:t>https://scikit-learn.org</a:t>
            </a:r>
            <a:r>
              <a:rPr lang="en-US" dirty="0"/>
              <a:t> – very popular open-source Python library for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SciPy - </a:t>
            </a:r>
            <a:r>
              <a:rPr lang="en-US" dirty="0">
                <a:hlinkClick r:id="rId9"/>
              </a:rPr>
              <a:t>https://www.scipy.org/</a:t>
            </a:r>
            <a:r>
              <a:rPr lang="en-US" dirty="0"/>
              <a:t> - open-source Python library for math, science, and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RTree</a:t>
            </a:r>
            <a:r>
              <a:rPr lang="en-US" dirty="0"/>
              <a:t> - </a:t>
            </a:r>
            <a:r>
              <a:rPr lang="en-US" dirty="0">
                <a:hlinkClick r:id="rId10"/>
              </a:rPr>
              <a:t>https://toblerity.org/rtree/</a:t>
            </a:r>
            <a:r>
              <a:rPr lang="en-US" dirty="0"/>
              <a:t> - a </a:t>
            </a:r>
            <a:r>
              <a:rPr lang="en-US" dirty="0" err="1"/>
              <a:t>ctypes</a:t>
            </a:r>
            <a:r>
              <a:rPr lang="en-US" dirty="0"/>
              <a:t> Python wrapper of </a:t>
            </a:r>
            <a:r>
              <a:rPr lang="en-US" dirty="0" err="1"/>
              <a:t>libspatialindex</a:t>
            </a:r>
            <a:r>
              <a:rPr lang="en-US" dirty="0"/>
              <a:t> for advanced spatial indexing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GDAL - </a:t>
            </a:r>
            <a:r>
              <a:rPr lang="en-US" dirty="0">
                <a:hlinkClick r:id="rId11"/>
              </a:rPr>
              <a:t>https://gdal.org/</a:t>
            </a:r>
            <a:r>
              <a:rPr lang="en-US" dirty="0"/>
              <a:t> - translator library for raster and vector geospatial data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PySAL</a:t>
            </a:r>
            <a:r>
              <a:rPr lang="en-US" dirty="0"/>
              <a:t> - </a:t>
            </a:r>
            <a:r>
              <a:rPr lang="en-US" dirty="0">
                <a:hlinkClick r:id="rId12"/>
              </a:rPr>
              <a:t>https://pysal.org/</a:t>
            </a:r>
            <a:r>
              <a:rPr lang="en-US" dirty="0"/>
              <a:t> - Python Spatial Analysis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Missingno</a:t>
            </a:r>
            <a:r>
              <a:rPr lang="en-US" dirty="0"/>
              <a:t> - </a:t>
            </a:r>
            <a:r>
              <a:rPr lang="en-US" dirty="0">
                <a:hlinkClick r:id="rId13"/>
              </a:rPr>
              <a:t>https://github.com/ResidentMario/missingno</a:t>
            </a:r>
            <a:r>
              <a:rPr lang="en-US" dirty="0"/>
              <a:t> - missing data visualization module for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GEOJSON - </a:t>
            </a:r>
            <a:r>
              <a:rPr lang="en-US" dirty="0">
                <a:hlinkClick r:id="rId14"/>
              </a:rPr>
              <a:t>https://geojson.org/</a:t>
            </a:r>
            <a:r>
              <a:rPr lang="en-US" dirty="0"/>
              <a:t> , </a:t>
            </a:r>
            <a:r>
              <a:rPr lang="en-US" dirty="0">
                <a:hlinkClick r:id="rId15"/>
              </a:rPr>
              <a:t>https://tools.ietf.org/html/rfc7946</a:t>
            </a:r>
            <a:r>
              <a:rPr lang="en-US" dirty="0"/>
              <a:t> - open standard format (JSON) for representing simple geographical features and their non-spatial attributes. The features include points, line strings, polygons, and multi-part collections of these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geojson.io</a:t>
            </a:r>
            <a:r>
              <a:rPr lang="en-US" dirty="0"/>
              <a:t> - </a:t>
            </a:r>
            <a:r>
              <a:rPr lang="en-US" dirty="0">
                <a:hlinkClick r:id="rId16"/>
              </a:rPr>
              <a:t>http://geojson.io/</a:t>
            </a:r>
            <a:r>
              <a:rPr lang="en-US" dirty="0"/>
              <a:t> - a quick, simple tool for creating, viewing, and sharing maps. Supports </a:t>
            </a:r>
            <a:r>
              <a:rPr lang="en-US" dirty="0" err="1"/>
              <a:t>GeoJSON</a:t>
            </a:r>
            <a:r>
              <a:rPr lang="en-US" dirty="0"/>
              <a:t>, also accepts KML, GPX, CSV, GTFS, </a:t>
            </a:r>
            <a:r>
              <a:rPr lang="en-US" dirty="0" err="1"/>
              <a:t>TopoJSON</a:t>
            </a:r>
            <a:r>
              <a:rPr lang="en-US" dirty="0"/>
              <a:t>, and other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PostGIS</a:t>
            </a:r>
            <a:r>
              <a:rPr lang="en-US" dirty="0"/>
              <a:t> - </a:t>
            </a:r>
            <a:r>
              <a:rPr lang="en-US" dirty="0">
                <a:hlinkClick r:id="rId17"/>
              </a:rPr>
              <a:t>https://postgis.net/</a:t>
            </a:r>
            <a:r>
              <a:rPr lang="en-US" dirty="0"/>
              <a:t> - open source software (extension) which adds support for geographic objects to the PostgreSQL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Sequelize</a:t>
            </a:r>
            <a:r>
              <a:rPr lang="en-US" dirty="0"/>
              <a:t> - </a:t>
            </a:r>
            <a:r>
              <a:rPr lang="en-US" dirty="0">
                <a:hlinkClick r:id="rId18"/>
              </a:rPr>
              <a:t>https://sequelize.org/</a:t>
            </a:r>
            <a:r>
              <a:rPr lang="en-US" dirty="0"/>
              <a:t> - a promise-based Node.js ORM for Postgres, MySQL, MariaDB, SQLite and Microsoft SQL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deep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spatial clustering, temporal clustering,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problems (shortest path,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Problem - combining different data sources, converting to the same spatial support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</a:rPr>
              <a:t>Gogle</a:t>
            </a:r>
            <a:r>
              <a:rPr lang="en-US" b="1" dirty="0">
                <a:solidFill>
                  <a:srgbClr val="FF0000"/>
                </a:solidFill>
              </a:rPr>
              <a:t> Earth Engine</a:t>
            </a:r>
            <a:r>
              <a:rPr lang="en-US" dirty="0"/>
              <a:t> - </a:t>
            </a:r>
            <a:r>
              <a:rPr lang="en-US" dirty="0">
                <a:hlinkClick r:id="rId19"/>
              </a:rPr>
              <a:t>https://earthengine.google.com/</a:t>
            </a:r>
            <a:r>
              <a:rPr lang="en-US" dirty="0"/>
              <a:t> - multi-petabyte catalog of satellite imagery and geospatial datasets with planetary-scale analysis capabilities and makes it available for scientists, researchers, and developers to detect changes, map trends, and quantify differences on the Earth's surface</a:t>
            </a:r>
          </a:p>
        </p:txBody>
      </p:sp>
    </p:spTree>
    <p:extLst>
      <p:ext uri="{BB962C8B-B14F-4D97-AF65-F5344CB8AC3E}">
        <p14:creationId xmlns:p14="http://schemas.microsoft.com/office/powerpoint/2010/main" val="3265510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CAB4A-1D9E-C145-923E-EE827719E8CE}"/>
              </a:ext>
            </a:extLst>
          </p:cNvPr>
          <p:cNvSpPr txBox="1"/>
          <p:nvPr/>
        </p:nvSpPr>
        <p:spPr>
          <a:xfrm>
            <a:off x="188259" y="107576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Spatial Data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F574E-83DE-A148-803B-EBEBF407C048}"/>
              </a:ext>
            </a:extLst>
          </p:cNvPr>
          <p:cNvSpPr txBox="1"/>
          <p:nvPr/>
        </p:nvSpPr>
        <p:spPr>
          <a:xfrm>
            <a:off x="188259" y="726142"/>
            <a:ext cx="723451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http://courses.cs.vt.edu/cs3114/Fall08/Quadtree.pdf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Problem – find objects within 10 miles radius. </a:t>
            </a:r>
          </a:p>
          <a:p>
            <a:r>
              <a:rPr lang="en-US" dirty="0"/>
              <a:t>This is a search with a multidimensional search key (two </a:t>
            </a:r>
            <a:r>
              <a:rPr lang="en-US" dirty="0" err="1"/>
              <a:t>coordintes</a:t>
            </a:r>
            <a:r>
              <a:rPr lang="en-US" dirty="0"/>
              <a:t>), </a:t>
            </a:r>
          </a:p>
          <a:p>
            <a:r>
              <a:rPr lang="en-US" dirty="0"/>
              <a:t>a.k.a. </a:t>
            </a:r>
            <a:r>
              <a:rPr lang="en-US" b="1" dirty="0">
                <a:solidFill>
                  <a:srgbClr val="FF0000"/>
                </a:solidFill>
              </a:rPr>
              <a:t>Multidimensional Range Query</a:t>
            </a:r>
            <a:r>
              <a:rPr lang="en-US" dirty="0"/>
              <a:t>.</a:t>
            </a:r>
          </a:p>
          <a:p>
            <a:r>
              <a:rPr lang="en-US" dirty="0"/>
              <a:t>Another popular search - </a:t>
            </a:r>
            <a:r>
              <a:rPr lang="en-US" b="1" dirty="0">
                <a:solidFill>
                  <a:srgbClr val="FF0000"/>
                </a:solidFill>
              </a:rPr>
              <a:t>Nearest Neighbor Search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To make queries effective we can store spatial data as a tree.</a:t>
            </a:r>
          </a:p>
          <a:p>
            <a:r>
              <a:rPr lang="en-US" dirty="0"/>
              <a:t>Two common tree structures: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k-d tree</a:t>
            </a:r>
            <a:r>
              <a:rPr lang="en-US" dirty="0"/>
              <a:t> - a binary tree whose splitting decisions alternate among the key dimensions.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>
                <a:hlinkClick r:id="rId4"/>
              </a:rPr>
              <a:t>https://en.wikipedia.org/wiki/K-d_tree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PR quadtree</a:t>
            </a:r>
            <a:r>
              <a:rPr lang="en-US" dirty="0"/>
              <a:t> (Point-Region Quadtree) - split a square into four equal-sized quadrants at each branch (hence the name “quadtree”)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>
                <a:hlinkClick r:id="rId5"/>
              </a:rPr>
              <a:t>https://en.wikipedia.org/wiki/Quadtree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476CA-C000-B745-9122-1E538354644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0235" y="4511114"/>
            <a:ext cx="4518302" cy="22393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50CF22-7B62-BE4F-A56B-E368D9306511}"/>
              </a:ext>
            </a:extLst>
          </p:cNvPr>
          <p:cNvSpPr txBox="1"/>
          <p:nvPr/>
        </p:nvSpPr>
        <p:spPr>
          <a:xfrm>
            <a:off x="8135470" y="2843149"/>
            <a:ext cx="38055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Several variants of </a:t>
            </a:r>
            <a:r>
              <a:rPr lang="en-US" b="1" dirty="0">
                <a:solidFill>
                  <a:srgbClr val="0070C0"/>
                </a:solidFill>
              </a:rPr>
              <a:t>balanced k-d trees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divided k-d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pseudo k-d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K-D-B-tree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hB</a:t>
            </a:r>
            <a:r>
              <a:rPr lang="en-US" dirty="0"/>
              <a:t>-tree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Bkd</a:t>
            </a:r>
            <a:r>
              <a:rPr lang="en-US" dirty="0"/>
              <a:t>-tree</a:t>
            </a:r>
          </a:p>
          <a:p>
            <a:endParaRPr lang="en-US" dirty="0"/>
          </a:p>
          <a:p>
            <a:r>
              <a:rPr lang="en-US" dirty="0"/>
              <a:t>Many of these are </a:t>
            </a:r>
            <a:r>
              <a:rPr lang="en-US" b="1" dirty="0">
                <a:solidFill>
                  <a:srgbClr val="0070C0"/>
                </a:solidFill>
              </a:rPr>
              <a:t>adaptive k-d trees</a:t>
            </a:r>
            <a:r>
              <a:rPr lang="en-US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690F41-C21F-F64B-82DF-4BE202D35EC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1117" y="745207"/>
            <a:ext cx="3969871" cy="19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64D938-165F-7445-923D-4B74BAD1F80B}"/>
              </a:ext>
            </a:extLst>
          </p:cNvPr>
          <p:cNvSpPr txBox="1"/>
          <p:nvPr/>
        </p:nvSpPr>
        <p:spPr>
          <a:xfrm>
            <a:off x="134472" y="840968"/>
            <a:ext cx="6131858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collections import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namedtuple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operator import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itemgetter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pprint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pformat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Node(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namedtuple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("Node", "location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left_child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right_child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")):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def __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__(self):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pformat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(tuple(self))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kdtree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depth: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0):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not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None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k =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[0])  # assumes all points have the same dimension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Select axis based on depth so that axis cycles through all valid values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axis = depth % k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Sort point list by axis and choose median as pivot element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point_list.sort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itemgetter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(axis))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median =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// 2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Create node and construct subtrees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Node(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location=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[median],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left_child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kdtree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[:median], depth + 1),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right_child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kdtree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[median + 1 :], depth + 1),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)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 main():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"""Example usage"""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[(7, 2), (5, 4), (9, 6), (4, 7), (8, 1), (2, 3)]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tree =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kdtree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print(tree)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__name__ == "__main__":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main()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63CD6-9234-1045-81F1-5BECF2F4323E}"/>
              </a:ext>
            </a:extLst>
          </p:cNvPr>
          <p:cNvSpPr txBox="1"/>
          <p:nvPr/>
        </p:nvSpPr>
        <p:spPr>
          <a:xfrm>
            <a:off x="134471" y="134471"/>
            <a:ext cx="560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Building k-d tree - recursively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079F08-E547-7C41-AA8E-A21D8D95CF9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5091" y="309748"/>
            <a:ext cx="3014522" cy="2998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FF0AA7-83E0-8A45-BE45-07EBE17FC397}"/>
              </a:ext>
            </a:extLst>
          </p:cNvPr>
          <p:cNvSpPr txBox="1"/>
          <p:nvPr/>
        </p:nvSpPr>
        <p:spPr>
          <a:xfrm>
            <a:off x="8895091" y="3215248"/>
            <a:ext cx="2925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rgbClr val="0070C0"/>
                </a:solidFill>
              </a:rPr>
              <a:t>k</a:t>
            </a:r>
            <a:r>
              <a:rPr lang="en-US" sz="1200" b="1" dirty="0">
                <a:solidFill>
                  <a:srgbClr val="0070C0"/>
                </a:solidFill>
              </a:rPr>
              <a:t>-d tree</a:t>
            </a:r>
            <a:r>
              <a:rPr lang="en-US" sz="1200" dirty="0"/>
              <a:t> decomposition for the point set</a:t>
            </a:r>
            <a:br>
              <a:rPr lang="en-US" sz="1200" dirty="0"/>
            </a:br>
            <a:r>
              <a:rPr lang="en-US" sz="1200" dirty="0"/>
              <a:t>(2,3), (5,4), (9,6), (4,7), (8,1), (7,2).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The resulting </a:t>
            </a:r>
            <a:r>
              <a:rPr lang="en-US" sz="1200" b="1" dirty="0">
                <a:solidFill>
                  <a:srgbClr val="0070C0"/>
                </a:solidFill>
              </a:rPr>
              <a:t>k-d tree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E8BB0B-7549-FF48-B888-AD2B7C37CF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5091" y="4415577"/>
            <a:ext cx="2925925" cy="13996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CD1743-080E-914E-8183-B8AF264EADC5}"/>
              </a:ext>
            </a:extLst>
          </p:cNvPr>
          <p:cNvSpPr txBox="1"/>
          <p:nvPr/>
        </p:nvSpPr>
        <p:spPr>
          <a:xfrm>
            <a:off x="3899646" y="6150114"/>
            <a:ext cx="4128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r>
              <a:rPr lang="en-US" sz="1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((7, 2),</a:t>
            </a:r>
          </a:p>
          <a:p>
            <a:r>
              <a:rPr lang="en-US" sz="1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((5, 4), ((2, 3), None, None), ((4, 7), None, None)),</a:t>
            </a:r>
          </a:p>
          <a:p>
            <a:r>
              <a:rPr lang="en-US" sz="1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((9, 6), ((8, 1), None, None), None))</a:t>
            </a:r>
          </a:p>
        </p:txBody>
      </p:sp>
    </p:spTree>
    <p:extLst>
      <p:ext uri="{BB962C8B-B14F-4D97-AF65-F5344CB8AC3E}">
        <p14:creationId xmlns:p14="http://schemas.microsoft.com/office/powerpoint/2010/main" val="3627112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7F7286-8F8E-C541-997A-1A9028B22C52}"/>
              </a:ext>
            </a:extLst>
          </p:cNvPr>
          <p:cNvSpPr txBox="1"/>
          <p:nvPr/>
        </p:nvSpPr>
        <p:spPr>
          <a:xfrm>
            <a:off x="110837" y="3278603"/>
            <a:ext cx="58050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SDS Course Syllabus</a:t>
            </a:r>
          </a:p>
          <a:p>
            <a:endParaRPr lang="en-US" sz="1200" dirty="0"/>
          </a:p>
          <a:p>
            <a:r>
              <a:rPr lang="en-US" sz="1200" dirty="0"/>
              <a:t>Section 1</a:t>
            </a:r>
          </a:p>
          <a:p>
            <a:r>
              <a:rPr lang="en-US" sz="1200" dirty="0"/>
              <a:t>Introduction to Spatial Data Science</a:t>
            </a:r>
          </a:p>
          <a:p>
            <a:r>
              <a:rPr lang="en-US" sz="1200" dirty="0"/>
              <a:t> - spatial data, tools, and analysis</a:t>
            </a:r>
          </a:p>
          <a:p>
            <a:r>
              <a:rPr lang="en-US" sz="1200" dirty="0"/>
              <a:t> - place-based context can reveal hidden patterns in data</a:t>
            </a:r>
          </a:p>
          <a:p>
            <a:r>
              <a:rPr lang="en-US" sz="1200" dirty="0"/>
              <a:t> - use ArcGIS Pro and ArcGIS Notebooks.</a:t>
            </a:r>
          </a:p>
          <a:p>
            <a:endParaRPr lang="en-US" sz="1200" dirty="0"/>
          </a:p>
          <a:p>
            <a:r>
              <a:rPr lang="en-US" sz="1200" dirty="0"/>
              <a:t>Section 2</a:t>
            </a:r>
          </a:p>
          <a:p>
            <a:r>
              <a:rPr lang="en-US" sz="1200" dirty="0"/>
              <a:t>The Spatial Approach to Predictive Analysis</a:t>
            </a:r>
          </a:p>
          <a:p>
            <a:r>
              <a:rPr lang="en-US" sz="1200" dirty="0"/>
              <a:t> - add spatial properties into modeling workflows to add predictive power. </a:t>
            </a:r>
          </a:p>
          <a:p>
            <a:r>
              <a:rPr lang="en-US" sz="1200" dirty="0"/>
              <a:t> - Use Random Forest to train the model and make predictions.</a:t>
            </a:r>
          </a:p>
          <a:p>
            <a:endParaRPr lang="en-US" sz="1200" dirty="0"/>
          </a:p>
          <a:p>
            <a:r>
              <a:rPr lang="en-US" sz="1200" dirty="0"/>
              <a:t>Section 3</a:t>
            </a:r>
          </a:p>
          <a:p>
            <a:r>
              <a:rPr lang="en-US" sz="1200" dirty="0"/>
              <a:t>Finding Optimal Locations Using Suitability Models</a:t>
            </a:r>
          </a:p>
          <a:p>
            <a:r>
              <a:rPr lang="en-US" sz="1200" dirty="0"/>
              <a:t> - Where is the best location for &lt;fill in the blank&gt;? </a:t>
            </a:r>
          </a:p>
          <a:p>
            <a:r>
              <a:rPr lang="en-US" sz="1200" dirty="0"/>
              <a:t> - Perform a weighted overlay analysis, rank multiple suitability criteria. </a:t>
            </a:r>
          </a:p>
          <a:p>
            <a:r>
              <a:rPr lang="en-US" sz="1200" dirty="0"/>
              <a:t> - Learn to transform data using functions to better represent suitability impact.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27A4B-34D6-6445-A4E7-AF7B4CF9B412}"/>
              </a:ext>
            </a:extLst>
          </p:cNvPr>
          <p:cNvSpPr txBox="1"/>
          <p:nvPr/>
        </p:nvSpPr>
        <p:spPr>
          <a:xfrm>
            <a:off x="5915892" y="3463269"/>
            <a:ext cx="563879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Section 4</a:t>
            </a:r>
          </a:p>
          <a:p>
            <a:r>
              <a:rPr lang="en-US" sz="1200" dirty="0"/>
              <a:t>Pattern Detection and Clustering</a:t>
            </a:r>
          </a:p>
          <a:p>
            <a:r>
              <a:rPr lang="en-US" sz="1200" dirty="0"/>
              <a:t> - ArcGIS tools to identify patterns and clusters</a:t>
            </a:r>
          </a:p>
          <a:p>
            <a:r>
              <a:rPr lang="en-US" sz="1200" dirty="0"/>
              <a:t> - statistical clustering - analyze patterns in space and time.</a:t>
            </a:r>
          </a:p>
          <a:p>
            <a:r>
              <a:rPr lang="en-US" sz="1200" dirty="0"/>
              <a:t> - Create a spacetime cube, explore </a:t>
            </a:r>
            <a:r>
              <a:rPr lang="en-US" sz="1200" dirty="0" err="1"/>
              <a:t>spatio</a:t>
            </a:r>
            <a:r>
              <a:rPr lang="en-US" sz="1200" dirty="0"/>
              <a:t>-temporal </a:t>
            </a:r>
          </a:p>
          <a:p>
            <a:r>
              <a:rPr lang="en-US" sz="1200" dirty="0"/>
              <a:t>   trends, find where and when high/low clusters occur.</a:t>
            </a:r>
          </a:p>
          <a:p>
            <a:endParaRPr lang="en-US" sz="1200" dirty="0"/>
          </a:p>
          <a:p>
            <a:r>
              <a:rPr lang="en-US" sz="1200" dirty="0"/>
              <a:t>Section 5</a:t>
            </a:r>
          </a:p>
          <a:p>
            <a:r>
              <a:rPr lang="en-US" sz="1200" dirty="0"/>
              <a:t>Object Detection with Deep Learning</a:t>
            </a:r>
          </a:p>
          <a:p>
            <a:r>
              <a:rPr lang="en-US" sz="1200" dirty="0"/>
              <a:t>  - Prepare training sample data, </a:t>
            </a:r>
          </a:p>
          <a:p>
            <a:r>
              <a:rPr lang="en-US" sz="1200" dirty="0"/>
              <a:t>  - Use a neural network to train an object detection model.</a:t>
            </a:r>
          </a:p>
          <a:p>
            <a:endParaRPr lang="en-US" sz="1200" dirty="0"/>
          </a:p>
          <a:p>
            <a:r>
              <a:rPr lang="en-US" sz="1200" dirty="0"/>
              <a:t>Section 6</a:t>
            </a:r>
          </a:p>
          <a:p>
            <a:r>
              <a:rPr lang="en-US" sz="1200" dirty="0"/>
              <a:t>Communicating Results with Impact</a:t>
            </a:r>
          </a:p>
          <a:p>
            <a:r>
              <a:rPr lang="en-US" sz="1200" dirty="0"/>
              <a:t> - Be effective and visual storyteller. </a:t>
            </a:r>
          </a:p>
          <a:p>
            <a:r>
              <a:rPr lang="en-US" sz="1200" dirty="0"/>
              <a:t> - Present facts using information products that resonate with your audience, </a:t>
            </a:r>
          </a:p>
          <a:p>
            <a:r>
              <a:rPr lang="en-US" sz="1200" dirty="0"/>
              <a:t>   make decision-makers to understand and act on it.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8558B-F7AF-424E-8DB1-C56F17407651}"/>
              </a:ext>
            </a:extLst>
          </p:cNvPr>
          <p:cNvSpPr txBox="1"/>
          <p:nvPr/>
        </p:nvSpPr>
        <p:spPr>
          <a:xfrm>
            <a:off x="41564" y="277090"/>
            <a:ext cx="9448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ArcGIS</a:t>
            </a:r>
            <a:r>
              <a:rPr lang="en-US" dirty="0"/>
              <a:t> - a geographic information system for working with maps and geographic information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https://en.wikipedia.org/wiki/ArcGIS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ArcGIS</a:t>
            </a:r>
            <a:r>
              <a:rPr lang="en-US" dirty="0"/>
              <a:t> software (online and desktop) is maintained by </a:t>
            </a:r>
            <a:r>
              <a:rPr lang="en-US" b="1" dirty="0">
                <a:solidFill>
                  <a:srgbClr val="0070C0"/>
                </a:solidFill>
              </a:rPr>
              <a:t>ESRI</a:t>
            </a:r>
            <a:r>
              <a:rPr lang="en-US" dirty="0"/>
              <a:t> (Environmental Systems Research Institute) - a consulting company founded in 1969, headquarters in  Redlands, CA.  </a:t>
            </a:r>
          </a:p>
          <a:p>
            <a:r>
              <a:rPr lang="en-US" dirty="0"/>
              <a:t>ArcGIS Online is free for noncommercial use, $100/year for students, more than $1,100 per user per year for business</a:t>
            </a:r>
          </a:p>
          <a:p>
            <a:endParaRPr lang="en-US" dirty="0"/>
          </a:p>
          <a:p>
            <a:r>
              <a:rPr lang="en-US" dirty="0"/>
              <a:t>- </a:t>
            </a:r>
            <a:r>
              <a:rPr lang="en-US" dirty="0">
                <a:hlinkClick r:id="rId3"/>
              </a:rPr>
              <a:t>https://www.esri.com/en-us/home</a:t>
            </a:r>
            <a:r>
              <a:rPr lang="en-US" dirty="0"/>
              <a:t> </a:t>
            </a:r>
          </a:p>
          <a:p>
            <a:r>
              <a:rPr lang="en-US" dirty="0"/>
              <a:t>- </a:t>
            </a:r>
            <a:r>
              <a:rPr lang="en-US" dirty="0">
                <a:hlinkClick r:id="rId4"/>
              </a:rPr>
              <a:t>https://www.esri.com/en-us/arcgis/about-arcgis/overview</a:t>
            </a:r>
            <a:r>
              <a:rPr lang="en-US" dirty="0"/>
              <a:t> </a:t>
            </a:r>
          </a:p>
          <a:p>
            <a:r>
              <a:rPr lang="en-US" dirty="0"/>
              <a:t>- </a:t>
            </a:r>
            <a:r>
              <a:rPr lang="en-US" dirty="0">
                <a:hlinkClick r:id="rId5"/>
              </a:rPr>
              <a:t>https://www.esri.com/en-us/arcgis/products/index</a:t>
            </a:r>
            <a:r>
              <a:rPr lang="en-US" dirty="0"/>
              <a:t> </a:t>
            </a:r>
          </a:p>
          <a:p>
            <a:r>
              <a:rPr lang="en-US" dirty="0"/>
              <a:t>- </a:t>
            </a:r>
            <a:r>
              <a:rPr lang="en-US" dirty="0">
                <a:hlinkClick r:id="rId6"/>
              </a:rPr>
              <a:t>https://www.esri.com/en-us/arcgis/products/arcgis-notebooks/overview</a:t>
            </a:r>
            <a:r>
              <a:rPr lang="en-US" dirty="0"/>
              <a:t> - ArcGIS Notebooks</a:t>
            </a:r>
          </a:p>
          <a:p>
            <a:r>
              <a:rPr lang="en-US" dirty="0"/>
              <a:t>- </a:t>
            </a:r>
            <a:r>
              <a:rPr lang="en-US" dirty="0">
                <a:hlinkClick r:id="rId7"/>
              </a:rPr>
              <a:t>https://github.com/Esri</a:t>
            </a:r>
            <a:r>
              <a:rPr lang="en-US" dirty="0"/>
              <a:t> - about 600 repositories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5CDEF7-A365-AE46-A844-151E3C7CF7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4390" y="277090"/>
            <a:ext cx="2112906" cy="163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7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C536C9-9CDE-7F44-8F6D-2EF3C020C7BE}"/>
              </a:ext>
            </a:extLst>
          </p:cNvPr>
          <p:cNvSpPr txBox="1"/>
          <p:nvPr/>
        </p:nvSpPr>
        <p:spPr>
          <a:xfrm>
            <a:off x="336176" y="188259"/>
            <a:ext cx="660250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CARTO</a:t>
            </a:r>
          </a:p>
          <a:p>
            <a:r>
              <a:rPr lang="en-US" dirty="0">
                <a:hlinkClick r:id="rId2"/>
              </a:rPr>
              <a:t>https://carto.com/</a:t>
            </a:r>
            <a:r>
              <a:rPr lang="en-US" dirty="0"/>
              <a:t> - Location Intelligence platform allows organizations </a:t>
            </a:r>
            <a:br>
              <a:rPr lang="en-US" dirty="0"/>
            </a:br>
            <a:r>
              <a:rPr lang="en-US" dirty="0"/>
              <a:t>to store, enrich, analyze &amp; visualize their data to make spatially-aware decisions.</a:t>
            </a:r>
          </a:p>
          <a:p>
            <a:endParaRPr lang="en-US" dirty="0"/>
          </a:p>
          <a:p>
            <a:r>
              <a:rPr lang="en-US" b="1" dirty="0" err="1">
                <a:solidFill>
                  <a:srgbClr val="0070C0"/>
                </a:solidFill>
              </a:rPr>
              <a:t>CARTOframes</a:t>
            </a:r>
            <a:r>
              <a:rPr lang="en-US" dirty="0"/>
              <a:t> - Python package for integrating CARTO maps, analysis, </a:t>
            </a:r>
            <a:br>
              <a:rPr lang="en-US" dirty="0"/>
            </a:br>
            <a:r>
              <a:rPr lang="en-US" dirty="0"/>
              <a:t>and data services into data science workflows.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3"/>
              </a:rPr>
              <a:t>https://github.com/CartoDB/cartoframes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CARTO uses Google </a:t>
            </a:r>
            <a:r>
              <a:rPr lang="en-US" dirty="0" err="1"/>
              <a:t>BigQuery</a:t>
            </a:r>
            <a:endParaRPr lang="en-US" dirty="0"/>
          </a:p>
          <a:p>
            <a:endParaRPr lang="en-US" dirty="0"/>
          </a:p>
          <a:p>
            <a:r>
              <a:rPr lang="en-US" dirty="0"/>
              <a:t>Pricing – limited 12 month free plan, normally $200/month (or more)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E1E75-8164-654C-AC8A-337667483CE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5706" y="531713"/>
            <a:ext cx="2017059" cy="779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CE0CF5-A2C8-BB49-BDF6-FB52C63AE29B}"/>
              </a:ext>
            </a:extLst>
          </p:cNvPr>
          <p:cNvSpPr txBox="1"/>
          <p:nvPr/>
        </p:nvSpPr>
        <p:spPr>
          <a:xfrm>
            <a:off x="389965" y="3603812"/>
            <a:ext cx="76917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QGIS</a:t>
            </a:r>
          </a:p>
          <a:p>
            <a:r>
              <a:rPr lang="en-US" dirty="0">
                <a:hlinkClick r:id="rId5"/>
              </a:rPr>
              <a:t>https://www.qgis.org/en/site/</a:t>
            </a:r>
            <a:r>
              <a:rPr lang="en-US" dirty="0"/>
              <a:t> - A Free and Open Source Geographic Information System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9D432-448A-0046-88A9-7C934CCD5D2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5706" y="3133595"/>
            <a:ext cx="1640111" cy="16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32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49F554-873F-6F4F-BAC3-D8C348CB40E2}"/>
              </a:ext>
            </a:extLst>
          </p:cNvPr>
          <p:cNvSpPr txBox="1"/>
          <p:nvPr/>
        </p:nvSpPr>
        <p:spPr>
          <a:xfrm>
            <a:off x="161365" y="0"/>
            <a:ext cx="112014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Misc</a:t>
            </a:r>
            <a:r>
              <a:rPr lang="en-US" dirty="0"/>
              <a:t>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Tutorial - Introduction to Geospatial Data in Python - </a:t>
            </a:r>
            <a:r>
              <a:rPr lang="en-US" dirty="0">
                <a:hlinkClick r:id="rId3"/>
              </a:rPr>
              <a:t>https://www.datacamp.com/community/tutorials/geospatial-data-python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Eath</a:t>
            </a:r>
            <a:r>
              <a:rPr lang="en-US" dirty="0"/>
              <a:t> Data Analytics Online Certificate - </a:t>
            </a:r>
            <a:r>
              <a:rPr lang="en-US" dirty="0">
                <a:hlinkClick r:id="rId4"/>
              </a:rPr>
              <a:t>https://www.earthdatascience.org/courses/use-data-open-source-python/intro-vector-data-python/spatial-data-vector-shapefiles/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python-geospatial – a collection of Python packages for geospatial analysis with binder-ready notebook examples - </a:t>
            </a:r>
            <a:r>
              <a:rPr lang="en-US" dirty="0">
                <a:hlinkClick r:id="rId5"/>
              </a:rPr>
              <a:t>https://github.com/giswqs/python-geospatial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Visualizing geospatial data using python - </a:t>
            </a:r>
            <a:r>
              <a:rPr lang="en-US" dirty="0">
                <a:hlinkClick r:id="rId6"/>
              </a:rPr>
              <a:t>https://towardsdatascience.com/visualizing-geospatial-data-in-python-e070374fe621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ATLIST – create custom Google maps - </a:t>
            </a:r>
            <a:r>
              <a:rPr lang="en-US" dirty="0">
                <a:hlinkClick r:id="rId7"/>
              </a:rPr>
              <a:t>https://www.atlistmaps.com/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Course: Python for Spatial Data Analysis with Earth Engine and QGIS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- </a:t>
            </a:r>
            <a:r>
              <a:rPr lang="en-US" dirty="0">
                <a:hlinkClick r:id="rId8"/>
              </a:rPr>
              <a:t>https://www.udemy.com/course/python-for-spatial-data-analysis-with-earth-engine-and-qgis/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A1D999-691C-A641-936F-B2B11F366A1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2399" y="4933673"/>
            <a:ext cx="2150782" cy="19265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F1B3C4-5002-B644-832C-351D7105DEE9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4428" y="3089286"/>
            <a:ext cx="2366723" cy="16527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C99122-DF1B-2E48-B789-8EB2C3475FDA}"/>
              </a:ext>
            </a:extLst>
          </p:cNvPr>
          <p:cNvSpPr txBox="1"/>
          <p:nvPr/>
        </p:nvSpPr>
        <p:spPr>
          <a:xfrm>
            <a:off x="161365" y="3115000"/>
            <a:ext cx="63739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Navigation Apps work ? (Waze, etc.)</a:t>
            </a:r>
          </a:p>
          <a:p>
            <a:r>
              <a:rPr lang="en-US" dirty="0"/>
              <a:t>It is the </a:t>
            </a:r>
            <a:r>
              <a:rPr lang="en-US" b="1" dirty="0">
                <a:solidFill>
                  <a:srgbClr val="0070C0"/>
                </a:solidFill>
              </a:rPr>
              <a:t>Shortest Path Problem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11"/>
              </a:rPr>
              <a:t>https://en.wikipedia.org/wiki/Shortest_path_problem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See also: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Dijkstra's algorithm – </a:t>
            </a:r>
            <a:r>
              <a:rPr lang="en-US" dirty="0">
                <a:hlinkClick r:id="rId12"/>
              </a:rPr>
              <a:t>https://en.wikipedia.org/wiki/Dijkstra%27s_algorithm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A* search algorithm - </a:t>
            </a:r>
            <a:r>
              <a:rPr lang="en-US" dirty="0">
                <a:hlinkClick r:id="rId13"/>
              </a:rPr>
              <a:t>https://en.wikipedia.org/wiki/A*_search_algorithm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GPC calculates routes (2011, basically A* algorithm)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14"/>
              </a:rPr>
              <a:t>http://blog.kdgregory.com/2011/12/how-gps-calculates-routes.html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0F33B7-F485-A74F-99E8-2CA30CFD6DCB}"/>
              </a:ext>
            </a:extLst>
          </p:cNvPr>
          <p:cNvCxnSpPr>
            <a:cxnSpLocks/>
          </p:cNvCxnSpPr>
          <p:nvPr/>
        </p:nvCxnSpPr>
        <p:spPr>
          <a:xfrm>
            <a:off x="161365" y="2944905"/>
            <a:ext cx="11672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633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3191</TotalTime>
  <Words>2152</Words>
  <Application>Microsoft Macintosh PowerPoint</Application>
  <PresentationFormat>Widescreen</PresentationFormat>
  <Paragraphs>207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323</cp:revision>
  <cp:lastPrinted>2020-09-21T17:22:59Z</cp:lastPrinted>
  <dcterms:modified xsi:type="dcterms:W3CDTF">2020-11-18T04:17:44Z</dcterms:modified>
</cp:coreProperties>
</file>