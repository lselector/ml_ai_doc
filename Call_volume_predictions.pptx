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903"/>
    <p:restoredTop sz="94714"/>
  </p:normalViewPr>
  <p:slideViewPr>
    <p:cSldViewPr snapToGrid="0" snapToObjects="1">
      <p:cViewPr varScale="1">
        <p:scale>
          <a:sx n="112" d="100"/>
          <a:sy n="112" d="100"/>
        </p:scale>
        <p:origin x="272"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91425" rIns="91425" bIns="91425"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91425" rIns="91425" bIns="91425"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91425" rIns="91425" bIns="91425"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3: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6" name="Google Shape;8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3ccfd3fc44_0_5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 name="Google Shape;97;g3ccfd3fc44_0_57: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8" name="Google Shape;98;g3ccfd3fc44_0_5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g3ccfd3fc44_0_8: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g3ccfd3fc44_0_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g3ccfd3fc44_0_26: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9" name="Google Shape;109;g3ccfd3fc44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3d5559a5d7_0_0: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4" name="Google Shape;114;g3d5559a5d7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3d5bee0b5a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 name="Google Shape;125;g3d5bee0b5a_0_0: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6" name="Google Shape;126;g3d5bee0b5a_0_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3ccfd3fc44_0_33: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2" name="Google Shape;132;g3ccfd3fc44_0_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g3a4eb86a6d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7" name="Google Shape;137;g3a4eb86a6d_0_0: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8" name="Google Shape;138;g3a4eb86a6d_0_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2"/>
          <p:cNvSpPr txBox="1">
            <a:spLocks noGrp="1"/>
          </p:cNvSpPr>
          <p:nvPr>
            <p:ph type="ctrTitle"/>
          </p:nvPr>
        </p:nvSpPr>
        <p:spPr>
          <a:xfrm>
            <a:off x="1524000" y="1122363"/>
            <a:ext cx="9144000" cy="2387600"/>
          </a:xfrm>
          <a:prstGeom prst="rect">
            <a:avLst/>
          </a:prstGeom>
          <a:noFill/>
          <a:ln>
            <a:noFill/>
          </a:ln>
        </p:spPr>
        <p:txBody>
          <a:bodyPr spcFirstLastPara="1" wrap="square" lIns="91425" tIns="91425" rIns="91425" bIns="91425" anchor="b" anchorCtr="0">
            <a:noAutofit/>
          </a:bodyPr>
          <a:lstStyle>
            <a:lvl1pPr marR="0" lvl="0" algn="ctr" rtl="0">
              <a:lnSpc>
                <a:spcPct val="90000"/>
              </a:lnSpc>
              <a:spcBef>
                <a:spcPts val="0"/>
              </a:spcBef>
              <a:spcAft>
                <a:spcPts val="0"/>
              </a:spcAft>
              <a:buClr>
                <a:schemeClr val="dk1"/>
              </a:buClr>
              <a:buSzPts val="6000"/>
              <a:buFont typeface="Calibri"/>
              <a:buNone/>
              <a:defRPr sz="60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7" name="Google Shape;17;p2"/>
          <p:cNvSpPr txBox="1">
            <a:spLocks noGrp="1"/>
          </p:cNvSpPr>
          <p:nvPr>
            <p:ph type="subTitle" idx="1"/>
          </p:nvPr>
        </p:nvSpPr>
        <p:spPr>
          <a:xfrm>
            <a:off x="1524000" y="3602038"/>
            <a:ext cx="9144000" cy="1655762"/>
          </a:xfrm>
          <a:prstGeom prst="rect">
            <a:avLst/>
          </a:prstGeom>
          <a:noFill/>
          <a:ln>
            <a:noFill/>
          </a:ln>
        </p:spPr>
        <p:txBody>
          <a:bodyPr spcFirstLastPara="1" wrap="square" lIns="91425" tIns="91425" rIns="91425" bIns="91425" anchor="t" anchorCtr="0">
            <a:noAutofit/>
          </a:bodyPr>
          <a:lstStyle>
            <a:lvl1pPr marR="0" lvl="0" algn="ctr" rtl="0">
              <a:lnSpc>
                <a:spcPct val="90000"/>
              </a:lnSpc>
              <a:spcBef>
                <a:spcPts val="10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1pPr>
            <a:lvl2pPr marR="0" lvl="1" algn="ctr"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2pPr>
            <a:lvl3pPr marR="0" lvl="2" algn="ctr"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3pPr>
            <a:lvl4pPr marR="0" lvl="3"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4pPr>
            <a:lvl5pPr marR="0" lvl="4"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5pPr>
            <a:lvl6pPr marR="0" lvl="5"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6pPr>
            <a:lvl7pPr marR="0" lvl="6"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7pPr>
            <a:lvl8pPr marR="0" lvl="7"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8pPr>
            <a:lvl9pPr marR="0" lvl="8"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9pPr>
          </a:lstStyle>
          <a:p>
            <a:endParaRPr/>
          </a:p>
        </p:txBody>
      </p:sp>
      <p:sp>
        <p:nvSpPr>
          <p:cNvPr id="18" name="Google Shape;18;p2"/>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9" name="Google Shape;19;p2"/>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0" name="Google Shape;20;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3"/>
          <p:cNvSpPr txBox="1">
            <a:spLocks noGrp="1"/>
          </p:cNvSpPr>
          <p:nvPr>
            <p:ph type="title"/>
          </p:nvPr>
        </p:nvSpPr>
        <p:spPr>
          <a:xfrm>
            <a:off x="838200" y="365125"/>
            <a:ext cx="10515600" cy="1325563"/>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3" name="Google Shape;23;p3"/>
          <p:cNvSpPr txBox="1">
            <a:spLocks noGrp="1"/>
          </p:cNvSpPr>
          <p:nvPr>
            <p:ph type="body" idx="1"/>
          </p:nvPr>
        </p:nvSpPr>
        <p:spPr>
          <a:xfrm>
            <a:off x="838200" y="1825625"/>
            <a:ext cx="10515600" cy="4351338"/>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4" name="Google Shape;24;p3"/>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5" name="Google Shape;25;p3"/>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6" name="Google Shape;26;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4"/>
          <p:cNvSpPr txBox="1">
            <a:spLocks noGrp="1"/>
          </p:cNvSpPr>
          <p:nvPr>
            <p:ph type="title"/>
          </p:nvPr>
        </p:nvSpPr>
        <p:spPr>
          <a:xfrm>
            <a:off x="831850" y="1709738"/>
            <a:ext cx="10515600" cy="2852737"/>
          </a:xfrm>
          <a:prstGeom prst="rect">
            <a:avLst/>
          </a:prstGeom>
          <a:noFill/>
          <a:ln>
            <a:noFill/>
          </a:ln>
        </p:spPr>
        <p:txBody>
          <a:bodyPr spcFirstLastPara="1" wrap="square" lIns="91425" tIns="91425" rIns="91425" bIns="91425" anchor="b" anchorCtr="0">
            <a:noAutofit/>
          </a:bodyPr>
          <a:lstStyle>
            <a:lvl1pPr marR="0" lvl="0" algn="l" rtl="0">
              <a:lnSpc>
                <a:spcPct val="90000"/>
              </a:lnSpc>
              <a:spcBef>
                <a:spcPts val="0"/>
              </a:spcBef>
              <a:spcAft>
                <a:spcPts val="0"/>
              </a:spcAft>
              <a:buClr>
                <a:schemeClr val="dk1"/>
              </a:buClr>
              <a:buSzPts val="6000"/>
              <a:buFont typeface="Calibri"/>
              <a:buNone/>
              <a:defRPr sz="60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9" name="Google Shape;29;p4"/>
          <p:cNvSpPr txBox="1">
            <a:spLocks noGrp="1"/>
          </p:cNvSpPr>
          <p:nvPr>
            <p:ph type="body" idx="1"/>
          </p:nvPr>
        </p:nvSpPr>
        <p:spPr>
          <a:xfrm>
            <a:off x="831850" y="4589463"/>
            <a:ext cx="10515600" cy="1500187"/>
          </a:xfrm>
          <a:prstGeom prst="rect">
            <a:avLst/>
          </a:prstGeom>
          <a:noFill/>
          <a:ln>
            <a:noFill/>
          </a:ln>
        </p:spPr>
        <p:txBody>
          <a:bodyPr spcFirstLastPara="1" wrap="square" lIns="91425" tIns="91425" rIns="91425" bIns="91425" anchor="t" anchorCtr="0">
            <a:noAutofit/>
          </a:bodyPr>
          <a:lstStyle>
            <a:lvl1pPr marL="457200" marR="0" lvl="0" indent="-228600" algn="l" rtl="0">
              <a:lnSpc>
                <a:spcPct val="90000"/>
              </a:lnSpc>
              <a:spcBef>
                <a:spcPts val="1000"/>
              </a:spcBef>
              <a:spcAft>
                <a:spcPts val="0"/>
              </a:spcAft>
              <a:buClr>
                <a:srgbClr val="888888"/>
              </a:buClr>
              <a:buSzPts val="2400"/>
              <a:buFont typeface="Arial"/>
              <a:buNone/>
              <a:defRPr sz="2400" b="0" i="0" u="none" strike="noStrike" cap="none">
                <a:solidFill>
                  <a:srgbClr val="888888"/>
                </a:solidFill>
                <a:latin typeface="Calibri"/>
                <a:ea typeface="Calibri"/>
                <a:cs typeface="Calibri"/>
                <a:sym typeface="Calibri"/>
              </a:defRPr>
            </a:lvl1pPr>
            <a:lvl2pPr marL="914400" marR="0" lvl="1" indent="-228600" algn="l" rtl="0">
              <a:lnSpc>
                <a:spcPct val="90000"/>
              </a:lnSpc>
              <a:spcBef>
                <a:spcPts val="5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2pPr>
            <a:lvl3pPr marL="1371600" marR="0" lvl="2" indent="-228600" algn="l" rtl="0">
              <a:lnSpc>
                <a:spcPct val="90000"/>
              </a:lnSpc>
              <a:spcBef>
                <a:spcPts val="50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3pPr>
            <a:lvl4pPr marL="1828800" marR="0" lvl="3"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4pPr>
            <a:lvl5pPr marL="2286000" marR="0" lvl="4"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5pPr>
            <a:lvl6pPr marL="2743200" marR="0" lvl="5"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6pPr>
            <a:lvl7pPr marL="3200400" marR="0" lvl="6"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7pPr>
            <a:lvl8pPr marL="3657600" marR="0" lvl="7"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8pPr>
            <a:lvl9pPr marL="4114800" marR="0" lvl="8"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9pPr>
          </a:lstStyle>
          <a:p>
            <a:endParaRPr/>
          </a:p>
        </p:txBody>
      </p:sp>
      <p:sp>
        <p:nvSpPr>
          <p:cNvPr id="30" name="Google Shape;30;p4"/>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1" name="Google Shape;31;p4"/>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2" name="Google Shape;32;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5"/>
          <p:cNvSpPr txBox="1">
            <a:spLocks noGrp="1"/>
          </p:cNvSpPr>
          <p:nvPr>
            <p:ph type="title"/>
          </p:nvPr>
        </p:nvSpPr>
        <p:spPr>
          <a:xfrm>
            <a:off x="838200" y="365125"/>
            <a:ext cx="10515600" cy="1325563"/>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35" name="Google Shape;35;p5"/>
          <p:cNvSpPr txBox="1">
            <a:spLocks noGrp="1"/>
          </p:cNvSpPr>
          <p:nvPr>
            <p:ph type="body" idx="1"/>
          </p:nvPr>
        </p:nvSpPr>
        <p:spPr>
          <a:xfrm>
            <a:off x="838200" y="1825625"/>
            <a:ext cx="5181600" cy="4351338"/>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6" name="Google Shape;36;p5"/>
          <p:cNvSpPr txBox="1">
            <a:spLocks noGrp="1"/>
          </p:cNvSpPr>
          <p:nvPr>
            <p:ph type="body" idx="2"/>
          </p:nvPr>
        </p:nvSpPr>
        <p:spPr>
          <a:xfrm>
            <a:off x="6172200" y="1825625"/>
            <a:ext cx="5181600" cy="4351338"/>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7" name="Google Shape;37;p5"/>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8" name="Google Shape;38;p5"/>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9" name="Google Shape;39;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6"/>
          <p:cNvSpPr txBox="1">
            <a:spLocks noGrp="1"/>
          </p:cNvSpPr>
          <p:nvPr>
            <p:ph type="title"/>
          </p:nvPr>
        </p:nvSpPr>
        <p:spPr>
          <a:xfrm>
            <a:off x="839788" y="365125"/>
            <a:ext cx="10515600" cy="1325563"/>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42" name="Google Shape;42;p6"/>
          <p:cNvSpPr txBox="1">
            <a:spLocks noGrp="1"/>
          </p:cNvSpPr>
          <p:nvPr>
            <p:ph type="body" idx="1"/>
          </p:nvPr>
        </p:nvSpPr>
        <p:spPr>
          <a:xfrm>
            <a:off x="839788" y="1681163"/>
            <a:ext cx="5157787" cy="823912"/>
          </a:xfrm>
          <a:prstGeom prst="rect">
            <a:avLst/>
          </a:prstGeom>
          <a:noFill/>
          <a:ln>
            <a:noFill/>
          </a:ln>
        </p:spPr>
        <p:txBody>
          <a:bodyPr spcFirstLastPara="1" wrap="square" lIns="91425" tIns="91425" rIns="91425" bIns="91425" anchor="b" anchorCtr="0">
            <a:noAutofit/>
          </a:bodyPr>
          <a:lstStyle>
            <a:lvl1pPr marL="457200" marR="0" lvl="0" indent="-228600" algn="l" rtl="0">
              <a:lnSpc>
                <a:spcPct val="90000"/>
              </a:lnSpc>
              <a:spcBef>
                <a:spcPts val="100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43" name="Google Shape;43;p6"/>
          <p:cNvSpPr txBox="1">
            <a:spLocks noGrp="1"/>
          </p:cNvSpPr>
          <p:nvPr>
            <p:ph type="body" idx="2"/>
          </p:nvPr>
        </p:nvSpPr>
        <p:spPr>
          <a:xfrm>
            <a:off x="839788" y="2505075"/>
            <a:ext cx="5157787" cy="3684588"/>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4" name="Google Shape;44;p6"/>
          <p:cNvSpPr txBox="1">
            <a:spLocks noGrp="1"/>
          </p:cNvSpPr>
          <p:nvPr>
            <p:ph type="body" idx="3"/>
          </p:nvPr>
        </p:nvSpPr>
        <p:spPr>
          <a:xfrm>
            <a:off x="6172200" y="1681163"/>
            <a:ext cx="5183188" cy="823912"/>
          </a:xfrm>
          <a:prstGeom prst="rect">
            <a:avLst/>
          </a:prstGeom>
          <a:noFill/>
          <a:ln>
            <a:noFill/>
          </a:ln>
        </p:spPr>
        <p:txBody>
          <a:bodyPr spcFirstLastPara="1" wrap="square" lIns="91425" tIns="91425" rIns="91425" bIns="91425" anchor="b" anchorCtr="0">
            <a:noAutofit/>
          </a:bodyPr>
          <a:lstStyle>
            <a:lvl1pPr marL="457200" marR="0" lvl="0" indent="-228600" algn="l" rtl="0">
              <a:lnSpc>
                <a:spcPct val="90000"/>
              </a:lnSpc>
              <a:spcBef>
                <a:spcPts val="100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45" name="Google Shape;45;p6"/>
          <p:cNvSpPr txBox="1">
            <a:spLocks noGrp="1"/>
          </p:cNvSpPr>
          <p:nvPr>
            <p:ph type="body" idx="4"/>
          </p:nvPr>
        </p:nvSpPr>
        <p:spPr>
          <a:xfrm>
            <a:off x="6172200" y="2505075"/>
            <a:ext cx="5183188" cy="3684588"/>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6" name="Google Shape;46;p6"/>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7" name="Google Shape;47;p6"/>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8" name="Google Shape;48;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7"/>
          <p:cNvSpPr txBox="1">
            <a:spLocks noGrp="1"/>
          </p:cNvSpPr>
          <p:nvPr>
            <p:ph type="title"/>
          </p:nvPr>
        </p:nvSpPr>
        <p:spPr>
          <a:xfrm>
            <a:off x="838200" y="365125"/>
            <a:ext cx="10515600" cy="1325563"/>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1" name="Google Shape;51;p7"/>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2" name="Google Shape;52;p7"/>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3" name="Google Shape;53;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8"/>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6" name="Google Shape;56;p8"/>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7" name="Google Shape;57;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839788" y="457200"/>
            <a:ext cx="3932237" cy="1600200"/>
          </a:xfrm>
          <a:prstGeom prst="rect">
            <a:avLst/>
          </a:prstGeom>
          <a:noFill/>
          <a:ln>
            <a:noFill/>
          </a:ln>
        </p:spPr>
        <p:txBody>
          <a:bodyPr spcFirstLastPara="1" wrap="square" lIns="91425" tIns="91425" rIns="91425" bIns="91425" anchor="b" anchorCtr="0">
            <a:noAutofit/>
          </a:bodyPr>
          <a:lstStyle>
            <a:lvl1pPr marR="0" lvl="0" algn="l" rtl="0">
              <a:lnSpc>
                <a:spcPct val="90000"/>
              </a:lnSpc>
              <a:spcBef>
                <a:spcPts val="0"/>
              </a:spcBef>
              <a:spcAft>
                <a:spcPts val="0"/>
              </a:spcAft>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60" name="Google Shape;60;p9"/>
          <p:cNvSpPr txBox="1">
            <a:spLocks noGrp="1"/>
          </p:cNvSpPr>
          <p:nvPr>
            <p:ph type="body" idx="1"/>
          </p:nvPr>
        </p:nvSpPr>
        <p:spPr>
          <a:xfrm>
            <a:off x="5183188" y="987425"/>
            <a:ext cx="6172200" cy="4873625"/>
          </a:xfrm>
          <a:prstGeom prst="rect">
            <a:avLst/>
          </a:prstGeom>
          <a:noFill/>
          <a:ln>
            <a:noFill/>
          </a:ln>
        </p:spPr>
        <p:txBody>
          <a:bodyPr spcFirstLastPara="1" wrap="square" lIns="91425" tIns="91425" rIns="91425" bIns="91425" anchor="t" anchorCtr="0">
            <a:noAutofit/>
          </a:bodyPr>
          <a:lstStyle>
            <a:lvl1pPr marL="457200" marR="0" lvl="0" indent="-431800" algn="l" rtl="0">
              <a:lnSpc>
                <a:spcPct val="90000"/>
              </a:lnSpc>
              <a:spcBef>
                <a:spcPts val="10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90000"/>
              </a:lnSpc>
              <a:spcBef>
                <a:spcPts val="5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61" name="Google Shape;61;p9"/>
          <p:cNvSpPr txBox="1">
            <a:spLocks noGrp="1"/>
          </p:cNvSpPr>
          <p:nvPr>
            <p:ph type="body" idx="2"/>
          </p:nvPr>
        </p:nvSpPr>
        <p:spPr>
          <a:xfrm>
            <a:off x="839788" y="2057400"/>
            <a:ext cx="3932237" cy="3811588"/>
          </a:xfrm>
          <a:prstGeom prst="rect">
            <a:avLst/>
          </a:prstGeom>
          <a:noFill/>
          <a:ln>
            <a:noFill/>
          </a:ln>
        </p:spPr>
        <p:txBody>
          <a:bodyPr spcFirstLastPara="1" wrap="square" lIns="91425" tIns="91425" rIns="91425" bIns="91425" anchor="t" anchorCtr="0">
            <a:noAutofit/>
          </a:bodyPr>
          <a:lstStyle>
            <a:lvl1pPr marL="457200" marR="0" lvl="0" indent="-228600" algn="l" rtl="0">
              <a:lnSpc>
                <a:spcPct val="90000"/>
              </a:lnSpc>
              <a:spcBef>
                <a:spcPts val="10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9pPr>
          </a:lstStyle>
          <a:p>
            <a:endParaRPr/>
          </a:p>
        </p:txBody>
      </p:sp>
      <p:sp>
        <p:nvSpPr>
          <p:cNvPr id="62" name="Google Shape;62;p9"/>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3" name="Google Shape;63;p9"/>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4" name="Google Shape;6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839788" y="457200"/>
            <a:ext cx="3932237" cy="1600200"/>
          </a:xfrm>
          <a:prstGeom prst="rect">
            <a:avLst/>
          </a:prstGeom>
          <a:noFill/>
          <a:ln>
            <a:noFill/>
          </a:ln>
        </p:spPr>
        <p:txBody>
          <a:bodyPr spcFirstLastPara="1" wrap="square" lIns="91425" tIns="91425" rIns="91425" bIns="91425" anchor="b" anchorCtr="0">
            <a:noAutofit/>
          </a:bodyPr>
          <a:lstStyle>
            <a:lvl1pPr marR="0" lvl="0" algn="l" rtl="0">
              <a:lnSpc>
                <a:spcPct val="90000"/>
              </a:lnSpc>
              <a:spcBef>
                <a:spcPts val="0"/>
              </a:spcBef>
              <a:spcAft>
                <a:spcPts val="0"/>
              </a:spcAft>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67" name="Google Shape;67;p10"/>
          <p:cNvSpPr>
            <a:spLocks noGrp="1"/>
          </p:cNvSpPr>
          <p:nvPr>
            <p:ph type="pic" idx="2"/>
          </p:nvPr>
        </p:nvSpPr>
        <p:spPr>
          <a:xfrm>
            <a:off x="5183188" y="987425"/>
            <a:ext cx="6172200" cy="4873625"/>
          </a:xfrm>
          <a:prstGeom prst="rect">
            <a:avLst/>
          </a:prstGeom>
          <a:noFill/>
          <a:ln>
            <a:noFill/>
          </a:ln>
        </p:spPr>
        <p:txBody>
          <a:bodyPr spcFirstLastPara="1" wrap="square" lIns="91425" tIns="91425" rIns="91425" bIns="91425" anchor="t" anchorCtr="0">
            <a:noAutofit/>
          </a:bodyPr>
          <a:lstStyle>
            <a:lvl1pPr marR="0" lvl="0" algn="l" rtl="0">
              <a:lnSpc>
                <a:spcPct val="90000"/>
              </a:lnSpc>
              <a:spcBef>
                <a:spcPts val="1000"/>
              </a:spcBef>
              <a:spcAft>
                <a:spcPts val="0"/>
              </a:spcAft>
              <a:buClr>
                <a:schemeClr val="dk1"/>
              </a:buClr>
              <a:buSzPts val="3200"/>
              <a:buFont typeface="Arial"/>
              <a:buNone/>
              <a:defRPr sz="32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800"/>
              <a:buFont typeface="Arial"/>
              <a:buNone/>
              <a:defRPr sz="28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9pPr>
          </a:lstStyle>
          <a:p>
            <a:endParaRPr/>
          </a:p>
        </p:txBody>
      </p:sp>
      <p:sp>
        <p:nvSpPr>
          <p:cNvPr id="68" name="Google Shape;68;p10"/>
          <p:cNvSpPr txBox="1">
            <a:spLocks noGrp="1"/>
          </p:cNvSpPr>
          <p:nvPr>
            <p:ph type="body" idx="1"/>
          </p:nvPr>
        </p:nvSpPr>
        <p:spPr>
          <a:xfrm>
            <a:off x="839788" y="2057400"/>
            <a:ext cx="3932237" cy="3811588"/>
          </a:xfrm>
          <a:prstGeom prst="rect">
            <a:avLst/>
          </a:prstGeom>
          <a:noFill/>
          <a:ln>
            <a:noFill/>
          </a:ln>
        </p:spPr>
        <p:txBody>
          <a:bodyPr spcFirstLastPara="1" wrap="square" lIns="91425" tIns="91425" rIns="91425" bIns="91425" anchor="t" anchorCtr="0">
            <a:noAutofit/>
          </a:bodyPr>
          <a:lstStyle>
            <a:lvl1pPr marL="457200" marR="0" lvl="0" indent="-228600" algn="l" rtl="0">
              <a:lnSpc>
                <a:spcPct val="90000"/>
              </a:lnSpc>
              <a:spcBef>
                <a:spcPts val="10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9pPr>
          </a:lstStyle>
          <a:p>
            <a:endParaRPr/>
          </a:p>
        </p:txBody>
      </p:sp>
      <p:sp>
        <p:nvSpPr>
          <p:cNvPr id="69" name="Google Shape;69;p10"/>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0" name="Google Shape;70;p10"/>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1" name="Google Shape;7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838200" y="365125"/>
            <a:ext cx="10515600" cy="1325563"/>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4" name="Google Shape;74;p1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75" name="Google Shape;75;p11"/>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6" name="Google Shape;76;p11"/>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7" name="Google Shape;77;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7133431" y="1956594"/>
            <a:ext cx="5811838" cy="2628900"/>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80" name="Google Shape;80;p1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1" name="Google Shape;81;p12"/>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2" name="Google Shape;82;p12"/>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3" name="Google Shape;8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gif"/></Relationships>
</file>

<file path=ppt/slides/_rels/slide2.xml.rels><?xml version="1.0" encoding="UTF-8" standalone="yes"?>
<Relationships xmlns="http://schemas.openxmlformats.org/package/2006/relationships"><Relationship Id="rId3" Type="http://schemas.openxmlformats.org/officeDocument/2006/relationships/hyperlink" Target="https://www.eetimes.com/document.asp?doc_id=1196835" TargetMode="External"/><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hyperlink" Target="https://www.callcentrehelper.com/calculate-forecast-accuracy-113808.htm" TargetMode="Externa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hyperlink" Target="https://people.duke.edu/~rnau/411arim.htm" TargetMode="External"/><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8" Type="http://schemas.openxmlformats.org/officeDocument/2006/relationships/hyperlink" Target="https://medium.com/machine-learning-world/neural-networks-for-algorithmic-trading-2-1-multivariate-time-series-ab016ce70f57" TargetMode="External"/><Relationship Id="rId3" Type="http://schemas.openxmlformats.org/officeDocument/2006/relationships/hyperlink" Target="https://arxiv.org/pdf/1009.5741.pdf" TargetMode="External"/><Relationship Id="rId7" Type="http://schemas.openxmlformats.org/officeDocument/2006/relationships/hyperlink" Target="https://www.ncbi.nlm.nih.gov/pmc/articles/PMC5576313/" TargetMode="External"/><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hyperlink" Target="https://www.callcentrehelper.com/calculate-forecast-accuracy-113808.htm" TargetMode="External"/><Relationship Id="rId5" Type="http://schemas.openxmlformats.org/officeDocument/2006/relationships/hyperlink" Target="https://www.youtube.com/watch?v=IKwl6CEwQxQ" TargetMode="External"/><Relationship Id="rId4" Type="http://schemas.openxmlformats.org/officeDocument/2006/relationships/hyperlink" Target="https://hbr.org/1971/07/how-to-choose-the-right-forecasting-technique" TargetMode="External"/><Relationship Id="rId9" Type="http://schemas.openxmlformats.org/officeDocument/2006/relationships/hyperlink" Target="https://github.com/Azure/MachineLearningSamples-EnergyDemandTimeSeriesForecasting" TargetMode="External"/></Relationships>
</file>

<file path=ppt/slides/_rels/slide8.xml.rels><?xml version="1.0" encoding="UTF-8" standalone="yes"?>
<Relationships xmlns="http://schemas.openxmlformats.org/package/2006/relationships"><Relationship Id="rId3" Type="http://schemas.openxmlformats.org/officeDocument/2006/relationships/hyperlink" Target="https://github.com/facebook/prophet" TargetMode="External"/><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hyperlink" Target="https://machinelearningmastery.com/time-series-prediction-with-deep-learning-in-python-with-keras/" TargetMode="External"/><Relationship Id="rId4" Type="http://schemas.openxmlformats.org/officeDocument/2006/relationships/hyperlink" Target="https://machinelearningmastery.com/multivariate-time-series-forecasting-lstms-kera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3"/>
          <p:cNvSpPr txBox="1"/>
          <p:nvPr/>
        </p:nvSpPr>
        <p:spPr>
          <a:xfrm>
            <a:off x="0" y="0"/>
            <a:ext cx="5427000" cy="30003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3200" b="1">
                <a:solidFill>
                  <a:schemeClr val="dk1"/>
                </a:solidFill>
                <a:latin typeface="Calibri"/>
                <a:ea typeface="Calibri"/>
                <a:cs typeface="Calibri"/>
                <a:sym typeface="Calibri"/>
              </a:rPr>
              <a:t>Call volume predictions</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a:solidFill>
                <a:schemeClr val="dk1"/>
              </a:solidFill>
              <a:latin typeface="Calibri"/>
              <a:ea typeface="Calibri"/>
              <a:cs typeface="Calibri"/>
              <a:sym typeface="Calibri"/>
            </a:endParaRPr>
          </a:p>
          <a:p>
            <a:pPr marL="0" marR="0" lvl="0" indent="0" algn="l" rtl="0">
              <a:spcBef>
                <a:spcPts val="0"/>
              </a:spcBef>
              <a:spcAft>
                <a:spcPts val="0"/>
              </a:spcAft>
              <a:buNone/>
            </a:pPr>
            <a:r>
              <a:rPr lang="en-US">
                <a:solidFill>
                  <a:schemeClr val="dk1"/>
                </a:solidFill>
                <a:latin typeface="Calibri"/>
                <a:ea typeface="Calibri"/>
                <a:cs typeface="Calibri"/>
                <a:sym typeface="Calibri"/>
              </a:rPr>
              <a:t>Forecasting calls volume is a common problem:</a:t>
            </a:r>
            <a:endParaRPr>
              <a:solidFill>
                <a:schemeClr val="dk1"/>
              </a:solidFill>
              <a:latin typeface="Calibri"/>
              <a:ea typeface="Calibri"/>
              <a:cs typeface="Calibri"/>
              <a:sym typeface="Calibri"/>
            </a:endParaRPr>
          </a:p>
          <a:p>
            <a:pPr marL="0" marR="0" lvl="0" indent="0" algn="l" rtl="0">
              <a:spcBef>
                <a:spcPts val="0"/>
              </a:spcBef>
              <a:spcAft>
                <a:spcPts val="0"/>
              </a:spcAft>
              <a:buNone/>
            </a:pPr>
            <a:r>
              <a:rPr lang="en-US">
                <a:solidFill>
                  <a:schemeClr val="dk1"/>
                </a:solidFill>
                <a:latin typeface="Calibri"/>
                <a:ea typeface="Calibri"/>
                <a:cs typeface="Calibri"/>
                <a:sym typeface="Calibri"/>
              </a:rPr>
              <a:t> - Customer service call volume by day (or part of day)</a:t>
            </a:r>
            <a:endParaRPr>
              <a:solidFill>
                <a:schemeClr val="dk1"/>
              </a:solidFill>
              <a:latin typeface="Calibri"/>
              <a:ea typeface="Calibri"/>
              <a:cs typeface="Calibri"/>
              <a:sym typeface="Calibri"/>
            </a:endParaRPr>
          </a:p>
          <a:p>
            <a:pPr marL="0" marR="0" lvl="0" indent="0" algn="l" rtl="0">
              <a:spcBef>
                <a:spcPts val="0"/>
              </a:spcBef>
              <a:spcAft>
                <a:spcPts val="0"/>
              </a:spcAft>
              <a:buNone/>
            </a:pPr>
            <a:r>
              <a:rPr lang="en-US">
                <a:solidFill>
                  <a:schemeClr val="dk1"/>
                </a:solidFill>
                <a:latin typeface="Calibri"/>
                <a:ea typeface="Calibri"/>
                <a:cs typeface="Calibri"/>
                <a:sym typeface="Calibri"/>
              </a:rPr>
              <a:t> - EMS (Emergency Medical Services) calls</a:t>
            </a:r>
            <a:endParaRPr>
              <a:solidFill>
                <a:schemeClr val="dk1"/>
              </a:solidFill>
              <a:latin typeface="Calibri"/>
              <a:ea typeface="Calibri"/>
              <a:cs typeface="Calibri"/>
              <a:sym typeface="Calibri"/>
            </a:endParaRPr>
          </a:p>
          <a:p>
            <a:pPr marL="0" marR="0" lvl="0" indent="0" algn="l" rtl="0">
              <a:spcBef>
                <a:spcPts val="0"/>
              </a:spcBef>
              <a:spcAft>
                <a:spcPts val="0"/>
              </a:spcAft>
              <a:buNone/>
            </a:pPr>
            <a:r>
              <a:rPr lang="en-US">
                <a:solidFill>
                  <a:schemeClr val="dk1"/>
                </a:solidFill>
                <a:latin typeface="Calibri"/>
                <a:ea typeface="Calibri"/>
                <a:cs typeface="Calibri"/>
                <a:sym typeface="Calibri"/>
              </a:rPr>
              <a:t> - Sales calls volume</a:t>
            </a:r>
            <a:endParaRPr>
              <a:solidFill>
                <a:schemeClr val="dk1"/>
              </a:solidFill>
              <a:latin typeface="Calibri"/>
              <a:ea typeface="Calibri"/>
              <a:cs typeface="Calibri"/>
              <a:sym typeface="Calibri"/>
            </a:endParaRPr>
          </a:p>
          <a:p>
            <a:pPr marL="0" marR="0" lvl="0" indent="0" algn="l" rtl="0">
              <a:spcBef>
                <a:spcPts val="0"/>
              </a:spcBef>
              <a:spcAft>
                <a:spcPts val="0"/>
              </a:spcAft>
              <a:buNone/>
            </a:pPr>
            <a:r>
              <a:rPr lang="en-US">
                <a:solidFill>
                  <a:schemeClr val="dk1"/>
                </a:solidFill>
                <a:latin typeface="Calibri"/>
                <a:ea typeface="Calibri"/>
                <a:cs typeface="Calibri"/>
                <a:sym typeface="Calibri"/>
              </a:rPr>
              <a:t> - Virtual Machine Usage in the cloud</a:t>
            </a:r>
            <a:endParaRPr>
              <a:solidFill>
                <a:schemeClr val="dk1"/>
              </a:solidFill>
              <a:latin typeface="Calibri"/>
              <a:ea typeface="Calibri"/>
              <a:cs typeface="Calibri"/>
              <a:sym typeface="Calibri"/>
            </a:endParaRPr>
          </a:p>
          <a:p>
            <a:pPr marL="0" marR="0" lvl="0" indent="0" algn="l" rtl="0">
              <a:spcBef>
                <a:spcPts val="0"/>
              </a:spcBef>
              <a:spcAft>
                <a:spcPts val="0"/>
              </a:spcAft>
              <a:buNone/>
            </a:pPr>
            <a:r>
              <a:rPr lang="en-US">
                <a:solidFill>
                  <a:schemeClr val="dk1"/>
                </a:solidFill>
                <a:latin typeface="Calibri"/>
                <a:ea typeface="Calibri"/>
                <a:cs typeface="Calibri"/>
                <a:sym typeface="Calibri"/>
              </a:rPr>
              <a:t> - predictions in investments &amp; insurance </a:t>
            </a:r>
            <a:endParaRPr>
              <a:solidFill>
                <a:schemeClr val="dk1"/>
              </a:solidFill>
              <a:latin typeface="Calibri"/>
              <a:ea typeface="Calibri"/>
              <a:cs typeface="Calibri"/>
              <a:sym typeface="Calibri"/>
            </a:endParaRPr>
          </a:p>
          <a:p>
            <a:pPr marL="0" marR="0" lvl="0" indent="0" algn="l" rtl="0">
              <a:spcBef>
                <a:spcPts val="0"/>
              </a:spcBef>
              <a:spcAft>
                <a:spcPts val="0"/>
              </a:spcAft>
              <a:buNone/>
            </a:pPr>
            <a:r>
              <a:rPr lang="en-US">
                <a:solidFill>
                  <a:schemeClr val="dk1"/>
                </a:solidFill>
                <a:latin typeface="Calibri"/>
                <a:ea typeface="Calibri"/>
                <a:cs typeface="Calibri"/>
                <a:sym typeface="Calibri"/>
              </a:rPr>
              <a:t> - etc.</a:t>
            </a:r>
            <a:endParaRPr>
              <a:solidFill>
                <a:schemeClr val="dk1"/>
              </a:solidFill>
              <a:latin typeface="Calibri"/>
              <a:ea typeface="Calibri"/>
              <a:cs typeface="Calibri"/>
              <a:sym typeface="Calibri"/>
            </a:endParaRPr>
          </a:p>
          <a:p>
            <a:pPr marL="0" marR="0" lvl="0" indent="0" algn="l" rtl="0">
              <a:spcBef>
                <a:spcPts val="0"/>
              </a:spcBef>
              <a:spcAft>
                <a:spcPts val="0"/>
              </a:spcAft>
              <a:buNone/>
            </a:pPr>
            <a:endParaRPr>
              <a:solidFill>
                <a:schemeClr val="dk1"/>
              </a:solidFill>
              <a:latin typeface="Calibri"/>
              <a:ea typeface="Calibri"/>
              <a:cs typeface="Calibri"/>
              <a:sym typeface="Calibri"/>
            </a:endParaRPr>
          </a:p>
          <a:p>
            <a:pPr marL="0" lvl="0" indent="0" algn="l" rtl="0">
              <a:spcBef>
                <a:spcPts val="0"/>
              </a:spcBef>
              <a:spcAft>
                <a:spcPts val="0"/>
              </a:spcAft>
              <a:buSzPts val="1100"/>
              <a:buNone/>
            </a:pPr>
            <a:r>
              <a:rPr lang="en-US">
                <a:solidFill>
                  <a:schemeClr val="dk1"/>
                </a:solidFill>
              </a:rPr>
              <a:t>Balance between service quality (short waiting times, few </a:t>
            </a:r>
            <a:endParaRPr>
              <a:solidFill>
                <a:schemeClr val="dk1"/>
              </a:solidFill>
            </a:endParaRPr>
          </a:p>
          <a:p>
            <a:pPr marL="0" lvl="0" indent="0" algn="l" rtl="0">
              <a:spcBef>
                <a:spcPts val="0"/>
              </a:spcBef>
              <a:spcAft>
                <a:spcPts val="0"/>
              </a:spcAft>
              <a:buClr>
                <a:schemeClr val="dk1"/>
              </a:buClr>
              <a:buSzPts val="1100"/>
              <a:buFont typeface="Arial"/>
              <a:buNone/>
            </a:pPr>
            <a:r>
              <a:rPr lang="en-US">
                <a:solidFill>
                  <a:schemeClr val="dk1"/>
                </a:solidFill>
              </a:rPr>
              <a:t>abandonments) and service efficiency (utilization of agents).</a:t>
            </a:r>
            <a:endParaRPr>
              <a:solidFill>
                <a:schemeClr val="dk1"/>
              </a:solidFill>
              <a:latin typeface="Calibri"/>
              <a:ea typeface="Calibri"/>
              <a:cs typeface="Calibri"/>
              <a:sym typeface="Calibri"/>
            </a:endParaRPr>
          </a:p>
          <a:p>
            <a:pPr marL="0" marR="0" lvl="0" indent="0" algn="l" rtl="0">
              <a:spcBef>
                <a:spcPts val="0"/>
              </a:spcBef>
              <a:spcAft>
                <a:spcPts val="0"/>
              </a:spcAft>
              <a:buNone/>
            </a:pPr>
            <a:endParaRPr>
              <a:solidFill>
                <a:schemeClr val="dk1"/>
              </a:solidFill>
              <a:latin typeface="Calibri"/>
              <a:ea typeface="Calibri"/>
              <a:cs typeface="Calibri"/>
              <a:sym typeface="Calibri"/>
            </a:endParaRPr>
          </a:p>
        </p:txBody>
      </p:sp>
      <p:sp>
        <p:nvSpPr>
          <p:cNvPr id="89" name="Google Shape;89;p13"/>
          <p:cNvSpPr txBox="1"/>
          <p:nvPr/>
        </p:nvSpPr>
        <p:spPr>
          <a:xfrm>
            <a:off x="0" y="3000300"/>
            <a:ext cx="6040200" cy="1442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a:solidFill>
                  <a:schemeClr val="dk1"/>
                </a:solidFill>
              </a:rPr>
              <a:t>variations and trends in call volume depend on various parameters - like   time of day, day of week, seasonal, trends (within year and growth between years), special events (holidays, promotions, legal changes, sport events, etc.). Number of calls can vary dramatically between days (x5 times or more)</a:t>
            </a:r>
            <a:endParaRPr>
              <a:solidFill>
                <a:schemeClr val="dk1"/>
              </a:solidFill>
            </a:endParaRPr>
          </a:p>
          <a:p>
            <a:pPr marL="0" lvl="0" indent="0" algn="l" rtl="0">
              <a:spcBef>
                <a:spcPts val="0"/>
              </a:spcBef>
              <a:spcAft>
                <a:spcPts val="0"/>
              </a:spcAft>
              <a:buNone/>
            </a:pPr>
            <a:endParaRPr>
              <a:solidFill>
                <a:schemeClr val="dk1"/>
              </a:solidFill>
            </a:endParaRPr>
          </a:p>
          <a:p>
            <a:pPr marL="0" lvl="0" indent="0" algn="l" rtl="0">
              <a:spcBef>
                <a:spcPts val="0"/>
              </a:spcBef>
              <a:spcAft>
                <a:spcPts val="0"/>
              </a:spcAft>
              <a:buNone/>
            </a:pPr>
            <a:endParaRPr/>
          </a:p>
        </p:txBody>
      </p:sp>
      <p:pic>
        <p:nvPicPr>
          <p:cNvPr id="90" name="Google Shape;90;p13"/>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7342263" y="0"/>
            <a:ext cx="4842186" cy="3000375"/>
          </a:xfrm>
          <a:prstGeom prst="rect">
            <a:avLst/>
          </a:prstGeom>
          <a:noFill/>
          <a:ln>
            <a:noFill/>
          </a:ln>
        </p:spPr>
      </p:pic>
      <p:sp>
        <p:nvSpPr>
          <p:cNvPr id="91" name="Google Shape;91;p13"/>
          <p:cNvSpPr txBox="1"/>
          <p:nvPr/>
        </p:nvSpPr>
        <p:spPr>
          <a:xfrm>
            <a:off x="8220750" y="3126325"/>
            <a:ext cx="3085200" cy="471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a:t>Variations within one month</a:t>
            </a:r>
            <a:endParaRPr/>
          </a:p>
        </p:txBody>
      </p:sp>
      <p:pic>
        <p:nvPicPr>
          <p:cNvPr id="92" name="Google Shape;92;p13"/>
          <p:cNvPicPr preferRelativeResize="0"/>
          <p:nvPr/>
        </p:nvPicPr>
        <p:blipFill>
          <a:blip r:embed="rId4">
            <a:alphaModFix/>
          </a:blip>
          <a:stretch>
            <a:fillRect/>
          </a:stretch>
        </p:blipFill>
        <p:spPr>
          <a:xfrm>
            <a:off x="7536250" y="3495700"/>
            <a:ext cx="4648200" cy="2847975"/>
          </a:xfrm>
          <a:prstGeom prst="rect">
            <a:avLst/>
          </a:prstGeom>
          <a:noFill/>
          <a:ln>
            <a:noFill/>
          </a:ln>
        </p:spPr>
      </p:pic>
      <p:sp>
        <p:nvSpPr>
          <p:cNvPr id="93" name="Google Shape;93;p13"/>
          <p:cNvSpPr txBox="1"/>
          <p:nvPr/>
        </p:nvSpPr>
        <p:spPr>
          <a:xfrm>
            <a:off x="7889475" y="6386700"/>
            <a:ext cx="4386300" cy="471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a:t>Seasonal variations repeating year after year</a:t>
            </a:r>
            <a:endParaRPr/>
          </a:p>
        </p:txBody>
      </p:sp>
      <p:pic>
        <p:nvPicPr>
          <p:cNvPr id="94" name="Google Shape;94;p13"/>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1198025" y="4820525"/>
            <a:ext cx="4842174" cy="203747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14"/>
          <p:cNvSpPr txBox="1"/>
          <p:nvPr/>
        </p:nvSpPr>
        <p:spPr>
          <a:xfrm>
            <a:off x="353125" y="944125"/>
            <a:ext cx="9385500" cy="5556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800" dirty="0">
                <a:solidFill>
                  <a:schemeClr val="accent6">
                    <a:lumMod val="75000"/>
                  </a:schemeClr>
                </a:solidFill>
              </a:rPr>
              <a:t>"""If you've ever stepped into a call center the morning after an unannounced marketing campaign, you likely came to the painful realization that the marketing folks need to be tightly integrated into this process. </a:t>
            </a:r>
            <a:endParaRPr sz="1800" dirty="0">
              <a:solidFill>
                <a:schemeClr val="accent6">
                  <a:lumMod val="75000"/>
                </a:schemeClr>
              </a:solidFill>
            </a:endParaRPr>
          </a:p>
          <a:p>
            <a:pPr marL="0" lvl="0" indent="0" algn="l" rtl="0">
              <a:spcBef>
                <a:spcPts val="0"/>
              </a:spcBef>
              <a:spcAft>
                <a:spcPts val="0"/>
              </a:spcAft>
              <a:buNone/>
            </a:pPr>
            <a:endParaRPr sz="1800" dirty="0">
              <a:solidFill>
                <a:schemeClr val="accent6">
                  <a:lumMod val="75000"/>
                </a:schemeClr>
              </a:solidFill>
            </a:endParaRPr>
          </a:p>
          <a:p>
            <a:pPr marL="0" lvl="0" indent="0" algn="l" rtl="0">
              <a:spcBef>
                <a:spcPts val="0"/>
              </a:spcBef>
              <a:spcAft>
                <a:spcPts val="0"/>
              </a:spcAft>
              <a:buNone/>
            </a:pPr>
            <a:r>
              <a:rPr lang="en-US" sz="1800" dirty="0">
                <a:solidFill>
                  <a:schemeClr val="accent6">
                    <a:lumMod val="75000"/>
                  </a:schemeClr>
                </a:solidFill>
              </a:rPr>
              <a:t>So, too, the people in legal who change terms and conditions; the people in IT who make system changes; and anybody else who impacts the call center's work load. </a:t>
            </a:r>
            <a:endParaRPr sz="1800" dirty="0">
              <a:solidFill>
                <a:schemeClr val="accent6">
                  <a:lumMod val="75000"/>
                </a:schemeClr>
              </a:solidFill>
            </a:endParaRPr>
          </a:p>
          <a:p>
            <a:pPr marL="0" lvl="0" indent="0" algn="l" rtl="0">
              <a:spcBef>
                <a:spcPts val="0"/>
              </a:spcBef>
              <a:spcAft>
                <a:spcPts val="0"/>
              </a:spcAft>
              <a:buNone/>
            </a:pPr>
            <a:endParaRPr sz="1800" dirty="0">
              <a:solidFill>
                <a:schemeClr val="accent6">
                  <a:lumMod val="75000"/>
                </a:schemeClr>
              </a:solidFill>
            </a:endParaRPr>
          </a:p>
          <a:p>
            <a:pPr marL="0" lvl="0" indent="0" algn="l" rtl="0">
              <a:spcBef>
                <a:spcPts val="0"/>
              </a:spcBef>
              <a:spcAft>
                <a:spcPts val="0"/>
              </a:spcAft>
              <a:buNone/>
            </a:pPr>
            <a:r>
              <a:rPr lang="en-US" sz="1800" b="1" dirty="0">
                <a:solidFill>
                  <a:schemeClr val="accent6">
                    <a:lumMod val="75000"/>
                  </a:schemeClr>
                </a:solidFill>
              </a:rPr>
              <a:t>A cross-functional meeting (minimum once per week) is essential. </a:t>
            </a:r>
            <a:endParaRPr sz="1800" b="1" dirty="0">
              <a:solidFill>
                <a:schemeClr val="accent6">
                  <a:lumMod val="75000"/>
                </a:schemeClr>
              </a:solidFill>
            </a:endParaRPr>
          </a:p>
          <a:p>
            <a:pPr marL="0" lvl="0" indent="0" algn="l" rtl="0">
              <a:spcBef>
                <a:spcPts val="0"/>
              </a:spcBef>
              <a:spcAft>
                <a:spcPts val="0"/>
              </a:spcAft>
              <a:buNone/>
            </a:pPr>
            <a:r>
              <a:rPr lang="en-US" sz="1800" b="1" dirty="0">
                <a:solidFill>
                  <a:schemeClr val="accent6">
                    <a:lumMod val="75000"/>
                  </a:schemeClr>
                </a:solidFill>
              </a:rPr>
              <a:t>The motto of this team: No surprises! </a:t>
            </a:r>
            <a:r>
              <a:rPr lang="en-US" sz="1800" dirty="0">
                <a:solidFill>
                  <a:schemeClr val="accent6">
                    <a:lumMod val="75000"/>
                  </a:schemeClr>
                </a:solidFill>
              </a:rPr>
              <a:t>"""</a:t>
            </a:r>
            <a:endParaRPr sz="1800" dirty="0">
              <a:solidFill>
                <a:schemeClr val="accent6">
                  <a:lumMod val="75000"/>
                </a:schemeClr>
              </a:solidFill>
            </a:endParaRPr>
          </a:p>
          <a:p>
            <a:pPr marL="0" lvl="0" indent="0" algn="l" rtl="0">
              <a:spcBef>
                <a:spcPts val="0"/>
              </a:spcBef>
              <a:spcAft>
                <a:spcPts val="0"/>
              </a:spcAft>
              <a:buNone/>
            </a:pPr>
            <a:endParaRPr sz="1800" dirty="0"/>
          </a:p>
          <a:p>
            <a:pPr marL="0" lvl="0" indent="0" algn="l" rtl="0">
              <a:spcBef>
                <a:spcPts val="0"/>
              </a:spcBef>
              <a:spcAft>
                <a:spcPts val="0"/>
              </a:spcAft>
              <a:buNone/>
            </a:pPr>
            <a:r>
              <a:rPr lang="en-US" sz="1800" dirty="0"/>
              <a:t>    from "Improving Your Call Center's Workload Forecast" (2003)</a:t>
            </a:r>
            <a:endParaRPr sz="1800" dirty="0"/>
          </a:p>
          <a:p>
            <a:pPr marL="0" lvl="0" indent="0" algn="l" rtl="0">
              <a:spcBef>
                <a:spcPts val="0"/>
              </a:spcBef>
              <a:spcAft>
                <a:spcPts val="0"/>
              </a:spcAft>
              <a:buClr>
                <a:schemeClr val="dk1"/>
              </a:buClr>
              <a:buSzPts val="1100"/>
              <a:buFont typeface="Arial"/>
              <a:buNone/>
            </a:pPr>
            <a:r>
              <a:rPr lang="en-US" sz="1800" dirty="0"/>
              <a:t>     - </a:t>
            </a:r>
            <a:r>
              <a:rPr lang="en-US" sz="1800" u="sng" dirty="0">
                <a:solidFill>
                  <a:schemeClr val="hlink"/>
                </a:solidFill>
                <a:hlinkClick r:id="rId3"/>
              </a:rPr>
              <a:t>https://www.eetimes.com/document.asp?doc_id=1196835</a:t>
            </a:r>
            <a:endParaRPr sz="1800" dirty="0"/>
          </a:p>
          <a:p>
            <a:pPr marL="0" lvl="0" indent="0" algn="l" rtl="0">
              <a:spcBef>
                <a:spcPts val="0"/>
              </a:spcBef>
              <a:spcAft>
                <a:spcPts val="0"/>
              </a:spcAft>
              <a:buNone/>
            </a:pPr>
            <a:endParaRPr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15"/>
          <p:cNvSpPr txBox="1"/>
          <p:nvPr/>
        </p:nvSpPr>
        <p:spPr>
          <a:xfrm>
            <a:off x="0" y="669250"/>
            <a:ext cx="6035040" cy="548009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b="1" u="sng" dirty="0">
                <a:solidFill>
                  <a:srgbClr val="0070C0"/>
                </a:solidFill>
                <a:latin typeface="Calibri"/>
                <a:ea typeface="Calibri"/>
                <a:cs typeface="Calibri"/>
                <a:sym typeface="Calibri"/>
              </a:rPr>
              <a:t>Columns for multivariate forecasting:</a:t>
            </a:r>
            <a:endParaRPr sz="1200" b="1" u="sng" dirty="0">
              <a:solidFill>
                <a:srgbClr val="0070C0"/>
              </a:solidFill>
              <a:latin typeface="Calibri"/>
              <a:ea typeface="Calibri"/>
              <a:cs typeface="Calibri"/>
              <a:sym typeface="Calibri"/>
            </a:endParaRPr>
          </a:p>
          <a:p>
            <a:pPr marL="0" lvl="0" indent="0" algn="l" rtl="0">
              <a:spcBef>
                <a:spcPts val="0"/>
              </a:spcBef>
              <a:spcAft>
                <a:spcPts val="0"/>
              </a:spcAft>
              <a:buNone/>
            </a:pPr>
            <a:r>
              <a:rPr lang="en-US" sz="1200" dirty="0">
                <a:solidFill>
                  <a:schemeClr val="dk1"/>
                </a:solidFill>
                <a:latin typeface="Calibri"/>
                <a:ea typeface="Calibri"/>
                <a:cs typeface="Calibri"/>
                <a:sym typeface="Calibri"/>
              </a:rPr>
              <a:t>  - date</a:t>
            </a:r>
            <a:endParaRPr sz="1200" dirty="0">
              <a:solidFill>
                <a:schemeClr val="dk1"/>
              </a:solidFill>
              <a:latin typeface="Calibri"/>
              <a:ea typeface="Calibri"/>
              <a:cs typeface="Calibri"/>
              <a:sym typeface="Calibri"/>
            </a:endParaRPr>
          </a:p>
          <a:p>
            <a:pPr marL="0" lvl="0" indent="0" algn="l" rtl="0">
              <a:spcBef>
                <a:spcPts val="0"/>
              </a:spcBef>
              <a:spcAft>
                <a:spcPts val="0"/>
              </a:spcAft>
              <a:buNone/>
            </a:pPr>
            <a:r>
              <a:rPr lang="en-US" sz="1200" dirty="0">
                <a:solidFill>
                  <a:schemeClr val="dk1"/>
                </a:solidFill>
                <a:latin typeface="Calibri"/>
                <a:ea typeface="Calibri"/>
                <a:cs typeface="Calibri"/>
                <a:sym typeface="Calibri"/>
              </a:rPr>
              <a:t>  - hour (or part of day: overnight, early morning, prime time, etc.)</a:t>
            </a:r>
            <a:endParaRPr sz="1200" dirty="0">
              <a:solidFill>
                <a:schemeClr val="dk1"/>
              </a:solidFill>
              <a:latin typeface="Calibri"/>
              <a:ea typeface="Calibri"/>
              <a:cs typeface="Calibri"/>
              <a:sym typeface="Calibri"/>
            </a:endParaRPr>
          </a:p>
          <a:p>
            <a:pPr marL="0" lvl="0" indent="0" algn="l" rtl="0">
              <a:spcBef>
                <a:spcPts val="0"/>
              </a:spcBef>
              <a:spcAft>
                <a:spcPts val="0"/>
              </a:spcAft>
              <a:buSzPts val="1100"/>
              <a:buNone/>
            </a:pPr>
            <a:r>
              <a:rPr lang="en-US" sz="1200" dirty="0">
                <a:solidFill>
                  <a:schemeClr val="dk1"/>
                </a:solidFill>
                <a:latin typeface="Calibri"/>
                <a:ea typeface="Calibri"/>
                <a:cs typeface="Calibri"/>
                <a:sym typeface="Calibri"/>
              </a:rPr>
              <a:t>  - Holiday (yes / no)</a:t>
            </a:r>
            <a:endParaRPr sz="1200" dirty="0">
              <a:solidFill>
                <a:schemeClr val="dk1"/>
              </a:solidFill>
              <a:latin typeface="Calibri"/>
              <a:ea typeface="Calibri"/>
              <a:cs typeface="Calibri"/>
              <a:sym typeface="Calibri"/>
            </a:endParaRPr>
          </a:p>
          <a:p>
            <a:pPr marL="0" lvl="0" indent="0" algn="l" rtl="0">
              <a:spcBef>
                <a:spcPts val="0"/>
              </a:spcBef>
              <a:spcAft>
                <a:spcPts val="0"/>
              </a:spcAft>
              <a:buNone/>
            </a:pPr>
            <a:r>
              <a:rPr lang="en-US" sz="1200" dirty="0">
                <a:solidFill>
                  <a:schemeClr val="dk1"/>
                </a:solidFill>
                <a:latin typeface="Calibri"/>
                <a:ea typeface="Calibri"/>
                <a:cs typeface="Calibri"/>
                <a:sym typeface="Calibri"/>
              </a:rPr>
              <a:t>  - Day of the week</a:t>
            </a:r>
            <a:endParaRPr sz="1200" dirty="0">
              <a:solidFill>
                <a:schemeClr val="dk1"/>
              </a:solidFill>
              <a:latin typeface="Calibri"/>
              <a:ea typeface="Calibri"/>
              <a:cs typeface="Calibri"/>
              <a:sym typeface="Calibri"/>
            </a:endParaRPr>
          </a:p>
          <a:p>
            <a:pPr marL="0" lvl="0" indent="0" algn="l" rtl="0">
              <a:spcBef>
                <a:spcPts val="0"/>
              </a:spcBef>
              <a:spcAft>
                <a:spcPts val="0"/>
              </a:spcAft>
              <a:buNone/>
            </a:pPr>
            <a:r>
              <a:rPr lang="en-US" sz="1200" dirty="0">
                <a:solidFill>
                  <a:schemeClr val="dk1"/>
                </a:solidFill>
                <a:latin typeface="Calibri"/>
                <a:ea typeface="Calibri"/>
                <a:cs typeface="Calibri"/>
                <a:sym typeface="Calibri"/>
              </a:rPr>
              <a:t>  - Season (Fall, Winter, Spring, Summer)</a:t>
            </a:r>
            <a:endParaRPr sz="1200" dirty="0">
              <a:solidFill>
                <a:schemeClr val="dk1"/>
              </a:solidFill>
              <a:latin typeface="Calibri"/>
              <a:ea typeface="Calibri"/>
              <a:cs typeface="Calibri"/>
              <a:sym typeface="Calibri"/>
            </a:endParaRPr>
          </a:p>
          <a:p>
            <a:pPr marL="0" lvl="0" indent="0" algn="l" rtl="0">
              <a:spcBef>
                <a:spcPts val="0"/>
              </a:spcBef>
              <a:spcAft>
                <a:spcPts val="0"/>
              </a:spcAft>
              <a:buNone/>
            </a:pPr>
            <a:r>
              <a:rPr lang="en-US" sz="1200" dirty="0">
                <a:solidFill>
                  <a:schemeClr val="dk1"/>
                </a:solidFill>
                <a:latin typeface="Calibri"/>
                <a:ea typeface="Calibri"/>
                <a:cs typeface="Calibri"/>
                <a:sym typeface="Calibri"/>
              </a:rPr>
              <a:t>  - Month </a:t>
            </a:r>
            <a:endParaRPr sz="1200" dirty="0">
              <a:solidFill>
                <a:schemeClr val="dk1"/>
              </a:solidFill>
              <a:latin typeface="Calibri"/>
              <a:ea typeface="Calibri"/>
              <a:cs typeface="Calibri"/>
              <a:sym typeface="Calibri"/>
            </a:endParaRPr>
          </a:p>
          <a:p>
            <a:pPr marL="0" lvl="0" indent="0" algn="l" rtl="0">
              <a:spcBef>
                <a:spcPts val="0"/>
              </a:spcBef>
              <a:spcAft>
                <a:spcPts val="0"/>
              </a:spcAft>
              <a:buSzPts val="1100"/>
              <a:buNone/>
            </a:pPr>
            <a:r>
              <a:rPr lang="en-US" sz="1200" dirty="0">
                <a:solidFill>
                  <a:schemeClr val="dk1"/>
                </a:solidFill>
                <a:latin typeface="Calibri"/>
                <a:ea typeface="Calibri"/>
                <a:cs typeface="Calibri"/>
                <a:sym typeface="Calibri"/>
              </a:rPr>
              <a:t>  - Calendar Week (instead of Season?)</a:t>
            </a:r>
            <a:endParaRPr sz="1200" dirty="0">
              <a:solidFill>
                <a:schemeClr val="dk1"/>
              </a:solidFill>
              <a:latin typeface="Calibri"/>
              <a:ea typeface="Calibri"/>
              <a:cs typeface="Calibri"/>
              <a:sym typeface="Calibri"/>
            </a:endParaRPr>
          </a:p>
          <a:p>
            <a:pPr marL="0" lvl="0" indent="0" algn="l" rtl="0">
              <a:spcBef>
                <a:spcPts val="0"/>
              </a:spcBef>
              <a:spcAft>
                <a:spcPts val="0"/>
              </a:spcAft>
              <a:buSzPts val="1100"/>
              <a:buNone/>
            </a:pPr>
            <a:r>
              <a:rPr lang="en-US" sz="1200" dirty="0">
                <a:solidFill>
                  <a:schemeClr val="dk1"/>
                </a:solidFill>
                <a:latin typeface="Calibri"/>
                <a:ea typeface="Calibri"/>
                <a:cs typeface="Calibri"/>
                <a:sym typeface="Calibri"/>
              </a:rPr>
              <a:t>  - billing cycle (or/and day within cycle)?</a:t>
            </a:r>
            <a:endParaRPr sz="1200" dirty="0">
              <a:solidFill>
                <a:schemeClr val="dk1"/>
              </a:solidFill>
              <a:latin typeface="Calibri"/>
              <a:ea typeface="Calibri"/>
              <a:cs typeface="Calibri"/>
              <a:sym typeface="Calibri"/>
            </a:endParaRPr>
          </a:p>
          <a:p>
            <a:pPr marL="0" lvl="0" indent="0" algn="l" rtl="0">
              <a:spcBef>
                <a:spcPts val="0"/>
              </a:spcBef>
              <a:spcAft>
                <a:spcPts val="0"/>
              </a:spcAft>
              <a:buSzPts val="1100"/>
              <a:buNone/>
            </a:pPr>
            <a:r>
              <a:rPr lang="en-US" sz="1200" dirty="0">
                <a:solidFill>
                  <a:schemeClr val="dk1"/>
                </a:solidFill>
                <a:latin typeface="Calibri"/>
                <a:ea typeface="Calibri"/>
                <a:cs typeface="Calibri"/>
                <a:sym typeface="Calibri"/>
              </a:rPr>
              <a:t>  - new services/promotions introduced recently (several columns)</a:t>
            </a:r>
            <a:endParaRPr sz="1200" dirty="0">
              <a:solidFill>
                <a:schemeClr val="dk1"/>
              </a:solidFill>
              <a:latin typeface="Calibri"/>
              <a:ea typeface="Calibri"/>
              <a:cs typeface="Calibri"/>
              <a:sym typeface="Calibri"/>
            </a:endParaRPr>
          </a:p>
          <a:p>
            <a:pPr marL="0" lvl="0" indent="0" algn="l" rtl="0">
              <a:spcBef>
                <a:spcPts val="0"/>
              </a:spcBef>
              <a:spcAft>
                <a:spcPts val="0"/>
              </a:spcAft>
              <a:buSzPts val="1100"/>
              <a:buNone/>
            </a:pPr>
            <a:r>
              <a:rPr lang="en-US" sz="1200" dirty="0">
                <a:solidFill>
                  <a:schemeClr val="dk1"/>
                </a:solidFill>
                <a:latin typeface="Calibri"/>
                <a:ea typeface="Calibri"/>
                <a:cs typeface="Calibri"/>
                <a:sym typeface="Calibri"/>
              </a:rPr>
              <a:t>  - legal term changes (confuse people)</a:t>
            </a:r>
            <a:endParaRPr sz="1200" dirty="0">
              <a:solidFill>
                <a:schemeClr val="dk1"/>
              </a:solidFill>
              <a:latin typeface="Calibri"/>
              <a:ea typeface="Calibri"/>
              <a:cs typeface="Calibri"/>
              <a:sym typeface="Calibri"/>
            </a:endParaRPr>
          </a:p>
          <a:p>
            <a:pPr marL="0" lvl="0" indent="0" algn="l" rtl="0">
              <a:spcBef>
                <a:spcPts val="0"/>
              </a:spcBef>
              <a:spcAft>
                <a:spcPts val="0"/>
              </a:spcAft>
              <a:buSzPts val="1100"/>
              <a:buNone/>
            </a:pPr>
            <a:r>
              <a:rPr lang="en-US" sz="1200" dirty="0">
                <a:solidFill>
                  <a:schemeClr val="dk1"/>
                </a:solidFill>
                <a:latin typeface="Calibri"/>
                <a:ea typeface="Calibri"/>
                <a:cs typeface="Calibri"/>
                <a:sym typeface="Calibri"/>
              </a:rPr>
              <a:t>  - website changes (confuse people)</a:t>
            </a:r>
            <a:endParaRPr sz="12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200" dirty="0">
                <a:solidFill>
                  <a:schemeClr val="dk1"/>
                </a:solidFill>
                <a:latin typeface="Calibri"/>
                <a:ea typeface="Calibri"/>
                <a:cs typeface="Calibri"/>
                <a:sym typeface="Calibri"/>
              </a:rPr>
              <a:t> </a:t>
            </a:r>
          </a:p>
          <a:p>
            <a:pPr marL="0" marR="0" lvl="0" indent="0" algn="l" rtl="0">
              <a:spcBef>
                <a:spcPts val="0"/>
              </a:spcBef>
              <a:spcAft>
                <a:spcPts val="0"/>
              </a:spcAft>
              <a:buNone/>
            </a:pPr>
            <a:r>
              <a:rPr lang="en-US" sz="1200" dirty="0">
                <a:solidFill>
                  <a:schemeClr val="dk1"/>
                </a:solidFill>
                <a:latin typeface="Calibri"/>
                <a:ea typeface="Calibri"/>
                <a:cs typeface="Calibri"/>
                <a:sym typeface="Calibri"/>
              </a:rPr>
              <a:t>=======</a:t>
            </a:r>
            <a:endParaRPr sz="1200" dirty="0">
              <a:solidFill>
                <a:schemeClr val="dk1"/>
              </a:solidFill>
              <a:latin typeface="Calibri"/>
              <a:ea typeface="Calibri"/>
              <a:cs typeface="Calibri"/>
              <a:sym typeface="Calibri"/>
            </a:endParaRPr>
          </a:p>
          <a:p>
            <a:pPr marL="0" marR="0" lvl="0" indent="0" algn="l" rtl="0">
              <a:spcBef>
                <a:spcPts val="0"/>
              </a:spcBef>
              <a:spcAft>
                <a:spcPts val="0"/>
              </a:spcAft>
              <a:buNone/>
            </a:pPr>
            <a:endParaRPr lang="en-US" sz="12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200" dirty="0">
                <a:solidFill>
                  <a:schemeClr val="dk1"/>
                </a:solidFill>
                <a:latin typeface="Calibri"/>
                <a:ea typeface="Calibri"/>
                <a:cs typeface="Calibri"/>
                <a:sym typeface="Calibri"/>
              </a:rPr>
              <a:t>  - Number of calls category 1, category 2, etc.</a:t>
            </a:r>
            <a:endParaRPr sz="12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200" dirty="0">
                <a:solidFill>
                  <a:schemeClr val="dk1"/>
                </a:solidFill>
                <a:latin typeface="Calibri"/>
                <a:ea typeface="Calibri"/>
                <a:cs typeface="Calibri"/>
                <a:sym typeface="Calibri"/>
              </a:rPr>
              <a:t>  - Number of emails, website traffic, calls for automatic service </a:t>
            </a:r>
            <a:endParaRPr sz="12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200" dirty="0">
                <a:solidFill>
                  <a:schemeClr val="dk1"/>
                </a:solidFill>
                <a:latin typeface="Calibri"/>
                <a:ea typeface="Calibri"/>
                <a:cs typeface="Calibri"/>
                <a:sym typeface="Calibri"/>
              </a:rPr>
              <a:t>     (IVR =  Interactive Voice Response), other platforms</a:t>
            </a:r>
            <a:endParaRPr sz="12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200" dirty="0">
                <a:solidFill>
                  <a:schemeClr val="dk1"/>
                </a:solidFill>
                <a:latin typeface="Calibri"/>
                <a:ea typeface="Calibri"/>
                <a:cs typeface="Calibri"/>
                <a:sym typeface="Calibri"/>
              </a:rPr>
              <a:t> - Numbers from previous years (increase over years for this particular day, week, season, etc.)</a:t>
            </a:r>
            <a:endParaRPr sz="12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200" dirty="0">
                <a:solidFill>
                  <a:schemeClr val="dk1"/>
                </a:solidFill>
                <a:latin typeface="Calibri"/>
                <a:ea typeface="Calibri"/>
                <a:cs typeface="Calibri"/>
                <a:sym typeface="Calibri"/>
              </a:rPr>
              <a:t> - Number of new clients signed in previous 1-2 weeks</a:t>
            </a:r>
            <a:endParaRPr sz="1200" dirty="0">
              <a:solidFill>
                <a:schemeClr val="dk1"/>
              </a:solidFill>
              <a:latin typeface="Calibri"/>
              <a:ea typeface="Calibri"/>
              <a:cs typeface="Calibri"/>
              <a:sym typeface="Calibri"/>
            </a:endParaRPr>
          </a:p>
          <a:p>
            <a:pPr marL="0" marR="0" lvl="0" indent="0" algn="l" rtl="0">
              <a:spcBef>
                <a:spcPts val="0"/>
              </a:spcBef>
              <a:spcAft>
                <a:spcPts val="0"/>
              </a:spcAft>
              <a:buSzPts val="1100"/>
              <a:buNone/>
            </a:pPr>
            <a:r>
              <a:rPr lang="en-US" sz="1200" dirty="0">
                <a:solidFill>
                  <a:schemeClr val="dk1"/>
                </a:solidFill>
                <a:latin typeface="Calibri"/>
                <a:ea typeface="Calibri"/>
                <a:cs typeface="Calibri"/>
                <a:sym typeface="Calibri"/>
              </a:rPr>
              <a:t> - DJIA (Dow Jones Industrial Average,  S&amp;P 500, VIX, etc.)</a:t>
            </a:r>
            <a:endParaRPr sz="1200" dirty="0">
              <a:solidFill>
                <a:schemeClr val="dk1"/>
              </a:solidFill>
              <a:latin typeface="Calibri"/>
              <a:ea typeface="Calibri"/>
              <a:cs typeface="Calibri"/>
              <a:sym typeface="Calibri"/>
            </a:endParaRPr>
          </a:p>
          <a:p>
            <a:pPr marL="0" marR="0" lvl="0" indent="0" algn="l" rtl="0">
              <a:spcBef>
                <a:spcPts val="0"/>
              </a:spcBef>
              <a:spcAft>
                <a:spcPts val="0"/>
              </a:spcAft>
              <a:buSzPts val="1100"/>
              <a:buNone/>
            </a:pPr>
            <a:r>
              <a:rPr lang="en-US" sz="1200" dirty="0">
                <a:solidFill>
                  <a:schemeClr val="dk1"/>
                </a:solidFill>
                <a:latin typeface="Calibri"/>
                <a:ea typeface="Calibri"/>
                <a:cs typeface="Calibri"/>
                <a:sym typeface="Calibri"/>
              </a:rPr>
              <a:t> - unemployment rate,  rate on personal loans</a:t>
            </a:r>
            <a:endParaRPr sz="1200" dirty="0">
              <a:solidFill>
                <a:schemeClr val="dk1"/>
              </a:solidFill>
              <a:latin typeface="Calibri"/>
              <a:ea typeface="Calibri"/>
              <a:cs typeface="Calibri"/>
              <a:sym typeface="Calibri"/>
            </a:endParaRPr>
          </a:p>
          <a:p>
            <a:pPr marL="0" marR="0" lvl="0" indent="0" algn="l" rtl="0">
              <a:spcBef>
                <a:spcPts val="0"/>
              </a:spcBef>
              <a:spcAft>
                <a:spcPts val="0"/>
              </a:spcAft>
              <a:buSzPts val="1100"/>
              <a:buNone/>
            </a:pPr>
            <a:r>
              <a:rPr lang="en-US" sz="1200" dirty="0">
                <a:solidFill>
                  <a:schemeClr val="dk1"/>
                </a:solidFill>
                <a:latin typeface="Calibri"/>
                <a:ea typeface="Calibri"/>
                <a:cs typeface="Calibri"/>
                <a:sym typeface="Calibri"/>
              </a:rPr>
              <a:t> - volume of news, tweets, google searches, Wikipedia views</a:t>
            </a:r>
            <a:endParaRPr sz="1200" dirty="0">
              <a:solidFill>
                <a:schemeClr val="dk1"/>
              </a:solidFill>
              <a:latin typeface="Calibri"/>
              <a:ea typeface="Calibri"/>
              <a:cs typeface="Calibri"/>
              <a:sym typeface="Calibri"/>
            </a:endParaRPr>
          </a:p>
          <a:p>
            <a:pPr marL="0" marR="0" lvl="0" indent="0" algn="l" rtl="0">
              <a:spcBef>
                <a:spcPts val="0"/>
              </a:spcBef>
              <a:spcAft>
                <a:spcPts val="0"/>
              </a:spcAft>
              <a:buSzPts val="1100"/>
              <a:buNone/>
            </a:pPr>
            <a:r>
              <a:rPr lang="en-US" sz="1200" dirty="0">
                <a:solidFill>
                  <a:schemeClr val="dk1"/>
                </a:solidFill>
                <a:latin typeface="Calibri"/>
                <a:ea typeface="Calibri"/>
                <a:cs typeface="Calibri"/>
                <a:sym typeface="Calibri"/>
              </a:rPr>
              <a:t> - volume of calls in other companies or gov. organizations</a:t>
            </a:r>
            <a:endParaRPr sz="1200" dirty="0">
              <a:solidFill>
                <a:schemeClr val="dk1"/>
              </a:solidFill>
              <a:latin typeface="Calibri"/>
              <a:ea typeface="Calibri"/>
              <a:cs typeface="Calibri"/>
              <a:sym typeface="Calibri"/>
            </a:endParaRPr>
          </a:p>
          <a:p>
            <a:pPr marL="0" marR="0" lvl="0" indent="0" algn="l" rtl="0">
              <a:spcBef>
                <a:spcPts val="0"/>
              </a:spcBef>
              <a:spcAft>
                <a:spcPts val="0"/>
              </a:spcAft>
              <a:buSzPts val="1100"/>
              <a:buNone/>
            </a:pPr>
            <a:r>
              <a:rPr lang="en-US" sz="1200" dirty="0">
                <a:solidFill>
                  <a:schemeClr val="dk1"/>
                </a:solidFill>
                <a:latin typeface="Calibri"/>
                <a:ea typeface="Calibri"/>
                <a:cs typeface="Calibri"/>
                <a:sym typeface="Calibri"/>
              </a:rPr>
              <a:t> - demographics (number of people entering certain age groups in certain income categories)</a:t>
            </a:r>
            <a:endParaRPr sz="1200" dirty="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US" sz="1200" dirty="0">
                <a:solidFill>
                  <a:schemeClr val="dk1"/>
                </a:solidFill>
                <a:latin typeface="Calibri"/>
                <a:ea typeface="Calibri"/>
                <a:cs typeface="Calibri"/>
                <a:sym typeface="Calibri"/>
              </a:rPr>
              <a:t> - Investor Sentiment analysis</a:t>
            </a:r>
            <a:endParaRPr sz="1200" dirty="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US" sz="1200" dirty="0">
                <a:solidFill>
                  <a:schemeClr val="dk1"/>
                </a:solidFill>
                <a:latin typeface="Calibri"/>
                <a:ea typeface="Calibri"/>
                <a:cs typeface="Calibri"/>
                <a:sym typeface="Calibri"/>
              </a:rPr>
              <a:t> - tax events, cash-flow budget(s)</a:t>
            </a:r>
            <a:endParaRPr sz="1200" dirty="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US" sz="1200" dirty="0">
                <a:solidFill>
                  <a:schemeClr val="dk1"/>
                </a:solidFill>
                <a:latin typeface="Calibri"/>
                <a:ea typeface="Calibri"/>
                <a:cs typeface="Calibri"/>
                <a:sym typeface="Calibri"/>
              </a:rPr>
              <a:t> - competitive pricing, events, merges, etc. </a:t>
            </a:r>
            <a:endParaRPr sz="1200" dirty="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US" sz="1200" dirty="0">
                <a:solidFill>
                  <a:schemeClr val="dk1"/>
                </a:solidFill>
                <a:latin typeface="Calibri"/>
                <a:ea typeface="Calibri"/>
                <a:cs typeface="Calibri"/>
                <a:sym typeface="Calibri"/>
              </a:rPr>
              <a:t> - expert opinion column (manual adjustment)</a:t>
            </a:r>
            <a:endParaRPr sz="1200" dirty="0">
              <a:solidFill>
                <a:schemeClr val="dk1"/>
              </a:solidFill>
              <a:latin typeface="Calibri"/>
              <a:ea typeface="Calibri"/>
              <a:cs typeface="Calibri"/>
              <a:sym typeface="Calibri"/>
            </a:endParaRPr>
          </a:p>
        </p:txBody>
      </p:sp>
      <p:sp>
        <p:nvSpPr>
          <p:cNvPr id="106" name="Google Shape;106;p15"/>
          <p:cNvSpPr txBox="1"/>
          <p:nvPr/>
        </p:nvSpPr>
        <p:spPr>
          <a:xfrm>
            <a:off x="6151750" y="330825"/>
            <a:ext cx="6040200" cy="4435485"/>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200" b="1" u="sng" dirty="0">
                <a:solidFill>
                  <a:srgbClr val="0070C0"/>
                </a:solidFill>
                <a:latin typeface="Calibri" panose="020F0502020204030204" pitchFamily="34" charset="0"/>
                <a:cs typeface="Calibri" panose="020F0502020204030204" pitchFamily="34" charset="0"/>
              </a:rPr>
              <a:t>variations in call volume depending on:</a:t>
            </a:r>
            <a:endParaRPr sz="1200" b="1" u="sng" dirty="0">
              <a:solidFill>
                <a:srgbClr val="0070C0"/>
              </a:solidFill>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200" dirty="0">
                <a:solidFill>
                  <a:schemeClr val="dk1"/>
                </a:solidFill>
                <a:latin typeface="Calibri" panose="020F0502020204030204" pitchFamily="34" charset="0"/>
                <a:cs typeface="Calibri" panose="020F0502020204030204" pitchFamily="34" charset="0"/>
              </a:rPr>
              <a:t> - time of day</a:t>
            </a:r>
            <a:endParaRPr sz="1200" dirty="0">
              <a:solidFill>
                <a:schemeClr val="dk1"/>
              </a:solidFill>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200" dirty="0">
                <a:solidFill>
                  <a:schemeClr val="dk1"/>
                </a:solidFill>
                <a:latin typeface="Calibri" panose="020F0502020204030204" pitchFamily="34" charset="0"/>
                <a:cs typeface="Calibri" panose="020F0502020204030204" pitchFamily="34" charset="0"/>
              </a:rPr>
              <a:t> - day of week</a:t>
            </a:r>
            <a:endParaRPr sz="1200" dirty="0">
              <a:solidFill>
                <a:schemeClr val="dk1"/>
              </a:solidFill>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200" dirty="0">
                <a:solidFill>
                  <a:schemeClr val="dk1"/>
                </a:solidFill>
                <a:latin typeface="Calibri" panose="020F0502020204030204" pitchFamily="34" charset="0"/>
                <a:cs typeface="Calibri" panose="020F0502020204030204" pitchFamily="34" charset="0"/>
              </a:rPr>
              <a:t> - special outliers (holiday, elections, sport, competitive actions, strikes, promotions, etc.)</a:t>
            </a:r>
            <a:endParaRPr sz="1200" dirty="0">
              <a:solidFill>
                <a:schemeClr val="dk1"/>
              </a:solidFill>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200" dirty="0">
                <a:solidFill>
                  <a:schemeClr val="dk1"/>
                </a:solidFill>
                <a:latin typeface="Calibri" panose="020F0502020204030204" pitchFamily="34" charset="0"/>
                <a:cs typeface="Calibri" panose="020F0502020204030204" pitchFamily="34" charset="0"/>
              </a:rPr>
              <a:t> - seasonality</a:t>
            </a:r>
            <a:br>
              <a:rPr lang="en-US" sz="1200" dirty="0">
                <a:solidFill>
                  <a:schemeClr val="dk1"/>
                </a:solidFill>
                <a:latin typeface="Calibri" panose="020F0502020204030204" pitchFamily="34" charset="0"/>
                <a:cs typeface="Calibri" panose="020F0502020204030204" pitchFamily="34" charset="0"/>
              </a:rPr>
            </a:br>
            <a:r>
              <a:rPr lang="en-US" sz="1200" dirty="0">
                <a:solidFill>
                  <a:schemeClr val="dk1"/>
                </a:solidFill>
                <a:latin typeface="Calibri" panose="020F0502020204030204" pitchFamily="34" charset="0"/>
                <a:cs typeface="Calibri" panose="020F0502020204030204" pitchFamily="34" charset="0"/>
              </a:rPr>
              <a:t> - cyclical patterns that repeat any two or three years or more.</a:t>
            </a:r>
            <a:endParaRPr sz="1200" dirty="0">
              <a:solidFill>
                <a:schemeClr val="dk1"/>
              </a:solidFill>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200" dirty="0">
                <a:solidFill>
                  <a:schemeClr val="dk1"/>
                </a:solidFill>
                <a:latin typeface="Calibri" panose="020F0502020204030204" pitchFamily="34" charset="0"/>
                <a:cs typeface="Calibri" panose="020F0502020204030204" pitchFamily="34" charset="0"/>
              </a:rPr>
              <a:t> - trends in the data (within year, between years).</a:t>
            </a:r>
            <a:endParaRPr sz="1200" dirty="0">
              <a:solidFill>
                <a:schemeClr val="dk1"/>
              </a:solidFill>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200" dirty="0">
                <a:solidFill>
                  <a:schemeClr val="dk1"/>
                </a:solidFill>
                <a:latin typeface="Calibri" panose="020F0502020204030204" pitchFamily="34" charset="0"/>
                <a:cs typeface="Calibri" panose="020F0502020204030204" pitchFamily="34" charset="0"/>
              </a:rPr>
              <a:t> - growth rates of these trends.</a:t>
            </a:r>
            <a:endParaRPr sz="1200" dirty="0">
              <a:solidFill>
                <a:schemeClr val="dk1"/>
              </a:solidFill>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sz="1200" dirty="0">
              <a:solidFill>
                <a:schemeClr val="dk1"/>
              </a:solidFill>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200" dirty="0">
                <a:solidFill>
                  <a:schemeClr val="dk1"/>
                </a:solidFill>
                <a:latin typeface="Calibri" panose="020F0502020204030204" pitchFamily="34" charset="0"/>
                <a:cs typeface="Calibri" panose="020F0502020204030204" pitchFamily="34" charset="0"/>
              </a:rPr>
              <a:t>How number of calls is measured? Corrections on dropped calls</a:t>
            </a:r>
            <a:endParaRPr sz="1200" dirty="0">
              <a:solidFill>
                <a:schemeClr val="dk1"/>
              </a:solidFill>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sz="1200" dirty="0">
              <a:solidFill>
                <a:schemeClr val="dk1"/>
              </a:solidFill>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200" dirty="0">
                <a:solidFill>
                  <a:schemeClr val="dk1"/>
                </a:solidFill>
                <a:latin typeface="Calibri" panose="020F0502020204030204" pitchFamily="34" charset="0"/>
                <a:cs typeface="Calibri" panose="020F0502020204030204" pitchFamily="34" charset="0"/>
              </a:rPr>
              <a:t>oscillations (auto-regression)</a:t>
            </a:r>
            <a:endParaRPr sz="1200" dirty="0">
              <a:solidFill>
                <a:schemeClr val="dk1"/>
              </a:solidFill>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200" dirty="0">
                <a:solidFill>
                  <a:schemeClr val="dk1"/>
                </a:solidFill>
                <a:latin typeface="Calibri" panose="020F0502020204030204" pitchFamily="34" charset="0"/>
                <a:cs typeface="Calibri" panose="020F0502020204030204" pitchFamily="34" charset="0"/>
              </a:rPr>
              <a:t>ARMA models (Auto Regressive Moving Average)</a:t>
            </a:r>
            <a:endParaRPr sz="1200" dirty="0">
              <a:solidFill>
                <a:schemeClr val="dk1"/>
              </a:solidFill>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sz="1200" dirty="0">
              <a:solidFill>
                <a:schemeClr val="dk1"/>
              </a:solidFill>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200" dirty="0">
                <a:solidFill>
                  <a:schemeClr val="dk1"/>
                </a:solidFill>
                <a:latin typeface="Calibri" panose="020F0502020204030204" pitchFamily="34" charset="0"/>
                <a:cs typeface="Calibri" panose="020F0502020204030204" pitchFamily="34" charset="0"/>
              </a:rPr>
              <a:t>Time-series approach:</a:t>
            </a:r>
            <a:endParaRPr sz="1200" dirty="0">
              <a:solidFill>
                <a:schemeClr val="dk1"/>
              </a:solidFill>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200" dirty="0">
                <a:solidFill>
                  <a:schemeClr val="dk1"/>
                </a:solidFill>
                <a:latin typeface="Calibri" panose="020F0502020204030204" pitchFamily="34" charset="0"/>
                <a:cs typeface="Calibri" panose="020F0502020204030204" pitchFamily="34" charset="0"/>
              </a:rPr>
              <a:t>  - apply corrections for trends, outliers, variations (listed above)</a:t>
            </a:r>
            <a:endParaRPr sz="1200" dirty="0">
              <a:solidFill>
                <a:schemeClr val="dk1"/>
              </a:solidFill>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200" dirty="0">
                <a:solidFill>
                  <a:schemeClr val="dk1"/>
                </a:solidFill>
                <a:latin typeface="Calibri" panose="020F0502020204030204" pitchFamily="34" charset="0"/>
                <a:cs typeface="Calibri" panose="020F0502020204030204" pitchFamily="34" charset="0"/>
              </a:rPr>
              <a:t>  - calculate regression (logistic better than linear)</a:t>
            </a:r>
            <a:endParaRPr sz="1200" dirty="0">
              <a:solidFill>
                <a:schemeClr val="dk1"/>
              </a:solidFill>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200" dirty="0">
                <a:solidFill>
                  <a:schemeClr val="dk1"/>
                </a:solidFill>
                <a:latin typeface="Calibri" panose="020F0502020204030204" pitchFamily="34" charset="0"/>
                <a:cs typeface="Calibri" panose="020F0502020204030204" pitchFamily="34" charset="0"/>
              </a:rPr>
              <a:t>  - revert corrections, apply known events (promotions, ...) </a:t>
            </a:r>
          </a:p>
          <a:p>
            <a:pPr marL="0" lvl="0" indent="0" algn="l" rtl="0">
              <a:spcBef>
                <a:spcPts val="0"/>
              </a:spcBef>
              <a:spcAft>
                <a:spcPts val="0"/>
              </a:spcAft>
              <a:buNone/>
            </a:pPr>
            <a:r>
              <a:rPr lang="en-US" sz="1200" dirty="0">
                <a:solidFill>
                  <a:schemeClr val="dk1"/>
                </a:solidFill>
                <a:latin typeface="Calibri" panose="020F0502020204030204" pitchFamily="34" charset="0"/>
                <a:cs typeface="Calibri" panose="020F0502020204030204" pitchFamily="34" charset="0"/>
              </a:rPr>
              <a:t>    which may have effect going forward</a:t>
            </a:r>
            <a:endParaRPr sz="1200" dirty="0">
              <a:solidFill>
                <a:schemeClr val="dk1"/>
              </a:solidFill>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sz="1200" dirty="0">
              <a:solidFill>
                <a:schemeClr val="dk1"/>
              </a:solidFill>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200" dirty="0">
                <a:solidFill>
                  <a:schemeClr val="dk1"/>
                </a:solidFill>
                <a:latin typeface="Calibri" panose="020F0502020204030204" pitchFamily="34" charset="0"/>
                <a:cs typeface="Calibri" panose="020F0502020204030204" pitchFamily="34" charset="0"/>
              </a:rPr>
              <a:t>Data: raw observations, hourly totals, 3-point moving average smoothing, trends</a:t>
            </a:r>
            <a:endParaRPr sz="1200" dirty="0">
              <a:solidFill>
                <a:schemeClr val="dk1"/>
              </a:solidFill>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sz="1200" dirty="0">
              <a:solidFill>
                <a:schemeClr val="dk1"/>
              </a:solidFill>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200" dirty="0">
                <a:solidFill>
                  <a:schemeClr val="dk1"/>
                </a:solidFill>
                <a:latin typeface="Calibri" panose="020F0502020204030204" pitchFamily="34" charset="0"/>
                <a:cs typeface="Calibri" panose="020F0502020204030204" pitchFamily="34" charset="0"/>
              </a:rPr>
              <a:t>Types of calls: sales, customer service, troubleshooting, etc.</a:t>
            </a:r>
            <a:endParaRPr sz="1200" dirty="0">
              <a:solidFill>
                <a:schemeClr val="dk1"/>
              </a:solidFill>
              <a:latin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8A01373A-5B83-304A-A1E8-ADC54B05AA43}"/>
              </a:ext>
            </a:extLst>
          </p:cNvPr>
          <p:cNvSpPr txBox="1"/>
          <p:nvPr/>
        </p:nvSpPr>
        <p:spPr>
          <a:xfrm>
            <a:off x="148590" y="125730"/>
            <a:ext cx="3954780" cy="523220"/>
          </a:xfrm>
          <a:prstGeom prst="rect">
            <a:avLst/>
          </a:prstGeom>
          <a:noFill/>
        </p:spPr>
        <p:txBody>
          <a:bodyPr wrap="square" rtlCol="0">
            <a:spAutoFit/>
          </a:bodyPr>
          <a:lstStyle/>
          <a:p>
            <a:r>
              <a:rPr lang="en-US" sz="2800" b="1" dirty="0">
                <a:solidFill>
                  <a:schemeClr val="dk1"/>
                </a:solidFill>
                <a:latin typeface="Calibri"/>
                <a:ea typeface="Calibri"/>
                <a:cs typeface="Calibri"/>
                <a:sym typeface="Calibri"/>
              </a:rPr>
              <a:t>Call volume predictions</a:t>
            </a:r>
            <a:endParaRPr lang="en-US" sz="2800" dirty="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16"/>
          <p:cNvSpPr txBox="1"/>
          <p:nvPr/>
        </p:nvSpPr>
        <p:spPr>
          <a:xfrm>
            <a:off x="137160" y="657820"/>
            <a:ext cx="8241030" cy="612017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dirty="0">
                <a:solidFill>
                  <a:schemeClr val="dk1"/>
                </a:solidFill>
                <a:latin typeface="Calibri"/>
                <a:ea typeface="Calibri"/>
                <a:cs typeface="Calibri"/>
                <a:sym typeface="Calibri"/>
              </a:rPr>
              <a:t>1. qualitative</a:t>
            </a:r>
            <a:endParaRPr sz="1200" dirty="0">
              <a:solidFill>
                <a:schemeClr val="dk1"/>
              </a:solidFill>
              <a:latin typeface="Calibri"/>
              <a:ea typeface="Calibri"/>
              <a:cs typeface="Calibri"/>
              <a:sym typeface="Calibri"/>
            </a:endParaRPr>
          </a:p>
          <a:p>
            <a:pPr marL="0" marR="0" lvl="0" indent="0" algn="l" rtl="0">
              <a:spcBef>
                <a:spcPts val="0"/>
              </a:spcBef>
              <a:spcAft>
                <a:spcPts val="0"/>
              </a:spcAft>
              <a:buNone/>
            </a:pPr>
            <a:endParaRPr sz="12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200" dirty="0">
                <a:solidFill>
                  <a:schemeClr val="dk1"/>
                </a:solidFill>
                <a:latin typeface="Calibri"/>
                <a:ea typeface="Calibri"/>
                <a:cs typeface="Calibri"/>
                <a:sym typeface="Calibri"/>
              </a:rPr>
              <a:t>2. time series analysis (linear regression (Ridge, LASSO, </a:t>
            </a:r>
            <a:r>
              <a:rPr lang="en-US" sz="1200" dirty="0" err="1">
                <a:solidFill>
                  <a:schemeClr val="dk1"/>
                </a:solidFill>
                <a:latin typeface="Calibri"/>
                <a:ea typeface="Calibri"/>
                <a:cs typeface="Calibri"/>
                <a:sym typeface="Calibri"/>
              </a:rPr>
              <a:t>ElasticNet</a:t>
            </a:r>
            <a:r>
              <a:rPr lang="en-US" sz="1200" dirty="0">
                <a:solidFill>
                  <a:schemeClr val="dk1"/>
                </a:solidFill>
                <a:latin typeface="Calibri"/>
                <a:ea typeface="Calibri"/>
                <a:cs typeface="Calibri"/>
                <a:sym typeface="Calibri"/>
              </a:rPr>
              <a:t>), ARMA, ARMA)</a:t>
            </a:r>
            <a:endParaRPr sz="12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200" dirty="0">
                <a:solidFill>
                  <a:schemeClr val="dk1"/>
                </a:solidFill>
                <a:latin typeface="Calibri"/>
                <a:ea typeface="Calibri"/>
                <a:cs typeface="Calibri"/>
                <a:sym typeface="Calibri"/>
              </a:rPr>
              <a:t>    trends, auto-correlations, </a:t>
            </a:r>
            <a:r>
              <a:rPr lang="en-US" sz="1200" dirty="0" err="1">
                <a:solidFill>
                  <a:schemeClr val="dk1"/>
                </a:solidFill>
                <a:latin typeface="Calibri"/>
                <a:ea typeface="Calibri"/>
                <a:cs typeface="Calibri"/>
                <a:sym typeface="Calibri"/>
              </a:rPr>
              <a:t>ivariate</a:t>
            </a:r>
            <a:r>
              <a:rPr lang="en-US" sz="1200" dirty="0">
                <a:solidFill>
                  <a:schemeClr val="dk1"/>
                </a:solidFill>
                <a:latin typeface="Calibri"/>
                <a:ea typeface="Calibri"/>
                <a:cs typeface="Calibri"/>
                <a:sym typeface="Calibri"/>
              </a:rPr>
              <a:t> cross-correlation, etc.</a:t>
            </a:r>
            <a:endParaRPr sz="12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200" dirty="0">
                <a:solidFill>
                  <a:schemeClr val="dk1"/>
                </a:solidFill>
                <a:latin typeface="Calibri"/>
                <a:ea typeface="Calibri"/>
                <a:cs typeface="Calibri"/>
                <a:sym typeface="Calibri"/>
              </a:rPr>
              <a:t>    multivariate time series analysis</a:t>
            </a:r>
            <a:endParaRPr sz="12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200" dirty="0">
                <a:solidFill>
                  <a:schemeClr val="dk1"/>
                </a:solidFill>
                <a:latin typeface="Calibri"/>
                <a:ea typeface="Calibri"/>
                <a:cs typeface="Calibri"/>
                <a:sym typeface="Calibri"/>
              </a:rPr>
              <a:t>    seasonality in the model using Fourier decomposition over 4+ years</a:t>
            </a:r>
            <a:endParaRPr sz="1200" dirty="0">
              <a:solidFill>
                <a:schemeClr val="dk1"/>
              </a:solidFill>
              <a:latin typeface="Calibri"/>
              <a:ea typeface="Calibri"/>
              <a:cs typeface="Calibri"/>
              <a:sym typeface="Calibri"/>
            </a:endParaRPr>
          </a:p>
          <a:p>
            <a:pPr marL="0" marR="0" lvl="0" indent="0" algn="l" rtl="0">
              <a:spcBef>
                <a:spcPts val="0"/>
              </a:spcBef>
              <a:spcAft>
                <a:spcPts val="0"/>
              </a:spcAft>
              <a:buNone/>
            </a:pPr>
            <a:endParaRPr sz="12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200" dirty="0">
                <a:solidFill>
                  <a:schemeClr val="dk1"/>
                </a:solidFill>
                <a:latin typeface="Calibri"/>
                <a:ea typeface="Calibri"/>
                <a:cs typeface="Calibri"/>
                <a:sym typeface="Calibri"/>
              </a:rPr>
              <a:t>3. causal (cause-effect) - modeling specific causes/events that can influence call volume (promotion, legal change, website redesign, sport event, new law, election, etc.), for example, a promotion usually causes predictable call volume increase over some time. We can learn the shape of this increase from historic data - and apply adjusted versions going forward</a:t>
            </a:r>
            <a:endParaRPr sz="1200" dirty="0">
              <a:solidFill>
                <a:schemeClr val="dk1"/>
              </a:solidFill>
              <a:latin typeface="Calibri"/>
              <a:ea typeface="Calibri"/>
              <a:cs typeface="Calibri"/>
              <a:sym typeface="Calibri"/>
            </a:endParaRPr>
          </a:p>
          <a:p>
            <a:pPr marL="0" marR="0" lvl="0" indent="0" algn="l" rtl="0">
              <a:spcBef>
                <a:spcPts val="0"/>
              </a:spcBef>
              <a:spcAft>
                <a:spcPts val="0"/>
              </a:spcAft>
              <a:buNone/>
            </a:pPr>
            <a:endParaRPr sz="12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200" dirty="0">
                <a:solidFill>
                  <a:schemeClr val="dk1"/>
                </a:solidFill>
                <a:latin typeface="Calibri"/>
                <a:ea typeface="Calibri"/>
                <a:cs typeface="Calibri"/>
                <a:sym typeface="Calibri"/>
              </a:rPr>
              <a:t>4. simulation (Monte-Carlo, etc.)</a:t>
            </a:r>
            <a:endParaRPr sz="1200" dirty="0">
              <a:solidFill>
                <a:schemeClr val="dk1"/>
              </a:solidFill>
              <a:latin typeface="Calibri"/>
              <a:ea typeface="Calibri"/>
              <a:cs typeface="Calibri"/>
              <a:sym typeface="Calibri"/>
            </a:endParaRPr>
          </a:p>
          <a:p>
            <a:pPr marL="0" marR="0" lvl="0" indent="0" algn="l" rtl="0">
              <a:spcBef>
                <a:spcPts val="0"/>
              </a:spcBef>
              <a:spcAft>
                <a:spcPts val="0"/>
              </a:spcAft>
              <a:buNone/>
            </a:pPr>
            <a:endParaRPr sz="12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200" dirty="0">
                <a:solidFill>
                  <a:schemeClr val="dk1"/>
                </a:solidFill>
                <a:latin typeface="Calibri"/>
                <a:ea typeface="Calibri"/>
                <a:cs typeface="Calibri"/>
                <a:sym typeface="Calibri"/>
              </a:rPr>
              <a:t>5. Machine Learning - LSTM (also multivariate LSTM), Random Forest, etc.</a:t>
            </a:r>
            <a:endParaRPr sz="1200" dirty="0">
              <a:solidFill>
                <a:schemeClr val="dk1"/>
              </a:solidFill>
              <a:latin typeface="Calibri"/>
              <a:ea typeface="Calibri"/>
              <a:cs typeface="Calibri"/>
              <a:sym typeface="Calibri"/>
            </a:endParaRPr>
          </a:p>
          <a:p>
            <a:pPr marL="0" marR="0" lvl="0" indent="0" algn="l" rtl="0">
              <a:spcBef>
                <a:spcPts val="0"/>
              </a:spcBef>
              <a:spcAft>
                <a:spcPts val="0"/>
              </a:spcAft>
              <a:buNone/>
            </a:pPr>
            <a:endParaRPr sz="12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200" dirty="0">
                <a:solidFill>
                  <a:schemeClr val="dk1"/>
                </a:solidFill>
                <a:latin typeface="Calibri"/>
                <a:ea typeface="Calibri"/>
                <a:cs typeface="Calibri"/>
                <a:sym typeface="Calibri"/>
              </a:rPr>
              <a:t>===================================================</a:t>
            </a:r>
            <a:endParaRPr sz="12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200" dirty="0">
                <a:solidFill>
                  <a:schemeClr val="dk1"/>
                </a:solidFill>
                <a:latin typeface="Calibri"/>
                <a:ea typeface="Calibri"/>
                <a:cs typeface="Calibri"/>
                <a:sym typeface="Calibri"/>
              </a:rPr>
              <a:t>- See also multivariate forecasting in investment, insurance, etc.</a:t>
            </a:r>
            <a:endParaRPr sz="1200" dirty="0">
              <a:solidFill>
                <a:schemeClr val="dk1"/>
              </a:solidFill>
              <a:latin typeface="Calibri"/>
              <a:ea typeface="Calibri"/>
              <a:cs typeface="Calibri"/>
              <a:sym typeface="Calibri"/>
            </a:endParaRPr>
          </a:p>
          <a:p>
            <a:pPr marL="0" marR="0" lvl="0" indent="0" algn="l" rtl="0">
              <a:spcBef>
                <a:spcPts val="0"/>
              </a:spcBef>
              <a:spcAft>
                <a:spcPts val="0"/>
              </a:spcAft>
              <a:buNone/>
            </a:pPr>
            <a:endParaRPr sz="12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200" dirty="0" err="1">
                <a:solidFill>
                  <a:schemeClr val="dk1"/>
                </a:solidFill>
                <a:latin typeface="Calibri"/>
                <a:ea typeface="Calibri"/>
                <a:cs typeface="Calibri"/>
                <a:sym typeface="Calibri"/>
              </a:rPr>
              <a:t>Misc</a:t>
            </a:r>
            <a:r>
              <a:rPr lang="en-US" sz="1200" dirty="0">
                <a:solidFill>
                  <a:schemeClr val="dk1"/>
                </a:solidFill>
                <a:latin typeface="Calibri"/>
                <a:ea typeface="Calibri"/>
                <a:cs typeface="Calibri"/>
                <a:sym typeface="Calibri"/>
              </a:rPr>
              <a:t> notes:</a:t>
            </a:r>
            <a:br>
              <a:rPr lang="en-US" sz="1200" dirty="0">
                <a:solidFill>
                  <a:schemeClr val="dk1"/>
                </a:solidFill>
                <a:latin typeface="Calibri"/>
                <a:ea typeface="Calibri"/>
                <a:cs typeface="Calibri"/>
                <a:sym typeface="Calibri"/>
              </a:rPr>
            </a:br>
            <a:endParaRPr sz="1200" dirty="0">
              <a:solidFill>
                <a:schemeClr val="dk1"/>
              </a:solidFill>
              <a:latin typeface="Calibri"/>
              <a:ea typeface="Calibri"/>
              <a:cs typeface="Calibri"/>
              <a:sym typeface="Calibri"/>
            </a:endParaRPr>
          </a:p>
          <a:p>
            <a:pPr marL="171450" marR="0" lvl="0" indent="-171450" algn="l" rtl="0">
              <a:spcBef>
                <a:spcPts val="0"/>
              </a:spcBef>
              <a:spcAft>
                <a:spcPts val="0"/>
              </a:spcAft>
              <a:buFont typeface="Arial" panose="020B0604020202020204" pitchFamily="34" charset="0"/>
              <a:buChar char="•"/>
            </a:pPr>
            <a:r>
              <a:rPr lang="en-US" sz="1200" dirty="0">
                <a:solidFill>
                  <a:schemeClr val="dk1"/>
                </a:solidFill>
                <a:latin typeface="Calibri"/>
                <a:ea typeface="Calibri"/>
                <a:cs typeface="Calibri"/>
                <a:sym typeface="Calibri"/>
              </a:rPr>
              <a:t>using a method like MAPE (Mean Absolute Percentage Error) based on intervals) rather than comparing total calls for the whole day. This article gives some guidance - </a:t>
            </a:r>
            <a:r>
              <a:rPr lang="en-US" sz="1200" u="sng" dirty="0">
                <a:solidFill>
                  <a:schemeClr val="hlink"/>
                </a:solidFill>
                <a:latin typeface="Calibri"/>
                <a:ea typeface="Calibri"/>
                <a:cs typeface="Calibri"/>
                <a:sym typeface="Calibri"/>
                <a:hlinkClick r:id="rId3"/>
              </a:rPr>
              <a:t>https://www.callcentrehelper.com/calculate-forecast-accuracy-113808.htm</a:t>
            </a:r>
            <a:r>
              <a:rPr lang="en-US" sz="1200" u="sng" dirty="0">
                <a:solidFill>
                  <a:schemeClr val="hlink"/>
                </a:solidFill>
                <a:latin typeface="Calibri"/>
                <a:ea typeface="Calibri"/>
                <a:cs typeface="Calibri"/>
                <a:sym typeface="Calibri"/>
              </a:rPr>
              <a:t> </a:t>
            </a:r>
            <a:br>
              <a:rPr lang="en-US" sz="1200" u="sng" dirty="0">
                <a:solidFill>
                  <a:schemeClr val="hlink"/>
                </a:solidFill>
                <a:latin typeface="Calibri"/>
                <a:ea typeface="Calibri"/>
                <a:cs typeface="Calibri"/>
                <a:sym typeface="Calibri"/>
              </a:rPr>
            </a:br>
            <a:endParaRPr sz="1200" dirty="0">
              <a:solidFill>
                <a:schemeClr val="dk1"/>
              </a:solidFill>
              <a:latin typeface="Calibri"/>
              <a:ea typeface="Calibri"/>
              <a:cs typeface="Calibri"/>
              <a:sym typeface="Calibri"/>
            </a:endParaRPr>
          </a:p>
          <a:p>
            <a:pPr marL="171450" marR="0" lvl="0" indent="-171450" algn="l" rtl="0">
              <a:spcBef>
                <a:spcPts val="0"/>
              </a:spcBef>
              <a:spcAft>
                <a:spcPts val="0"/>
              </a:spcAft>
              <a:buFont typeface="Arial" panose="020B0604020202020204" pitchFamily="34" charset="0"/>
              <a:buChar char="•"/>
            </a:pPr>
            <a:r>
              <a:rPr lang="en-US" sz="1200" dirty="0">
                <a:solidFill>
                  <a:schemeClr val="dk1"/>
                </a:solidFill>
                <a:latin typeface="Calibri"/>
                <a:ea typeface="Calibri"/>
                <a:cs typeface="Calibri"/>
                <a:sym typeface="Calibri"/>
              </a:rPr>
              <a:t>Arithmetic means of each hour of the number of calls received, say in week with three-point moving average smoothing will yielded the most accurate forecasts. At this point, Autoregressive Integrated Moving Averages (ARIMA) model (check if the forecast errors are normally distributed), autocorrelation function (ACF) with residual and time series (</a:t>
            </a:r>
            <a:r>
              <a:rPr lang="en-US" sz="1200" dirty="0" err="1">
                <a:solidFill>
                  <a:schemeClr val="dk1"/>
                </a:solidFill>
                <a:latin typeface="Calibri"/>
                <a:ea typeface="Calibri"/>
                <a:cs typeface="Calibri"/>
                <a:sym typeface="Calibri"/>
              </a:rPr>
              <a:t>ts</a:t>
            </a:r>
            <a:r>
              <a:rPr lang="en-US" sz="1200" dirty="0">
                <a:solidFill>
                  <a:schemeClr val="dk1"/>
                </a:solidFill>
                <a:latin typeface="Calibri"/>
                <a:ea typeface="Calibri"/>
                <a:cs typeface="Calibri"/>
                <a:sym typeface="Calibri"/>
              </a:rPr>
              <a:t>) plots for the series ...</a:t>
            </a:r>
            <a:br>
              <a:rPr lang="en-US" sz="1200" dirty="0">
                <a:solidFill>
                  <a:schemeClr val="dk1"/>
                </a:solidFill>
                <a:latin typeface="Calibri"/>
                <a:ea typeface="Calibri"/>
                <a:cs typeface="Calibri"/>
                <a:sym typeface="Calibri"/>
              </a:rPr>
            </a:br>
            <a:endParaRPr sz="1200" dirty="0">
              <a:solidFill>
                <a:schemeClr val="dk1"/>
              </a:solidFill>
              <a:latin typeface="Calibri"/>
              <a:ea typeface="Calibri"/>
              <a:cs typeface="Calibri"/>
              <a:sym typeface="Calibri"/>
            </a:endParaRPr>
          </a:p>
          <a:p>
            <a:pPr marL="171450" marR="0" lvl="0" indent="-171450" algn="l" rtl="0">
              <a:spcBef>
                <a:spcPts val="0"/>
              </a:spcBef>
              <a:spcAft>
                <a:spcPts val="0"/>
              </a:spcAft>
              <a:buFont typeface="Arial" panose="020B0604020202020204" pitchFamily="34" charset="0"/>
              <a:buChar char="•"/>
            </a:pPr>
            <a:r>
              <a:rPr lang="en-US" sz="1200" dirty="0">
                <a:solidFill>
                  <a:schemeClr val="dk1"/>
                </a:solidFill>
                <a:latin typeface="Calibri"/>
                <a:ea typeface="Calibri"/>
                <a:cs typeface="Calibri"/>
                <a:sym typeface="Calibri"/>
              </a:rPr>
              <a:t>Build several models or methods, such as the random walk, the exponential smoothing, ARIMA, or regression, depending on the data you have. Select the best model (which generate the lowest RSMFE, for example). Important is to build a benchmark model. Usually, it is the random walk model. If all models do not outperform the random walk, then there is no point to use other models.</a:t>
            </a:r>
            <a:endParaRPr sz="1200" dirty="0">
              <a:solidFill>
                <a:schemeClr val="dk1"/>
              </a:solidFill>
              <a:latin typeface="Calibri"/>
              <a:ea typeface="Calibri"/>
              <a:cs typeface="Calibri"/>
              <a:sym typeface="Calibri"/>
            </a:endParaRPr>
          </a:p>
          <a:p>
            <a:pPr marL="0" marR="0" lvl="0" indent="0" algn="l" rtl="0">
              <a:spcBef>
                <a:spcPts val="0"/>
              </a:spcBef>
              <a:spcAft>
                <a:spcPts val="0"/>
              </a:spcAft>
              <a:buNone/>
            </a:pPr>
            <a:endParaRPr sz="1200" dirty="0">
              <a:solidFill>
                <a:schemeClr val="dk1"/>
              </a:solidFill>
              <a:latin typeface="Calibri"/>
              <a:ea typeface="Calibri"/>
              <a:cs typeface="Calibri"/>
              <a:sym typeface="Calibri"/>
            </a:endParaRPr>
          </a:p>
        </p:txBody>
      </p:sp>
      <p:sp>
        <p:nvSpPr>
          <p:cNvPr id="2" name="TextBox 1">
            <a:extLst>
              <a:ext uri="{FF2B5EF4-FFF2-40B4-BE49-F238E27FC236}">
                <a16:creationId xmlns:a16="http://schemas.microsoft.com/office/drawing/2014/main" id="{FFE5E9E0-0BAD-1A46-9604-4AA4F8BED33C}"/>
              </a:ext>
            </a:extLst>
          </p:cNvPr>
          <p:cNvSpPr txBox="1"/>
          <p:nvPr/>
        </p:nvSpPr>
        <p:spPr>
          <a:xfrm>
            <a:off x="137160" y="114300"/>
            <a:ext cx="3509010" cy="523220"/>
          </a:xfrm>
          <a:prstGeom prst="rect">
            <a:avLst/>
          </a:prstGeom>
          <a:noFill/>
        </p:spPr>
        <p:txBody>
          <a:bodyPr wrap="square" rtlCol="0">
            <a:spAutoFit/>
          </a:bodyPr>
          <a:lstStyle/>
          <a:p>
            <a:r>
              <a:rPr lang="en-US" sz="2800" b="1" dirty="0">
                <a:solidFill>
                  <a:schemeClr val="dk1"/>
                </a:solidFill>
                <a:latin typeface="Calibri"/>
                <a:ea typeface="Calibri"/>
                <a:cs typeface="Calibri"/>
                <a:sym typeface="Calibri"/>
              </a:rPr>
              <a:t>Forecasting methods</a:t>
            </a:r>
            <a:endParaRPr lang="en-US" sz="2800" dirty="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17"/>
          <p:cNvSpPr txBox="1"/>
          <p:nvPr/>
        </p:nvSpPr>
        <p:spPr>
          <a:xfrm>
            <a:off x="0" y="0"/>
            <a:ext cx="7025400" cy="33453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3200" b="1">
                <a:solidFill>
                  <a:schemeClr val="dk1"/>
                </a:solidFill>
                <a:latin typeface="Calibri"/>
                <a:ea typeface="Calibri"/>
                <a:cs typeface="Calibri"/>
                <a:sym typeface="Calibri"/>
              </a:rPr>
              <a:t>Regression: Ridge, LASSO, Elastic Net</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a:solidFill>
                <a:schemeClr val="dk1"/>
              </a:solidFill>
              <a:latin typeface="Calibri"/>
              <a:ea typeface="Calibri"/>
              <a:cs typeface="Calibri"/>
              <a:sym typeface="Calibri"/>
            </a:endParaRPr>
          </a:p>
          <a:p>
            <a:pPr marL="0" marR="0" lvl="0" indent="0" algn="l" rtl="0">
              <a:spcBef>
                <a:spcPts val="0"/>
              </a:spcBef>
              <a:spcAft>
                <a:spcPts val="0"/>
              </a:spcAft>
              <a:buNone/>
            </a:pPr>
            <a:r>
              <a:rPr lang="en-US">
                <a:solidFill>
                  <a:schemeClr val="dk1"/>
                </a:solidFill>
                <a:latin typeface="Calibri"/>
                <a:ea typeface="Calibri"/>
                <a:cs typeface="Calibri"/>
                <a:sym typeface="Calibri"/>
              </a:rPr>
              <a:t>Multivariate (multiple) Linear Regression Regularization.</a:t>
            </a:r>
            <a:endParaRPr>
              <a:solidFill>
                <a:schemeClr val="dk1"/>
              </a:solidFill>
              <a:latin typeface="Calibri"/>
              <a:ea typeface="Calibri"/>
              <a:cs typeface="Calibri"/>
              <a:sym typeface="Calibri"/>
            </a:endParaRPr>
          </a:p>
          <a:p>
            <a:pPr marL="0" marR="0" lvl="0" indent="0" algn="l" rtl="0">
              <a:spcBef>
                <a:spcPts val="0"/>
              </a:spcBef>
              <a:spcAft>
                <a:spcPts val="0"/>
              </a:spcAft>
              <a:buNone/>
            </a:pPr>
            <a:endParaRPr>
              <a:solidFill>
                <a:schemeClr val="dk1"/>
              </a:solidFill>
              <a:latin typeface="Calibri"/>
              <a:ea typeface="Calibri"/>
              <a:cs typeface="Calibri"/>
              <a:sym typeface="Calibri"/>
            </a:endParaRPr>
          </a:p>
          <a:p>
            <a:pPr marL="0" marR="0" lvl="0" indent="0" algn="l" rtl="0">
              <a:spcBef>
                <a:spcPts val="0"/>
              </a:spcBef>
              <a:spcAft>
                <a:spcPts val="0"/>
              </a:spcAft>
              <a:buNone/>
            </a:pPr>
            <a:r>
              <a:rPr lang="en-US">
                <a:solidFill>
                  <a:schemeClr val="dk1"/>
                </a:solidFill>
                <a:latin typeface="Calibri"/>
                <a:ea typeface="Calibri"/>
                <a:cs typeface="Calibri"/>
                <a:sym typeface="Calibri"/>
              </a:rPr>
              <a:t>Suppose we have a OLS (Ordinary Linear Squared) regression where two parameters x1 &amp; x2 </a:t>
            </a:r>
            <a:endParaRPr>
              <a:solidFill>
                <a:schemeClr val="dk1"/>
              </a:solidFill>
              <a:latin typeface="Calibri"/>
              <a:ea typeface="Calibri"/>
              <a:cs typeface="Calibri"/>
              <a:sym typeface="Calibri"/>
            </a:endParaRPr>
          </a:p>
          <a:p>
            <a:pPr marL="0" marR="0" lvl="0" indent="0" algn="l" rtl="0">
              <a:spcBef>
                <a:spcPts val="0"/>
              </a:spcBef>
              <a:spcAft>
                <a:spcPts val="0"/>
              </a:spcAft>
              <a:buNone/>
            </a:pPr>
            <a:r>
              <a:rPr lang="en-US">
                <a:solidFill>
                  <a:schemeClr val="dk1"/>
                </a:solidFill>
                <a:latin typeface="Calibri"/>
                <a:ea typeface="Calibri"/>
                <a:cs typeface="Calibri"/>
                <a:sym typeface="Calibri"/>
              </a:rPr>
              <a:t>are not orthogonal, but in fact highly correlated.</a:t>
            </a:r>
            <a:endParaRPr>
              <a:solidFill>
                <a:schemeClr val="dk1"/>
              </a:solidFill>
              <a:latin typeface="Calibri"/>
              <a:ea typeface="Calibri"/>
              <a:cs typeface="Calibri"/>
              <a:sym typeface="Calibri"/>
            </a:endParaRPr>
          </a:p>
          <a:p>
            <a:pPr marL="0" marR="0" lvl="0" indent="0" algn="l" rtl="0">
              <a:spcBef>
                <a:spcPts val="0"/>
              </a:spcBef>
              <a:spcAft>
                <a:spcPts val="0"/>
              </a:spcAft>
              <a:buNone/>
            </a:pPr>
            <a:r>
              <a:rPr lang="en-US">
                <a:solidFill>
                  <a:schemeClr val="dk1"/>
                </a:solidFill>
                <a:latin typeface="Calibri"/>
                <a:ea typeface="Calibri"/>
                <a:cs typeface="Calibri"/>
                <a:sym typeface="Calibri"/>
              </a:rPr>
              <a:t>Then there may be is infinite number of coefficients which will fit the model.</a:t>
            </a:r>
            <a:endParaRPr>
              <a:solidFill>
                <a:schemeClr val="dk1"/>
              </a:solidFill>
              <a:latin typeface="Calibri"/>
              <a:ea typeface="Calibri"/>
              <a:cs typeface="Calibri"/>
              <a:sym typeface="Calibri"/>
            </a:endParaRPr>
          </a:p>
          <a:p>
            <a:pPr marL="0" marR="0" lvl="0" indent="0" algn="l" rtl="0">
              <a:spcBef>
                <a:spcPts val="0"/>
              </a:spcBef>
              <a:spcAft>
                <a:spcPts val="0"/>
              </a:spcAft>
              <a:buNone/>
            </a:pPr>
            <a:r>
              <a:rPr lang="en-US">
                <a:solidFill>
                  <a:schemeClr val="dk1"/>
                </a:solidFill>
                <a:latin typeface="Calibri"/>
                <a:ea typeface="Calibri"/>
                <a:cs typeface="Calibri"/>
                <a:sym typeface="Calibri"/>
              </a:rPr>
              <a:t>For example, (x1 - x2), (10*x1 - 10*x2), (100*x1 - 100*x2), etc.</a:t>
            </a:r>
            <a:endParaRPr>
              <a:solidFill>
                <a:schemeClr val="dk1"/>
              </a:solidFill>
              <a:latin typeface="Calibri"/>
              <a:ea typeface="Calibri"/>
              <a:cs typeface="Calibri"/>
              <a:sym typeface="Calibri"/>
            </a:endParaRPr>
          </a:p>
          <a:p>
            <a:pPr marL="0" marR="0" lvl="0" indent="0" algn="l" rtl="0">
              <a:spcBef>
                <a:spcPts val="0"/>
              </a:spcBef>
              <a:spcAft>
                <a:spcPts val="0"/>
              </a:spcAft>
              <a:buNone/>
            </a:pPr>
            <a:r>
              <a:rPr lang="en-US">
                <a:solidFill>
                  <a:schemeClr val="dk1"/>
                </a:solidFill>
                <a:latin typeface="Calibri"/>
                <a:ea typeface="Calibri"/>
                <a:cs typeface="Calibri"/>
                <a:sym typeface="Calibri"/>
              </a:rPr>
              <a:t>If we are trying to minimize the cost function in the multidimensional </a:t>
            </a:r>
            <a:endParaRPr>
              <a:solidFill>
                <a:schemeClr val="dk1"/>
              </a:solidFill>
              <a:latin typeface="Calibri"/>
              <a:ea typeface="Calibri"/>
              <a:cs typeface="Calibri"/>
              <a:sym typeface="Calibri"/>
            </a:endParaRPr>
          </a:p>
          <a:p>
            <a:pPr marL="0" marR="0" lvl="0" indent="0" algn="l" rtl="0">
              <a:spcBef>
                <a:spcPts val="0"/>
              </a:spcBef>
              <a:spcAft>
                <a:spcPts val="0"/>
              </a:spcAft>
              <a:buNone/>
            </a:pPr>
            <a:r>
              <a:rPr lang="en-US">
                <a:solidFill>
                  <a:schemeClr val="dk1"/>
                </a:solidFill>
                <a:latin typeface="Calibri"/>
                <a:ea typeface="Calibri"/>
                <a:cs typeface="Calibri"/>
                <a:sym typeface="Calibri"/>
              </a:rPr>
              <a:t>space of coefficients, we will get an infinite diagonal groove (ridge) for x1=x2.</a:t>
            </a:r>
            <a:endParaRPr>
              <a:solidFill>
                <a:schemeClr val="dk1"/>
              </a:solidFill>
              <a:latin typeface="Calibri"/>
              <a:ea typeface="Calibri"/>
              <a:cs typeface="Calibri"/>
              <a:sym typeface="Calibri"/>
            </a:endParaRPr>
          </a:p>
          <a:p>
            <a:pPr marL="0" marR="0" lvl="0" indent="0" algn="l" rtl="0">
              <a:spcBef>
                <a:spcPts val="0"/>
              </a:spcBef>
              <a:spcAft>
                <a:spcPts val="0"/>
              </a:spcAft>
              <a:buNone/>
            </a:pPr>
            <a:r>
              <a:rPr lang="en-US">
                <a:solidFill>
                  <a:schemeClr val="dk1"/>
                </a:solidFill>
                <a:latin typeface="Calibri"/>
                <a:ea typeface="Calibri"/>
                <a:cs typeface="Calibri"/>
                <a:sym typeface="Calibri"/>
              </a:rPr>
              <a:t>Any place at the bottom of this ridge is equally good for us.</a:t>
            </a:r>
            <a:endParaRPr>
              <a:solidFill>
                <a:schemeClr val="dk1"/>
              </a:solidFill>
              <a:latin typeface="Calibri"/>
              <a:ea typeface="Calibri"/>
              <a:cs typeface="Calibri"/>
              <a:sym typeface="Calibri"/>
            </a:endParaRPr>
          </a:p>
          <a:p>
            <a:pPr marL="0" marR="0" lvl="0" indent="0" algn="l" rtl="0">
              <a:spcBef>
                <a:spcPts val="0"/>
              </a:spcBef>
              <a:spcAft>
                <a:spcPts val="0"/>
              </a:spcAft>
              <a:buNone/>
            </a:pPr>
            <a:r>
              <a:rPr lang="en-US">
                <a:solidFill>
                  <a:schemeClr val="dk1"/>
                </a:solidFill>
                <a:latin typeface="Calibri"/>
                <a:ea typeface="Calibri"/>
                <a:cs typeface="Calibri"/>
                <a:sym typeface="Calibri"/>
              </a:rPr>
              <a:t>So we will get a big variability in possible values of coefficients for x1 &amp; x2.</a:t>
            </a:r>
            <a:endParaRPr>
              <a:solidFill>
                <a:schemeClr val="dk1"/>
              </a:solidFill>
              <a:latin typeface="Calibri"/>
              <a:ea typeface="Calibri"/>
              <a:cs typeface="Calibri"/>
              <a:sym typeface="Calibri"/>
            </a:endParaRPr>
          </a:p>
          <a:p>
            <a:pPr marL="0" marR="0" lvl="0" indent="0" algn="l" rtl="0">
              <a:spcBef>
                <a:spcPts val="0"/>
              </a:spcBef>
              <a:spcAft>
                <a:spcPts val="0"/>
              </a:spcAft>
              <a:buNone/>
            </a:pPr>
            <a:r>
              <a:rPr lang="en-US">
                <a:solidFill>
                  <a:schemeClr val="dk1"/>
                </a:solidFill>
                <a:latin typeface="Calibri"/>
                <a:ea typeface="Calibri"/>
                <a:cs typeface="Calibri"/>
                <a:sym typeface="Calibri"/>
              </a:rPr>
              <a:t>The solution will be unstable.</a:t>
            </a:r>
            <a:endParaRPr>
              <a:solidFill>
                <a:schemeClr val="dk1"/>
              </a:solidFill>
              <a:latin typeface="Calibri"/>
              <a:ea typeface="Calibri"/>
              <a:cs typeface="Calibri"/>
              <a:sym typeface="Calibri"/>
            </a:endParaRPr>
          </a:p>
          <a:p>
            <a:pPr marL="0" marR="0" lvl="0" indent="0" algn="l" rtl="0">
              <a:spcBef>
                <a:spcPts val="0"/>
              </a:spcBef>
              <a:spcAft>
                <a:spcPts val="0"/>
              </a:spcAft>
              <a:buNone/>
            </a:pPr>
            <a:r>
              <a:rPr lang="en-US">
                <a:solidFill>
                  <a:schemeClr val="dk1"/>
                </a:solidFill>
                <a:latin typeface="Calibri"/>
                <a:ea typeface="Calibri"/>
                <a:cs typeface="Calibri"/>
                <a:sym typeface="Calibri"/>
              </a:rPr>
              <a:t>We can reduce this variability by adding additional regularization factor like this:</a:t>
            </a:r>
            <a:endParaRPr>
              <a:solidFill>
                <a:schemeClr val="dk1"/>
              </a:solidFill>
              <a:latin typeface="Calibri"/>
              <a:ea typeface="Calibri"/>
              <a:cs typeface="Calibri"/>
              <a:sym typeface="Calibri"/>
            </a:endParaRPr>
          </a:p>
          <a:p>
            <a:pPr marL="0" marR="0" lvl="0" indent="0" algn="l" rtl="0">
              <a:spcBef>
                <a:spcPts val="0"/>
              </a:spcBef>
              <a:spcAft>
                <a:spcPts val="0"/>
              </a:spcAft>
              <a:buNone/>
            </a:pPr>
            <a:endParaRPr>
              <a:solidFill>
                <a:schemeClr val="dk1"/>
              </a:solidFill>
              <a:latin typeface="Calibri"/>
              <a:ea typeface="Calibri"/>
              <a:cs typeface="Calibri"/>
              <a:sym typeface="Calibri"/>
            </a:endParaRPr>
          </a:p>
        </p:txBody>
      </p:sp>
      <p:pic>
        <p:nvPicPr>
          <p:cNvPr id="117" name="Google Shape;117;p17"/>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7768703" y="4231125"/>
            <a:ext cx="3549800" cy="1810400"/>
          </a:xfrm>
          <a:prstGeom prst="rect">
            <a:avLst/>
          </a:prstGeom>
          <a:noFill/>
          <a:ln>
            <a:noFill/>
          </a:ln>
        </p:spPr>
      </p:pic>
      <p:pic>
        <p:nvPicPr>
          <p:cNvPr id="118" name="Google Shape;118;p17"/>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6895201" y="223025"/>
            <a:ext cx="5296801" cy="2665060"/>
          </a:xfrm>
          <a:prstGeom prst="rect">
            <a:avLst/>
          </a:prstGeom>
          <a:noFill/>
          <a:ln>
            <a:noFill/>
          </a:ln>
        </p:spPr>
      </p:pic>
      <p:pic>
        <p:nvPicPr>
          <p:cNvPr id="119" name="Google Shape;119;p17"/>
          <p:cNvPicPr preferRelativeResize="0"/>
          <p:nvPr/>
        </p:nvPicPr>
        <p:blipFill>
          <a:blip r:embed="rId5">
            <a:alphaModFix/>
          </a:blip>
          <a:stretch>
            <a:fillRect/>
          </a:stretch>
        </p:blipFill>
        <p:spPr>
          <a:xfrm>
            <a:off x="390275" y="3345300"/>
            <a:ext cx="5267325" cy="885825"/>
          </a:xfrm>
          <a:prstGeom prst="rect">
            <a:avLst/>
          </a:prstGeom>
          <a:noFill/>
          <a:ln>
            <a:noFill/>
          </a:ln>
        </p:spPr>
      </p:pic>
      <p:sp>
        <p:nvSpPr>
          <p:cNvPr id="120" name="Google Shape;120;p17"/>
          <p:cNvSpPr txBox="1"/>
          <p:nvPr/>
        </p:nvSpPr>
        <p:spPr>
          <a:xfrm>
            <a:off x="0" y="4231125"/>
            <a:ext cx="7025400" cy="2664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a:solidFill>
                  <a:schemeClr val="dk1"/>
                </a:solidFill>
                <a:latin typeface="Calibri"/>
                <a:ea typeface="Calibri"/>
                <a:cs typeface="Calibri"/>
                <a:sym typeface="Calibri"/>
              </a:rPr>
              <a:t>When we minimizing this expression, bigger  "lambda" value will cause smaller "beta" values, thus keeping the coefficients "beta" from becoming too large. </a:t>
            </a:r>
            <a:endParaRPr>
              <a:solidFill>
                <a:schemeClr val="dk1"/>
              </a:solidFill>
              <a:latin typeface="Calibri"/>
              <a:ea typeface="Calibri"/>
              <a:cs typeface="Calibri"/>
              <a:sym typeface="Calibri"/>
            </a:endParaRPr>
          </a:p>
          <a:p>
            <a:pPr marL="0" lvl="0" indent="0" algn="l" rtl="0">
              <a:spcBef>
                <a:spcPts val="0"/>
              </a:spcBef>
              <a:spcAft>
                <a:spcPts val="0"/>
              </a:spcAft>
              <a:buNone/>
            </a:pPr>
            <a:r>
              <a:rPr lang="en-US">
                <a:solidFill>
                  <a:schemeClr val="dk1"/>
                </a:solidFill>
                <a:latin typeface="Calibri"/>
                <a:ea typeface="Calibri"/>
                <a:cs typeface="Calibri"/>
                <a:sym typeface="Calibri"/>
              </a:rPr>
              <a:t>This is called "</a:t>
            </a:r>
            <a:r>
              <a:rPr lang="en-US" b="1">
                <a:solidFill>
                  <a:srgbClr val="0000FF"/>
                </a:solidFill>
                <a:latin typeface="Calibri"/>
                <a:ea typeface="Calibri"/>
                <a:cs typeface="Calibri"/>
                <a:sym typeface="Calibri"/>
              </a:rPr>
              <a:t>Ridge Regression</a:t>
            </a:r>
            <a:r>
              <a:rPr lang="en-US">
                <a:solidFill>
                  <a:schemeClr val="dk1"/>
                </a:solidFill>
                <a:latin typeface="Calibri"/>
                <a:ea typeface="Calibri"/>
                <a:cs typeface="Calibri"/>
                <a:sym typeface="Calibri"/>
              </a:rPr>
              <a:t>". It changes the infinitely long ridge into a local minimum.</a:t>
            </a:r>
            <a:endParaRPr>
              <a:solidFill>
                <a:schemeClr val="dk1"/>
              </a:solidFill>
              <a:latin typeface="Calibri"/>
              <a:ea typeface="Calibri"/>
              <a:cs typeface="Calibri"/>
              <a:sym typeface="Calibri"/>
            </a:endParaRPr>
          </a:p>
          <a:p>
            <a:pPr marL="0" lvl="0" indent="0" algn="l" rtl="0">
              <a:spcBef>
                <a:spcPts val="0"/>
              </a:spcBef>
              <a:spcAft>
                <a:spcPts val="0"/>
              </a:spcAft>
              <a:buNone/>
            </a:pPr>
            <a:endParaRPr>
              <a:solidFill>
                <a:schemeClr val="dk1"/>
              </a:solidFill>
              <a:latin typeface="Calibri"/>
              <a:ea typeface="Calibri"/>
              <a:cs typeface="Calibri"/>
              <a:sym typeface="Calibri"/>
            </a:endParaRPr>
          </a:p>
          <a:p>
            <a:pPr marL="0" lvl="0" indent="0" algn="l" rtl="0">
              <a:spcBef>
                <a:spcPts val="0"/>
              </a:spcBef>
              <a:spcAft>
                <a:spcPts val="0"/>
              </a:spcAft>
              <a:buNone/>
            </a:pPr>
            <a:r>
              <a:rPr lang="en-US">
                <a:solidFill>
                  <a:schemeClr val="dk1"/>
                </a:solidFill>
                <a:latin typeface="Calibri"/>
                <a:ea typeface="Calibri"/>
                <a:cs typeface="Calibri"/>
                <a:sym typeface="Calibri"/>
              </a:rPr>
              <a:t>In </a:t>
            </a:r>
            <a:r>
              <a:rPr lang="en-US" b="1">
                <a:solidFill>
                  <a:srgbClr val="0000FF"/>
                </a:solidFill>
                <a:latin typeface="Calibri"/>
                <a:ea typeface="Calibri"/>
                <a:cs typeface="Calibri"/>
                <a:sym typeface="Calibri"/>
              </a:rPr>
              <a:t>Ridge Regression</a:t>
            </a:r>
            <a:r>
              <a:rPr lang="en-US">
                <a:solidFill>
                  <a:schemeClr val="dk1"/>
                </a:solidFill>
                <a:latin typeface="Calibri"/>
                <a:ea typeface="Calibri"/>
                <a:cs typeface="Calibri"/>
                <a:sym typeface="Calibri"/>
              </a:rPr>
              <a:t> we add a "</a:t>
            </a:r>
            <a:r>
              <a:rPr lang="en-US" b="1">
                <a:solidFill>
                  <a:srgbClr val="0000FF"/>
                </a:solidFill>
                <a:latin typeface="Calibri"/>
                <a:ea typeface="Calibri"/>
                <a:cs typeface="Calibri"/>
                <a:sym typeface="Calibri"/>
              </a:rPr>
              <a:t>regularization</a:t>
            </a:r>
            <a:r>
              <a:rPr lang="en-US">
                <a:solidFill>
                  <a:schemeClr val="dk1"/>
                </a:solidFill>
                <a:latin typeface="Calibri"/>
                <a:ea typeface="Calibri"/>
                <a:cs typeface="Calibri"/>
                <a:sym typeface="Calibri"/>
              </a:rPr>
              <a:t>" term as sum of squares (</a:t>
            </a:r>
            <a:r>
              <a:rPr lang="en-US" b="1">
                <a:solidFill>
                  <a:srgbClr val="0000FF"/>
                </a:solidFill>
                <a:latin typeface="Calibri"/>
                <a:ea typeface="Calibri"/>
                <a:cs typeface="Calibri"/>
                <a:sym typeface="Calibri"/>
              </a:rPr>
              <a:t>L2 norm</a:t>
            </a:r>
            <a:r>
              <a:rPr lang="en-US">
                <a:solidFill>
                  <a:schemeClr val="dk1"/>
                </a:solidFill>
                <a:latin typeface="Calibri"/>
                <a:ea typeface="Calibri"/>
                <a:cs typeface="Calibri"/>
                <a:sym typeface="Calibri"/>
              </a:rPr>
              <a:t>).</a:t>
            </a:r>
            <a:endParaRPr>
              <a:solidFill>
                <a:schemeClr val="dk1"/>
              </a:solidFill>
              <a:latin typeface="Calibri"/>
              <a:ea typeface="Calibri"/>
              <a:cs typeface="Calibri"/>
              <a:sym typeface="Calibri"/>
            </a:endParaRPr>
          </a:p>
          <a:p>
            <a:pPr marL="0" lvl="0" indent="0" algn="l" rtl="0">
              <a:spcBef>
                <a:spcPts val="0"/>
              </a:spcBef>
              <a:spcAft>
                <a:spcPts val="0"/>
              </a:spcAft>
              <a:buNone/>
            </a:pPr>
            <a:r>
              <a:rPr lang="en-US">
                <a:solidFill>
                  <a:schemeClr val="dk1"/>
                </a:solidFill>
                <a:latin typeface="Calibri"/>
                <a:ea typeface="Calibri"/>
                <a:cs typeface="Calibri"/>
                <a:sym typeface="Calibri"/>
              </a:rPr>
              <a:t>If instead we use </a:t>
            </a:r>
            <a:r>
              <a:rPr lang="en-US" b="1">
                <a:solidFill>
                  <a:srgbClr val="0000FF"/>
                </a:solidFill>
                <a:latin typeface="Calibri"/>
                <a:ea typeface="Calibri"/>
                <a:cs typeface="Calibri"/>
                <a:sym typeface="Calibri"/>
              </a:rPr>
              <a:t>L1 norm</a:t>
            </a:r>
            <a:r>
              <a:rPr lang="en-US">
                <a:solidFill>
                  <a:schemeClr val="dk1"/>
                </a:solidFill>
                <a:latin typeface="Calibri"/>
                <a:ea typeface="Calibri"/>
                <a:cs typeface="Calibri"/>
                <a:sym typeface="Calibri"/>
              </a:rPr>
              <a:t> (sum of abs values) - it is called "LASSO Regression",</a:t>
            </a:r>
            <a:endParaRPr>
              <a:solidFill>
                <a:schemeClr val="dk1"/>
              </a:solidFill>
              <a:latin typeface="Calibri"/>
              <a:ea typeface="Calibri"/>
              <a:cs typeface="Calibri"/>
              <a:sym typeface="Calibri"/>
            </a:endParaRPr>
          </a:p>
          <a:p>
            <a:pPr marL="0" lvl="0" indent="0" algn="l" rtl="0">
              <a:spcBef>
                <a:spcPts val="0"/>
              </a:spcBef>
              <a:spcAft>
                <a:spcPts val="0"/>
              </a:spcAft>
              <a:buNone/>
            </a:pPr>
            <a:r>
              <a:rPr lang="en-US">
                <a:solidFill>
                  <a:schemeClr val="dk1"/>
                </a:solidFill>
                <a:latin typeface="Calibri"/>
                <a:ea typeface="Calibri"/>
                <a:cs typeface="Calibri"/>
                <a:sym typeface="Calibri"/>
              </a:rPr>
              <a:t>where </a:t>
            </a:r>
            <a:r>
              <a:rPr lang="en-US" b="1">
                <a:solidFill>
                  <a:srgbClr val="0000FF"/>
                </a:solidFill>
                <a:latin typeface="Calibri"/>
                <a:ea typeface="Calibri"/>
                <a:cs typeface="Calibri"/>
                <a:sym typeface="Calibri"/>
              </a:rPr>
              <a:t>LASSO = Least Absolute Shrinkage and Selection Operator</a:t>
            </a:r>
            <a:r>
              <a:rPr lang="en-US">
                <a:solidFill>
                  <a:schemeClr val="dk1"/>
                </a:solidFill>
                <a:latin typeface="Calibri"/>
                <a:ea typeface="Calibri"/>
                <a:cs typeface="Calibri"/>
                <a:sym typeface="Calibri"/>
              </a:rPr>
              <a:t>.</a:t>
            </a:r>
            <a:endParaRPr>
              <a:solidFill>
                <a:schemeClr val="dk1"/>
              </a:solidFill>
              <a:latin typeface="Calibri"/>
              <a:ea typeface="Calibri"/>
              <a:cs typeface="Calibri"/>
              <a:sym typeface="Calibri"/>
            </a:endParaRPr>
          </a:p>
          <a:p>
            <a:pPr marL="0" lvl="0" indent="0" algn="l" rtl="0">
              <a:spcBef>
                <a:spcPts val="0"/>
              </a:spcBef>
              <a:spcAft>
                <a:spcPts val="0"/>
              </a:spcAft>
              <a:buNone/>
            </a:pPr>
            <a:r>
              <a:rPr lang="en-US">
                <a:solidFill>
                  <a:schemeClr val="dk1"/>
                </a:solidFill>
                <a:latin typeface="Calibri"/>
                <a:ea typeface="Calibri"/>
                <a:cs typeface="Calibri"/>
                <a:sym typeface="Calibri"/>
              </a:rPr>
              <a:t>LASSO favors solutions on the tips of the bounding surface for coefficients, where some of coefficients are zero. Thus it favors "sparse" solutions.</a:t>
            </a:r>
            <a:endParaRPr>
              <a:solidFill>
                <a:schemeClr val="dk1"/>
              </a:solidFill>
              <a:latin typeface="Calibri"/>
              <a:ea typeface="Calibri"/>
              <a:cs typeface="Calibri"/>
              <a:sym typeface="Calibri"/>
            </a:endParaRPr>
          </a:p>
          <a:p>
            <a:pPr marL="0" lvl="0" indent="0" algn="l" rtl="0">
              <a:spcBef>
                <a:spcPts val="0"/>
              </a:spcBef>
              <a:spcAft>
                <a:spcPts val="0"/>
              </a:spcAft>
              <a:buNone/>
            </a:pPr>
            <a:endParaRPr>
              <a:solidFill>
                <a:schemeClr val="dk1"/>
              </a:solidFill>
              <a:latin typeface="Calibri"/>
              <a:ea typeface="Calibri"/>
              <a:cs typeface="Calibri"/>
              <a:sym typeface="Calibri"/>
            </a:endParaRPr>
          </a:p>
          <a:p>
            <a:pPr marL="0" lvl="0" indent="0" algn="l" rtl="0">
              <a:spcBef>
                <a:spcPts val="0"/>
              </a:spcBef>
              <a:spcAft>
                <a:spcPts val="0"/>
              </a:spcAft>
              <a:buNone/>
            </a:pPr>
            <a:r>
              <a:rPr lang="en-US">
                <a:solidFill>
                  <a:schemeClr val="dk1"/>
                </a:solidFill>
                <a:latin typeface="Calibri"/>
                <a:ea typeface="Calibri"/>
                <a:cs typeface="Calibri"/>
                <a:sym typeface="Calibri"/>
              </a:rPr>
              <a:t>A combination of Ridge Regression and LASSO Regression is called "</a:t>
            </a:r>
            <a:r>
              <a:rPr lang="en-US" b="1">
                <a:solidFill>
                  <a:srgbClr val="0000FF"/>
                </a:solidFill>
                <a:latin typeface="Calibri"/>
                <a:ea typeface="Calibri"/>
                <a:cs typeface="Calibri"/>
                <a:sym typeface="Calibri"/>
              </a:rPr>
              <a:t>Elastic Net</a:t>
            </a:r>
            <a:r>
              <a:rPr lang="en-US">
                <a:solidFill>
                  <a:schemeClr val="dk1"/>
                </a:solidFill>
                <a:latin typeface="Calibri"/>
                <a:ea typeface="Calibri"/>
                <a:cs typeface="Calibri"/>
                <a:sym typeface="Calibri"/>
              </a:rPr>
              <a:t>"</a:t>
            </a:r>
            <a:endParaRPr/>
          </a:p>
        </p:txBody>
      </p:sp>
      <p:sp>
        <p:nvSpPr>
          <p:cNvPr id="121" name="Google Shape;121;p17"/>
          <p:cNvSpPr txBox="1"/>
          <p:nvPr/>
        </p:nvSpPr>
        <p:spPr>
          <a:xfrm>
            <a:off x="7090350" y="3025700"/>
            <a:ext cx="4906500" cy="501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a:t>Why Ridge Regression is called Ridge ...</a:t>
            </a:r>
            <a:endParaRPr/>
          </a:p>
        </p:txBody>
      </p:sp>
      <p:sp>
        <p:nvSpPr>
          <p:cNvPr id="122" name="Google Shape;122;p17"/>
          <p:cNvSpPr txBox="1"/>
          <p:nvPr/>
        </p:nvSpPr>
        <p:spPr>
          <a:xfrm>
            <a:off x="7173950" y="6151750"/>
            <a:ext cx="4906500" cy="501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a:t>Why LASSO favors sparse solutions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18"/>
          <p:cNvSpPr txBox="1"/>
          <p:nvPr/>
        </p:nvSpPr>
        <p:spPr>
          <a:xfrm>
            <a:off x="0" y="0"/>
            <a:ext cx="7025400" cy="65196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3200" b="1">
                <a:solidFill>
                  <a:schemeClr val="dk1"/>
                </a:solidFill>
                <a:latin typeface="Calibri"/>
                <a:ea typeface="Calibri"/>
                <a:cs typeface="Calibri"/>
                <a:sym typeface="Calibri"/>
              </a:rPr>
              <a:t>Time Series Analysis Tehniques</a:t>
            </a:r>
            <a:endParaRPr>
              <a:solidFill>
                <a:schemeClr val="dk1"/>
              </a:solidFill>
              <a:latin typeface="Calibri"/>
              <a:ea typeface="Calibri"/>
              <a:cs typeface="Calibri"/>
              <a:sym typeface="Calibri"/>
            </a:endParaRPr>
          </a:p>
          <a:p>
            <a:pPr marL="0" marR="0" lvl="0" indent="0" algn="l" rtl="0">
              <a:spcBef>
                <a:spcPts val="0"/>
              </a:spcBef>
              <a:spcAft>
                <a:spcPts val="0"/>
              </a:spcAft>
              <a:buNone/>
            </a:pPr>
            <a:r>
              <a:rPr lang="en-US" b="1">
                <a:solidFill>
                  <a:srgbClr val="0000FF"/>
                </a:solidFill>
                <a:latin typeface="Calibri"/>
                <a:ea typeface="Calibri"/>
                <a:cs typeface="Calibri"/>
                <a:sym typeface="Calibri"/>
              </a:rPr>
              <a:t>Exponential Smoothing</a:t>
            </a:r>
            <a:r>
              <a:rPr lang="en-US">
                <a:solidFill>
                  <a:schemeClr val="dk1"/>
                </a:solidFill>
                <a:latin typeface="Calibri"/>
                <a:ea typeface="Calibri"/>
                <a:cs typeface="Calibri"/>
                <a:sym typeface="Calibri"/>
              </a:rPr>
              <a:t> - smoothing using exponential window.</a:t>
            </a:r>
            <a:endParaRPr>
              <a:solidFill>
                <a:schemeClr val="dk1"/>
              </a:solidFill>
              <a:latin typeface="Calibri"/>
              <a:ea typeface="Calibri"/>
              <a:cs typeface="Calibri"/>
              <a:sym typeface="Calibri"/>
            </a:endParaRPr>
          </a:p>
          <a:p>
            <a:pPr marL="0" marR="0" lvl="0" indent="0" algn="l" rtl="0">
              <a:spcBef>
                <a:spcPts val="0"/>
              </a:spcBef>
              <a:spcAft>
                <a:spcPts val="0"/>
              </a:spcAft>
              <a:buSzPts val="1100"/>
              <a:buNone/>
            </a:pPr>
            <a:r>
              <a:rPr lang="en-US">
                <a:solidFill>
                  <a:schemeClr val="dk1"/>
                </a:solidFill>
                <a:latin typeface="Calibri"/>
                <a:ea typeface="Calibri"/>
                <a:cs typeface="Calibri"/>
                <a:sym typeface="Calibri"/>
              </a:rPr>
              <a:t>It is a weighted moving average, where weights decline exponentially for older events</a:t>
            </a:r>
            <a:endParaRPr>
              <a:solidFill>
                <a:schemeClr val="dk1"/>
              </a:solidFill>
              <a:latin typeface="Calibri"/>
              <a:ea typeface="Calibri"/>
              <a:cs typeface="Calibri"/>
              <a:sym typeface="Calibri"/>
            </a:endParaRPr>
          </a:p>
          <a:p>
            <a:pPr marL="0" marR="0" lvl="0" indent="0" algn="l" rtl="0">
              <a:spcBef>
                <a:spcPts val="0"/>
              </a:spcBef>
              <a:spcAft>
                <a:spcPts val="0"/>
              </a:spcAft>
              <a:buNone/>
            </a:pPr>
            <a:r>
              <a:rPr lang="en-US">
                <a:solidFill>
                  <a:schemeClr val="dk1"/>
                </a:solidFill>
                <a:latin typeface="Calibri"/>
                <a:ea typeface="Calibri"/>
                <a:cs typeface="Calibri"/>
                <a:sym typeface="Calibri"/>
              </a:rPr>
              <a:t>    s(t+1) = a*x(t) + (1-a)*s(t)</a:t>
            </a:r>
            <a:endParaRPr>
              <a:solidFill>
                <a:schemeClr val="dk1"/>
              </a:solidFill>
              <a:latin typeface="Calibri"/>
              <a:ea typeface="Calibri"/>
              <a:cs typeface="Calibri"/>
              <a:sym typeface="Calibri"/>
            </a:endParaRPr>
          </a:p>
          <a:p>
            <a:pPr marL="0" marR="0" lvl="0" indent="0" algn="l" rtl="0">
              <a:spcBef>
                <a:spcPts val="0"/>
              </a:spcBef>
              <a:spcAft>
                <a:spcPts val="0"/>
              </a:spcAft>
              <a:buSzPts val="1100"/>
              <a:buNone/>
            </a:pPr>
            <a:endParaRPr>
              <a:solidFill>
                <a:schemeClr val="dk1"/>
              </a:solidFill>
              <a:latin typeface="Calibri"/>
              <a:ea typeface="Calibri"/>
              <a:cs typeface="Calibri"/>
              <a:sym typeface="Calibri"/>
            </a:endParaRPr>
          </a:p>
          <a:p>
            <a:pPr marL="0" marR="0" lvl="0" indent="0" algn="l" rtl="0">
              <a:spcBef>
                <a:spcPts val="0"/>
              </a:spcBef>
              <a:spcAft>
                <a:spcPts val="0"/>
              </a:spcAft>
              <a:buNone/>
            </a:pPr>
            <a:r>
              <a:rPr lang="en-US" b="1">
                <a:solidFill>
                  <a:srgbClr val="0000FF"/>
                </a:solidFill>
                <a:latin typeface="Calibri"/>
                <a:ea typeface="Calibri"/>
                <a:cs typeface="Calibri"/>
                <a:sym typeface="Calibri"/>
              </a:rPr>
              <a:t>Holt-Winters = Triple Exponential Smoothing</a:t>
            </a:r>
            <a:endParaRPr>
              <a:solidFill>
                <a:schemeClr val="dk1"/>
              </a:solidFill>
              <a:latin typeface="Calibri"/>
              <a:ea typeface="Calibri"/>
              <a:cs typeface="Calibri"/>
              <a:sym typeface="Calibri"/>
            </a:endParaRPr>
          </a:p>
          <a:p>
            <a:pPr marL="0" marR="0" lvl="0" indent="0" algn="l" rtl="0">
              <a:spcBef>
                <a:spcPts val="0"/>
              </a:spcBef>
              <a:spcAft>
                <a:spcPts val="0"/>
              </a:spcAft>
              <a:buNone/>
            </a:pPr>
            <a:r>
              <a:rPr lang="en-US">
                <a:solidFill>
                  <a:schemeClr val="dk1"/>
                </a:solidFill>
                <a:latin typeface="Calibri"/>
                <a:ea typeface="Calibri"/>
                <a:cs typeface="Calibri"/>
                <a:sym typeface="Calibri"/>
              </a:rPr>
              <a:t>  1st smoothing (level) -exponential  smoothing for value</a:t>
            </a:r>
            <a:endParaRPr>
              <a:solidFill>
                <a:schemeClr val="dk1"/>
              </a:solidFill>
              <a:latin typeface="Calibri"/>
              <a:ea typeface="Calibri"/>
              <a:cs typeface="Calibri"/>
              <a:sym typeface="Calibri"/>
            </a:endParaRPr>
          </a:p>
          <a:p>
            <a:pPr marL="0" marR="0" lvl="0" indent="0" algn="l" rtl="0">
              <a:spcBef>
                <a:spcPts val="0"/>
              </a:spcBef>
              <a:spcAft>
                <a:spcPts val="0"/>
              </a:spcAft>
              <a:buNone/>
            </a:pPr>
            <a:r>
              <a:rPr lang="en-US">
                <a:solidFill>
                  <a:schemeClr val="dk1"/>
                </a:solidFill>
                <a:latin typeface="Calibri"/>
                <a:ea typeface="Calibri"/>
                <a:cs typeface="Calibri"/>
                <a:sym typeface="Calibri"/>
              </a:rPr>
              <a:t>  2nd smoothing (trend) - exponential smoothing for slope</a:t>
            </a:r>
            <a:endParaRPr>
              <a:solidFill>
                <a:schemeClr val="dk1"/>
              </a:solidFill>
              <a:latin typeface="Calibri"/>
              <a:ea typeface="Calibri"/>
              <a:cs typeface="Calibri"/>
              <a:sym typeface="Calibri"/>
            </a:endParaRPr>
          </a:p>
          <a:p>
            <a:pPr marL="0" marR="0" lvl="0" indent="0" algn="l" rtl="0">
              <a:spcBef>
                <a:spcPts val="0"/>
              </a:spcBef>
              <a:spcAft>
                <a:spcPts val="0"/>
              </a:spcAft>
              <a:buNone/>
            </a:pPr>
            <a:r>
              <a:rPr lang="en-US">
                <a:solidFill>
                  <a:schemeClr val="dk1"/>
                </a:solidFill>
                <a:latin typeface="Calibri"/>
                <a:ea typeface="Calibri"/>
                <a:cs typeface="Calibri"/>
                <a:sym typeface="Calibri"/>
              </a:rPr>
              <a:t>  3rd smoothing - exponential smoothing comparing to previous cycle</a:t>
            </a:r>
            <a:endParaRPr>
              <a:solidFill>
                <a:schemeClr val="dk1"/>
              </a:solidFill>
              <a:latin typeface="Calibri"/>
              <a:ea typeface="Calibri"/>
              <a:cs typeface="Calibri"/>
              <a:sym typeface="Calibri"/>
            </a:endParaRPr>
          </a:p>
          <a:p>
            <a:pPr marL="0" marR="0" lvl="0" indent="0" algn="l" rtl="0">
              <a:spcBef>
                <a:spcPts val="0"/>
              </a:spcBef>
              <a:spcAft>
                <a:spcPts val="0"/>
              </a:spcAft>
              <a:buNone/>
            </a:pPr>
            <a:endParaRPr>
              <a:solidFill>
                <a:schemeClr val="dk1"/>
              </a:solidFill>
              <a:latin typeface="Calibri"/>
              <a:ea typeface="Calibri"/>
              <a:cs typeface="Calibri"/>
              <a:sym typeface="Calibri"/>
            </a:endParaRPr>
          </a:p>
          <a:p>
            <a:pPr marL="0" marR="0" lvl="0" indent="0" algn="l" rtl="0">
              <a:spcBef>
                <a:spcPts val="0"/>
              </a:spcBef>
              <a:spcAft>
                <a:spcPts val="0"/>
              </a:spcAft>
              <a:buNone/>
            </a:pPr>
            <a:r>
              <a:rPr lang="en-US" b="1">
                <a:solidFill>
                  <a:srgbClr val="0000FF"/>
                </a:solidFill>
                <a:latin typeface="Calibri"/>
                <a:ea typeface="Calibri"/>
                <a:cs typeface="Calibri"/>
                <a:sym typeface="Calibri"/>
              </a:rPr>
              <a:t>ARMA (Auto-Regressive Moving Average)</a:t>
            </a:r>
            <a:r>
              <a:rPr lang="en-US">
                <a:solidFill>
                  <a:schemeClr val="dk1"/>
                </a:solidFill>
                <a:latin typeface="Calibri"/>
                <a:ea typeface="Calibri"/>
                <a:cs typeface="Calibri"/>
                <a:sym typeface="Calibri"/>
              </a:rPr>
              <a:t> - tries to describe a process as a sum of two processes - signal (AR) and noise (MA) - and then extrapolate signal into the future.</a:t>
            </a:r>
            <a:endParaRPr>
              <a:solidFill>
                <a:schemeClr val="dk1"/>
              </a:solidFill>
              <a:latin typeface="Calibri"/>
              <a:ea typeface="Calibri"/>
              <a:cs typeface="Calibri"/>
              <a:sym typeface="Calibri"/>
            </a:endParaRPr>
          </a:p>
          <a:p>
            <a:pPr marL="0" marR="0" lvl="0" indent="0" algn="l" rtl="0">
              <a:spcBef>
                <a:spcPts val="0"/>
              </a:spcBef>
              <a:spcAft>
                <a:spcPts val="0"/>
              </a:spcAft>
              <a:buNone/>
            </a:pPr>
            <a:r>
              <a:rPr lang="en-US">
                <a:solidFill>
                  <a:schemeClr val="dk1"/>
                </a:solidFill>
                <a:latin typeface="Calibri"/>
                <a:ea typeface="Calibri"/>
                <a:cs typeface="Calibri"/>
                <a:sym typeface="Calibri"/>
              </a:rPr>
              <a:t> - </a:t>
            </a:r>
            <a:r>
              <a:rPr lang="en-US" u="sng">
                <a:solidFill>
                  <a:schemeClr val="hlink"/>
                </a:solidFill>
                <a:latin typeface="Calibri"/>
                <a:ea typeface="Calibri"/>
                <a:cs typeface="Calibri"/>
                <a:sym typeface="Calibri"/>
                <a:hlinkClick r:id="rId3"/>
              </a:rPr>
              <a:t>https://people.duke.edu/~rnau/411arim.htm</a:t>
            </a:r>
            <a:endParaRPr>
              <a:solidFill>
                <a:schemeClr val="dk1"/>
              </a:solidFill>
              <a:latin typeface="Calibri"/>
              <a:ea typeface="Calibri"/>
              <a:cs typeface="Calibri"/>
              <a:sym typeface="Calibri"/>
            </a:endParaRPr>
          </a:p>
          <a:p>
            <a:pPr marL="0" marR="0" lvl="0" indent="0" algn="l" rtl="0">
              <a:spcBef>
                <a:spcPts val="0"/>
              </a:spcBef>
              <a:spcAft>
                <a:spcPts val="0"/>
              </a:spcAft>
              <a:buNone/>
            </a:pPr>
            <a:r>
              <a:rPr lang="en-US">
                <a:solidFill>
                  <a:schemeClr val="dk1"/>
                </a:solidFill>
                <a:latin typeface="Calibri"/>
                <a:ea typeface="Calibri"/>
                <a:cs typeface="Calibri"/>
                <a:sym typeface="Calibri"/>
              </a:rPr>
              <a:t>ARMA(t) = AR(t) + MA(t), where AR is a weighted sum of "P" previous </a:t>
            </a:r>
            <a:r>
              <a:rPr lang="en-US" b="1">
                <a:solidFill>
                  <a:schemeClr val="dk1"/>
                </a:solidFill>
                <a:latin typeface="Calibri"/>
                <a:ea typeface="Calibri"/>
                <a:cs typeface="Calibri"/>
                <a:sym typeface="Calibri"/>
              </a:rPr>
              <a:t>values</a:t>
            </a:r>
            <a:r>
              <a:rPr lang="en-US">
                <a:solidFill>
                  <a:schemeClr val="dk1"/>
                </a:solidFill>
                <a:latin typeface="Calibri"/>
                <a:ea typeface="Calibri"/>
                <a:cs typeface="Calibri"/>
                <a:sym typeface="Calibri"/>
              </a:rPr>
              <a:t>, </a:t>
            </a:r>
            <a:endParaRPr>
              <a:solidFill>
                <a:schemeClr val="dk1"/>
              </a:solidFill>
              <a:latin typeface="Calibri"/>
              <a:ea typeface="Calibri"/>
              <a:cs typeface="Calibri"/>
              <a:sym typeface="Calibri"/>
            </a:endParaRPr>
          </a:p>
          <a:p>
            <a:pPr marL="0" marR="0" lvl="0" indent="0" algn="l" rtl="0">
              <a:spcBef>
                <a:spcPts val="0"/>
              </a:spcBef>
              <a:spcAft>
                <a:spcPts val="0"/>
              </a:spcAft>
              <a:buNone/>
            </a:pPr>
            <a:r>
              <a:rPr lang="en-US">
                <a:solidFill>
                  <a:schemeClr val="dk1"/>
                </a:solidFill>
                <a:latin typeface="Calibri"/>
                <a:ea typeface="Calibri"/>
                <a:cs typeface="Calibri"/>
                <a:sym typeface="Calibri"/>
              </a:rPr>
              <a:t>and MA is weighted average of "Q" previous (white noise) </a:t>
            </a:r>
            <a:r>
              <a:rPr lang="en-US" b="1">
                <a:solidFill>
                  <a:schemeClr val="dk1"/>
                </a:solidFill>
                <a:latin typeface="Calibri"/>
                <a:ea typeface="Calibri"/>
                <a:cs typeface="Calibri"/>
                <a:sym typeface="Calibri"/>
              </a:rPr>
              <a:t>errors</a:t>
            </a:r>
            <a:r>
              <a:rPr lang="en-US">
                <a:solidFill>
                  <a:schemeClr val="dk1"/>
                </a:solidFill>
                <a:latin typeface="Calibri"/>
                <a:ea typeface="Calibri"/>
                <a:cs typeface="Calibri"/>
                <a:sym typeface="Calibri"/>
              </a:rPr>
              <a:t>: </a:t>
            </a:r>
            <a:endParaRPr>
              <a:solidFill>
                <a:schemeClr val="dk1"/>
              </a:solidFill>
              <a:latin typeface="Calibri"/>
              <a:ea typeface="Calibri"/>
              <a:cs typeface="Calibri"/>
              <a:sym typeface="Calibri"/>
            </a:endParaRPr>
          </a:p>
          <a:p>
            <a:pPr marL="0" marR="0" lvl="0" indent="0" algn="l" rtl="0">
              <a:spcBef>
                <a:spcPts val="0"/>
              </a:spcBef>
              <a:spcAft>
                <a:spcPts val="0"/>
              </a:spcAft>
              <a:buNone/>
            </a:pPr>
            <a:r>
              <a:rPr lang="en-US">
                <a:solidFill>
                  <a:schemeClr val="dk1"/>
                </a:solidFill>
                <a:latin typeface="Calibri"/>
                <a:ea typeface="Calibri"/>
                <a:cs typeface="Calibri"/>
                <a:sym typeface="Calibri"/>
              </a:rPr>
              <a:t>   AR :   Y(t) = a0 + a1*Y(t-1) + ... + aP*Y(t-P) + </a:t>
            </a:r>
            <a:endParaRPr>
              <a:solidFill>
                <a:schemeClr val="dk1"/>
              </a:solidFill>
              <a:latin typeface="Calibri"/>
              <a:ea typeface="Calibri"/>
              <a:cs typeface="Calibri"/>
              <a:sym typeface="Calibri"/>
            </a:endParaRPr>
          </a:p>
          <a:p>
            <a:pPr marL="0" marR="0" lvl="0" indent="0" algn="l" rtl="0">
              <a:spcBef>
                <a:spcPts val="0"/>
              </a:spcBef>
              <a:spcAft>
                <a:spcPts val="0"/>
              </a:spcAft>
              <a:buNone/>
            </a:pPr>
            <a:r>
              <a:rPr lang="en-US">
                <a:solidFill>
                  <a:schemeClr val="dk1"/>
                </a:solidFill>
                <a:latin typeface="Calibri"/>
                <a:ea typeface="Calibri"/>
                <a:cs typeface="Calibri"/>
                <a:sym typeface="Calibri"/>
              </a:rPr>
              <a:t>                        Z(t) -b1*Z(t-1) - ... -bQ*Z(t-Q)</a:t>
            </a:r>
            <a:endParaRPr>
              <a:solidFill>
                <a:schemeClr val="dk1"/>
              </a:solidFill>
              <a:latin typeface="Calibri"/>
              <a:ea typeface="Calibri"/>
              <a:cs typeface="Calibri"/>
              <a:sym typeface="Calibri"/>
            </a:endParaRPr>
          </a:p>
          <a:p>
            <a:pPr marL="0" marR="0" lvl="0" indent="0" algn="l" rtl="0">
              <a:spcBef>
                <a:spcPts val="0"/>
              </a:spcBef>
              <a:spcAft>
                <a:spcPts val="0"/>
              </a:spcAft>
              <a:buNone/>
            </a:pPr>
            <a:r>
              <a:rPr lang="en-US" b="1">
                <a:solidFill>
                  <a:srgbClr val="0000FF"/>
                </a:solidFill>
                <a:latin typeface="Calibri"/>
                <a:ea typeface="Calibri"/>
                <a:cs typeface="Calibri"/>
                <a:sym typeface="Calibri"/>
              </a:rPr>
              <a:t>ARIMA(p,d,q)</a:t>
            </a:r>
            <a:r>
              <a:rPr lang="en-US">
                <a:solidFill>
                  <a:schemeClr val="dk1"/>
                </a:solidFill>
                <a:latin typeface="Calibri"/>
                <a:ea typeface="Calibri"/>
                <a:cs typeface="Calibri"/>
                <a:sym typeface="Calibri"/>
              </a:rPr>
              <a:t> (Auto-Regressive Integrated Moving Average)</a:t>
            </a:r>
            <a:endParaRPr>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ts val="1100"/>
              <a:buFont typeface="Arial"/>
              <a:buNone/>
            </a:pPr>
            <a:r>
              <a:rPr lang="en-US">
                <a:solidFill>
                  <a:schemeClr val="dk1"/>
                </a:solidFill>
                <a:latin typeface="Calibri"/>
                <a:ea typeface="Calibri"/>
                <a:cs typeface="Calibri"/>
                <a:sym typeface="Calibri"/>
              </a:rPr>
              <a:t>    p - number of autoregressive terms,</a:t>
            </a:r>
            <a:endParaRPr>
              <a:solidFill>
                <a:schemeClr val="dk1"/>
              </a:solidFill>
              <a:latin typeface="Calibri"/>
              <a:ea typeface="Calibri"/>
              <a:cs typeface="Calibri"/>
              <a:sym typeface="Calibri"/>
            </a:endParaRPr>
          </a:p>
          <a:p>
            <a:pPr marL="0" marR="0" lvl="0" indent="0" algn="l" rtl="0">
              <a:spcBef>
                <a:spcPts val="0"/>
              </a:spcBef>
              <a:spcAft>
                <a:spcPts val="0"/>
              </a:spcAft>
              <a:buSzPts val="1100"/>
              <a:buNone/>
            </a:pPr>
            <a:r>
              <a:rPr lang="en-US">
                <a:solidFill>
                  <a:schemeClr val="dk1"/>
                </a:solidFill>
                <a:latin typeface="Calibri"/>
                <a:ea typeface="Calibri"/>
                <a:cs typeface="Calibri"/>
                <a:sym typeface="Calibri"/>
              </a:rPr>
              <a:t>    d - number of nonseasonal differences needed for stationarity</a:t>
            </a:r>
            <a:endParaRPr>
              <a:solidFill>
                <a:schemeClr val="dk1"/>
              </a:solidFill>
              <a:latin typeface="Calibri"/>
              <a:ea typeface="Calibri"/>
              <a:cs typeface="Calibri"/>
              <a:sym typeface="Calibri"/>
            </a:endParaRPr>
          </a:p>
          <a:p>
            <a:pPr marL="0" marR="0" lvl="0" indent="0" algn="l" rtl="0">
              <a:spcBef>
                <a:spcPts val="0"/>
              </a:spcBef>
              <a:spcAft>
                <a:spcPts val="0"/>
              </a:spcAft>
              <a:buSzPts val="1100"/>
              <a:buNone/>
            </a:pPr>
            <a:r>
              <a:rPr lang="en-US">
                <a:solidFill>
                  <a:schemeClr val="dk1"/>
                </a:solidFill>
                <a:latin typeface="Calibri"/>
                <a:ea typeface="Calibri"/>
                <a:cs typeface="Calibri"/>
                <a:sym typeface="Calibri"/>
              </a:rPr>
              <a:t>    q - number of lagged forecast errors</a:t>
            </a:r>
            <a:endParaRPr>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ts val="1100"/>
              <a:buFont typeface="Arial"/>
              <a:buNone/>
            </a:pPr>
            <a:r>
              <a:rPr lang="en-US">
                <a:solidFill>
                  <a:schemeClr val="dk1"/>
                </a:solidFill>
                <a:latin typeface="Calibri"/>
                <a:ea typeface="Calibri"/>
                <a:cs typeface="Calibri"/>
                <a:sym typeface="Calibri"/>
              </a:rPr>
              <a:t>ARIMA(1,0,0)  - 1st order autoregressive model</a:t>
            </a:r>
            <a:endParaRPr>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ts val="1100"/>
              <a:buFont typeface="Arial"/>
              <a:buNone/>
            </a:pPr>
            <a:r>
              <a:rPr lang="en-US">
                <a:solidFill>
                  <a:schemeClr val="dk1"/>
                </a:solidFill>
                <a:latin typeface="Calibri"/>
                <a:ea typeface="Calibri"/>
                <a:cs typeface="Calibri"/>
                <a:sym typeface="Calibri"/>
              </a:rPr>
              <a:t>ARIMA(2,0,0)) - oscillations</a:t>
            </a:r>
            <a:endParaRPr>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ts val="1100"/>
              <a:buFont typeface="Arial"/>
              <a:buNone/>
            </a:pPr>
            <a:r>
              <a:rPr lang="en-US">
                <a:solidFill>
                  <a:schemeClr val="dk1"/>
                </a:solidFill>
                <a:latin typeface="Calibri"/>
                <a:ea typeface="Calibri"/>
                <a:cs typeface="Calibri"/>
                <a:sym typeface="Calibri"/>
              </a:rPr>
              <a:t>ARIMA(0,1,0)  - random walk</a:t>
            </a:r>
            <a:endParaRPr>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ts val="1100"/>
              <a:buFont typeface="Arial"/>
              <a:buNone/>
            </a:pPr>
            <a:r>
              <a:rPr lang="en-US">
                <a:solidFill>
                  <a:schemeClr val="dk1"/>
                </a:solidFill>
                <a:latin typeface="Calibri"/>
                <a:ea typeface="Calibri"/>
                <a:cs typeface="Calibri"/>
                <a:sym typeface="Calibri"/>
              </a:rPr>
              <a:t>ARIMA(1,1,0)  - differenced first-order autoregressive model</a:t>
            </a:r>
            <a:endParaRPr>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ts val="1100"/>
              <a:buFont typeface="Arial"/>
              <a:buNone/>
            </a:pPr>
            <a:r>
              <a:rPr lang="en-US">
                <a:solidFill>
                  <a:schemeClr val="dk1"/>
                </a:solidFill>
                <a:latin typeface="Calibri"/>
                <a:ea typeface="Calibri"/>
                <a:cs typeface="Calibri"/>
                <a:sym typeface="Calibri"/>
              </a:rPr>
              <a:t>ARIMA(0,1,1)  - simple exponential smoothing: </a:t>
            </a:r>
            <a:endParaRPr>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ts val="1100"/>
              <a:buFont typeface="Arial"/>
              <a:buNone/>
            </a:pPr>
            <a:r>
              <a:rPr lang="en-US">
                <a:solidFill>
                  <a:schemeClr val="dk1"/>
                </a:solidFill>
                <a:latin typeface="Calibri"/>
                <a:ea typeface="Calibri"/>
                <a:cs typeface="Calibri"/>
                <a:sym typeface="Calibri"/>
              </a:rPr>
              <a:t>ARIMA(0,1,1)  - simple exponential smoothing with growth</a:t>
            </a:r>
            <a:endParaRPr>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ts val="1100"/>
              <a:buFont typeface="Arial"/>
              <a:buNone/>
            </a:pPr>
            <a:r>
              <a:rPr lang="en-US">
                <a:solidFill>
                  <a:schemeClr val="dk1"/>
                </a:solidFill>
                <a:latin typeface="Calibri"/>
                <a:ea typeface="Calibri"/>
                <a:cs typeface="Calibri"/>
                <a:sym typeface="Calibri"/>
              </a:rPr>
              <a:t>ARIMA(0,2,1)  - linear exponential smoothing</a:t>
            </a:r>
            <a:endParaRPr>
              <a:solidFill>
                <a:schemeClr val="dk1"/>
              </a:solidFill>
              <a:latin typeface="Calibri"/>
              <a:ea typeface="Calibri"/>
              <a:cs typeface="Calibri"/>
              <a:sym typeface="Calibri"/>
            </a:endParaRPr>
          </a:p>
          <a:p>
            <a:pPr marL="0" marR="0" lvl="0" indent="0" algn="l" rtl="0">
              <a:spcBef>
                <a:spcPts val="0"/>
              </a:spcBef>
              <a:spcAft>
                <a:spcPts val="0"/>
              </a:spcAft>
              <a:buSzPts val="1100"/>
              <a:buNone/>
            </a:pPr>
            <a:r>
              <a:rPr lang="en-US">
                <a:solidFill>
                  <a:schemeClr val="dk1"/>
                </a:solidFill>
                <a:latin typeface="Calibri"/>
                <a:ea typeface="Calibri"/>
                <a:cs typeface="Calibri"/>
                <a:sym typeface="Calibri"/>
              </a:rPr>
              <a:t>ARIMA(0,2,2)  - linear exponential smoothing</a:t>
            </a:r>
            <a:endParaRPr>
              <a:solidFill>
                <a:schemeClr val="dk1"/>
              </a:solidFill>
              <a:latin typeface="Calibri"/>
              <a:ea typeface="Calibri"/>
              <a:cs typeface="Calibri"/>
              <a:sym typeface="Calibri"/>
            </a:endParaRPr>
          </a:p>
        </p:txBody>
      </p:sp>
      <p:pic>
        <p:nvPicPr>
          <p:cNvPr id="129" name="Google Shape;129;p18"/>
          <p:cNvPicPr preferRelativeResize="0"/>
          <p:nvPr/>
        </p:nvPicPr>
        <p:blipFill>
          <a:blip r:embed="rId4">
            <a:alphaModFix/>
          </a:blip>
          <a:stretch>
            <a:fillRect/>
          </a:stretch>
        </p:blipFill>
        <p:spPr>
          <a:xfrm>
            <a:off x="7140500" y="356775"/>
            <a:ext cx="4343400" cy="20383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19"/>
          <p:cNvSpPr txBox="1"/>
          <p:nvPr/>
        </p:nvSpPr>
        <p:spPr>
          <a:xfrm>
            <a:off x="0" y="0"/>
            <a:ext cx="12006300" cy="67242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3200" b="1">
                <a:solidFill>
                  <a:schemeClr val="dk1"/>
                </a:solidFill>
                <a:latin typeface="Calibri"/>
                <a:ea typeface="Calibri"/>
                <a:cs typeface="Calibri"/>
                <a:sym typeface="Calibri"/>
              </a:rPr>
              <a:t>Some Links</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a:solidFill>
                <a:schemeClr val="dk1"/>
              </a:solidFill>
              <a:latin typeface="Calibri"/>
              <a:ea typeface="Calibri"/>
              <a:cs typeface="Calibri"/>
              <a:sym typeface="Calibri"/>
            </a:endParaRPr>
          </a:p>
          <a:p>
            <a:pPr marL="0" marR="0" lvl="0" indent="0" algn="l" rtl="0">
              <a:spcBef>
                <a:spcPts val="0"/>
              </a:spcBef>
              <a:spcAft>
                <a:spcPts val="0"/>
              </a:spcAft>
              <a:buNone/>
            </a:pPr>
            <a:r>
              <a:rPr lang="en-US">
                <a:solidFill>
                  <a:schemeClr val="dk1"/>
                </a:solidFill>
                <a:latin typeface="Calibri"/>
                <a:ea typeface="Calibri"/>
                <a:cs typeface="Calibri"/>
                <a:sym typeface="Calibri"/>
              </a:rPr>
              <a:t>Workload Forecasting For A Call Center: Methodology And A Case Study (2009)</a:t>
            </a:r>
            <a:endParaRPr>
              <a:solidFill>
                <a:schemeClr val="dk1"/>
              </a:solidFill>
              <a:latin typeface="Calibri"/>
              <a:ea typeface="Calibri"/>
              <a:cs typeface="Calibri"/>
              <a:sym typeface="Calibri"/>
            </a:endParaRPr>
          </a:p>
          <a:p>
            <a:pPr marL="0" marR="0" lvl="0" indent="0" algn="l" rtl="0">
              <a:spcBef>
                <a:spcPts val="0"/>
              </a:spcBef>
              <a:spcAft>
                <a:spcPts val="0"/>
              </a:spcAft>
              <a:buNone/>
            </a:pPr>
            <a:r>
              <a:rPr lang="en-US">
                <a:solidFill>
                  <a:schemeClr val="dk1"/>
                </a:solidFill>
                <a:latin typeface="Calibri"/>
                <a:ea typeface="Calibri"/>
                <a:cs typeface="Calibri"/>
                <a:sym typeface="Calibri"/>
              </a:rPr>
              <a:t> - </a:t>
            </a:r>
            <a:r>
              <a:rPr lang="en-US" u="sng">
                <a:solidFill>
                  <a:schemeClr val="hlink"/>
                </a:solidFill>
                <a:latin typeface="Calibri"/>
                <a:ea typeface="Calibri"/>
                <a:cs typeface="Calibri"/>
                <a:sym typeface="Calibri"/>
                <a:hlinkClick r:id="rId3"/>
              </a:rPr>
              <a:t>https://arxiv.org/pdf/1009.5741.pdf</a:t>
            </a:r>
            <a:r>
              <a:rPr lang="en-US">
                <a:solidFill>
                  <a:schemeClr val="dk1"/>
                </a:solidFill>
                <a:latin typeface="Calibri"/>
                <a:ea typeface="Calibri"/>
                <a:cs typeface="Calibri"/>
                <a:sym typeface="Calibri"/>
              </a:rPr>
              <a:t> </a:t>
            </a:r>
            <a:endParaRPr>
              <a:solidFill>
                <a:schemeClr val="dk1"/>
              </a:solidFill>
              <a:latin typeface="Calibri"/>
              <a:ea typeface="Calibri"/>
              <a:cs typeface="Calibri"/>
              <a:sym typeface="Calibri"/>
            </a:endParaRPr>
          </a:p>
          <a:p>
            <a:pPr marL="0" marR="0" lvl="0" indent="0" algn="l" rtl="0">
              <a:spcBef>
                <a:spcPts val="0"/>
              </a:spcBef>
              <a:spcAft>
                <a:spcPts val="0"/>
              </a:spcAft>
              <a:buNone/>
            </a:pPr>
            <a:endParaRPr>
              <a:solidFill>
                <a:schemeClr val="dk1"/>
              </a:solidFill>
              <a:latin typeface="Calibri"/>
              <a:ea typeface="Calibri"/>
              <a:cs typeface="Calibri"/>
              <a:sym typeface="Calibri"/>
            </a:endParaRPr>
          </a:p>
          <a:p>
            <a:pPr marL="0" marR="0" lvl="0" indent="0" algn="l" rtl="0">
              <a:spcBef>
                <a:spcPts val="0"/>
              </a:spcBef>
              <a:spcAft>
                <a:spcPts val="0"/>
              </a:spcAft>
              <a:buNone/>
            </a:pPr>
            <a:r>
              <a:rPr lang="en-US">
                <a:solidFill>
                  <a:schemeClr val="dk1"/>
                </a:solidFill>
                <a:latin typeface="Calibri"/>
                <a:ea typeface="Calibri"/>
                <a:cs typeface="Calibri"/>
                <a:sym typeface="Calibri"/>
              </a:rPr>
              <a:t>How to Choose the Right Forecasting Technique (1971)</a:t>
            </a:r>
            <a:endParaRPr>
              <a:solidFill>
                <a:schemeClr val="dk1"/>
              </a:solidFill>
              <a:latin typeface="Calibri"/>
              <a:ea typeface="Calibri"/>
              <a:cs typeface="Calibri"/>
              <a:sym typeface="Calibri"/>
            </a:endParaRPr>
          </a:p>
          <a:p>
            <a:pPr marL="0" marR="0" lvl="0" indent="0" algn="l" rtl="0">
              <a:spcBef>
                <a:spcPts val="0"/>
              </a:spcBef>
              <a:spcAft>
                <a:spcPts val="0"/>
              </a:spcAft>
              <a:buNone/>
            </a:pPr>
            <a:r>
              <a:rPr lang="en-US">
                <a:solidFill>
                  <a:schemeClr val="dk1"/>
                </a:solidFill>
                <a:latin typeface="Calibri"/>
                <a:ea typeface="Calibri"/>
                <a:cs typeface="Calibri"/>
                <a:sym typeface="Calibri"/>
              </a:rPr>
              <a:t> - </a:t>
            </a:r>
            <a:r>
              <a:rPr lang="en-US" u="sng">
                <a:solidFill>
                  <a:schemeClr val="hlink"/>
                </a:solidFill>
                <a:latin typeface="Calibri"/>
                <a:ea typeface="Calibri"/>
                <a:cs typeface="Calibri"/>
                <a:sym typeface="Calibri"/>
                <a:hlinkClick r:id="rId4"/>
              </a:rPr>
              <a:t>https://hbr.org/1971/07/how-to-choose-the-right-forecasting-technique</a:t>
            </a:r>
            <a:endParaRPr>
              <a:solidFill>
                <a:schemeClr val="dk1"/>
              </a:solidFill>
              <a:latin typeface="Calibri"/>
              <a:ea typeface="Calibri"/>
              <a:cs typeface="Calibri"/>
              <a:sym typeface="Calibri"/>
            </a:endParaRPr>
          </a:p>
          <a:p>
            <a:pPr marL="0" marR="0" lvl="0" indent="0" algn="l" rtl="0">
              <a:spcBef>
                <a:spcPts val="0"/>
              </a:spcBef>
              <a:spcAft>
                <a:spcPts val="0"/>
              </a:spcAft>
              <a:buNone/>
            </a:pPr>
            <a:endParaRPr>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US">
                <a:solidFill>
                  <a:schemeClr val="dk1"/>
                </a:solidFill>
              </a:rPr>
              <a:t>Example of an Excel youtube demo of forecasting,</a:t>
            </a:r>
            <a:endParaRPr>
              <a:solidFill>
                <a:schemeClr val="dk1"/>
              </a:solidFill>
            </a:endParaRPr>
          </a:p>
          <a:p>
            <a:pPr marL="0" lvl="0" indent="0" algn="l" rtl="0">
              <a:spcBef>
                <a:spcPts val="0"/>
              </a:spcBef>
              <a:spcAft>
                <a:spcPts val="0"/>
              </a:spcAft>
              <a:buClr>
                <a:schemeClr val="dk1"/>
              </a:buClr>
              <a:buSzPts val="1100"/>
              <a:buFont typeface="Arial"/>
              <a:buNone/>
            </a:pPr>
            <a:r>
              <a:rPr lang="en-US">
                <a:solidFill>
                  <a:schemeClr val="dk1"/>
                </a:solidFill>
              </a:rPr>
              <a:t> - </a:t>
            </a:r>
            <a:r>
              <a:rPr lang="en-US" u="sng">
                <a:solidFill>
                  <a:schemeClr val="hlink"/>
                </a:solidFill>
                <a:hlinkClick r:id="rId5"/>
              </a:rPr>
              <a:t>https://www.youtube.com/watch?v=IKwl6CEwQxQ</a:t>
            </a:r>
            <a:endParaRPr>
              <a:solidFill>
                <a:schemeClr val="dk1"/>
              </a:solidFill>
            </a:endParaRPr>
          </a:p>
          <a:p>
            <a:pPr marL="0" marR="0" lvl="0" indent="0" algn="l" rtl="0">
              <a:spcBef>
                <a:spcPts val="0"/>
              </a:spcBef>
              <a:spcAft>
                <a:spcPts val="0"/>
              </a:spcAft>
              <a:buNone/>
            </a:pPr>
            <a:endParaRPr>
              <a:solidFill>
                <a:schemeClr val="dk1"/>
              </a:solidFill>
              <a:latin typeface="Calibri"/>
              <a:ea typeface="Calibri"/>
              <a:cs typeface="Calibri"/>
              <a:sym typeface="Calibri"/>
            </a:endParaRPr>
          </a:p>
          <a:p>
            <a:pPr marL="0" marR="0" lvl="0" indent="0" algn="l" rtl="0">
              <a:spcBef>
                <a:spcPts val="0"/>
              </a:spcBef>
              <a:spcAft>
                <a:spcPts val="0"/>
              </a:spcAft>
              <a:buNone/>
            </a:pPr>
            <a:r>
              <a:rPr lang="en-US">
                <a:solidFill>
                  <a:schemeClr val="dk1"/>
                </a:solidFill>
                <a:latin typeface="Calibri"/>
                <a:ea typeface="Calibri"/>
                <a:cs typeface="Calibri"/>
                <a:sym typeface="Calibri"/>
              </a:rPr>
              <a:t>How to Calculate Forecast Accuracy (2017)</a:t>
            </a:r>
            <a:endParaRPr>
              <a:solidFill>
                <a:schemeClr val="dk1"/>
              </a:solidFill>
              <a:latin typeface="Calibri"/>
              <a:ea typeface="Calibri"/>
              <a:cs typeface="Calibri"/>
              <a:sym typeface="Calibri"/>
            </a:endParaRPr>
          </a:p>
          <a:p>
            <a:pPr marL="0" marR="0" lvl="0" indent="0" algn="l" rtl="0">
              <a:spcBef>
                <a:spcPts val="0"/>
              </a:spcBef>
              <a:spcAft>
                <a:spcPts val="0"/>
              </a:spcAft>
              <a:buNone/>
            </a:pPr>
            <a:r>
              <a:rPr lang="en-US">
                <a:solidFill>
                  <a:schemeClr val="dk1"/>
                </a:solidFill>
                <a:latin typeface="Calibri"/>
                <a:ea typeface="Calibri"/>
                <a:cs typeface="Calibri"/>
                <a:sym typeface="Calibri"/>
              </a:rPr>
              <a:t> - </a:t>
            </a:r>
            <a:r>
              <a:rPr lang="en-US" u="sng">
                <a:solidFill>
                  <a:schemeClr val="hlink"/>
                </a:solidFill>
                <a:latin typeface="Calibri"/>
                <a:ea typeface="Calibri"/>
                <a:cs typeface="Calibri"/>
                <a:sym typeface="Calibri"/>
                <a:hlinkClick r:id="rId6"/>
              </a:rPr>
              <a:t>https://www.callcentrehelper.com/calculate-forecast-accuracy-113808.htm</a:t>
            </a:r>
            <a:endParaRPr>
              <a:solidFill>
                <a:schemeClr val="dk1"/>
              </a:solidFill>
              <a:latin typeface="Calibri"/>
              <a:ea typeface="Calibri"/>
              <a:cs typeface="Calibri"/>
              <a:sym typeface="Calibri"/>
            </a:endParaRPr>
          </a:p>
          <a:p>
            <a:pPr marL="0" marR="0" lvl="0" indent="0" algn="l" rtl="0">
              <a:spcBef>
                <a:spcPts val="0"/>
              </a:spcBef>
              <a:spcAft>
                <a:spcPts val="0"/>
              </a:spcAft>
              <a:buNone/>
            </a:pPr>
            <a:endParaRPr>
              <a:solidFill>
                <a:schemeClr val="dk1"/>
              </a:solidFill>
              <a:latin typeface="Calibri"/>
              <a:ea typeface="Calibri"/>
              <a:cs typeface="Calibri"/>
              <a:sym typeface="Calibri"/>
            </a:endParaRPr>
          </a:p>
          <a:p>
            <a:pPr marL="0" marR="0" lvl="0" indent="0" algn="l" rtl="0">
              <a:spcBef>
                <a:spcPts val="0"/>
              </a:spcBef>
              <a:spcAft>
                <a:spcPts val="0"/>
              </a:spcAft>
              <a:buNone/>
            </a:pPr>
            <a:r>
              <a:rPr lang="en-US">
                <a:solidFill>
                  <a:schemeClr val="dk1"/>
                </a:solidFill>
                <a:latin typeface="Calibri"/>
                <a:ea typeface="Calibri"/>
                <a:cs typeface="Calibri"/>
                <a:sym typeface="Calibri"/>
              </a:rPr>
              <a:t>Daily volume of cases in emergency call centers: construction and validation of a predictive model (2017)</a:t>
            </a:r>
            <a:endParaRPr>
              <a:solidFill>
                <a:schemeClr val="dk1"/>
              </a:solidFill>
              <a:latin typeface="Calibri"/>
              <a:ea typeface="Calibri"/>
              <a:cs typeface="Calibri"/>
              <a:sym typeface="Calibri"/>
            </a:endParaRPr>
          </a:p>
          <a:p>
            <a:pPr marL="0" marR="0" lvl="0" indent="0" algn="l" rtl="0">
              <a:spcBef>
                <a:spcPts val="0"/>
              </a:spcBef>
              <a:spcAft>
                <a:spcPts val="0"/>
              </a:spcAft>
              <a:buNone/>
            </a:pPr>
            <a:r>
              <a:rPr lang="en-US">
                <a:solidFill>
                  <a:schemeClr val="dk1"/>
                </a:solidFill>
                <a:latin typeface="Calibri"/>
                <a:ea typeface="Calibri"/>
                <a:cs typeface="Calibri"/>
                <a:sym typeface="Calibri"/>
              </a:rPr>
              <a:t> - </a:t>
            </a:r>
            <a:r>
              <a:rPr lang="en-US" u="sng">
                <a:solidFill>
                  <a:schemeClr val="hlink"/>
                </a:solidFill>
                <a:latin typeface="Calibri"/>
                <a:ea typeface="Calibri"/>
                <a:cs typeface="Calibri"/>
                <a:sym typeface="Calibri"/>
                <a:hlinkClick r:id="rId7"/>
              </a:rPr>
              <a:t>https://www.ncbi.nlm.nih.gov/pmc/articles/PMC5576313/</a:t>
            </a:r>
            <a:endParaRPr>
              <a:solidFill>
                <a:schemeClr val="dk1"/>
              </a:solidFill>
              <a:latin typeface="Calibri"/>
              <a:ea typeface="Calibri"/>
              <a:cs typeface="Calibri"/>
              <a:sym typeface="Calibri"/>
            </a:endParaRPr>
          </a:p>
          <a:p>
            <a:pPr marL="0" marR="0" lvl="0" indent="0" algn="l" rtl="0">
              <a:spcBef>
                <a:spcPts val="0"/>
              </a:spcBef>
              <a:spcAft>
                <a:spcPts val="0"/>
              </a:spcAft>
              <a:buNone/>
            </a:pPr>
            <a:endParaRPr>
              <a:solidFill>
                <a:schemeClr val="dk1"/>
              </a:solidFill>
              <a:latin typeface="Calibri"/>
              <a:ea typeface="Calibri"/>
              <a:cs typeface="Calibri"/>
              <a:sym typeface="Calibri"/>
            </a:endParaRPr>
          </a:p>
          <a:p>
            <a:pPr marL="0" marR="0" lvl="0" indent="0" algn="l" rtl="0">
              <a:spcBef>
                <a:spcPts val="0"/>
              </a:spcBef>
              <a:spcAft>
                <a:spcPts val="0"/>
              </a:spcAft>
              <a:buNone/>
            </a:pPr>
            <a:r>
              <a:rPr lang="en-US">
                <a:solidFill>
                  <a:schemeClr val="dk1"/>
                </a:solidFill>
                <a:latin typeface="Calibri"/>
                <a:ea typeface="Calibri"/>
                <a:cs typeface="Calibri"/>
                <a:sym typeface="Calibri"/>
              </a:rPr>
              <a:t>Neural networks for algorithmic trading. Multivariate time series</a:t>
            </a:r>
            <a:endParaRPr>
              <a:solidFill>
                <a:schemeClr val="dk1"/>
              </a:solidFill>
              <a:latin typeface="Calibri"/>
              <a:ea typeface="Calibri"/>
              <a:cs typeface="Calibri"/>
              <a:sym typeface="Calibri"/>
            </a:endParaRPr>
          </a:p>
          <a:p>
            <a:pPr marL="0" marR="0" lvl="0" indent="0" algn="l" rtl="0">
              <a:spcBef>
                <a:spcPts val="0"/>
              </a:spcBef>
              <a:spcAft>
                <a:spcPts val="0"/>
              </a:spcAft>
              <a:buNone/>
            </a:pPr>
            <a:r>
              <a:rPr lang="en-US">
                <a:solidFill>
                  <a:schemeClr val="dk1"/>
                </a:solidFill>
                <a:latin typeface="Calibri"/>
                <a:ea typeface="Calibri"/>
                <a:cs typeface="Calibri"/>
                <a:sym typeface="Calibri"/>
              </a:rPr>
              <a:t> - </a:t>
            </a:r>
            <a:r>
              <a:rPr lang="en-US" u="sng">
                <a:solidFill>
                  <a:schemeClr val="hlink"/>
                </a:solidFill>
                <a:latin typeface="Calibri"/>
                <a:ea typeface="Calibri"/>
                <a:cs typeface="Calibri"/>
                <a:sym typeface="Calibri"/>
                <a:hlinkClick r:id="rId8"/>
              </a:rPr>
              <a:t>https://medium.com/machine-learning-world/neural-networks-for-algorithmic-trading-2-1-multivariate-time-series-ab016ce70f57</a:t>
            </a:r>
            <a:endParaRPr>
              <a:solidFill>
                <a:schemeClr val="dk1"/>
              </a:solidFill>
              <a:latin typeface="Calibri"/>
              <a:ea typeface="Calibri"/>
              <a:cs typeface="Calibri"/>
              <a:sym typeface="Calibri"/>
            </a:endParaRPr>
          </a:p>
          <a:p>
            <a:pPr marL="0" marR="0" lvl="0" indent="0" algn="l" rtl="0">
              <a:spcBef>
                <a:spcPts val="0"/>
              </a:spcBef>
              <a:spcAft>
                <a:spcPts val="0"/>
              </a:spcAft>
              <a:buNone/>
            </a:pPr>
            <a:endParaRPr>
              <a:solidFill>
                <a:schemeClr val="dk1"/>
              </a:solidFill>
              <a:latin typeface="Calibri"/>
              <a:ea typeface="Calibri"/>
              <a:cs typeface="Calibri"/>
              <a:sym typeface="Calibri"/>
            </a:endParaRPr>
          </a:p>
          <a:p>
            <a:pPr marL="0" marR="0" lvl="0" indent="0" algn="l" rtl="0">
              <a:spcBef>
                <a:spcPts val="0"/>
              </a:spcBef>
              <a:spcAft>
                <a:spcPts val="0"/>
              </a:spcAft>
              <a:buNone/>
            </a:pPr>
            <a:r>
              <a:rPr lang="en-US">
                <a:solidFill>
                  <a:schemeClr val="dk1"/>
                </a:solidFill>
                <a:latin typeface="Calibri"/>
                <a:ea typeface="Calibri"/>
                <a:cs typeface="Calibri"/>
                <a:sym typeface="Calibri"/>
              </a:rPr>
              <a:t>Energy Demand Time Series Forecasting</a:t>
            </a:r>
            <a:endParaRPr>
              <a:solidFill>
                <a:schemeClr val="dk1"/>
              </a:solidFill>
              <a:latin typeface="Calibri"/>
              <a:ea typeface="Calibri"/>
              <a:cs typeface="Calibri"/>
              <a:sym typeface="Calibri"/>
            </a:endParaRPr>
          </a:p>
          <a:p>
            <a:pPr marL="0" marR="0" lvl="0" indent="0" algn="l" rtl="0">
              <a:spcBef>
                <a:spcPts val="0"/>
              </a:spcBef>
              <a:spcAft>
                <a:spcPts val="0"/>
              </a:spcAft>
              <a:buNone/>
            </a:pPr>
            <a:r>
              <a:rPr lang="en-US">
                <a:solidFill>
                  <a:schemeClr val="dk1"/>
                </a:solidFill>
                <a:latin typeface="Calibri"/>
                <a:ea typeface="Calibri"/>
                <a:cs typeface="Calibri"/>
                <a:sym typeface="Calibri"/>
              </a:rPr>
              <a:t> - </a:t>
            </a:r>
            <a:r>
              <a:rPr lang="en-US" u="sng">
                <a:solidFill>
                  <a:schemeClr val="hlink"/>
                </a:solidFill>
                <a:latin typeface="Calibri"/>
                <a:ea typeface="Calibri"/>
                <a:cs typeface="Calibri"/>
                <a:sym typeface="Calibri"/>
                <a:hlinkClick r:id="rId9"/>
              </a:rPr>
              <a:t>https://github.com/Azure/MachineLearningSamples-EnergyDemandTimeSeriesForecasting</a:t>
            </a:r>
            <a:endParaRPr>
              <a:solidFill>
                <a:schemeClr val="dk1"/>
              </a:solidFill>
              <a:latin typeface="Calibri"/>
              <a:ea typeface="Calibri"/>
              <a:cs typeface="Calibri"/>
              <a:sym typeface="Calibri"/>
            </a:endParaRPr>
          </a:p>
          <a:p>
            <a:pPr marL="0" marR="0" lvl="0" indent="0" algn="l" rtl="0">
              <a:spcBef>
                <a:spcPts val="0"/>
              </a:spcBef>
              <a:spcAft>
                <a:spcPts val="0"/>
              </a:spcAft>
              <a:buNone/>
            </a:pPr>
            <a:endParaRPr>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20"/>
          <p:cNvSpPr txBox="1"/>
          <p:nvPr/>
        </p:nvSpPr>
        <p:spPr>
          <a:xfrm>
            <a:off x="0" y="0"/>
            <a:ext cx="6932400" cy="743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3000" b="1"/>
              <a:t>Code examples</a:t>
            </a:r>
            <a:endParaRPr sz="3000" b="1"/>
          </a:p>
        </p:txBody>
      </p:sp>
      <p:sp>
        <p:nvSpPr>
          <p:cNvPr id="141" name="Google Shape;141;p20"/>
          <p:cNvSpPr txBox="1"/>
          <p:nvPr/>
        </p:nvSpPr>
        <p:spPr>
          <a:xfrm>
            <a:off x="92950" y="1483100"/>
            <a:ext cx="9255600" cy="4739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a:t>Prophet: Automatic Forecasting Procedure</a:t>
            </a:r>
            <a:endParaRPr/>
          </a:p>
          <a:p>
            <a:pPr marL="0" lvl="0" indent="0" algn="l" rtl="0">
              <a:spcBef>
                <a:spcPts val="0"/>
              </a:spcBef>
              <a:spcAft>
                <a:spcPts val="0"/>
              </a:spcAft>
              <a:buNone/>
            </a:pPr>
            <a:r>
              <a:rPr lang="en-US"/>
              <a:t> - </a:t>
            </a:r>
            <a:r>
              <a:rPr lang="en-US" u="sng">
                <a:solidFill>
                  <a:schemeClr val="hlink"/>
                </a:solidFill>
                <a:hlinkClick r:id="rId3"/>
              </a:rPr>
              <a:t>https://github.com/facebook/prophet</a:t>
            </a:r>
            <a:endParaRPr/>
          </a:p>
          <a:p>
            <a:pPr marL="0" lvl="0" indent="0" algn="l" rtl="0">
              <a:spcBef>
                <a:spcPts val="0"/>
              </a:spcBef>
              <a:spcAft>
                <a:spcPts val="0"/>
              </a:spcAft>
              <a:buNone/>
            </a:pPr>
            <a:r>
              <a:rPr lang="en-US" sz="1200">
                <a:solidFill>
                  <a:srgbClr val="24292E"/>
                </a:solidFill>
                <a:highlight>
                  <a:srgbClr val="FFFFFF"/>
                </a:highlight>
              </a:rPr>
              <a:t>forecasting time series data based on an additive model where non-linear trends are fit with yearly, weekly, and daily seasonality, plus holiday effects. It works best with time series that have strong seasonal effects and several seasons of historical data. Prophet is robust to missing data and shifts in the trend, and typically handles outliers well.</a:t>
            </a:r>
            <a:endParaRPr sz="1200">
              <a:solidFill>
                <a:srgbClr val="24292E"/>
              </a:solidFill>
              <a:highlight>
                <a:srgbClr val="FFFFFF"/>
              </a:highlight>
            </a:endParaRPr>
          </a:p>
          <a:p>
            <a:pPr marL="0" lvl="0" indent="0" algn="l" rtl="0">
              <a:spcBef>
                <a:spcPts val="0"/>
              </a:spcBef>
              <a:spcAft>
                <a:spcPts val="0"/>
              </a:spcAft>
              <a:buNone/>
            </a:pPr>
            <a:r>
              <a:rPr lang="en-US" sz="1200">
                <a:solidFill>
                  <a:srgbClr val="24292E"/>
                </a:solidFill>
                <a:highlight>
                  <a:srgbClr val="FFFFFF"/>
                </a:highlight>
              </a:rPr>
              <a:t>========================================</a:t>
            </a:r>
            <a:endParaRPr sz="1200">
              <a:solidFill>
                <a:srgbClr val="24292E"/>
              </a:solidFill>
              <a:highlight>
                <a:srgbClr val="FFFFFF"/>
              </a:highlight>
            </a:endParaRPr>
          </a:p>
          <a:p>
            <a:pPr marL="0" lvl="0" indent="0" algn="l" rtl="0">
              <a:spcBef>
                <a:spcPts val="0"/>
              </a:spcBef>
              <a:spcAft>
                <a:spcPts val="0"/>
              </a:spcAft>
              <a:buNone/>
            </a:pPr>
            <a:endParaRPr/>
          </a:p>
          <a:p>
            <a:pPr marL="0" lvl="0" indent="0" algn="l" rtl="0">
              <a:spcBef>
                <a:spcPts val="0"/>
              </a:spcBef>
              <a:spcAft>
                <a:spcPts val="0"/>
              </a:spcAft>
              <a:buClr>
                <a:schemeClr val="dk1"/>
              </a:buClr>
              <a:buFont typeface="Arial"/>
              <a:buNone/>
            </a:pPr>
            <a:r>
              <a:rPr lang="en-US">
                <a:solidFill>
                  <a:schemeClr val="dk1"/>
                </a:solidFill>
                <a:latin typeface="Calibri"/>
                <a:ea typeface="Calibri"/>
                <a:cs typeface="Calibri"/>
                <a:sym typeface="Calibri"/>
              </a:rPr>
              <a:t>Multivariate Time Series Forecasting with LSTMs in Keras</a:t>
            </a:r>
            <a:endParaRPr>
              <a:solidFill>
                <a:schemeClr val="dk1"/>
              </a:solidFill>
              <a:latin typeface="Calibri"/>
              <a:ea typeface="Calibri"/>
              <a:cs typeface="Calibri"/>
              <a:sym typeface="Calibri"/>
            </a:endParaRPr>
          </a:p>
          <a:p>
            <a:pPr marL="0" lvl="0" indent="0" algn="l" rtl="0">
              <a:spcBef>
                <a:spcPts val="0"/>
              </a:spcBef>
              <a:spcAft>
                <a:spcPts val="0"/>
              </a:spcAft>
              <a:buClr>
                <a:schemeClr val="dk1"/>
              </a:buClr>
              <a:buFont typeface="Arial"/>
              <a:buNone/>
            </a:pPr>
            <a:r>
              <a:rPr lang="en-US">
                <a:solidFill>
                  <a:schemeClr val="dk1"/>
                </a:solidFill>
                <a:latin typeface="Calibri"/>
                <a:ea typeface="Calibri"/>
                <a:cs typeface="Calibri"/>
                <a:sym typeface="Calibri"/>
              </a:rPr>
              <a:t> - </a:t>
            </a:r>
            <a:r>
              <a:rPr lang="en-US" u="sng">
                <a:solidFill>
                  <a:schemeClr val="hlink"/>
                </a:solidFill>
                <a:latin typeface="Calibri"/>
                <a:ea typeface="Calibri"/>
                <a:cs typeface="Calibri"/>
                <a:sym typeface="Calibri"/>
                <a:hlinkClick r:id="rId4"/>
              </a:rPr>
              <a:t>https://machinelearningmastery.com/multivariate-time-series-forecasting-lstms-keras/</a:t>
            </a:r>
            <a:endParaRPr>
              <a:solidFill>
                <a:schemeClr val="dk1"/>
              </a:solidFill>
              <a:latin typeface="Calibri"/>
              <a:ea typeface="Calibri"/>
              <a:cs typeface="Calibri"/>
              <a:sym typeface="Calibri"/>
            </a:endParaRPr>
          </a:p>
          <a:p>
            <a:pPr marL="0" lvl="0" indent="0" algn="l" rtl="0">
              <a:spcBef>
                <a:spcPts val="0"/>
              </a:spcBef>
              <a:spcAft>
                <a:spcPts val="0"/>
              </a:spcAft>
              <a:buClr>
                <a:schemeClr val="dk1"/>
              </a:buClr>
              <a:buFont typeface="Arial"/>
              <a:buNone/>
            </a:pPr>
            <a:endParaRPr>
              <a:solidFill>
                <a:schemeClr val="dk1"/>
              </a:solidFill>
              <a:latin typeface="Calibri"/>
              <a:ea typeface="Calibri"/>
              <a:cs typeface="Calibri"/>
              <a:sym typeface="Calibri"/>
            </a:endParaRPr>
          </a:p>
          <a:p>
            <a:pPr marL="0" lvl="0" indent="0" algn="l" rtl="0">
              <a:spcBef>
                <a:spcPts val="0"/>
              </a:spcBef>
              <a:spcAft>
                <a:spcPts val="0"/>
              </a:spcAft>
              <a:buClr>
                <a:schemeClr val="dk1"/>
              </a:buClr>
              <a:buFont typeface="Arial"/>
              <a:buNone/>
            </a:pPr>
            <a:r>
              <a:rPr lang="en-US">
                <a:solidFill>
                  <a:schemeClr val="dk1"/>
                </a:solidFill>
                <a:latin typeface="Calibri"/>
                <a:ea typeface="Calibri"/>
                <a:cs typeface="Calibri"/>
                <a:sym typeface="Calibri"/>
              </a:rPr>
              <a:t>Time Series Prediction With Deep Learning in Keras</a:t>
            </a:r>
            <a:endParaRPr>
              <a:solidFill>
                <a:schemeClr val="dk1"/>
              </a:solidFill>
              <a:latin typeface="Calibri"/>
              <a:ea typeface="Calibri"/>
              <a:cs typeface="Calibri"/>
              <a:sym typeface="Calibri"/>
            </a:endParaRPr>
          </a:p>
          <a:p>
            <a:pPr marL="0" lvl="0" indent="0" algn="l" rtl="0">
              <a:spcBef>
                <a:spcPts val="0"/>
              </a:spcBef>
              <a:spcAft>
                <a:spcPts val="0"/>
              </a:spcAft>
              <a:buClr>
                <a:schemeClr val="dk1"/>
              </a:buClr>
              <a:buFont typeface="Arial"/>
              <a:buNone/>
            </a:pPr>
            <a:r>
              <a:rPr lang="en-US">
                <a:solidFill>
                  <a:schemeClr val="dk1"/>
                </a:solidFill>
                <a:latin typeface="Calibri"/>
                <a:ea typeface="Calibri"/>
                <a:cs typeface="Calibri"/>
                <a:sym typeface="Calibri"/>
              </a:rPr>
              <a:t> - </a:t>
            </a:r>
            <a:r>
              <a:rPr lang="en-US" u="sng">
                <a:solidFill>
                  <a:schemeClr val="hlink"/>
                </a:solidFill>
                <a:latin typeface="Calibri"/>
                <a:ea typeface="Calibri"/>
                <a:cs typeface="Calibri"/>
                <a:sym typeface="Calibri"/>
                <a:hlinkClick r:id="rId5"/>
              </a:rPr>
              <a:t>https://machinelearningmastery.com/time-series-prediction-with-deep-learning-in-python-with-keras/</a:t>
            </a:r>
            <a:endParaRPr>
              <a:solidFill>
                <a:schemeClr val="dk1"/>
              </a:solidFill>
              <a:latin typeface="Calibri"/>
              <a:ea typeface="Calibri"/>
              <a:cs typeface="Calibri"/>
              <a:sym typeface="Calibri"/>
            </a:endParaRPr>
          </a:p>
          <a:p>
            <a:pPr marL="0" lvl="0" indent="0" algn="l" rtl="0">
              <a:spcBef>
                <a:spcPts val="0"/>
              </a:spcBef>
              <a:spcAft>
                <a:spcPts val="0"/>
              </a:spcAft>
              <a:buNone/>
            </a:pPr>
            <a:endParaRPr/>
          </a:p>
          <a:p>
            <a:pPr marL="0" lvl="0" indent="0" algn="l" rtl="0">
              <a:spcBef>
                <a:spcPts val="0"/>
              </a:spcBef>
              <a:spcAft>
                <a:spcPts val="0"/>
              </a:spcAft>
              <a:buClr>
                <a:schemeClr val="dk1"/>
              </a:buClr>
              <a:buSzPts val="1100"/>
              <a:buFont typeface="Arial"/>
              <a:buNone/>
            </a:pPr>
            <a:r>
              <a:rPr lang="en-US" sz="1200">
                <a:solidFill>
                  <a:srgbClr val="24292E"/>
                </a:solidFill>
                <a:highlight>
                  <a:srgbClr val="FFFFFF"/>
                </a:highlight>
              </a:rPr>
              <a:t>========================================</a:t>
            </a:r>
            <a:endParaRPr sz="1200">
              <a:solidFill>
                <a:srgbClr val="24292E"/>
              </a:solidFill>
              <a:highlight>
                <a:srgbClr val="FFFFFF"/>
              </a:highlight>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None/>
            </a:pPr>
            <a:endParaRPr/>
          </a:p>
          <a:p>
            <a:pPr marL="0" lvl="0" indent="0" algn="l" rtl="0">
              <a:spcBef>
                <a:spcPts val="0"/>
              </a:spcBef>
              <a:spcAft>
                <a:spcPts val="0"/>
              </a:spcAft>
              <a:buNone/>
            </a:pPr>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2022</Words>
  <Application>Microsoft Macintosh PowerPoint</Application>
  <PresentationFormat>Widescreen</PresentationFormat>
  <Paragraphs>189</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Lev Selector</cp:lastModifiedBy>
  <cp:revision>1</cp:revision>
  <dcterms:modified xsi:type="dcterms:W3CDTF">2020-10-06T19:34:56Z</dcterms:modified>
</cp:coreProperties>
</file>