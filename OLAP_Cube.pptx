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"/>
  </p:notesMasterIdLst>
  <p:sldIdLst>
    <p:sldId id="334" r:id="rId2"/>
    <p:sldId id="333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43"/>
    <p:restoredTop sz="94578"/>
  </p:normalViewPr>
  <p:slideViewPr>
    <p:cSldViewPr snapToGrid="0" snapToObjects="1">
      <p:cViewPr varScale="1">
        <p:scale>
          <a:sx n="101" d="100"/>
          <a:sy n="101" d="100"/>
        </p:scale>
        <p:origin x="200" y="3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15B94-D9E4-E149-8081-23A720D1EE5F}" type="datetimeFigureOut">
              <a:rPr lang="en-US" smtClean="0"/>
              <a:t>3/23/21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B959602-CC24-7346-B914-9B1E8A8A6B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87895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D99F67-75F2-EF4B-9DE0-21FDAEC663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BE99639-B854-674D-ACBA-338D63DD4F4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8E4296-DC2B-AF42-91B6-17E3997BE2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F880F47-3B0E-704C-82F4-47CA2458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139331-61D1-E44D-8C43-197AE4B19D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979013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8B43CF-BFB5-3546-88C9-3F4ABDF5B1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0C71888-698C-3048-9E3A-79F283DAC5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16CAAE-7E6E-094F-B838-A8D599C7A4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236779-3E6E-F94D-A52C-89DB20E896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2DD567-48AE-8943-81DD-9156637A4F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61398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0634C6-BE59-C74D-A804-601DBAECC5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0495D0D-E2F3-024E-8F35-A32E5235CA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632F36-110F-AB45-AACD-B967692D661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CDE42B-76C3-C74B-87BA-EC1966BCA9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22EF09-A125-6A46-98CE-4F27BBF2DF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919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FF95-09A5-AD4A-BF49-549FDD4AE8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CBA89D-12BA-364D-9D8E-653BBF7F021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5FDF43-F591-C34C-A19D-72C756D41EB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C0354CF-BB33-C943-A730-FC383D9A54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13A25-E3C8-964A-A037-7E3FD27AD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4AB8329-5603-654D-A660-FFCA319FE6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64304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ACAAB5-2A11-8B46-A36E-45DDB8812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9641C71-F1A6-554A-BAD7-8A45038F18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67A02E-E166-EF46-9DEE-108AEC16E0E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E33CE42-B52C-2942-9A4A-0E4F45F1D83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C58C1D2-B4E4-AD4A-B8B1-F8B44B8785C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872365E-B55D-7344-998C-79153FB40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C75CC9F-B7E5-914A-B6F0-00ADC6CAD9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07BF07D-E313-CA4B-BB34-30A3407DEF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509406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D6C080-AE3B-2D44-8F1B-F94E3E24C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DFEBD38-3EC2-604B-8909-0751DE753F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EF0E821-C95F-7943-8614-AE9CB9DF3C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C5A9F50-050E-B643-A486-F0E3400936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5895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1CDF785-C2CE-4F41-9244-07C54AA903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D5C8366-9719-1346-8CA9-FA98FA13A4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23BB-263D-BA4B-8180-9360C24F38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19365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9E274-4263-3C44-A67A-88743FEA2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F4D437-E545-9241-9B1A-D823486254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325DD7-587D-2243-8C7B-87745F2B63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B965333-9154-4F43-AB04-7653AB8969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3DF337-B84B-0D43-B9B3-C5C52986D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3FC9BB-65AC-144D-8509-7666472A5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637628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35F18-71F5-404F-976D-621F648F98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0249791-DC9D-A945-8D0D-D4A9079865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5D363C-D267-8D4B-B5E3-457DC9389F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9AEDA4-C4FB-564B-ADE2-E7A9075119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7C4D42D-FF74-9246-94C3-9723BF584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8269DFD-0B4D-FA4F-9E71-D5181F1CBC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92683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5491E7-7FB4-4546-8157-28938279D4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29B9C2-E777-4348-BBC7-2890721ED3A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87FA6D-4975-5148-9D0D-4F743D24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400D166-568E-2649-9F37-88DC38AA87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45E222-16A1-C947-8B1E-3ACF3F5C56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126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5FAC76A-2B25-1A44-91BB-8088E2CC1CE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678DD8B-CC03-0745-B893-EEF2A385F3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1F2342-838E-764F-89C0-BB769EE411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10EDFEC-4C70-7847-9681-6C37613117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83DA2E-AD95-AF44-A7A2-7744791955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0120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5955CD2-8FD3-CA4C-99C9-299FEE54ED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F91F3E-101C-5342-8747-F474CDCDAA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43CD303-CF65-3444-86AC-DDE065E3797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D852D7-E694-214E-8A12-510E0A0329D2}" type="datetimeFigureOut">
              <a:rPr lang="en-US" smtClean="0"/>
              <a:t>3/23/21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0DBF9CF-381B-8F4B-B04A-1BC917405E4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8A368C-50DB-5A48-AFBA-3B62FEFE95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950461C-F457-184F-826F-99E566ED8EE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42344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olistics.io/blog/the-rise-and-fall-of-the-olap-cube/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76402"/>
            <a:ext cx="5082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OLAP Cube – Rise and Fall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ECF6344-25D1-214F-A75E-373DADD0E10F}"/>
              </a:ext>
            </a:extLst>
          </p:cNvPr>
          <p:cNvSpPr txBox="1"/>
          <p:nvPr/>
        </p:nvSpPr>
        <p:spPr>
          <a:xfrm>
            <a:off x="13086608" y="654330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5EA9DD-F532-E844-9109-9810BD2F6D66}"/>
              </a:ext>
            </a:extLst>
          </p:cNvPr>
          <p:cNvSpPr txBox="1"/>
          <p:nvPr/>
        </p:nvSpPr>
        <p:spPr>
          <a:xfrm>
            <a:off x="154379" y="722733"/>
            <a:ext cx="508263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Very good article:</a:t>
            </a:r>
          </a:p>
          <a:p>
            <a:r>
              <a:rPr lang="en-US" sz="1400" dirty="0"/>
              <a:t>The Rise and Fall of the OLAP Cube - by Cedric Chin (2020)</a:t>
            </a:r>
          </a:p>
          <a:p>
            <a:r>
              <a:rPr lang="en-US" sz="1400" dirty="0">
                <a:hlinkClick r:id="rId2"/>
              </a:rPr>
              <a:t>https://www.holistics.io/blog/the-rise-and-fall-of-the-olap-cube/</a:t>
            </a:r>
            <a:r>
              <a:rPr lang="en-US" sz="14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6F64F69-1BC7-CC48-841C-6FFCC4154296}"/>
              </a:ext>
            </a:extLst>
          </p:cNvPr>
          <p:cNvSpPr txBox="1"/>
          <p:nvPr/>
        </p:nvSpPr>
        <p:spPr>
          <a:xfrm>
            <a:off x="2770249" y="1776052"/>
            <a:ext cx="6651502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/>
              <a:t>Old way of doing things:</a:t>
            </a:r>
          </a:p>
          <a:p>
            <a:endParaRPr lang="en-US" sz="1600" b="1" dirty="0">
              <a:solidFill>
                <a:srgbClr val="0070C0"/>
              </a:solidFill>
            </a:endParaRPr>
          </a:p>
          <a:p>
            <a:r>
              <a:rPr lang="en-US" sz="1600" b="1" dirty="0">
                <a:solidFill>
                  <a:srgbClr val="0070C0"/>
                </a:solidFill>
              </a:rPr>
              <a:t>          Data</a:t>
            </a:r>
            <a:r>
              <a:rPr lang="en-US" sz="1600" dirty="0"/>
              <a:t> </a:t>
            </a:r>
            <a:r>
              <a:rPr lang="en-US" sz="1600" dirty="0">
                <a:solidFill>
                  <a:srgbClr val="FF0000"/>
                </a:solidFill>
              </a:rPr>
              <a:t>=&gt; ETL =&gt; Data </a:t>
            </a:r>
            <a:r>
              <a:rPr lang="en-US" sz="1600" dirty="0" err="1">
                <a:solidFill>
                  <a:srgbClr val="FF0000"/>
                </a:solidFill>
              </a:rPr>
              <a:t>WareHouse</a:t>
            </a:r>
            <a:r>
              <a:rPr lang="en-US" sz="1600" dirty="0">
                <a:solidFill>
                  <a:srgbClr val="FF0000"/>
                </a:solidFill>
              </a:rPr>
              <a:t> =&gt; ETL =&gt; OLAP Cube =&gt;</a:t>
            </a:r>
            <a:r>
              <a:rPr lang="en-US" sz="1600" dirty="0"/>
              <a:t> </a:t>
            </a:r>
            <a:r>
              <a:rPr lang="en-US" sz="1600" b="1" dirty="0">
                <a:solidFill>
                  <a:srgbClr val="0070C0"/>
                </a:solidFill>
              </a:rPr>
              <a:t>Reporting</a:t>
            </a:r>
          </a:p>
          <a:p>
            <a:endParaRPr lang="en-US" sz="1600" dirty="0"/>
          </a:p>
          <a:p>
            <a:r>
              <a:rPr lang="en-US" sz="1600" dirty="0"/>
              <a:t>The above "old way" Includes a lot of ETL, Data modeling &amp; Design: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Kimball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 err="1"/>
              <a:t>Inmon</a:t>
            </a:r>
            <a:r>
              <a:rPr lang="en-US" sz="1600" dirty="0"/>
              <a:t> Framework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Data Vault by Dan </a:t>
            </a:r>
            <a:r>
              <a:rPr lang="en-US" sz="1600" dirty="0" err="1"/>
              <a:t>Linstedt</a:t>
            </a:r>
            <a:r>
              <a:rPr lang="en-US" sz="1600" dirty="0"/>
              <a:t> (combines Kimball &amp; </a:t>
            </a:r>
            <a:r>
              <a:rPr lang="en-US" sz="1600" dirty="0" err="1"/>
              <a:t>Inmon</a:t>
            </a:r>
            <a:r>
              <a:rPr lang="en-US" sz="1600" dirty="0"/>
              <a:t>).</a:t>
            </a:r>
          </a:p>
          <a:p>
            <a:endParaRPr lang="en-US" sz="1600" dirty="0"/>
          </a:p>
          <a:p>
            <a:r>
              <a:rPr lang="en-US" sz="1600" dirty="0"/>
              <a:t>But imagine that memory and compute power have become so cheap</a:t>
            </a:r>
          </a:p>
          <a:p>
            <a:r>
              <a:rPr lang="en-US" sz="1600" dirty="0"/>
              <a:t>that your regular SQL database can run any queries very fast using in-memory columnar storage and MPP = Massive Parallel Processing.</a:t>
            </a:r>
          </a:p>
          <a:p>
            <a:endParaRPr lang="en-US" sz="1600" dirty="0"/>
          </a:p>
          <a:p>
            <a:r>
              <a:rPr lang="en-US" sz="1600" dirty="0"/>
              <a:t>Then you don't need to hire data modelers.</a:t>
            </a:r>
          </a:p>
          <a:p>
            <a:r>
              <a:rPr lang="en-US" sz="1600" dirty="0"/>
              <a:t>You don't need all the OLAP infrastructure.</a:t>
            </a:r>
          </a:p>
          <a:p>
            <a:r>
              <a:rPr lang="en-US" sz="1600" dirty="0"/>
              <a:t>You can simply query your data as it is.</a:t>
            </a:r>
          </a:p>
          <a:p>
            <a:endParaRPr lang="en-US" sz="1600" b="1" dirty="0">
              <a:solidFill>
                <a:srgbClr val="0070C0"/>
              </a:solidFill>
            </a:endParaRPr>
          </a:p>
          <a:p>
            <a:r>
              <a:rPr lang="en-US" sz="1600" b="1" dirty="0">
                <a:solidFill>
                  <a:srgbClr val="0070C0"/>
                </a:solidFill>
              </a:rPr>
              <a:t>          Data =&gt; Reporting</a:t>
            </a:r>
          </a:p>
        </p:txBody>
      </p:sp>
    </p:spTree>
    <p:extLst>
      <p:ext uri="{BB962C8B-B14F-4D97-AF65-F5344CB8AC3E}">
        <p14:creationId xmlns:p14="http://schemas.microsoft.com/office/powerpoint/2010/main" val="41002563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D1E58F78-8F27-2D4A-BD36-154CD23B3E50}"/>
              </a:ext>
            </a:extLst>
          </p:cNvPr>
          <p:cNvSpPr txBox="1"/>
          <p:nvPr/>
        </p:nvSpPr>
        <p:spPr>
          <a:xfrm>
            <a:off x="0" y="76402"/>
            <a:ext cx="50826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/>
              <a:t>OLAP Cube – Complexity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56E077-CBBF-8B4A-AFD9-7FF186E983BF}"/>
              </a:ext>
            </a:extLst>
          </p:cNvPr>
          <p:cNvSpPr txBox="1"/>
          <p:nvPr/>
        </p:nvSpPr>
        <p:spPr>
          <a:xfrm>
            <a:off x="361825" y="909341"/>
            <a:ext cx="50826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Kimball vs </a:t>
            </a:r>
            <a:r>
              <a:rPr lang="en-US" dirty="0" err="1"/>
              <a:t>Inmon</a:t>
            </a:r>
            <a:r>
              <a:rPr lang="en-US" dirty="0"/>
              <a:t> vs Data Vault frameworks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1A3A473-C1E6-BB4B-B45D-0E62BB53D0B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429" t="3835" r="1620" b="5740"/>
          <a:stretch/>
        </p:blipFill>
        <p:spPr bwMode="auto">
          <a:xfrm>
            <a:off x="6452919" y="720437"/>
            <a:ext cx="5628904" cy="2648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A1BB8427-CF39-2B4F-A702-0CBA2BC5A11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2337" t="5906" r="5348" b="10518"/>
          <a:stretch/>
        </p:blipFill>
        <p:spPr bwMode="auto">
          <a:xfrm>
            <a:off x="6452919" y="4021776"/>
            <a:ext cx="5628904" cy="26481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7015C3BA-8A84-A346-A5DE-3BBD3A6180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880265"/>
              </p:ext>
            </p:extLst>
          </p:nvPr>
        </p:nvGraphicFramePr>
        <p:xfrm>
          <a:off x="147244" y="1752682"/>
          <a:ext cx="5511800" cy="38989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94744">
                  <a:extLst>
                    <a:ext uri="{9D8B030D-6E8A-4147-A177-3AD203B41FA5}">
                      <a16:colId xmlns:a16="http://schemas.microsoft.com/office/drawing/2014/main" val="508734602"/>
                    </a:ext>
                  </a:extLst>
                </a:gridCol>
                <a:gridCol w="2322762">
                  <a:extLst>
                    <a:ext uri="{9D8B030D-6E8A-4147-A177-3AD203B41FA5}">
                      <a16:colId xmlns:a16="http://schemas.microsoft.com/office/drawing/2014/main" val="1414177960"/>
                    </a:ext>
                  </a:extLst>
                </a:gridCol>
                <a:gridCol w="2094294">
                  <a:extLst>
                    <a:ext uri="{9D8B030D-6E8A-4147-A177-3AD203B41FA5}">
                      <a16:colId xmlns:a16="http://schemas.microsoft.com/office/drawing/2014/main" val="598691665"/>
                    </a:ext>
                  </a:extLst>
                </a:gridCol>
              </a:tblGrid>
              <a:tr h="2413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u="none" strike="noStrike">
                          <a:effectLst/>
                        </a:rPr>
                        <a:t>Parameters</a:t>
                      </a:r>
                      <a:endParaRPr lang="en-US" sz="140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>
                          <a:solidFill>
                            <a:srgbClr val="FF0000"/>
                          </a:solidFill>
                          <a:effectLst/>
                        </a:rPr>
                        <a:t>Kimball</a:t>
                      </a:r>
                      <a:endParaRPr lang="en-US" sz="1400" b="1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1" u="none" strike="noStrike" dirty="0" err="1">
                          <a:solidFill>
                            <a:srgbClr val="FF0000"/>
                          </a:solidFill>
                          <a:effectLst/>
                        </a:rPr>
                        <a:t>Inmon</a:t>
                      </a:r>
                      <a:endParaRPr lang="en-US" sz="1400" b="1" i="0" u="none" strike="noStrike" dirty="0">
                        <a:solidFill>
                          <a:srgbClr val="FF0000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08788374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 Ralph Kimball.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Introduced by Bill Inmon.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51270049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Approach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has Bottom-Up Approach for implementation.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has Top-Down Approach for implementation.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89793062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Integration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focuses Individual business areas.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It focuses Enterprise-wide areas.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91984952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Building Time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is efficient and takes less time.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is complex and consumes a lot of time.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476789648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Cost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has iterative steps and is cost effective.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Initial cost is huge and development cost is low.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09675188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Skills Required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does not need such skills but a generic team will do job.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needs specialized skills to make work.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2566804817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Maintenance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Here maintenance is difficult.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Here maintenance is easy.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1412522397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Model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prefers data to be in De-normalized model.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It prefers data to be in normalized model.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6890712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Data Store Systems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>
                          <a:effectLst/>
                        </a:rPr>
                        <a:t>In this, source systems are highly stable.</a:t>
                      </a:r>
                      <a:endParaRPr lang="en-US" sz="1250" b="0" i="0" u="none" strike="noStrike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250" u="none" strike="noStrike" dirty="0">
                          <a:effectLst/>
                        </a:rPr>
                        <a:t>In this, source systems have high rate of change.</a:t>
                      </a:r>
                      <a:endParaRPr lang="en-US" sz="1250" b="0" i="0" u="none" strike="noStrike" dirty="0">
                        <a:solidFill>
                          <a:srgbClr val="40424E"/>
                        </a:solidFill>
                        <a:effectLst/>
                        <a:latin typeface="Arial" panose="020B0604020202020204" pitchFamily="34" charset="0"/>
                      </a:endParaRPr>
                    </a:p>
                  </a:txBody>
                  <a:tcPr marL="9525" marR="9525" marT="9525" marB="0" anchor="ctr"/>
                </a:tc>
                <a:extLst>
                  <a:ext uri="{0D108BD9-81ED-4DB2-BD59-A6C34878D82A}">
                    <a16:rowId xmlns:a16="http://schemas.microsoft.com/office/drawing/2014/main" val="758233881"/>
                  </a:ext>
                </a:extLst>
              </a:tr>
            </a:tbl>
          </a:graphicData>
        </a:graphic>
      </p:graphicFrame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F877F6-E824-1449-B84B-E5353B0E439D}"/>
              </a:ext>
            </a:extLst>
          </p:cNvPr>
          <p:cNvSpPr/>
          <p:nvPr/>
        </p:nvSpPr>
        <p:spPr>
          <a:xfrm>
            <a:off x="7533574" y="76402"/>
            <a:ext cx="3396343" cy="6693853"/>
          </a:xfrm>
          <a:prstGeom prst="roundRect">
            <a:avLst/>
          </a:prstGeom>
          <a:noFill/>
          <a:ln w="635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96509B1-63CD-E745-824F-781153CCDCE7}"/>
              </a:ext>
            </a:extLst>
          </p:cNvPr>
          <p:cNvSpPr txBox="1"/>
          <p:nvPr/>
        </p:nvSpPr>
        <p:spPr>
          <a:xfrm>
            <a:off x="7975600" y="215900"/>
            <a:ext cx="248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This is no longer needed</a:t>
            </a:r>
          </a:p>
        </p:txBody>
      </p:sp>
    </p:spTree>
    <p:extLst>
      <p:ext uri="{BB962C8B-B14F-4D97-AF65-F5344CB8AC3E}">
        <p14:creationId xmlns:p14="http://schemas.microsoft.com/office/powerpoint/2010/main" val="1421258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1071</TotalTime>
  <Words>330</Words>
  <Application>Microsoft Macintosh PowerPoint</Application>
  <PresentationFormat>Widescreen</PresentationFormat>
  <Paragraphs>54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Lev Selector</dc:creator>
  <cp:lastModifiedBy>Lev Selector</cp:lastModifiedBy>
  <cp:revision>142</cp:revision>
  <dcterms:created xsi:type="dcterms:W3CDTF">2018-10-10T17:24:46Z</dcterms:created>
  <dcterms:modified xsi:type="dcterms:W3CDTF">2021-03-24T00:03:33Z</dcterms:modified>
</cp:coreProperties>
</file>