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5"/>
  </p:notesMasterIdLst>
  <p:sldIdLst>
    <p:sldId id="278" r:id="rId2"/>
    <p:sldId id="279" r:id="rId3"/>
    <p:sldId id="297" r:id="rId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60"/>
    <p:restoredTop sz="92197"/>
  </p:normalViewPr>
  <p:slideViewPr>
    <p:cSldViewPr snapToGrid="0" snapToObjects="1">
      <p:cViewPr varScale="1">
        <p:scale>
          <a:sx n="69" d="100"/>
          <a:sy n="69" d="100"/>
        </p:scale>
        <p:origin x="208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hyperlink" Target="https://en.wikipedia.org/wiki/F-distribution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tif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6FA95A-A464-9640-836F-7DE7726AFB70}"/>
              </a:ext>
            </a:extLst>
          </p:cNvPr>
          <p:cNvSpPr txBox="1"/>
          <p:nvPr/>
        </p:nvSpPr>
        <p:spPr>
          <a:xfrm>
            <a:off x="312820" y="180474"/>
            <a:ext cx="58685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F-Distribution (Fisher–</a:t>
            </a:r>
            <a:r>
              <a:rPr lang="en-US" sz="2800" b="1" dirty="0" err="1"/>
              <a:t>Snedecor</a:t>
            </a:r>
            <a:r>
              <a:rPr lang="en-US" sz="2800" b="1" dirty="0"/>
              <a:t>)</a:t>
            </a:r>
          </a:p>
          <a:p>
            <a:endParaRPr lang="en-US" sz="1200" b="1" dirty="0"/>
          </a:p>
          <a:p>
            <a:r>
              <a:rPr lang="en-US" sz="1200" dirty="0"/>
              <a:t>F-distribution </a:t>
            </a:r>
          </a:p>
          <a:p>
            <a:r>
              <a:rPr lang="en-US" sz="1200" dirty="0"/>
              <a:t>  - right-skewed distribution used most commonly in Analysis of Variance.</a:t>
            </a:r>
          </a:p>
          <a:p>
            <a:r>
              <a:rPr lang="en-US" sz="1200" dirty="0"/>
              <a:t>  - ( </a:t>
            </a:r>
            <a:r>
              <a:rPr lang="en-US" sz="1200" dirty="0">
                <a:hlinkClick r:id="rId2"/>
              </a:rPr>
              <a:t>https://en.wikipedia.org/wiki/F-distribution</a:t>
            </a:r>
            <a:r>
              <a:rPr lang="en-US" sz="1200" dirty="0"/>
              <a:t> ) </a:t>
            </a:r>
          </a:p>
          <a:p>
            <a:r>
              <a:rPr lang="en-US" sz="1200" dirty="0"/>
              <a:t>  - named after Ronald Fisher and George W. </a:t>
            </a:r>
            <a:r>
              <a:rPr lang="en-US" sz="1200" dirty="0" err="1"/>
              <a:t>Snedecor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87F98A-A3DF-4E4E-A401-EDA0D3B2B39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4096" y="0"/>
            <a:ext cx="5327904" cy="39959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4D50C-3DCC-8A44-A7EA-74F9711DBFA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55776" y="1816608"/>
            <a:ext cx="1328928" cy="1560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553CA0-6EFC-1D44-AEDB-1870ACF4C26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5322" y="1816608"/>
            <a:ext cx="1259593" cy="1328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D0D4E-BAF6-5E49-9CA5-7416D6584A00}"/>
              </a:ext>
            </a:extLst>
          </p:cNvPr>
          <p:cNvSpPr txBox="1"/>
          <p:nvPr/>
        </p:nvSpPr>
        <p:spPr>
          <a:xfrm>
            <a:off x="1024128" y="3511296"/>
            <a:ext cx="2121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Ronald Fisher 1890-1962</a:t>
            </a:r>
          </a:p>
          <a:p>
            <a:r>
              <a:rPr lang="en-US" sz="1200" dirty="0"/>
              <a:t>British. Developed the analysis of variance ANOVA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7B0D3-AB2B-2246-BA8A-2B2EDC8A1ECF}"/>
              </a:ext>
            </a:extLst>
          </p:cNvPr>
          <p:cNvSpPr txBox="1"/>
          <p:nvPr/>
        </p:nvSpPr>
        <p:spPr>
          <a:xfrm>
            <a:off x="3282442" y="3182112"/>
            <a:ext cx="1627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George W. </a:t>
            </a:r>
            <a:r>
              <a:rPr lang="en-US" sz="1200" dirty="0" err="1"/>
              <a:t>Snedecor</a:t>
            </a:r>
            <a:endParaRPr lang="en-US" sz="1200" dirty="0"/>
          </a:p>
          <a:p>
            <a:r>
              <a:rPr lang="en-US" sz="1200" dirty="0"/>
              <a:t>1881-1974, USA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A36CA-9AC2-8345-9CF2-9725F292AC7C}"/>
              </a:ext>
            </a:extLst>
          </p:cNvPr>
          <p:cNvSpPr txBox="1"/>
          <p:nvPr/>
        </p:nvSpPr>
        <p:spPr>
          <a:xfrm>
            <a:off x="219456" y="4279392"/>
            <a:ext cx="596188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random variate of the F-distribution with parameters d1, d2 arises as </a:t>
            </a:r>
          </a:p>
          <a:p>
            <a:r>
              <a:rPr lang="en-US" dirty="0"/>
              <a:t>the ratio of two appropriately scaled chi-squared variates:</a:t>
            </a:r>
          </a:p>
          <a:p>
            <a:endParaRPr lang="en-US" dirty="0"/>
          </a:p>
          <a:p>
            <a:r>
              <a:rPr lang="en-US" sz="1600" dirty="0"/>
              <a:t>                 X = (U</a:t>
            </a:r>
            <a:r>
              <a:rPr lang="en-US" sz="1600" baseline="-25000" dirty="0"/>
              <a:t>1</a:t>
            </a:r>
            <a:r>
              <a:rPr lang="en-US" sz="1600" dirty="0"/>
              <a:t>/d</a:t>
            </a:r>
            <a:r>
              <a:rPr lang="en-US" sz="1600" baseline="-25000" dirty="0"/>
              <a:t>1</a:t>
            </a:r>
            <a:r>
              <a:rPr lang="en-US" sz="1600" dirty="0"/>
              <a:t>) / (U</a:t>
            </a:r>
            <a:r>
              <a:rPr lang="en-US" sz="1600" baseline="-25000" dirty="0"/>
              <a:t>2</a:t>
            </a:r>
            <a:r>
              <a:rPr lang="en-US" sz="1600" dirty="0"/>
              <a:t>/d</a:t>
            </a:r>
            <a:r>
              <a:rPr lang="en-US" sz="1600" baseline="-25000" dirty="0"/>
              <a:t>2</a:t>
            </a:r>
            <a:r>
              <a:rPr lang="en-US" sz="1600" dirty="0"/>
              <a:t>)</a:t>
            </a:r>
          </a:p>
          <a:p>
            <a:endParaRPr lang="en-US" dirty="0"/>
          </a:p>
          <a:p>
            <a:r>
              <a:rPr lang="en-US" dirty="0"/>
              <a:t>where U</a:t>
            </a:r>
            <a:r>
              <a:rPr lang="en-US" baseline="-25000" dirty="0"/>
              <a:t>1</a:t>
            </a:r>
            <a:r>
              <a:rPr lang="en-US" dirty="0"/>
              <a:t> and U</a:t>
            </a:r>
            <a:r>
              <a:rPr lang="en-US" baseline="-25000" dirty="0"/>
              <a:t>2</a:t>
            </a:r>
            <a:r>
              <a:rPr lang="en-US" dirty="0"/>
              <a:t> are independent and have chi-squared distributions </a:t>
            </a:r>
          </a:p>
          <a:p>
            <a:r>
              <a:rPr lang="en-US" dirty="0"/>
              <a:t>with d</a:t>
            </a:r>
            <a:r>
              <a:rPr lang="en-US" baseline="-25000" dirty="0"/>
              <a:t>1</a:t>
            </a:r>
            <a:r>
              <a:rPr lang="en-US" dirty="0"/>
              <a:t> &amp; d</a:t>
            </a:r>
            <a:r>
              <a:rPr lang="en-US" baseline="-25000" dirty="0"/>
              <a:t>2</a:t>
            </a:r>
            <a:r>
              <a:rPr lang="en-US" dirty="0"/>
              <a:t> degrees of freedom respectively.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1022CD-2DA4-4A4B-B54E-1FB77AA975D2}"/>
              </a:ext>
            </a:extLst>
          </p:cNvPr>
          <p:cNvSpPr txBox="1"/>
          <p:nvPr/>
        </p:nvSpPr>
        <p:spPr>
          <a:xfrm>
            <a:off x="6864096" y="4279392"/>
            <a:ext cx="486460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F-tests: </a:t>
            </a:r>
          </a:p>
          <a:p>
            <a:r>
              <a:rPr lang="en-US" dirty="0"/>
              <a:t>where the null hypothesis is that two independent normal variances are equal, </a:t>
            </a:r>
          </a:p>
          <a:p>
            <a:r>
              <a:rPr lang="en-US" dirty="0"/>
              <a:t>and the observed sums of some appropriately selected squares are then examined to see whether their ratio is significantly incompatible with this null hypothesis.</a:t>
            </a:r>
          </a:p>
        </p:txBody>
      </p:sp>
    </p:spTree>
    <p:extLst>
      <p:ext uri="{BB962C8B-B14F-4D97-AF65-F5344CB8AC3E}">
        <p14:creationId xmlns:p14="http://schemas.microsoft.com/office/powerpoint/2010/main" val="392393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6FA95A-A464-9640-836F-7DE7726AFB70}"/>
              </a:ext>
            </a:extLst>
          </p:cNvPr>
          <p:cNvSpPr txBox="1"/>
          <p:nvPr/>
        </p:nvSpPr>
        <p:spPr>
          <a:xfrm>
            <a:off x="312820" y="180474"/>
            <a:ext cx="5504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ANOVA</a:t>
            </a:r>
            <a:r>
              <a:rPr lang="en-US" sz="2800" b="1" dirty="0"/>
              <a:t> = Analysis of Variance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24D50C-3DCC-8A44-A7EA-74F9711DBFA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1104" y="856289"/>
            <a:ext cx="1328928" cy="15605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D0D4E-BAF6-5E49-9CA5-7416D6584A00}"/>
              </a:ext>
            </a:extLst>
          </p:cNvPr>
          <p:cNvSpPr txBox="1"/>
          <p:nvPr/>
        </p:nvSpPr>
        <p:spPr>
          <a:xfrm>
            <a:off x="219456" y="2550977"/>
            <a:ext cx="2121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Ronald Fisher 1890-1962</a:t>
            </a:r>
          </a:p>
          <a:p>
            <a:r>
              <a:rPr lang="en-US" sz="1200" dirty="0"/>
              <a:t>British. Developed the analysis of variance </a:t>
            </a:r>
            <a:r>
              <a:rPr lang="en-US" sz="1200" b="1" dirty="0">
                <a:solidFill>
                  <a:srgbClr val="0070C0"/>
                </a:solidFill>
              </a:rPr>
              <a:t>ANOVA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A36CA-9AC2-8345-9CF2-9725F292AC7C}"/>
              </a:ext>
            </a:extLst>
          </p:cNvPr>
          <p:cNvSpPr txBox="1"/>
          <p:nvPr/>
        </p:nvSpPr>
        <p:spPr>
          <a:xfrm>
            <a:off x="2697556" y="950539"/>
            <a:ext cx="626085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- a collection of statistical models and estimation procedures (such as the "variation" among and between groups) </a:t>
            </a:r>
          </a:p>
          <a:p>
            <a:r>
              <a:rPr lang="en-US" dirty="0"/>
              <a:t>used to analyze the differences among group means in a sample.</a:t>
            </a:r>
          </a:p>
          <a:p>
            <a:endParaRPr lang="en-US" dirty="0"/>
          </a:p>
          <a:p>
            <a:r>
              <a:rPr lang="en-US" dirty="0"/>
              <a:t>The observed variance in a particular variable is partitioned into components attributable to different sources of variation. </a:t>
            </a:r>
          </a:p>
          <a:p>
            <a:endParaRPr lang="en-US" dirty="0"/>
          </a:p>
          <a:p>
            <a:r>
              <a:rPr lang="en-US" dirty="0"/>
              <a:t>In its simplest form,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provides a statistical test </a:t>
            </a:r>
          </a:p>
          <a:p>
            <a:r>
              <a:rPr lang="en-US" dirty="0"/>
              <a:t>of </a:t>
            </a:r>
            <a:r>
              <a:rPr lang="en-US" dirty="0">
                <a:solidFill>
                  <a:srgbClr val="0070C0"/>
                </a:solidFill>
              </a:rPr>
              <a:t>whether two or more </a:t>
            </a:r>
            <a:r>
              <a:rPr lang="en-US" dirty="0">
                <a:solidFill>
                  <a:srgbClr val="00B050"/>
                </a:solidFill>
              </a:rPr>
              <a:t>population means </a:t>
            </a:r>
            <a:r>
              <a:rPr lang="en-US" dirty="0">
                <a:solidFill>
                  <a:srgbClr val="0070C0"/>
                </a:solidFill>
              </a:rPr>
              <a:t>are equal</a:t>
            </a:r>
            <a:r>
              <a:rPr lang="en-US" dirty="0"/>
              <a:t>, </a:t>
            </a:r>
          </a:p>
          <a:p>
            <a:r>
              <a:rPr lang="en-US" dirty="0"/>
              <a:t>and therefore </a:t>
            </a:r>
            <a:r>
              <a:rPr lang="en-US" dirty="0">
                <a:solidFill>
                  <a:srgbClr val="0070C0"/>
                </a:solidFill>
              </a:rPr>
              <a:t>generalizes the t-test beyond two means</a:t>
            </a:r>
            <a:r>
              <a:rPr lang="en-US" dirty="0"/>
              <a:t>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869F80-7F41-AF4D-8ABB-D89D41245DB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9245" y="0"/>
            <a:ext cx="2672755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C15102-BE75-5A48-89D8-06C6582D875D}"/>
              </a:ext>
            </a:extLst>
          </p:cNvPr>
          <p:cNvSpPr txBox="1"/>
          <p:nvPr/>
        </p:nvSpPr>
        <p:spPr>
          <a:xfrm>
            <a:off x="219456" y="3710609"/>
            <a:ext cx="85402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is the synthesis of several ideas and it is used for multiple purposes.</a:t>
            </a:r>
            <a:br>
              <a:rPr lang="en-US" dirty="0"/>
            </a:br>
            <a:r>
              <a:rPr lang="en-US" dirty="0"/>
              <a:t>As a consequence, it is difficult to define concisely or precisely.</a:t>
            </a:r>
          </a:p>
          <a:p>
            <a:endParaRPr lang="en-US" dirty="0"/>
          </a:p>
          <a:p>
            <a:r>
              <a:rPr lang="en-US" dirty="0"/>
              <a:t>"Classical"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for balanced data does three things at once: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Uses additive data decomposition for exploratory data analysis. Uses sums of squares to indicate the variance of each component of the decomposition.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Comparisons of mean squares, along with an F-test ... allow testing of a nested sequence of models.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Closely related to the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is a linear model fit with coefficient estimates and standard errors.</a:t>
            </a:r>
          </a:p>
          <a:p>
            <a:endParaRPr lang="en-US" dirty="0"/>
          </a:p>
          <a:p>
            <a:r>
              <a:rPr lang="en-US" dirty="0"/>
              <a:t>Additionally, </a:t>
            </a:r>
            <a:r>
              <a:rPr lang="en-US" b="1" dirty="0">
                <a:solidFill>
                  <a:srgbClr val="0070C0"/>
                </a:solidFill>
              </a:rPr>
              <a:t>ANOVA </a:t>
            </a:r>
            <a:r>
              <a:rPr lang="en-US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computationally elegant and relatively robust against violations of its assumptions.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provides strong (multiple sample comparison) statistical analysis.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has been adapted to the analysis of a variety of experimental designs.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47DAF9-7749-4446-924A-F0DE20619A0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19244" y="117733"/>
            <a:ext cx="1749230" cy="6390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6DDD30-6F6F-F44C-A3E0-4232C8EDB313}"/>
              </a:ext>
            </a:extLst>
          </p:cNvPr>
          <p:cNvSpPr txBox="1"/>
          <p:nvPr/>
        </p:nvSpPr>
        <p:spPr>
          <a:xfrm>
            <a:off x="7686087" y="2779824"/>
            <a:ext cx="14709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Variance Between</a:t>
            </a:r>
          </a:p>
          <a:p>
            <a:pPr algn="ctr"/>
            <a:r>
              <a:rPr lang="en-US" dirty="0"/>
              <a:t>--------------------</a:t>
            </a:r>
          </a:p>
          <a:p>
            <a:pPr algn="ctr"/>
            <a:r>
              <a:rPr lang="en-US" dirty="0"/>
              <a:t>Variance</a:t>
            </a:r>
          </a:p>
          <a:p>
            <a:pPr algn="ctr"/>
            <a:r>
              <a:rPr lang="en-US" dirty="0"/>
              <a:t>Within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932007-90EA-9246-8DF1-F535C57E65EC}"/>
              </a:ext>
            </a:extLst>
          </p:cNvPr>
          <p:cNvSpPr/>
          <p:nvPr/>
        </p:nvSpPr>
        <p:spPr>
          <a:xfrm>
            <a:off x="7672835" y="2537725"/>
            <a:ext cx="1557197" cy="1557197"/>
          </a:xfrm>
          <a:prstGeom prst="ellipse">
            <a:avLst/>
          </a:prstGeom>
          <a:solidFill>
            <a:schemeClr val="accent1">
              <a:alpha val="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416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07E199-707A-CC4C-BC60-0587CD338441}"/>
              </a:ext>
            </a:extLst>
          </p:cNvPr>
          <p:cNvSpPr txBox="1"/>
          <p:nvPr/>
        </p:nvSpPr>
        <p:spPr>
          <a:xfrm>
            <a:off x="0" y="0"/>
            <a:ext cx="581315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Fisher Exact Test</a:t>
            </a:r>
          </a:p>
          <a:p>
            <a:endParaRPr lang="en-US" dirty="0"/>
          </a:p>
          <a:p>
            <a:r>
              <a:rPr lang="en-US" dirty="0"/>
              <a:t>From Fisher's book "The Design of Experiments" (1935)</a:t>
            </a:r>
          </a:p>
          <a:p>
            <a:endParaRPr lang="en-US" dirty="0"/>
          </a:p>
          <a:p>
            <a:r>
              <a:rPr lang="en-US" dirty="0"/>
              <a:t>Lady Tasting Tea example in 2</a:t>
            </a:r>
            <a:r>
              <a:rPr lang="en-US" baseline="30000" dirty="0"/>
              <a:t>nd</a:t>
            </a:r>
            <a:r>
              <a:rPr lang="en-US" dirty="0"/>
              <a:t> chapter</a:t>
            </a:r>
          </a:p>
          <a:p>
            <a:endParaRPr lang="en-US" dirty="0"/>
          </a:p>
          <a:p>
            <a:r>
              <a:rPr lang="en-US" dirty="0"/>
              <a:t>Lady claimed that she ca distinguish between two types of cups of tea:</a:t>
            </a:r>
          </a:p>
          <a:p>
            <a:endParaRPr lang="en-US" dirty="0"/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tea added first, then milk </a:t>
            </a:r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milk added first, then tea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FD4C1F-2702-B340-8DA1-DF943C6B9A7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11939" y="114168"/>
            <a:ext cx="1328928" cy="1560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8BE8A6-DEF2-2F4F-8ECB-4C98B4CB464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52067" y="114168"/>
            <a:ext cx="2057400" cy="3162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D10B43-21A6-C744-9231-1DE562B04160}"/>
              </a:ext>
            </a:extLst>
          </p:cNvPr>
          <p:cNvSpPr txBox="1"/>
          <p:nvPr/>
        </p:nvSpPr>
        <p:spPr>
          <a:xfrm>
            <a:off x="6662714" y="3276468"/>
            <a:ext cx="6361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1935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65F751-575C-1147-9ACF-29EC093325AF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92669" y="1812235"/>
            <a:ext cx="1616964" cy="21559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B262F87-EF03-154A-A646-9D5F0AD8FB4F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92669" y="4105678"/>
            <a:ext cx="1640127" cy="22727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32AC49-0C9E-C542-94B5-53035957020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6718" y="3968187"/>
            <a:ext cx="2667000" cy="2743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B906DE-487F-7649-8B8A-22FA9702264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54167" y="2487160"/>
            <a:ext cx="2104820" cy="157861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392B64A-152E-EB4A-9DAB-8134D56771BC}"/>
              </a:ext>
            </a:extLst>
          </p:cNvPr>
          <p:cNvSpPr txBox="1"/>
          <p:nvPr/>
        </p:nvSpPr>
        <p:spPr>
          <a:xfrm>
            <a:off x="97999" y="4216178"/>
            <a:ext cx="581315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Author introduces the concept of "null hypothesis"</a:t>
            </a:r>
          </a:p>
          <a:p>
            <a:endParaRPr lang="en-US" dirty="0"/>
          </a:p>
          <a:p>
            <a:r>
              <a:rPr lang="en-US" dirty="0"/>
              <a:t>Experiment: given 4 cups of type 1 and 4 cups of type 2.</a:t>
            </a:r>
          </a:p>
          <a:p>
            <a:r>
              <a:rPr lang="en-US" dirty="0"/>
              <a:t>They look the same.</a:t>
            </a:r>
          </a:p>
          <a:p>
            <a:r>
              <a:rPr lang="en-US" dirty="0"/>
              <a:t>Lady should test them and label the "milk first" ones.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The test is called "exact" because Fisher demonstrates how in this case he can calculate exact probability of each outcome.</a:t>
            </a:r>
          </a:p>
          <a:p>
            <a:endParaRPr lang="en-US" dirty="0"/>
          </a:p>
          <a:p>
            <a:r>
              <a:rPr lang="en-US" dirty="0"/>
              <a:t>If she guessed 3 out of 4, the probability is 0.22 – not good</a:t>
            </a:r>
          </a:p>
          <a:p>
            <a:r>
              <a:rPr lang="en-US" dirty="0"/>
              <a:t>If she guessed 4 out of 4 – the probability is 1/70 &lt; 0.05 - good</a:t>
            </a:r>
          </a:p>
        </p:txBody>
      </p:sp>
    </p:spTree>
    <p:extLst>
      <p:ext uri="{BB962C8B-B14F-4D97-AF65-F5344CB8AC3E}">
        <p14:creationId xmlns:p14="http://schemas.microsoft.com/office/powerpoint/2010/main" val="1529590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2777</TotalTime>
  <Words>546</Words>
  <Application>Microsoft Macintosh PowerPoint</Application>
  <PresentationFormat>Widescreen</PresentationFormat>
  <Paragraphs>67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273</cp:revision>
  <cp:lastPrinted>2020-09-21T17:22:59Z</cp:lastPrinted>
  <dcterms:modified xsi:type="dcterms:W3CDTF">2020-10-13T23:46:02Z</dcterms:modified>
</cp:coreProperties>
</file>