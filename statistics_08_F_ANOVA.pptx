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tiff" ContentType="image/tif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6"/>
  </p:notesMasterIdLst>
  <p:sldIdLst>
    <p:sldId id="278" r:id="rId2"/>
    <p:sldId id="279" r:id="rId3"/>
    <p:sldId id="298" r:id="rId4"/>
    <p:sldId id="297" r:id="rId5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1618C5A-BF4F-44D7-ADB2-C5301EF81F8A}">
  <a:tblStyle styleId="{B1618C5A-BF4F-44D7-ADB2-C5301EF81F8A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850"/>
    <p:restoredTop sz="92144"/>
  </p:normalViewPr>
  <p:slideViewPr>
    <p:cSldViewPr snapToGrid="0" snapToObjects="1">
      <p:cViewPr varScale="1">
        <p:scale>
          <a:sx n="96" d="100"/>
          <a:sy n="96" d="100"/>
        </p:scale>
        <p:origin x="27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36" name="Google Shape;36;p5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7" name="Google Shape;37;p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42" name="Google Shape;42;p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3" name="Google Shape;43;p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4" name="Google Shape;44;p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5" name="Google Shape;45;p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8" name="Google Shape;48;p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1" name="Google Shape;51;p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2" name="Google Shape;52;p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3" name="Google Shape;53;p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6" name="Google Shape;56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7" name="Google Shape;57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318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1" name="Google Shape;61;p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2" name="Google Shape;62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3" name="Google Shape;63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4" name="Google Shape;64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67" name="Google Shape;67;p10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8" name="Google Shape;68;p10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0" name="Google Shape;70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1" name="Google Shape;71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4" name="Google Shape;74;p11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5" name="Google Shape;75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6" name="Google Shape;76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7" name="Google Shape;77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2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0" name="Google Shape;80;p12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1" name="Google Shape;81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2" name="Google Shape;82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3" name="Google Shape;83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tiff"/><Relationship Id="rId2" Type="http://schemas.openxmlformats.org/officeDocument/2006/relationships/hyperlink" Target="https://en.wikipedia.org/wiki/F-distribution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jpeg"/><Relationship Id="rId4" Type="http://schemas.openxmlformats.org/officeDocument/2006/relationships/image" Target="../media/image2.tiff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Analysis_of_variance" TargetMode="External"/><Relationship Id="rId2" Type="http://schemas.openxmlformats.org/officeDocument/2006/relationships/image" Target="../media/image2.tiff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tiff"/><Relationship Id="rId4" Type="http://schemas.openxmlformats.org/officeDocument/2006/relationships/image" Target="../media/image4.tif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tiff"/><Relationship Id="rId2" Type="http://schemas.openxmlformats.org/officeDocument/2006/relationships/hyperlink" Target="https://en.wikipedia.org/wiki/Multilevel_model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tif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7" Type="http://schemas.openxmlformats.org/officeDocument/2006/relationships/image" Target="../media/image12.jpeg"/><Relationship Id="rId2" Type="http://schemas.openxmlformats.org/officeDocument/2006/relationships/image" Target="../media/image2.tif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jpeg"/><Relationship Id="rId5" Type="http://schemas.openxmlformats.org/officeDocument/2006/relationships/image" Target="../media/image10.jpeg"/><Relationship Id="rId4" Type="http://schemas.openxmlformats.org/officeDocument/2006/relationships/image" Target="../media/image9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06FA95A-A464-9640-836F-7DE7726AFB70}"/>
              </a:ext>
            </a:extLst>
          </p:cNvPr>
          <p:cNvSpPr txBox="1"/>
          <p:nvPr/>
        </p:nvSpPr>
        <p:spPr>
          <a:xfrm>
            <a:off x="0" y="0"/>
            <a:ext cx="655127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F-Distribution (Fisher–</a:t>
            </a:r>
            <a:r>
              <a:rPr lang="en-US" sz="2800" b="1" dirty="0" err="1"/>
              <a:t>Snedecor</a:t>
            </a:r>
            <a:r>
              <a:rPr lang="en-US" sz="2800" b="1" dirty="0"/>
              <a:t>)</a:t>
            </a:r>
          </a:p>
          <a:p>
            <a:endParaRPr lang="en-US" sz="1200" b="1" dirty="0"/>
          </a:p>
          <a:p>
            <a:r>
              <a:rPr lang="en-US" dirty="0"/>
              <a:t>F-distribution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right-skewed distribution used most commonly in Analysis of Variance.</a:t>
            </a:r>
            <a:br>
              <a:rPr lang="en-US" dirty="0"/>
            </a:br>
            <a:r>
              <a:rPr lang="en-US" dirty="0"/>
              <a:t>( </a:t>
            </a:r>
            <a:r>
              <a:rPr lang="en-US" dirty="0">
                <a:hlinkClick r:id="rId2"/>
              </a:rPr>
              <a:t>https://en.wikipedia.org/wiki/F-distribution</a:t>
            </a:r>
            <a:r>
              <a:rPr lang="en-US" dirty="0"/>
              <a:t> )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named after Ronald Fisher and George W. </a:t>
            </a:r>
            <a:r>
              <a:rPr lang="en-US" dirty="0" err="1"/>
              <a:t>Snedecor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787F98A-A3DF-4E4E-A401-EDA0D3B2B39F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864096" y="0"/>
            <a:ext cx="5327904" cy="399592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A24D50C-3DCC-8A44-A7EA-74F9711DBFAF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87827" y="1816608"/>
            <a:ext cx="1328928" cy="156057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F553CA0-6EFC-1D44-AEDB-1870ACF4C265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689254" y="1816608"/>
            <a:ext cx="1259593" cy="132892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94D0D4E-BAF6-5E49-9CA5-7416D6584A00}"/>
              </a:ext>
            </a:extLst>
          </p:cNvPr>
          <p:cNvSpPr txBox="1"/>
          <p:nvPr/>
        </p:nvSpPr>
        <p:spPr>
          <a:xfrm>
            <a:off x="541177" y="3511296"/>
            <a:ext cx="247373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Ronald Fisher 1890-1962</a:t>
            </a:r>
          </a:p>
          <a:p>
            <a:r>
              <a:rPr lang="en-US" dirty="0"/>
              <a:t>British. Developed the analysis of variance ANOVA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337B0D3-AB2B-2246-BA8A-2B2EDC8A1ECF}"/>
              </a:ext>
            </a:extLst>
          </p:cNvPr>
          <p:cNvSpPr txBox="1"/>
          <p:nvPr/>
        </p:nvSpPr>
        <p:spPr>
          <a:xfrm>
            <a:off x="3413068" y="3182112"/>
            <a:ext cx="200227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George W. </a:t>
            </a:r>
            <a:r>
              <a:rPr lang="en-US" dirty="0" err="1"/>
              <a:t>Snedecor</a:t>
            </a:r>
            <a:endParaRPr lang="en-US" dirty="0"/>
          </a:p>
          <a:p>
            <a:r>
              <a:rPr lang="en-US" dirty="0"/>
              <a:t>1881-1974, USA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9AA36CA-9AC2-8345-9CF2-9725F292AC7C}"/>
              </a:ext>
            </a:extLst>
          </p:cNvPr>
          <p:cNvSpPr txBox="1"/>
          <p:nvPr/>
        </p:nvSpPr>
        <p:spPr>
          <a:xfrm>
            <a:off x="219456" y="4279392"/>
            <a:ext cx="5961888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random variate of the F-distribution with parameters d1, d2 arises as </a:t>
            </a:r>
          </a:p>
          <a:p>
            <a:r>
              <a:rPr lang="en-US" dirty="0"/>
              <a:t>the ratio of two appropriately scaled chi-squared variates:</a:t>
            </a:r>
          </a:p>
          <a:p>
            <a:endParaRPr lang="en-US" dirty="0"/>
          </a:p>
          <a:p>
            <a:r>
              <a:rPr lang="en-US" sz="1600" dirty="0"/>
              <a:t>                 X = (U</a:t>
            </a:r>
            <a:r>
              <a:rPr lang="en-US" sz="1600" baseline="-25000" dirty="0"/>
              <a:t>1</a:t>
            </a:r>
            <a:r>
              <a:rPr lang="en-US" sz="1600" dirty="0"/>
              <a:t>/d</a:t>
            </a:r>
            <a:r>
              <a:rPr lang="en-US" sz="1600" baseline="-25000" dirty="0"/>
              <a:t>1</a:t>
            </a:r>
            <a:r>
              <a:rPr lang="en-US" sz="1600" dirty="0"/>
              <a:t>) / (U</a:t>
            </a:r>
            <a:r>
              <a:rPr lang="en-US" sz="1600" baseline="-25000" dirty="0"/>
              <a:t>2</a:t>
            </a:r>
            <a:r>
              <a:rPr lang="en-US" sz="1600" dirty="0"/>
              <a:t>/d</a:t>
            </a:r>
            <a:r>
              <a:rPr lang="en-US" sz="1600" baseline="-25000" dirty="0"/>
              <a:t>2</a:t>
            </a:r>
            <a:r>
              <a:rPr lang="en-US" sz="1600" dirty="0"/>
              <a:t>)</a:t>
            </a:r>
          </a:p>
          <a:p>
            <a:endParaRPr lang="en-US" dirty="0"/>
          </a:p>
          <a:p>
            <a:r>
              <a:rPr lang="en-US" dirty="0"/>
              <a:t>where U</a:t>
            </a:r>
            <a:r>
              <a:rPr lang="en-US" baseline="-25000" dirty="0"/>
              <a:t>1</a:t>
            </a:r>
            <a:r>
              <a:rPr lang="en-US" dirty="0"/>
              <a:t> and U</a:t>
            </a:r>
            <a:r>
              <a:rPr lang="en-US" baseline="-25000" dirty="0"/>
              <a:t>2</a:t>
            </a:r>
            <a:r>
              <a:rPr lang="en-US" dirty="0"/>
              <a:t> are independent and have chi-squared distributions </a:t>
            </a:r>
          </a:p>
          <a:p>
            <a:r>
              <a:rPr lang="en-US" dirty="0"/>
              <a:t>with d</a:t>
            </a:r>
            <a:r>
              <a:rPr lang="en-US" baseline="-25000" dirty="0"/>
              <a:t>1</a:t>
            </a:r>
            <a:r>
              <a:rPr lang="en-US" dirty="0"/>
              <a:t> &amp; d</a:t>
            </a:r>
            <a:r>
              <a:rPr lang="en-US" baseline="-25000" dirty="0"/>
              <a:t>2</a:t>
            </a:r>
            <a:r>
              <a:rPr lang="en-US" dirty="0"/>
              <a:t> degrees of freedom respectively.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41022CD-2DA4-4A4B-B54E-1FB77AA975D2}"/>
              </a:ext>
            </a:extLst>
          </p:cNvPr>
          <p:cNvSpPr txBox="1"/>
          <p:nvPr/>
        </p:nvSpPr>
        <p:spPr>
          <a:xfrm>
            <a:off x="6864096" y="4279392"/>
            <a:ext cx="4864608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0070C0"/>
                </a:solidFill>
              </a:rPr>
              <a:t>F-tests: </a:t>
            </a:r>
          </a:p>
          <a:p>
            <a:r>
              <a:rPr lang="en-US" dirty="0"/>
              <a:t>where the null hypothesis is that two independent normal variances are equal, </a:t>
            </a:r>
          </a:p>
          <a:p>
            <a:r>
              <a:rPr lang="en-US" dirty="0"/>
              <a:t>and the observed sums of some appropriately selected squares are then examined to see whether their ratio is significantly incompatible with this null hypothesis.</a:t>
            </a:r>
          </a:p>
        </p:txBody>
      </p:sp>
    </p:spTree>
    <p:extLst>
      <p:ext uri="{BB962C8B-B14F-4D97-AF65-F5344CB8AC3E}">
        <p14:creationId xmlns:p14="http://schemas.microsoft.com/office/powerpoint/2010/main" val="3923933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06FA95A-A464-9640-836F-7DE7726AFB70}"/>
              </a:ext>
            </a:extLst>
          </p:cNvPr>
          <p:cNvSpPr txBox="1"/>
          <p:nvPr/>
        </p:nvSpPr>
        <p:spPr>
          <a:xfrm>
            <a:off x="34581" y="41145"/>
            <a:ext cx="55048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0070C0"/>
                </a:solidFill>
              </a:rPr>
              <a:t>ANOVA</a:t>
            </a:r>
            <a:r>
              <a:rPr lang="en-US" sz="2800" b="1" dirty="0"/>
              <a:t> = Analysis of Variance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A24D50C-3DCC-8A44-A7EA-74F9711DBFA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19456" y="538256"/>
            <a:ext cx="1328928" cy="156057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94D0D4E-BAF6-5E49-9CA5-7416D6584A00}"/>
              </a:ext>
            </a:extLst>
          </p:cNvPr>
          <p:cNvSpPr txBox="1"/>
          <p:nvPr/>
        </p:nvSpPr>
        <p:spPr>
          <a:xfrm>
            <a:off x="0" y="2119963"/>
            <a:ext cx="212140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Ronald Fisher 1890-1962</a:t>
            </a:r>
          </a:p>
          <a:p>
            <a:r>
              <a:rPr lang="en-US" sz="1200" dirty="0"/>
              <a:t>British. Developed the analysis of variance </a:t>
            </a:r>
            <a:r>
              <a:rPr lang="en-US" sz="1200" b="1" dirty="0">
                <a:solidFill>
                  <a:srgbClr val="0070C0"/>
                </a:solidFill>
              </a:rPr>
              <a:t>ANOVA (1925)</a:t>
            </a:r>
            <a:endParaRPr lang="en-US" sz="1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9AA36CA-9AC2-8345-9CF2-9725F292AC7C}"/>
              </a:ext>
            </a:extLst>
          </p:cNvPr>
          <p:cNvSpPr txBox="1"/>
          <p:nvPr/>
        </p:nvSpPr>
        <p:spPr>
          <a:xfrm>
            <a:off x="2227490" y="842691"/>
            <a:ext cx="703080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 its simplest form, </a:t>
            </a:r>
            <a:r>
              <a:rPr lang="en-US" b="1" dirty="0">
                <a:solidFill>
                  <a:srgbClr val="0070C0"/>
                </a:solidFill>
              </a:rPr>
              <a:t>ANOVA</a:t>
            </a:r>
            <a:r>
              <a:rPr lang="en-US" dirty="0"/>
              <a:t> provides a statistical test of </a:t>
            </a:r>
            <a:r>
              <a:rPr lang="en-US" dirty="0">
                <a:solidFill>
                  <a:srgbClr val="0070C0"/>
                </a:solidFill>
              </a:rPr>
              <a:t>whether two or more </a:t>
            </a:r>
            <a:r>
              <a:rPr lang="en-US" dirty="0">
                <a:solidFill>
                  <a:srgbClr val="00B050"/>
                </a:solidFill>
              </a:rPr>
              <a:t>population means </a:t>
            </a:r>
            <a:r>
              <a:rPr lang="en-US" dirty="0">
                <a:solidFill>
                  <a:srgbClr val="0070C0"/>
                </a:solidFill>
              </a:rPr>
              <a:t>are equal</a:t>
            </a:r>
            <a:r>
              <a:rPr lang="en-US" dirty="0"/>
              <a:t>, and therefore </a:t>
            </a:r>
            <a:r>
              <a:rPr lang="en-US" dirty="0">
                <a:solidFill>
                  <a:srgbClr val="0070C0"/>
                </a:solidFill>
              </a:rPr>
              <a:t>generalizes the t-test beyond two means.</a:t>
            </a:r>
            <a:endParaRPr lang="en-US" dirty="0"/>
          </a:p>
          <a:p>
            <a:r>
              <a:rPr lang="en-US" dirty="0"/>
              <a:t>The observed variance in a particular variable is partitioned into component.</a:t>
            </a:r>
          </a:p>
          <a:p>
            <a:r>
              <a:rPr lang="en-US" dirty="0"/>
              <a:t>- </a:t>
            </a:r>
            <a:r>
              <a:rPr lang="en-US" dirty="0">
                <a:hlinkClick r:id="rId3"/>
              </a:rPr>
              <a:t>https://en.wikipedia.org/wiki/Analysis_of_variance</a:t>
            </a:r>
            <a:r>
              <a:rPr lang="en-US" dirty="0"/>
              <a:t>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2869F80-7F41-AF4D-8ABB-D89D41245DB3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19245" y="0"/>
            <a:ext cx="2672755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9C15102-BE75-5A48-89D8-06C6582D875D}"/>
              </a:ext>
            </a:extLst>
          </p:cNvPr>
          <p:cNvSpPr txBox="1"/>
          <p:nvPr/>
        </p:nvSpPr>
        <p:spPr>
          <a:xfrm>
            <a:off x="0" y="3902363"/>
            <a:ext cx="8540231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ANOVA</a:t>
            </a:r>
            <a:r>
              <a:rPr lang="en-US" dirty="0"/>
              <a:t> is the synthesis of several ideas and it is used for multiple purposes.</a:t>
            </a:r>
            <a:br>
              <a:rPr lang="en-US" dirty="0"/>
            </a:br>
            <a:r>
              <a:rPr lang="en-US" dirty="0"/>
              <a:t>As a consequence, it is difficult to define concisely or precisely.</a:t>
            </a:r>
          </a:p>
          <a:p>
            <a:endParaRPr lang="en-US" dirty="0"/>
          </a:p>
          <a:p>
            <a:r>
              <a:rPr lang="en-US" dirty="0"/>
              <a:t>"Classical" </a:t>
            </a:r>
            <a:r>
              <a:rPr lang="en-US" b="1" dirty="0">
                <a:solidFill>
                  <a:srgbClr val="0070C0"/>
                </a:solidFill>
              </a:rPr>
              <a:t>ANOVA</a:t>
            </a:r>
            <a:r>
              <a:rPr lang="en-US" dirty="0"/>
              <a:t> for balanced data does three things at once: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Uses additive data decomposition for exploratory data analysis. </a:t>
            </a:r>
            <a:br>
              <a:rPr lang="en-US" dirty="0"/>
            </a:br>
            <a:r>
              <a:rPr lang="en-US" dirty="0"/>
              <a:t>Uses sums of squares to indicate the variance of each component of the decomposition.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Comparisons of mean squares, along with an F-test ... allow testing of a nested sequence of models.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Closely related to the </a:t>
            </a:r>
            <a:r>
              <a:rPr lang="en-US" b="1" dirty="0">
                <a:solidFill>
                  <a:srgbClr val="0070C0"/>
                </a:solidFill>
              </a:rPr>
              <a:t>ANOVA</a:t>
            </a:r>
            <a:r>
              <a:rPr lang="en-US" dirty="0"/>
              <a:t> is a linear model fit with coefficient estimates and standard errors.</a:t>
            </a:r>
          </a:p>
          <a:p>
            <a:endParaRPr lang="en-US" dirty="0"/>
          </a:p>
          <a:p>
            <a:r>
              <a:rPr lang="en-US" dirty="0"/>
              <a:t>Additionally, </a:t>
            </a:r>
            <a:r>
              <a:rPr lang="en-US" b="1" dirty="0">
                <a:solidFill>
                  <a:srgbClr val="0070C0"/>
                </a:solidFill>
              </a:rPr>
              <a:t>ANOVA </a:t>
            </a:r>
            <a:r>
              <a:rPr lang="en-US" dirty="0"/>
              <a:t>: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is computationally elegant and relatively robust against violations of its assumptions.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provides strong (multiple sample comparison) statistical analysis.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has been adapted to the analysis of a variety of experimental designs.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447DAF9-7749-4446-924A-F0DE20619A0B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919244" y="117733"/>
            <a:ext cx="1749230" cy="63901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56DDD30-6F6F-F44C-A3E0-4232C8EDB313}"/>
              </a:ext>
            </a:extLst>
          </p:cNvPr>
          <p:cNvSpPr txBox="1"/>
          <p:nvPr/>
        </p:nvSpPr>
        <p:spPr>
          <a:xfrm>
            <a:off x="7450469" y="3599628"/>
            <a:ext cx="1470991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Variance Between</a:t>
            </a:r>
          </a:p>
          <a:p>
            <a:pPr algn="ctr"/>
            <a:r>
              <a:rPr lang="en-US" dirty="0"/>
              <a:t>--------------------</a:t>
            </a:r>
          </a:p>
          <a:p>
            <a:pPr algn="ctr"/>
            <a:r>
              <a:rPr lang="en-US" dirty="0"/>
              <a:t>Variance</a:t>
            </a:r>
          </a:p>
          <a:p>
            <a:pPr algn="ctr"/>
            <a:r>
              <a:rPr lang="en-US" dirty="0"/>
              <a:t>Within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8932007-90EA-9246-8DF1-F535C57E65EC}"/>
              </a:ext>
            </a:extLst>
          </p:cNvPr>
          <p:cNvSpPr/>
          <p:nvPr/>
        </p:nvSpPr>
        <p:spPr>
          <a:xfrm>
            <a:off x="7437217" y="3357529"/>
            <a:ext cx="1557197" cy="1557197"/>
          </a:xfrm>
          <a:prstGeom prst="ellipse">
            <a:avLst/>
          </a:prstGeom>
          <a:solidFill>
            <a:schemeClr val="accent1">
              <a:alpha val="9000"/>
            </a:schemeClr>
          </a:solidFill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302D4DA-AD4A-3644-958D-2902C36DEBF0}"/>
              </a:ext>
            </a:extLst>
          </p:cNvPr>
          <p:cNvSpPr txBox="1"/>
          <p:nvPr/>
        </p:nvSpPr>
        <p:spPr>
          <a:xfrm>
            <a:off x="2227489" y="1937845"/>
            <a:ext cx="703080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One-way ANOVA</a:t>
            </a:r>
            <a:r>
              <a:rPr lang="en-US" dirty="0"/>
              <a:t> - compare means of two or more samples (using the F distribution). </a:t>
            </a:r>
          </a:p>
          <a:p>
            <a:r>
              <a:rPr lang="en-US" dirty="0"/>
              <a:t>Response data "Y" (numerical) and input data "X" (numerical or categorical)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6D38076-2431-9249-97F6-D9F98406D8AB}"/>
              </a:ext>
            </a:extLst>
          </p:cNvPr>
          <p:cNvSpPr txBox="1"/>
          <p:nvPr/>
        </p:nvSpPr>
        <p:spPr>
          <a:xfrm>
            <a:off x="2229982" y="2499554"/>
            <a:ext cx="70485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Two-way ANOVA </a:t>
            </a:r>
            <a:r>
              <a:rPr lang="en-US" dirty="0"/>
              <a:t>is an extension of the one-way ANOVA that examines the influence of two different categorical independent variables (X1, X2) on one continuous dependent variable "Y". Goal - assess the main effect of each independent variable and assess if there is any interaction between them.</a:t>
            </a:r>
          </a:p>
        </p:txBody>
      </p:sp>
    </p:spTree>
    <p:extLst>
      <p:ext uri="{BB962C8B-B14F-4D97-AF65-F5344CB8AC3E}">
        <p14:creationId xmlns:p14="http://schemas.microsoft.com/office/powerpoint/2010/main" val="21864162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4089F3D-EFD8-1547-B43B-C1472E956605}"/>
              </a:ext>
            </a:extLst>
          </p:cNvPr>
          <p:cNvSpPr txBox="1"/>
          <p:nvPr/>
        </p:nvSpPr>
        <p:spPr>
          <a:xfrm>
            <a:off x="190500" y="241300"/>
            <a:ext cx="5245100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ANOVA – Multilevel model</a:t>
            </a:r>
          </a:p>
          <a:p>
            <a:endParaRPr lang="en-US" dirty="0"/>
          </a:p>
          <a:p>
            <a:r>
              <a:rPr lang="en-US" dirty="0">
                <a:hlinkClick r:id="rId2"/>
              </a:rPr>
              <a:t>https://en.wikipedia.org/wiki/Multilevel_model</a:t>
            </a:r>
            <a:endParaRPr lang="en-US" dirty="0"/>
          </a:p>
          <a:p>
            <a:endParaRPr lang="en-US" dirty="0"/>
          </a:p>
          <a:p>
            <a:r>
              <a:rPr lang="en-US" dirty="0"/>
              <a:t>Multilevel models, a.k.a.: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hierarchical linear models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linear mixed-effect model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mixed models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nested data models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random coefficient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random-effects models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random parameter models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split-plot designs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7C8C6B-30E1-7343-832D-E1695F1777CC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67289" y="43701"/>
            <a:ext cx="3886200" cy="23876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FE86768-22E0-7A4D-AA01-084F32D8384E}"/>
              </a:ext>
            </a:extLst>
          </p:cNvPr>
          <p:cNvSpPr txBox="1"/>
          <p:nvPr/>
        </p:nvSpPr>
        <p:spPr>
          <a:xfrm>
            <a:off x="0" y="4465982"/>
            <a:ext cx="11047343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Multilevel models can be used as an alternative to </a:t>
            </a:r>
            <a:r>
              <a:rPr lang="en-US" b="1" dirty="0">
                <a:solidFill>
                  <a:srgbClr val="0070C0"/>
                </a:solidFill>
              </a:rPr>
              <a:t>ANCOVA</a:t>
            </a:r>
            <a:r>
              <a:rPr lang="en-US" dirty="0"/>
              <a:t> (Analysis of Covariance). </a:t>
            </a:r>
          </a:p>
          <a:p>
            <a:r>
              <a:rPr lang="en-US" b="1" dirty="0">
                <a:solidFill>
                  <a:srgbClr val="0070C0"/>
                </a:solidFill>
              </a:rPr>
              <a:t>ANCOVA</a:t>
            </a:r>
            <a:r>
              <a:rPr lang="en-US" dirty="0"/>
              <a:t> blends ANOVA and regression. </a:t>
            </a:r>
            <a:br>
              <a:rPr lang="en-US" dirty="0"/>
            </a:br>
            <a:r>
              <a:rPr lang="en-US" b="1" dirty="0">
                <a:solidFill>
                  <a:srgbClr val="0070C0"/>
                </a:solidFill>
              </a:rPr>
              <a:t>ANCOVA</a:t>
            </a:r>
            <a:r>
              <a:rPr lang="en-US" dirty="0"/>
              <a:t> evaluates whether the means of a dependent variable </a:t>
            </a:r>
            <a:r>
              <a:rPr lang="en-US" b="1" dirty="0">
                <a:solidFill>
                  <a:srgbClr val="0070C0"/>
                </a:solidFill>
              </a:rPr>
              <a:t>"Y"</a:t>
            </a:r>
            <a:r>
              <a:rPr lang="en-US" dirty="0"/>
              <a:t> </a:t>
            </a:r>
          </a:p>
          <a:p>
            <a:r>
              <a:rPr lang="en-US" dirty="0"/>
              <a:t>are equal across levels of a categorical independent variable </a:t>
            </a:r>
            <a:r>
              <a:rPr lang="en-US" b="1" dirty="0">
                <a:solidFill>
                  <a:srgbClr val="0070C0"/>
                </a:solidFill>
              </a:rPr>
              <a:t>"X"</a:t>
            </a:r>
            <a:r>
              <a:rPr lang="en-US" dirty="0"/>
              <a:t> often called a treatment, </a:t>
            </a:r>
          </a:p>
          <a:p>
            <a:r>
              <a:rPr lang="en-US" dirty="0"/>
              <a:t>while statistically controlling for the effects of other continuous variables (a.k.a. covariates </a:t>
            </a:r>
            <a:r>
              <a:rPr lang="en-US" b="1" dirty="0">
                <a:solidFill>
                  <a:srgbClr val="0070C0"/>
                </a:solidFill>
              </a:rPr>
              <a:t>"CVs"</a:t>
            </a:r>
            <a:r>
              <a:rPr lang="en-US" dirty="0"/>
              <a:t> or nuisance variables). </a:t>
            </a:r>
          </a:p>
          <a:p>
            <a:endParaRPr lang="en-US" dirty="0"/>
          </a:p>
          <a:p>
            <a:r>
              <a:rPr lang="en-US" dirty="0"/>
              <a:t>Mathematically, </a:t>
            </a:r>
            <a:r>
              <a:rPr lang="en-US" b="1" dirty="0">
                <a:solidFill>
                  <a:srgbClr val="0070C0"/>
                </a:solidFill>
              </a:rPr>
              <a:t>ANCOVA</a:t>
            </a:r>
            <a:r>
              <a:rPr lang="en-US" dirty="0"/>
              <a:t> decomposes the variance in the </a:t>
            </a:r>
            <a:r>
              <a:rPr lang="en-US" b="1" dirty="0">
                <a:solidFill>
                  <a:srgbClr val="0070C0"/>
                </a:solidFill>
              </a:rPr>
              <a:t>"Y"</a:t>
            </a:r>
            <a:r>
              <a:rPr lang="en-US" dirty="0"/>
              <a:t> into variance explained by the </a:t>
            </a:r>
            <a:r>
              <a:rPr lang="en-US" b="1" dirty="0">
                <a:solidFill>
                  <a:srgbClr val="0070C0"/>
                </a:solidFill>
              </a:rPr>
              <a:t>CVs</a:t>
            </a:r>
            <a:r>
              <a:rPr lang="en-US" dirty="0"/>
              <a:t>, </a:t>
            </a:r>
          </a:p>
          <a:p>
            <a:r>
              <a:rPr lang="en-US" dirty="0"/>
              <a:t>variance explained by the categorical </a:t>
            </a:r>
            <a:r>
              <a:rPr lang="en-US" b="1" dirty="0">
                <a:solidFill>
                  <a:srgbClr val="0070C0"/>
                </a:solidFill>
              </a:rPr>
              <a:t>"X"</a:t>
            </a:r>
            <a:r>
              <a:rPr lang="en-US" dirty="0"/>
              <a:t>, and residual variance. </a:t>
            </a:r>
          </a:p>
          <a:p>
            <a:endParaRPr lang="en-US" dirty="0"/>
          </a:p>
          <a:p>
            <a:r>
              <a:rPr lang="en-US" dirty="0"/>
              <a:t>Intuitively, </a:t>
            </a:r>
            <a:r>
              <a:rPr lang="en-US" b="1" dirty="0">
                <a:solidFill>
                  <a:srgbClr val="0070C0"/>
                </a:solidFill>
              </a:rPr>
              <a:t>ANCOVA</a:t>
            </a:r>
            <a:r>
              <a:rPr lang="en-US" dirty="0"/>
              <a:t> can be thought of as 'adjusting' the </a:t>
            </a:r>
            <a:r>
              <a:rPr lang="en-US" b="1" dirty="0">
                <a:solidFill>
                  <a:srgbClr val="0070C0"/>
                </a:solidFill>
              </a:rPr>
              <a:t>"Y"</a:t>
            </a:r>
            <a:r>
              <a:rPr lang="en-US" dirty="0"/>
              <a:t> by the group means of the </a:t>
            </a:r>
            <a:r>
              <a:rPr lang="en-US" b="1" dirty="0">
                <a:solidFill>
                  <a:srgbClr val="0070C0"/>
                </a:solidFill>
              </a:rPr>
              <a:t>CVs</a:t>
            </a:r>
            <a:r>
              <a:rPr lang="en-US" dirty="0"/>
              <a:t>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79F76E7-4CB6-AD42-A163-A516D79DEA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3457" y="2628900"/>
            <a:ext cx="5852044" cy="1639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04646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907E199-707A-CC4C-BC60-0587CD338441}"/>
              </a:ext>
            </a:extLst>
          </p:cNvPr>
          <p:cNvSpPr txBox="1"/>
          <p:nvPr/>
        </p:nvSpPr>
        <p:spPr>
          <a:xfrm>
            <a:off x="0" y="0"/>
            <a:ext cx="581315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Fisher Exact Test</a:t>
            </a:r>
          </a:p>
          <a:p>
            <a:endParaRPr lang="en-US" dirty="0"/>
          </a:p>
          <a:p>
            <a:r>
              <a:rPr lang="en-US" dirty="0"/>
              <a:t>From Fisher's book "The Design of Experiments" (1935)</a:t>
            </a:r>
          </a:p>
          <a:p>
            <a:r>
              <a:rPr lang="en-US" dirty="0"/>
              <a:t>Lady Tasting Tea example in 2</a:t>
            </a:r>
            <a:r>
              <a:rPr lang="en-US" baseline="30000" dirty="0"/>
              <a:t>nd</a:t>
            </a:r>
            <a:r>
              <a:rPr lang="en-US" dirty="0"/>
              <a:t> chapter</a:t>
            </a:r>
          </a:p>
          <a:p>
            <a:r>
              <a:rPr lang="en-US" dirty="0"/>
              <a:t>Lady claimed that she ca distinguish between two types of cups of tea:</a:t>
            </a:r>
          </a:p>
          <a:p>
            <a:pPr marL="342900" lvl="2" indent="-342900">
              <a:buFont typeface="+mj-lt"/>
              <a:buAutoNum type="arabicPeriod"/>
            </a:pPr>
            <a:r>
              <a:rPr lang="en-US" dirty="0"/>
              <a:t>tea added first, then milk </a:t>
            </a:r>
          </a:p>
          <a:p>
            <a:pPr marL="342900" lvl="2" indent="-342900">
              <a:buFont typeface="+mj-lt"/>
              <a:buAutoNum type="arabicPeriod"/>
            </a:pPr>
            <a:r>
              <a:rPr lang="en-US" dirty="0"/>
              <a:t>milk added first, then tea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2FD4C1F-2702-B340-8DA1-DF943C6B9A71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111939" y="114168"/>
            <a:ext cx="1328928" cy="156057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68BE8A6-DEF2-2F4F-8ECB-4C98B4CB4646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52067" y="114168"/>
            <a:ext cx="2057400" cy="31623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FD10B43-21A6-C744-9231-1DE562B04160}"/>
              </a:ext>
            </a:extLst>
          </p:cNvPr>
          <p:cNvSpPr txBox="1"/>
          <p:nvPr/>
        </p:nvSpPr>
        <p:spPr>
          <a:xfrm>
            <a:off x="6662714" y="3276468"/>
            <a:ext cx="63610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1935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D65F751-575C-1147-9ACF-29EC093325AF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992669" y="1812235"/>
            <a:ext cx="1616964" cy="215595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B262F87-EF03-154A-A646-9D5F0AD8FB4F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992669" y="4105678"/>
            <a:ext cx="1640127" cy="227274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F32AC49-0C9E-C542-94B5-530359570201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86718" y="3968187"/>
            <a:ext cx="2667000" cy="27432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0B906DE-487F-7649-8B8A-22FA97022642}"/>
              </a:ext>
            </a:extLst>
          </p:cNvPr>
          <p:cNvPicPr>
            <a:picLocks noChangeAspect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47912" y="2100903"/>
            <a:ext cx="2104820" cy="1578615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392B64A-152E-EB4A-9DAB-8134D56771BC}"/>
              </a:ext>
            </a:extLst>
          </p:cNvPr>
          <p:cNvSpPr txBox="1"/>
          <p:nvPr/>
        </p:nvSpPr>
        <p:spPr>
          <a:xfrm>
            <a:off x="97999" y="4216178"/>
            <a:ext cx="5813155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Author introduces the concept of "null hypothesis"</a:t>
            </a:r>
          </a:p>
          <a:p>
            <a:endParaRPr lang="en-US" dirty="0"/>
          </a:p>
          <a:p>
            <a:r>
              <a:rPr lang="en-US" dirty="0"/>
              <a:t>Experiment: given 4 cups of type 1 and 4 cups of type 2.</a:t>
            </a:r>
          </a:p>
          <a:p>
            <a:r>
              <a:rPr lang="en-US" dirty="0"/>
              <a:t>They look the same.</a:t>
            </a:r>
          </a:p>
          <a:p>
            <a:r>
              <a:rPr lang="en-US" dirty="0"/>
              <a:t>Lady tests them and labels the "milk first" ones.</a:t>
            </a:r>
          </a:p>
          <a:p>
            <a:endParaRPr lang="en-US" dirty="0"/>
          </a:p>
          <a:p>
            <a:r>
              <a:rPr lang="en-US" b="1" dirty="0">
                <a:solidFill>
                  <a:srgbClr val="FF0000"/>
                </a:solidFill>
              </a:rPr>
              <a:t>The test is called "exact" because Fisher demonstrates how in this case he can calculate exact probability of each outcome.</a:t>
            </a:r>
          </a:p>
          <a:p>
            <a:endParaRPr lang="en-US" dirty="0"/>
          </a:p>
          <a:p>
            <a:r>
              <a:rPr lang="en-US" dirty="0"/>
              <a:t>If she guessed 3 out of 4, the probability is 0.22 – not good</a:t>
            </a:r>
          </a:p>
          <a:p>
            <a:r>
              <a:rPr lang="en-US" dirty="0"/>
              <a:t>If she guessed 4 out of 4 – the probability is 1/70 &lt; 0.05 - good</a:t>
            </a:r>
          </a:p>
        </p:txBody>
      </p:sp>
    </p:spTree>
    <p:extLst>
      <p:ext uri="{BB962C8B-B14F-4D97-AF65-F5344CB8AC3E}">
        <p14:creationId xmlns:p14="http://schemas.microsoft.com/office/powerpoint/2010/main" val="15295901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2860</TotalTime>
  <Words>781</Words>
  <Application>Microsoft Macintosh PowerPoint</Application>
  <PresentationFormat>Widescreen</PresentationFormat>
  <Paragraphs>83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Lev Selector</cp:lastModifiedBy>
  <cp:revision>281</cp:revision>
  <cp:lastPrinted>2020-09-21T17:22:59Z</cp:lastPrinted>
  <dcterms:modified xsi:type="dcterms:W3CDTF">2020-10-14T02:09:12Z</dcterms:modified>
</cp:coreProperties>
</file>