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2"/>
  </p:notesMasterIdLst>
  <p:sldIdLst>
    <p:sldId id="256" r:id="rId2"/>
    <p:sldId id="263" r:id="rId3"/>
    <p:sldId id="292" r:id="rId4"/>
    <p:sldId id="291" r:id="rId5"/>
    <p:sldId id="257" r:id="rId6"/>
    <p:sldId id="258" r:id="rId7"/>
    <p:sldId id="260" r:id="rId8"/>
    <p:sldId id="293" r:id="rId9"/>
    <p:sldId id="294" r:id="rId10"/>
    <p:sldId id="262" r:id="rId1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811"/>
    <p:restoredTop sz="94725"/>
  </p:normalViewPr>
  <p:slideViewPr>
    <p:cSldViewPr snapToGrid="0">
      <p:cViewPr varScale="1">
        <p:scale>
          <a:sx n="81" d="100"/>
          <a:sy n="81" d="100"/>
        </p:scale>
        <p:origin x="208" y="7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51070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24301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96740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860595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www.youtube.com/watch?v=p60-Jdq754A" TargetMode="External"/><Relationship Id="rId2" Type="http://schemas.openxmlformats.org/officeDocument/2006/relationships/hyperlink" Target="https://www.youtube.com/watch?v=B3YQJ5DwTzM" TargetMode="External"/><Relationship Id="rId1" Type="http://schemas.openxmlformats.org/officeDocument/2006/relationships/slideLayout" Target="../slideLayouts/slideLayout2.xml"/><Relationship Id="rId6" Type="http://schemas.openxmlformats.org/officeDocument/2006/relationships/image" Target="../media/image4.tiff"/><Relationship Id="rId5" Type="http://schemas.openxmlformats.org/officeDocument/2006/relationships/hyperlink" Target="https://www.youtube.com/watch?v=y8qaI5mpJeA" TargetMode="External"/><Relationship Id="rId4" Type="http://schemas.openxmlformats.org/officeDocument/2006/relationships/hyperlink" Target="https://www.youtube.com/watch?v=Gi4YeRqfb24"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hyperlink" Target="https://www.youtube.com/watch?v=R6d-AbkhBQ8"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CPqOCI0ahs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0.tiff"/><Relationship Id="rId4" Type="http://schemas.openxmlformats.org/officeDocument/2006/relationships/hyperlink" Target="https://www.geeksforgeeks.org/naive-bayes-classifiers/"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hyperlink" Target="https://github.com/fmfn/BayesianOptimization" TargetMode="External"/><Relationship Id="rId4" Type="http://schemas.openxmlformats.org/officeDocument/2006/relationships/hyperlink" Target="https://towardsdatascience.com/hyperparameter-optimization-in-gradient-boosting-packages-with-bayesian-optimization-aaf1b27e7b90"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www.youtube.com/watch?v=KhAUfqhLakw" TargetMode="External"/><Relationship Id="rId1" Type="http://schemas.openxmlformats.org/officeDocument/2006/relationships/slideLayout" Target="../slideLayouts/slideLayout2.xml"/><Relationship Id="rId6" Type="http://schemas.openxmlformats.org/officeDocument/2006/relationships/image" Target="../media/image17.tiff"/><Relationship Id="rId5" Type="http://schemas.openxmlformats.org/officeDocument/2006/relationships/image" Target="../media/image16.png"/><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88" name="Google Shape;88;p13"/>
              <p:cNvSpPr txBox="1"/>
              <p:nvPr/>
            </p:nvSpPr>
            <p:spPr>
              <a:xfrm>
                <a:off x="46886" y="1208258"/>
                <a:ext cx="6187097" cy="245048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r>
                  <a:rPr lang="en-US" sz="2000" b="0" i="0" u="none" strike="noStrike" cap="none" dirty="0">
                    <a:solidFill>
                      <a:schemeClr val="dk1"/>
                    </a:solidFill>
                    <a:latin typeface="Calibri"/>
                    <a:ea typeface="Calibri"/>
                    <a:cs typeface="Calibri"/>
                    <a:sym typeface="Calibri"/>
                  </a:rPr>
                  <a:t>(conditional probability)</a:t>
                </a:r>
              </a:p>
              <a:p>
                <a:pPr marL="0" marR="0" lvl="0" indent="0" algn="l" rtl="0">
                  <a:spcBef>
                    <a:spcPts val="0"/>
                  </a:spcBef>
                  <a:spcAft>
                    <a:spcPts val="0"/>
                  </a:spcAft>
                  <a:buNone/>
                </a:pPr>
                <a:endParaRPr lang="en-US" sz="12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r>
                  <a:rPr lang="en-US" sz="2000" dirty="0">
                    <a:solidFill>
                      <a:schemeClr val="dk1"/>
                    </a:solidFill>
                    <a:latin typeface="Calibri"/>
                    <a:cs typeface="Calibri"/>
                    <a:sym typeface="Calibri"/>
                  </a:rPr>
                  <a:t>or</a:t>
                </a:r>
              </a:p>
              <a:p>
                <a:pPr algn="ctr"/>
                <a:r>
                  <a:rPr lang="en-US" sz="2000" dirty="0">
                    <a:solidFill>
                      <a:schemeClr val="dk1"/>
                    </a:solidFill>
                    <a:latin typeface="Calibri"/>
                    <a:cs typeface="Calibri"/>
                    <a:sym typeface="Calibri"/>
                  </a:rPr>
                  <a:t>     </a:t>
                </a:r>
                <a14:m>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oMath>
                </a14:m>
                <a:endParaRPr lang="en-US" dirty="0"/>
              </a:p>
              <a:p>
                <a:pPr marL="0" marR="0" lvl="0" indent="0" algn="l" rtl="0">
                  <a:spcBef>
                    <a:spcPts val="0"/>
                  </a:spcBef>
                  <a:spcAft>
                    <a:spcPts val="0"/>
                  </a:spcAft>
                  <a:buNone/>
                </a:pPr>
                <a:endParaRPr lang="en-US" sz="1200" dirty="0">
                  <a:solidFill>
                    <a:schemeClr val="dk1"/>
                  </a:solidFill>
                  <a:latin typeface="Calibri"/>
                  <a:cs typeface="Calibri"/>
                  <a:sym typeface="Calibri"/>
                </a:endParaRPr>
              </a:p>
              <a:p>
                <a:pPr marL="0" marR="0" lvl="0" indent="0" algn="l" rtl="0">
                  <a:spcBef>
                    <a:spcPts val="0"/>
                  </a:spcBef>
                  <a:spcAft>
                    <a:spcPts val="0"/>
                  </a:spcAft>
                  <a:buNone/>
                </a:pPr>
                <a:r>
                  <a:rPr lang="en-US" sz="2400" b="0" i="0" u="none" strike="noStrike" cap="none" dirty="0">
                    <a:solidFill>
                      <a:schemeClr val="dk1"/>
                    </a:solidFill>
                    <a:latin typeface="Calibri"/>
                    <a:ea typeface="Calibri"/>
                    <a:cs typeface="Calibri"/>
                    <a:sym typeface="Calibri"/>
                  </a:rPr>
                  <a:t>where A and B are events, and P(B) not equal 0.</a:t>
                </a:r>
                <a:endParaRPr sz="2400" b="0" i="0" u="none" strike="noStrike" cap="none" dirty="0">
                  <a:solidFill>
                    <a:schemeClr val="dk1"/>
                  </a:solidFill>
                  <a:latin typeface="Calibri"/>
                  <a:ea typeface="Calibri"/>
                  <a:cs typeface="Calibri"/>
                  <a:sym typeface="Calibri"/>
                </a:endParaRPr>
              </a:p>
            </p:txBody>
          </p:sp>
        </mc:Choice>
        <mc:Fallback>
          <p:sp>
            <p:nvSpPr>
              <p:cNvPr id="88" name="Google Shape;88;p13"/>
              <p:cNvSpPr txBox="1">
                <a:spLocks noRot="1" noChangeAspect="1" noMove="1" noResize="1" noEditPoints="1" noAdjustHandles="1" noChangeArrowheads="1" noChangeShapeType="1" noTextEdit="1"/>
              </p:cNvSpPr>
              <p:nvPr/>
            </p:nvSpPr>
            <p:spPr>
              <a:xfrm>
                <a:off x="46886" y="1208258"/>
                <a:ext cx="6187097" cy="2450487"/>
              </a:xfrm>
              <a:prstGeom prst="rect">
                <a:avLst/>
              </a:prstGeom>
              <a:blipFill>
                <a:blip r:embed="rId3"/>
                <a:stretch>
                  <a:fillRect l="-2028" t="-2010" b="-1005"/>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
        <p:nvSpPr>
          <p:cNvPr id="89" name="Google Shape;89;p13"/>
          <p:cNvSpPr txBox="1"/>
          <p:nvPr/>
        </p:nvSpPr>
        <p:spPr>
          <a:xfrm>
            <a:off x="4800731" y="4169514"/>
            <a:ext cx="4378046" cy="24820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Calibri"/>
                <a:cs typeface="Calibri"/>
                <a:sym typeface="Calibri"/>
              </a:rPr>
              <a:t>A = Happy, B = Rich</a:t>
            </a:r>
            <a:endParaRPr dirty="0"/>
          </a:p>
          <a:p>
            <a:pPr marL="0" marR="0" lvl="0" indent="0" algn="l" rtl="0">
              <a:spcBef>
                <a:spcPts val="0"/>
              </a:spcBef>
              <a:spcAft>
                <a:spcPts val="0"/>
              </a:spcAft>
              <a:buNone/>
            </a:pPr>
            <a:r>
              <a:rPr lang="en-US" dirty="0">
                <a:solidFill>
                  <a:schemeClr val="dk1"/>
                </a:solidFill>
                <a:latin typeface="Calibri"/>
                <a:ea typeface="Calibri"/>
                <a:cs typeface="Calibri"/>
                <a:sym typeface="Calibri"/>
              </a:rPr>
              <a:t>P(A) = 40% = probability of being happy (Yellow)</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P(B) = 5% = probability of being rich (Blue)</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P(B|A) = 10% = probability of being rich given that Happy</a:t>
            </a:r>
          </a:p>
          <a:p>
            <a:pPr lvl="0"/>
            <a:r>
              <a:rPr lang="en-US" dirty="0">
                <a:solidFill>
                  <a:schemeClr val="dk1"/>
                </a:solidFill>
                <a:latin typeface="Calibri"/>
                <a:ea typeface="Calibri"/>
                <a:cs typeface="Calibri"/>
                <a:sym typeface="Calibri"/>
              </a:rPr>
              <a:t>P(A|B) = 80% = probability of being happy given that rich</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Intersection:</a:t>
            </a:r>
          </a:p>
          <a:p>
            <a:r>
              <a:rPr lang="en-US" dirty="0">
                <a:solidFill>
                  <a:schemeClr val="dk1"/>
                </a:solidFill>
                <a:latin typeface="Calibri"/>
                <a:ea typeface="Calibri"/>
                <a:cs typeface="Calibri"/>
                <a:sym typeface="Calibri"/>
              </a:rPr>
              <a:t>P(A &amp; B) = 4% = probability of rich &amp; happy (Green)</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P(A|B)*P(B) = 80%*5% = 4%</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P(B|A)*P(A) = 10%*40% = 4%</a:t>
            </a:r>
          </a:p>
        </p:txBody>
      </p:sp>
      <p:sp>
        <p:nvSpPr>
          <p:cNvPr id="90" name="Google Shape;90;p13"/>
          <p:cNvSpPr txBox="1"/>
          <p:nvPr/>
        </p:nvSpPr>
        <p:spPr>
          <a:xfrm>
            <a:off x="93257" y="-77443"/>
            <a:ext cx="7972927" cy="9541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rgbClr val="0070C0"/>
                </a:solidFill>
                <a:latin typeface="Calibri"/>
                <a:ea typeface="Calibri"/>
                <a:cs typeface="Calibri"/>
                <a:sym typeface="Calibri"/>
              </a:rPr>
              <a:t>Bayesian inference - </a:t>
            </a:r>
            <a:r>
              <a:rPr lang="en-US" sz="2800" dirty="0">
                <a:solidFill>
                  <a:srgbClr val="0070C0"/>
                </a:solidFill>
                <a:latin typeface="Calibri"/>
                <a:ea typeface="Calibri"/>
                <a:cs typeface="Calibri"/>
                <a:sym typeface="Calibri"/>
              </a:rPr>
              <a:t>calculate probability</a:t>
            </a:r>
            <a:endParaRPr dirty="0"/>
          </a:p>
          <a:p>
            <a:pPr marL="0" marR="0" lvl="0" indent="0" algn="l" rtl="0">
              <a:spcBef>
                <a:spcPts val="0"/>
              </a:spcBef>
              <a:spcAft>
                <a:spcPts val="0"/>
              </a:spcAft>
              <a:buNone/>
            </a:pPr>
            <a:r>
              <a:rPr lang="en-US" sz="2800" dirty="0">
                <a:solidFill>
                  <a:srgbClr val="0070C0"/>
                </a:solidFill>
                <a:latin typeface="Calibri"/>
                <a:ea typeface="Calibri"/>
                <a:cs typeface="Calibri"/>
                <a:sym typeface="Calibri"/>
              </a:rPr>
              <a:t>following chains of dependencies or correlations</a:t>
            </a:r>
            <a:endParaRPr dirty="0"/>
          </a:p>
        </p:txBody>
      </p:sp>
      <p:sp>
        <p:nvSpPr>
          <p:cNvPr id="91" name="Google Shape;91;p13"/>
          <p:cNvSpPr txBox="1"/>
          <p:nvPr/>
        </p:nvSpPr>
        <p:spPr>
          <a:xfrm>
            <a:off x="10587787" y="2213811"/>
            <a:ext cx="1588170"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Thomas Bayes </a:t>
            </a:r>
            <a:br>
              <a:rPr lang="en-US" sz="1800">
                <a:solidFill>
                  <a:schemeClr val="dk1"/>
                </a:solidFill>
                <a:latin typeface="Calibri"/>
                <a:ea typeface="Calibri"/>
                <a:cs typeface="Calibri"/>
                <a:sym typeface="Calibri"/>
              </a:rPr>
            </a:br>
            <a:r>
              <a:rPr lang="en-US" sz="1800">
                <a:solidFill>
                  <a:schemeClr val="dk1"/>
                </a:solidFill>
                <a:latin typeface="Calibri"/>
                <a:ea typeface="Calibri"/>
                <a:cs typeface="Calibri"/>
                <a:sym typeface="Calibri"/>
              </a:rPr>
              <a:t>(1701–1761)</a:t>
            </a:r>
            <a:endParaRPr sz="1800">
              <a:solidFill>
                <a:schemeClr val="dk1"/>
              </a:solidFill>
              <a:latin typeface="Calibri"/>
              <a:ea typeface="Calibri"/>
              <a:cs typeface="Calibri"/>
              <a:sym typeface="Calibri"/>
            </a:endParaRPr>
          </a:p>
        </p:txBody>
      </p:sp>
      <p:pic>
        <p:nvPicPr>
          <p:cNvPr id="92" name="Google Shape;92;p1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351783" y="0"/>
            <a:ext cx="1818487" cy="2213811"/>
          </a:xfrm>
          <a:prstGeom prst="rect">
            <a:avLst/>
          </a:prstGeom>
          <a:noFill/>
          <a:ln>
            <a:noFill/>
          </a:ln>
        </p:spPr>
      </p:pic>
      <p:sp>
        <p:nvSpPr>
          <p:cNvPr id="96" name="Google Shape;96;p13"/>
          <p:cNvSpPr/>
          <p:nvPr/>
        </p:nvSpPr>
        <p:spPr>
          <a:xfrm>
            <a:off x="124872" y="4295617"/>
            <a:ext cx="4588042"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 name="Google Shape;97;p13"/>
          <p:cNvSpPr/>
          <p:nvPr/>
        </p:nvSpPr>
        <p:spPr>
          <a:xfrm>
            <a:off x="768355" y="4600417"/>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 name="Google Shape;98;p13"/>
          <p:cNvSpPr/>
          <p:nvPr/>
        </p:nvSpPr>
        <p:spPr>
          <a:xfrm>
            <a:off x="2944273" y="5032264"/>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 name="Google Shape;99;p13"/>
          <p:cNvSpPr txBox="1"/>
          <p:nvPr/>
        </p:nvSpPr>
        <p:spPr>
          <a:xfrm>
            <a:off x="1669819" y="5032264"/>
            <a:ext cx="1274454" cy="90093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Happy</a:t>
            </a:r>
            <a:endParaRPr sz="2000" b="1" dirty="0">
              <a:solidFill>
                <a:srgbClr val="FF0000"/>
              </a:solidFill>
              <a:latin typeface="Calibri"/>
              <a:ea typeface="Calibri"/>
              <a:cs typeface="Calibri"/>
              <a:sym typeface="Calibri"/>
            </a:endParaRPr>
          </a:p>
        </p:txBody>
      </p:sp>
      <p:sp>
        <p:nvSpPr>
          <p:cNvPr id="100" name="Google Shape;100;p13"/>
          <p:cNvSpPr txBox="1"/>
          <p:nvPr/>
        </p:nvSpPr>
        <p:spPr>
          <a:xfrm>
            <a:off x="3989078" y="5200812"/>
            <a:ext cx="727576" cy="75354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Rich</a:t>
            </a:r>
            <a:endParaRPr sz="2000" b="1" dirty="0">
              <a:solidFill>
                <a:srgbClr val="FF0000"/>
              </a:solidFill>
              <a:latin typeface="Calibri"/>
              <a:ea typeface="Calibri"/>
              <a:cs typeface="Calibri"/>
              <a:sym typeface="Calibri"/>
            </a:endParaRPr>
          </a:p>
        </p:txBody>
      </p:sp>
      <p:sp>
        <p:nvSpPr>
          <p:cNvPr id="101" name="Google Shape;101;p13"/>
          <p:cNvSpPr txBox="1"/>
          <p:nvPr/>
        </p:nvSpPr>
        <p:spPr>
          <a:xfrm>
            <a:off x="3294709" y="4278060"/>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All People</a:t>
            </a:r>
            <a:endParaRPr sz="2000" b="1" dirty="0">
              <a:solidFill>
                <a:srgbClr val="FF0000"/>
              </a:solidFill>
              <a:latin typeface="Calibri"/>
              <a:ea typeface="Calibri"/>
              <a:cs typeface="Calibri"/>
              <a:sym typeface="Calibri"/>
            </a:endParaRPr>
          </a:p>
        </p:txBody>
      </p:sp>
      <p:pic>
        <p:nvPicPr>
          <p:cNvPr id="17" name="Google Shape;102;p13">
            <a:extLst>
              <a:ext uri="{FF2B5EF4-FFF2-40B4-BE49-F238E27FC236}">
                <a16:creationId xmlns:a16="http://schemas.microsoft.com/office/drawing/2014/main" id="{5D5E0C1C-95DE-384B-AD65-D49C976EA70D}"/>
              </a:ext>
            </a:extLst>
          </p:cNvPr>
          <p:cNvPicPr preferRelativeResize="0"/>
          <p:nvPr/>
        </p:nvPicPr>
        <p:blipFill rotWithShape="1">
          <a:blip r:embed="rId5">
            <a:alphaModFix/>
          </a:blip>
          <a:srcRect/>
          <a:stretch/>
        </p:blipFill>
        <p:spPr>
          <a:xfrm>
            <a:off x="6903091" y="1553411"/>
            <a:ext cx="2946400" cy="660400"/>
          </a:xfrm>
          <a:prstGeom prst="rect">
            <a:avLst/>
          </a:prstGeom>
          <a:noFill/>
          <a:ln w="50800" cap="flat" cmpd="sng">
            <a:solidFill>
              <a:srgbClr val="00B050"/>
            </a:solidFill>
            <a:prstDash val="solid"/>
            <a:round/>
            <a:headEnd type="none" w="sm" len="sm"/>
            <a:tailEnd type="none" w="sm" len="sm"/>
          </a:ln>
        </p:spPr>
      </p:pic>
      <p:sp>
        <p:nvSpPr>
          <p:cNvPr id="4" name="TextBox 3">
            <a:extLst>
              <a:ext uri="{FF2B5EF4-FFF2-40B4-BE49-F238E27FC236}">
                <a16:creationId xmlns:a16="http://schemas.microsoft.com/office/drawing/2014/main" id="{23D95E1F-CDDC-4A4B-82A6-9F51C79D9ADF}"/>
              </a:ext>
            </a:extLst>
          </p:cNvPr>
          <p:cNvSpPr txBox="1"/>
          <p:nvPr/>
        </p:nvSpPr>
        <p:spPr>
          <a:xfrm>
            <a:off x="9397063" y="4569363"/>
            <a:ext cx="2670065"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Happy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|Rich |   4    |   1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36    |  59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Tree>
    <p:extLst>
      <p:ext uri="{BB962C8B-B14F-4D97-AF65-F5344CB8AC3E}">
        <p14:creationId xmlns:p14="http://schemas.microsoft.com/office/powerpoint/2010/main" val="531636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3FB964B-A29C-1649-A2C4-81BC78C24A50}"/>
              </a:ext>
            </a:extLst>
          </p:cNvPr>
          <p:cNvSpPr txBox="1"/>
          <p:nvPr/>
        </p:nvSpPr>
        <p:spPr>
          <a:xfrm>
            <a:off x="0" y="58846"/>
            <a:ext cx="5579165" cy="6740307"/>
          </a:xfrm>
          <a:prstGeom prst="rect">
            <a:avLst/>
          </a:prstGeom>
          <a:noFill/>
        </p:spPr>
        <p:txBody>
          <a:bodyPr wrap="square" rtlCol="0">
            <a:spAutoFit/>
          </a:bodyPr>
          <a:lstStyle/>
          <a:p>
            <a:r>
              <a:rPr lang="en-US" sz="2000" b="1" dirty="0"/>
              <a:t>Bayesian vs Frequentist</a:t>
            </a:r>
          </a:p>
          <a:p>
            <a:r>
              <a:rPr lang="en-US" sz="2000" b="1" dirty="0"/>
              <a:t>Survivorship Bias in World War 2</a:t>
            </a:r>
          </a:p>
          <a:p>
            <a:endParaRPr lang="en-US" dirty="0"/>
          </a:p>
          <a:p>
            <a:r>
              <a:rPr lang="en-US" dirty="0"/>
              <a:t>During World War II the US military's concluded that the most-hit areas of the plane needed additional armor.</a:t>
            </a:r>
          </a:p>
          <a:p>
            <a:r>
              <a:rPr lang="en-US" dirty="0"/>
              <a:t>But statistician Abraham Wald (Statistical Research Group (SRG) at Columbia University) has recommended adding armor to the areas that showed the least damage. His reasoning was that the sample didn't include the planes which were shot down.</a:t>
            </a:r>
          </a:p>
          <a:p>
            <a:endParaRPr lang="en-US" dirty="0"/>
          </a:p>
          <a:p>
            <a:r>
              <a:rPr lang="en-US" dirty="0"/>
              <a:t>It is dangerous to use data "as is" to create a model,</a:t>
            </a:r>
            <a:br>
              <a:rPr lang="en-US" dirty="0"/>
            </a:br>
            <a:r>
              <a:rPr lang="en-US" dirty="0"/>
              <a:t>because the data may be biased to start with,</a:t>
            </a:r>
            <a:br>
              <a:rPr lang="en-US" dirty="0"/>
            </a:br>
            <a:r>
              <a:rPr lang="en-US" dirty="0"/>
              <a:t>and it can easily lead to creating a biased model</a:t>
            </a:r>
            <a:br>
              <a:rPr lang="en-US" dirty="0"/>
            </a:br>
            <a:br>
              <a:rPr lang="en-US" dirty="0"/>
            </a:br>
            <a:r>
              <a:rPr lang="en-US" dirty="0"/>
              <a:t>Problem occur when we have:</a:t>
            </a:r>
            <a:br>
              <a:rPr lang="en-US" dirty="0"/>
            </a:br>
            <a:r>
              <a:rPr lang="en-US" dirty="0"/>
              <a:t> - under-represented features (missing data)</a:t>
            </a:r>
            <a:br>
              <a:rPr lang="en-US" dirty="0"/>
            </a:br>
            <a:r>
              <a:rPr lang="en-US" dirty="0"/>
              <a:t> - over-represented features,</a:t>
            </a:r>
            <a:br>
              <a:rPr lang="en-US" dirty="0"/>
            </a:br>
            <a:r>
              <a:rPr lang="en-US" dirty="0"/>
              <a:t> - "target leakage" effect.</a:t>
            </a:r>
            <a:br>
              <a:rPr lang="en-US" dirty="0"/>
            </a:br>
            <a:br>
              <a:rPr lang="en-US" dirty="0"/>
            </a:br>
            <a:r>
              <a:rPr lang="en-US" dirty="0"/>
              <a:t>Survivorship bias:</a:t>
            </a:r>
            <a:br>
              <a:rPr lang="en-US" dirty="0"/>
            </a:br>
            <a:r>
              <a:rPr lang="en-US" dirty="0"/>
              <a:t> - </a:t>
            </a:r>
            <a:r>
              <a:rPr lang="en-US" dirty="0">
                <a:hlinkClick r:id="rId2"/>
              </a:rPr>
              <a:t>https://www.youtube.com/watch?v=B3YQJ5DwTzM</a:t>
            </a:r>
            <a:r>
              <a:rPr lang="en-US" dirty="0"/>
              <a:t> </a:t>
            </a:r>
            <a:br>
              <a:rPr lang="en-US" dirty="0"/>
            </a:br>
            <a:br>
              <a:rPr lang="en-US" dirty="0"/>
            </a:br>
            <a:r>
              <a:rPr lang="en-US" dirty="0"/>
              <a:t>Gender Bias:</a:t>
            </a:r>
            <a:br>
              <a:rPr lang="en-US" dirty="0"/>
            </a:br>
            <a:r>
              <a:rPr lang="en-US" dirty="0"/>
              <a:t> - </a:t>
            </a:r>
            <a:r>
              <a:rPr lang="en-US" dirty="0">
                <a:hlinkClick r:id="rId3"/>
              </a:rPr>
              <a:t>https://www.youtube.com/watch?v=p60-Jdq754A</a:t>
            </a:r>
            <a:r>
              <a:rPr lang="en-US" dirty="0"/>
              <a:t> </a:t>
            </a:r>
            <a:br>
              <a:rPr lang="en-US" dirty="0"/>
            </a:br>
            <a:br>
              <a:rPr lang="en-US" dirty="0"/>
            </a:br>
            <a:r>
              <a:rPr lang="en-US" dirty="0"/>
              <a:t>Bias in criminal justice:</a:t>
            </a:r>
            <a:br>
              <a:rPr lang="en-US" dirty="0"/>
            </a:br>
            <a:r>
              <a:rPr lang="en-US" dirty="0"/>
              <a:t> - </a:t>
            </a:r>
            <a:r>
              <a:rPr lang="en-US" dirty="0">
                <a:hlinkClick r:id="rId4"/>
              </a:rPr>
              <a:t>https://www.youtube.com/watch?v=Gi4YeRqfb24</a:t>
            </a:r>
            <a:r>
              <a:rPr lang="en-US" dirty="0"/>
              <a:t> </a:t>
            </a:r>
            <a:br>
              <a:rPr lang="en-US" dirty="0"/>
            </a:br>
            <a:br>
              <a:rPr lang="en-US" dirty="0"/>
            </a:br>
            <a:r>
              <a:rPr lang="en-US" dirty="0"/>
              <a:t>Target Leakage:</a:t>
            </a:r>
            <a:br>
              <a:rPr lang="en-US" dirty="0"/>
            </a:br>
            <a:r>
              <a:rPr lang="en-US" dirty="0"/>
              <a:t> - </a:t>
            </a:r>
            <a:r>
              <a:rPr lang="en-US" dirty="0">
                <a:hlinkClick r:id="rId5"/>
              </a:rPr>
              <a:t>https://www.youtube.com/watch?v=y8qaI5mpJeA</a:t>
            </a:r>
            <a:r>
              <a:rPr lang="en-US" dirty="0"/>
              <a:t> </a:t>
            </a:r>
          </a:p>
        </p:txBody>
      </p:sp>
      <p:pic>
        <p:nvPicPr>
          <p:cNvPr id="6" name="Picture 5">
            <a:extLst>
              <a:ext uri="{FF2B5EF4-FFF2-40B4-BE49-F238E27FC236}">
                <a16:creationId xmlns:a16="http://schemas.microsoft.com/office/drawing/2014/main" id="{EA27DDEE-0422-6E4F-AC95-3AFA579C3DB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617056" y="225286"/>
            <a:ext cx="5429170" cy="3419062"/>
          </a:xfrm>
          <a:prstGeom prst="rect">
            <a:avLst/>
          </a:prstGeom>
        </p:spPr>
      </p:pic>
      <p:sp>
        <p:nvSpPr>
          <p:cNvPr id="5" name="Google Shape;93;p13">
            <a:extLst>
              <a:ext uri="{FF2B5EF4-FFF2-40B4-BE49-F238E27FC236}">
                <a16:creationId xmlns:a16="http://schemas.microsoft.com/office/drawing/2014/main" id="{F5066C6A-F841-BB4E-888A-251B4AF760F4}"/>
              </a:ext>
            </a:extLst>
          </p:cNvPr>
          <p:cNvSpPr txBox="1"/>
          <p:nvPr/>
        </p:nvSpPr>
        <p:spPr>
          <a:xfrm>
            <a:off x="6706366" y="4175048"/>
            <a:ext cx="5250549" cy="2457666"/>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b="1" dirty="0">
                <a:solidFill>
                  <a:schemeClr val="accent1"/>
                </a:solidFill>
                <a:latin typeface="Calibri" panose="020F0502020204030204" pitchFamily="34" charset="0"/>
                <a:cs typeface="Calibri" panose="020F0502020204030204" pitchFamily="34" charset="0"/>
                <a:sym typeface="Calibri"/>
              </a:rPr>
              <a:t>Frequentist interpretation of Bayes’ theorem.</a:t>
            </a:r>
            <a:endParaRPr b="1" dirty="0">
              <a:solidFill>
                <a:schemeClr val="accent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dirty="0">
                <a:solidFill>
                  <a:schemeClr val="dk1"/>
                </a:solidFill>
                <a:latin typeface="Calibri" panose="020F0502020204030204" pitchFamily="34" charset="0"/>
                <a:cs typeface="Calibri" panose="020F0502020204030204" pitchFamily="34" charset="0"/>
                <a:sym typeface="Calibri"/>
              </a:rPr>
              <a:t>Probability measures a proportion of outcomes.</a:t>
            </a:r>
            <a:endParaRPr dirty="0">
              <a:solidFill>
                <a:schemeClr val="dk1"/>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dirty="0">
                <a:solidFill>
                  <a:schemeClr val="dk1"/>
                </a:solidFill>
                <a:latin typeface="Calibri" panose="020F0502020204030204" pitchFamily="34" charset="0"/>
                <a:cs typeface="Calibri" panose="020F0502020204030204" pitchFamily="34" charset="0"/>
                <a:sym typeface="Calibri"/>
              </a:rPr>
              <a:t>P(A) is the proportion of outcomes with A,  P(B) – with B.</a:t>
            </a:r>
            <a:endParaRPr dirty="0">
              <a:solidFill>
                <a:schemeClr val="dk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dirty="0">
                <a:solidFill>
                  <a:schemeClr val="dk1"/>
                </a:solidFill>
                <a:latin typeface="Calibri" panose="020F0502020204030204" pitchFamily="34" charset="0"/>
                <a:cs typeface="Calibri" panose="020F0502020204030204" pitchFamily="34" charset="0"/>
                <a:sym typeface="Calibri"/>
              </a:rPr>
              <a:t>P(B|A) is the proportion of outcomes with property B </a:t>
            </a:r>
            <a:endParaRPr dirty="0">
              <a:solidFill>
                <a:schemeClr val="dk1"/>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dirty="0">
                <a:solidFill>
                  <a:schemeClr val="dk1"/>
                </a:solidFill>
                <a:latin typeface="Calibri" panose="020F0502020204030204" pitchFamily="34" charset="0"/>
                <a:cs typeface="Calibri" panose="020F0502020204030204" pitchFamily="34" charset="0"/>
                <a:sym typeface="Calibri"/>
              </a:rPr>
              <a:t>out of outcomes with property A.</a:t>
            </a:r>
          </a:p>
          <a:p>
            <a:pPr marL="0" marR="0" lvl="0" indent="0" algn="l" rtl="0">
              <a:spcBef>
                <a:spcPts val="0"/>
              </a:spcBef>
              <a:spcAft>
                <a:spcPts val="0"/>
              </a:spcAft>
              <a:buNone/>
            </a:pPr>
            <a:endParaRPr lang="en-US" dirty="0">
              <a:solidFill>
                <a:schemeClr val="dk1"/>
              </a:solidFill>
              <a:latin typeface="Calibri" panose="020F0502020204030204" pitchFamily="34" charset="0"/>
              <a:cs typeface="Calibri" panose="020F0502020204030204" pitchFamily="34" charset="0"/>
              <a:sym typeface="Calibri"/>
            </a:endParaRPr>
          </a:p>
          <a:p>
            <a:r>
              <a:rPr lang="en-US" b="1" dirty="0">
                <a:solidFill>
                  <a:schemeClr val="accent1"/>
                </a:solidFill>
                <a:latin typeface="Calibri" panose="020F0502020204030204" pitchFamily="34" charset="0"/>
                <a:cs typeface="Calibri" panose="020F0502020204030204" pitchFamily="34" charset="0"/>
                <a:sym typeface="Calibri"/>
              </a:rPr>
              <a:t>Bayesian interpretation of Bayes’ theorem.</a:t>
            </a:r>
            <a:endParaRPr lang="en-US" b="1" dirty="0">
              <a:solidFill>
                <a:schemeClr val="accent1"/>
              </a:solidFill>
              <a:latin typeface="Calibri" panose="020F0502020204030204" pitchFamily="34" charset="0"/>
              <a:cs typeface="Calibri" panose="020F0502020204030204" pitchFamily="34" charset="0"/>
            </a:endParaRPr>
          </a:p>
          <a:p>
            <a:pPr lvl="0"/>
            <a:r>
              <a:rPr lang="en-US" dirty="0">
                <a:solidFill>
                  <a:schemeClr val="dk1"/>
                </a:solidFill>
                <a:latin typeface="Calibri" panose="020F0502020204030204" pitchFamily="34" charset="0"/>
                <a:cs typeface="Calibri" panose="020F0502020204030204" pitchFamily="34" charset="0"/>
                <a:sym typeface="Calibri"/>
              </a:rPr>
              <a:t>Probability measures a degree of belief.</a:t>
            </a:r>
            <a:br>
              <a:rPr lang="en-US" dirty="0">
                <a:solidFill>
                  <a:schemeClr val="dk1"/>
                </a:solidFill>
                <a:latin typeface="Calibri" panose="020F0502020204030204" pitchFamily="34" charset="0"/>
                <a:cs typeface="Calibri" panose="020F0502020204030204" pitchFamily="34" charset="0"/>
                <a:sym typeface="Calibri"/>
              </a:rPr>
            </a:br>
            <a:r>
              <a:rPr lang="en-US" dirty="0">
                <a:solidFill>
                  <a:schemeClr val="dk1"/>
                </a:solidFill>
                <a:latin typeface="Calibri" panose="020F0502020204030204" pitchFamily="34" charset="0"/>
                <a:cs typeface="Calibri" panose="020F0502020204030204" pitchFamily="34" charset="0"/>
                <a:sym typeface="Calibri"/>
              </a:rPr>
              <a:t>P(A), the </a:t>
            </a:r>
            <a:r>
              <a:rPr lang="en-US" b="1" dirty="0">
                <a:solidFill>
                  <a:schemeClr val="accent1"/>
                </a:solidFill>
                <a:latin typeface="Calibri" panose="020F0502020204030204" pitchFamily="34" charset="0"/>
                <a:cs typeface="Calibri" panose="020F0502020204030204" pitchFamily="34" charset="0"/>
                <a:sym typeface="Calibri"/>
              </a:rPr>
              <a:t>prior</a:t>
            </a:r>
            <a:r>
              <a:rPr lang="en-US" dirty="0">
                <a:solidFill>
                  <a:schemeClr val="dk1"/>
                </a:solidFill>
                <a:latin typeface="Calibri" panose="020F0502020204030204" pitchFamily="34" charset="0"/>
                <a:cs typeface="Calibri" panose="020F0502020204030204" pitchFamily="34" charset="0"/>
                <a:sym typeface="Calibri"/>
              </a:rPr>
              <a:t>, is the initial degree of belief in A.</a:t>
            </a:r>
            <a:endParaRPr lang="en-US" dirty="0">
              <a:solidFill>
                <a:schemeClr val="dk1"/>
              </a:solidFill>
              <a:latin typeface="Calibri" panose="020F0502020204030204" pitchFamily="34" charset="0"/>
              <a:cs typeface="Calibri" panose="020F0502020204030204" pitchFamily="34" charset="0"/>
            </a:endParaRPr>
          </a:p>
          <a:p>
            <a:pPr lvl="0"/>
            <a:r>
              <a:rPr lang="en-US" dirty="0">
                <a:solidFill>
                  <a:schemeClr val="dk1"/>
                </a:solidFill>
                <a:latin typeface="Calibri" panose="020F0502020204030204" pitchFamily="34" charset="0"/>
                <a:cs typeface="Calibri" panose="020F0502020204030204" pitchFamily="34" charset="0"/>
                <a:sym typeface="Calibri"/>
              </a:rPr>
              <a:t>P(A|B), the </a:t>
            </a:r>
            <a:r>
              <a:rPr lang="en-US" b="1" dirty="0">
                <a:solidFill>
                  <a:schemeClr val="accent1"/>
                </a:solidFill>
                <a:latin typeface="Calibri" panose="020F0502020204030204" pitchFamily="34" charset="0"/>
                <a:cs typeface="Calibri" panose="020F0502020204030204" pitchFamily="34" charset="0"/>
                <a:sym typeface="Calibri"/>
              </a:rPr>
              <a:t>posterior</a:t>
            </a:r>
            <a:r>
              <a:rPr lang="en-US" dirty="0">
                <a:solidFill>
                  <a:schemeClr val="dk1"/>
                </a:solidFill>
                <a:latin typeface="Calibri" panose="020F0502020204030204" pitchFamily="34" charset="0"/>
                <a:cs typeface="Calibri" panose="020F0502020204030204" pitchFamily="34" charset="0"/>
                <a:sym typeface="Calibri"/>
              </a:rPr>
              <a:t>, is the degree of belief having accounted for B.</a:t>
            </a:r>
            <a:br>
              <a:rPr lang="en-US" dirty="0">
                <a:solidFill>
                  <a:schemeClr val="dk1"/>
                </a:solidFill>
                <a:latin typeface="Calibri" panose="020F0502020204030204" pitchFamily="34" charset="0"/>
                <a:cs typeface="Calibri" panose="020F0502020204030204" pitchFamily="34" charset="0"/>
                <a:sym typeface="Calibri"/>
              </a:rPr>
            </a:br>
            <a:r>
              <a:rPr lang="en-US" dirty="0">
                <a:solidFill>
                  <a:schemeClr val="dk1"/>
                </a:solidFill>
                <a:latin typeface="Calibri" panose="020F0502020204030204" pitchFamily="34" charset="0"/>
                <a:cs typeface="Calibri" panose="020F0502020204030204" pitchFamily="34" charset="0"/>
                <a:sym typeface="Calibri"/>
              </a:rPr>
              <a:t>P(B|A)/P(B) – represents the support B provides for A.</a:t>
            </a:r>
            <a:endParaRPr lang="en-US" dirty="0">
              <a:solidFill>
                <a:schemeClr val="dk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endParaRPr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746252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B32340-E706-FA41-BDA5-397606042A7E}"/>
              </a:ext>
            </a:extLst>
          </p:cNvPr>
          <p:cNvSpPr txBox="1"/>
          <p:nvPr/>
        </p:nvSpPr>
        <p:spPr>
          <a:xfrm>
            <a:off x="-1" y="37572"/>
            <a:ext cx="7901355" cy="523220"/>
          </a:xfrm>
          <a:prstGeom prst="rect">
            <a:avLst/>
          </a:prstGeom>
          <a:noFill/>
        </p:spPr>
        <p:txBody>
          <a:bodyPr wrap="square" rtlCol="0">
            <a:spAutoFit/>
          </a:bodyPr>
          <a:lstStyle/>
          <a:p>
            <a:r>
              <a:rPr lang="en-US" sz="2800" b="1" dirty="0"/>
              <a:t>Example – Coffee and Damaged Flash Drives</a:t>
            </a:r>
          </a:p>
        </p:txBody>
      </p:sp>
      <p:sp>
        <p:nvSpPr>
          <p:cNvPr id="3" name="TextBox 2">
            <a:extLst>
              <a:ext uri="{FF2B5EF4-FFF2-40B4-BE49-F238E27FC236}">
                <a16:creationId xmlns:a16="http://schemas.microsoft.com/office/drawing/2014/main" id="{2443CC5D-9378-E348-8505-A594E821478A}"/>
              </a:ext>
            </a:extLst>
          </p:cNvPr>
          <p:cNvSpPr txBox="1"/>
          <p:nvPr/>
        </p:nvSpPr>
        <p:spPr>
          <a:xfrm>
            <a:off x="141099" y="678252"/>
            <a:ext cx="4325394" cy="954107"/>
          </a:xfrm>
          <a:prstGeom prst="rect">
            <a:avLst/>
          </a:prstGeom>
          <a:noFill/>
          <a:ln w="63500">
            <a:solidFill>
              <a:schemeClr val="accent6">
                <a:lumMod val="40000"/>
                <a:lumOff val="60000"/>
              </a:schemeClr>
            </a:solidFill>
          </a:ln>
        </p:spPr>
        <p:txBody>
          <a:bodyPr wrap="square" rtlCol="0">
            <a:spAutoFit/>
          </a:bodyPr>
          <a:lstStyle/>
          <a:p>
            <a:r>
              <a:rPr lang="en-US" dirty="0"/>
              <a:t>We have 100 damaged flash drives, </a:t>
            </a:r>
          </a:p>
          <a:p>
            <a:r>
              <a:rPr lang="en-US" dirty="0"/>
              <a:t>80 of them have coffee stains on them.</a:t>
            </a:r>
          </a:p>
          <a:p>
            <a:endParaRPr lang="en-US" dirty="0"/>
          </a:p>
          <a:p>
            <a:r>
              <a:rPr lang="en-US" dirty="0"/>
              <a:t>What can we say about coffee causing the damage?</a:t>
            </a:r>
          </a:p>
        </p:txBody>
      </p:sp>
      <p:sp>
        <p:nvSpPr>
          <p:cNvPr id="5" name="Google Shape;89;p13">
            <a:extLst>
              <a:ext uri="{FF2B5EF4-FFF2-40B4-BE49-F238E27FC236}">
                <a16:creationId xmlns:a16="http://schemas.microsoft.com/office/drawing/2014/main" id="{452FF8D6-C125-B84A-B6C6-3F252EF37ED5}"/>
              </a:ext>
            </a:extLst>
          </p:cNvPr>
          <p:cNvSpPr txBox="1"/>
          <p:nvPr/>
        </p:nvSpPr>
        <p:spPr>
          <a:xfrm>
            <a:off x="6674033" y="2032595"/>
            <a:ext cx="4287044"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a:t>
            </a:r>
            <a:endParaRPr lang="en-US" sz="1200" dirty="0">
              <a:solidFill>
                <a:schemeClr val="dk1"/>
              </a:solidFill>
              <a:latin typeface="Calibri"/>
              <a:ea typeface="Calibri"/>
              <a:cs typeface="Calibri"/>
              <a:sym typeface="Calibri"/>
            </a:endParaRPr>
          </a:p>
          <a:p>
            <a:pPr lvl="0"/>
            <a:r>
              <a:rPr lang="en-US" sz="1200" dirty="0">
                <a:solidFill>
                  <a:schemeClr val="dk1"/>
                </a:solidFill>
                <a:latin typeface="Calibri"/>
                <a:ea typeface="Calibri"/>
                <a:cs typeface="Calibri"/>
                <a:sym typeface="Calibri"/>
              </a:rPr>
              <a:t>P(A) = 40% = probability of </a:t>
            </a:r>
            <a:r>
              <a:rPr lang="en-US" sz="1200" dirty="0">
                <a:solidFill>
                  <a:schemeClr val="dk1"/>
                </a:solidFill>
                <a:latin typeface="Calibri"/>
                <a:cs typeface="Calibri"/>
                <a:sym typeface="Calibri"/>
              </a:rPr>
              <a:t>Coffee</a:t>
            </a:r>
            <a:r>
              <a:rPr lang="en-US" sz="1200" dirty="0">
                <a:solidFill>
                  <a:schemeClr val="dk1"/>
                </a:solidFill>
                <a:latin typeface="Calibri"/>
                <a:ea typeface="Calibri"/>
                <a:cs typeface="Calibri"/>
                <a:sym typeface="Calibri"/>
              </a:rPr>
              <a:t> (Yellow)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probability of Damaged (Blue)</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P(B|A) = 10% = probability of Damaged given that Coffee</a:t>
            </a:r>
          </a:p>
          <a:p>
            <a:pPr lvl="0"/>
            <a:r>
              <a:rPr lang="en-US" sz="1200" dirty="0">
                <a:solidFill>
                  <a:schemeClr val="dk1"/>
                </a:solidFill>
                <a:latin typeface="Calibri"/>
                <a:ea typeface="Calibri"/>
                <a:cs typeface="Calibri"/>
                <a:sym typeface="Calibri"/>
              </a:rPr>
              <a:t>P(A|B) = 80% = probability of Coffee given that Damaged</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r>
              <a:rPr lang="en-US" sz="1200" dirty="0">
                <a:solidFill>
                  <a:schemeClr val="dk1"/>
                </a:solidFill>
                <a:latin typeface="Calibri"/>
                <a:ea typeface="Calibri"/>
                <a:cs typeface="Calibri"/>
                <a:sym typeface="Calibri"/>
              </a:rPr>
              <a:t>Intersection: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 &amp; B) = 4% = probability of Coffee &amp; Damaged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P(B|A)*P(A) = 10%*40% = 4%</a:t>
            </a:r>
          </a:p>
        </p:txBody>
      </p:sp>
      <p:sp>
        <p:nvSpPr>
          <p:cNvPr id="6" name="Google Shape;96;p13">
            <a:extLst>
              <a:ext uri="{FF2B5EF4-FFF2-40B4-BE49-F238E27FC236}">
                <a16:creationId xmlns:a16="http://schemas.microsoft.com/office/drawing/2014/main" id="{404A001F-C0A0-BE48-A3B1-C838E48FDF8F}"/>
              </a:ext>
            </a:extLst>
          </p:cNvPr>
          <p:cNvSpPr/>
          <p:nvPr/>
        </p:nvSpPr>
        <p:spPr>
          <a:xfrm>
            <a:off x="1531632" y="1974106"/>
            <a:ext cx="5033285"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 name="Google Shape;97;p13">
            <a:extLst>
              <a:ext uri="{FF2B5EF4-FFF2-40B4-BE49-F238E27FC236}">
                <a16:creationId xmlns:a16="http://schemas.microsoft.com/office/drawing/2014/main" id="{31FE829C-2386-834C-996B-C2F3AE8AE45B}"/>
              </a:ext>
            </a:extLst>
          </p:cNvPr>
          <p:cNvSpPr/>
          <p:nvPr/>
        </p:nvSpPr>
        <p:spPr>
          <a:xfrm>
            <a:off x="2175116" y="2278906"/>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 name="Google Shape;98;p13">
            <a:extLst>
              <a:ext uri="{FF2B5EF4-FFF2-40B4-BE49-F238E27FC236}">
                <a16:creationId xmlns:a16="http://schemas.microsoft.com/office/drawing/2014/main" id="{DDB1E21D-A88D-F84D-A4C7-D15B09894D17}"/>
              </a:ext>
            </a:extLst>
          </p:cNvPr>
          <p:cNvSpPr/>
          <p:nvPr/>
        </p:nvSpPr>
        <p:spPr>
          <a:xfrm>
            <a:off x="4351034" y="2710753"/>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9;p13">
            <a:extLst>
              <a:ext uri="{FF2B5EF4-FFF2-40B4-BE49-F238E27FC236}">
                <a16:creationId xmlns:a16="http://schemas.microsoft.com/office/drawing/2014/main" id="{4B219D50-9096-DC46-8C16-4EC0A06BA7C0}"/>
              </a:ext>
            </a:extLst>
          </p:cNvPr>
          <p:cNvSpPr txBox="1"/>
          <p:nvPr/>
        </p:nvSpPr>
        <p:spPr>
          <a:xfrm>
            <a:off x="3076580" y="2710753"/>
            <a:ext cx="971694" cy="64790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0" indent="0">
              <a:buNone/>
              <a:defRPr sz="1800" b="1">
                <a:solidFill>
                  <a:srgbClr val="FF0000"/>
                </a:solidFill>
                <a:latin typeface="Calibri"/>
                <a:ea typeface="Calibri"/>
                <a:cs typeface="Calibri"/>
              </a:defRPr>
            </a:lvl1pPr>
          </a:lstStyle>
          <a:p>
            <a:r>
              <a:rPr lang="en-US" dirty="0">
                <a:sym typeface="Calibri"/>
              </a:rPr>
              <a:t>A</a:t>
            </a:r>
          </a:p>
          <a:p>
            <a:r>
              <a:rPr lang="en-US" dirty="0">
                <a:sym typeface="Calibri"/>
              </a:rPr>
              <a:t>Coffee</a:t>
            </a:r>
            <a:endParaRPr dirty="0">
              <a:sym typeface="Calibri"/>
            </a:endParaRPr>
          </a:p>
        </p:txBody>
      </p:sp>
      <p:sp>
        <p:nvSpPr>
          <p:cNvPr id="10" name="Google Shape;100;p13">
            <a:extLst>
              <a:ext uri="{FF2B5EF4-FFF2-40B4-BE49-F238E27FC236}">
                <a16:creationId xmlns:a16="http://schemas.microsoft.com/office/drawing/2014/main" id="{A8D1023C-103A-914C-952D-A30BFA64F4CA}"/>
              </a:ext>
            </a:extLst>
          </p:cNvPr>
          <p:cNvSpPr txBox="1"/>
          <p:nvPr/>
        </p:nvSpPr>
        <p:spPr>
          <a:xfrm>
            <a:off x="5399579" y="2985773"/>
            <a:ext cx="1397874" cy="7457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Damaged</a:t>
            </a:r>
            <a:endParaRPr sz="1800" b="1" dirty="0">
              <a:solidFill>
                <a:srgbClr val="FF0000"/>
              </a:solidFill>
              <a:latin typeface="Calibri"/>
              <a:ea typeface="Calibri"/>
              <a:cs typeface="Calibri"/>
              <a:sym typeface="Calibri"/>
            </a:endParaRPr>
          </a:p>
        </p:txBody>
      </p:sp>
      <p:sp>
        <p:nvSpPr>
          <p:cNvPr id="11" name="Google Shape;101;p13">
            <a:extLst>
              <a:ext uri="{FF2B5EF4-FFF2-40B4-BE49-F238E27FC236}">
                <a16:creationId xmlns:a16="http://schemas.microsoft.com/office/drawing/2014/main" id="{7B123850-E879-7745-BC69-FED970CB58A9}"/>
              </a:ext>
            </a:extLst>
          </p:cNvPr>
          <p:cNvSpPr txBox="1"/>
          <p:nvPr/>
        </p:nvSpPr>
        <p:spPr>
          <a:xfrm>
            <a:off x="4701470" y="1956549"/>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2" name="Google Shape;89;p13">
            <a:extLst>
              <a:ext uri="{FF2B5EF4-FFF2-40B4-BE49-F238E27FC236}">
                <a16:creationId xmlns:a16="http://schemas.microsoft.com/office/drawing/2014/main" id="{3C8C744F-A8AE-1E49-818B-4076BC1271A0}"/>
              </a:ext>
            </a:extLst>
          </p:cNvPr>
          <p:cNvSpPr txBox="1"/>
          <p:nvPr/>
        </p:nvSpPr>
        <p:spPr>
          <a:xfrm>
            <a:off x="6674032" y="4576281"/>
            <a:ext cx="4287043"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a:t>
            </a:r>
            <a:endParaRPr lang="en-US" sz="1200" dirty="0">
              <a:solidFill>
                <a:schemeClr val="dk1"/>
              </a:solidFill>
              <a:latin typeface="Calibri"/>
              <a:ea typeface="Calibri"/>
              <a:cs typeface="Calibri"/>
              <a:sym typeface="Calibri"/>
            </a:endParaRPr>
          </a:p>
          <a:p>
            <a:pPr lvl="0"/>
            <a:r>
              <a:rPr lang="en-US" sz="1200" dirty="0">
                <a:solidFill>
                  <a:schemeClr val="dk1"/>
                </a:solidFill>
                <a:latin typeface="Calibri"/>
                <a:ea typeface="Calibri"/>
                <a:cs typeface="Calibri"/>
                <a:sym typeface="Calibri"/>
              </a:rPr>
              <a:t>P(A) = 5% = probability of </a:t>
            </a:r>
            <a:r>
              <a:rPr lang="en-US" sz="1200" dirty="0">
                <a:solidFill>
                  <a:schemeClr val="dk1"/>
                </a:solidFill>
                <a:latin typeface="Calibri"/>
                <a:cs typeface="Calibri"/>
                <a:sym typeface="Calibri"/>
              </a:rPr>
              <a:t>Coffee</a:t>
            </a:r>
            <a:r>
              <a:rPr lang="en-US" sz="1200" dirty="0">
                <a:solidFill>
                  <a:schemeClr val="dk1"/>
                </a:solidFill>
                <a:latin typeface="Calibri"/>
                <a:ea typeface="Calibri"/>
                <a:cs typeface="Calibri"/>
                <a:sym typeface="Calibri"/>
              </a:rPr>
              <a:t> (Yellow)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probability of Damaged (Blue)</a:t>
            </a:r>
          </a:p>
          <a:p>
            <a:pPr lvl="0"/>
            <a:endParaRPr lang="en-US" sz="1200" dirty="0">
              <a:solidFill>
                <a:schemeClr val="dk1"/>
              </a:solidFill>
              <a:latin typeface="Calibri"/>
              <a:ea typeface="Calibri"/>
              <a:cs typeface="Calibri"/>
              <a:sym typeface="Calibri"/>
            </a:endParaRPr>
          </a:p>
          <a:p>
            <a:r>
              <a:rPr lang="en-US" sz="1200" b="1" dirty="0">
                <a:solidFill>
                  <a:srgbClr val="00B0F0"/>
                </a:solidFill>
                <a:latin typeface="Calibri"/>
                <a:cs typeface="Calibri"/>
                <a:sym typeface="Calibri"/>
              </a:rPr>
              <a:t>P(B|A) = 80% = probability of Damaged given that Coffee</a:t>
            </a:r>
          </a:p>
          <a:p>
            <a:pPr lvl="0"/>
            <a:r>
              <a:rPr lang="en-US" sz="1200" dirty="0">
                <a:solidFill>
                  <a:schemeClr val="dk1"/>
                </a:solidFill>
                <a:latin typeface="Calibri"/>
                <a:ea typeface="Calibri"/>
                <a:cs typeface="Calibri"/>
                <a:sym typeface="Calibri"/>
              </a:rPr>
              <a:t>P(A|B) = 80% = probability of Coffee given that Damaged</a:t>
            </a:r>
          </a:p>
          <a:p>
            <a:pPr lvl="0"/>
            <a:endParaRPr lang="en-US"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Intersection:</a:t>
            </a:r>
          </a:p>
          <a:p>
            <a:r>
              <a:rPr lang="en-US" sz="1200" dirty="0">
                <a:solidFill>
                  <a:schemeClr val="dk1"/>
                </a:solidFill>
                <a:latin typeface="Calibri"/>
                <a:ea typeface="Calibri"/>
                <a:cs typeface="Calibri"/>
                <a:sym typeface="Calibri"/>
              </a:rPr>
              <a:t>P(A &amp; B) = 4% = probability of Coffee &amp; Damaged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P(B|A)*P(A) = 80%*5% = 4%</a:t>
            </a:r>
          </a:p>
        </p:txBody>
      </p:sp>
      <p:sp>
        <p:nvSpPr>
          <p:cNvPr id="13" name="Google Shape;96;p13">
            <a:extLst>
              <a:ext uri="{FF2B5EF4-FFF2-40B4-BE49-F238E27FC236}">
                <a16:creationId xmlns:a16="http://schemas.microsoft.com/office/drawing/2014/main" id="{569DD241-518F-8F46-AE6A-34E80876D3BC}"/>
              </a:ext>
            </a:extLst>
          </p:cNvPr>
          <p:cNvSpPr/>
          <p:nvPr/>
        </p:nvSpPr>
        <p:spPr>
          <a:xfrm>
            <a:off x="1531632" y="4517792"/>
            <a:ext cx="5033285"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 name="Google Shape;97;p13">
            <a:extLst>
              <a:ext uri="{FF2B5EF4-FFF2-40B4-BE49-F238E27FC236}">
                <a16:creationId xmlns:a16="http://schemas.microsoft.com/office/drawing/2014/main" id="{30AA5D0A-2560-CE4A-B38C-91AD69134962}"/>
              </a:ext>
            </a:extLst>
          </p:cNvPr>
          <p:cNvSpPr/>
          <p:nvPr/>
        </p:nvSpPr>
        <p:spPr>
          <a:xfrm>
            <a:off x="4001705" y="5384791"/>
            <a:ext cx="1397874" cy="900935"/>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 name="Google Shape;98;p13">
            <a:extLst>
              <a:ext uri="{FF2B5EF4-FFF2-40B4-BE49-F238E27FC236}">
                <a16:creationId xmlns:a16="http://schemas.microsoft.com/office/drawing/2014/main" id="{655DB671-3DA8-B149-8288-4F8B78A39734}"/>
              </a:ext>
            </a:extLst>
          </p:cNvPr>
          <p:cNvSpPr/>
          <p:nvPr/>
        </p:nvSpPr>
        <p:spPr>
          <a:xfrm>
            <a:off x="4351034" y="5254439"/>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6" name="Google Shape;99;p13">
            <a:extLst>
              <a:ext uri="{FF2B5EF4-FFF2-40B4-BE49-F238E27FC236}">
                <a16:creationId xmlns:a16="http://schemas.microsoft.com/office/drawing/2014/main" id="{E19F1E77-6C1D-CF40-A056-B5F0A0067705}"/>
              </a:ext>
            </a:extLst>
          </p:cNvPr>
          <p:cNvSpPr txBox="1"/>
          <p:nvPr/>
        </p:nvSpPr>
        <p:spPr>
          <a:xfrm>
            <a:off x="4048274" y="5632718"/>
            <a:ext cx="581015" cy="4312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a:t>
            </a:r>
            <a:endParaRPr sz="2400" b="1" dirty="0">
              <a:solidFill>
                <a:srgbClr val="FF000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61C18CBF-01D4-C848-A7B2-E04510A0F7B8}"/>
              </a:ext>
            </a:extLst>
          </p:cNvPr>
          <p:cNvSpPr txBox="1"/>
          <p:nvPr/>
        </p:nvSpPr>
        <p:spPr>
          <a:xfrm>
            <a:off x="5379642" y="5384791"/>
            <a:ext cx="640540" cy="4337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a:t>
            </a:r>
          </a:p>
        </p:txBody>
      </p:sp>
      <p:sp>
        <p:nvSpPr>
          <p:cNvPr id="18" name="Google Shape;101;p13">
            <a:extLst>
              <a:ext uri="{FF2B5EF4-FFF2-40B4-BE49-F238E27FC236}">
                <a16:creationId xmlns:a16="http://schemas.microsoft.com/office/drawing/2014/main" id="{C254AE81-7BEC-E24E-A3FD-EA1283594849}"/>
              </a:ext>
            </a:extLst>
          </p:cNvPr>
          <p:cNvSpPr txBox="1"/>
          <p:nvPr/>
        </p:nvSpPr>
        <p:spPr>
          <a:xfrm>
            <a:off x="4701470" y="4500235"/>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9" name="TextBox 18">
            <a:extLst>
              <a:ext uri="{FF2B5EF4-FFF2-40B4-BE49-F238E27FC236}">
                <a16:creationId xmlns:a16="http://schemas.microsoft.com/office/drawing/2014/main" id="{6E6E4C8B-2E60-5C46-9FFF-EB63ACF4895B}"/>
              </a:ext>
            </a:extLst>
          </p:cNvPr>
          <p:cNvSpPr txBox="1"/>
          <p:nvPr/>
        </p:nvSpPr>
        <p:spPr>
          <a:xfrm>
            <a:off x="8930917" y="462807"/>
            <a:ext cx="3119984"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Damaged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|Coffee |  80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20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Tree>
    <p:extLst>
      <p:ext uri="{BB962C8B-B14F-4D97-AF65-F5344CB8AC3E}">
        <p14:creationId xmlns:p14="http://schemas.microsoft.com/office/powerpoint/2010/main" val="418091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1" y="37572"/>
            <a:ext cx="6694715" cy="523220"/>
          </a:xfrm>
          <a:prstGeom prst="rect">
            <a:avLst/>
          </a:prstGeom>
          <a:noFill/>
        </p:spPr>
        <p:txBody>
          <a:bodyPr wrap="square" rtlCol="0">
            <a:spAutoFit/>
          </a:bodyPr>
          <a:lstStyle/>
          <a:p>
            <a:r>
              <a:rPr lang="en-US" sz="2800" b="1" dirty="0"/>
              <a:t>Probability - Bayesian vs Frequentist</a:t>
            </a:r>
          </a:p>
        </p:txBody>
      </p:sp>
      <p:sp>
        <p:nvSpPr>
          <p:cNvPr id="5" name="TextBox 4">
            <a:extLst>
              <a:ext uri="{FF2B5EF4-FFF2-40B4-BE49-F238E27FC236}">
                <a16:creationId xmlns:a16="http://schemas.microsoft.com/office/drawing/2014/main" id="{AADE8889-8C42-E543-BA59-6986D4778221}"/>
              </a:ext>
            </a:extLst>
          </p:cNvPr>
          <p:cNvSpPr txBox="1"/>
          <p:nvPr/>
        </p:nvSpPr>
        <p:spPr>
          <a:xfrm>
            <a:off x="340391" y="4255692"/>
            <a:ext cx="5929952" cy="2246769"/>
          </a:xfrm>
          <a:prstGeom prst="rect">
            <a:avLst/>
          </a:prstGeom>
          <a:noFill/>
          <a:ln w="63500">
            <a:solidFill>
              <a:schemeClr val="accent6">
                <a:lumMod val="40000"/>
                <a:lumOff val="60000"/>
              </a:schemeClr>
            </a:solidFill>
          </a:ln>
        </p:spPr>
        <p:txBody>
          <a:bodyPr wrap="square" rtlCol="0">
            <a:spAutoFit/>
          </a:bodyPr>
          <a:lstStyle/>
          <a:p>
            <a:r>
              <a:rPr lang="en-US" b="1" dirty="0">
                <a:solidFill>
                  <a:srgbClr val="FF0000"/>
                </a:solidFill>
              </a:rPr>
              <a:t>Frequentist (classical):</a:t>
            </a:r>
          </a:p>
          <a:p>
            <a:r>
              <a:rPr lang="en-US" dirty="0"/>
              <a:t>    Calculate means (estimates) and confidence intervals</a:t>
            </a:r>
          </a:p>
          <a:p>
            <a:r>
              <a:rPr lang="en-US" dirty="0"/>
              <a:t>    Problems treating missing data (</a:t>
            </a:r>
            <a:r>
              <a:rPr lang="en-US" b="1" dirty="0">
                <a:solidFill>
                  <a:srgbClr val="FF0000"/>
                </a:solidFill>
              </a:rPr>
              <a:t>survivorship bias</a:t>
            </a:r>
            <a:r>
              <a:rPr lang="en-US" dirty="0"/>
              <a:t>)</a:t>
            </a:r>
          </a:p>
          <a:p>
            <a:r>
              <a:rPr lang="en-US" dirty="0"/>
              <a:t>    Problems with hypothesis testing (</a:t>
            </a:r>
            <a:r>
              <a:rPr lang="en-US" b="1" dirty="0">
                <a:solidFill>
                  <a:srgbClr val="FF0000"/>
                </a:solidFill>
              </a:rPr>
              <a:t>p-hacking</a:t>
            </a:r>
            <a:r>
              <a:rPr lang="en-US" dirty="0"/>
              <a:t>)</a:t>
            </a:r>
          </a:p>
          <a:p>
            <a:endParaRPr lang="en-US" b="1" dirty="0">
              <a:solidFill>
                <a:srgbClr val="FF0000"/>
              </a:solidFill>
            </a:endParaRPr>
          </a:p>
          <a:p>
            <a:r>
              <a:rPr lang="en-US" b="1" dirty="0">
                <a:solidFill>
                  <a:srgbClr val="FF0000"/>
                </a:solidFill>
              </a:rPr>
              <a:t>Bayesian:</a:t>
            </a:r>
          </a:p>
          <a:p>
            <a:r>
              <a:rPr lang="en-US" dirty="0"/>
              <a:t>    Enumerate all possible </a:t>
            </a:r>
            <a:r>
              <a:rPr lang="en-US" b="1" dirty="0">
                <a:solidFill>
                  <a:srgbClr val="FF0000"/>
                </a:solidFill>
              </a:rPr>
              <a:t>hypotheses</a:t>
            </a:r>
            <a:r>
              <a:rPr lang="en-US" dirty="0"/>
              <a:t> – and compute their probabilities.</a:t>
            </a:r>
          </a:p>
          <a:p>
            <a:r>
              <a:rPr lang="en-US" dirty="0"/>
              <a:t>    We make a (subjective) choice of “</a:t>
            </a:r>
            <a:r>
              <a:rPr lang="en-US" b="1" dirty="0">
                <a:solidFill>
                  <a:srgbClr val="FF0000"/>
                </a:solidFill>
              </a:rPr>
              <a:t>prior</a:t>
            </a:r>
            <a:r>
              <a:rPr lang="en-US" dirty="0"/>
              <a:t>” (model, distribution)</a:t>
            </a:r>
          </a:p>
          <a:p>
            <a:r>
              <a:rPr lang="en-US" dirty="0"/>
              <a:t>    and produce </a:t>
            </a:r>
            <a:r>
              <a:rPr lang="en-US" b="1" dirty="0">
                <a:solidFill>
                  <a:srgbClr val="FF0000"/>
                </a:solidFill>
              </a:rPr>
              <a:t>posterior</a:t>
            </a:r>
            <a:r>
              <a:rPr lang="en-US" dirty="0"/>
              <a:t> distribution.</a:t>
            </a:r>
          </a:p>
          <a:p>
            <a:r>
              <a:rPr lang="en-US" dirty="0"/>
              <a:t>    Allows for complex decision analysis under uncertainty.</a:t>
            </a:r>
          </a:p>
        </p:txBody>
      </p:sp>
      <p:sp>
        <p:nvSpPr>
          <p:cNvPr id="6" name="TextBox 5">
            <a:extLst>
              <a:ext uri="{FF2B5EF4-FFF2-40B4-BE49-F238E27FC236}">
                <a16:creationId xmlns:a16="http://schemas.microsoft.com/office/drawing/2014/main" id="{D86CA22F-D1DB-184B-8C0D-193FFD538439}"/>
              </a:ext>
            </a:extLst>
          </p:cNvPr>
          <p:cNvSpPr txBox="1"/>
          <p:nvPr/>
        </p:nvSpPr>
        <p:spPr>
          <a:xfrm>
            <a:off x="7515267" y="2288868"/>
            <a:ext cx="4573575" cy="4339650"/>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rgbClr val="FF0000"/>
                </a:solidFill>
              </a:rPr>
              <a:t>Example1: </a:t>
            </a:r>
            <a:r>
              <a:rPr lang="en-US" sz="1200" dirty="0"/>
              <a:t>Polling, two candidates: Alice &amp; Bob.</a:t>
            </a:r>
            <a:br>
              <a:rPr lang="en-US" sz="1200" dirty="0"/>
            </a:br>
            <a:r>
              <a:rPr lang="en-US" sz="1200" dirty="0"/>
              <a:t>52% of polled voters intend to vote for Alice.</a:t>
            </a:r>
            <a:br>
              <a:rPr lang="en-US" sz="1200" dirty="0"/>
            </a:br>
            <a:r>
              <a:rPr lang="en-US" sz="1200" dirty="0"/>
              <a:t>Confidence interval [42%,62%], p-value = 0.34</a:t>
            </a:r>
            <a:br>
              <a:rPr lang="en-US" sz="1200" dirty="0"/>
            </a:br>
            <a:r>
              <a:rPr lang="en-US" sz="1200" dirty="0"/>
              <a:t>What is the probability that Alice will win ?</a:t>
            </a:r>
            <a:br>
              <a:rPr lang="en-US" sz="1200" dirty="0"/>
            </a:br>
            <a:r>
              <a:rPr lang="en-US" sz="1200" dirty="0"/>
              <a:t>Classical frequentist approach can not answer this question.</a:t>
            </a:r>
            <a:br>
              <a:rPr lang="en-US" sz="1200" dirty="0"/>
            </a:br>
            <a:r>
              <a:rPr lang="en-US" sz="1200" dirty="0"/>
              <a:t>Bayesian method – result is a posterior distribution of possible</a:t>
            </a:r>
            <a:br>
              <a:rPr lang="en-US" sz="1200" dirty="0"/>
            </a:br>
            <a:r>
              <a:rPr lang="en-US" sz="1200" dirty="0"/>
              <a:t>outcomes based on data.</a:t>
            </a:r>
            <a:br>
              <a:rPr lang="en-US" sz="1200" dirty="0"/>
            </a:br>
            <a:r>
              <a:rPr lang="en-US" sz="1200" dirty="0"/>
              <a:t>Thus you can get your answer.</a:t>
            </a:r>
          </a:p>
          <a:p>
            <a:endParaRPr lang="en-US" sz="1200" dirty="0"/>
          </a:p>
          <a:p>
            <a:pPr marL="171450" indent="-171450">
              <a:buFont typeface="Arial" panose="020B0604020202020204" pitchFamily="34" charset="0"/>
              <a:buChar char="•"/>
            </a:pPr>
            <a:r>
              <a:rPr lang="en-US" sz="1200" b="1" dirty="0">
                <a:solidFill>
                  <a:srgbClr val="FF0000"/>
                </a:solidFill>
              </a:rPr>
              <a:t>Example2:</a:t>
            </a:r>
            <a:r>
              <a:rPr lang="en-US" sz="1200" dirty="0"/>
              <a:t> comparing two drugs A &amp; B.</a:t>
            </a:r>
            <a:br>
              <a:rPr lang="en-US" sz="1200" dirty="0"/>
            </a:br>
            <a:r>
              <a:rPr lang="en-US" sz="1200" dirty="0"/>
              <a:t>A is better than B with p value &lt; 0.001</a:t>
            </a:r>
            <a:br>
              <a:rPr lang="en-US" sz="1200" dirty="0"/>
            </a:br>
            <a:r>
              <a:rPr lang="en-US" sz="1200" dirty="0"/>
              <a:t>A is more expensive.</a:t>
            </a:r>
            <a:br>
              <a:rPr lang="en-US" sz="1200" dirty="0"/>
            </a:br>
            <a:r>
              <a:rPr lang="en-US" sz="1200" dirty="0"/>
              <a:t>Which drug should we prescribe?</a:t>
            </a:r>
            <a:br>
              <a:rPr lang="en-US" sz="1200" dirty="0"/>
            </a:br>
            <a:r>
              <a:rPr lang="en-US" sz="1200" dirty="0"/>
              <a:t>Cost-benefit. </a:t>
            </a:r>
            <a:br>
              <a:rPr lang="en-US" sz="1200" dirty="0"/>
            </a:br>
            <a:r>
              <a:rPr lang="en-US" sz="1200" dirty="0"/>
              <a:t>Suppose we get predicted probability of survival with A and B.</a:t>
            </a:r>
            <a:br>
              <a:rPr lang="en-US" sz="1200" dirty="0"/>
            </a:br>
            <a:r>
              <a:rPr lang="en-US" sz="1200" dirty="0"/>
              <a:t>We could then compute dollars per life saved. </a:t>
            </a:r>
          </a:p>
          <a:p>
            <a:endParaRPr lang="en-US" sz="1200" dirty="0"/>
          </a:p>
          <a:p>
            <a:pPr marL="171450" indent="-171450">
              <a:buFont typeface="Arial" panose="020B0604020202020204" pitchFamily="34" charset="0"/>
              <a:buChar char="•"/>
            </a:pPr>
            <a:r>
              <a:rPr lang="en-US" sz="1200" b="1" dirty="0">
                <a:solidFill>
                  <a:srgbClr val="FF0000"/>
                </a:solidFill>
              </a:rPr>
              <a:t>Example3:</a:t>
            </a:r>
            <a:r>
              <a:rPr lang="en-US" sz="1200" dirty="0"/>
              <a:t> Guessing game</a:t>
            </a:r>
            <a:br>
              <a:rPr lang="en-US" sz="1200" dirty="0"/>
            </a:br>
            <a:r>
              <a:rPr lang="en-US" sz="1200" dirty="0"/>
              <a:t>You see the prize – and guess the price</a:t>
            </a:r>
            <a:br>
              <a:rPr lang="en-US" sz="1200" dirty="0"/>
            </a:br>
            <a:r>
              <a:rPr lang="en-US" sz="1200" dirty="0"/>
              <a:t>Opponent sees a different prize – and guesses the price.</a:t>
            </a:r>
            <a:br>
              <a:rPr lang="en-US" sz="1200" dirty="0"/>
            </a:br>
            <a:r>
              <a:rPr lang="en-US" sz="1200" dirty="0"/>
              <a:t>Whoever is closer (without going over) wins.</a:t>
            </a:r>
          </a:p>
          <a:p>
            <a:endParaRPr lang="en-US" sz="1200" dirty="0"/>
          </a:p>
          <a:p>
            <a:pPr marL="171450" indent="-171450">
              <a:buFont typeface="Arial" panose="020B0604020202020204" pitchFamily="34" charset="0"/>
              <a:buChar char="•"/>
            </a:pPr>
            <a:r>
              <a:rPr lang="en-US" sz="1200" b="1" dirty="0">
                <a:solidFill>
                  <a:srgbClr val="FF0000"/>
                </a:solidFill>
              </a:rPr>
              <a:t>Example4: </a:t>
            </a:r>
            <a:r>
              <a:rPr lang="en-US" sz="1200" dirty="0"/>
              <a:t>MCMC (Markov-Chain Monte-Carlo)</a:t>
            </a:r>
          </a:p>
        </p:txBody>
      </p:sp>
      <p:sp>
        <p:nvSpPr>
          <p:cNvPr id="9" name="TextBox 8">
            <a:extLst>
              <a:ext uri="{FF2B5EF4-FFF2-40B4-BE49-F238E27FC236}">
                <a16:creationId xmlns:a16="http://schemas.microsoft.com/office/drawing/2014/main" id="{9D171819-C6E6-4541-8406-01258005E5A5}"/>
              </a:ext>
            </a:extLst>
          </p:cNvPr>
          <p:cNvSpPr txBox="1"/>
          <p:nvPr/>
        </p:nvSpPr>
        <p:spPr>
          <a:xfrm>
            <a:off x="7934173" y="1385016"/>
            <a:ext cx="4351611" cy="523220"/>
          </a:xfrm>
          <a:prstGeom prst="rect">
            <a:avLst/>
          </a:prstGeom>
          <a:noFill/>
        </p:spPr>
        <p:txBody>
          <a:bodyPr wrap="square" rtlCol="0">
            <a:spAutoFit/>
          </a:bodyPr>
          <a:lstStyle/>
          <a:p>
            <a:r>
              <a:rPr lang="en-US" dirty="0"/>
              <a:t>Allen Downey </a:t>
            </a:r>
          </a:p>
          <a:p>
            <a:r>
              <a:rPr lang="en-US" dirty="0"/>
              <a:t>- </a:t>
            </a:r>
            <a:r>
              <a:rPr lang="en-US" dirty="0">
                <a:hlinkClick r:id="rId2"/>
              </a:rPr>
              <a:t>https://www.youtube.com/watch?v=R6d-AbkhBQ8</a:t>
            </a:r>
            <a:r>
              <a:rPr lang="en-US" dirty="0"/>
              <a:t> </a:t>
            </a:r>
          </a:p>
        </p:txBody>
      </p:sp>
      <p:sp>
        <p:nvSpPr>
          <p:cNvPr id="2" name="TextBox 1">
            <a:extLst>
              <a:ext uri="{FF2B5EF4-FFF2-40B4-BE49-F238E27FC236}">
                <a16:creationId xmlns:a16="http://schemas.microsoft.com/office/drawing/2014/main" id="{809CB213-96B1-CD42-937A-368036DCD1E0}"/>
              </a:ext>
            </a:extLst>
          </p:cNvPr>
          <p:cNvSpPr txBox="1"/>
          <p:nvPr/>
        </p:nvSpPr>
        <p:spPr>
          <a:xfrm>
            <a:off x="340391" y="921460"/>
            <a:ext cx="5560001" cy="2893100"/>
          </a:xfrm>
          <a:prstGeom prst="rect">
            <a:avLst/>
          </a:prstGeom>
          <a:noFill/>
          <a:ln w="63500">
            <a:solidFill>
              <a:schemeClr val="accent6">
                <a:lumMod val="40000"/>
                <a:lumOff val="60000"/>
              </a:schemeClr>
            </a:solidFill>
          </a:ln>
        </p:spPr>
        <p:txBody>
          <a:bodyPr wrap="square" rtlCol="0">
            <a:spAutoFit/>
          </a:bodyPr>
          <a:lstStyle/>
          <a:p>
            <a:r>
              <a:rPr lang="en-US" dirty="0"/>
              <a:t>The </a:t>
            </a:r>
            <a:r>
              <a:rPr lang="en-US" b="1" dirty="0">
                <a:solidFill>
                  <a:srgbClr val="FF0000"/>
                </a:solidFill>
              </a:rPr>
              <a:t>Frequentist</a:t>
            </a:r>
            <a:r>
              <a:rPr lang="en-US" dirty="0"/>
              <a:t> see probability as finding intervals of possible frequencies based on an observed proportion.</a:t>
            </a:r>
          </a:p>
          <a:p>
            <a:endParaRPr lang="en-US" dirty="0"/>
          </a:p>
          <a:p>
            <a:r>
              <a:rPr lang="en-US" dirty="0"/>
              <a:t>The </a:t>
            </a:r>
            <a:r>
              <a:rPr lang="en-US" b="1" dirty="0">
                <a:solidFill>
                  <a:srgbClr val="FF0000"/>
                </a:solidFill>
              </a:rPr>
              <a:t>Bayesian</a:t>
            </a:r>
            <a:r>
              <a:rPr lang="en-US" dirty="0"/>
              <a:t> is subjective and uses a priori beliefs to define a prior probability distribution on the possible values of the unknown parameters – and computing their probabilities (solving </a:t>
            </a:r>
            <a:r>
              <a:rPr lang="en-US" b="1" dirty="0">
                <a:solidFill>
                  <a:srgbClr val="00B050"/>
                </a:solidFill>
              </a:rPr>
              <a:t>"inverse probability problem"</a:t>
            </a:r>
            <a:r>
              <a:rPr lang="en-US" dirty="0"/>
              <a:t>.)</a:t>
            </a:r>
          </a:p>
          <a:p>
            <a:endParaRPr lang="en-US" dirty="0"/>
          </a:p>
          <a:p>
            <a:r>
              <a:rPr lang="en-US" b="1" dirty="0">
                <a:solidFill>
                  <a:srgbClr val="FF0000"/>
                </a:solidFill>
              </a:rPr>
              <a:t>Frequentists</a:t>
            </a:r>
            <a:r>
              <a:rPr lang="en-US" dirty="0"/>
              <a:t> accuse Bayesians for being subjective in selecting a prior model / distribution. </a:t>
            </a:r>
          </a:p>
          <a:p>
            <a:endParaRPr lang="en-US" dirty="0"/>
          </a:p>
          <a:p>
            <a:r>
              <a:rPr lang="en-US" b="1" dirty="0">
                <a:solidFill>
                  <a:srgbClr val="FF0000"/>
                </a:solidFill>
              </a:rPr>
              <a:t>Bayesians</a:t>
            </a:r>
            <a:r>
              <a:rPr lang="en-US" dirty="0"/>
              <a:t> snap back that at least they have a model, whereas Frequentists just calculate averages of observed data</a:t>
            </a:r>
          </a:p>
        </p:txBody>
      </p:sp>
      <p:pic>
        <p:nvPicPr>
          <p:cNvPr id="3" name="Picture 2">
            <a:extLst>
              <a:ext uri="{FF2B5EF4-FFF2-40B4-BE49-F238E27FC236}">
                <a16:creationId xmlns:a16="http://schemas.microsoft.com/office/drawing/2014/main" id="{E6EEDA71-99AC-A641-AF32-73A8DD7D6C2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625988" y="65359"/>
            <a:ext cx="2462854" cy="1311038"/>
          </a:xfrm>
          <a:prstGeom prst="rect">
            <a:avLst/>
          </a:prstGeom>
        </p:spPr>
      </p:pic>
    </p:spTree>
    <p:extLst>
      <p:ext uri="{BB962C8B-B14F-4D97-AF65-F5344CB8AC3E}">
        <p14:creationId xmlns:p14="http://schemas.microsoft.com/office/powerpoint/2010/main" val="41241710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9397" y="33383"/>
            <a:ext cx="7563711" cy="31599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mn-lt"/>
                <a:ea typeface="Calibri"/>
                <a:cs typeface="Calibri"/>
                <a:sym typeface="Calibri"/>
              </a:rPr>
              <a:t>Naive Bayes Classifiers </a:t>
            </a:r>
            <a:endParaRPr sz="2800" b="1" dirty="0">
              <a:solidFill>
                <a:schemeClr val="dk1"/>
              </a:solidFill>
              <a:latin typeface="+mn-lt"/>
              <a:ea typeface="Calibri"/>
              <a:cs typeface="Calibri"/>
              <a:sym typeface="Calibri"/>
            </a:endParaRP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marL="0" marR="0" lvl="0" indent="0" algn="l" rtl="0">
              <a:spcBef>
                <a:spcPts val="0"/>
              </a:spcBef>
              <a:spcAft>
                <a:spcPts val="0"/>
              </a:spcAft>
              <a:buNone/>
            </a:pPr>
            <a:r>
              <a:rPr lang="en-US" dirty="0">
                <a:solidFill>
                  <a:schemeClr val="dk1"/>
                </a:solidFill>
                <a:latin typeface="+mn-lt"/>
                <a:ea typeface="Calibri"/>
                <a:cs typeface="Calibri"/>
                <a:sym typeface="Calibri"/>
              </a:rPr>
              <a:t>Simple probabilistic classifiers based on Bayes theorem. </a:t>
            </a: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The main "</a:t>
            </a:r>
            <a:r>
              <a:rPr lang="en-US" b="1" dirty="0">
                <a:solidFill>
                  <a:srgbClr val="FF0000"/>
                </a:solidFill>
                <a:latin typeface="+mn-lt"/>
                <a:ea typeface="Calibri"/>
                <a:cs typeface="Calibri"/>
                <a:sym typeface="Calibri"/>
              </a:rPr>
              <a:t>Naive</a:t>
            </a:r>
            <a:r>
              <a:rPr lang="en-US" dirty="0">
                <a:solidFill>
                  <a:schemeClr val="dk1"/>
                </a:solidFill>
                <a:latin typeface="+mn-lt"/>
                <a:ea typeface="Calibri"/>
                <a:cs typeface="Calibri"/>
                <a:sym typeface="Calibri"/>
              </a:rPr>
              <a:t>" assumption is </a:t>
            </a:r>
          </a:p>
          <a:p>
            <a:pPr lvl="0"/>
            <a:r>
              <a:rPr lang="en-US" dirty="0">
                <a:solidFill>
                  <a:schemeClr val="dk1"/>
                </a:solidFill>
                <a:latin typeface="+mn-lt"/>
                <a:ea typeface="Calibri"/>
                <a:cs typeface="Calibri"/>
                <a:sym typeface="Calibri"/>
              </a:rPr>
              <a:t>that </a:t>
            </a:r>
            <a:r>
              <a:rPr lang="en-US" dirty="0">
                <a:solidFill>
                  <a:schemeClr val="dk1"/>
                </a:solidFill>
                <a:ea typeface="Calibri"/>
                <a:cs typeface="Calibri"/>
                <a:sym typeface="Calibri"/>
              </a:rPr>
              <a:t>each feature makes an </a:t>
            </a:r>
            <a:r>
              <a:rPr lang="en-US" b="1" dirty="0">
                <a:solidFill>
                  <a:srgbClr val="0070C0"/>
                </a:solidFill>
                <a:ea typeface="Calibri"/>
                <a:cs typeface="Calibri"/>
                <a:sym typeface="Calibri"/>
              </a:rPr>
              <a:t>independent</a:t>
            </a:r>
            <a:r>
              <a:rPr lang="en-US" dirty="0">
                <a:solidFill>
                  <a:schemeClr val="dk1"/>
                </a:solidFill>
                <a:ea typeface="Calibri"/>
                <a:cs typeface="Calibri"/>
                <a:sym typeface="Calibri"/>
              </a:rPr>
              <a:t> and </a:t>
            </a:r>
            <a:r>
              <a:rPr lang="en-US" b="1" dirty="0">
                <a:solidFill>
                  <a:srgbClr val="0070C0"/>
                </a:solidFill>
                <a:ea typeface="Calibri"/>
                <a:cs typeface="Calibri"/>
                <a:sym typeface="Calibri"/>
              </a:rPr>
              <a:t>equal </a:t>
            </a:r>
            <a:r>
              <a:rPr lang="en-US" dirty="0">
                <a:solidFill>
                  <a:schemeClr val="dk1"/>
                </a:solidFill>
                <a:ea typeface="Calibri"/>
                <a:cs typeface="Calibri"/>
                <a:sym typeface="Calibri"/>
              </a:rPr>
              <a:t>contribution to the outcome</a:t>
            </a: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 although features may have </a:t>
            </a:r>
            <a:r>
              <a:rPr lang="en-US" b="1" dirty="0">
                <a:solidFill>
                  <a:srgbClr val="00B050"/>
                </a:solidFill>
                <a:latin typeface="+mn-lt"/>
                <a:ea typeface="Calibri"/>
                <a:cs typeface="Calibri"/>
                <a:sym typeface="Calibri"/>
              </a:rPr>
              <a:t>inter-dependencies</a:t>
            </a:r>
            <a:r>
              <a:rPr lang="en-US" dirty="0">
                <a:solidFill>
                  <a:schemeClr val="dk1"/>
                </a:solidFill>
                <a:latin typeface="+mn-lt"/>
                <a:ea typeface="Calibri"/>
                <a:cs typeface="Calibri"/>
                <a:sym typeface="Calibri"/>
              </a:rPr>
              <a:t> and may have </a:t>
            </a:r>
            <a:r>
              <a:rPr lang="en-US" b="1" dirty="0">
                <a:solidFill>
                  <a:srgbClr val="00B050"/>
                </a:solidFill>
                <a:latin typeface="+mn-lt"/>
                <a:cs typeface="Calibri"/>
                <a:sym typeface="Calibri"/>
              </a:rPr>
              <a:t>different importance</a:t>
            </a:r>
            <a:r>
              <a:rPr lang="en-US" dirty="0">
                <a:solidFill>
                  <a:schemeClr val="dk1"/>
                </a:solidFill>
                <a:latin typeface="+mn-lt"/>
                <a:ea typeface="Calibri"/>
                <a:cs typeface="Calibri"/>
                <a:sym typeface="Calibri"/>
              </a:rPr>
              <a:t>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On the picture below we have two features (A1 &amp; A2) influencing outcome (B).</a:t>
            </a:r>
          </a:p>
          <a:p>
            <a:pPr lvl="0"/>
            <a:r>
              <a:rPr lang="en-US" dirty="0">
                <a:solidFill>
                  <a:schemeClr val="dk1"/>
                </a:solidFill>
                <a:latin typeface="+mn-lt"/>
                <a:ea typeface="Calibri"/>
                <a:cs typeface="Calibri"/>
                <a:sym typeface="Calibri"/>
              </a:rPr>
              <a:t>We will be computing conditional probability of a person being fit P(B|(A1,A2)).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We "naively" assume that A1 &amp; A2 contribute equally to the outcome.</a:t>
            </a:r>
          </a:p>
          <a:p>
            <a:pPr lvl="0"/>
            <a:r>
              <a:rPr lang="en-US" dirty="0">
                <a:solidFill>
                  <a:schemeClr val="dk1"/>
                </a:solidFill>
                <a:latin typeface="+mn-lt"/>
                <a:ea typeface="Calibri"/>
                <a:cs typeface="Calibri"/>
                <a:sym typeface="Calibri"/>
              </a:rPr>
              <a:t>In reality, doing exercises daily probably contributes more – but our model disregards this.</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96;p13">
            <a:extLst>
              <a:ext uri="{FF2B5EF4-FFF2-40B4-BE49-F238E27FC236}">
                <a16:creationId xmlns:a16="http://schemas.microsoft.com/office/drawing/2014/main" id="{E86965A6-BF94-F145-89D1-C6B2E5865414}"/>
              </a:ext>
            </a:extLst>
          </p:cNvPr>
          <p:cNvSpPr/>
          <p:nvPr/>
        </p:nvSpPr>
        <p:spPr>
          <a:xfrm>
            <a:off x="122155" y="3697256"/>
            <a:ext cx="6702776" cy="3041841"/>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7;p13">
            <a:extLst>
              <a:ext uri="{FF2B5EF4-FFF2-40B4-BE49-F238E27FC236}">
                <a16:creationId xmlns:a16="http://schemas.microsoft.com/office/drawing/2014/main" id="{345B8856-5B94-5446-A782-2394C9731CBF}"/>
              </a:ext>
            </a:extLst>
          </p:cNvPr>
          <p:cNvSpPr/>
          <p:nvPr/>
        </p:nvSpPr>
        <p:spPr>
          <a:xfrm>
            <a:off x="565560" y="4292194"/>
            <a:ext cx="3774964"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 name="Google Shape;98;p13">
            <a:extLst>
              <a:ext uri="{FF2B5EF4-FFF2-40B4-BE49-F238E27FC236}">
                <a16:creationId xmlns:a16="http://schemas.microsoft.com/office/drawing/2014/main" id="{CB8CAB0A-ECE1-744B-AFD7-926EB6778306}"/>
              </a:ext>
            </a:extLst>
          </p:cNvPr>
          <p:cNvSpPr/>
          <p:nvPr/>
        </p:nvSpPr>
        <p:spPr>
          <a:xfrm>
            <a:off x="2459640" y="4085725"/>
            <a:ext cx="4174638" cy="1423396"/>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 name="Google Shape;99;p13">
            <a:extLst>
              <a:ext uri="{FF2B5EF4-FFF2-40B4-BE49-F238E27FC236}">
                <a16:creationId xmlns:a16="http://schemas.microsoft.com/office/drawing/2014/main" id="{1B3AAF2C-11F0-0049-B7DC-8141A6FF1C0C}"/>
              </a:ext>
            </a:extLst>
          </p:cNvPr>
          <p:cNvSpPr txBox="1"/>
          <p:nvPr/>
        </p:nvSpPr>
        <p:spPr>
          <a:xfrm>
            <a:off x="1376829" y="4943675"/>
            <a:ext cx="111378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 - Fit</a:t>
            </a:r>
            <a:endParaRPr sz="2400" b="1" dirty="0">
              <a:solidFill>
                <a:srgbClr val="FF0000"/>
              </a:solidFill>
              <a:latin typeface="Calibri"/>
              <a:ea typeface="Calibri"/>
              <a:cs typeface="Calibri"/>
              <a:sym typeface="Calibri"/>
            </a:endParaRPr>
          </a:p>
        </p:txBody>
      </p:sp>
      <p:sp>
        <p:nvSpPr>
          <p:cNvPr id="14" name="Google Shape;100;p13">
            <a:extLst>
              <a:ext uri="{FF2B5EF4-FFF2-40B4-BE49-F238E27FC236}">
                <a16:creationId xmlns:a16="http://schemas.microsoft.com/office/drawing/2014/main" id="{E7891A24-DF90-8D43-8EDC-651D0443DDE8}"/>
              </a:ext>
            </a:extLst>
          </p:cNvPr>
          <p:cNvSpPr txBox="1"/>
          <p:nvPr/>
        </p:nvSpPr>
        <p:spPr>
          <a:xfrm>
            <a:off x="3889681" y="4242615"/>
            <a:ext cx="2935250"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A1 - Exercise daily</a:t>
            </a:r>
            <a:endParaRPr sz="2400" b="1" dirty="0">
              <a:solidFill>
                <a:srgbClr val="FF0000"/>
              </a:solidFill>
              <a:latin typeface="Calibri"/>
              <a:ea typeface="Calibri"/>
              <a:cs typeface="Calibri"/>
              <a:sym typeface="Calibri"/>
            </a:endParaRPr>
          </a:p>
        </p:txBody>
      </p:sp>
      <p:sp>
        <p:nvSpPr>
          <p:cNvPr id="15" name="Google Shape;101;p13">
            <a:extLst>
              <a:ext uri="{FF2B5EF4-FFF2-40B4-BE49-F238E27FC236}">
                <a16:creationId xmlns:a16="http://schemas.microsoft.com/office/drawing/2014/main" id="{5F331993-8839-E14F-87F0-12C37B552B26}"/>
              </a:ext>
            </a:extLst>
          </p:cNvPr>
          <p:cNvSpPr txBox="1"/>
          <p:nvPr/>
        </p:nvSpPr>
        <p:spPr>
          <a:xfrm>
            <a:off x="141457" y="369725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People</a:t>
            </a:r>
            <a:endParaRPr sz="2400" b="1" dirty="0">
              <a:solidFill>
                <a:srgbClr val="FF0000"/>
              </a:solidFill>
              <a:latin typeface="Calibri"/>
              <a:ea typeface="Calibri"/>
              <a:cs typeface="Calibri"/>
              <a:sym typeface="Calibri"/>
            </a:endParaRPr>
          </a:p>
        </p:txBody>
      </p:sp>
      <p:sp>
        <p:nvSpPr>
          <p:cNvPr id="16" name="Google Shape;98;p13">
            <a:extLst>
              <a:ext uri="{FF2B5EF4-FFF2-40B4-BE49-F238E27FC236}">
                <a16:creationId xmlns:a16="http://schemas.microsoft.com/office/drawing/2014/main" id="{8801D4D2-6C87-E448-BABD-2406AFC4D1B5}"/>
              </a:ext>
            </a:extLst>
          </p:cNvPr>
          <p:cNvSpPr/>
          <p:nvPr/>
        </p:nvSpPr>
        <p:spPr>
          <a:xfrm>
            <a:off x="2415908" y="4770269"/>
            <a:ext cx="4116519" cy="1638072"/>
          </a:xfrm>
          <a:prstGeom prst="ellipse">
            <a:avLst/>
          </a:prstGeom>
          <a:solidFill>
            <a:srgbClr val="92D05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00B0F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A4C67650-35D1-004F-BCDB-9A543C31DEBB}"/>
              </a:ext>
            </a:extLst>
          </p:cNvPr>
          <p:cNvSpPr txBox="1"/>
          <p:nvPr/>
        </p:nvSpPr>
        <p:spPr>
          <a:xfrm>
            <a:off x="3961014" y="5689203"/>
            <a:ext cx="267326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A2 - Dog Owner</a:t>
            </a:r>
            <a:endParaRPr sz="2400" b="1" dirty="0">
              <a:solidFill>
                <a:srgbClr val="FF0000"/>
              </a:solidFill>
              <a:latin typeface="Calibri"/>
              <a:ea typeface="Calibri"/>
              <a:cs typeface="Calibri"/>
              <a:sym typeface="Calibri"/>
            </a:endParaRPr>
          </a:p>
        </p:txBody>
      </p:sp>
      <p:sp>
        <p:nvSpPr>
          <p:cNvPr id="5" name="TextBox 4">
            <a:extLst>
              <a:ext uri="{FF2B5EF4-FFF2-40B4-BE49-F238E27FC236}">
                <a16:creationId xmlns:a16="http://schemas.microsoft.com/office/drawing/2014/main" id="{84C959D5-AEAE-C24D-891D-18CF918B93E3}"/>
              </a:ext>
            </a:extLst>
          </p:cNvPr>
          <p:cNvSpPr txBox="1"/>
          <p:nvPr/>
        </p:nvSpPr>
        <p:spPr>
          <a:xfrm>
            <a:off x="6907128" y="4663505"/>
            <a:ext cx="2255288" cy="1384995"/>
          </a:xfrm>
          <a:prstGeom prst="rect">
            <a:avLst/>
          </a:prstGeom>
          <a:noFill/>
        </p:spPr>
        <p:txBody>
          <a:bodyPr wrap="square" rtlCol="0">
            <a:spAutoFit/>
          </a:bodyPr>
          <a:lstStyle/>
          <a:p>
            <a:r>
              <a:rPr lang="en-US" dirty="0"/>
              <a:t>Features:</a:t>
            </a:r>
          </a:p>
          <a:p>
            <a:r>
              <a:rPr lang="en-US" dirty="0"/>
              <a:t>     A1 – Exercise Daily</a:t>
            </a:r>
          </a:p>
          <a:p>
            <a:r>
              <a:rPr lang="en-US" dirty="0"/>
              <a:t>     A2 – Dog owner</a:t>
            </a:r>
          </a:p>
          <a:p>
            <a:endParaRPr lang="en-US" dirty="0"/>
          </a:p>
          <a:p>
            <a:r>
              <a:rPr lang="en-US" dirty="0"/>
              <a:t>Outcome:</a:t>
            </a:r>
          </a:p>
          <a:p>
            <a:r>
              <a:rPr lang="en-US" dirty="0"/>
              <a:t>     B – Person is Fit</a:t>
            </a:r>
          </a:p>
        </p:txBody>
      </p:sp>
      <mc:AlternateContent xmlns:mc="http://schemas.openxmlformats.org/markup-compatibility/2006">
        <mc:Choice xmlns:a14="http://schemas.microsoft.com/office/drawing/2010/main" Requires="a14">
          <p:sp>
            <p:nvSpPr>
              <p:cNvPr id="18" name="Google Shape;88;p13">
                <a:extLst>
                  <a:ext uri="{FF2B5EF4-FFF2-40B4-BE49-F238E27FC236}">
                    <a16:creationId xmlns:a16="http://schemas.microsoft.com/office/drawing/2014/main" id="{95068AA8-7119-4F4F-AEAA-537C8A13CD7B}"/>
                  </a:ext>
                </a:extLst>
              </p:cNvPr>
              <p:cNvSpPr txBox="1"/>
              <p:nvPr/>
            </p:nvSpPr>
            <p:spPr>
              <a:xfrm>
                <a:off x="9034272" y="145478"/>
                <a:ext cx="3020568" cy="149489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endParaRPr lang="en-US" sz="2000" b="0" i="0" u="none" strike="noStrike" cap="none"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20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endParaRPr lang="en-US" sz="2000" dirty="0">
                  <a:solidFill>
                    <a:schemeClr val="dk1"/>
                  </a:solidFill>
                  <a:latin typeface="Calibri"/>
                  <a:cs typeface="Calibri"/>
                  <a:sym typeface="Calibri"/>
                </a:endParaRPr>
              </a:p>
              <a:p>
                <a:pPr algn="ctr"/>
                <a:r>
                  <a:rPr lang="en-US" sz="2000" dirty="0">
                    <a:solidFill>
                      <a:schemeClr val="dk1"/>
                    </a:solidFill>
                    <a:latin typeface="Calibri"/>
                    <a:cs typeface="Calibri"/>
                    <a:sym typeface="Calibri"/>
                  </a:rPr>
                  <a:t>     </a:t>
                </a:r>
                <a:endParaRPr sz="2400" b="0" i="0" u="none" strike="noStrike" cap="none" dirty="0">
                  <a:solidFill>
                    <a:schemeClr val="dk1"/>
                  </a:solidFill>
                  <a:latin typeface="Calibri"/>
                  <a:ea typeface="Calibri"/>
                  <a:cs typeface="Calibri"/>
                  <a:sym typeface="Calibri"/>
                </a:endParaRPr>
              </a:p>
            </p:txBody>
          </p:sp>
        </mc:Choice>
        <mc:Fallback>
          <p:sp>
            <p:nvSpPr>
              <p:cNvPr id="18" name="Google Shape;88;p13">
                <a:extLst>
                  <a:ext uri="{FF2B5EF4-FFF2-40B4-BE49-F238E27FC236}">
                    <a16:creationId xmlns:a16="http://schemas.microsoft.com/office/drawing/2014/main" id="{95068AA8-7119-4F4F-AEAA-537C8A13CD7B}"/>
                  </a:ext>
                </a:extLst>
              </p:cNvPr>
              <p:cNvSpPr txBox="1">
                <a:spLocks noRot="1" noChangeAspect="1" noMove="1" noResize="1" noEditPoints="1" noAdjustHandles="1" noChangeArrowheads="1" noChangeShapeType="1" noTextEdit="1"/>
              </p:cNvSpPr>
              <p:nvPr/>
            </p:nvSpPr>
            <p:spPr>
              <a:xfrm>
                <a:off x="9034272" y="145478"/>
                <a:ext cx="3020568" cy="1494897"/>
              </a:xfrm>
              <a:prstGeom prst="rect">
                <a:avLst/>
              </a:prstGeom>
              <a:blipFill>
                <a:blip r:embed="rId3"/>
                <a:stretch>
                  <a:fillRect l="-3689" t="-3252" r="-2869"/>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C18BF3F9-41BB-1D45-8949-62D567A837E2}"/>
                  </a:ext>
                </a:extLst>
              </p:cNvPr>
              <p:cNvSpPr txBox="1"/>
              <p:nvPr/>
            </p:nvSpPr>
            <p:spPr>
              <a:xfrm>
                <a:off x="7908064" y="2078755"/>
                <a:ext cx="4190152"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m:t>
                      </m:r>
                      <m:r>
                        <a:rPr lang="en-US" b="1" i="1" baseline="-25000" smtClean="0">
                          <a:latin typeface="Cambria Math" panose="02040503050406030204" pitchFamily="18" charset="0"/>
                        </a:rPr>
                        <m:t> </m:t>
                      </m:r>
                      <m:r>
                        <a:rPr lang="en-US" b="1" i="1" smtClean="0">
                          <a:latin typeface="Cambria Math" panose="02040503050406030204" pitchFamily="18" charset="0"/>
                        </a:rPr>
                        <m:t>=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smtClean="0">
                              <a:latin typeface="Cambria Math" panose="02040503050406030204" pitchFamily="18" charset="0"/>
                            </a:rPr>
                            <m:t>𝑭𝒊𝒕</m:t>
                          </m:r>
                        </m:e>
                        <m:e>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p:sp>
            <p:nvSpPr>
              <p:cNvPr id="19" name="TextBox 18">
                <a:extLst>
                  <a:ext uri="{FF2B5EF4-FFF2-40B4-BE49-F238E27FC236}">
                    <a16:creationId xmlns:a16="http://schemas.microsoft.com/office/drawing/2014/main" id="{C18BF3F9-41BB-1D45-8949-62D567A837E2}"/>
                  </a:ext>
                </a:extLst>
              </p:cNvPr>
              <p:cNvSpPr txBox="1">
                <a:spLocks noRot="1" noChangeAspect="1" noMove="1" noResize="1" noEditPoints="1" noAdjustHandles="1" noChangeArrowheads="1" noChangeShapeType="1" noTextEdit="1"/>
              </p:cNvSpPr>
              <p:nvPr/>
            </p:nvSpPr>
            <p:spPr>
              <a:xfrm>
                <a:off x="7908064" y="2078755"/>
                <a:ext cx="4190152" cy="756361"/>
              </a:xfrm>
              <a:prstGeom prst="rect">
                <a:avLst/>
              </a:prstGeom>
              <a:blipFill>
                <a:blip r:embed="rId4"/>
                <a:stretch>
                  <a:fillRect b="-327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A3C17639-B2CB-5F4A-8710-9F35E10CFB69}"/>
                  </a:ext>
                </a:extLst>
              </p:cNvPr>
              <p:cNvSpPr txBox="1"/>
              <p:nvPr/>
            </p:nvSpPr>
            <p:spPr>
              <a:xfrm>
                <a:off x="7908064" y="3303835"/>
                <a:ext cx="3592274"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m:t>
                      </m:r>
                      <m:r>
                        <a:rPr lang="en-US" b="1" i="1" smtClean="0">
                          <a:latin typeface="Cambria Math" panose="02040503050406030204" pitchFamily="18" charset="0"/>
                        </a:rPr>
                        <m:t> </m:t>
                      </m:r>
                      <m:r>
                        <a:rPr lang="en-US" b="1" i="1">
                          <a:latin typeface="Cambria Math" panose="02040503050406030204" pitchFamily="18" charset="0"/>
                        </a:rPr>
                        <m:t>= </m:t>
                      </m:r>
                      <m:r>
                        <a:rPr lang="en-US" b="1" i="1" smtClean="0">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𝑭𝒊𝒕</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p:sp>
            <p:nvSpPr>
              <p:cNvPr id="20" name="TextBox 19">
                <a:extLst>
                  <a:ext uri="{FF2B5EF4-FFF2-40B4-BE49-F238E27FC236}">
                    <a16:creationId xmlns:a16="http://schemas.microsoft.com/office/drawing/2014/main" id="{A3C17639-B2CB-5F4A-8710-9F35E10CFB69}"/>
                  </a:ext>
                </a:extLst>
              </p:cNvPr>
              <p:cNvSpPr txBox="1">
                <a:spLocks noRot="1" noChangeAspect="1" noMove="1" noResize="1" noEditPoints="1" noAdjustHandles="1" noChangeArrowheads="1" noChangeShapeType="1" noTextEdit="1"/>
              </p:cNvSpPr>
              <p:nvPr/>
            </p:nvSpPr>
            <p:spPr>
              <a:xfrm>
                <a:off x="7908064" y="3303835"/>
                <a:ext cx="3592274" cy="756361"/>
              </a:xfrm>
              <a:prstGeom prst="rect">
                <a:avLst/>
              </a:prstGeom>
              <a:blipFill>
                <a:blip r:embed="rId5"/>
                <a:stretch>
                  <a:fillRect b="-5000"/>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4E5DB39C-A2AB-B047-AE7B-AEB0B4609893}"/>
              </a:ext>
            </a:extLst>
          </p:cNvPr>
          <p:cNvSpPr/>
          <p:nvPr/>
        </p:nvSpPr>
        <p:spPr>
          <a:xfrm rot="2264946">
            <a:off x="9928613" y="2824594"/>
            <a:ext cx="156536" cy="587491"/>
          </a:xfrm>
          <a:prstGeom prst="down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37068B0-78A5-0E4A-8BEA-9B3F5428B23A}"/>
                  </a:ext>
                </a:extLst>
              </p:cNvPr>
              <p:cNvSpPr txBox="1"/>
              <p:nvPr/>
            </p:nvSpPr>
            <p:spPr>
              <a:xfrm>
                <a:off x="126123" y="731651"/>
                <a:ext cx="11109435" cy="2497607"/>
              </a:xfrm>
              <a:prstGeom prst="rect">
                <a:avLst/>
              </a:prstGeom>
              <a:noFill/>
            </p:spPr>
            <p:txBody>
              <a:bodyPr wrap="square" rtlCol="0">
                <a:spAutoFit/>
              </a:bodyPr>
              <a:lstStyle/>
              <a:p>
                <a:r>
                  <a:rPr lang="en-US" dirty="0"/>
                  <a:t>Suppose that an outcome "O" can have values </a:t>
                </a:r>
                <a:r>
                  <a:rPr lang="en-US" b="1" dirty="0"/>
                  <a:t>True</a:t>
                </a:r>
                <a:r>
                  <a:rPr lang="en-US" dirty="0"/>
                  <a:t> or </a:t>
                </a:r>
                <a:r>
                  <a:rPr lang="en-US" b="1" dirty="0"/>
                  <a:t>False</a:t>
                </a:r>
                <a:r>
                  <a:rPr lang="en-US" dirty="0"/>
                  <a:t> (Binary Classification) depending on events e1, e2, e3.</a:t>
                </a:r>
              </a:p>
              <a:p>
                <a:r>
                  <a:rPr lang="en-US" dirty="0"/>
                  <a:t>Suppose that influences of these events on the outcome are mutually independent. </a:t>
                </a:r>
              </a:p>
              <a:p>
                <a:r>
                  <a:rPr lang="en-US" dirty="0"/>
                  <a:t>Then we can write Bayes' Theorem formula like this:</a:t>
                </a:r>
              </a:p>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𝒕𝒓𝒖𝒆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𝑻𝒓𝒖𝒆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𝟐</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den>
                      </m:f>
                      <m:r>
                        <a:rPr lang="en-US" b="1" i="1" smtClean="0">
                          <a:latin typeface="Cambria Math" panose="02040503050406030204" pitchFamily="18" charset="0"/>
                        </a:rPr>
                        <m:t>   </m:t>
                      </m:r>
                      <m:r>
                        <a:rPr lang="en-US" b="1" i="1">
                          <a:latin typeface="Cambria Math" panose="02040503050406030204" pitchFamily="18" charset="0"/>
                        </a:rPr>
                        <m:t>= </m:t>
                      </m:r>
                      <m:r>
                        <a:rPr lang="en-US" b="1" i="1" smtClean="0">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den>
                      </m:f>
                    </m:oMath>
                  </m:oMathPara>
                </a14:m>
                <a:endParaRPr lang="en-US" dirty="0"/>
              </a:p>
              <a:p>
                <a:r>
                  <a:rPr lang="en-US" dirty="0"/>
                  <a:t> </a:t>
                </a:r>
              </a:p>
              <a:p>
                <a:r>
                  <a:rPr lang="en-US" dirty="0"/>
                  <a:t>and similarly:</a:t>
                </a:r>
              </a:p>
              <a:p>
                <a:r>
                  <a:rPr lang="en-US" dirty="0"/>
                  <a:t> </a:t>
                </a: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𝒇𝒂𝒍𝒔𝒆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𝑭𝒂𝒍𝒔𝒆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r>
                        <a:rPr lang="en-US" b="1" i="1">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𝑭𝒂𝒍𝒔𝒆</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den>
                      </m:f>
                    </m:oMath>
                  </m:oMathPara>
                </a14:m>
                <a:endParaRPr lang="en-US" dirty="0"/>
              </a:p>
            </p:txBody>
          </p:sp>
        </mc:Choice>
        <mc:Fallback xmlns="">
          <p:sp>
            <p:nvSpPr>
              <p:cNvPr id="5" name="TextBox 4">
                <a:extLst>
                  <a:ext uri="{FF2B5EF4-FFF2-40B4-BE49-F238E27FC236}">
                    <a16:creationId xmlns:a16="http://schemas.microsoft.com/office/drawing/2014/main" id="{637068B0-78A5-0E4A-8BEA-9B3F5428B23A}"/>
                  </a:ext>
                </a:extLst>
              </p:cNvPr>
              <p:cNvSpPr txBox="1">
                <a:spLocks noRot="1" noChangeAspect="1" noMove="1" noResize="1" noEditPoints="1" noAdjustHandles="1" noChangeArrowheads="1" noChangeShapeType="1" noTextEdit="1"/>
              </p:cNvSpPr>
              <p:nvPr/>
            </p:nvSpPr>
            <p:spPr>
              <a:xfrm>
                <a:off x="126123" y="731651"/>
                <a:ext cx="11109435" cy="2497607"/>
              </a:xfrm>
              <a:prstGeom prst="rect">
                <a:avLst/>
              </a:prstGeom>
              <a:blipFill>
                <a:blip r:embed="rId2"/>
                <a:stretch>
                  <a:fillRect l="-114" t="-508" b="-50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518FC7FC-51D9-5A43-8D54-0691902B9E97}"/>
                  </a:ext>
                </a:extLst>
              </p:cNvPr>
              <p:cNvSpPr txBox="1"/>
              <p:nvPr/>
            </p:nvSpPr>
            <p:spPr>
              <a:xfrm>
                <a:off x="126122" y="3405873"/>
                <a:ext cx="11109435" cy="3341684"/>
              </a:xfrm>
              <a:prstGeom prst="rect">
                <a:avLst/>
              </a:prstGeom>
              <a:noFill/>
            </p:spPr>
            <p:txBody>
              <a:bodyPr wrap="square" rtlCol="0">
                <a:spAutoFit/>
              </a:bodyPr>
              <a:lstStyle/>
              <a:p>
                <a:r>
                  <a:rPr lang="en-US" dirty="0"/>
                  <a:t>Note how we write conditional probability P(e1,e2,e3|O) on top as a product of individual probabilities.</a:t>
                </a:r>
              </a:p>
              <a:p>
                <a:r>
                  <a:rPr lang="en-US" dirty="0"/>
                  <a:t>We can do that because their influences are presumed independent and equal (this is the main assumption of "Naive" approach).</a:t>
                </a:r>
              </a:p>
              <a:p>
                <a:endParaRPr lang="en-US" dirty="0"/>
              </a:p>
              <a:p>
                <a:r>
                  <a:rPr lang="en-US" dirty="0"/>
                  <a:t>Also note that the probability in the </a:t>
                </a:r>
                <a:r>
                  <a:rPr lang="en-US" b="1" dirty="0">
                    <a:solidFill>
                      <a:srgbClr val="00B050"/>
                    </a:solidFill>
                  </a:rPr>
                  <a:t>denominator</a:t>
                </a:r>
                <a:r>
                  <a:rPr lang="en-US" dirty="0"/>
                  <a:t> </a:t>
                </a:r>
                <a:r>
                  <a:rPr lang="en-US" b="1" dirty="0">
                    <a:solidFill>
                      <a:srgbClr val="FF0000"/>
                    </a:solidFill>
                  </a:rPr>
                  <a:t>is NOT split into multiplication</a:t>
                </a:r>
                <a:r>
                  <a:rPr lang="en-US" dirty="0"/>
                  <a:t>. </a:t>
                </a:r>
                <a:br>
                  <a:rPr lang="en-US" dirty="0"/>
                </a:br>
                <a:r>
                  <a:rPr lang="en-US" dirty="0"/>
                  <a:t>We can not split it because generally we don't assume that events e1,e2,e3 are independent. </a:t>
                </a:r>
                <a:br>
                  <a:rPr lang="en-US" dirty="0"/>
                </a:br>
                <a:r>
                  <a:rPr lang="en-US" dirty="0"/>
                  <a:t>We only assume that their influences on the outcome "O" are independent (and equal in their potential influence).</a:t>
                </a:r>
              </a:p>
              <a:p>
                <a:endParaRPr lang="en-US" dirty="0"/>
              </a:p>
              <a:p>
                <a:r>
                  <a:rPr lang="en-US" dirty="0"/>
                  <a:t>But the good news is that we don't have to calculate the denominator, because it is the same for both probabilities, and for classification purposes we only need to determine which value is larger – </a:t>
                </a:r>
                <a:r>
                  <a:rPr lang="en-US" dirty="0" err="1"/>
                  <a:t>P</a:t>
                </a:r>
                <a:r>
                  <a:rPr lang="en-US" baseline="-25000" dirty="0" err="1"/>
                  <a:t>true</a:t>
                </a:r>
                <a:r>
                  <a:rPr lang="en-US" dirty="0"/>
                  <a:t> or </a:t>
                </a:r>
                <a:r>
                  <a:rPr lang="en-US" dirty="0" err="1"/>
                  <a:t>P</a:t>
                </a:r>
                <a:r>
                  <a:rPr lang="en-US" baseline="-25000" dirty="0" err="1"/>
                  <a:t>false</a:t>
                </a:r>
                <a:r>
                  <a:rPr lang="en-US" dirty="0"/>
                  <a:t>.</a:t>
                </a:r>
              </a:p>
              <a:p>
                <a:endParaRPr lang="en-US" dirty="0"/>
              </a:p>
              <a:p>
                <a:r>
                  <a:rPr lang="en-US" dirty="0"/>
                  <a:t>Also note that if you want to use this formula for only few events (for example e1 &amp; e2), you can simply remove all other events from the formula as if you have never known that they existed. Ultimately for just one event e1 you will get classical Bayes formula: </a:t>
                </a:r>
              </a:p>
              <a:p>
                <a:endParaRPr lang="en-US" dirty="0"/>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den>
                      </m:f>
                    </m:oMath>
                  </m:oMathPara>
                </a14:m>
                <a:endParaRPr lang="en-US" dirty="0"/>
              </a:p>
            </p:txBody>
          </p:sp>
        </mc:Choice>
        <mc:Fallback>
          <p:sp>
            <p:nvSpPr>
              <p:cNvPr id="6" name="TextBox 5">
                <a:extLst>
                  <a:ext uri="{FF2B5EF4-FFF2-40B4-BE49-F238E27FC236}">
                    <a16:creationId xmlns:a16="http://schemas.microsoft.com/office/drawing/2014/main" id="{518FC7FC-51D9-5A43-8D54-0691902B9E97}"/>
                  </a:ext>
                </a:extLst>
              </p:cNvPr>
              <p:cNvSpPr txBox="1">
                <a:spLocks noRot="1" noChangeAspect="1" noMove="1" noResize="1" noEditPoints="1" noAdjustHandles="1" noChangeArrowheads="1" noChangeShapeType="1" noTextEdit="1"/>
              </p:cNvSpPr>
              <p:nvPr/>
            </p:nvSpPr>
            <p:spPr>
              <a:xfrm>
                <a:off x="126122" y="3405873"/>
                <a:ext cx="11109435" cy="3341684"/>
              </a:xfrm>
              <a:prstGeom prst="rect">
                <a:avLst/>
              </a:prstGeom>
              <a:blipFill>
                <a:blip r:embed="rId3"/>
                <a:stretch>
                  <a:fillRect l="-229" t="-379"/>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6C291246-E548-174A-A5A0-C754F51FA9FB}"/>
              </a:ext>
            </a:extLst>
          </p:cNvPr>
          <p:cNvSpPr txBox="1"/>
          <p:nvPr/>
        </p:nvSpPr>
        <p:spPr>
          <a:xfrm>
            <a:off x="126124" y="66909"/>
            <a:ext cx="5969876" cy="400110"/>
          </a:xfrm>
          <a:prstGeom prst="rect">
            <a:avLst/>
          </a:prstGeom>
          <a:noFill/>
        </p:spPr>
        <p:txBody>
          <a:bodyPr wrap="square" rtlCol="0">
            <a:spAutoFit/>
          </a:bodyPr>
          <a:lstStyle/>
          <a:p>
            <a:r>
              <a:rPr lang="en-US" sz="2000" b="1"/>
              <a:t>Naive Bayes Classification in more details:</a:t>
            </a:r>
            <a:endParaRPr lang="en-US" sz="2000"/>
          </a:p>
        </p:txBody>
      </p:sp>
    </p:spTree>
    <p:extLst>
      <p:ext uri="{BB962C8B-B14F-4D97-AF65-F5344CB8AC3E}">
        <p14:creationId xmlns:p14="http://schemas.microsoft.com/office/powerpoint/2010/main" val="38272442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64172" y="64169"/>
            <a:ext cx="5293274" cy="5219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Calibri"/>
                <a:ea typeface="Calibri"/>
                <a:cs typeface="Calibri"/>
                <a:sym typeface="Calibri"/>
              </a:rPr>
              <a:t>Naive Bayes classifiers - continued</a:t>
            </a:r>
            <a:endParaRPr sz="2800" b="1" dirty="0">
              <a:solidFill>
                <a:schemeClr val="dk1"/>
              </a:solidFill>
              <a:latin typeface="Calibri"/>
              <a:ea typeface="Calibri"/>
              <a:cs typeface="Calibri"/>
              <a:sym typeface="Calibri"/>
            </a:endParaRPr>
          </a:p>
        </p:txBody>
      </p:sp>
      <p:sp>
        <p:nvSpPr>
          <p:cNvPr id="10" name="TextBox 9">
            <a:extLst>
              <a:ext uri="{FF2B5EF4-FFF2-40B4-BE49-F238E27FC236}">
                <a16:creationId xmlns:a16="http://schemas.microsoft.com/office/drawing/2014/main" id="{812C9AFE-2DC4-2C49-A11B-4A24EEEF46C2}"/>
              </a:ext>
            </a:extLst>
          </p:cNvPr>
          <p:cNvSpPr txBox="1"/>
          <p:nvPr/>
        </p:nvSpPr>
        <p:spPr>
          <a:xfrm>
            <a:off x="64171" y="5166530"/>
            <a:ext cx="8350229" cy="1600438"/>
          </a:xfrm>
          <a:prstGeom prst="rect">
            <a:avLst/>
          </a:prstGeom>
          <a:noFill/>
        </p:spPr>
        <p:txBody>
          <a:bodyPr wrap="square" rtlCol="0">
            <a:spAutoFit/>
          </a:bodyPr>
          <a:lstStyle/>
          <a:p>
            <a:r>
              <a:rPr lang="en-US" dirty="0">
                <a:latin typeface="Calibri" panose="020F0502020204030204" pitchFamily="34" charset="0"/>
                <a:cs typeface="Calibri" panose="020F0502020204030204" pitchFamily="34" charset="0"/>
              </a:rPr>
              <a:t>Here is a very good short video explaining the Naive Bayes Classification on a specific simple example:</a:t>
            </a:r>
          </a:p>
          <a:p>
            <a:r>
              <a:rPr lang="en-US" dirty="0">
                <a:latin typeface="Calibri" panose="020F0502020204030204" pitchFamily="34" charset="0"/>
                <a:cs typeface="Calibri" panose="020F0502020204030204" pitchFamily="34" charset="0"/>
              </a:rPr>
              <a:t> - </a:t>
            </a:r>
            <a:r>
              <a:rPr lang="en-US" dirty="0">
                <a:latin typeface="Calibri" panose="020F0502020204030204" pitchFamily="34" charset="0"/>
                <a:cs typeface="Calibri" panose="020F0502020204030204" pitchFamily="34" charset="0"/>
                <a:hlinkClick r:id="rId3"/>
              </a:rPr>
              <a:t>https://www.youtube.com/watch?v=CPqOCI0ahss</a:t>
            </a:r>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Note – there is a (common) mistake in this video! </a:t>
            </a:r>
          </a:p>
          <a:p>
            <a:r>
              <a:rPr lang="en-US" dirty="0">
                <a:latin typeface="Calibri" panose="020F0502020204030204" pitchFamily="34" charset="0"/>
                <a:cs typeface="Calibri" panose="020F0502020204030204" pitchFamily="34" charset="0"/>
              </a:rPr>
              <a:t>Author calculates denominators via multiplication of individual probabilities. </a:t>
            </a:r>
          </a:p>
          <a:p>
            <a:r>
              <a:rPr lang="en-US" dirty="0">
                <a:latin typeface="Calibri" panose="020F0502020204030204" pitchFamily="34" charset="0"/>
                <a:cs typeface="Calibri" panose="020F0502020204030204" pitchFamily="34" charset="0"/>
              </a:rPr>
              <a:t>This is wrong. </a:t>
            </a:r>
          </a:p>
          <a:p>
            <a:r>
              <a:rPr lang="en-US" dirty="0">
                <a:latin typeface="Calibri" panose="020F0502020204030204" pitchFamily="34" charset="0"/>
                <a:cs typeface="Calibri" panose="020F0502020204030204" pitchFamily="34" charset="0"/>
              </a:rPr>
              <a:t>You can see it by yourself how making calculation this way makes the sum of two probabilities greater than one. </a:t>
            </a:r>
          </a:p>
          <a:p>
            <a:r>
              <a:rPr lang="en-US" dirty="0">
                <a:latin typeface="Calibri" panose="020F0502020204030204" pitchFamily="34" charset="0"/>
                <a:cs typeface="Calibri" panose="020F0502020204030204" pitchFamily="34" charset="0"/>
              </a:rPr>
              <a:t>Also here is a good article - </a:t>
            </a:r>
            <a:r>
              <a:rPr lang="en-US" dirty="0">
                <a:latin typeface="Calibri" panose="020F0502020204030204" pitchFamily="34" charset="0"/>
                <a:cs typeface="Calibri" panose="020F0502020204030204" pitchFamily="34" charset="0"/>
                <a:hlinkClick r:id="rId4"/>
              </a:rPr>
              <a:t>https://www.geeksforgeeks.org/naive-bayes-classifiers/</a:t>
            </a:r>
            <a:r>
              <a:rPr lang="en-US" dirty="0">
                <a:latin typeface="Calibri" panose="020F0502020204030204" pitchFamily="34" charset="0"/>
                <a:cs typeface="Calibri" panose="020F0502020204030204" pitchFamily="34" charset="0"/>
              </a:rPr>
              <a:t> </a:t>
            </a:r>
          </a:p>
        </p:txBody>
      </p:sp>
      <p:pic>
        <p:nvPicPr>
          <p:cNvPr id="2" name="Picture 1">
            <a:extLst>
              <a:ext uri="{FF2B5EF4-FFF2-40B4-BE49-F238E27FC236}">
                <a16:creationId xmlns:a16="http://schemas.microsoft.com/office/drawing/2014/main" id="{4627EC18-8F38-2442-B549-FBAD6F81E7EB}"/>
              </a:ext>
            </a:extLst>
          </p:cNvPr>
          <p:cNvPicPr>
            <a:picLocks noChangeAspect="1"/>
          </p:cNvPicPr>
          <p:nvPr/>
        </p:nvPicPr>
        <p:blipFill>
          <a:blip r:embed="rId5"/>
          <a:stretch>
            <a:fillRect/>
          </a:stretch>
        </p:blipFill>
        <p:spPr>
          <a:xfrm>
            <a:off x="7200900" y="891251"/>
            <a:ext cx="4991100" cy="3594100"/>
          </a:xfrm>
          <a:prstGeom prst="rect">
            <a:avLst/>
          </a:prstGeom>
        </p:spPr>
      </p:pic>
      <p:sp>
        <p:nvSpPr>
          <p:cNvPr id="3" name="TextBox 2">
            <a:extLst>
              <a:ext uri="{FF2B5EF4-FFF2-40B4-BE49-F238E27FC236}">
                <a16:creationId xmlns:a16="http://schemas.microsoft.com/office/drawing/2014/main" id="{11C7D318-EE28-164A-87A7-71DE10B21FD7}"/>
              </a:ext>
            </a:extLst>
          </p:cNvPr>
          <p:cNvSpPr txBox="1"/>
          <p:nvPr/>
        </p:nvSpPr>
        <p:spPr>
          <a:xfrm>
            <a:off x="7527086" y="502864"/>
            <a:ext cx="4385619" cy="400110"/>
          </a:xfrm>
          <a:prstGeom prst="rect">
            <a:avLst/>
          </a:prstGeom>
          <a:noFill/>
        </p:spPr>
        <p:txBody>
          <a:bodyPr wrap="square" rtlCol="0">
            <a:spAutoFit/>
          </a:bodyPr>
          <a:lstStyle/>
          <a:p>
            <a:r>
              <a:rPr lang="en-US" sz="2000" b="1" dirty="0">
                <a:solidFill>
                  <a:srgbClr val="00B050"/>
                </a:solidFill>
              </a:rPr>
              <a:t>A</a:t>
            </a:r>
            <a:r>
              <a:rPr lang="en-US" sz="2000" b="1" baseline="-25000" dirty="0">
                <a:solidFill>
                  <a:srgbClr val="00B050"/>
                </a:solidFill>
              </a:rPr>
              <a:t>1</a:t>
            </a:r>
            <a:r>
              <a:rPr lang="en-US" sz="2000" b="1" dirty="0">
                <a:solidFill>
                  <a:srgbClr val="00B050"/>
                </a:solidFill>
              </a:rPr>
              <a:t>         A</a:t>
            </a:r>
            <a:r>
              <a:rPr lang="en-US" sz="2000" b="1" baseline="-25000" dirty="0">
                <a:solidFill>
                  <a:srgbClr val="00B050"/>
                </a:solidFill>
              </a:rPr>
              <a:t>2</a:t>
            </a:r>
            <a:r>
              <a:rPr lang="en-US" sz="2000" b="1" dirty="0">
                <a:solidFill>
                  <a:srgbClr val="00B050"/>
                </a:solidFill>
              </a:rPr>
              <a:t>          A</a:t>
            </a:r>
            <a:r>
              <a:rPr lang="en-US" sz="2000" b="1" baseline="-25000" dirty="0">
                <a:solidFill>
                  <a:srgbClr val="00B050"/>
                </a:solidFill>
              </a:rPr>
              <a:t>3</a:t>
            </a:r>
            <a:r>
              <a:rPr lang="en-US" sz="2000" b="1" dirty="0">
                <a:solidFill>
                  <a:srgbClr val="00B050"/>
                </a:solidFill>
              </a:rPr>
              <a:t>          A</a:t>
            </a:r>
            <a:r>
              <a:rPr lang="en-US" sz="2000" b="1" baseline="-25000" dirty="0">
                <a:solidFill>
                  <a:srgbClr val="00B050"/>
                </a:solidFill>
              </a:rPr>
              <a:t>4</a:t>
            </a:r>
            <a:r>
              <a:rPr lang="en-US" sz="2000" b="1" dirty="0">
                <a:solidFill>
                  <a:srgbClr val="00B050"/>
                </a:solidFill>
              </a:rPr>
              <a:t>          B</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108;p14">
            <a:extLst>
              <a:ext uri="{FF2B5EF4-FFF2-40B4-BE49-F238E27FC236}">
                <a16:creationId xmlns:a16="http://schemas.microsoft.com/office/drawing/2014/main" id="{661B5C5B-4BA7-1847-83DD-79D68EBBF580}"/>
              </a:ext>
            </a:extLst>
          </p:cNvPr>
          <p:cNvSpPr txBox="1"/>
          <p:nvPr/>
        </p:nvSpPr>
        <p:spPr>
          <a:xfrm>
            <a:off x="219196" y="1111554"/>
            <a:ext cx="5879429" cy="3153494"/>
          </a:xfrm>
          <a:prstGeom prst="rect">
            <a:avLst/>
          </a:prstGeom>
          <a:noFill/>
          <a:ln>
            <a:noFill/>
          </a:ln>
        </p:spPr>
        <p:txBody>
          <a:bodyPr spcFirstLastPara="1" wrap="square" lIns="91425" tIns="45700" rIns="91425" bIns="45700" anchor="t" anchorCtr="0">
            <a:noAutofit/>
          </a:bodyPr>
          <a:lstStyle/>
          <a:p>
            <a:pPr lvl="0"/>
            <a:r>
              <a:rPr lang="en-US" dirty="0">
                <a:solidFill>
                  <a:schemeClr val="dk1"/>
                </a:solidFill>
                <a:latin typeface="Calibri"/>
                <a:ea typeface="Calibri"/>
                <a:cs typeface="Calibri"/>
                <a:sym typeface="Calibri"/>
              </a:rPr>
              <a:t>In the table to the right we have 4 columns A</a:t>
            </a:r>
            <a:r>
              <a:rPr lang="en-US" baseline="-25000" dirty="0">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with features </a:t>
            </a:r>
          </a:p>
          <a:p>
            <a:pPr lvl="0"/>
            <a:r>
              <a:rPr lang="en-US" dirty="0">
                <a:solidFill>
                  <a:schemeClr val="dk1"/>
                </a:solidFill>
                <a:latin typeface="Calibri"/>
                <a:ea typeface="Calibri"/>
                <a:cs typeface="Calibri"/>
                <a:sym typeface="Calibri"/>
              </a:rPr>
              <a:t>and one outcome column B - "Play Golf". </a:t>
            </a:r>
          </a:p>
          <a:p>
            <a:pPr lvl="0"/>
            <a:r>
              <a:rPr lang="en-US" dirty="0">
                <a:solidFill>
                  <a:schemeClr val="dk1"/>
                </a:solidFill>
                <a:latin typeface="Calibri"/>
                <a:ea typeface="Calibri"/>
                <a:cs typeface="Calibri"/>
                <a:sym typeface="Calibri"/>
              </a:rPr>
              <a:t>For each value of the outcome (Yes or No) we can calculate the conditional probability/frequency of seeing each feature value A</a:t>
            </a:r>
            <a:r>
              <a:rPr lang="en-US" baseline="-25000" dirty="0">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for a given outcome B:    </a:t>
            </a:r>
          </a:p>
          <a:p>
            <a:pPr lvl="0"/>
            <a:r>
              <a:rPr lang="en-US" dirty="0">
                <a:solidFill>
                  <a:schemeClr val="dk1"/>
                </a:solidFill>
                <a:latin typeface="Calibri"/>
                <a:ea typeface="Calibri"/>
                <a:cs typeface="Calibri"/>
                <a:sym typeface="Calibri"/>
              </a:rPr>
              <a:t>                                   P(A</a:t>
            </a:r>
            <a:r>
              <a:rPr lang="en-US" baseline="-25000" dirty="0">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B)</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For example we can calculate </a:t>
            </a:r>
          </a:p>
          <a:p>
            <a:pPr lvl="0"/>
            <a:r>
              <a:rPr lang="en-US" dirty="0">
                <a:solidFill>
                  <a:schemeClr val="dk1"/>
                </a:solidFill>
                <a:latin typeface="Calibri"/>
                <a:ea typeface="Calibri"/>
                <a:cs typeface="Calibri"/>
                <a:sym typeface="Calibri"/>
              </a:rPr>
              <a:t>how often we played or not played golf when it was rainy, etc. </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Then we will be calculating the opposite – the probability of playing golf</a:t>
            </a:r>
          </a:p>
          <a:p>
            <a:pPr lvl="0"/>
            <a:r>
              <a:rPr lang="en-US" dirty="0">
                <a:solidFill>
                  <a:schemeClr val="dk1"/>
                </a:solidFill>
                <a:latin typeface="Calibri"/>
                <a:ea typeface="Calibri"/>
                <a:cs typeface="Calibri"/>
                <a:sym typeface="Calibri"/>
              </a:rPr>
              <a:t>given a specific set of features: P(</a:t>
            </a:r>
            <a:r>
              <a:rPr lang="en-US" dirty="0" err="1">
                <a:solidFill>
                  <a:schemeClr val="dk1"/>
                </a:solidFill>
                <a:latin typeface="Calibri"/>
                <a:ea typeface="Calibri"/>
                <a:cs typeface="Calibri"/>
                <a:sym typeface="Calibri"/>
              </a:rPr>
              <a:t>B|A</a:t>
            </a:r>
            <a:r>
              <a:rPr lang="en-US" baseline="-25000" dirty="0" err="1">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 </a:t>
            </a:r>
          </a:p>
          <a:p>
            <a:pPr lvl="0"/>
            <a:r>
              <a:rPr lang="en-US" dirty="0">
                <a:solidFill>
                  <a:schemeClr val="dk1"/>
                </a:solidFill>
                <a:latin typeface="Calibri"/>
                <a:ea typeface="Calibri"/>
                <a:cs typeface="Calibri"/>
                <a:sym typeface="Calibri"/>
              </a:rPr>
              <a:t>We will use Bayes formula for this.</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In other words, we will be able to predict outcome B from features A</a:t>
            </a:r>
            <a:r>
              <a:rPr lang="en-US" baseline="-25000" dirty="0">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a:t>
            </a:r>
          </a:p>
        </p:txBody>
      </p:sp>
      <p:sp>
        <p:nvSpPr>
          <p:cNvPr id="12" name="TextBox 11">
            <a:extLst>
              <a:ext uri="{FF2B5EF4-FFF2-40B4-BE49-F238E27FC236}">
                <a16:creationId xmlns:a16="http://schemas.microsoft.com/office/drawing/2014/main" id="{B5293DFC-1E53-314F-8AC5-957A175E20A6}"/>
              </a:ext>
            </a:extLst>
          </p:cNvPr>
          <p:cNvSpPr txBox="1"/>
          <p:nvPr/>
        </p:nvSpPr>
        <p:spPr>
          <a:xfrm>
            <a:off x="7503640" y="96893"/>
            <a:ext cx="4624188" cy="400110"/>
          </a:xfrm>
          <a:prstGeom prst="rect">
            <a:avLst/>
          </a:prstGeom>
          <a:noFill/>
        </p:spPr>
        <p:txBody>
          <a:bodyPr wrap="square" rtlCol="0">
            <a:spAutoFit/>
          </a:bodyPr>
          <a:lstStyle/>
          <a:p>
            <a:r>
              <a:rPr lang="en-US" sz="2000" b="1" dirty="0">
                <a:solidFill>
                  <a:srgbClr val="00B050"/>
                </a:solidFill>
              </a:rPr>
              <a:t>               Features                    Target</a:t>
            </a:r>
          </a:p>
        </p:txBody>
      </p:sp>
    </p:spTree>
    <p:extLst>
      <p:ext uri="{BB962C8B-B14F-4D97-AF65-F5344CB8AC3E}">
        <p14:creationId xmlns:p14="http://schemas.microsoft.com/office/powerpoint/2010/main" val="20242272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8" name="Google Shape;107;p14">
            <a:extLst>
              <a:ext uri="{FF2B5EF4-FFF2-40B4-BE49-F238E27FC236}">
                <a16:creationId xmlns:a16="http://schemas.microsoft.com/office/drawing/2014/main" id="{C2992640-6531-5D46-B219-A020079806DB}"/>
              </a:ext>
            </a:extLst>
          </p:cNvPr>
          <p:cNvSpPr txBox="1"/>
          <p:nvPr/>
        </p:nvSpPr>
        <p:spPr>
          <a:xfrm>
            <a:off x="244584" y="1005791"/>
            <a:ext cx="6613415" cy="440178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chemeClr val="accent1"/>
                </a:solidFill>
                <a:latin typeface="Calibri" panose="020F0502020204030204" pitchFamily="34" charset="0"/>
                <a:cs typeface="Calibri" panose="020F0502020204030204" pitchFamily="34" charset="0"/>
                <a:sym typeface="Calibri"/>
              </a:rPr>
              <a:t>Bayesian network  </a:t>
            </a:r>
            <a:br>
              <a:rPr lang="en-US" sz="1800" b="1" dirty="0">
                <a:solidFill>
                  <a:schemeClr val="accent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a:cs typeface="Calibri"/>
                <a:sym typeface="Calibri"/>
              </a:rPr>
              <a:t>(Bayes network, belief network, Bayes(</a:t>
            </a:r>
            <a:r>
              <a:rPr lang="en-US" sz="1800" dirty="0" err="1">
                <a:solidFill>
                  <a:schemeClr val="dk1"/>
                </a:solidFill>
                <a:latin typeface="Calibri"/>
                <a:cs typeface="Calibri"/>
                <a:sym typeface="Calibri"/>
              </a:rPr>
              <a:t>ian</a:t>
            </a:r>
            <a:r>
              <a:rPr lang="en-US" sz="1800" dirty="0">
                <a:solidFill>
                  <a:schemeClr val="dk1"/>
                </a:solidFill>
                <a:latin typeface="Calibri"/>
                <a:cs typeface="Calibri"/>
                <a:sym typeface="Calibri"/>
              </a:rPr>
              <a:t>) model or probabilistic directed acyclic graphical model)</a:t>
            </a:r>
            <a:r>
              <a:rPr lang="en-US" sz="1800" dirty="0">
                <a:solidFill>
                  <a:schemeClr val="dk1"/>
                </a:solidFill>
                <a:latin typeface="Calibri"/>
                <a:ea typeface="Calibri"/>
                <a:cs typeface="Calibri"/>
                <a:sym typeface="Calibri"/>
              </a:rPr>
              <a:t> is a probabilistic graphical model (a type of statistical model) that represents a set of random variables and their conditional dependencies via a directed acyclic graph (DAG). </a:t>
            </a:r>
          </a:p>
          <a:p>
            <a:pPr marL="0" marR="0" lvl="0" indent="0" algn="l" rtl="0">
              <a:spcBef>
                <a:spcPts val="0"/>
              </a:spcBef>
              <a:spcAft>
                <a:spcPts val="0"/>
              </a:spcAft>
              <a:buNone/>
            </a:pP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Example: </a:t>
            </a:r>
          </a:p>
          <a:p>
            <a:pPr lvl="0"/>
            <a:r>
              <a:rPr lang="en-US" sz="1800" dirty="0">
                <a:solidFill>
                  <a:schemeClr val="dk1"/>
                </a:solidFill>
                <a:latin typeface="Calibri"/>
                <a:ea typeface="Calibri"/>
                <a:cs typeface="Calibri"/>
                <a:sym typeface="Calibri"/>
              </a:rPr>
              <a:t>    </a:t>
            </a:r>
            <a:r>
              <a:rPr lang="en-US" sz="1800" b="1" dirty="0">
                <a:solidFill>
                  <a:srgbClr val="0070C0"/>
                </a:solidFill>
                <a:latin typeface="Calibri"/>
                <a:ea typeface="Calibri"/>
                <a:cs typeface="Calibri"/>
                <a:sym typeface="Calibri"/>
              </a:rPr>
              <a:t>Deep Belief Networks </a:t>
            </a:r>
            <a:r>
              <a:rPr lang="en-US" sz="1800" dirty="0">
                <a:solidFill>
                  <a:schemeClr val="dk1"/>
                </a:solidFill>
                <a:latin typeface="Calibri"/>
                <a:ea typeface="Calibri"/>
                <a:cs typeface="Calibri"/>
                <a:sym typeface="Calibri"/>
              </a:rPr>
              <a:t>- made of layers of RBMs </a:t>
            </a:r>
          </a:p>
          <a:p>
            <a:pPr lvl="0"/>
            <a:r>
              <a:rPr lang="en-US" sz="1800" dirty="0">
                <a:solidFill>
                  <a:schemeClr val="dk1"/>
                </a:solidFill>
                <a:latin typeface="Calibri"/>
                <a:ea typeface="Calibri"/>
                <a:cs typeface="Calibri"/>
                <a:sym typeface="Calibri"/>
              </a:rPr>
              <a:t>     each next layer (“B”) is trained on top of the previous layer (“A”).</a:t>
            </a:r>
          </a:p>
          <a:p>
            <a:pPr marL="0" marR="0" lvl="0" indent="0" algn="l" rtl="0">
              <a:spcBef>
                <a:spcPts val="0"/>
              </a:spcBef>
              <a:spcAft>
                <a:spcPts val="0"/>
              </a:spcAft>
              <a:buNone/>
            </a:pP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    here </a:t>
            </a:r>
            <a:r>
              <a:rPr lang="en-US" sz="1800" b="1" dirty="0">
                <a:solidFill>
                  <a:srgbClr val="0070C0"/>
                </a:solidFill>
                <a:latin typeface="Calibri"/>
                <a:ea typeface="Calibri"/>
                <a:cs typeface="Calibri"/>
                <a:sym typeface="Calibri"/>
              </a:rPr>
              <a:t>RBM</a:t>
            </a:r>
            <a:r>
              <a:rPr lang="en-US" sz="1800" dirty="0">
                <a:solidFill>
                  <a:schemeClr val="dk1"/>
                </a:solidFill>
                <a:latin typeface="Calibri"/>
                <a:ea typeface="Calibri"/>
                <a:cs typeface="Calibri"/>
                <a:sym typeface="Calibri"/>
              </a:rPr>
              <a:t> (Restricted Boltzmann Machine) - a two-layered artificial neural network.</a:t>
            </a:r>
          </a:p>
        </p:txBody>
      </p:sp>
      <p:pic>
        <p:nvPicPr>
          <p:cNvPr id="19" name="Google Shape;114;p14">
            <a:extLst>
              <a:ext uri="{FF2B5EF4-FFF2-40B4-BE49-F238E27FC236}">
                <a16:creationId xmlns:a16="http://schemas.microsoft.com/office/drawing/2014/main" id="{6CEB8B6B-5D31-D04D-8340-CFFC67C74C7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7532728" y="415640"/>
            <a:ext cx="1829483" cy="2128359"/>
          </a:xfrm>
          <a:prstGeom prst="rect">
            <a:avLst/>
          </a:prstGeom>
          <a:noFill/>
          <a:ln>
            <a:noFill/>
          </a:ln>
        </p:spPr>
      </p:pic>
      <p:pic>
        <p:nvPicPr>
          <p:cNvPr id="1026" name="Picture 2" descr="A name for layered directed graph as in a fully-connected neural network -  Mathematics Stack Exchange">
            <a:extLst>
              <a:ext uri="{FF2B5EF4-FFF2-40B4-BE49-F238E27FC236}">
                <a16:creationId xmlns:a16="http://schemas.microsoft.com/office/drawing/2014/main" id="{9F27D678-C094-7546-8A93-B3B6A7DC683E}"/>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6857999" y="3617628"/>
            <a:ext cx="4388069" cy="22345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53123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7" name="Google Shape;113;p14">
            <a:extLst>
              <a:ext uri="{FF2B5EF4-FFF2-40B4-BE49-F238E27FC236}">
                <a16:creationId xmlns:a16="http://schemas.microsoft.com/office/drawing/2014/main" id="{686E86FA-5888-014D-BB3F-938CE5095920}"/>
              </a:ext>
            </a:extLst>
          </p:cNvPr>
          <p:cNvSpPr txBox="1"/>
          <p:nvPr/>
        </p:nvSpPr>
        <p:spPr>
          <a:xfrm>
            <a:off x="0" y="126766"/>
            <a:ext cx="3658586" cy="5511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Optimization </a:t>
            </a:r>
            <a:endParaRPr sz="2800" b="1" dirty="0">
              <a:solidFill>
                <a:schemeClr val="tx1"/>
              </a:solidFill>
              <a:latin typeface="Calibri" panose="020F0502020204030204" pitchFamily="34" charset="0"/>
              <a:cs typeface="Calibri" panose="020F0502020204030204" pitchFamily="34" charset="0"/>
              <a:sym typeface="Calibri"/>
            </a:endParaRPr>
          </a:p>
        </p:txBody>
      </p:sp>
      <p:pic>
        <p:nvPicPr>
          <p:cNvPr id="2050" name="Picture 2" descr="Hyperparameter Optimization in Gradient Boosting Packages with Bayesian  Optimization | by Osman Mamun | Towards Data Science">
            <a:extLst>
              <a:ext uri="{FF2B5EF4-FFF2-40B4-BE49-F238E27FC236}">
                <a16:creationId xmlns:a16="http://schemas.microsoft.com/office/drawing/2014/main" id="{EF78F114-FFE9-BC45-8BB7-ED043E81B013}"/>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463862" y="1714500"/>
            <a:ext cx="5648325" cy="3429000"/>
          </a:xfrm>
          <a:prstGeom prst="rect">
            <a:avLst/>
          </a:prstGeom>
          <a:noFill/>
          <a:extLst>
            <a:ext uri="{909E8E84-426E-40DD-AFC4-6F175D3DCCD1}">
              <a14:hiddenFill xmlns:a14="http://schemas.microsoft.com/office/drawing/2010/main">
                <a:solidFill>
                  <a:srgbClr val="FFFFFF"/>
                </a:solidFill>
              </a14:hiddenFill>
            </a:ext>
          </a:extLst>
        </p:spPr>
      </p:pic>
      <p:sp>
        <p:nvSpPr>
          <p:cNvPr id="10" name="Google Shape;113;p14">
            <a:extLst>
              <a:ext uri="{FF2B5EF4-FFF2-40B4-BE49-F238E27FC236}">
                <a16:creationId xmlns:a16="http://schemas.microsoft.com/office/drawing/2014/main" id="{FC61AB3C-FF8E-7841-94D9-DEA2A67A3658}"/>
              </a:ext>
            </a:extLst>
          </p:cNvPr>
          <p:cNvSpPr txBox="1"/>
          <p:nvPr/>
        </p:nvSpPr>
        <p:spPr>
          <a:xfrm>
            <a:off x="79812" y="677917"/>
            <a:ext cx="6016187" cy="6053317"/>
          </a:xfrm>
          <a:prstGeom prst="rect">
            <a:avLst/>
          </a:prstGeom>
          <a:noFill/>
          <a:ln>
            <a:noFill/>
          </a:ln>
        </p:spPr>
        <p:txBody>
          <a:bodyPr spcFirstLastPara="1" wrap="square" lIns="91425" tIns="45700" rIns="91425" bIns="45700" anchor="t" anchorCtr="0">
            <a:noAutofit/>
          </a:bodyPr>
          <a:lstStyle/>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ea typeface="Calibri"/>
                <a:cs typeface="Calibri"/>
                <a:sym typeface="Calibri"/>
              </a:rPr>
              <a:t> is a sequential optimization strategy. </a:t>
            </a:r>
          </a:p>
          <a:p>
            <a:pPr marL="0" marR="0" lvl="0" indent="0" algn="l" rtl="0">
              <a:spcBef>
                <a:spcPts val="0"/>
              </a:spcBef>
              <a:spcAft>
                <a:spcPts val="0"/>
              </a:spcAft>
              <a:buNone/>
            </a:pPr>
            <a:r>
              <a:rPr lang="en-US" dirty="0">
                <a:solidFill>
                  <a:schemeClr val="dk1"/>
                </a:solidFill>
                <a:latin typeface="Calibri"/>
                <a:ea typeface="Calibri"/>
                <a:cs typeface="Calibri"/>
                <a:sym typeface="Calibri"/>
              </a:rPr>
              <a:t>Optimizing a black-box system without calculatin</a:t>
            </a:r>
            <a:r>
              <a:rPr lang="en-US" dirty="0">
                <a:solidFill>
                  <a:schemeClr val="dk1"/>
                </a:solidFill>
                <a:latin typeface="Calibri"/>
                <a:cs typeface="Calibri"/>
                <a:sym typeface="Calibri"/>
              </a:rPr>
              <a:t>g derivatives.</a:t>
            </a:r>
          </a:p>
          <a:p>
            <a:pPr marL="0" marR="0" lvl="0" indent="0" algn="l" rtl="0">
              <a:spcBef>
                <a:spcPts val="0"/>
              </a:spcBef>
              <a:spcAft>
                <a:spcPts val="0"/>
              </a:spcAft>
              <a:buNone/>
            </a:pPr>
            <a:endParaRPr lang="en-US" dirty="0">
              <a:solidFill>
                <a:schemeClr val="dk1"/>
              </a:solidFill>
              <a:latin typeface="Calibri"/>
              <a:cs typeface="Calibri"/>
              <a:sym typeface="Calibri"/>
            </a:endParaRPr>
          </a:p>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sym typeface="Calibri"/>
              </a:rPr>
              <a:t> works by constructing a posterior distribution of functions (gaussian process) that best describes the function you want to optimize. As the number of observations grows, the posterior distribution improves, and the algorithm becomes more certain of which regions in parameter space are worth exploring and which are not.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As you iterate over and over, the algorithm balances its needs of exploration and exploitation taking into account what it knows about the target function. At each step a Gaussian Process is fitted to the known samples (points previously explored), and the posterior distribution, combined with a exploration strategy (such as UCB (Upper Confidence Bound), or EI (Expected Improvement)), are used to determine the next point that should be explored</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This process is designed to minimize the number of steps required to find a combination of parameters that are close to the optimal combination.</a:t>
            </a:r>
          </a:p>
          <a:p>
            <a:pPr marL="0" marR="0" lvl="0" indent="0" algn="l" rtl="0">
              <a:spcBef>
                <a:spcPts val="0"/>
              </a:spcBef>
              <a:spcAft>
                <a:spcPts val="0"/>
              </a:spcAft>
              <a:buNone/>
            </a:pPr>
            <a:endParaRPr lang="en-US" dirty="0">
              <a:solidFill>
                <a:schemeClr val="dk1"/>
              </a:solidFill>
              <a:latin typeface="Calibri"/>
              <a:cs typeface="Calibri"/>
              <a:sym typeface="Calibri"/>
            </a:endParaRPr>
          </a:p>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rPr>
              <a:t> is typically used to find  optimal hyperparameters for Machine Learning models (it is better than grid search or random search).</a:t>
            </a:r>
          </a:p>
          <a:p>
            <a:pPr lvl="0"/>
            <a:endParaRPr lang="en-US" dirty="0">
              <a:solidFill>
                <a:schemeClr val="dk1"/>
              </a:solidFill>
              <a:latin typeface="Calibri"/>
              <a:cs typeface="Calibri"/>
            </a:endParaRPr>
          </a:p>
          <a:p>
            <a:pPr lvl="0"/>
            <a:r>
              <a:rPr lang="en-US" dirty="0">
                <a:solidFill>
                  <a:schemeClr val="dk1"/>
                </a:solidFill>
                <a:latin typeface="Calibri"/>
                <a:cs typeface="Calibri"/>
              </a:rPr>
              <a:t>Example:</a:t>
            </a:r>
          </a:p>
          <a:p>
            <a:pPr marL="285750" lvl="0" indent="-285750">
              <a:buFont typeface="Arial" panose="020B0604020202020204" pitchFamily="34" charset="0"/>
              <a:buChar char="•"/>
            </a:pPr>
            <a:r>
              <a:rPr lang="en-US" dirty="0">
                <a:solidFill>
                  <a:schemeClr val="dk1"/>
                </a:solidFill>
                <a:latin typeface="Calibri"/>
                <a:cs typeface="Calibri"/>
                <a:hlinkClick r:id="rId4"/>
              </a:rPr>
              <a:t>https://towardsdatascience.com/hyperparameter-optimization-in-gradient-boosting-packages-with-bayesian-optimization-aaf1b27e7b90</a:t>
            </a:r>
            <a:r>
              <a:rPr lang="en-US" dirty="0">
                <a:solidFill>
                  <a:schemeClr val="dk1"/>
                </a:solidFill>
                <a:latin typeface="Calibri"/>
                <a:cs typeface="Calibri"/>
              </a:rPr>
              <a:t> </a:t>
            </a:r>
          </a:p>
          <a:p>
            <a:pPr lvl="0"/>
            <a:endParaRPr lang="en-US" dirty="0">
              <a:solidFill>
                <a:schemeClr val="dk1"/>
              </a:solidFill>
              <a:latin typeface="Calibri"/>
              <a:cs typeface="Calibri"/>
            </a:endParaRPr>
          </a:p>
          <a:p>
            <a:pPr marL="285750" lvl="0" indent="-285750">
              <a:buFont typeface="Arial" panose="020B0604020202020204" pitchFamily="34" charset="0"/>
              <a:buChar char="•"/>
            </a:pPr>
            <a:r>
              <a:rPr lang="en-US" dirty="0">
                <a:solidFill>
                  <a:schemeClr val="dk1"/>
                </a:solidFill>
                <a:latin typeface="Calibri"/>
                <a:cs typeface="Calibri"/>
                <a:hlinkClick r:id="rId5"/>
              </a:rPr>
              <a:t>https://github.com/fmfn/BayesianOptimization</a:t>
            </a:r>
            <a:r>
              <a:rPr lang="en-US" dirty="0">
                <a:solidFill>
                  <a:schemeClr val="dk1"/>
                </a:solidFill>
                <a:latin typeface="Calibri"/>
                <a:cs typeface="Calibri"/>
              </a:rPr>
              <a:t> </a:t>
            </a:r>
            <a:endParaRPr dirty="0">
              <a:solidFill>
                <a:schemeClr val="dk1"/>
              </a:solidFill>
              <a:latin typeface="Calibri"/>
              <a:cs typeface="Calibri"/>
            </a:endParaRPr>
          </a:p>
        </p:txBody>
      </p:sp>
    </p:spTree>
    <p:extLst>
      <p:ext uri="{BB962C8B-B14F-4D97-AF65-F5344CB8AC3E}">
        <p14:creationId xmlns:p14="http://schemas.microsoft.com/office/powerpoint/2010/main" val="2214897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0" y="37572"/>
            <a:ext cx="4572000" cy="523220"/>
          </a:xfrm>
          <a:prstGeom prst="rect">
            <a:avLst/>
          </a:prstGeom>
          <a:noFill/>
        </p:spPr>
        <p:txBody>
          <a:bodyPr wrap="square" rtlCol="0">
            <a:spAutoFit/>
          </a:bodyPr>
          <a:lstStyle/>
          <a:p>
            <a:r>
              <a:rPr lang="en-US" sz="2800" b="1" dirty="0"/>
              <a:t>Bayesian vs Frequentist</a:t>
            </a:r>
          </a:p>
        </p:txBody>
      </p:sp>
      <p:sp>
        <p:nvSpPr>
          <p:cNvPr id="11" name="TextBox 10">
            <a:extLst>
              <a:ext uri="{FF2B5EF4-FFF2-40B4-BE49-F238E27FC236}">
                <a16:creationId xmlns:a16="http://schemas.microsoft.com/office/drawing/2014/main" id="{2A85AADB-CA8B-934D-84A1-D6DA208D498F}"/>
              </a:ext>
            </a:extLst>
          </p:cNvPr>
          <p:cNvSpPr txBox="1"/>
          <p:nvPr/>
        </p:nvSpPr>
        <p:spPr>
          <a:xfrm>
            <a:off x="0" y="778920"/>
            <a:ext cx="4478215" cy="523220"/>
          </a:xfrm>
          <a:prstGeom prst="rect">
            <a:avLst/>
          </a:prstGeom>
          <a:noFill/>
        </p:spPr>
        <p:txBody>
          <a:bodyPr wrap="square" rtlCol="0">
            <a:spAutoFit/>
          </a:bodyPr>
          <a:lstStyle/>
          <a:p>
            <a:r>
              <a:rPr lang="en-US" dirty="0"/>
              <a:t>Jake </a:t>
            </a:r>
            <a:r>
              <a:rPr lang="en-US" dirty="0" err="1"/>
              <a:t>VanderPlas</a:t>
            </a:r>
            <a:r>
              <a:rPr lang="en-US" dirty="0"/>
              <a:t> (26 min lecture) </a:t>
            </a:r>
          </a:p>
          <a:p>
            <a:r>
              <a:rPr lang="en-US" dirty="0"/>
              <a:t>  - </a:t>
            </a:r>
            <a:r>
              <a:rPr lang="en-US" dirty="0">
                <a:hlinkClick r:id="rId2"/>
              </a:rPr>
              <a:t>https://www.youtube.com/watch?v=KhAUfqhLakw</a:t>
            </a:r>
            <a:endParaRPr lang="en-US" dirty="0"/>
          </a:p>
        </p:txBody>
      </p:sp>
      <p:pic>
        <p:nvPicPr>
          <p:cNvPr id="12" name="Picture 11">
            <a:extLst>
              <a:ext uri="{FF2B5EF4-FFF2-40B4-BE49-F238E27FC236}">
                <a16:creationId xmlns:a16="http://schemas.microsoft.com/office/drawing/2014/main" id="{7BC1EEDA-D36B-3745-8521-9723E046CF6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99070" y="4407378"/>
            <a:ext cx="3243065" cy="2347764"/>
          </a:xfrm>
          <a:prstGeom prst="rect">
            <a:avLst/>
          </a:prstGeom>
        </p:spPr>
      </p:pic>
      <p:pic>
        <p:nvPicPr>
          <p:cNvPr id="13" name="Picture 12">
            <a:extLst>
              <a:ext uri="{FF2B5EF4-FFF2-40B4-BE49-F238E27FC236}">
                <a16:creationId xmlns:a16="http://schemas.microsoft.com/office/drawing/2014/main" id="{756ED8DC-2BE1-094A-8A81-44CA1481AF2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101534" y="4407378"/>
            <a:ext cx="3156438" cy="2347764"/>
          </a:xfrm>
          <a:prstGeom prst="rect">
            <a:avLst/>
          </a:prstGeom>
        </p:spPr>
      </p:pic>
      <p:pic>
        <p:nvPicPr>
          <p:cNvPr id="14" name="Picture 13">
            <a:extLst>
              <a:ext uri="{FF2B5EF4-FFF2-40B4-BE49-F238E27FC236}">
                <a16:creationId xmlns:a16="http://schemas.microsoft.com/office/drawing/2014/main" id="{6CFCE086-5AD0-8344-AE93-F843BE43AD52}"/>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679015" y="4407378"/>
            <a:ext cx="3059546" cy="2347764"/>
          </a:xfrm>
          <a:prstGeom prst="rect">
            <a:avLst/>
          </a:prstGeom>
        </p:spPr>
      </p:pic>
      <p:sp>
        <p:nvSpPr>
          <p:cNvPr id="2" name="TextBox 1">
            <a:extLst>
              <a:ext uri="{FF2B5EF4-FFF2-40B4-BE49-F238E27FC236}">
                <a16:creationId xmlns:a16="http://schemas.microsoft.com/office/drawing/2014/main" id="{1B7E5E53-FD25-1743-9C2C-515C3CCE6CCD}"/>
              </a:ext>
            </a:extLst>
          </p:cNvPr>
          <p:cNvSpPr txBox="1"/>
          <p:nvPr/>
        </p:nvSpPr>
        <p:spPr>
          <a:xfrm>
            <a:off x="987858" y="3994984"/>
            <a:ext cx="1338363" cy="307777"/>
          </a:xfrm>
          <a:prstGeom prst="rect">
            <a:avLst/>
          </a:prstGeom>
          <a:noFill/>
        </p:spPr>
        <p:txBody>
          <a:bodyPr wrap="square" rtlCol="0">
            <a:spAutoFit/>
          </a:bodyPr>
          <a:lstStyle/>
          <a:p>
            <a:r>
              <a:rPr lang="en-US" b="1" dirty="0">
                <a:solidFill>
                  <a:srgbClr val="FF0000"/>
                </a:solidFill>
              </a:rPr>
              <a:t>Observations</a:t>
            </a:r>
          </a:p>
        </p:txBody>
      </p:sp>
      <p:sp>
        <p:nvSpPr>
          <p:cNvPr id="3" name="TextBox 2">
            <a:extLst>
              <a:ext uri="{FF2B5EF4-FFF2-40B4-BE49-F238E27FC236}">
                <a16:creationId xmlns:a16="http://schemas.microsoft.com/office/drawing/2014/main" id="{650AEA09-D359-3F4C-ADEB-940C7824EFEA}"/>
              </a:ext>
            </a:extLst>
          </p:cNvPr>
          <p:cNvSpPr txBox="1"/>
          <p:nvPr/>
        </p:nvSpPr>
        <p:spPr>
          <a:xfrm>
            <a:off x="0" y="1520268"/>
            <a:ext cx="7257972" cy="2246769"/>
          </a:xfrm>
          <a:prstGeom prst="rect">
            <a:avLst/>
          </a:prstGeom>
          <a:noFill/>
        </p:spPr>
        <p:txBody>
          <a:bodyPr wrap="square" rtlCol="0">
            <a:spAutoFit/>
          </a:bodyPr>
          <a:lstStyle/>
          <a:p>
            <a:r>
              <a:rPr lang="en-US" b="1" dirty="0">
                <a:solidFill>
                  <a:srgbClr val="00B050"/>
                </a:solidFill>
              </a:rPr>
              <a:t>Example - truncated exponential.</a:t>
            </a:r>
            <a:br>
              <a:rPr lang="en-US" dirty="0"/>
            </a:br>
            <a:r>
              <a:rPr lang="en-US" dirty="0"/>
              <a:t>You observe times of failures of something.</a:t>
            </a:r>
          </a:p>
          <a:p>
            <a:r>
              <a:rPr lang="en-US" dirty="0"/>
              <a:t>The time should be less than 10 min, </a:t>
            </a:r>
          </a:p>
          <a:p>
            <a:r>
              <a:rPr lang="en-US" dirty="0"/>
              <a:t>but for the first 10 min there are no failures because the "device" is protected. </a:t>
            </a:r>
          </a:p>
          <a:p>
            <a:r>
              <a:rPr lang="en-US" dirty="0"/>
              <a:t>You can only measure after 10 min. </a:t>
            </a:r>
          </a:p>
          <a:p>
            <a:endParaRPr lang="en-US" dirty="0"/>
          </a:p>
          <a:p>
            <a:r>
              <a:rPr lang="en-US" dirty="0"/>
              <a:t>Frequentist approach just "averages" the observed values. </a:t>
            </a:r>
          </a:p>
          <a:p>
            <a:r>
              <a:rPr lang="en-US" dirty="0"/>
              <a:t>As all of them are &gt;10, it gives interval 10.2 - 12.2 min</a:t>
            </a:r>
          </a:p>
          <a:p>
            <a:endParaRPr lang="en-US" dirty="0"/>
          </a:p>
          <a:p>
            <a:r>
              <a:rPr lang="en-US" dirty="0"/>
              <a:t>Bayesian approach with subjective flat prior gives interval 9.0 - 10.0 min, which is correct.</a:t>
            </a:r>
          </a:p>
        </p:txBody>
      </p:sp>
      <p:pic>
        <p:nvPicPr>
          <p:cNvPr id="5" name="Picture 4">
            <a:extLst>
              <a:ext uri="{FF2B5EF4-FFF2-40B4-BE49-F238E27FC236}">
                <a16:creationId xmlns:a16="http://schemas.microsoft.com/office/drawing/2014/main" id="{6FE4EB9A-6EB9-2542-835F-97BCA447F233}"/>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478248" y="102359"/>
            <a:ext cx="4621671" cy="2558779"/>
          </a:xfrm>
          <a:prstGeom prst="rect">
            <a:avLst/>
          </a:prstGeom>
        </p:spPr>
      </p:pic>
      <p:sp>
        <p:nvSpPr>
          <p:cNvPr id="10" name="TextBox 9">
            <a:extLst>
              <a:ext uri="{FF2B5EF4-FFF2-40B4-BE49-F238E27FC236}">
                <a16:creationId xmlns:a16="http://schemas.microsoft.com/office/drawing/2014/main" id="{8D69AEEA-F894-8445-A7AF-678B66CA726E}"/>
              </a:ext>
            </a:extLst>
          </p:cNvPr>
          <p:cNvSpPr txBox="1"/>
          <p:nvPr/>
        </p:nvSpPr>
        <p:spPr>
          <a:xfrm>
            <a:off x="5010571" y="3994983"/>
            <a:ext cx="1338363" cy="307777"/>
          </a:xfrm>
          <a:prstGeom prst="rect">
            <a:avLst/>
          </a:prstGeom>
          <a:noFill/>
        </p:spPr>
        <p:txBody>
          <a:bodyPr wrap="square" rtlCol="0">
            <a:spAutoFit/>
          </a:bodyPr>
          <a:lstStyle/>
          <a:p>
            <a:r>
              <a:rPr lang="en-US" b="1" dirty="0">
                <a:solidFill>
                  <a:srgbClr val="FF0000"/>
                </a:solidFill>
              </a:rPr>
              <a:t>Frequentist</a:t>
            </a:r>
          </a:p>
        </p:txBody>
      </p:sp>
      <p:sp>
        <p:nvSpPr>
          <p:cNvPr id="15" name="TextBox 14">
            <a:extLst>
              <a:ext uri="{FF2B5EF4-FFF2-40B4-BE49-F238E27FC236}">
                <a16:creationId xmlns:a16="http://schemas.microsoft.com/office/drawing/2014/main" id="{875BB597-953E-9E44-8B87-FA12DE7218C4}"/>
              </a:ext>
            </a:extLst>
          </p:cNvPr>
          <p:cNvSpPr txBox="1"/>
          <p:nvPr/>
        </p:nvSpPr>
        <p:spPr>
          <a:xfrm>
            <a:off x="8256653" y="3994984"/>
            <a:ext cx="1338363" cy="307777"/>
          </a:xfrm>
          <a:prstGeom prst="rect">
            <a:avLst/>
          </a:prstGeom>
          <a:noFill/>
        </p:spPr>
        <p:txBody>
          <a:bodyPr wrap="square" rtlCol="0">
            <a:spAutoFit/>
          </a:bodyPr>
          <a:lstStyle/>
          <a:p>
            <a:r>
              <a:rPr lang="en-US" b="1" dirty="0" err="1">
                <a:solidFill>
                  <a:srgbClr val="FF0000"/>
                </a:solidFill>
              </a:rPr>
              <a:t>Bayessian</a:t>
            </a:r>
            <a:endParaRPr lang="en-US" b="1" dirty="0">
              <a:solidFill>
                <a:srgbClr val="FF0000"/>
              </a:solidFill>
            </a:endParaRPr>
          </a:p>
        </p:txBody>
      </p:sp>
    </p:spTree>
    <p:extLst>
      <p:ext uri="{BB962C8B-B14F-4D97-AF65-F5344CB8AC3E}">
        <p14:creationId xmlns:p14="http://schemas.microsoft.com/office/powerpoint/2010/main" val="27288979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375</TotalTime>
  <Words>2386</Words>
  <Application>Microsoft Macintosh PowerPoint</Application>
  <PresentationFormat>Widescreen</PresentationFormat>
  <Paragraphs>233</Paragraphs>
  <Slides>10</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Cambria Math</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36</cp:revision>
  <dcterms:modified xsi:type="dcterms:W3CDTF">2021-04-30T17:22:46Z</dcterms:modified>
</cp:coreProperties>
</file>