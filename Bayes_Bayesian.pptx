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256" r:id="rId2"/>
    <p:sldId id="257" r:id="rId3"/>
    <p:sldId id="260" r:id="rId4"/>
    <p:sldId id="258" r:id="rId5"/>
    <p:sldId id="259" r:id="rId6"/>
    <p:sldId id="261" r:id="rId7"/>
    <p:sldId id="262"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61"/>
    <p:restoredTop sz="94750"/>
  </p:normalViewPr>
  <p:slideViewPr>
    <p:cSldViewPr snapToGrid="0">
      <p:cViewPr varScale="1">
        <p:scale>
          <a:sx n="94" d="100"/>
          <a:sy n="94" d="100"/>
        </p:scale>
        <p:origin x="51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vier Valderrama" userId="S::javier.valderrama@nationaldebtrelief.com::4c07f5f7-6816-4e17-a145-d1bcaae26731" providerId="AD" clId="Web-{2A5AFB3E-5A76-6412-34B2-0286C53A7609}"/>
  </pc:docChgLst>
  <pc:docChgLst>
    <pc:chgData name="Lev Selector" userId="314cf8c1-d356-4160-b242-72dee3bb7a46" providerId="ADAL" clId="{8C9BD69C-BC63-A845-A806-EC4BD0D69649}"/>
  </pc:docChgLst>
  <pc:docChgLst>
    <pc:chgData name="Lev Selector" userId="314cf8c1-d356-4160-b242-72dee3bb7a46" providerId="ADAL" clId="{4CBB6E57-5808-8F48-8E34-7993863C1B7B}"/>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281923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tiff"/><Relationship Id="rId4" Type="http://schemas.openxmlformats.org/officeDocument/2006/relationships/hyperlink" Target="https://www.geeksforgeeks.org/naive-bayes-classifier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tiff"/></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5811" y="978513"/>
                <a:ext cx="6187097" cy="2739291"/>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5811" y="978513"/>
                <a:ext cx="6187097" cy="2739291"/>
              </a:xfrm>
              <a:prstGeom prst="rect">
                <a:avLst/>
              </a:prstGeom>
              <a:blipFill>
                <a:blip r:embed="rId3"/>
                <a:stretch>
                  <a:fillRect l="-2051" t="-1743"/>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6532782" y="3589349"/>
            <a:ext cx="5637488" cy="327820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Intuitive explanation of Bayesian rule (on the left). </a:t>
            </a:r>
          </a:p>
          <a:p>
            <a:pPr marL="0" marR="0" lvl="0" indent="0" algn="l" rtl="0">
              <a:spcBef>
                <a:spcPts val="0"/>
              </a:spcBef>
              <a:spcAft>
                <a:spcPts val="0"/>
              </a:spcAft>
              <a:buNone/>
            </a:pPr>
            <a:r>
              <a:rPr lang="en-US" sz="1800"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 = 10% = probability of being rich given that Happy</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You can calculate green intersection using two methods: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P(A|B)*P(B) = 80%*5% = 4%</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351783" y="0"/>
            <a:ext cx="1818487" cy="2213811"/>
          </a:xfrm>
          <a:prstGeom prst="rect">
            <a:avLst/>
          </a:prstGeom>
          <a:noFill/>
          <a:ln>
            <a:noFill/>
          </a:ln>
        </p:spPr>
      </p:pic>
      <p:sp>
        <p:nvSpPr>
          <p:cNvPr id="96" name="Google Shape;96;p13"/>
          <p:cNvSpPr/>
          <p:nvPr/>
        </p:nvSpPr>
        <p:spPr>
          <a:xfrm>
            <a:off x="523454" y="4272171"/>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1166937" y="4576971"/>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3342855" y="5008818"/>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2068401" y="5008818"/>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Happy</a:t>
            </a:r>
            <a:endParaRPr sz="2400" b="1" dirty="0">
              <a:solidFill>
                <a:srgbClr val="FF0000"/>
              </a:solidFill>
              <a:latin typeface="Calibri"/>
              <a:ea typeface="Calibri"/>
              <a:cs typeface="Calibri"/>
              <a:sym typeface="Calibri"/>
            </a:endParaRPr>
          </a:p>
        </p:txBody>
      </p:sp>
      <p:sp>
        <p:nvSpPr>
          <p:cNvPr id="100" name="Google Shape;100;p13"/>
          <p:cNvSpPr txBox="1"/>
          <p:nvPr/>
        </p:nvSpPr>
        <p:spPr>
          <a:xfrm>
            <a:off x="3903802" y="5014208"/>
            <a:ext cx="1083013"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Rich</a:t>
            </a:r>
            <a:endParaRPr sz="2400" b="1" dirty="0">
              <a:solidFill>
                <a:srgbClr val="FF0000"/>
              </a:solidFill>
              <a:latin typeface="Calibri"/>
              <a:ea typeface="Calibri"/>
              <a:cs typeface="Calibri"/>
              <a:sym typeface="Calibri"/>
            </a:endParaRPr>
          </a:p>
        </p:txBody>
      </p:sp>
      <p:sp>
        <p:nvSpPr>
          <p:cNvPr id="101" name="Google Shape;101;p13"/>
          <p:cNvSpPr txBox="1"/>
          <p:nvPr/>
        </p:nvSpPr>
        <p:spPr>
          <a:xfrm>
            <a:off x="3693291" y="4254614"/>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2"/>
            <a:ext cx="8128763" cy="337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Naive Bayes Classifiers </a:t>
            </a:r>
            <a:endParaRPr sz="3200" b="1"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Simple probabilistic classifiers based on applying Bayes' theorem. </a:t>
            </a:r>
          </a:p>
          <a:p>
            <a:pPr lvl="0"/>
            <a:r>
              <a:rPr lang="en-US" sz="1800" dirty="0">
                <a:solidFill>
                  <a:schemeClr val="dk1"/>
                </a:solidFill>
                <a:latin typeface="Calibri"/>
                <a:ea typeface="Calibri"/>
                <a:cs typeface="Calibri"/>
                <a:sym typeface="Calibri"/>
              </a:rPr>
              <a:t>The main "Naive" assumption is that although individual features may </a:t>
            </a:r>
            <a:r>
              <a:rPr lang="en-US" sz="1800">
                <a:solidFill>
                  <a:schemeClr val="dk1"/>
                </a:solidFill>
                <a:latin typeface="Calibri"/>
                <a:ea typeface="Calibri"/>
                <a:cs typeface="Calibri"/>
                <a:sym typeface="Calibri"/>
              </a:rPr>
              <a:t>have inter-dependencies </a:t>
            </a:r>
            <a:r>
              <a:rPr lang="en-US" sz="1800" dirty="0">
                <a:solidFill>
                  <a:schemeClr val="dk1"/>
                </a:solidFill>
                <a:latin typeface="Calibri"/>
                <a:ea typeface="Calibri"/>
                <a:cs typeface="Calibri"/>
                <a:sym typeface="Calibri"/>
              </a:rPr>
              <a:t>and may have different importance, we "naively" assume that each feature makes an </a:t>
            </a:r>
            <a:r>
              <a:rPr lang="en-US" sz="1800" b="1" dirty="0">
                <a:solidFill>
                  <a:srgbClr val="0070C0"/>
                </a:solidFill>
                <a:latin typeface="Calibri"/>
                <a:ea typeface="Calibri"/>
                <a:cs typeface="Calibri"/>
                <a:sym typeface="Calibri"/>
              </a:rPr>
              <a:t>independent</a:t>
            </a:r>
            <a:r>
              <a:rPr lang="en-US" sz="1800" dirty="0">
                <a:solidFill>
                  <a:schemeClr val="dk1"/>
                </a:solidFill>
                <a:latin typeface="Calibri"/>
                <a:ea typeface="Calibri"/>
                <a:cs typeface="Calibri"/>
                <a:sym typeface="Calibri"/>
              </a:rPr>
              <a:t> and </a:t>
            </a:r>
            <a:r>
              <a:rPr lang="en-US" sz="1800" b="1" dirty="0">
                <a:solidFill>
                  <a:srgbClr val="0070C0"/>
                </a:solidFill>
                <a:latin typeface="Calibri"/>
                <a:ea typeface="Calibri"/>
                <a:cs typeface="Calibri"/>
                <a:sym typeface="Calibri"/>
              </a:rPr>
              <a:t>equal </a:t>
            </a:r>
            <a:r>
              <a:rPr lang="en-US" sz="1800" dirty="0">
                <a:solidFill>
                  <a:schemeClr val="dk1"/>
                </a:solidFill>
                <a:latin typeface="Calibri"/>
                <a:ea typeface="Calibri"/>
                <a:cs typeface="Calibri"/>
                <a:sym typeface="Calibri"/>
              </a:rPr>
              <a:t>contribution to the outcome. </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On the picture below we have two features (A1 &amp; A2) influencing outcome (B).</a:t>
            </a:r>
          </a:p>
          <a:p>
            <a:pPr lvl="0"/>
            <a:r>
              <a:rPr lang="en-US" sz="1800" dirty="0">
                <a:solidFill>
                  <a:schemeClr val="dk1"/>
                </a:solidFill>
                <a:latin typeface="Calibri"/>
                <a:ea typeface="Calibri"/>
                <a:cs typeface="Calibri"/>
                <a:sym typeface="Calibri"/>
              </a:rPr>
              <a:t>We will be computing conditional probability of a person being fit P(B|(A1,A2)). </a:t>
            </a:r>
          </a:p>
          <a:p>
            <a:pPr lvl="0"/>
            <a:r>
              <a:rPr lang="en-US" sz="1800" dirty="0">
                <a:solidFill>
                  <a:schemeClr val="dk1"/>
                </a:solidFill>
                <a:latin typeface="Calibri"/>
                <a:ea typeface="Calibri"/>
                <a:cs typeface="Calibri"/>
                <a:sym typeface="Calibri"/>
              </a:rPr>
              <a:t>We "naively" assume that A1 &amp; A2 contribute equally to the outcome.</a:t>
            </a:r>
          </a:p>
          <a:p>
            <a:pPr lvl="0"/>
            <a:r>
              <a:rPr lang="en-US" sz="1800" dirty="0">
                <a:solidFill>
                  <a:schemeClr val="dk1"/>
                </a:solidFill>
                <a:latin typeface="Calibri"/>
                <a:ea typeface="Calibri"/>
                <a:cs typeface="Calibri"/>
                <a:sym typeface="Calibri"/>
              </a:rPr>
              <a:t>But in reality daily exercising probably contributes more. </a:t>
            </a:r>
          </a:p>
          <a:p>
            <a:pPr lvl="0"/>
            <a:r>
              <a:rPr lang="en-US" sz="1800" dirty="0">
                <a:solidFill>
                  <a:schemeClr val="dk1"/>
                </a:solidFill>
                <a:latin typeface="Calibri"/>
                <a:ea typeface="Calibri"/>
                <a:cs typeface="Calibri"/>
                <a:sym typeface="Calibri"/>
              </a:rPr>
              <a:t>Our naive model doesn't take this into account.</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98355" y="35448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641760" y="41397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535840" y="39333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453029" y="47912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965881" y="40902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217657" y="35448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92108" y="46178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4037214" y="55368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7227040" y="4398030"/>
            <a:ext cx="2255288" cy="1600438"/>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a:p>
            <a:endParaRPr lang="en-US" dirty="0"/>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8988552" y="11499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8988552" y="114998"/>
                <a:ext cx="3020568" cy="1494897"/>
              </a:xfrm>
              <a:prstGeom prst="rect">
                <a:avLst/>
              </a:prstGeom>
              <a:blipFill>
                <a:blip r:embed="rId3"/>
                <a:stretch>
                  <a:fillRect l="-4098" t="-3226" r="-204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1" y="64169"/>
            <a:ext cx="7136729" cy="420607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Naive Bayes classifiers - continued</a:t>
            </a:r>
            <a:endParaRPr sz="3200" b="1"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In the table to the right we have 4 columns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with features </a:t>
            </a:r>
          </a:p>
          <a:p>
            <a:pPr lvl="0"/>
            <a:r>
              <a:rPr lang="en-US" sz="1800" dirty="0">
                <a:solidFill>
                  <a:schemeClr val="dk1"/>
                </a:solidFill>
                <a:latin typeface="Calibri"/>
                <a:ea typeface="Calibri"/>
                <a:cs typeface="Calibri"/>
                <a:sym typeface="Calibri"/>
              </a:rPr>
              <a:t>and one outcome column B - "Play Golf". </a:t>
            </a:r>
          </a:p>
          <a:p>
            <a:pPr lvl="0"/>
            <a:r>
              <a:rPr lang="en-US" sz="1800" dirty="0">
                <a:solidFill>
                  <a:schemeClr val="dk1"/>
                </a:solidFill>
                <a:latin typeface="Calibri"/>
                <a:ea typeface="Calibri"/>
                <a:cs typeface="Calibri"/>
                <a:sym typeface="Calibri"/>
              </a:rPr>
              <a:t>For each value of the outcome (Yes or No) we can calculate the conditional probability/frequency of seeing each feature value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for a given outcome B:    </a:t>
            </a:r>
          </a:p>
          <a:p>
            <a:pPr lvl="0"/>
            <a:r>
              <a:rPr lang="en-US" sz="1800" dirty="0">
                <a:solidFill>
                  <a:schemeClr val="dk1"/>
                </a:solidFill>
                <a:latin typeface="Calibri"/>
                <a:ea typeface="Calibri"/>
                <a:cs typeface="Calibri"/>
                <a:sym typeface="Calibri"/>
              </a:rPr>
              <a:t>                                   P(A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B)</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For example we can calculate how often we played or not played golf when it was rainy, etc. </a:t>
            </a:r>
          </a:p>
          <a:p>
            <a:pPr lvl="0"/>
            <a:r>
              <a:rPr lang="en-US" sz="1800" dirty="0">
                <a:solidFill>
                  <a:schemeClr val="dk1"/>
                </a:solidFill>
                <a:latin typeface="Calibri"/>
                <a:ea typeface="Calibri"/>
                <a:cs typeface="Calibri"/>
                <a:sym typeface="Calibri"/>
              </a:rPr>
              <a:t>Then we will be calculating the opposite – probability of playing golf</a:t>
            </a:r>
          </a:p>
          <a:p>
            <a:pPr lvl="0"/>
            <a:r>
              <a:rPr lang="en-US" sz="1800" dirty="0">
                <a:solidFill>
                  <a:schemeClr val="dk1"/>
                </a:solidFill>
                <a:latin typeface="Calibri"/>
                <a:ea typeface="Calibri"/>
                <a:cs typeface="Calibri"/>
                <a:sym typeface="Calibri"/>
              </a:rPr>
              <a:t>given a specific set of features: P(</a:t>
            </a:r>
            <a:r>
              <a:rPr lang="en-US" sz="1800" dirty="0" err="1">
                <a:solidFill>
                  <a:schemeClr val="dk1"/>
                </a:solidFill>
                <a:latin typeface="Calibri"/>
                <a:ea typeface="Calibri"/>
                <a:cs typeface="Calibri"/>
                <a:sym typeface="Calibri"/>
              </a:rPr>
              <a:t>B|A</a:t>
            </a:r>
            <a:r>
              <a:rPr lang="en-US" sz="1800" baseline="-25000" dirty="0" err="1">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 We will use Bayes formula for this.</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In other words, we will be able to predict outcome B from features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a:t>
            </a:r>
          </a:p>
        </p:txBody>
      </p:sp>
      <p:sp>
        <p:nvSpPr>
          <p:cNvPr id="10" name="TextBox 9">
            <a:extLst>
              <a:ext uri="{FF2B5EF4-FFF2-40B4-BE49-F238E27FC236}">
                <a16:creationId xmlns:a16="http://schemas.microsoft.com/office/drawing/2014/main" id="{812C9AFE-2DC4-2C49-A11B-4A24EEEF46C2}"/>
              </a:ext>
            </a:extLst>
          </p:cNvPr>
          <p:cNvSpPr txBox="1"/>
          <p:nvPr/>
        </p:nvSpPr>
        <p:spPr>
          <a:xfrm>
            <a:off x="90386" y="4885456"/>
            <a:ext cx="11071467" cy="1754326"/>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Here is a very good short video explaining the Naive Bayes Classification on a specific simple example:</a:t>
            </a:r>
          </a:p>
          <a:p>
            <a:r>
              <a:rPr lang="en-US" sz="1800" dirty="0">
                <a:latin typeface="Calibri" panose="020F0502020204030204" pitchFamily="34" charset="0"/>
                <a:cs typeface="Calibri" panose="020F0502020204030204" pitchFamily="34" charset="0"/>
              </a:rPr>
              <a:t> - </a:t>
            </a:r>
            <a:r>
              <a:rPr lang="en-US" sz="1800" dirty="0">
                <a:latin typeface="Calibri" panose="020F0502020204030204" pitchFamily="34" charset="0"/>
                <a:cs typeface="Calibri" panose="020F0502020204030204" pitchFamily="34" charset="0"/>
                <a:hlinkClick r:id="rId3"/>
              </a:rPr>
              <a:t>https://www.youtube.com/watch?v=CPqOCI0ahss</a:t>
            </a:r>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Note – there is a (common) mistake in this video! Author calculates denominators via multiplication of individual probabilities. This is wrong. You can see it by yourself how making calculation this way makes the sum of two probabilities greater than one. </a:t>
            </a:r>
          </a:p>
          <a:p>
            <a:r>
              <a:rPr lang="en-US" sz="1800" dirty="0">
                <a:latin typeface="Calibri" panose="020F0502020204030204" pitchFamily="34" charset="0"/>
                <a:cs typeface="Calibri" panose="020F0502020204030204" pitchFamily="34" charset="0"/>
              </a:rPr>
              <a:t>Also here is a good article - </a:t>
            </a:r>
            <a:r>
              <a:rPr lang="en-US" sz="1800" dirty="0">
                <a:latin typeface="Calibri" panose="020F0502020204030204" pitchFamily="34" charset="0"/>
                <a:cs typeface="Calibri" panose="020F0502020204030204" pitchFamily="34" charset="0"/>
                <a:hlinkClick r:id="rId4"/>
              </a:rPr>
              <a:t>https://www.geeksforgeeks.org/naive-bayes-classifiers/</a:t>
            </a:r>
            <a:r>
              <a:rPr lang="en-US" sz="1800"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200900" y="891251"/>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9005104" y="68509"/>
            <a:ext cx="1030147" cy="830997"/>
          </a:xfrm>
          <a:prstGeom prst="rect">
            <a:avLst/>
          </a:prstGeom>
          <a:noFill/>
        </p:spPr>
        <p:txBody>
          <a:bodyPr wrap="square" rtlCol="0">
            <a:spAutoFit/>
          </a:bodyPr>
          <a:lstStyle/>
          <a:p>
            <a:r>
              <a:rPr lang="en-US" sz="4800" dirty="0"/>
              <a:t>A</a:t>
            </a:r>
            <a:r>
              <a:rPr lang="en-US" sz="4800" baseline="-25000" dirty="0"/>
              <a:t>i</a:t>
            </a:r>
            <a:endParaRPr lang="en-US" sz="4800" dirty="0"/>
          </a:p>
        </p:txBody>
      </p:sp>
      <p:sp>
        <p:nvSpPr>
          <p:cNvPr id="11" name="TextBox 10">
            <a:extLst>
              <a:ext uri="{FF2B5EF4-FFF2-40B4-BE49-F238E27FC236}">
                <a16:creationId xmlns:a16="http://schemas.microsoft.com/office/drawing/2014/main" id="{270CC2C1-38F9-C44F-AD2B-8120DE55C977}"/>
              </a:ext>
            </a:extLst>
          </p:cNvPr>
          <p:cNvSpPr txBox="1"/>
          <p:nvPr/>
        </p:nvSpPr>
        <p:spPr>
          <a:xfrm>
            <a:off x="11161853" y="31655"/>
            <a:ext cx="760071" cy="830997"/>
          </a:xfrm>
          <a:prstGeom prst="rect">
            <a:avLst/>
          </a:prstGeom>
          <a:noFill/>
        </p:spPr>
        <p:txBody>
          <a:bodyPr wrap="square" rtlCol="0">
            <a:spAutoFit/>
          </a:bodyPr>
          <a:lstStyle/>
          <a:p>
            <a:r>
              <a:rPr lang="en-US" sz="4800" dirty="0"/>
              <a:t>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Tree>
    <p:extLst>
      <p:ext uri="{BB962C8B-B14F-4D97-AF65-F5344CB8AC3E}">
        <p14:creationId xmlns:p14="http://schemas.microsoft.com/office/powerpoint/2010/main" val="2024227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114" t="-508" b="-5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64488"/>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denominator is NOT split into multiplication.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64488"/>
                <a:ext cx="11109435" cy="3341684"/>
              </a:xfrm>
              <a:prstGeom prst="rect">
                <a:avLst/>
              </a:prstGeom>
              <a:blipFill>
                <a:blip r:embed="rId3"/>
                <a:stretch>
                  <a:fillRect l="-114"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93" name="Google Shape;93;p13"/>
          <p:cNvSpPr txBox="1"/>
          <p:nvPr/>
        </p:nvSpPr>
        <p:spPr>
          <a:xfrm>
            <a:off x="0" y="0"/>
            <a:ext cx="6705600" cy="294289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Frequentist interpretation of Bayes’ theorem.</a:t>
            </a:r>
            <a:endParaRPr sz="1800" b="1">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Probability measures a proportion of outcomes.</a:t>
            </a:r>
            <a:endParaRPr sz="180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P(A) is the proportion of outcomes with A,  P(B) – with B.</a:t>
            </a:r>
            <a:endParaRPr sz="180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P(B|A) is the proportion of outcomes with property B </a:t>
            </a:r>
            <a:endParaRPr sz="180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out of outcomes with property A.</a:t>
            </a:r>
          </a:p>
          <a:p>
            <a:r>
              <a:rPr lang="en-US" sz="1800" b="1">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1800" b="1">
              <a:solidFill>
                <a:schemeClr val="accent1"/>
              </a:solidFill>
              <a:latin typeface="Calibri" panose="020F0502020204030204" pitchFamily="34" charset="0"/>
              <a:cs typeface="Calibri" panose="020F0502020204030204" pitchFamily="34" charset="0"/>
            </a:endParaRPr>
          </a:p>
          <a:p>
            <a:pPr lvl="0"/>
            <a:r>
              <a:rPr lang="en-US" sz="1800">
                <a:solidFill>
                  <a:schemeClr val="dk1"/>
                </a:solidFill>
                <a:latin typeface="Calibri" panose="020F0502020204030204" pitchFamily="34" charset="0"/>
                <a:cs typeface="Calibri" panose="020F0502020204030204" pitchFamily="34" charset="0"/>
                <a:sym typeface="Calibri"/>
              </a:rPr>
              <a:t>Probability measures a degree of belief.</a:t>
            </a:r>
            <a:br>
              <a:rPr lang="en-US" sz="1800">
                <a:solidFill>
                  <a:schemeClr val="dk1"/>
                </a:solidFill>
                <a:latin typeface="Calibri" panose="020F0502020204030204" pitchFamily="34" charset="0"/>
                <a:cs typeface="Calibri" panose="020F0502020204030204" pitchFamily="34" charset="0"/>
                <a:sym typeface="Calibri"/>
              </a:rPr>
            </a:br>
            <a:r>
              <a:rPr lang="en-US" sz="1800">
                <a:solidFill>
                  <a:schemeClr val="dk1"/>
                </a:solidFill>
                <a:latin typeface="Calibri" panose="020F0502020204030204" pitchFamily="34" charset="0"/>
                <a:cs typeface="Calibri" panose="020F0502020204030204" pitchFamily="34" charset="0"/>
                <a:sym typeface="Calibri"/>
              </a:rPr>
              <a:t>P(A), the </a:t>
            </a:r>
            <a:r>
              <a:rPr lang="en-US" sz="1800" b="1">
                <a:solidFill>
                  <a:schemeClr val="accent1"/>
                </a:solidFill>
                <a:latin typeface="Calibri" panose="020F0502020204030204" pitchFamily="34" charset="0"/>
                <a:cs typeface="Calibri" panose="020F0502020204030204" pitchFamily="34" charset="0"/>
                <a:sym typeface="Calibri"/>
              </a:rPr>
              <a:t>prior</a:t>
            </a:r>
            <a:r>
              <a:rPr lang="en-US" sz="180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a:solidFill>
                <a:schemeClr val="dk1"/>
              </a:solidFill>
              <a:latin typeface="Calibri" panose="020F0502020204030204" pitchFamily="34" charset="0"/>
              <a:cs typeface="Calibri" panose="020F0502020204030204" pitchFamily="34" charset="0"/>
            </a:endParaRPr>
          </a:p>
          <a:p>
            <a:pPr lvl="0"/>
            <a:r>
              <a:rPr lang="en-US" sz="1800">
                <a:solidFill>
                  <a:schemeClr val="dk1"/>
                </a:solidFill>
                <a:latin typeface="Calibri" panose="020F0502020204030204" pitchFamily="34" charset="0"/>
                <a:cs typeface="Calibri" panose="020F0502020204030204" pitchFamily="34" charset="0"/>
                <a:sym typeface="Calibri"/>
              </a:rPr>
              <a:t>P(A|B), the </a:t>
            </a:r>
            <a:r>
              <a:rPr lang="en-US" sz="1800" b="1">
                <a:solidFill>
                  <a:schemeClr val="accent1"/>
                </a:solidFill>
                <a:latin typeface="Calibri" panose="020F0502020204030204" pitchFamily="34" charset="0"/>
                <a:cs typeface="Calibri" panose="020F0502020204030204" pitchFamily="34" charset="0"/>
                <a:sym typeface="Calibri"/>
              </a:rPr>
              <a:t>posterior</a:t>
            </a:r>
            <a:r>
              <a:rPr lang="en-US" sz="180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a:solidFill>
                  <a:schemeClr val="dk1"/>
                </a:solidFill>
                <a:latin typeface="Calibri" panose="020F0502020204030204" pitchFamily="34" charset="0"/>
                <a:cs typeface="Calibri" panose="020F0502020204030204" pitchFamily="34" charset="0"/>
                <a:sym typeface="Calibri"/>
              </a:rPr>
            </a:br>
            <a:r>
              <a:rPr lang="en-US" sz="180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a:latin typeface="Calibri" panose="020F0502020204030204" pitchFamily="34" charset="0"/>
              <a:cs typeface="Calibri" panose="020F0502020204030204" pitchFamily="34" charset="0"/>
            </a:endParaRPr>
          </a:p>
        </p:txBody>
      </p:sp>
      <p:sp>
        <p:nvSpPr>
          <p:cNvPr id="17" name="Google Shape;113;p14">
            <a:extLst>
              <a:ext uri="{FF2B5EF4-FFF2-40B4-BE49-F238E27FC236}">
                <a16:creationId xmlns:a16="http://schemas.microsoft.com/office/drawing/2014/main" id="{686E86FA-5888-014D-BB3F-938CE5095920}"/>
              </a:ext>
            </a:extLst>
          </p:cNvPr>
          <p:cNvSpPr txBox="1"/>
          <p:nvPr/>
        </p:nvSpPr>
        <p:spPr>
          <a:xfrm>
            <a:off x="6779172" y="105038"/>
            <a:ext cx="5412828" cy="113877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Bayesian optimization </a:t>
            </a:r>
            <a:endParaRPr sz="1800" b="1">
              <a:solidFill>
                <a:schemeClr val="accent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 sequential design strategy for global optimization of black-box functions that doesn't require derivatives.</a:t>
            </a:r>
            <a:endParaRPr/>
          </a:p>
        </p:txBody>
      </p:sp>
      <p:sp>
        <p:nvSpPr>
          <p:cNvPr id="18" name="Google Shape;107;p14">
            <a:extLst>
              <a:ext uri="{FF2B5EF4-FFF2-40B4-BE49-F238E27FC236}">
                <a16:creationId xmlns:a16="http://schemas.microsoft.com/office/drawing/2014/main" id="{C2992640-6531-5D46-B219-A020079806DB}"/>
              </a:ext>
            </a:extLst>
          </p:cNvPr>
          <p:cNvSpPr txBox="1"/>
          <p:nvPr/>
        </p:nvSpPr>
        <p:spPr>
          <a:xfrm>
            <a:off x="-1" y="3104101"/>
            <a:ext cx="8082455" cy="323406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Bayesian network  </a:t>
            </a:r>
            <a:br>
              <a:rPr lang="en-US" sz="1800" b="1">
                <a:solidFill>
                  <a:schemeClr val="accent1"/>
                </a:solidFill>
                <a:latin typeface="Calibri" panose="020F0502020204030204" pitchFamily="34" charset="0"/>
                <a:cs typeface="Calibri" panose="020F0502020204030204" pitchFamily="34" charset="0"/>
                <a:sym typeface="Calibri"/>
              </a:rPr>
            </a:br>
            <a:r>
              <a:rPr lang="en-US" sz="1800">
                <a:solidFill>
                  <a:schemeClr val="dk1"/>
                </a:solidFill>
                <a:latin typeface="Calibri"/>
                <a:cs typeface="Calibri"/>
                <a:sym typeface="Calibri"/>
              </a:rPr>
              <a:t>(Bayes network, belief network, Bayes(</a:t>
            </a:r>
            <a:r>
              <a:rPr lang="en-US" sz="1800" err="1">
                <a:solidFill>
                  <a:schemeClr val="dk1"/>
                </a:solidFill>
                <a:latin typeface="Calibri"/>
                <a:cs typeface="Calibri"/>
                <a:sym typeface="Calibri"/>
              </a:rPr>
              <a:t>ian</a:t>
            </a:r>
            <a:r>
              <a:rPr lang="en-US" sz="1800">
                <a:solidFill>
                  <a:schemeClr val="dk1"/>
                </a:solidFill>
                <a:latin typeface="Calibri"/>
                <a:cs typeface="Calibri"/>
                <a:sym typeface="Calibri"/>
              </a:rPr>
              <a:t>) model or probabilistic directed acyclic graphical model)</a:t>
            </a:r>
            <a:r>
              <a:rPr lang="en-US" sz="1800">
                <a:solidFill>
                  <a:schemeClr val="dk1"/>
                </a:solidFill>
                <a:latin typeface="Calibri"/>
                <a:ea typeface="Calibri"/>
                <a:cs typeface="Calibri"/>
                <a:sym typeface="Calibri"/>
              </a:rPr>
              <a:t> is a probabilistic graphical model (a type of statistical model) that represents a set of random variables and their conditional dependencies via a directed acyclic graph (DAG).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Example: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    </a:t>
            </a:r>
            <a:r>
              <a:rPr lang="en-US" sz="1800" b="1">
                <a:solidFill>
                  <a:srgbClr val="0070C0"/>
                </a:solidFill>
                <a:latin typeface="Calibri"/>
                <a:ea typeface="Calibri"/>
                <a:cs typeface="Calibri"/>
                <a:sym typeface="Calibri"/>
              </a:rPr>
              <a:t>Deep Belief Networks </a:t>
            </a:r>
            <a:r>
              <a:rPr lang="en-US" sz="1800">
                <a:solidFill>
                  <a:schemeClr val="dk1"/>
                </a:solidFill>
                <a:latin typeface="Calibri"/>
                <a:ea typeface="Calibri"/>
                <a:cs typeface="Calibri"/>
                <a:sym typeface="Calibri"/>
              </a:rPr>
              <a:t>- made of layers of RBMs </a:t>
            </a:r>
          </a:p>
          <a:p>
            <a:pPr marL="0" marR="0" lvl="0" indent="0" algn="l" rtl="0">
              <a:spcBef>
                <a:spcPts val="0"/>
              </a:spcBef>
              <a:spcAft>
                <a:spcPts val="0"/>
              </a:spcAft>
              <a:buNone/>
            </a:pPr>
            <a:r>
              <a:rPr lang="en-US" sz="1800">
                <a:solidFill>
                  <a:schemeClr val="dk1"/>
                </a:solidFill>
                <a:latin typeface="Calibri"/>
                <a:ea typeface="Calibri"/>
                <a:cs typeface="Calibri"/>
                <a:sym typeface="Calibri"/>
              </a:rPr>
              <a:t>    (Restricted Boltzmann Machines),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     each next layer (“B”) is trained on top of the previous layer (“A”).</a:t>
            </a:r>
            <a:endParaRPr sz="1800">
              <a:solidFill>
                <a:schemeClr val="dk1"/>
              </a:solidFill>
              <a:latin typeface="Calibri"/>
              <a:ea typeface="Calibri"/>
              <a:cs typeface="Calibri"/>
              <a:sym typeface="Calibri"/>
            </a:endParaRP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a:alphaModFix/>
          </a:blip>
          <a:srcRect/>
          <a:stretch/>
        </p:blipFill>
        <p:spPr>
          <a:xfrm>
            <a:off x="9734988" y="1537237"/>
            <a:ext cx="2074067" cy="2412900"/>
          </a:xfrm>
          <a:prstGeom prst="rect">
            <a:avLst/>
          </a:prstGeom>
          <a:noFill/>
          <a:ln>
            <a:noFill/>
          </a:ln>
        </p:spPr>
      </p:pic>
      <p:pic>
        <p:nvPicPr>
          <p:cNvPr id="2" name="Picture 1">
            <a:extLst>
              <a:ext uri="{FF2B5EF4-FFF2-40B4-BE49-F238E27FC236}">
                <a16:creationId xmlns:a16="http://schemas.microsoft.com/office/drawing/2014/main" id="{1ACCABFF-30F1-C24A-8208-2DD7566C1AD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799567" y="4536988"/>
            <a:ext cx="3308350" cy="2273031"/>
          </a:xfrm>
          <a:prstGeom prst="rect">
            <a:avLst/>
          </a:prstGeom>
        </p:spPr>
      </p:pic>
      <p:cxnSp>
        <p:nvCxnSpPr>
          <p:cNvPr id="4" name="Straight Arrow Connector 3">
            <a:extLst>
              <a:ext uri="{FF2B5EF4-FFF2-40B4-BE49-F238E27FC236}">
                <a16:creationId xmlns:a16="http://schemas.microsoft.com/office/drawing/2014/main" id="{E055C238-B21B-A94E-B3FA-927006824DB1}"/>
              </a:ext>
            </a:extLst>
          </p:cNvPr>
          <p:cNvCxnSpPr>
            <a:cxnSpLocks/>
          </p:cNvCxnSpPr>
          <p:nvPr/>
        </p:nvCxnSpPr>
        <p:spPr>
          <a:xfrm flipV="1">
            <a:off x="8262335" y="3353896"/>
            <a:ext cx="1074464" cy="15020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21C78CF4-58E9-AC47-9EBD-FD10204A9181}"/>
              </a:ext>
            </a:extLst>
          </p:cNvPr>
          <p:cNvCxnSpPr>
            <a:cxnSpLocks/>
            <a:endCxn id="2" idx="1"/>
          </p:cNvCxnSpPr>
          <p:nvPr/>
        </p:nvCxnSpPr>
        <p:spPr>
          <a:xfrm>
            <a:off x="6705600" y="5673504"/>
            <a:ext cx="209396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73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54592" y="1563370"/>
            <a:ext cx="5929952" cy="2031325"/>
          </a:xfrm>
          <a:prstGeom prst="rect">
            <a:avLst/>
          </a:prstGeom>
          <a:noFill/>
        </p:spPr>
        <p:txBody>
          <a:bodyPr wrap="square" rtlCol="0">
            <a:spAutoFit/>
          </a:bodyPr>
          <a:lstStyle/>
          <a:p>
            <a:r>
              <a:rPr lang="en-US" b="1" dirty="0">
                <a:solidFill>
                  <a:srgbClr val="FF0000"/>
                </a:solidFill>
              </a:rPr>
              <a:t>Bayesian:</a:t>
            </a:r>
          </a:p>
          <a:p>
            <a:r>
              <a:rPr lang="en-US" dirty="0"/>
              <a:t>    Enumerate all possible hypotheses – and compute their probabilities.</a:t>
            </a:r>
          </a:p>
          <a:p>
            <a:r>
              <a:rPr lang="en-US" dirty="0"/>
              <a:t>    We make a (subjective) choice of “prior” (model, distribution)</a:t>
            </a:r>
          </a:p>
          <a:p>
            <a:r>
              <a:rPr lang="en-US" dirty="0"/>
              <a:t>    and produce posterior distribution.</a:t>
            </a:r>
          </a:p>
          <a:p>
            <a:r>
              <a:rPr lang="en-US" dirty="0"/>
              <a:t>    Allows for complex decision analysis under uncertainty.</a:t>
            </a:r>
          </a:p>
          <a:p>
            <a:r>
              <a:rPr lang="en-US" b="1" dirty="0">
                <a:solidFill>
                  <a:srgbClr val="FF0000"/>
                </a:solidFill>
              </a:rPr>
              <a:t>Frequentist (classical):</a:t>
            </a:r>
          </a:p>
          <a:p>
            <a:r>
              <a:rPr lang="en-US" dirty="0"/>
              <a:t>    Calculate means (estimates) and confidence intervals</a:t>
            </a:r>
          </a:p>
          <a:p>
            <a:r>
              <a:rPr lang="en-US" dirty="0"/>
              <a:t>    Problems treating missing data (survivorship bias)</a:t>
            </a:r>
          </a:p>
          <a:p>
            <a:r>
              <a:rPr lang="en-US" dirty="0"/>
              <a:t>    Problems with hypothesis testing (p-hacking)</a:t>
            </a:r>
          </a:p>
        </p:txBody>
      </p:sp>
      <p:sp>
        <p:nvSpPr>
          <p:cNvPr id="6" name="TextBox 5">
            <a:extLst>
              <a:ext uri="{FF2B5EF4-FFF2-40B4-BE49-F238E27FC236}">
                <a16:creationId xmlns:a16="http://schemas.microsoft.com/office/drawing/2014/main" id="{D86CA22F-D1DB-184B-8C0D-193FFD538439}"/>
              </a:ext>
            </a:extLst>
          </p:cNvPr>
          <p:cNvSpPr txBox="1"/>
          <p:nvPr/>
        </p:nvSpPr>
        <p:spPr>
          <a:xfrm>
            <a:off x="6985379" y="682726"/>
            <a:ext cx="5206621" cy="1815882"/>
          </a:xfrm>
          <a:prstGeom prst="rect">
            <a:avLst/>
          </a:prstGeom>
          <a:noFill/>
        </p:spPr>
        <p:txBody>
          <a:bodyPr wrap="square" rtlCol="0">
            <a:spAutoFit/>
          </a:bodyPr>
          <a:lstStyle/>
          <a:p>
            <a:r>
              <a:rPr lang="en-US" b="1" dirty="0">
                <a:solidFill>
                  <a:srgbClr val="FF0000"/>
                </a:solidFill>
              </a:rPr>
              <a:t>Example1: </a:t>
            </a:r>
            <a:r>
              <a:rPr lang="en-US" dirty="0"/>
              <a:t>Polling, two candidates: Alice &amp; Bob.</a:t>
            </a:r>
          </a:p>
          <a:p>
            <a:r>
              <a:rPr lang="en-US" dirty="0"/>
              <a:t>52% of polled voters intend to vote for Alice.</a:t>
            </a:r>
          </a:p>
          <a:p>
            <a:r>
              <a:rPr lang="en-US" dirty="0"/>
              <a:t>Confidence interval [42%,62%], p-value = 0.34</a:t>
            </a:r>
          </a:p>
          <a:p>
            <a:r>
              <a:rPr lang="en-US" dirty="0"/>
              <a:t>What is the probability that Alice will win ?</a:t>
            </a:r>
          </a:p>
          <a:p>
            <a:r>
              <a:rPr lang="en-US" dirty="0"/>
              <a:t>Classical frequentist approach can not answer this question.</a:t>
            </a:r>
          </a:p>
          <a:p>
            <a:r>
              <a:rPr lang="en-US" dirty="0"/>
              <a:t>Bayesian method – result is a posterior distribution of possible </a:t>
            </a:r>
          </a:p>
          <a:p>
            <a:r>
              <a:rPr lang="en-US" dirty="0"/>
              <a:t>outcomes based on data.</a:t>
            </a:r>
          </a:p>
          <a:p>
            <a:r>
              <a:rPr lang="en-US" dirty="0"/>
              <a:t>Thus you can get your answer.</a:t>
            </a:r>
          </a:p>
        </p:txBody>
      </p:sp>
      <p:sp>
        <p:nvSpPr>
          <p:cNvPr id="7" name="TextBox 6">
            <a:extLst>
              <a:ext uri="{FF2B5EF4-FFF2-40B4-BE49-F238E27FC236}">
                <a16:creationId xmlns:a16="http://schemas.microsoft.com/office/drawing/2014/main" id="{E88A1638-21E4-C746-A837-4CF59231442C}"/>
              </a:ext>
            </a:extLst>
          </p:cNvPr>
          <p:cNvSpPr txBox="1"/>
          <p:nvPr/>
        </p:nvSpPr>
        <p:spPr>
          <a:xfrm>
            <a:off x="6985379" y="2498608"/>
            <a:ext cx="5206621" cy="1600438"/>
          </a:xfrm>
          <a:prstGeom prst="rect">
            <a:avLst/>
          </a:prstGeom>
          <a:noFill/>
        </p:spPr>
        <p:txBody>
          <a:bodyPr wrap="square" rtlCol="0">
            <a:spAutoFit/>
          </a:bodyPr>
          <a:lstStyle/>
          <a:p>
            <a:r>
              <a:rPr lang="en-US" b="1" dirty="0">
                <a:solidFill>
                  <a:srgbClr val="FF0000"/>
                </a:solidFill>
              </a:rPr>
              <a:t>Example2:</a:t>
            </a:r>
            <a:r>
              <a:rPr lang="en-US" dirty="0"/>
              <a:t> comparing two drugs A &amp; B.</a:t>
            </a:r>
          </a:p>
          <a:p>
            <a:r>
              <a:rPr lang="en-US" dirty="0"/>
              <a:t>A is better than B with p value &lt; 0.001</a:t>
            </a:r>
          </a:p>
          <a:p>
            <a:r>
              <a:rPr lang="en-US" dirty="0"/>
              <a:t>A is more expensive.</a:t>
            </a:r>
          </a:p>
          <a:p>
            <a:r>
              <a:rPr lang="en-US" dirty="0"/>
              <a:t>Which drug should we prescribe?</a:t>
            </a:r>
          </a:p>
          <a:p>
            <a:r>
              <a:rPr lang="en-US" dirty="0"/>
              <a:t>Cost-benefit. </a:t>
            </a:r>
          </a:p>
          <a:p>
            <a:r>
              <a:rPr lang="en-US" dirty="0"/>
              <a:t>Suppose we get predicted probability of survival with A and B.</a:t>
            </a:r>
          </a:p>
          <a:p>
            <a:r>
              <a:rPr lang="en-US" dirty="0"/>
              <a:t>We could then compute dollars per life saved. </a:t>
            </a:r>
          </a:p>
        </p:txBody>
      </p:sp>
      <p:sp>
        <p:nvSpPr>
          <p:cNvPr id="8" name="TextBox 7">
            <a:extLst>
              <a:ext uri="{FF2B5EF4-FFF2-40B4-BE49-F238E27FC236}">
                <a16:creationId xmlns:a16="http://schemas.microsoft.com/office/drawing/2014/main" id="{81EB3310-1369-7647-9FF9-5016F01991CC}"/>
              </a:ext>
            </a:extLst>
          </p:cNvPr>
          <p:cNvSpPr txBox="1"/>
          <p:nvPr/>
        </p:nvSpPr>
        <p:spPr>
          <a:xfrm>
            <a:off x="6985379" y="4099046"/>
            <a:ext cx="5206621" cy="1169551"/>
          </a:xfrm>
          <a:prstGeom prst="rect">
            <a:avLst/>
          </a:prstGeom>
          <a:noFill/>
        </p:spPr>
        <p:txBody>
          <a:bodyPr wrap="square" rtlCol="0">
            <a:spAutoFit/>
          </a:bodyPr>
          <a:lstStyle/>
          <a:p>
            <a:r>
              <a:rPr lang="en-US" b="1" dirty="0">
                <a:solidFill>
                  <a:srgbClr val="FF0000"/>
                </a:solidFill>
              </a:rPr>
              <a:t>Example3:</a:t>
            </a:r>
            <a:r>
              <a:rPr lang="en-US" dirty="0"/>
              <a:t> Guessing game</a:t>
            </a:r>
          </a:p>
          <a:p>
            <a:r>
              <a:rPr lang="en-US" dirty="0"/>
              <a:t>You see the prize – and guess the price</a:t>
            </a:r>
          </a:p>
          <a:p>
            <a:r>
              <a:rPr lang="en-US" dirty="0"/>
              <a:t>Opponent sees a different prize – and guesses the price.</a:t>
            </a:r>
          </a:p>
          <a:p>
            <a:r>
              <a:rPr lang="en-US" dirty="0"/>
              <a:t>Whoever is closer (without going over) wins.</a:t>
            </a:r>
          </a:p>
          <a:p>
            <a:r>
              <a:rPr lang="en-US" dirty="0"/>
              <a:t>comparing two drugs A &amp; B.</a:t>
            </a:r>
          </a:p>
        </p:txBody>
      </p:sp>
      <p:sp>
        <p:nvSpPr>
          <p:cNvPr id="9" name="TextBox 8">
            <a:extLst>
              <a:ext uri="{FF2B5EF4-FFF2-40B4-BE49-F238E27FC236}">
                <a16:creationId xmlns:a16="http://schemas.microsoft.com/office/drawing/2014/main" id="{9D171819-C6E6-4541-8406-01258005E5A5}"/>
              </a:ext>
            </a:extLst>
          </p:cNvPr>
          <p:cNvSpPr txBox="1"/>
          <p:nvPr/>
        </p:nvSpPr>
        <p:spPr>
          <a:xfrm>
            <a:off x="54591" y="1255593"/>
            <a:ext cx="5595582" cy="307777"/>
          </a:xfrm>
          <a:prstGeom prst="rect">
            <a:avLst/>
          </a:prstGeom>
          <a:noFill/>
        </p:spPr>
        <p:txBody>
          <a:bodyPr wrap="square" rtlCol="0">
            <a:spAutoFit/>
          </a:bodyPr>
          <a:lstStyle/>
          <a:p>
            <a:r>
              <a:rPr lang="en-US" dirty="0"/>
              <a:t>Allen Downey – </a:t>
            </a:r>
            <a:r>
              <a:rPr lang="en-US" dirty="0">
                <a:hlinkClick r:id="rId2"/>
              </a:rPr>
              <a:t>https://www.youtube.com/watch?v=R6d-AbkhBQ8</a:t>
            </a:r>
            <a:r>
              <a:rPr lang="en-US" dirty="0"/>
              <a:t> </a:t>
            </a:r>
          </a:p>
        </p:txBody>
      </p:sp>
      <p:sp>
        <p:nvSpPr>
          <p:cNvPr id="10" name="TextBox 9">
            <a:extLst>
              <a:ext uri="{FF2B5EF4-FFF2-40B4-BE49-F238E27FC236}">
                <a16:creationId xmlns:a16="http://schemas.microsoft.com/office/drawing/2014/main" id="{E9BADB20-D64C-6847-BE85-8D8A5503503B}"/>
              </a:ext>
            </a:extLst>
          </p:cNvPr>
          <p:cNvSpPr txBox="1"/>
          <p:nvPr/>
        </p:nvSpPr>
        <p:spPr>
          <a:xfrm>
            <a:off x="6985379" y="5330152"/>
            <a:ext cx="5206621" cy="307777"/>
          </a:xfrm>
          <a:prstGeom prst="rect">
            <a:avLst/>
          </a:prstGeom>
          <a:noFill/>
        </p:spPr>
        <p:txBody>
          <a:bodyPr wrap="square" rtlCol="0">
            <a:spAutoFit/>
          </a:bodyPr>
          <a:lstStyle/>
          <a:p>
            <a:r>
              <a:rPr lang="en-US" b="1" dirty="0">
                <a:solidFill>
                  <a:srgbClr val="FF0000"/>
                </a:solidFill>
              </a:rPr>
              <a:t>Example4: </a:t>
            </a:r>
            <a:r>
              <a:rPr lang="en-US" dirty="0"/>
              <a:t>MCMC (Markov-Chain Monte-Carlo)</a:t>
            </a:r>
          </a:p>
        </p:txBody>
      </p:sp>
    </p:spTree>
    <p:extLst>
      <p:ext uri="{BB962C8B-B14F-4D97-AF65-F5344CB8AC3E}">
        <p14:creationId xmlns:p14="http://schemas.microsoft.com/office/powerpoint/2010/main" val="1794610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560792"/>
            <a:ext cx="5636525" cy="523220"/>
          </a:xfrm>
          <a:prstGeom prst="rect">
            <a:avLst/>
          </a:prstGeom>
          <a:noFill/>
        </p:spPr>
        <p:txBody>
          <a:bodyPr wrap="square" rtlCol="0">
            <a:spAutoFit/>
          </a:bodyPr>
          <a:lstStyle/>
          <a:p>
            <a:r>
              <a:rPr lang="en-US" dirty="0"/>
              <a:t>Jake </a:t>
            </a:r>
            <a:r>
              <a:rPr lang="en-US" dirty="0" err="1"/>
              <a:t>VanderPlas</a:t>
            </a:r>
            <a:r>
              <a:rPr lang="en-US" dirty="0"/>
              <a:t> </a:t>
            </a:r>
          </a:p>
          <a:p>
            <a:r>
              <a:rPr lang="en-US" dirty="0"/>
              <a:t>  - </a:t>
            </a:r>
            <a:r>
              <a:rPr lang="en-US" dirty="0">
                <a:hlinkClick r:id="rId2"/>
              </a:rPr>
              <a:t>https://www.youtube.com/watch?v=KhAUfqhLakw</a:t>
            </a:r>
            <a:endParaRPr lang="en-US" dirty="0"/>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58110" y="37572"/>
            <a:ext cx="3942737" cy="2854280"/>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5952" y="3131170"/>
            <a:ext cx="4872900" cy="3624471"/>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71810" y="3131171"/>
            <a:ext cx="4723317" cy="3624470"/>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6360881" y="200276"/>
            <a:ext cx="1338363" cy="523220"/>
          </a:xfrm>
          <a:prstGeom prst="rect">
            <a:avLst/>
          </a:prstGeom>
          <a:noFill/>
        </p:spPr>
        <p:txBody>
          <a:bodyPr wrap="square" rtlCol="0">
            <a:spAutoFit/>
          </a:bodyPr>
          <a:lstStyle/>
          <a:p>
            <a:r>
              <a:rPr lang="en-US" b="1" dirty="0">
                <a:solidFill>
                  <a:srgbClr val="FF0000"/>
                </a:solidFill>
              </a:rPr>
              <a:t>Example:</a:t>
            </a:r>
          </a:p>
          <a:p>
            <a:r>
              <a:rPr lang="en-US" b="1" dirty="0">
                <a:solidFill>
                  <a:srgbClr val="FF0000"/>
                </a:solidFill>
              </a:rPr>
              <a:t>estimating </a:t>
            </a:r>
            <a:r>
              <a:rPr lang="el-GR" b="1" dirty="0">
                <a:solidFill>
                  <a:srgbClr val="FF0000"/>
                </a:solidFill>
              </a:rPr>
              <a:t>θ</a:t>
            </a:r>
            <a:r>
              <a:rPr lang="en-US" b="1" dirty="0">
                <a:solidFill>
                  <a:srgbClr val="FF0000"/>
                </a:solidFill>
              </a:rPr>
              <a:t>  </a:t>
            </a:r>
          </a:p>
        </p:txBody>
      </p:sp>
      <p:sp>
        <p:nvSpPr>
          <p:cNvPr id="3" name="TextBox 2">
            <a:extLst>
              <a:ext uri="{FF2B5EF4-FFF2-40B4-BE49-F238E27FC236}">
                <a16:creationId xmlns:a16="http://schemas.microsoft.com/office/drawing/2014/main" id="{650AEA09-D359-3F4C-ADEB-940C7824EFEA}"/>
              </a:ext>
            </a:extLst>
          </p:cNvPr>
          <p:cNvSpPr txBox="1"/>
          <p:nvPr/>
        </p:nvSpPr>
        <p:spPr>
          <a:xfrm>
            <a:off x="204717" y="1392072"/>
            <a:ext cx="4271749" cy="523220"/>
          </a:xfrm>
          <a:prstGeom prst="rect">
            <a:avLst/>
          </a:prstGeom>
          <a:noFill/>
        </p:spPr>
        <p:txBody>
          <a:bodyPr wrap="square" rtlCol="0">
            <a:spAutoFit/>
          </a:bodyPr>
          <a:lstStyle/>
          <a:p>
            <a:r>
              <a:rPr lang="en-US" dirty="0"/>
              <a:t>Frequentist approach gives interval 10.2 - 12.2</a:t>
            </a:r>
          </a:p>
          <a:p>
            <a:r>
              <a:rPr lang="en-US" dirty="0"/>
              <a:t>Bayesian approach gives interval 9.0 - 10.0</a:t>
            </a:r>
          </a:p>
        </p:txBody>
      </p:sp>
    </p:spTree>
    <p:extLst>
      <p:ext uri="{BB962C8B-B14F-4D97-AF65-F5344CB8AC3E}">
        <p14:creationId xmlns:p14="http://schemas.microsoft.com/office/powerpoint/2010/main" val="2728897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156</TotalTime>
  <Words>1452</Words>
  <Application>Microsoft Macintosh PowerPoint</Application>
  <PresentationFormat>Widescreen</PresentationFormat>
  <Paragraphs>145</Paragraphs>
  <Slides>7</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12</cp:revision>
  <dcterms:modified xsi:type="dcterms:W3CDTF">2020-03-09T16:36:08Z</dcterms:modified>
</cp:coreProperties>
</file>