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256" r:id="rId2"/>
    <p:sldId id="263" r:id="rId3"/>
    <p:sldId id="292" r:id="rId4"/>
    <p:sldId id="291" r:id="rId5"/>
    <p:sldId id="257" r:id="rId6"/>
    <p:sldId id="258" r:id="rId7"/>
    <p:sldId id="260" r:id="rId8"/>
    <p:sldId id="293" r:id="rId9"/>
    <p:sldId id="294" r:id="rId10"/>
    <p:sldId id="262"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83"/>
    <p:restoredTop sz="94721"/>
  </p:normalViewPr>
  <p:slideViewPr>
    <p:cSldViewPr snapToGrid="0">
      <p:cViewPr varScale="1">
        <p:scale>
          <a:sx n="97" d="100"/>
          <a:sy n="97" d="100"/>
        </p:scale>
        <p:origin x="216"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tiff"/><Relationship Id="rId4" Type="http://schemas.openxmlformats.org/officeDocument/2006/relationships/hyperlink" Target="https://www.geeksforgeeks.org/naive-bayes-classifiers/"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16.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46886"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46886"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441793" y="1862689"/>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49491" y="2860142"/>
            <a:ext cx="2217637" cy="1384995"/>
          </a:xfrm>
          <a:prstGeom prst="rect">
            <a:avLst/>
          </a:prstGeom>
          <a:noFill/>
        </p:spPr>
        <p:txBody>
          <a:bodyPr wrap="square" rtlCol="0">
            <a:spAutoFit/>
          </a:bodyPr>
          <a:lstStyle/>
          <a:p>
            <a:pPr algn="ctr"/>
            <a:r>
              <a:rPr lang="en-US" dirty="0"/>
              <a:t>Bayes "solution" to a problem of inverse probability, was presented by Richard Price in 1763, two years after Bayes' death.</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
        <p:nvSpPr>
          <p:cNvPr id="5" name="Google Shape;93;p13">
            <a:extLst>
              <a:ext uri="{FF2B5EF4-FFF2-40B4-BE49-F238E27FC236}">
                <a16:creationId xmlns:a16="http://schemas.microsoft.com/office/drawing/2014/main" id="{F5066C6A-F841-BB4E-888A-251B4AF760F4}"/>
              </a:ext>
            </a:extLst>
          </p:cNvPr>
          <p:cNvSpPr txBox="1"/>
          <p:nvPr/>
        </p:nvSpPr>
        <p:spPr>
          <a:xfrm>
            <a:off x="6706366" y="4022648"/>
            <a:ext cx="5250549" cy="2457666"/>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P(A) - proportions of outcomes A</a:t>
            </a:r>
          </a:p>
          <a:p>
            <a:r>
              <a:rPr lang="en-US"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a:p>
            <a:pPr marL="0" marR="0" lvl="0" indent="0" algn="l" rtl="0">
              <a:spcBef>
                <a:spcPts val="0"/>
              </a:spcBef>
              <a:spcAft>
                <a:spcPts val="0"/>
              </a:spcAft>
              <a:buNone/>
            </a:pPr>
            <a:endParaRPr lang="en-US" dirty="0">
              <a:solidFill>
                <a:schemeClr val="dk1"/>
              </a:solidFill>
              <a:latin typeface="Calibri" panose="020F0502020204030204" pitchFamily="34" charset="0"/>
              <a:cs typeface="Calibri" panose="020F0502020204030204" pitchFamily="34" charset="0"/>
              <a:sym typeface="Calibri"/>
            </a:endParaRPr>
          </a:p>
          <a:p>
            <a:r>
              <a:rPr lang="en-US"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b="1" dirty="0">
              <a:solidFill>
                <a:schemeClr val="accent1"/>
              </a:solidFill>
              <a:latin typeface="Calibri" panose="020F0502020204030204" pitchFamily="34" charset="0"/>
              <a:cs typeface="Calibri" panose="020F0502020204030204" pitchFamily="34" charset="0"/>
            </a:endParaRPr>
          </a:p>
          <a:p>
            <a:pPr lvl="0"/>
            <a:r>
              <a:rPr lang="en-US"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b="1" dirty="0">
                <a:solidFill>
                  <a:srgbClr val="00B050"/>
                </a:solidFill>
                <a:latin typeface="Calibri" panose="020F0502020204030204" pitchFamily="34" charset="0"/>
                <a:cs typeface="Calibri" panose="020F0502020204030204" pitchFamily="34" charset="0"/>
                <a:sym typeface="Calibri"/>
              </a:rPr>
            </a:br>
            <a:r>
              <a:rPr lang="en-US" dirty="0">
                <a:solidFill>
                  <a:schemeClr val="dk1"/>
                </a:solidFill>
                <a:latin typeface="Calibri" panose="020F0502020204030204" pitchFamily="34" charset="0"/>
                <a:cs typeface="Calibri" panose="020F0502020204030204" pitchFamily="34" charset="0"/>
                <a:sym typeface="Calibri"/>
              </a:rPr>
              <a:t>P(A), the </a:t>
            </a:r>
            <a:r>
              <a:rPr lang="en-US" b="1" dirty="0">
                <a:solidFill>
                  <a:schemeClr val="accent1"/>
                </a:solidFill>
                <a:latin typeface="Calibri" panose="020F0502020204030204" pitchFamily="34" charset="0"/>
                <a:cs typeface="Calibri" panose="020F0502020204030204" pitchFamily="34" charset="0"/>
                <a:sym typeface="Calibri"/>
              </a:rPr>
              <a:t>prior</a:t>
            </a:r>
            <a:r>
              <a:rPr lang="en-US"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dirty="0">
              <a:solidFill>
                <a:schemeClr val="dk1"/>
              </a:solidFill>
              <a:latin typeface="Calibri" panose="020F0502020204030204" pitchFamily="34" charset="0"/>
              <a:cs typeface="Calibri" panose="020F0502020204030204" pitchFamily="34" charset="0"/>
            </a:endParaRPr>
          </a:p>
          <a:p>
            <a:pPr lvl="0"/>
            <a:r>
              <a:rPr lang="en-US" dirty="0">
                <a:solidFill>
                  <a:schemeClr val="dk1"/>
                </a:solidFill>
                <a:latin typeface="Calibri" panose="020F0502020204030204" pitchFamily="34" charset="0"/>
                <a:cs typeface="Calibri" panose="020F0502020204030204" pitchFamily="34" charset="0"/>
                <a:sym typeface="Calibri"/>
              </a:rPr>
              <a:t>P(A|B), the </a:t>
            </a:r>
            <a:r>
              <a:rPr lang="en-US" b="1" dirty="0">
                <a:solidFill>
                  <a:schemeClr val="accent1"/>
                </a:solidFill>
                <a:latin typeface="Calibri" panose="020F0502020204030204" pitchFamily="34" charset="0"/>
                <a:cs typeface="Calibri" panose="020F0502020204030204" pitchFamily="34" charset="0"/>
                <a:sym typeface="Calibri"/>
              </a:rPr>
              <a:t>posterior</a:t>
            </a:r>
            <a:r>
              <a:rPr lang="en-US"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dirty="0">
                <a:solidFill>
                  <a:schemeClr val="dk1"/>
                </a:solidFill>
                <a:latin typeface="Calibri" panose="020F0502020204030204" pitchFamily="34" charset="0"/>
                <a:cs typeface="Calibri" panose="020F0502020204030204" pitchFamily="34" charset="0"/>
                <a:sym typeface="Calibri"/>
              </a:rPr>
            </a:br>
            <a:r>
              <a:rPr lang="en-US"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4325394" cy="954107"/>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endParaRPr lang="en-US" dirty="0"/>
          </a:p>
          <a:p>
            <a:r>
              <a:rPr lang="en-US" dirty="0"/>
              <a:t>What can we say about coffee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6674033" y="2032595"/>
            <a:ext cx="4287044"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40%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531632" y="1974106"/>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175116"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4351034"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3076580"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5399579" y="2985773"/>
            <a:ext cx="1397874"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4701470" y="1956549"/>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2" name="Google Shape;89;p13">
            <a:extLst>
              <a:ext uri="{FF2B5EF4-FFF2-40B4-BE49-F238E27FC236}">
                <a16:creationId xmlns:a16="http://schemas.microsoft.com/office/drawing/2014/main" id="{3C8C744F-A8AE-1E49-818B-4076BC1271A0}"/>
              </a:ext>
            </a:extLst>
          </p:cNvPr>
          <p:cNvSpPr txBox="1"/>
          <p:nvPr/>
        </p:nvSpPr>
        <p:spPr>
          <a:xfrm>
            <a:off x="6674032" y="4576281"/>
            <a:ext cx="428704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5%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lvl="0"/>
            <a:endParaRPr lang="en-US" sz="1200" dirty="0">
              <a:solidFill>
                <a:schemeClr val="dk1"/>
              </a:solidFill>
              <a:latin typeface="Calibri"/>
              <a:ea typeface="Calibri"/>
              <a:cs typeface="Calibri"/>
              <a:sym typeface="Calibri"/>
            </a:endParaRPr>
          </a:p>
          <a:p>
            <a:r>
              <a:rPr lang="en-US" sz="1200" b="1" dirty="0">
                <a:solidFill>
                  <a:srgbClr val="00B0F0"/>
                </a:solidFill>
                <a:latin typeface="Calibri"/>
                <a:cs typeface="Calibri"/>
                <a:sym typeface="Calibri"/>
              </a:rPr>
              <a:t>P(B|A) = 80%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lvl="0"/>
            <a:endParaRPr lang="en-US"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Intersection:</a:t>
            </a:r>
          </a:p>
          <a:p>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80%*5% = 4%</a:t>
            </a:r>
          </a:p>
        </p:txBody>
      </p:sp>
      <p:sp>
        <p:nvSpPr>
          <p:cNvPr id="13" name="Google Shape;96;p13">
            <a:extLst>
              <a:ext uri="{FF2B5EF4-FFF2-40B4-BE49-F238E27FC236}">
                <a16:creationId xmlns:a16="http://schemas.microsoft.com/office/drawing/2014/main" id="{569DD241-518F-8F46-AE6A-34E80876D3BC}"/>
              </a:ext>
            </a:extLst>
          </p:cNvPr>
          <p:cNvSpPr/>
          <p:nvPr/>
        </p:nvSpPr>
        <p:spPr>
          <a:xfrm>
            <a:off x="1531632" y="4517792"/>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4001705"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4351034"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4048274"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5379642"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4701470" y="4500235"/>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418091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560001" cy="2893100"/>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 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 – and computing their probabilities (solving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in selecting a prior model / distribution. </a:t>
            </a:r>
          </a:p>
          <a:p>
            <a:endParaRPr lang="en-US" dirty="0"/>
          </a:p>
          <a:p>
            <a:r>
              <a:rPr lang="en-US" b="1" dirty="0">
                <a:solidFill>
                  <a:srgbClr val="FF0000"/>
                </a:solidFill>
              </a:rPr>
              <a:t>Bayesians</a:t>
            </a:r>
            <a:r>
              <a:rPr lang="en-US" dirty="0"/>
              <a:t> snap back that at least they have a model, 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197746" y="817421"/>
            <a:ext cx="1829483" cy="2128359"/>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168176" y="3617627"/>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7"/>
            <a:ext cx="6613415" cy="440178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dirty="0">
                <a:solidFill>
                  <a:schemeClr val="dk1"/>
                </a:solidFill>
                <a:latin typeface="Calibri"/>
                <a:ea typeface="Calibri"/>
                <a:cs typeface="Calibri"/>
                <a:sym typeface="Calibri"/>
              </a:rPr>
              <a:t>    </a:t>
            </a:r>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a:t>
            </a:r>
          </a:p>
          <a:p>
            <a:pPr lvl="0"/>
            <a:r>
              <a:rPr lang="en-US" sz="1800" dirty="0">
                <a:solidFill>
                  <a:schemeClr val="dk1"/>
                </a:solidFill>
                <a:latin typeface="Calibri"/>
                <a:ea typeface="Calibri"/>
                <a:cs typeface="Calibri"/>
                <a:sym typeface="Calibri"/>
              </a:rPr>
              <a:t>     each next layer (“B”) is trained on top of the previous layer (“A”).</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    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 a two-layered artificial neural network.</a:t>
            </a:r>
          </a:p>
        </p:txBody>
      </p:sp>
    </p:spTree>
    <p:extLst>
      <p:ext uri="{BB962C8B-B14F-4D97-AF65-F5344CB8AC3E}">
        <p14:creationId xmlns:p14="http://schemas.microsoft.com/office/powerpoint/2010/main" val="4205312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optimal hyperparameters for Machine Learning models (it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exploration and exploitation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601</TotalTime>
  <Words>2667</Words>
  <Application>Microsoft Macintosh PowerPoint</Application>
  <PresentationFormat>Widescreen</PresentationFormat>
  <Paragraphs>248</Paragraphs>
  <Slides>10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55</cp:revision>
  <dcterms:modified xsi:type="dcterms:W3CDTF">2021-05-01T03:33:55Z</dcterms:modified>
</cp:coreProperties>
</file>