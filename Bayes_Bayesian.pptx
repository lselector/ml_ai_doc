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4"/>
  </p:notesMasterIdLst>
  <p:sldIdLst>
    <p:sldId id="256" r:id="rId2"/>
    <p:sldId id="263" r:id="rId3"/>
    <p:sldId id="295" r:id="rId4"/>
    <p:sldId id="296" r:id="rId5"/>
    <p:sldId id="291" r:id="rId6"/>
    <p:sldId id="292" r:id="rId7"/>
    <p:sldId id="257" r:id="rId8"/>
    <p:sldId id="258" r:id="rId9"/>
    <p:sldId id="260" r:id="rId10"/>
    <p:sldId id="293" r:id="rId11"/>
    <p:sldId id="294" r:id="rId12"/>
    <p:sldId id="262" r:id="rId1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684"/>
    <p:restoredTop sz="94741"/>
  </p:normalViewPr>
  <p:slideViewPr>
    <p:cSldViewPr snapToGrid="0">
      <p:cViewPr varScale="1">
        <p:scale>
          <a:sx n="104" d="100"/>
          <a:sy n="104" d="100"/>
        </p:scale>
        <p:origin x="121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96740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60595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4.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3.xml.rels><?xml version="1.0" encoding="UTF-8" standalone="yes"?>
<Relationships xmlns="http://schemas.openxmlformats.org/package/2006/relationships"><Relationship Id="rId2" Type="http://schemas.openxmlformats.org/officeDocument/2006/relationships/hyperlink" Target="https://www.youtube.com/watch?v=KhAUfqhLakw"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tiff"/><Relationship Id="rId4" Type="http://schemas.openxmlformats.org/officeDocument/2006/relationships/hyperlink" Target="https://www.geeksforgeeks.org/naive-bayes-classifiers/"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hyperlink" Target="https://www.cs.toronto.edu/~hinton/science.pdf"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mqOdIYxxNCs" TargetMode="External"/><Relationship Id="rId5" Type="http://schemas.openxmlformats.org/officeDocument/2006/relationships/hyperlink" Target="https://github.com/fmfn/BayesianOptimization" TargetMode="External"/><Relationship Id="rId4" Type="http://schemas.openxmlformats.org/officeDocument/2006/relationships/hyperlink" Target="https://towardsdatascience.com/hyperparameter-optimization-in-gradient-boosting-packages-with-bayesian-optimization-aaf1b27e7b90"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jakevdp.github.io/blog/2014/06/12/frequentism-and-bayesianism-3-confidence-credibility/" TargetMode="External"/><Relationship Id="rId7" Type="http://schemas.openxmlformats.org/officeDocument/2006/relationships/image" Target="../media/image18.tiff"/><Relationship Id="rId2" Type="http://schemas.openxmlformats.org/officeDocument/2006/relationships/hyperlink" Target="https://www.youtube.com/watch?v=KhAUfqhLakw" TargetMode="Externa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8" name="Google Shape;88;p13"/>
              <p:cNvSpPr txBox="1"/>
              <p:nvPr/>
            </p:nvSpPr>
            <p:spPr>
              <a:xfrm>
                <a:off x="145742"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p:sp>
            <p:nvSpPr>
              <p:cNvPr id="88" name="Google Shape;88;p13"/>
              <p:cNvSpPr txBox="1">
                <a:spLocks noRot="1" noChangeAspect="1" noMove="1" noResize="1" noEditPoints="1" noAdjustHandles="1" noChangeArrowheads="1" noChangeShapeType="1" noTextEdit="1"/>
              </p:cNvSpPr>
              <p:nvPr/>
            </p:nvSpPr>
            <p:spPr>
              <a:xfrm>
                <a:off x="145742"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800731" y="4169514"/>
            <a:ext cx="4378046"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P(B|A) = 10% = probability of being rich given that Happy</a:t>
            </a:r>
          </a:p>
          <a:p>
            <a:pPr lvl="0"/>
            <a:r>
              <a:rPr lang="en-US"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Intersection:</a:t>
            </a:r>
          </a:p>
          <a:p>
            <a:r>
              <a:rPr lang="en-US"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P(A|B)*P(B) = 80%*5% = 4%</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130582"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Thomas Bayes </a:t>
            </a: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(1701–1761)</a:t>
            </a:r>
            <a:endParaRPr sz="1800" dirty="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05418" y="0"/>
            <a:ext cx="1818487" cy="2213811"/>
          </a:xfrm>
          <a:prstGeom prst="rect">
            <a:avLst/>
          </a:prstGeom>
          <a:noFill/>
          <a:ln>
            <a:noFill/>
          </a:ln>
        </p:spPr>
      </p:pic>
      <p:sp>
        <p:nvSpPr>
          <p:cNvPr id="96" name="Google Shape;96;p13"/>
          <p:cNvSpPr/>
          <p:nvPr/>
        </p:nvSpPr>
        <p:spPr>
          <a:xfrm>
            <a:off x="124872" y="4295617"/>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768355" y="4600417"/>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944273" y="5032264"/>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669819" y="5032264"/>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989078" y="5200812"/>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3294709" y="4278060"/>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649954" y="1838425"/>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 name="TextBox 1">
            <a:extLst>
              <a:ext uri="{FF2B5EF4-FFF2-40B4-BE49-F238E27FC236}">
                <a16:creationId xmlns:a16="http://schemas.microsoft.com/office/drawing/2014/main" id="{08D25109-BDA7-D542-BBD3-673AD585F84A}"/>
              </a:ext>
            </a:extLst>
          </p:cNvPr>
          <p:cNvSpPr txBox="1"/>
          <p:nvPr/>
        </p:nvSpPr>
        <p:spPr>
          <a:xfrm>
            <a:off x="9849491" y="2860142"/>
            <a:ext cx="2217637" cy="1384995"/>
          </a:xfrm>
          <a:prstGeom prst="rect">
            <a:avLst/>
          </a:prstGeom>
          <a:noFill/>
        </p:spPr>
        <p:txBody>
          <a:bodyPr wrap="square" rtlCol="0">
            <a:spAutoFit/>
          </a:bodyPr>
          <a:lstStyle/>
          <a:p>
            <a:pPr algn="ctr"/>
            <a:r>
              <a:rPr lang="en-US" dirty="0"/>
              <a:t>Bayes "solution" to a problem of inverse probability, was presented by Richard Price in 1763, two years after Bayes' death.</a:t>
            </a:r>
          </a:p>
        </p:txBody>
      </p:sp>
      <p:sp>
        <p:nvSpPr>
          <p:cNvPr id="3" name="TextBox 2">
            <a:extLst>
              <a:ext uri="{FF2B5EF4-FFF2-40B4-BE49-F238E27FC236}">
                <a16:creationId xmlns:a16="http://schemas.microsoft.com/office/drawing/2014/main" id="{680BD279-5025-984E-9F93-DDE8AEBFA92D}"/>
              </a:ext>
            </a:extLst>
          </p:cNvPr>
          <p:cNvSpPr txBox="1"/>
          <p:nvPr/>
        </p:nvSpPr>
        <p:spPr>
          <a:xfrm>
            <a:off x="8719972" y="1445339"/>
            <a:ext cx="890203" cy="307777"/>
          </a:xfrm>
          <a:prstGeom prst="rect">
            <a:avLst/>
          </a:prstGeom>
          <a:noFill/>
        </p:spPr>
        <p:txBody>
          <a:bodyPr wrap="square" rtlCol="0">
            <a:spAutoFit/>
          </a:bodyPr>
          <a:lstStyle/>
          <a:p>
            <a:r>
              <a:rPr lang="en-US" dirty="0"/>
              <a:t>P(B|A)</a:t>
            </a:r>
          </a:p>
        </p:txBody>
      </p:sp>
      <p:sp>
        <p:nvSpPr>
          <p:cNvPr id="18" name="TextBox 17">
            <a:extLst>
              <a:ext uri="{FF2B5EF4-FFF2-40B4-BE49-F238E27FC236}">
                <a16:creationId xmlns:a16="http://schemas.microsoft.com/office/drawing/2014/main" id="{14E09531-C697-B042-B4BC-38DCCD68B758}"/>
              </a:ext>
            </a:extLst>
          </p:cNvPr>
          <p:cNvSpPr txBox="1"/>
          <p:nvPr/>
        </p:nvSpPr>
        <p:spPr>
          <a:xfrm>
            <a:off x="7824512" y="1445339"/>
            <a:ext cx="619677" cy="307777"/>
          </a:xfrm>
          <a:prstGeom prst="rect">
            <a:avLst/>
          </a:prstGeom>
          <a:noFill/>
        </p:spPr>
        <p:txBody>
          <a:bodyPr wrap="square" rtlCol="0">
            <a:spAutoFit/>
          </a:bodyPr>
          <a:lstStyle/>
          <a:p>
            <a:r>
              <a:rPr lang="en-US" dirty="0"/>
              <a:t>P(A)</a:t>
            </a:r>
          </a:p>
        </p:txBody>
      </p:sp>
      <p:sp>
        <p:nvSpPr>
          <p:cNvPr id="19" name="TextBox 18">
            <a:extLst>
              <a:ext uri="{FF2B5EF4-FFF2-40B4-BE49-F238E27FC236}">
                <a16:creationId xmlns:a16="http://schemas.microsoft.com/office/drawing/2014/main" id="{F099BFE0-214E-2B4F-A1E1-A8D2AC7F6355}"/>
              </a:ext>
            </a:extLst>
          </p:cNvPr>
          <p:cNvSpPr txBox="1"/>
          <p:nvPr/>
        </p:nvSpPr>
        <p:spPr>
          <a:xfrm>
            <a:off x="8413828" y="2542789"/>
            <a:ext cx="677606" cy="307777"/>
          </a:xfrm>
          <a:prstGeom prst="rect">
            <a:avLst/>
          </a:prstGeom>
          <a:noFill/>
        </p:spPr>
        <p:txBody>
          <a:bodyPr wrap="square" rtlCol="0">
            <a:spAutoFit/>
          </a:bodyPr>
          <a:lstStyle/>
          <a:p>
            <a:r>
              <a:rPr lang="en-US" dirty="0"/>
              <a:t>P(B)</a:t>
            </a:r>
          </a:p>
        </p:txBody>
      </p:sp>
      <p:sp>
        <p:nvSpPr>
          <p:cNvPr id="20" name="TextBox 19">
            <a:extLst>
              <a:ext uri="{FF2B5EF4-FFF2-40B4-BE49-F238E27FC236}">
                <a16:creationId xmlns:a16="http://schemas.microsoft.com/office/drawing/2014/main" id="{4D658A17-55A2-5249-ABB2-34BE8376768C}"/>
              </a:ext>
            </a:extLst>
          </p:cNvPr>
          <p:cNvSpPr txBox="1"/>
          <p:nvPr/>
        </p:nvSpPr>
        <p:spPr>
          <a:xfrm>
            <a:off x="6673273" y="1445339"/>
            <a:ext cx="890204" cy="307777"/>
          </a:xfrm>
          <a:prstGeom prst="rect">
            <a:avLst/>
          </a:prstGeom>
          <a:noFill/>
        </p:spPr>
        <p:txBody>
          <a:bodyPr wrap="square" rtlCol="0">
            <a:spAutoFit/>
          </a:bodyPr>
          <a:lstStyle/>
          <a:p>
            <a:r>
              <a:rPr lang="en-US" dirty="0"/>
              <a:t>P(A|B)</a:t>
            </a:r>
          </a:p>
        </p:txBody>
      </p:sp>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774625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A3E503-F444-8740-9959-BAADA127EBBD}"/>
              </a:ext>
            </a:extLst>
          </p:cNvPr>
          <p:cNvSpPr txBox="1"/>
          <p:nvPr/>
        </p:nvSpPr>
        <p:spPr>
          <a:xfrm>
            <a:off x="-65351" y="0"/>
            <a:ext cx="4585855" cy="523220"/>
          </a:xfrm>
          <a:prstGeom prst="rect">
            <a:avLst/>
          </a:prstGeom>
          <a:noFill/>
        </p:spPr>
        <p:txBody>
          <a:bodyPr wrap="square" rtlCol="0">
            <a:spAutoFit/>
          </a:bodyPr>
          <a:lstStyle/>
          <a:p>
            <a:r>
              <a:rPr lang="en-US" sz="2800" b="1" dirty="0"/>
              <a:t>Confidence vs Credibility</a:t>
            </a:r>
          </a:p>
        </p:txBody>
      </p:sp>
      <p:sp>
        <p:nvSpPr>
          <p:cNvPr id="3" name="TextBox 2">
            <a:extLst>
              <a:ext uri="{FF2B5EF4-FFF2-40B4-BE49-F238E27FC236}">
                <a16:creationId xmlns:a16="http://schemas.microsoft.com/office/drawing/2014/main" id="{34C986C8-6494-5542-A5B4-2B5DE3F7F949}"/>
              </a:ext>
            </a:extLst>
          </p:cNvPr>
          <p:cNvSpPr txBox="1"/>
          <p:nvPr/>
        </p:nvSpPr>
        <p:spPr>
          <a:xfrm>
            <a:off x="193963" y="904886"/>
            <a:ext cx="3824583" cy="1477328"/>
          </a:xfrm>
          <a:prstGeom prst="rect">
            <a:avLst/>
          </a:prstGeom>
          <a:noFill/>
        </p:spPr>
        <p:txBody>
          <a:bodyPr wrap="square" rtlCol="0">
            <a:spAutoFit/>
          </a:bodyPr>
          <a:lstStyle/>
          <a:p>
            <a:r>
              <a:rPr lang="en-US" sz="2000" b="1" dirty="0" err="1">
                <a:solidFill>
                  <a:srgbClr val="FF0000"/>
                </a:solidFill>
              </a:rPr>
              <a:t>Bayesianism</a:t>
            </a:r>
            <a:r>
              <a:rPr lang="en-US" dirty="0"/>
              <a:t>: </a:t>
            </a:r>
          </a:p>
          <a:p>
            <a:r>
              <a:rPr lang="en-US" dirty="0"/>
              <a:t>probabilistic statement about </a:t>
            </a:r>
          </a:p>
          <a:p>
            <a:endParaRPr lang="en-US" dirty="0"/>
          </a:p>
          <a:p>
            <a:r>
              <a:rPr lang="en-US" dirty="0"/>
              <a:t>model parameters </a:t>
            </a:r>
          </a:p>
          <a:p>
            <a:endParaRPr lang="en-US" dirty="0"/>
          </a:p>
          <a:p>
            <a:r>
              <a:rPr lang="en-US" dirty="0"/>
              <a:t>given a fixed credible region</a:t>
            </a:r>
          </a:p>
        </p:txBody>
      </p:sp>
      <p:sp>
        <p:nvSpPr>
          <p:cNvPr id="4" name="TextBox 3">
            <a:extLst>
              <a:ext uri="{FF2B5EF4-FFF2-40B4-BE49-F238E27FC236}">
                <a16:creationId xmlns:a16="http://schemas.microsoft.com/office/drawing/2014/main" id="{EED3848A-8A25-2249-A3FC-A28BF38BEC4C}"/>
              </a:ext>
            </a:extLst>
          </p:cNvPr>
          <p:cNvSpPr txBox="1"/>
          <p:nvPr/>
        </p:nvSpPr>
        <p:spPr>
          <a:xfrm>
            <a:off x="193962" y="3777454"/>
            <a:ext cx="3824583" cy="1692771"/>
          </a:xfrm>
          <a:prstGeom prst="rect">
            <a:avLst/>
          </a:prstGeom>
          <a:noFill/>
        </p:spPr>
        <p:txBody>
          <a:bodyPr wrap="square" rtlCol="0">
            <a:spAutoFit/>
          </a:bodyPr>
          <a:lstStyle/>
          <a:p>
            <a:r>
              <a:rPr lang="en-US" sz="2000" b="1" dirty="0">
                <a:solidFill>
                  <a:srgbClr val="FF0000"/>
                </a:solidFill>
              </a:rPr>
              <a:t>Frequentism:</a:t>
            </a:r>
            <a:r>
              <a:rPr lang="en-US" dirty="0"/>
              <a:t> </a:t>
            </a:r>
          </a:p>
          <a:p>
            <a:r>
              <a:rPr lang="en-US" dirty="0"/>
              <a:t>probabilistic statement about </a:t>
            </a:r>
          </a:p>
          <a:p>
            <a:endParaRPr lang="en-US" dirty="0"/>
          </a:p>
          <a:p>
            <a:r>
              <a:rPr lang="en-US" dirty="0"/>
              <a:t>a recipe for generating </a:t>
            </a:r>
          </a:p>
          <a:p>
            <a:r>
              <a:rPr lang="en-US" dirty="0"/>
              <a:t>confidence intervals</a:t>
            </a:r>
          </a:p>
          <a:p>
            <a:endParaRPr lang="en-US" dirty="0"/>
          </a:p>
          <a:p>
            <a:r>
              <a:rPr lang="en-US" dirty="0"/>
              <a:t>given a fixed model parameter</a:t>
            </a:r>
          </a:p>
        </p:txBody>
      </p:sp>
      <p:sp>
        <p:nvSpPr>
          <p:cNvPr id="5" name="Oval 4">
            <a:extLst>
              <a:ext uri="{FF2B5EF4-FFF2-40B4-BE49-F238E27FC236}">
                <a16:creationId xmlns:a16="http://schemas.microsoft.com/office/drawing/2014/main" id="{97595D3F-C164-0840-A6D6-EBC1EDB6388E}"/>
              </a:ext>
            </a:extLst>
          </p:cNvPr>
          <p:cNvSpPr/>
          <p:nvPr/>
        </p:nvSpPr>
        <p:spPr>
          <a:xfrm>
            <a:off x="4311296" y="902468"/>
            <a:ext cx="3017520" cy="1232379"/>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389F32D-E4AF-F74B-B423-B6CF1ADA4514}"/>
              </a:ext>
            </a:extLst>
          </p:cNvPr>
          <p:cNvSpPr/>
          <p:nvPr/>
        </p:nvSpPr>
        <p:spPr>
          <a:xfrm>
            <a:off x="4268121" y="3608771"/>
            <a:ext cx="2273857"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9971E320-B45D-DC49-9CD1-B08E949D34C1}"/>
              </a:ext>
            </a:extLst>
          </p:cNvPr>
          <p:cNvSpPr/>
          <p:nvPr/>
        </p:nvSpPr>
        <p:spPr>
          <a:xfrm rot="965329">
            <a:off x="5276487" y="4365250"/>
            <a:ext cx="2057528"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D137703-CE6E-FB49-ACEE-A14BFBBC126E}"/>
              </a:ext>
            </a:extLst>
          </p:cNvPr>
          <p:cNvSpPr/>
          <p:nvPr/>
        </p:nvSpPr>
        <p:spPr>
          <a:xfrm rot="20412797">
            <a:off x="5657103" y="3660341"/>
            <a:ext cx="1999873"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B82C0F5-E1B3-2F41-9437-1892493D73C6}"/>
              </a:ext>
            </a:extLst>
          </p:cNvPr>
          <p:cNvSpPr/>
          <p:nvPr/>
        </p:nvSpPr>
        <p:spPr>
          <a:xfrm>
            <a:off x="4777192" y="12241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A9DEC98-9184-0042-8FCD-BE315EE1B302}"/>
              </a:ext>
            </a:extLst>
          </p:cNvPr>
          <p:cNvSpPr/>
          <p:nvPr/>
        </p:nvSpPr>
        <p:spPr>
          <a:xfrm>
            <a:off x="4664182" y="158825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C0CCFB6-ABDF-0F48-B91D-96BD9D06FF92}"/>
              </a:ext>
            </a:extLst>
          </p:cNvPr>
          <p:cNvSpPr/>
          <p:nvPr/>
        </p:nvSpPr>
        <p:spPr>
          <a:xfrm>
            <a:off x="5918303" y="139056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9D6AF0D-4587-7A42-8D51-E0DC365C8D14}"/>
              </a:ext>
            </a:extLst>
          </p:cNvPr>
          <p:cNvSpPr/>
          <p:nvPr/>
        </p:nvSpPr>
        <p:spPr>
          <a:xfrm>
            <a:off x="5234392" y="16813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07320EE-28A9-284A-B12A-770FA0ABE4AD}"/>
              </a:ext>
            </a:extLst>
          </p:cNvPr>
          <p:cNvSpPr/>
          <p:nvPr/>
        </p:nvSpPr>
        <p:spPr>
          <a:xfrm>
            <a:off x="5264167" y="110598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8579B37-E01E-664F-8F4C-083685EB2437}"/>
              </a:ext>
            </a:extLst>
          </p:cNvPr>
          <p:cNvSpPr/>
          <p:nvPr/>
        </p:nvSpPr>
        <p:spPr>
          <a:xfrm>
            <a:off x="5491408" y="14124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9B0E2BC-5D03-3341-9854-DFF10299782B}"/>
              </a:ext>
            </a:extLst>
          </p:cNvPr>
          <p:cNvSpPr/>
          <p:nvPr/>
        </p:nvSpPr>
        <p:spPr>
          <a:xfrm>
            <a:off x="5728519" y="97441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4361876C-0846-EA45-A05C-86C2E7B861C9}"/>
              </a:ext>
            </a:extLst>
          </p:cNvPr>
          <p:cNvSpPr/>
          <p:nvPr/>
        </p:nvSpPr>
        <p:spPr>
          <a:xfrm>
            <a:off x="6281604" y="1758333"/>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FFBB75ED-CC7C-144E-964C-7C14A754F150}"/>
              </a:ext>
            </a:extLst>
          </p:cNvPr>
          <p:cNvSpPr/>
          <p:nvPr/>
        </p:nvSpPr>
        <p:spPr>
          <a:xfrm>
            <a:off x="6535044" y="129379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9F93DF-8AB8-BA4E-BD98-C1C92669B7B7}"/>
              </a:ext>
            </a:extLst>
          </p:cNvPr>
          <p:cNvSpPr/>
          <p:nvPr/>
        </p:nvSpPr>
        <p:spPr>
          <a:xfrm>
            <a:off x="6318744" y="97328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71680A35-4E34-1D4E-A54E-FEEE28D00C07}"/>
              </a:ext>
            </a:extLst>
          </p:cNvPr>
          <p:cNvSpPr/>
          <p:nvPr/>
        </p:nvSpPr>
        <p:spPr>
          <a:xfrm>
            <a:off x="6864464" y="125039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298DDC5-F068-6140-8F06-B936894D64BE}"/>
              </a:ext>
            </a:extLst>
          </p:cNvPr>
          <p:cNvSpPr/>
          <p:nvPr/>
        </p:nvSpPr>
        <p:spPr>
          <a:xfrm>
            <a:off x="5125137" y="12930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3355E27-83EF-0B41-97EE-326671135067}"/>
              </a:ext>
            </a:extLst>
          </p:cNvPr>
          <p:cNvSpPr/>
          <p:nvPr/>
        </p:nvSpPr>
        <p:spPr>
          <a:xfrm>
            <a:off x="5713138" y="165948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BD73340-6D1D-AE44-B09C-815640DC9FC8}"/>
              </a:ext>
            </a:extLst>
          </p:cNvPr>
          <p:cNvSpPr/>
          <p:nvPr/>
        </p:nvSpPr>
        <p:spPr>
          <a:xfrm>
            <a:off x="6609850" y="14832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DC9430E1-6A51-E74C-AD08-B6208CCDFDE5}"/>
              </a:ext>
            </a:extLst>
          </p:cNvPr>
          <p:cNvSpPr/>
          <p:nvPr/>
        </p:nvSpPr>
        <p:spPr>
          <a:xfrm>
            <a:off x="5060420" y="167731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6D1FB04-5468-8F4E-9755-25EC0332A18A}"/>
              </a:ext>
            </a:extLst>
          </p:cNvPr>
          <p:cNvSpPr/>
          <p:nvPr/>
        </p:nvSpPr>
        <p:spPr>
          <a:xfrm>
            <a:off x="6036092" y="117950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46A4F47-2635-FE4D-BA59-CE43369FFE09}"/>
              </a:ext>
            </a:extLst>
          </p:cNvPr>
          <p:cNvSpPr/>
          <p:nvPr/>
        </p:nvSpPr>
        <p:spPr>
          <a:xfrm>
            <a:off x="5582337" y="17502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7633667-E8B9-1243-9559-B3506FE8D536}"/>
              </a:ext>
            </a:extLst>
          </p:cNvPr>
          <p:cNvSpPr/>
          <p:nvPr/>
        </p:nvSpPr>
        <p:spPr>
          <a:xfrm>
            <a:off x="5780061" y="44013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CAC20ABF-F0A3-9045-B238-D3C46F483BE4}"/>
              </a:ext>
            </a:extLst>
          </p:cNvPr>
          <p:cNvSpPr/>
          <p:nvPr/>
        </p:nvSpPr>
        <p:spPr>
          <a:xfrm rot="17922373">
            <a:off x="4550099" y="4599030"/>
            <a:ext cx="2119979"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440E9EA-43C4-C54E-98F3-E733DFA077D9}"/>
              </a:ext>
            </a:extLst>
          </p:cNvPr>
          <p:cNvSpPr/>
          <p:nvPr/>
        </p:nvSpPr>
        <p:spPr>
          <a:xfrm>
            <a:off x="2921676" y="167450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895DA2D-D3D0-6547-A366-55CC61A6F780}"/>
              </a:ext>
            </a:extLst>
          </p:cNvPr>
          <p:cNvSpPr/>
          <p:nvPr/>
        </p:nvSpPr>
        <p:spPr>
          <a:xfrm>
            <a:off x="2700289" y="211908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14E7C7C7-5362-AB42-9D0B-48F844AE0C7F}"/>
              </a:ext>
            </a:extLst>
          </p:cNvPr>
          <p:cNvSpPr/>
          <p:nvPr/>
        </p:nvSpPr>
        <p:spPr>
          <a:xfrm>
            <a:off x="2700289" y="470664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CE3F0682-C169-2B45-B192-6427C490D3B6}"/>
              </a:ext>
            </a:extLst>
          </p:cNvPr>
          <p:cNvSpPr/>
          <p:nvPr/>
        </p:nvSpPr>
        <p:spPr>
          <a:xfrm>
            <a:off x="2921676" y="51803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7C850E5-2DF4-124E-AB45-622FF4D87943}"/>
              </a:ext>
            </a:extLst>
          </p:cNvPr>
          <p:cNvSpPr txBox="1"/>
          <p:nvPr/>
        </p:nvSpPr>
        <p:spPr>
          <a:xfrm>
            <a:off x="7538024" y="6157292"/>
            <a:ext cx="4653976" cy="523220"/>
          </a:xfrm>
          <a:prstGeom prst="rect">
            <a:avLst/>
          </a:prstGeom>
          <a:noFill/>
        </p:spPr>
        <p:txBody>
          <a:bodyPr wrap="square" rtlCol="0">
            <a:spAutoFit/>
          </a:bodyPr>
          <a:lstStyle/>
          <a:p>
            <a:r>
              <a:rPr lang="en-US" dirty="0"/>
              <a:t>from Jake </a:t>
            </a:r>
            <a:r>
              <a:rPr lang="en-US" dirty="0" err="1"/>
              <a:t>VanderPlas</a:t>
            </a:r>
            <a:endParaRPr lang="en-US" dirty="0"/>
          </a:p>
          <a:p>
            <a:r>
              <a:rPr lang="en-US" dirty="0">
                <a:hlinkClick r:id="rId2"/>
              </a:rPr>
              <a:t>https://www.youtube.com/watch?v=KhAUfqhLakw</a:t>
            </a:r>
            <a:r>
              <a:rPr lang="en-US" dirty="0"/>
              <a:t> </a:t>
            </a:r>
          </a:p>
        </p:txBody>
      </p:sp>
      <p:sp>
        <p:nvSpPr>
          <p:cNvPr id="37" name="TextBox 36">
            <a:extLst>
              <a:ext uri="{FF2B5EF4-FFF2-40B4-BE49-F238E27FC236}">
                <a16:creationId xmlns:a16="http://schemas.microsoft.com/office/drawing/2014/main" id="{DCA3305E-3FC6-4041-ABE0-3DEA2DC4C76B}"/>
              </a:ext>
            </a:extLst>
          </p:cNvPr>
          <p:cNvSpPr txBox="1"/>
          <p:nvPr/>
        </p:nvSpPr>
        <p:spPr>
          <a:xfrm>
            <a:off x="8461363" y="3695285"/>
            <a:ext cx="3634531" cy="1815882"/>
          </a:xfrm>
          <a:prstGeom prst="rect">
            <a:avLst/>
          </a:prstGeom>
          <a:noFill/>
        </p:spPr>
        <p:txBody>
          <a:bodyPr wrap="square" rtlCol="0">
            <a:spAutoFit/>
          </a:bodyPr>
          <a:lstStyle/>
          <a:p>
            <a:r>
              <a:rPr lang="en-US" dirty="0"/>
              <a:t>In general, a frequentist's</a:t>
            </a:r>
          </a:p>
          <a:p>
            <a:r>
              <a:rPr lang="en-US" dirty="0"/>
              <a:t> </a:t>
            </a:r>
            <a:r>
              <a:rPr lang="en-US" b="1" dirty="0">
                <a:solidFill>
                  <a:srgbClr val="FF0000"/>
                </a:solidFill>
              </a:rPr>
              <a:t>95% Confidence Interval</a:t>
            </a:r>
          </a:p>
          <a:p>
            <a:r>
              <a:rPr lang="en-US" b="1" dirty="0">
                <a:solidFill>
                  <a:srgbClr val="00B050"/>
                </a:solidFill>
              </a:rPr>
              <a:t>is not 95% likely</a:t>
            </a:r>
            <a:r>
              <a:rPr lang="en-US" dirty="0"/>
              <a:t> to contain the true value!</a:t>
            </a:r>
          </a:p>
          <a:p>
            <a:endParaRPr lang="en-US" dirty="0"/>
          </a:p>
          <a:p>
            <a:r>
              <a:rPr lang="en-US" dirty="0"/>
              <a:t>A frequentist only states that:</a:t>
            </a:r>
          </a:p>
          <a:p>
            <a:r>
              <a:rPr lang="en-US" dirty="0"/>
              <a:t>   if we repeat experiment multiple times</a:t>
            </a:r>
          </a:p>
          <a:p>
            <a:r>
              <a:rPr lang="en-US" dirty="0"/>
              <a:t>   then 95% of such confidence intervals</a:t>
            </a:r>
          </a:p>
          <a:p>
            <a:r>
              <a:rPr lang="en-US" dirty="0"/>
              <a:t>   will contain the true value.</a:t>
            </a:r>
          </a:p>
        </p:txBody>
      </p:sp>
      <p:sp>
        <p:nvSpPr>
          <p:cNvPr id="38" name="Oval 37">
            <a:extLst>
              <a:ext uri="{FF2B5EF4-FFF2-40B4-BE49-F238E27FC236}">
                <a16:creationId xmlns:a16="http://schemas.microsoft.com/office/drawing/2014/main" id="{CF6D186E-EF05-3242-87BC-E8DAD450D089}"/>
              </a:ext>
            </a:extLst>
          </p:cNvPr>
          <p:cNvSpPr/>
          <p:nvPr/>
        </p:nvSpPr>
        <p:spPr>
          <a:xfrm>
            <a:off x="6159858" y="4192514"/>
            <a:ext cx="1538352" cy="821425"/>
          </a:xfrm>
          <a:prstGeom prst="ellipse">
            <a:avLst/>
          </a:prstGeom>
          <a:solidFill>
            <a:schemeClr val="accent5">
              <a:lumMod val="60000"/>
              <a:lumOff val="40000"/>
              <a:alpha val="77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Our Particular Interval</a:t>
            </a:r>
          </a:p>
        </p:txBody>
      </p:sp>
    </p:spTree>
    <p:extLst>
      <p:ext uri="{BB962C8B-B14F-4D97-AF65-F5344CB8AC3E}">
        <p14:creationId xmlns:p14="http://schemas.microsoft.com/office/powerpoint/2010/main" val="3333210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93;p13">
            <a:extLst>
              <a:ext uri="{FF2B5EF4-FFF2-40B4-BE49-F238E27FC236}">
                <a16:creationId xmlns:a16="http://schemas.microsoft.com/office/drawing/2014/main" id="{F5066C6A-F841-BB4E-888A-251B4AF760F4}"/>
              </a:ext>
            </a:extLst>
          </p:cNvPr>
          <p:cNvSpPr txBox="1"/>
          <p:nvPr/>
        </p:nvSpPr>
        <p:spPr>
          <a:xfrm>
            <a:off x="2748641" y="1644652"/>
            <a:ext cx="6694715" cy="1637391"/>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sz="2400"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b="1" dirty="0">
                <a:solidFill>
                  <a:srgbClr val="00B050"/>
                </a:solidFill>
                <a:latin typeface="Calibri" panose="020F0502020204030204" pitchFamily="34" charset="0"/>
                <a:cs typeface="Calibri" panose="020F0502020204030204" pitchFamily="34" charset="0"/>
                <a:sym typeface="Calibri"/>
              </a:rPr>
              <a:t>Probability measures a proportion of outcomes.</a:t>
            </a:r>
            <a:endParaRPr sz="1800" b="1" dirty="0">
              <a:solidFill>
                <a:srgbClr val="00B050"/>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P(A) - proportions of outcomes A</a:t>
            </a:r>
          </a:p>
          <a:p>
            <a:r>
              <a:rPr lang="en-US" sz="1800" dirty="0">
                <a:solidFill>
                  <a:schemeClr val="dk1"/>
                </a:solidFill>
                <a:latin typeface="Calibri" panose="020F0502020204030204" pitchFamily="34" charset="0"/>
                <a:cs typeface="Calibri" panose="020F0502020204030204" pitchFamily="34" charset="0"/>
                <a:sym typeface="Calibri"/>
              </a:rPr>
              <a:t>P(B) - proportions of outcomes B</a:t>
            </a: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P(B|A) is the proportion of outcomes B out of outcomes A</a:t>
            </a:r>
          </a:p>
        </p:txBody>
      </p:sp>
      <p:sp>
        <p:nvSpPr>
          <p:cNvPr id="7" name="TextBox 6">
            <a:extLst>
              <a:ext uri="{FF2B5EF4-FFF2-40B4-BE49-F238E27FC236}">
                <a16:creationId xmlns:a16="http://schemas.microsoft.com/office/drawing/2014/main" id="{925C92EE-03D8-DB44-AE43-BDAD05469BE7}"/>
              </a:ext>
            </a:extLst>
          </p:cNvPr>
          <p:cNvSpPr txBox="1"/>
          <p:nvPr/>
        </p:nvSpPr>
        <p:spPr>
          <a:xfrm>
            <a:off x="-1" y="37572"/>
            <a:ext cx="6694715" cy="523220"/>
          </a:xfrm>
          <a:prstGeom prst="rect">
            <a:avLst/>
          </a:prstGeom>
          <a:noFill/>
        </p:spPr>
        <p:txBody>
          <a:bodyPr wrap="square" rtlCol="0">
            <a:spAutoFit/>
          </a:bodyPr>
          <a:lstStyle/>
          <a:p>
            <a:r>
              <a:rPr lang="en-US" sz="2800" b="1" dirty="0"/>
              <a:t>Frequentist vs Bayesian </a:t>
            </a:r>
          </a:p>
        </p:txBody>
      </p:sp>
      <p:sp>
        <p:nvSpPr>
          <p:cNvPr id="8" name="Google Shape;93;p13">
            <a:extLst>
              <a:ext uri="{FF2B5EF4-FFF2-40B4-BE49-F238E27FC236}">
                <a16:creationId xmlns:a16="http://schemas.microsoft.com/office/drawing/2014/main" id="{63B1458D-308E-4C42-81E2-BCB6757E15B7}"/>
              </a:ext>
            </a:extLst>
          </p:cNvPr>
          <p:cNvSpPr txBox="1"/>
          <p:nvPr/>
        </p:nvSpPr>
        <p:spPr>
          <a:xfrm>
            <a:off x="2748642" y="4114801"/>
            <a:ext cx="6694715" cy="1637390"/>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r>
              <a:rPr lang="en-US" sz="2400"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sz="2400" b="1" dirty="0">
              <a:solidFill>
                <a:schemeClr val="accent1"/>
              </a:solidFill>
              <a:latin typeface="Calibri" panose="020F0502020204030204" pitchFamily="34" charset="0"/>
              <a:cs typeface="Calibri" panose="020F0502020204030204" pitchFamily="34" charset="0"/>
            </a:endParaRPr>
          </a:p>
          <a:p>
            <a:pPr lvl="0"/>
            <a:r>
              <a:rPr lang="en-US" sz="1800" b="1" dirty="0">
                <a:solidFill>
                  <a:srgbClr val="00B050"/>
                </a:solidFill>
                <a:latin typeface="Calibri" panose="020F0502020204030204" pitchFamily="34" charset="0"/>
                <a:cs typeface="Calibri" panose="020F0502020204030204" pitchFamily="34" charset="0"/>
                <a:sym typeface="Calibri"/>
              </a:rPr>
              <a:t>Probability measures a degree of belief.</a:t>
            </a:r>
            <a:br>
              <a:rPr lang="en-US" sz="1800" b="1" dirty="0">
                <a:solidFill>
                  <a:srgbClr val="00B050"/>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P(A), the </a:t>
            </a:r>
            <a:r>
              <a:rPr lang="en-US" sz="1800" b="1" dirty="0">
                <a:solidFill>
                  <a:schemeClr val="accent1"/>
                </a:solidFill>
                <a:latin typeface="Calibri" panose="020F0502020204030204" pitchFamily="34" charset="0"/>
                <a:cs typeface="Calibri" panose="020F0502020204030204" pitchFamily="34" charset="0"/>
                <a:sym typeface="Calibri"/>
              </a:rPr>
              <a:t>prior</a:t>
            </a:r>
            <a:r>
              <a:rPr lang="en-US" sz="1800"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sz="1800" dirty="0">
              <a:solidFill>
                <a:schemeClr val="dk1"/>
              </a:solidFill>
              <a:latin typeface="Calibri" panose="020F0502020204030204" pitchFamily="34" charset="0"/>
              <a:cs typeface="Calibri" panose="020F0502020204030204" pitchFamily="34" charset="0"/>
            </a:endParaRPr>
          </a:p>
          <a:p>
            <a:pPr lvl="0"/>
            <a:r>
              <a:rPr lang="en-US" sz="1800" dirty="0">
                <a:solidFill>
                  <a:schemeClr val="dk1"/>
                </a:solidFill>
                <a:latin typeface="Calibri" panose="020F0502020204030204" pitchFamily="34" charset="0"/>
                <a:cs typeface="Calibri" panose="020F0502020204030204" pitchFamily="34" charset="0"/>
                <a:sym typeface="Calibri"/>
              </a:rPr>
              <a:t>P(A|B), the </a:t>
            </a:r>
            <a:r>
              <a:rPr lang="en-US" sz="1800" b="1" dirty="0">
                <a:solidFill>
                  <a:schemeClr val="accent1"/>
                </a:solidFill>
                <a:latin typeface="Calibri" panose="020F0502020204030204" pitchFamily="34" charset="0"/>
                <a:cs typeface="Calibri" panose="020F0502020204030204" pitchFamily="34" charset="0"/>
                <a:sym typeface="Calibri"/>
              </a:rPr>
              <a:t>posterior</a:t>
            </a:r>
            <a:r>
              <a:rPr lang="en-US" sz="1800"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sz="1800" dirty="0">
                <a:solidFill>
                  <a:schemeClr val="dk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sz="1800"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sz="1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4935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340391" y="4255692"/>
            <a:ext cx="5929952" cy="2246769"/>
          </a:xfrm>
          <a:prstGeom prst="rect">
            <a:avLst/>
          </a:prstGeom>
          <a:noFill/>
          <a:ln w="63500">
            <a:solidFill>
              <a:schemeClr val="accent6">
                <a:lumMod val="40000"/>
                <a:lumOff val="60000"/>
              </a:schemeClr>
            </a:solidFill>
          </a:ln>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a:t>
            </a:r>
            <a:r>
              <a:rPr lang="en-US" b="1" dirty="0">
                <a:solidFill>
                  <a:srgbClr val="FF0000"/>
                </a:solidFill>
              </a:rPr>
              <a:t>hypotheses</a:t>
            </a:r>
            <a:r>
              <a:rPr lang="en-US" dirty="0"/>
              <a:t> – and compute their probabilities.</a:t>
            </a:r>
          </a:p>
          <a:p>
            <a:r>
              <a:rPr lang="en-US" dirty="0"/>
              <a:t>    We make a (subjective) choice of “</a:t>
            </a:r>
            <a:r>
              <a:rPr lang="en-US" b="1" dirty="0">
                <a:solidFill>
                  <a:srgbClr val="FF0000"/>
                </a:solidFill>
              </a:rPr>
              <a:t>prior</a:t>
            </a:r>
            <a:r>
              <a:rPr lang="en-US" dirty="0"/>
              <a:t>” (model, distribution)</a:t>
            </a:r>
          </a:p>
          <a:p>
            <a:r>
              <a:rPr lang="en-US" dirty="0"/>
              <a:t>    and produce </a:t>
            </a:r>
            <a:r>
              <a:rPr lang="en-US" b="1" dirty="0">
                <a:solidFill>
                  <a:srgbClr val="FF0000"/>
                </a:solidFill>
              </a:rPr>
              <a:t>posterior</a:t>
            </a:r>
            <a:r>
              <a:rPr lang="en-US" dirty="0"/>
              <a:t> distribution.</a:t>
            </a:r>
          </a:p>
          <a:p>
            <a:r>
              <a:rPr lang="en-US" dirty="0"/>
              <a:t>    Allows for complex decision analysis under uncertainty.</a:t>
            </a:r>
          </a:p>
        </p:txBody>
      </p:sp>
      <p:sp>
        <p:nvSpPr>
          <p:cNvPr id="6" name="TextBox 5">
            <a:extLst>
              <a:ext uri="{FF2B5EF4-FFF2-40B4-BE49-F238E27FC236}">
                <a16:creationId xmlns:a16="http://schemas.microsoft.com/office/drawing/2014/main" id="{D86CA22F-D1DB-184B-8C0D-193FFD538439}"/>
              </a:ext>
            </a:extLst>
          </p:cNvPr>
          <p:cNvSpPr txBox="1"/>
          <p:nvPr/>
        </p:nvSpPr>
        <p:spPr>
          <a:xfrm>
            <a:off x="7515267" y="2288868"/>
            <a:ext cx="4573575" cy="4339650"/>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FF0000"/>
                </a:solidFill>
              </a:rPr>
              <a:t>Example1: </a:t>
            </a:r>
            <a:r>
              <a:rPr lang="en-US" sz="1200" dirty="0"/>
              <a:t>Polling, two candidates: Alice &amp; Bob.</a:t>
            </a:r>
            <a:br>
              <a:rPr lang="en-US" sz="1200" dirty="0"/>
            </a:br>
            <a:r>
              <a:rPr lang="en-US" sz="1200" dirty="0"/>
              <a:t>52% of polled voters intend to vote for Alice.</a:t>
            </a:r>
            <a:br>
              <a:rPr lang="en-US" sz="1200" dirty="0"/>
            </a:br>
            <a:r>
              <a:rPr lang="en-US" sz="1200" dirty="0"/>
              <a:t>Confidence interval [42%,62%], p-value = 0.34</a:t>
            </a:r>
            <a:br>
              <a:rPr lang="en-US" sz="1200" dirty="0"/>
            </a:br>
            <a:r>
              <a:rPr lang="en-US" sz="1200" dirty="0"/>
              <a:t>What is the probability that Alice will win ?</a:t>
            </a:r>
            <a:br>
              <a:rPr lang="en-US" sz="1200" dirty="0"/>
            </a:br>
            <a:r>
              <a:rPr lang="en-US" sz="1200" dirty="0"/>
              <a:t>Classical frequentist approach can not answer this question.</a:t>
            </a:r>
            <a:br>
              <a:rPr lang="en-US" sz="1200" dirty="0"/>
            </a:br>
            <a:r>
              <a:rPr lang="en-US" sz="1200" dirty="0"/>
              <a:t>Bayesian method – result is a posterior distribution of possible</a:t>
            </a:r>
            <a:br>
              <a:rPr lang="en-US" sz="1200" dirty="0"/>
            </a:br>
            <a:r>
              <a:rPr lang="en-US" sz="1200" dirty="0"/>
              <a:t>outcomes based on data.</a:t>
            </a:r>
            <a:br>
              <a:rPr lang="en-US" sz="1200" dirty="0"/>
            </a:br>
            <a:r>
              <a:rPr lang="en-US" sz="1200" dirty="0"/>
              <a:t>Thus you can get your answer.</a:t>
            </a:r>
          </a:p>
          <a:p>
            <a:endParaRPr lang="en-US" sz="1200" dirty="0"/>
          </a:p>
          <a:p>
            <a:pPr marL="171450" indent="-171450">
              <a:buFont typeface="Arial" panose="020B0604020202020204" pitchFamily="34" charset="0"/>
              <a:buChar char="•"/>
            </a:pPr>
            <a:r>
              <a:rPr lang="en-US" sz="1200" b="1" dirty="0">
                <a:solidFill>
                  <a:srgbClr val="FF0000"/>
                </a:solidFill>
              </a:rPr>
              <a:t>Example2:</a:t>
            </a:r>
            <a:r>
              <a:rPr lang="en-US" sz="1200" dirty="0"/>
              <a:t> comparing two drugs A &amp; B.</a:t>
            </a:r>
            <a:br>
              <a:rPr lang="en-US" sz="1200" dirty="0"/>
            </a:br>
            <a:r>
              <a:rPr lang="en-US" sz="1200" dirty="0"/>
              <a:t>A is better than B with p value &lt; 0.001</a:t>
            </a:r>
            <a:br>
              <a:rPr lang="en-US" sz="1200" dirty="0"/>
            </a:br>
            <a:r>
              <a:rPr lang="en-US" sz="1200" dirty="0"/>
              <a:t>A is more expensive.</a:t>
            </a:r>
            <a:br>
              <a:rPr lang="en-US" sz="1200" dirty="0"/>
            </a:br>
            <a:r>
              <a:rPr lang="en-US" sz="1200" dirty="0"/>
              <a:t>Which drug should we prescribe?</a:t>
            </a:r>
            <a:br>
              <a:rPr lang="en-US" sz="1200" dirty="0"/>
            </a:br>
            <a:r>
              <a:rPr lang="en-US" sz="1200" dirty="0"/>
              <a:t>Cost-benefit. </a:t>
            </a:r>
            <a:br>
              <a:rPr lang="en-US" sz="1200" dirty="0"/>
            </a:br>
            <a:r>
              <a:rPr lang="en-US" sz="1200" dirty="0"/>
              <a:t>Suppose we get predicted probability of survival with A and B.</a:t>
            </a:r>
            <a:br>
              <a:rPr lang="en-US" sz="1200" dirty="0"/>
            </a:br>
            <a:r>
              <a:rPr lang="en-US" sz="1200" dirty="0"/>
              <a:t>We could then compute dollars per life saved. </a:t>
            </a:r>
          </a:p>
          <a:p>
            <a:endParaRPr lang="en-US" sz="1200" dirty="0"/>
          </a:p>
          <a:p>
            <a:pPr marL="171450" indent="-171450">
              <a:buFont typeface="Arial" panose="020B0604020202020204" pitchFamily="34" charset="0"/>
              <a:buChar char="•"/>
            </a:pPr>
            <a:r>
              <a:rPr lang="en-US" sz="1200" b="1" dirty="0">
                <a:solidFill>
                  <a:srgbClr val="FF0000"/>
                </a:solidFill>
              </a:rPr>
              <a:t>Example3:</a:t>
            </a:r>
            <a:r>
              <a:rPr lang="en-US" sz="1200" dirty="0"/>
              <a:t> Guessing game</a:t>
            </a:r>
            <a:br>
              <a:rPr lang="en-US" sz="1200" dirty="0"/>
            </a:br>
            <a:r>
              <a:rPr lang="en-US" sz="1200" dirty="0"/>
              <a:t>You see the prize – and guess the price</a:t>
            </a:r>
            <a:br>
              <a:rPr lang="en-US" sz="1200" dirty="0"/>
            </a:br>
            <a:r>
              <a:rPr lang="en-US" sz="1200" dirty="0"/>
              <a:t>Opponent sees a different prize – and guesses the price.</a:t>
            </a:r>
            <a:br>
              <a:rPr lang="en-US" sz="1200" dirty="0"/>
            </a:br>
            <a:r>
              <a:rPr lang="en-US" sz="1200" dirty="0"/>
              <a:t>Whoever is closer (without going over) wins.</a:t>
            </a:r>
          </a:p>
          <a:p>
            <a:endParaRPr lang="en-US" sz="1200" dirty="0"/>
          </a:p>
          <a:p>
            <a:pPr marL="171450" indent="-171450">
              <a:buFont typeface="Arial" panose="020B0604020202020204" pitchFamily="34" charset="0"/>
              <a:buChar char="•"/>
            </a:pPr>
            <a:r>
              <a:rPr lang="en-US" sz="1200" b="1" dirty="0">
                <a:solidFill>
                  <a:srgbClr val="FF0000"/>
                </a:solidFill>
              </a:rPr>
              <a:t>Example4: </a:t>
            </a:r>
            <a:r>
              <a:rPr lang="en-US" sz="1200" dirty="0"/>
              <a:t>MCMC (Markov-Chain Monte-Carlo)</a:t>
            </a:r>
          </a:p>
        </p:txBody>
      </p:sp>
      <p:sp>
        <p:nvSpPr>
          <p:cNvPr id="9" name="TextBox 8">
            <a:extLst>
              <a:ext uri="{FF2B5EF4-FFF2-40B4-BE49-F238E27FC236}">
                <a16:creationId xmlns:a16="http://schemas.microsoft.com/office/drawing/2014/main" id="{9D171819-C6E6-4541-8406-01258005E5A5}"/>
              </a:ext>
            </a:extLst>
          </p:cNvPr>
          <p:cNvSpPr txBox="1"/>
          <p:nvPr/>
        </p:nvSpPr>
        <p:spPr>
          <a:xfrm>
            <a:off x="7934173" y="1385016"/>
            <a:ext cx="4351611" cy="523220"/>
          </a:xfrm>
          <a:prstGeom prst="rect">
            <a:avLst/>
          </a:prstGeom>
          <a:noFill/>
        </p:spPr>
        <p:txBody>
          <a:bodyPr wrap="square" rtlCol="0">
            <a:spAutoFit/>
          </a:bodyPr>
          <a:lstStyle/>
          <a:p>
            <a:r>
              <a:rPr lang="en-US" dirty="0"/>
              <a:t>Allen Downey </a:t>
            </a:r>
          </a:p>
          <a:p>
            <a:r>
              <a:rPr lang="en-US" dirty="0"/>
              <a:t>- </a:t>
            </a:r>
            <a:r>
              <a:rPr lang="en-US" dirty="0">
                <a:hlinkClick r:id="rId2"/>
              </a:rPr>
              <a:t>https://www.youtube.com/watch?v=R6d-AbkhBQ8</a:t>
            </a:r>
            <a:r>
              <a:rPr lang="en-US" dirty="0"/>
              <a:t> </a:t>
            </a:r>
          </a:p>
        </p:txBody>
      </p:sp>
      <p:sp>
        <p:nvSpPr>
          <p:cNvPr id="2" name="TextBox 1">
            <a:extLst>
              <a:ext uri="{FF2B5EF4-FFF2-40B4-BE49-F238E27FC236}">
                <a16:creationId xmlns:a16="http://schemas.microsoft.com/office/drawing/2014/main" id="{809CB213-96B1-CD42-937A-368036DCD1E0}"/>
              </a:ext>
            </a:extLst>
          </p:cNvPr>
          <p:cNvSpPr txBox="1"/>
          <p:nvPr/>
        </p:nvSpPr>
        <p:spPr>
          <a:xfrm>
            <a:off x="340391" y="921460"/>
            <a:ext cx="5560001" cy="2893100"/>
          </a:xfrm>
          <a:prstGeom prst="rect">
            <a:avLst/>
          </a:prstGeom>
          <a:noFill/>
          <a:ln w="63500">
            <a:solidFill>
              <a:schemeClr val="accent6">
                <a:lumMod val="40000"/>
                <a:lumOff val="60000"/>
              </a:schemeClr>
            </a:solidFill>
          </a:ln>
        </p:spPr>
        <p:txBody>
          <a:bodyPr wrap="square" rtlCol="0">
            <a:spAutoFit/>
          </a:bodyPr>
          <a:lstStyle/>
          <a:p>
            <a:r>
              <a:rPr lang="en-US" dirty="0"/>
              <a:t>The </a:t>
            </a:r>
            <a:r>
              <a:rPr lang="en-US" b="1" dirty="0">
                <a:solidFill>
                  <a:srgbClr val="FF0000"/>
                </a:solidFill>
              </a:rPr>
              <a:t>Frequentist</a:t>
            </a:r>
            <a:r>
              <a:rPr lang="en-US" dirty="0"/>
              <a:t> see probability as finding intervals of possible frequencies based on an observed proportion.</a:t>
            </a:r>
          </a:p>
          <a:p>
            <a:endParaRPr lang="en-US" dirty="0"/>
          </a:p>
          <a:p>
            <a:r>
              <a:rPr lang="en-US" dirty="0"/>
              <a:t>The </a:t>
            </a:r>
            <a:r>
              <a:rPr lang="en-US" b="1" dirty="0">
                <a:solidFill>
                  <a:srgbClr val="FF0000"/>
                </a:solidFill>
              </a:rPr>
              <a:t>Bayesian</a:t>
            </a:r>
            <a:r>
              <a:rPr lang="en-US" dirty="0"/>
              <a:t> is subjective and uses a priori beliefs to define a prior probability distribution on the possible values of the unknown parameters – and computing their probabilities (solving </a:t>
            </a:r>
            <a:r>
              <a:rPr lang="en-US" b="1" dirty="0">
                <a:solidFill>
                  <a:srgbClr val="00B050"/>
                </a:solidFill>
              </a:rPr>
              <a:t>"inverse probability problem"</a:t>
            </a:r>
            <a:r>
              <a:rPr lang="en-US" dirty="0"/>
              <a:t>.)</a:t>
            </a:r>
          </a:p>
          <a:p>
            <a:endParaRPr lang="en-US" dirty="0"/>
          </a:p>
          <a:p>
            <a:r>
              <a:rPr lang="en-US" b="1" dirty="0">
                <a:solidFill>
                  <a:srgbClr val="FF0000"/>
                </a:solidFill>
              </a:rPr>
              <a:t>Frequentists</a:t>
            </a:r>
            <a:r>
              <a:rPr lang="en-US" dirty="0"/>
              <a:t> accuse Bayesians for being subjective in selecting a prior model / distribution. </a:t>
            </a:r>
          </a:p>
          <a:p>
            <a:endParaRPr lang="en-US" dirty="0"/>
          </a:p>
          <a:p>
            <a:r>
              <a:rPr lang="en-US" b="1" dirty="0">
                <a:solidFill>
                  <a:srgbClr val="FF0000"/>
                </a:solidFill>
              </a:rPr>
              <a:t>Bayesians</a:t>
            </a:r>
            <a:r>
              <a:rPr lang="en-US" dirty="0"/>
              <a:t> snap back that at least they have a model, whereas Frequentists just calculate averages of observed data</a:t>
            </a:r>
          </a:p>
        </p:txBody>
      </p:sp>
      <p:pic>
        <p:nvPicPr>
          <p:cNvPr id="3" name="Picture 2">
            <a:extLst>
              <a:ext uri="{FF2B5EF4-FFF2-40B4-BE49-F238E27FC236}">
                <a16:creationId xmlns:a16="http://schemas.microsoft.com/office/drawing/2014/main" id="{E6EEDA71-99AC-A641-AF32-73A8DD7D6C2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25988" y="65359"/>
            <a:ext cx="2462854" cy="1311038"/>
          </a:xfrm>
          <a:prstGeom prst="rect">
            <a:avLst/>
          </a:prstGeom>
        </p:spPr>
      </p:pic>
    </p:spTree>
    <p:extLst>
      <p:ext uri="{BB962C8B-B14F-4D97-AF65-F5344CB8AC3E}">
        <p14:creationId xmlns:p14="http://schemas.microsoft.com/office/powerpoint/2010/main" val="41241710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32340-E706-FA41-BDA5-397606042A7E}"/>
              </a:ext>
            </a:extLst>
          </p:cNvPr>
          <p:cNvSpPr txBox="1"/>
          <p:nvPr/>
        </p:nvSpPr>
        <p:spPr>
          <a:xfrm>
            <a:off x="-1" y="37572"/>
            <a:ext cx="7901355" cy="523220"/>
          </a:xfrm>
          <a:prstGeom prst="rect">
            <a:avLst/>
          </a:prstGeom>
          <a:noFill/>
        </p:spPr>
        <p:txBody>
          <a:bodyPr wrap="square" rtlCol="0">
            <a:spAutoFit/>
          </a:bodyPr>
          <a:lstStyle/>
          <a:p>
            <a:r>
              <a:rPr lang="en-US" sz="2800" b="1" dirty="0"/>
              <a:t>Example – Coffee and Damaged Flash Drives</a:t>
            </a:r>
          </a:p>
        </p:txBody>
      </p:sp>
      <p:sp>
        <p:nvSpPr>
          <p:cNvPr id="3" name="TextBox 2">
            <a:extLst>
              <a:ext uri="{FF2B5EF4-FFF2-40B4-BE49-F238E27FC236}">
                <a16:creationId xmlns:a16="http://schemas.microsoft.com/office/drawing/2014/main" id="{2443CC5D-9378-E348-8505-A594E821478A}"/>
              </a:ext>
            </a:extLst>
          </p:cNvPr>
          <p:cNvSpPr txBox="1"/>
          <p:nvPr/>
        </p:nvSpPr>
        <p:spPr>
          <a:xfrm>
            <a:off x="141099" y="678252"/>
            <a:ext cx="4325394" cy="954107"/>
          </a:xfrm>
          <a:prstGeom prst="rect">
            <a:avLst/>
          </a:prstGeom>
          <a:noFill/>
          <a:ln w="63500">
            <a:solidFill>
              <a:schemeClr val="accent6">
                <a:lumMod val="40000"/>
                <a:lumOff val="60000"/>
              </a:schemeClr>
            </a:solidFill>
          </a:ln>
        </p:spPr>
        <p:txBody>
          <a:bodyPr wrap="square" rtlCol="0">
            <a:spAutoFit/>
          </a:bodyPr>
          <a:lstStyle/>
          <a:p>
            <a:r>
              <a:rPr lang="en-US" dirty="0"/>
              <a:t>We have 100 damaged flash drives, </a:t>
            </a:r>
          </a:p>
          <a:p>
            <a:r>
              <a:rPr lang="en-US" dirty="0"/>
              <a:t>80 of them have coffee stains on them.</a:t>
            </a:r>
          </a:p>
          <a:p>
            <a:endParaRPr lang="en-US" dirty="0"/>
          </a:p>
          <a:p>
            <a:r>
              <a:rPr lang="en-US" dirty="0"/>
              <a:t>What can we say about coffee causing the damage?</a:t>
            </a:r>
          </a:p>
        </p:txBody>
      </p:sp>
      <p:sp>
        <p:nvSpPr>
          <p:cNvPr id="5" name="Google Shape;89;p13">
            <a:extLst>
              <a:ext uri="{FF2B5EF4-FFF2-40B4-BE49-F238E27FC236}">
                <a16:creationId xmlns:a16="http://schemas.microsoft.com/office/drawing/2014/main" id="{452FF8D6-C125-B84A-B6C6-3F252EF37ED5}"/>
              </a:ext>
            </a:extLst>
          </p:cNvPr>
          <p:cNvSpPr txBox="1"/>
          <p:nvPr/>
        </p:nvSpPr>
        <p:spPr>
          <a:xfrm>
            <a:off x="6674033" y="2032595"/>
            <a:ext cx="4287044"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a:t>
            </a:r>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P(A) = 40% = probability of </a:t>
            </a:r>
            <a:r>
              <a:rPr lang="en-US" sz="1200" dirty="0">
                <a:solidFill>
                  <a:schemeClr val="dk1"/>
                </a:solidFill>
                <a:latin typeface="Calibri"/>
                <a:cs typeface="Calibri"/>
                <a:sym typeface="Calibri"/>
              </a:rPr>
              <a:t>Coffee</a:t>
            </a:r>
            <a:r>
              <a:rPr lang="en-US" sz="1200" dirty="0">
                <a:solidFill>
                  <a:schemeClr val="dk1"/>
                </a:solidFill>
                <a:latin typeface="Calibri"/>
                <a:ea typeface="Calibri"/>
                <a:cs typeface="Calibri"/>
                <a:sym typeface="Calibri"/>
              </a:rPr>
              <a:t> (Yellow)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probability of Damaged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10% = probability of Damaged given that Coffee</a:t>
            </a:r>
          </a:p>
          <a:p>
            <a:pPr lvl="0"/>
            <a:r>
              <a:rPr lang="en-US" sz="1200" dirty="0">
                <a:solidFill>
                  <a:schemeClr val="dk1"/>
                </a:solidFill>
                <a:latin typeface="Calibri"/>
                <a:ea typeface="Calibri"/>
                <a:cs typeface="Calibri"/>
                <a:sym typeface="Calibri"/>
              </a:rPr>
              <a:t>P(A|B) = 80% = probability of Coffee given that Damaged</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probability of Coffee &amp; Damaged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P(B|A)*P(A) = 10%*40% = 4%</a:t>
            </a:r>
          </a:p>
        </p:txBody>
      </p:sp>
      <p:sp>
        <p:nvSpPr>
          <p:cNvPr id="6" name="Google Shape;96;p13">
            <a:extLst>
              <a:ext uri="{FF2B5EF4-FFF2-40B4-BE49-F238E27FC236}">
                <a16:creationId xmlns:a16="http://schemas.microsoft.com/office/drawing/2014/main" id="{404A001F-C0A0-BE48-A3B1-C838E48FDF8F}"/>
              </a:ext>
            </a:extLst>
          </p:cNvPr>
          <p:cNvSpPr/>
          <p:nvPr/>
        </p:nvSpPr>
        <p:spPr>
          <a:xfrm>
            <a:off x="1531632" y="1974106"/>
            <a:ext cx="5033285"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97;p13">
            <a:extLst>
              <a:ext uri="{FF2B5EF4-FFF2-40B4-BE49-F238E27FC236}">
                <a16:creationId xmlns:a16="http://schemas.microsoft.com/office/drawing/2014/main" id="{31FE829C-2386-834C-996B-C2F3AE8AE45B}"/>
              </a:ext>
            </a:extLst>
          </p:cNvPr>
          <p:cNvSpPr/>
          <p:nvPr/>
        </p:nvSpPr>
        <p:spPr>
          <a:xfrm>
            <a:off x="2175116" y="2278906"/>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 name="Google Shape;98;p13">
            <a:extLst>
              <a:ext uri="{FF2B5EF4-FFF2-40B4-BE49-F238E27FC236}">
                <a16:creationId xmlns:a16="http://schemas.microsoft.com/office/drawing/2014/main" id="{DDB1E21D-A88D-F84D-A4C7-D15B09894D17}"/>
              </a:ext>
            </a:extLst>
          </p:cNvPr>
          <p:cNvSpPr/>
          <p:nvPr/>
        </p:nvSpPr>
        <p:spPr>
          <a:xfrm>
            <a:off x="4351034" y="2710753"/>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9;p13">
            <a:extLst>
              <a:ext uri="{FF2B5EF4-FFF2-40B4-BE49-F238E27FC236}">
                <a16:creationId xmlns:a16="http://schemas.microsoft.com/office/drawing/2014/main" id="{4B219D50-9096-DC46-8C16-4EC0A06BA7C0}"/>
              </a:ext>
            </a:extLst>
          </p:cNvPr>
          <p:cNvSpPr txBox="1"/>
          <p:nvPr/>
        </p:nvSpPr>
        <p:spPr>
          <a:xfrm>
            <a:off x="3076580" y="2710753"/>
            <a:ext cx="971694" cy="6479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0" indent="0">
              <a:buNone/>
              <a:defRPr sz="1800" b="1">
                <a:solidFill>
                  <a:srgbClr val="FF0000"/>
                </a:solidFill>
                <a:latin typeface="Calibri"/>
                <a:ea typeface="Calibri"/>
                <a:cs typeface="Calibri"/>
              </a:defRPr>
            </a:lvl1pPr>
          </a:lstStyle>
          <a:p>
            <a:r>
              <a:rPr lang="en-US" dirty="0">
                <a:sym typeface="Calibri"/>
              </a:rPr>
              <a:t>A</a:t>
            </a:r>
          </a:p>
          <a:p>
            <a:r>
              <a:rPr lang="en-US" dirty="0">
                <a:sym typeface="Calibri"/>
              </a:rPr>
              <a:t>Coffee</a:t>
            </a:r>
            <a:endParaRPr dirty="0">
              <a:sym typeface="Calibri"/>
            </a:endParaRPr>
          </a:p>
        </p:txBody>
      </p:sp>
      <p:sp>
        <p:nvSpPr>
          <p:cNvPr id="10" name="Google Shape;100;p13">
            <a:extLst>
              <a:ext uri="{FF2B5EF4-FFF2-40B4-BE49-F238E27FC236}">
                <a16:creationId xmlns:a16="http://schemas.microsoft.com/office/drawing/2014/main" id="{A8D1023C-103A-914C-952D-A30BFA64F4CA}"/>
              </a:ext>
            </a:extLst>
          </p:cNvPr>
          <p:cNvSpPr txBox="1"/>
          <p:nvPr/>
        </p:nvSpPr>
        <p:spPr>
          <a:xfrm>
            <a:off x="5399579" y="2985773"/>
            <a:ext cx="1397874"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Damaged</a:t>
            </a:r>
            <a:endParaRPr sz="1800" b="1" dirty="0">
              <a:solidFill>
                <a:srgbClr val="FF0000"/>
              </a:solidFill>
              <a:latin typeface="Calibri"/>
              <a:ea typeface="Calibri"/>
              <a:cs typeface="Calibri"/>
              <a:sym typeface="Calibri"/>
            </a:endParaRPr>
          </a:p>
        </p:txBody>
      </p:sp>
      <p:sp>
        <p:nvSpPr>
          <p:cNvPr id="11" name="Google Shape;101;p13">
            <a:extLst>
              <a:ext uri="{FF2B5EF4-FFF2-40B4-BE49-F238E27FC236}">
                <a16:creationId xmlns:a16="http://schemas.microsoft.com/office/drawing/2014/main" id="{7B123850-E879-7745-BC69-FED970CB58A9}"/>
              </a:ext>
            </a:extLst>
          </p:cNvPr>
          <p:cNvSpPr txBox="1"/>
          <p:nvPr/>
        </p:nvSpPr>
        <p:spPr>
          <a:xfrm>
            <a:off x="4701470" y="1956549"/>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2" name="Google Shape;89;p13">
            <a:extLst>
              <a:ext uri="{FF2B5EF4-FFF2-40B4-BE49-F238E27FC236}">
                <a16:creationId xmlns:a16="http://schemas.microsoft.com/office/drawing/2014/main" id="{3C8C744F-A8AE-1E49-818B-4076BC1271A0}"/>
              </a:ext>
            </a:extLst>
          </p:cNvPr>
          <p:cNvSpPr txBox="1"/>
          <p:nvPr/>
        </p:nvSpPr>
        <p:spPr>
          <a:xfrm>
            <a:off x="6674032" y="4576281"/>
            <a:ext cx="428704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a:t>
            </a:r>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P(A) = 5% = probability of </a:t>
            </a:r>
            <a:r>
              <a:rPr lang="en-US" sz="1200" dirty="0">
                <a:solidFill>
                  <a:schemeClr val="dk1"/>
                </a:solidFill>
                <a:latin typeface="Calibri"/>
                <a:cs typeface="Calibri"/>
                <a:sym typeface="Calibri"/>
              </a:rPr>
              <a:t>Coffee</a:t>
            </a:r>
            <a:r>
              <a:rPr lang="en-US" sz="1200" dirty="0">
                <a:solidFill>
                  <a:schemeClr val="dk1"/>
                </a:solidFill>
                <a:latin typeface="Calibri"/>
                <a:ea typeface="Calibri"/>
                <a:cs typeface="Calibri"/>
                <a:sym typeface="Calibri"/>
              </a:rPr>
              <a:t> (Yellow)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probability of Damaged (Blue)</a:t>
            </a:r>
          </a:p>
          <a:p>
            <a:pPr lvl="0"/>
            <a:endParaRPr lang="en-US" sz="1200" dirty="0">
              <a:solidFill>
                <a:schemeClr val="dk1"/>
              </a:solidFill>
              <a:latin typeface="Calibri"/>
              <a:ea typeface="Calibri"/>
              <a:cs typeface="Calibri"/>
              <a:sym typeface="Calibri"/>
            </a:endParaRPr>
          </a:p>
          <a:p>
            <a:r>
              <a:rPr lang="en-US" sz="1200" b="1" dirty="0">
                <a:solidFill>
                  <a:srgbClr val="00B0F0"/>
                </a:solidFill>
                <a:latin typeface="Calibri"/>
                <a:cs typeface="Calibri"/>
                <a:sym typeface="Calibri"/>
              </a:rPr>
              <a:t>P(B|A) = 80% = probability of Damaged given that Coffee</a:t>
            </a:r>
          </a:p>
          <a:p>
            <a:pPr lvl="0"/>
            <a:r>
              <a:rPr lang="en-US" sz="1200" dirty="0">
                <a:solidFill>
                  <a:schemeClr val="dk1"/>
                </a:solidFill>
                <a:latin typeface="Calibri"/>
                <a:ea typeface="Calibri"/>
                <a:cs typeface="Calibri"/>
                <a:sym typeface="Calibri"/>
              </a:rPr>
              <a:t>P(A|B) = 80% = probability of Coffee given that Damaged</a:t>
            </a:r>
          </a:p>
          <a:p>
            <a:pPr lvl="0"/>
            <a:endParaRPr lang="en-US"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Intersection:</a:t>
            </a:r>
          </a:p>
          <a:p>
            <a:r>
              <a:rPr lang="en-US" sz="1200" dirty="0">
                <a:solidFill>
                  <a:schemeClr val="dk1"/>
                </a:solidFill>
                <a:latin typeface="Calibri"/>
                <a:ea typeface="Calibri"/>
                <a:cs typeface="Calibri"/>
                <a:sym typeface="Calibri"/>
              </a:rPr>
              <a:t>P(A &amp; B) = 4% = probability of Coffee &amp; Damaged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P(B|A)*P(A) = 80%*5% = 4%</a:t>
            </a:r>
          </a:p>
        </p:txBody>
      </p:sp>
      <p:sp>
        <p:nvSpPr>
          <p:cNvPr id="13" name="Google Shape;96;p13">
            <a:extLst>
              <a:ext uri="{FF2B5EF4-FFF2-40B4-BE49-F238E27FC236}">
                <a16:creationId xmlns:a16="http://schemas.microsoft.com/office/drawing/2014/main" id="{569DD241-518F-8F46-AE6A-34E80876D3BC}"/>
              </a:ext>
            </a:extLst>
          </p:cNvPr>
          <p:cNvSpPr/>
          <p:nvPr/>
        </p:nvSpPr>
        <p:spPr>
          <a:xfrm>
            <a:off x="1531632" y="4517792"/>
            <a:ext cx="5033285"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 name="Google Shape;97;p13">
            <a:extLst>
              <a:ext uri="{FF2B5EF4-FFF2-40B4-BE49-F238E27FC236}">
                <a16:creationId xmlns:a16="http://schemas.microsoft.com/office/drawing/2014/main" id="{30AA5D0A-2560-CE4A-B38C-91AD69134962}"/>
              </a:ext>
            </a:extLst>
          </p:cNvPr>
          <p:cNvSpPr/>
          <p:nvPr/>
        </p:nvSpPr>
        <p:spPr>
          <a:xfrm>
            <a:off x="4001705" y="5384791"/>
            <a:ext cx="1397874" cy="900935"/>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98;p13">
            <a:extLst>
              <a:ext uri="{FF2B5EF4-FFF2-40B4-BE49-F238E27FC236}">
                <a16:creationId xmlns:a16="http://schemas.microsoft.com/office/drawing/2014/main" id="{655DB671-3DA8-B149-8288-4F8B78A39734}"/>
              </a:ext>
            </a:extLst>
          </p:cNvPr>
          <p:cNvSpPr/>
          <p:nvPr/>
        </p:nvSpPr>
        <p:spPr>
          <a:xfrm>
            <a:off x="4351034" y="5254439"/>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6" name="Google Shape;99;p13">
            <a:extLst>
              <a:ext uri="{FF2B5EF4-FFF2-40B4-BE49-F238E27FC236}">
                <a16:creationId xmlns:a16="http://schemas.microsoft.com/office/drawing/2014/main" id="{E19F1E77-6C1D-CF40-A056-B5F0A0067705}"/>
              </a:ext>
            </a:extLst>
          </p:cNvPr>
          <p:cNvSpPr txBox="1"/>
          <p:nvPr/>
        </p:nvSpPr>
        <p:spPr>
          <a:xfrm>
            <a:off x="4048274" y="5632718"/>
            <a:ext cx="581015" cy="4312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endParaRPr sz="2400" b="1" dirty="0">
              <a:solidFill>
                <a:srgbClr val="FF000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61C18CBF-01D4-C848-A7B2-E04510A0F7B8}"/>
              </a:ext>
            </a:extLst>
          </p:cNvPr>
          <p:cNvSpPr txBox="1"/>
          <p:nvPr/>
        </p:nvSpPr>
        <p:spPr>
          <a:xfrm>
            <a:off x="5379642" y="5384791"/>
            <a:ext cx="640540" cy="4337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p:txBody>
      </p:sp>
      <p:sp>
        <p:nvSpPr>
          <p:cNvPr id="18" name="Google Shape;101;p13">
            <a:extLst>
              <a:ext uri="{FF2B5EF4-FFF2-40B4-BE49-F238E27FC236}">
                <a16:creationId xmlns:a16="http://schemas.microsoft.com/office/drawing/2014/main" id="{C254AE81-7BEC-E24E-A3FD-EA1283594849}"/>
              </a:ext>
            </a:extLst>
          </p:cNvPr>
          <p:cNvSpPr txBox="1"/>
          <p:nvPr/>
        </p:nvSpPr>
        <p:spPr>
          <a:xfrm>
            <a:off x="4701470" y="4500235"/>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9" name="TextBox 18">
            <a:extLst>
              <a:ext uri="{FF2B5EF4-FFF2-40B4-BE49-F238E27FC236}">
                <a16:creationId xmlns:a16="http://schemas.microsoft.com/office/drawing/2014/main" id="{6E6E4C8B-2E60-5C46-9FFF-EB63ACF4895B}"/>
              </a:ext>
            </a:extLst>
          </p:cNvPr>
          <p:cNvSpPr txBox="1"/>
          <p:nvPr/>
        </p:nvSpPr>
        <p:spPr>
          <a:xfrm>
            <a:off x="8930917" y="462807"/>
            <a:ext cx="3119984"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Damaged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|Coffee |  80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20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4180917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3"/>
            <a:ext cx="7563711" cy="31599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mn-lt"/>
                <a:ea typeface="Calibri"/>
                <a:cs typeface="Calibri"/>
                <a:sym typeface="Calibri"/>
              </a:rPr>
              <a:t>Naive Bayes Classifiers </a:t>
            </a:r>
            <a:endParaRPr sz="2800" b="1" dirty="0">
              <a:solidFill>
                <a:schemeClr val="dk1"/>
              </a:solidFill>
              <a:latin typeface="+mn-lt"/>
              <a:ea typeface="Calibri"/>
              <a:cs typeface="Calibri"/>
              <a:sym typeface="Calibri"/>
            </a:endParaRP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marL="0" marR="0" lvl="0" indent="0" algn="l" rtl="0">
              <a:spcBef>
                <a:spcPts val="0"/>
              </a:spcBef>
              <a:spcAft>
                <a:spcPts val="0"/>
              </a:spcAft>
              <a:buNone/>
            </a:pPr>
            <a:r>
              <a:rPr lang="en-US" dirty="0">
                <a:solidFill>
                  <a:schemeClr val="dk1"/>
                </a:solidFill>
                <a:latin typeface="+mn-lt"/>
                <a:ea typeface="Calibri"/>
                <a:cs typeface="Calibri"/>
                <a:sym typeface="Calibri"/>
              </a:rPr>
              <a:t>Simple probabilistic classifiers based on Bayes theorem. </a:t>
            </a: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The main "</a:t>
            </a:r>
            <a:r>
              <a:rPr lang="en-US" b="1" dirty="0">
                <a:solidFill>
                  <a:srgbClr val="FF0000"/>
                </a:solidFill>
                <a:latin typeface="+mn-lt"/>
                <a:ea typeface="Calibri"/>
                <a:cs typeface="Calibri"/>
                <a:sym typeface="Calibri"/>
              </a:rPr>
              <a:t>Naive</a:t>
            </a:r>
            <a:r>
              <a:rPr lang="en-US" dirty="0">
                <a:solidFill>
                  <a:schemeClr val="dk1"/>
                </a:solidFill>
                <a:latin typeface="+mn-lt"/>
                <a:ea typeface="Calibri"/>
                <a:cs typeface="Calibri"/>
                <a:sym typeface="Calibri"/>
              </a:rPr>
              <a:t>" assumption is </a:t>
            </a:r>
          </a:p>
          <a:p>
            <a:pPr lvl="0"/>
            <a:r>
              <a:rPr lang="en-US" dirty="0">
                <a:solidFill>
                  <a:schemeClr val="dk1"/>
                </a:solidFill>
                <a:latin typeface="+mn-lt"/>
                <a:ea typeface="Calibri"/>
                <a:cs typeface="Calibri"/>
                <a:sym typeface="Calibri"/>
              </a:rPr>
              <a:t>that </a:t>
            </a:r>
            <a:r>
              <a:rPr lang="en-US" dirty="0">
                <a:solidFill>
                  <a:schemeClr val="dk1"/>
                </a:solidFill>
                <a:ea typeface="Calibri"/>
                <a:cs typeface="Calibri"/>
                <a:sym typeface="Calibri"/>
              </a:rPr>
              <a:t>each feature makes an </a:t>
            </a:r>
            <a:r>
              <a:rPr lang="en-US" b="1" dirty="0">
                <a:solidFill>
                  <a:srgbClr val="0070C0"/>
                </a:solidFill>
                <a:ea typeface="Calibri"/>
                <a:cs typeface="Calibri"/>
                <a:sym typeface="Calibri"/>
              </a:rPr>
              <a:t>independent</a:t>
            </a:r>
            <a:r>
              <a:rPr lang="en-US" dirty="0">
                <a:solidFill>
                  <a:schemeClr val="dk1"/>
                </a:solidFill>
                <a:ea typeface="Calibri"/>
                <a:cs typeface="Calibri"/>
                <a:sym typeface="Calibri"/>
              </a:rPr>
              <a:t> and </a:t>
            </a:r>
            <a:r>
              <a:rPr lang="en-US" b="1" dirty="0">
                <a:solidFill>
                  <a:srgbClr val="0070C0"/>
                </a:solidFill>
                <a:ea typeface="Calibri"/>
                <a:cs typeface="Calibri"/>
                <a:sym typeface="Calibri"/>
              </a:rPr>
              <a:t>equal </a:t>
            </a:r>
            <a:r>
              <a:rPr lang="en-US" dirty="0">
                <a:solidFill>
                  <a:schemeClr val="dk1"/>
                </a:solidFill>
                <a:ea typeface="Calibri"/>
                <a:cs typeface="Calibri"/>
                <a:sym typeface="Calibri"/>
              </a:rPr>
              <a:t>contribution to the outcome</a:t>
            </a: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 although features may have </a:t>
            </a:r>
            <a:r>
              <a:rPr lang="en-US" b="1" dirty="0">
                <a:solidFill>
                  <a:srgbClr val="00B050"/>
                </a:solidFill>
                <a:latin typeface="+mn-lt"/>
                <a:ea typeface="Calibri"/>
                <a:cs typeface="Calibri"/>
                <a:sym typeface="Calibri"/>
              </a:rPr>
              <a:t>inter-dependencies</a:t>
            </a:r>
            <a:r>
              <a:rPr lang="en-US" dirty="0">
                <a:solidFill>
                  <a:schemeClr val="dk1"/>
                </a:solidFill>
                <a:latin typeface="+mn-lt"/>
                <a:ea typeface="Calibri"/>
                <a:cs typeface="Calibri"/>
                <a:sym typeface="Calibri"/>
              </a:rPr>
              <a:t> and may have </a:t>
            </a:r>
            <a:r>
              <a:rPr lang="en-US" b="1" dirty="0">
                <a:solidFill>
                  <a:srgbClr val="00B050"/>
                </a:solidFill>
                <a:latin typeface="+mn-lt"/>
                <a:cs typeface="Calibri"/>
                <a:sym typeface="Calibri"/>
              </a:rPr>
              <a:t>different importance</a:t>
            </a:r>
            <a:r>
              <a:rPr lang="en-US" dirty="0">
                <a:solidFill>
                  <a:schemeClr val="dk1"/>
                </a:solidFill>
                <a:latin typeface="+mn-lt"/>
                <a:ea typeface="Calibri"/>
                <a:cs typeface="Calibri"/>
                <a:sym typeface="Calibri"/>
              </a:rPr>
              <a:t>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On the picture below we have two features (A1 &amp; A2) influencing outcome (B).</a:t>
            </a:r>
          </a:p>
          <a:p>
            <a:pPr lvl="0"/>
            <a:r>
              <a:rPr lang="en-US" dirty="0">
                <a:solidFill>
                  <a:schemeClr val="dk1"/>
                </a:solidFill>
                <a:latin typeface="+mn-lt"/>
                <a:ea typeface="Calibri"/>
                <a:cs typeface="Calibri"/>
                <a:sym typeface="Calibri"/>
              </a:rPr>
              <a:t>We will be computing conditional probability of a person being fit P(B|(A1,A2)).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We "naively" assume that A1 &amp; A2 contribute equally to the outcome.</a:t>
            </a:r>
          </a:p>
          <a:p>
            <a:pPr lvl="0"/>
            <a:r>
              <a:rPr lang="en-US" dirty="0">
                <a:solidFill>
                  <a:schemeClr val="dk1"/>
                </a:solidFill>
                <a:latin typeface="+mn-lt"/>
                <a:ea typeface="Calibri"/>
                <a:cs typeface="Calibri"/>
                <a:sym typeface="Calibri"/>
              </a:rPr>
              <a:t>In reality, doing exercises daily probably contributes more – but our model disregards this.</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22155" y="36972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565560" y="42921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459640" y="40857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376829" y="49436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889681" y="42426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141457" y="36972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15908" y="47702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3961014" y="56892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6907128" y="4663505"/>
            <a:ext cx="2255288" cy="1384995"/>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p:txBody>
      </p:sp>
      <mc:AlternateContent xmlns:mc="http://schemas.openxmlformats.org/markup-compatibility/2006" xmlns:a14="http://schemas.microsoft.com/office/drawing/2010/main">
        <mc:Choice Requires="a14">
          <p:sp>
            <p:nvSpPr>
              <p:cNvPr id="18" name="Google Shape;88;p13">
                <a:extLst>
                  <a:ext uri="{FF2B5EF4-FFF2-40B4-BE49-F238E27FC236}">
                    <a16:creationId xmlns:a16="http://schemas.microsoft.com/office/drawing/2014/main" id="{95068AA8-7119-4F4F-AEAA-537C8A13CD7B}"/>
                  </a:ext>
                </a:extLst>
              </p:cNvPr>
              <p:cNvSpPr txBox="1"/>
              <p:nvPr/>
            </p:nvSpPr>
            <p:spPr>
              <a:xfrm>
                <a:off x="9034272" y="14547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xmlns="">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9034272" y="145478"/>
                <a:ext cx="3020568" cy="1494897"/>
              </a:xfrm>
              <a:prstGeom prst="rect">
                <a:avLst/>
              </a:prstGeom>
              <a:blipFill>
                <a:blip r:embed="rId3"/>
                <a:stretch>
                  <a:fillRect l="-3689" t="-3252" r="-286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18BF3F9-41BB-1D45-8949-62D567A837E2}"/>
                  </a:ext>
                </a:extLst>
              </p:cNvPr>
              <p:cNvSpPr txBox="1"/>
              <p:nvPr/>
            </p:nvSpPr>
            <p:spPr>
              <a:xfrm>
                <a:off x="7908064" y="2078755"/>
                <a:ext cx="4190152"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smtClean="0">
                              <a:latin typeface="Cambria Math" panose="02040503050406030204" pitchFamily="18" charset="0"/>
                            </a:rPr>
                            <m:t>𝑭𝒊𝒕</m:t>
                          </m:r>
                        </m:e>
                        <m:e>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19" name="TextBox 18">
                <a:extLst>
                  <a:ext uri="{FF2B5EF4-FFF2-40B4-BE49-F238E27FC236}">
                    <a16:creationId xmlns:a16="http://schemas.microsoft.com/office/drawing/2014/main" id="{C18BF3F9-41BB-1D45-8949-62D567A837E2}"/>
                  </a:ext>
                </a:extLst>
              </p:cNvPr>
              <p:cNvSpPr txBox="1">
                <a:spLocks noRot="1" noChangeAspect="1" noMove="1" noResize="1" noEditPoints="1" noAdjustHandles="1" noChangeArrowheads="1" noChangeShapeType="1" noTextEdit="1"/>
              </p:cNvSpPr>
              <p:nvPr/>
            </p:nvSpPr>
            <p:spPr>
              <a:xfrm>
                <a:off x="7908064" y="2078755"/>
                <a:ext cx="4190152" cy="756361"/>
              </a:xfrm>
              <a:prstGeom prst="rect">
                <a:avLst/>
              </a:prstGeom>
              <a:blipFill>
                <a:blip r:embed="rId4"/>
                <a:stretch>
                  <a:fillRect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3C17639-B2CB-5F4A-8710-9F35E10CFB69}"/>
                  </a:ext>
                </a:extLst>
              </p:cNvPr>
              <p:cNvSpPr txBox="1"/>
              <p:nvPr/>
            </p:nvSpPr>
            <p:spPr>
              <a:xfrm>
                <a:off x="7908064" y="3303835"/>
                <a:ext cx="3592274"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𝑭𝒊𝒕</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20" name="TextBox 19">
                <a:extLst>
                  <a:ext uri="{FF2B5EF4-FFF2-40B4-BE49-F238E27FC236}">
                    <a16:creationId xmlns:a16="http://schemas.microsoft.com/office/drawing/2014/main" id="{A3C17639-B2CB-5F4A-8710-9F35E10CFB69}"/>
                  </a:ext>
                </a:extLst>
              </p:cNvPr>
              <p:cNvSpPr txBox="1">
                <a:spLocks noRot="1" noChangeAspect="1" noMove="1" noResize="1" noEditPoints="1" noAdjustHandles="1" noChangeArrowheads="1" noChangeShapeType="1" noTextEdit="1"/>
              </p:cNvSpPr>
              <p:nvPr/>
            </p:nvSpPr>
            <p:spPr>
              <a:xfrm>
                <a:off x="7908064" y="3303835"/>
                <a:ext cx="3592274" cy="756361"/>
              </a:xfrm>
              <a:prstGeom prst="rect">
                <a:avLst/>
              </a:prstGeom>
              <a:blipFill>
                <a:blip r:embed="rId5"/>
                <a:stretch>
                  <a:fillRect b="-5000"/>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4E5DB39C-A2AB-B047-AE7B-AEB0B4609893}"/>
              </a:ext>
            </a:extLst>
          </p:cNvPr>
          <p:cNvSpPr/>
          <p:nvPr/>
        </p:nvSpPr>
        <p:spPr>
          <a:xfrm rot="2264946">
            <a:off x="9928613" y="2824594"/>
            <a:ext cx="156536" cy="587491"/>
          </a:xfrm>
          <a:prstGeom prst="down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smtClean="0">
                          <a:latin typeface="Cambria Math" panose="02040503050406030204" pitchFamily="18" charset="0"/>
                        </a:rPr>
                        <m:t>        </m:t>
                      </m:r>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        </m:t>
                      </m:r>
                      <m:r>
                        <a:rPr lang="en-US" b="1" i="1">
                          <a:latin typeface="Cambria Math" panose="02040503050406030204" pitchFamily="18" charset="0"/>
                        </a:rPr>
                        <m:t>𝑷𝒇𝒂𝒍𝒔𝒆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p:txBody>
          </p:sp>
        </mc:Choice>
        <mc:Fallback xmlns="">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229" t="-505" b="-5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8FC7FC-51D9-5A43-8D54-0691902B9E97}"/>
                  </a:ext>
                </a:extLst>
              </p:cNvPr>
              <p:cNvSpPr txBox="1"/>
              <p:nvPr/>
            </p:nvSpPr>
            <p:spPr>
              <a:xfrm>
                <a:off x="126122" y="3405873"/>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a:t>
                </a:r>
                <a:r>
                  <a:rPr lang="en-US" b="1" dirty="0">
                    <a:solidFill>
                      <a:srgbClr val="00B050"/>
                    </a:solidFill>
                  </a:rPr>
                  <a:t>denominator</a:t>
                </a:r>
                <a:r>
                  <a:rPr lang="en-US" dirty="0"/>
                  <a:t> </a:t>
                </a:r>
                <a:r>
                  <a:rPr lang="en-US" b="1" dirty="0">
                    <a:solidFill>
                      <a:srgbClr val="FF0000"/>
                    </a:solidFill>
                  </a:rPr>
                  <a:t>is NOT split into multiplication</a:t>
                </a:r>
                <a:r>
                  <a:rPr lang="en-US" dirty="0"/>
                  <a:t>.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05873"/>
                <a:ext cx="11109435" cy="3341684"/>
              </a:xfrm>
              <a:prstGeom prst="rect">
                <a:avLst/>
              </a:prstGeom>
              <a:blipFill>
                <a:blip r:embed="rId3"/>
                <a:stretch>
                  <a:fillRect l="-229"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2" y="64169"/>
            <a:ext cx="5293274" cy="5219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Naive Bayes classifiers - continued</a:t>
            </a:r>
            <a:endParaRPr sz="2800" b="1" dirty="0">
              <a:solidFill>
                <a:schemeClr val="dk1"/>
              </a:solidFill>
              <a:latin typeface="Calibri"/>
              <a:ea typeface="Calibri"/>
              <a:cs typeface="Calibri"/>
              <a:sym typeface="Calibri"/>
            </a:endParaRPr>
          </a:p>
        </p:txBody>
      </p:sp>
      <p:sp>
        <p:nvSpPr>
          <p:cNvPr id="10" name="TextBox 9">
            <a:extLst>
              <a:ext uri="{FF2B5EF4-FFF2-40B4-BE49-F238E27FC236}">
                <a16:creationId xmlns:a16="http://schemas.microsoft.com/office/drawing/2014/main" id="{812C9AFE-2DC4-2C49-A11B-4A24EEEF46C2}"/>
              </a:ext>
            </a:extLst>
          </p:cNvPr>
          <p:cNvSpPr txBox="1"/>
          <p:nvPr/>
        </p:nvSpPr>
        <p:spPr>
          <a:xfrm>
            <a:off x="110840" y="4969558"/>
            <a:ext cx="6764097" cy="1815882"/>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Here is a very good short video explaining the Naive Bayes Classification </a:t>
            </a:r>
          </a:p>
          <a:p>
            <a:r>
              <a:rPr lang="en-US" dirty="0">
                <a:latin typeface="Calibri" panose="020F0502020204030204" pitchFamily="34" charset="0"/>
                <a:cs typeface="Calibri" panose="020F0502020204030204" pitchFamily="34" charset="0"/>
              </a:rPr>
              <a:t>on a specific simple example - </a:t>
            </a:r>
            <a:r>
              <a:rPr lang="en-US" dirty="0">
                <a:latin typeface="Calibri" panose="020F0502020204030204" pitchFamily="34" charset="0"/>
                <a:cs typeface="Calibri" panose="020F0502020204030204" pitchFamily="34" charset="0"/>
                <a:hlinkClick r:id="rId3"/>
              </a:rPr>
              <a:t>https://www.youtube.com/watch?v=CPqOCI0ahss</a:t>
            </a:r>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Note – there is a (common) mistake in this video! </a:t>
            </a:r>
          </a:p>
          <a:p>
            <a:r>
              <a:rPr lang="en-US" dirty="0">
                <a:latin typeface="Calibri" panose="020F0502020204030204" pitchFamily="34" charset="0"/>
                <a:cs typeface="Calibri" panose="020F0502020204030204" pitchFamily="34" charset="0"/>
              </a:rPr>
              <a:t>Author calculates denominators via multiplication of individual probabilities. </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You can see that it is wrong because it makes the sum of two probabilities greater than one.  Also here is a good article - </a:t>
            </a:r>
            <a:r>
              <a:rPr lang="en-US" dirty="0">
                <a:latin typeface="Calibri" panose="020F0502020204030204" pitchFamily="34" charset="0"/>
                <a:cs typeface="Calibri" panose="020F0502020204030204" pitchFamily="34" charset="0"/>
                <a:hlinkClick r:id="rId4"/>
              </a:rPr>
              <a:t>https://www.geeksforgeeks.org/naive-bayes-classifiers/</a:t>
            </a:r>
            <a:r>
              <a:rPr lang="en-US"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090060" y="960526"/>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7416246" y="572139"/>
            <a:ext cx="4385619" cy="400110"/>
          </a:xfrm>
          <a:prstGeom prst="rect">
            <a:avLst/>
          </a:prstGeom>
          <a:noFill/>
        </p:spPr>
        <p:txBody>
          <a:bodyPr wrap="square" rtlCol="0">
            <a:spAutoFit/>
          </a:bodyPr>
          <a:lstStyle/>
          <a:p>
            <a:r>
              <a:rPr lang="en-US" sz="2000" b="1" dirty="0">
                <a:solidFill>
                  <a:srgbClr val="00B050"/>
                </a:solidFill>
              </a:rPr>
              <a:t>A</a:t>
            </a:r>
            <a:r>
              <a:rPr lang="en-US" sz="2000" b="1" baseline="-25000" dirty="0">
                <a:solidFill>
                  <a:srgbClr val="00B050"/>
                </a:solidFill>
              </a:rPr>
              <a:t>1</a:t>
            </a:r>
            <a:r>
              <a:rPr lang="en-US" sz="2000" b="1" dirty="0">
                <a:solidFill>
                  <a:srgbClr val="00B050"/>
                </a:solidFill>
              </a:rPr>
              <a:t>         A</a:t>
            </a:r>
            <a:r>
              <a:rPr lang="en-US" sz="2000" b="1" baseline="-25000" dirty="0">
                <a:solidFill>
                  <a:srgbClr val="00B050"/>
                </a:solidFill>
              </a:rPr>
              <a:t>2</a:t>
            </a:r>
            <a:r>
              <a:rPr lang="en-US" sz="2000" b="1" dirty="0">
                <a:solidFill>
                  <a:srgbClr val="00B050"/>
                </a:solidFill>
              </a:rPr>
              <a:t>          A</a:t>
            </a:r>
            <a:r>
              <a:rPr lang="en-US" sz="2000" b="1" baseline="-25000" dirty="0">
                <a:solidFill>
                  <a:srgbClr val="00B050"/>
                </a:solidFill>
              </a:rPr>
              <a:t>3</a:t>
            </a:r>
            <a:r>
              <a:rPr lang="en-US" sz="2000" b="1" dirty="0">
                <a:solidFill>
                  <a:srgbClr val="00B050"/>
                </a:solidFill>
              </a:rPr>
              <a:t>          A</a:t>
            </a:r>
            <a:r>
              <a:rPr lang="en-US" sz="2000" b="1" baseline="-25000" dirty="0">
                <a:solidFill>
                  <a:srgbClr val="00B050"/>
                </a:solidFill>
              </a:rPr>
              <a:t>4</a:t>
            </a:r>
            <a:r>
              <a:rPr lang="en-US" sz="2000" b="1" dirty="0">
                <a:solidFill>
                  <a:srgbClr val="00B050"/>
                </a:solidFill>
              </a:rPr>
              <a:t>          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108;p14">
            <a:extLst>
              <a:ext uri="{FF2B5EF4-FFF2-40B4-BE49-F238E27FC236}">
                <a16:creationId xmlns:a16="http://schemas.microsoft.com/office/drawing/2014/main" id="{661B5C5B-4BA7-1847-83DD-79D68EBBF580}"/>
              </a:ext>
            </a:extLst>
          </p:cNvPr>
          <p:cNvSpPr txBox="1"/>
          <p:nvPr/>
        </p:nvSpPr>
        <p:spPr>
          <a:xfrm>
            <a:off x="110840" y="586154"/>
            <a:ext cx="6764097" cy="4383404"/>
          </a:xfrm>
          <a:prstGeom prst="rect">
            <a:avLst/>
          </a:prstGeom>
          <a:noFill/>
          <a:ln>
            <a:noFill/>
          </a:ln>
        </p:spPr>
        <p:txBody>
          <a:bodyPr spcFirstLastPara="1" wrap="square" lIns="91425" tIns="45700" rIns="91425" bIns="45700" anchor="t" anchorCtr="0">
            <a:noAutofit/>
          </a:bodyPr>
          <a:lstStyle/>
          <a:p>
            <a:pPr lvl="0"/>
            <a:r>
              <a:rPr lang="en-US" dirty="0">
                <a:solidFill>
                  <a:schemeClr val="dk1"/>
                </a:solidFill>
                <a:latin typeface="Calibri"/>
                <a:ea typeface="Calibri"/>
                <a:cs typeface="Calibri"/>
                <a:sym typeface="Calibri"/>
              </a:rPr>
              <a:t>In the table to the right we have 4 columns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with features </a:t>
            </a:r>
          </a:p>
          <a:p>
            <a:pPr lvl="0"/>
            <a:r>
              <a:rPr lang="en-US" dirty="0">
                <a:solidFill>
                  <a:schemeClr val="dk1"/>
                </a:solidFill>
                <a:latin typeface="Calibri"/>
                <a:ea typeface="Calibri"/>
                <a:cs typeface="Calibri"/>
                <a:sym typeface="Calibri"/>
              </a:rPr>
              <a:t>and one outcome column B - "Play Golf". </a:t>
            </a:r>
          </a:p>
          <a:p>
            <a:pPr lvl="0"/>
            <a:r>
              <a:rPr lang="en-US" dirty="0">
                <a:solidFill>
                  <a:schemeClr val="dk1"/>
                </a:solidFill>
                <a:latin typeface="Calibri"/>
                <a:ea typeface="Calibri"/>
                <a:cs typeface="Calibri"/>
                <a:sym typeface="Calibri"/>
              </a:rPr>
              <a:t>For each value of the outcome (Yes or No) we can calculate the conditional probability/frequency of seeing each feature value </a:t>
            </a:r>
            <a:r>
              <a:rPr lang="en-US" dirty="0" err="1">
                <a:solidFill>
                  <a:schemeClr val="dk1"/>
                </a:solidFill>
                <a:latin typeface="Calibri"/>
                <a:ea typeface="Calibri"/>
                <a:cs typeface="Calibri"/>
                <a:sym typeface="Calibri"/>
              </a:rPr>
              <a:t>A</a:t>
            </a:r>
            <a:r>
              <a:rPr lang="en-US" baseline="-25000" dirty="0" err="1">
                <a:solidFill>
                  <a:schemeClr val="dk1"/>
                </a:solidFill>
                <a:latin typeface="Calibri"/>
                <a:ea typeface="Calibri"/>
                <a:cs typeface="Calibri"/>
                <a:sym typeface="Calibri"/>
              </a:rPr>
              <a:t>ij</a:t>
            </a:r>
            <a:r>
              <a:rPr lang="en-US" dirty="0">
                <a:solidFill>
                  <a:schemeClr val="dk1"/>
                </a:solidFill>
                <a:latin typeface="Calibri"/>
                <a:ea typeface="Calibri"/>
                <a:cs typeface="Calibri"/>
                <a:sym typeface="Calibri"/>
              </a:rPr>
              <a:t> for a given outcome B:    </a:t>
            </a:r>
          </a:p>
          <a:p>
            <a:pPr lvl="0"/>
            <a:r>
              <a:rPr lang="en-US" dirty="0">
                <a:solidFill>
                  <a:schemeClr val="dk1"/>
                </a:solidFill>
                <a:latin typeface="Calibri"/>
                <a:ea typeface="Calibri"/>
                <a:cs typeface="Calibri"/>
                <a:sym typeface="Calibri"/>
              </a:rPr>
              <a:t>                                   </a:t>
            </a:r>
            <a:r>
              <a:rPr lang="en-US" b="1" dirty="0">
                <a:solidFill>
                  <a:srgbClr val="0070C0"/>
                </a:solidFill>
                <a:latin typeface="Calibri"/>
                <a:ea typeface="Calibri"/>
                <a:cs typeface="Calibri"/>
                <a:sym typeface="Calibri"/>
              </a:rPr>
              <a:t>P(</a:t>
            </a:r>
            <a:r>
              <a:rPr lang="en-US" b="1" dirty="0" err="1">
                <a:solidFill>
                  <a:srgbClr val="0070C0"/>
                </a:solidFill>
                <a:latin typeface="Calibri"/>
                <a:ea typeface="Calibri"/>
                <a:cs typeface="Calibri"/>
                <a:sym typeface="Calibri"/>
              </a:rPr>
              <a:t>A</a:t>
            </a:r>
            <a:r>
              <a:rPr lang="en-US" b="1" baseline="-25000" dirty="0" err="1">
                <a:solidFill>
                  <a:srgbClr val="0070C0"/>
                </a:solidFill>
                <a:latin typeface="Calibri"/>
                <a:ea typeface="Calibri"/>
                <a:cs typeface="Calibri"/>
                <a:sym typeface="Calibri"/>
              </a:rPr>
              <a:t>ij</a:t>
            </a:r>
            <a:r>
              <a:rPr lang="en-US" b="1" dirty="0">
                <a:solidFill>
                  <a:srgbClr val="0070C0"/>
                </a:solidFill>
                <a:latin typeface="Calibri"/>
                <a:ea typeface="Calibri"/>
                <a:cs typeface="Calibri"/>
                <a:sym typeface="Calibri"/>
              </a:rPr>
              <a:t>| B)</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where </a:t>
            </a:r>
            <a:r>
              <a:rPr lang="en-US" dirty="0" err="1">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 1,2,3,4, j=1,2,3 for Outlook (</a:t>
            </a:r>
            <a:r>
              <a:rPr lang="en-US" dirty="0" err="1">
                <a:solidFill>
                  <a:schemeClr val="dk1"/>
                </a:solidFill>
                <a:latin typeface="Calibri"/>
                <a:ea typeface="Calibri"/>
                <a:cs typeface="Calibri"/>
                <a:sym typeface="Calibri"/>
              </a:rPr>
              <a:t>Rayny</a:t>
            </a:r>
            <a:r>
              <a:rPr lang="en-US" dirty="0">
                <a:solidFill>
                  <a:schemeClr val="dk1"/>
                </a:solidFill>
                <a:latin typeface="Calibri"/>
                <a:ea typeface="Calibri"/>
                <a:cs typeface="Calibri"/>
                <a:sym typeface="Calibri"/>
              </a:rPr>
              <a:t>, Overcast, Sunny), etc.</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Let's calculate P(</a:t>
            </a:r>
            <a:r>
              <a:rPr lang="en-US" dirty="0" err="1">
                <a:solidFill>
                  <a:schemeClr val="dk1"/>
                </a:solidFill>
                <a:latin typeface="Calibri"/>
                <a:ea typeface="Calibri"/>
                <a:cs typeface="Calibri"/>
                <a:sym typeface="Calibri"/>
              </a:rPr>
              <a:t>Rainy|Yes</a:t>
            </a:r>
            <a:r>
              <a:rPr lang="en-US" dirty="0">
                <a:solidFill>
                  <a:schemeClr val="dk1"/>
                </a:solidFill>
                <a:latin typeface="Calibri"/>
                <a:ea typeface="Calibri"/>
                <a:cs typeface="Calibri"/>
                <a:sym typeface="Calibri"/>
              </a:rPr>
              <a:t>) and  P(</a:t>
            </a:r>
            <a:r>
              <a:rPr lang="en-US" dirty="0" err="1">
                <a:solidFill>
                  <a:schemeClr val="dk1"/>
                </a:solidFill>
                <a:latin typeface="Calibri"/>
                <a:ea typeface="Calibri"/>
                <a:cs typeface="Calibri"/>
                <a:sym typeface="Calibri"/>
              </a:rPr>
              <a:t>Rainy|No</a:t>
            </a:r>
            <a:r>
              <a:rPr lang="en-US" dirty="0">
                <a:solidFill>
                  <a:schemeClr val="dk1"/>
                </a:solidFill>
                <a:latin typeface="Calibri"/>
                <a:ea typeface="Calibri"/>
                <a:cs typeface="Calibri"/>
                <a:sym typeface="Calibri"/>
              </a:rPr>
              <a:t>):</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Yes) = 2/9    ( N(Yes) = 9, N(Yes, Rainy) =  2 )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No) = 3/5    ( N( No) = 5, N( No, Rainy) =  3 )</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Similarly we can calculate all other conditional probabilities.</a:t>
            </a:r>
          </a:p>
          <a:p>
            <a:pPr lvl="0"/>
            <a:r>
              <a:rPr lang="en-US" dirty="0">
                <a:solidFill>
                  <a:schemeClr val="dk1"/>
                </a:solidFill>
                <a:latin typeface="Calibri"/>
                <a:ea typeface="Calibri"/>
                <a:cs typeface="Calibri"/>
                <a:sym typeface="Calibri"/>
              </a:rPr>
              <a:t>Then we can use Bayes formula to calculate the probability of playing golf</a:t>
            </a:r>
          </a:p>
          <a:p>
            <a:pPr lvl="0"/>
            <a:r>
              <a:rPr lang="en-US" dirty="0">
                <a:solidFill>
                  <a:schemeClr val="dk1"/>
                </a:solidFill>
                <a:latin typeface="Calibri"/>
                <a:cs typeface="Calibri"/>
                <a:sym typeface="Calibri"/>
              </a:rPr>
              <a:t>given any specific set of features.</a:t>
            </a:r>
          </a:p>
          <a:p>
            <a:pPr lvl="0"/>
            <a:endParaRPr lang="en-US" dirty="0">
              <a:solidFill>
                <a:schemeClr val="dk1"/>
              </a:solidFill>
              <a:latin typeface="Calibri"/>
              <a:cs typeface="Calibri"/>
              <a:sym typeface="Calibri"/>
            </a:endParaRPr>
          </a:p>
          <a:p>
            <a:r>
              <a:rPr lang="en-US" dirty="0">
                <a:solidFill>
                  <a:schemeClr val="dk1"/>
                </a:solidFill>
                <a:latin typeface="Calibri"/>
                <a:cs typeface="Calibri"/>
              </a:rPr>
              <a:t>Note that we don't have to calculate the denominator of the Bayes formula, because it is the same for both probabilities (Yes and No), and for classification purposes we only need to determine which value is larger. </a:t>
            </a:r>
          </a:p>
          <a:p>
            <a:r>
              <a:rPr lang="en-US" dirty="0">
                <a:solidFill>
                  <a:schemeClr val="dk1"/>
                </a:solidFill>
                <a:latin typeface="Calibri"/>
                <a:cs typeface="Calibri"/>
              </a:rPr>
              <a:t>Also we can normalize: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a:solidFill>
                  <a:srgbClr val="0070C0"/>
                </a:solidFill>
                <a:latin typeface="Calibri"/>
                <a:cs typeface="Calibri"/>
              </a:rPr>
              <a:t> /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err="1">
                <a:solidFill>
                  <a:srgbClr val="0070C0"/>
                </a:solidFill>
                <a:latin typeface="Calibri"/>
                <a:cs typeface="Calibri"/>
              </a:rPr>
              <a:t>+P</a:t>
            </a:r>
            <a:r>
              <a:rPr lang="en-US" b="1" baseline="-25000" dirty="0" err="1">
                <a:solidFill>
                  <a:srgbClr val="0070C0"/>
                </a:solidFill>
                <a:latin typeface="Calibri"/>
                <a:cs typeface="Calibri"/>
              </a:rPr>
              <a:t>No</a:t>
            </a:r>
            <a:r>
              <a:rPr lang="en-US" b="1" dirty="0">
                <a:solidFill>
                  <a:srgbClr val="0070C0"/>
                </a:solidFill>
                <a:latin typeface="Calibri"/>
                <a:cs typeface="Calibri"/>
              </a:rPr>
              <a:t>)</a:t>
            </a:r>
          </a:p>
        </p:txBody>
      </p:sp>
      <p:sp>
        <p:nvSpPr>
          <p:cNvPr id="12" name="TextBox 11">
            <a:extLst>
              <a:ext uri="{FF2B5EF4-FFF2-40B4-BE49-F238E27FC236}">
                <a16:creationId xmlns:a16="http://schemas.microsoft.com/office/drawing/2014/main" id="{B5293DFC-1E53-314F-8AC5-957A175E20A6}"/>
              </a:ext>
            </a:extLst>
          </p:cNvPr>
          <p:cNvSpPr txBox="1"/>
          <p:nvPr/>
        </p:nvSpPr>
        <p:spPr>
          <a:xfrm>
            <a:off x="7392800" y="166168"/>
            <a:ext cx="4624188" cy="400110"/>
          </a:xfrm>
          <a:prstGeom prst="rect">
            <a:avLst/>
          </a:prstGeom>
          <a:noFill/>
        </p:spPr>
        <p:txBody>
          <a:bodyPr wrap="square" rtlCol="0">
            <a:spAutoFit/>
          </a:bodyPr>
          <a:lstStyle/>
          <a:p>
            <a:r>
              <a:rPr lang="en-US" sz="2000" b="1" dirty="0">
                <a:solidFill>
                  <a:srgbClr val="00B050"/>
                </a:solidFill>
              </a:rPr>
              <a:t>               Features                    Target</a:t>
            </a:r>
          </a:p>
        </p:txBody>
      </p:sp>
    </p:spTree>
    <p:extLst>
      <p:ext uri="{BB962C8B-B14F-4D97-AF65-F5344CB8AC3E}">
        <p14:creationId xmlns:p14="http://schemas.microsoft.com/office/powerpoint/2010/main" val="2024227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8" name="Google Shape;107;p14">
            <a:extLst>
              <a:ext uri="{FF2B5EF4-FFF2-40B4-BE49-F238E27FC236}">
                <a16:creationId xmlns:a16="http://schemas.microsoft.com/office/drawing/2014/main" id="{C2992640-6531-5D46-B219-A020079806DB}"/>
              </a:ext>
            </a:extLst>
          </p:cNvPr>
          <p:cNvSpPr txBox="1"/>
          <p:nvPr/>
        </p:nvSpPr>
        <p:spPr>
          <a:xfrm>
            <a:off x="91343" y="40387"/>
            <a:ext cx="5893822" cy="1137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network  </a:t>
            </a:r>
            <a:br>
              <a:rPr lang="en-US" sz="2800" b="1" dirty="0">
                <a:solidFill>
                  <a:schemeClr val="tx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a:cs typeface="Calibri"/>
                <a:sym typeface="Calibri"/>
              </a:rPr>
              <a:t>( a.k.a. Bayes network, belief network, Bayes(</a:t>
            </a:r>
            <a:r>
              <a:rPr lang="en-US" sz="1800" dirty="0" err="1">
                <a:solidFill>
                  <a:schemeClr val="dk1"/>
                </a:solidFill>
                <a:latin typeface="Calibri"/>
                <a:cs typeface="Calibri"/>
                <a:sym typeface="Calibri"/>
              </a:rPr>
              <a:t>ian</a:t>
            </a:r>
            <a:r>
              <a:rPr lang="en-US" sz="1800" dirty="0">
                <a:solidFill>
                  <a:schemeClr val="dk1"/>
                </a:solidFill>
                <a:latin typeface="Calibri"/>
                <a:cs typeface="Calibri"/>
                <a:sym typeface="Calibri"/>
              </a:rPr>
              <a:t>) model </a:t>
            </a:r>
          </a:p>
          <a:p>
            <a:pPr marL="0" marR="0" lvl="0" indent="0" algn="l" rtl="0">
              <a:spcBef>
                <a:spcPts val="0"/>
              </a:spcBef>
              <a:spcAft>
                <a:spcPts val="0"/>
              </a:spcAft>
              <a:buNone/>
            </a:pPr>
            <a:r>
              <a:rPr lang="en-US" sz="1800" dirty="0">
                <a:solidFill>
                  <a:schemeClr val="dk1"/>
                </a:solidFill>
                <a:latin typeface="Calibri"/>
                <a:cs typeface="Calibri"/>
                <a:sym typeface="Calibri"/>
              </a:rPr>
              <a:t>  or probabilistic directed acyclic graphical model )</a:t>
            </a:r>
            <a:r>
              <a:rPr lang="en-US" sz="1800" dirty="0">
                <a:solidFill>
                  <a:schemeClr val="dk1"/>
                </a:solidFill>
                <a:latin typeface="Calibri"/>
                <a:ea typeface="Calibri"/>
                <a:cs typeface="Calibri"/>
                <a:sym typeface="Calibri"/>
              </a:rPr>
              <a:t> </a:t>
            </a: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7021286" y="418578"/>
            <a:ext cx="1715986" cy="1996320"/>
          </a:xfrm>
          <a:prstGeom prst="rect">
            <a:avLst/>
          </a:prstGeom>
          <a:noFill/>
          <a:ln>
            <a:noFill/>
          </a:ln>
        </p:spPr>
      </p:pic>
      <p:pic>
        <p:nvPicPr>
          <p:cNvPr id="1026" name="Picture 2" descr="A name for layered directed graph as in a fully-connected neural network -  Mathematics Stack Exchange">
            <a:extLst>
              <a:ext uri="{FF2B5EF4-FFF2-40B4-BE49-F238E27FC236}">
                <a16:creationId xmlns:a16="http://schemas.microsoft.com/office/drawing/2014/main" id="{9F27D678-C094-7546-8A93-B3B6A7DC683E}"/>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021286" y="3248453"/>
            <a:ext cx="4388069" cy="2234581"/>
          </a:xfrm>
          <a:prstGeom prst="rect">
            <a:avLst/>
          </a:prstGeom>
          <a:noFill/>
          <a:extLst>
            <a:ext uri="{909E8E84-426E-40DD-AFC4-6F175D3DCCD1}">
              <a14:hiddenFill xmlns:a14="http://schemas.microsoft.com/office/drawing/2010/main">
                <a:solidFill>
                  <a:srgbClr val="FFFFFF"/>
                </a:solidFill>
              </a14:hiddenFill>
            </a:ext>
          </a:extLst>
        </p:spPr>
      </p:pic>
      <p:sp>
        <p:nvSpPr>
          <p:cNvPr id="5" name="Google Shape;107;p14">
            <a:extLst>
              <a:ext uri="{FF2B5EF4-FFF2-40B4-BE49-F238E27FC236}">
                <a16:creationId xmlns:a16="http://schemas.microsoft.com/office/drawing/2014/main" id="{341F2A09-BD6A-6E40-B245-BD73EC20CC51}"/>
              </a:ext>
            </a:extLst>
          </p:cNvPr>
          <p:cNvSpPr txBox="1"/>
          <p:nvPr/>
        </p:nvSpPr>
        <p:spPr>
          <a:xfrm>
            <a:off x="91342" y="1416738"/>
            <a:ext cx="6613415" cy="9981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chemeClr val="accent1"/>
                </a:solidFill>
                <a:latin typeface="Calibri" panose="020F0502020204030204" pitchFamily="34" charset="0"/>
                <a:cs typeface="Calibri" panose="020F0502020204030204" pitchFamily="34" charset="0"/>
                <a:sym typeface="Calibri"/>
              </a:rPr>
              <a:t>Bayesian network </a:t>
            </a:r>
            <a:r>
              <a:rPr lang="en-US" sz="1800" dirty="0">
                <a:solidFill>
                  <a:schemeClr val="dk1"/>
                </a:solidFill>
                <a:latin typeface="Calibri"/>
                <a:ea typeface="Calibri"/>
                <a:cs typeface="Calibri"/>
                <a:sym typeface="Calibri"/>
              </a:rPr>
              <a:t>is a probabilistic graphical model (a type of statistical model) that represents a set of random variables and their conditional dependencies via a directed acyclic graph (DAG). </a:t>
            </a:r>
          </a:p>
        </p:txBody>
      </p:sp>
      <p:sp>
        <p:nvSpPr>
          <p:cNvPr id="7" name="Google Shape;107;p14">
            <a:extLst>
              <a:ext uri="{FF2B5EF4-FFF2-40B4-BE49-F238E27FC236}">
                <a16:creationId xmlns:a16="http://schemas.microsoft.com/office/drawing/2014/main" id="{4CCE08F0-3501-EE45-BB4D-DD3F87E80562}"/>
              </a:ext>
            </a:extLst>
          </p:cNvPr>
          <p:cNvSpPr txBox="1"/>
          <p:nvPr/>
        </p:nvSpPr>
        <p:spPr>
          <a:xfrm>
            <a:off x="91342" y="2423668"/>
            <a:ext cx="6428357" cy="148084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Example: </a:t>
            </a:r>
          </a:p>
          <a:p>
            <a:pPr lvl="0"/>
            <a:r>
              <a:rPr lang="en-US" sz="1800" b="1" dirty="0">
                <a:solidFill>
                  <a:srgbClr val="0070C0"/>
                </a:solidFill>
                <a:latin typeface="Calibri"/>
                <a:ea typeface="Calibri"/>
                <a:cs typeface="Calibri"/>
                <a:sym typeface="Calibri"/>
              </a:rPr>
              <a:t>Deep Belief Networks </a:t>
            </a:r>
            <a:r>
              <a:rPr lang="en-US" sz="1800" dirty="0">
                <a:solidFill>
                  <a:schemeClr val="dk1"/>
                </a:solidFill>
                <a:latin typeface="Calibri"/>
                <a:ea typeface="Calibri"/>
                <a:cs typeface="Calibri"/>
                <a:sym typeface="Calibri"/>
              </a:rPr>
              <a:t>- made of layers of RBMs, each next layer (“B”) is trained on top of the previous layer (“A”).</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Here </a:t>
            </a:r>
            <a:r>
              <a:rPr lang="en-US" sz="1800" b="1" dirty="0">
                <a:solidFill>
                  <a:srgbClr val="0070C0"/>
                </a:solidFill>
                <a:latin typeface="Calibri"/>
                <a:ea typeface="Calibri"/>
                <a:cs typeface="Calibri"/>
                <a:sym typeface="Calibri"/>
              </a:rPr>
              <a:t>RBM</a:t>
            </a:r>
            <a:r>
              <a:rPr lang="en-US" sz="1800" dirty="0">
                <a:solidFill>
                  <a:schemeClr val="dk1"/>
                </a:solidFill>
                <a:latin typeface="Calibri"/>
                <a:ea typeface="Calibri"/>
                <a:cs typeface="Calibri"/>
                <a:sym typeface="Calibri"/>
              </a:rPr>
              <a:t> (Restricted Boltzmann Machine) is a two-layered artificial neural network.</a:t>
            </a:r>
            <a:endParaRPr lang="en-US" sz="1800" dirty="0">
              <a:solidFill>
                <a:schemeClr val="dk1"/>
              </a:solidFill>
              <a:latin typeface="Calibri"/>
              <a:cs typeface="Calibri"/>
              <a:sym typeface="Calibri"/>
            </a:endParaRPr>
          </a:p>
        </p:txBody>
      </p:sp>
      <p:pic>
        <p:nvPicPr>
          <p:cNvPr id="3" name="Picture 2">
            <a:extLst>
              <a:ext uri="{FF2B5EF4-FFF2-40B4-BE49-F238E27FC236}">
                <a16:creationId xmlns:a16="http://schemas.microsoft.com/office/drawing/2014/main" id="{221CF74C-2765-1A49-9DE4-312EA056AB81}"/>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2476501" y="4071018"/>
            <a:ext cx="1123506" cy="1412016"/>
          </a:xfrm>
          <a:prstGeom prst="rect">
            <a:avLst/>
          </a:prstGeom>
        </p:spPr>
      </p:pic>
      <p:pic>
        <p:nvPicPr>
          <p:cNvPr id="4" name="Picture 3">
            <a:extLst>
              <a:ext uri="{FF2B5EF4-FFF2-40B4-BE49-F238E27FC236}">
                <a16:creationId xmlns:a16="http://schemas.microsoft.com/office/drawing/2014/main" id="{F3F0E989-24F4-954F-8654-A11FAA84E879}"/>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570314" y="4041266"/>
            <a:ext cx="1253671" cy="1417842"/>
          </a:xfrm>
          <a:prstGeom prst="rect">
            <a:avLst/>
          </a:prstGeom>
        </p:spPr>
      </p:pic>
      <p:sp>
        <p:nvSpPr>
          <p:cNvPr id="10" name="Google Shape;107;p14">
            <a:extLst>
              <a:ext uri="{FF2B5EF4-FFF2-40B4-BE49-F238E27FC236}">
                <a16:creationId xmlns:a16="http://schemas.microsoft.com/office/drawing/2014/main" id="{BBAA03BF-9CD1-2742-8F30-65CF844C9AE9}"/>
              </a:ext>
            </a:extLst>
          </p:cNvPr>
          <p:cNvSpPr txBox="1"/>
          <p:nvPr/>
        </p:nvSpPr>
        <p:spPr>
          <a:xfrm>
            <a:off x="183869" y="5485948"/>
            <a:ext cx="6428357" cy="1219839"/>
          </a:xfrm>
          <a:prstGeom prst="rect">
            <a:avLst/>
          </a:prstGeom>
          <a:noFill/>
          <a:ln>
            <a:noFill/>
          </a:ln>
        </p:spPr>
        <p:txBody>
          <a:bodyPr spcFirstLastPara="1" wrap="square" lIns="91425" tIns="45700" rIns="91425" bIns="45700" anchor="t" anchorCtr="0">
            <a:noAutofit/>
          </a:bodyPr>
          <a:lstStyle/>
          <a:p>
            <a:pPr lvl="0"/>
            <a:r>
              <a:rPr lang="en-US" sz="1800" dirty="0">
                <a:solidFill>
                  <a:schemeClr val="dk1"/>
                </a:solidFill>
                <a:latin typeface="Calibri"/>
                <a:cs typeface="Calibri"/>
              </a:rPr>
              <a:t>Geoffrey Hinton &amp; Ruslan </a:t>
            </a:r>
            <a:r>
              <a:rPr lang="en-US" sz="1800" dirty="0" err="1">
                <a:solidFill>
                  <a:schemeClr val="dk1"/>
                </a:solidFill>
                <a:latin typeface="Calibri"/>
                <a:cs typeface="Calibri"/>
              </a:rPr>
              <a:t>Salakhutdinov</a:t>
            </a:r>
            <a:r>
              <a:rPr lang="en-US" sz="1800" dirty="0">
                <a:solidFill>
                  <a:schemeClr val="dk1"/>
                </a:solidFill>
                <a:latin typeface="Calibri"/>
                <a:cs typeface="Calibri"/>
              </a:rPr>
              <a:t> (2006). </a:t>
            </a:r>
          </a:p>
          <a:p>
            <a:pPr lvl="0"/>
            <a:r>
              <a:rPr lang="en-US" sz="1800" dirty="0">
                <a:solidFill>
                  <a:schemeClr val="dk1"/>
                </a:solidFill>
                <a:latin typeface="Calibri"/>
                <a:cs typeface="Calibri"/>
              </a:rPr>
              <a:t>Reducing the dimensionality of data with neural networks.</a:t>
            </a:r>
          </a:p>
          <a:p>
            <a:pPr lvl="0"/>
            <a:r>
              <a:rPr lang="en-US" sz="1800" dirty="0">
                <a:solidFill>
                  <a:schemeClr val="dk1"/>
                </a:solidFill>
                <a:latin typeface="Calibri"/>
                <a:cs typeface="Calibri"/>
              </a:rPr>
              <a:t>Science, 313, 504 – 507.</a:t>
            </a:r>
          </a:p>
          <a:p>
            <a:pPr lvl="0"/>
            <a:r>
              <a:rPr lang="en-US" sz="1800" dirty="0">
                <a:solidFill>
                  <a:schemeClr val="dk1"/>
                </a:solidFill>
                <a:latin typeface="Calibri"/>
                <a:cs typeface="Calibri"/>
                <a:sym typeface="Calibri"/>
              </a:rPr>
              <a:t> - </a:t>
            </a:r>
            <a:r>
              <a:rPr lang="en-US" sz="1800" dirty="0">
                <a:solidFill>
                  <a:schemeClr val="dk1"/>
                </a:solidFill>
                <a:latin typeface="Calibri"/>
                <a:cs typeface="Calibri"/>
                <a:sym typeface="Calibri"/>
                <a:hlinkClick r:id="rId7"/>
              </a:rPr>
              <a:t>https://www.cs.toronto.edu/~hinton/science.pdf</a:t>
            </a:r>
            <a:r>
              <a:rPr lang="en-US" sz="1800" dirty="0">
                <a:solidFill>
                  <a:schemeClr val="dk1"/>
                </a:solidFill>
                <a:latin typeface="Calibri"/>
                <a:cs typeface="Calibri"/>
                <a:sym typeface="Calibri"/>
              </a:rPr>
              <a:t> </a:t>
            </a:r>
          </a:p>
        </p:txBody>
      </p:sp>
      <p:sp>
        <p:nvSpPr>
          <p:cNvPr id="6" name="TextBox 5">
            <a:extLst>
              <a:ext uri="{FF2B5EF4-FFF2-40B4-BE49-F238E27FC236}">
                <a16:creationId xmlns:a16="http://schemas.microsoft.com/office/drawing/2014/main" id="{AC6499AC-2623-244C-B653-E3602A825F7E}"/>
              </a:ext>
            </a:extLst>
          </p:cNvPr>
          <p:cNvSpPr txBox="1"/>
          <p:nvPr/>
        </p:nvSpPr>
        <p:spPr>
          <a:xfrm>
            <a:off x="8118388" y="5609967"/>
            <a:ext cx="2001795" cy="307777"/>
          </a:xfrm>
          <a:prstGeom prst="rect">
            <a:avLst/>
          </a:prstGeom>
          <a:noFill/>
        </p:spPr>
        <p:txBody>
          <a:bodyPr wrap="square" rtlCol="0">
            <a:spAutoFit/>
          </a:bodyPr>
          <a:lstStyle/>
          <a:p>
            <a:r>
              <a:rPr lang="en-US" dirty="0"/>
              <a:t>A Deep Belief Network</a:t>
            </a:r>
          </a:p>
        </p:txBody>
      </p:sp>
    </p:spTree>
    <p:extLst>
      <p:ext uri="{BB962C8B-B14F-4D97-AF65-F5344CB8AC3E}">
        <p14:creationId xmlns:p14="http://schemas.microsoft.com/office/powerpoint/2010/main" val="42053123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7" name="Google Shape;113;p14">
            <a:extLst>
              <a:ext uri="{FF2B5EF4-FFF2-40B4-BE49-F238E27FC236}">
                <a16:creationId xmlns:a16="http://schemas.microsoft.com/office/drawing/2014/main" id="{686E86FA-5888-014D-BB3F-938CE5095920}"/>
              </a:ext>
            </a:extLst>
          </p:cNvPr>
          <p:cNvSpPr txBox="1"/>
          <p:nvPr/>
        </p:nvSpPr>
        <p:spPr>
          <a:xfrm>
            <a:off x="0" y="126766"/>
            <a:ext cx="3658586" cy="5511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Optimization </a:t>
            </a:r>
            <a:endParaRPr sz="2800" b="1" dirty="0">
              <a:solidFill>
                <a:schemeClr val="tx1"/>
              </a:solidFill>
              <a:latin typeface="Calibri" panose="020F0502020204030204" pitchFamily="34" charset="0"/>
              <a:cs typeface="Calibri" panose="020F0502020204030204" pitchFamily="34" charset="0"/>
              <a:sym typeface="Calibri"/>
            </a:endParaRPr>
          </a:p>
        </p:txBody>
      </p:sp>
      <p:pic>
        <p:nvPicPr>
          <p:cNvPr id="2050" name="Picture 2" descr="Hyperparameter Optimization in Gradient Boosting Packages with Bayesian  Optimization | by Osman Mamun | Towards Data Science">
            <a:extLst>
              <a:ext uri="{FF2B5EF4-FFF2-40B4-BE49-F238E27FC236}">
                <a16:creationId xmlns:a16="http://schemas.microsoft.com/office/drawing/2014/main" id="{EF78F114-FFE9-BC45-8BB7-ED043E81B013}"/>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761230" y="53213"/>
            <a:ext cx="5364210" cy="3256519"/>
          </a:xfrm>
          <a:prstGeom prst="rect">
            <a:avLst/>
          </a:prstGeom>
          <a:noFill/>
          <a:extLst>
            <a:ext uri="{909E8E84-426E-40DD-AFC4-6F175D3DCCD1}">
              <a14:hiddenFill xmlns:a14="http://schemas.microsoft.com/office/drawing/2010/main">
                <a:solidFill>
                  <a:srgbClr val="FFFFFF"/>
                </a:solidFill>
              </a14:hiddenFill>
            </a:ext>
          </a:extLst>
        </p:spPr>
      </p:pic>
      <p:sp>
        <p:nvSpPr>
          <p:cNvPr id="10" name="Google Shape;113;p14">
            <a:extLst>
              <a:ext uri="{FF2B5EF4-FFF2-40B4-BE49-F238E27FC236}">
                <a16:creationId xmlns:a16="http://schemas.microsoft.com/office/drawing/2014/main" id="{FC61AB3C-FF8E-7841-94D9-DEA2A67A3658}"/>
              </a:ext>
            </a:extLst>
          </p:cNvPr>
          <p:cNvSpPr txBox="1"/>
          <p:nvPr/>
        </p:nvSpPr>
        <p:spPr>
          <a:xfrm>
            <a:off x="79812" y="677917"/>
            <a:ext cx="5804153" cy="6053317"/>
          </a:xfrm>
          <a:prstGeom prst="rect">
            <a:avLst/>
          </a:prstGeom>
          <a:noFill/>
          <a:ln>
            <a:noFill/>
          </a:ln>
        </p:spPr>
        <p:txBody>
          <a:bodyPr spcFirstLastPara="1" wrap="square" lIns="91425" tIns="45700" rIns="91425" bIns="45700" anchor="t" anchorCtr="0">
            <a:noAutofit/>
          </a:bodyPr>
          <a:lstStyle/>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ea typeface="Calibri"/>
                <a:cs typeface="Calibri"/>
                <a:sym typeface="Calibri"/>
              </a:rPr>
              <a:t> is a sequential optimization strategy.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Optimizing a black-box system without calculatin</a:t>
            </a:r>
            <a:r>
              <a:rPr lang="en-US" dirty="0">
                <a:solidFill>
                  <a:schemeClr val="dk1"/>
                </a:solidFill>
                <a:latin typeface="Calibri"/>
                <a:cs typeface="Calibri"/>
                <a:sym typeface="Calibri"/>
              </a:rPr>
              <a:t>g derivatives.</a:t>
            </a:r>
          </a:p>
          <a:p>
            <a:pPr marL="0" marR="0" lvl="0" indent="0" algn="l" rtl="0">
              <a:spcBef>
                <a:spcPts val="0"/>
              </a:spcBef>
              <a:spcAft>
                <a:spcPts val="0"/>
              </a:spcAft>
              <a:buNone/>
            </a:pPr>
            <a:endParaRPr lang="en-US" dirty="0">
              <a:solidFill>
                <a:schemeClr val="dk1"/>
              </a:solidFill>
              <a:latin typeface="Calibri"/>
              <a:cs typeface="Calibri"/>
              <a:sym typeface="Calibri"/>
            </a:endParaRPr>
          </a:p>
          <a:p>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rPr>
              <a:t> is typically used to find  </a:t>
            </a:r>
          </a:p>
          <a:p>
            <a:r>
              <a:rPr lang="en-US" b="1" dirty="0">
                <a:solidFill>
                  <a:srgbClr val="00B050"/>
                </a:solidFill>
                <a:latin typeface="Calibri"/>
                <a:cs typeface="Calibri"/>
              </a:rPr>
              <a:t>optimal hyperparameters for Machine Learning models</a:t>
            </a:r>
            <a:r>
              <a:rPr lang="en-US" dirty="0">
                <a:solidFill>
                  <a:schemeClr val="dk1"/>
                </a:solidFill>
                <a:latin typeface="Calibri"/>
                <a:cs typeface="Calibri"/>
              </a:rPr>
              <a:t> </a:t>
            </a:r>
          </a:p>
          <a:p>
            <a:r>
              <a:rPr lang="en-US" dirty="0">
                <a:solidFill>
                  <a:schemeClr val="dk1"/>
                </a:solidFill>
                <a:latin typeface="Calibri"/>
                <a:cs typeface="Calibri"/>
              </a:rPr>
              <a:t>(it is better than </a:t>
            </a:r>
            <a:r>
              <a:rPr lang="en-US" b="1" dirty="0">
                <a:solidFill>
                  <a:srgbClr val="0070C0"/>
                </a:solidFill>
                <a:latin typeface="Calibri"/>
                <a:cs typeface="Calibri"/>
              </a:rPr>
              <a:t>grid search</a:t>
            </a:r>
            <a:r>
              <a:rPr lang="en-US" dirty="0">
                <a:solidFill>
                  <a:schemeClr val="dk1"/>
                </a:solidFill>
                <a:latin typeface="Calibri"/>
                <a:cs typeface="Calibri"/>
              </a:rPr>
              <a:t> or </a:t>
            </a:r>
            <a:r>
              <a:rPr lang="en-US" b="1" dirty="0">
                <a:solidFill>
                  <a:srgbClr val="0070C0"/>
                </a:solidFill>
                <a:latin typeface="Calibri"/>
                <a:cs typeface="Calibri"/>
              </a:rPr>
              <a:t>random search</a:t>
            </a:r>
            <a:r>
              <a:rPr lang="en-US" dirty="0">
                <a:solidFill>
                  <a:schemeClr val="dk1"/>
                </a:solidFill>
                <a:latin typeface="Calibri"/>
                <a:cs typeface="Calibri"/>
              </a:rPr>
              <a:t>).</a:t>
            </a:r>
          </a:p>
          <a:p>
            <a:pPr marL="0" marR="0" lvl="0" indent="0" algn="l" rtl="0">
              <a:spcBef>
                <a:spcPts val="0"/>
              </a:spcBef>
              <a:spcAft>
                <a:spcPts val="0"/>
              </a:spcAft>
              <a:buNone/>
            </a:pPr>
            <a:endParaRPr lang="en-US" dirty="0">
              <a:solidFill>
                <a:schemeClr val="dk1"/>
              </a:solidFill>
              <a:latin typeface="Calibri"/>
              <a:cs typeface="Calibri"/>
              <a:sym typeface="Calibri"/>
            </a:endParaRPr>
          </a:p>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sym typeface="Calibri"/>
              </a:rPr>
              <a:t> works by constructing a posterior distribution of functions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that best describes the function you want to optimize. As the number of observations grows, the posterior distribution improves, and the algorithm becomes more certain of which regions in parameter space are worth exploring and which are not.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As you iterate over and over, the algorithm balances its needs of </a:t>
            </a:r>
            <a:r>
              <a:rPr lang="en-US" b="1" dirty="0">
                <a:solidFill>
                  <a:srgbClr val="00B050"/>
                </a:solidFill>
                <a:latin typeface="Calibri"/>
                <a:cs typeface="Calibri"/>
                <a:sym typeface="Calibri"/>
              </a:rPr>
              <a:t>exploration and exploitation</a:t>
            </a:r>
            <a:r>
              <a:rPr lang="en-US" dirty="0">
                <a:solidFill>
                  <a:schemeClr val="dk1"/>
                </a:solidFill>
                <a:latin typeface="Calibri"/>
                <a:cs typeface="Calibri"/>
                <a:sym typeface="Calibri"/>
              </a:rPr>
              <a:t> taking into account what it knows about the target function. At each step a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is fitted to the known samples (points previously explored), and the posterior distribution, combined with a exploration strategy are used to determine </a:t>
            </a:r>
            <a:r>
              <a:rPr lang="en-US" b="1" dirty="0">
                <a:solidFill>
                  <a:srgbClr val="0070C0"/>
                </a:solidFill>
                <a:latin typeface="Calibri"/>
                <a:cs typeface="Calibri"/>
                <a:sym typeface="Calibri"/>
              </a:rPr>
              <a:t>the next point that should be explored</a:t>
            </a:r>
            <a:r>
              <a:rPr lang="en-US" dirty="0">
                <a:solidFill>
                  <a:schemeClr val="dk1"/>
                </a:solidFill>
                <a:latin typeface="Calibri"/>
                <a:cs typeface="Calibri"/>
                <a:sym typeface="Calibri"/>
              </a:rPr>
              <a: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This process is designed to minimize the number of steps required to find a combination of parameters that are close to the optimal combination.</a:t>
            </a:r>
          </a:p>
          <a:p>
            <a:pPr lvl="0"/>
            <a:endParaRPr lang="en-US" dirty="0">
              <a:solidFill>
                <a:schemeClr val="dk1"/>
              </a:solidFill>
              <a:latin typeface="Calibri"/>
              <a:cs typeface="Calibri"/>
            </a:endParaRPr>
          </a:p>
          <a:p>
            <a:pPr lvl="0"/>
            <a:r>
              <a:rPr lang="en-US" dirty="0">
                <a:solidFill>
                  <a:schemeClr val="dk1"/>
                </a:solidFill>
                <a:latin typeface="Calibri"/>
                <a:cs typeface="Calibri"/>
              </a:rPr>
              <a:t>Example:</a:t>
            </a:r>
          </a:p>
          <a:p>
            <a:pPr marL="285750" lvl="0" indent="-285750">
              <a:buFont typeface="Arial" panose="020B0604020202020204" pitchFamily="34" charset="0"/>
              <a:buChar char="•"/>
            </a:pPr>
            <a:r>
              <a:rPr lang="en-US" dirty="0">
                <a:solidFill>
                  <a:schemeClr val="dk1"/>
                </a:solidFill>
                <a:latin typeface="Calibri"/>
                <a:cs typeface="Calibri"/>
                <a:hlinkClick r:id="rId4"/>
              </a:rPr>
              <a:t>https://towardsdatascience.com/hyperparameter-optimization-in-gradient-boosting-packages-with-bayesian-optimization-aaf1b27e7b90</a:t>
            </a:r>
            <a:r>
              <a:rPr lang="en-US" dirty="0">
                <a:solidFill>
                  <a:schemeClr val="dk1"/>
                </a:solidFill>
                <a:latin typeface="Calibri"/>
                <a:cs typeface="Calibri"/>
              </a:rPr>
              <a:t> </a:t>
            </a:r>
          </a:p>
          <a:p>
            <a:pPr lvl="0"/>
            <a:endParaRPr lang="en-US" dirty="0">
              <a:solidFill>
                <a:schemeClr val="dk1"/>
              </a:solidFill>
              <a:latin typeface="Calibri"/>
              <a:cs typeface="Calibri"/>
            </a:endParaRPr>
          </a:p>
          <a:p>
            <a:pPr marL="285750" lvl="0" indent="-285750">
              <a:buFont typeface="Arial" panose="020B0604020202020204" pitchFamily="34" charset="0"/>
              <a:buChar char="•"/>
            </a:pPr>
            <a:r>
              <a:rPr lang="en-US" dirty="0">
                <a:solidFill>
                  <a:schemeClr val="dk1"/>
                </a:solidFill>
                <a:latin typeface="Calibri"/>
                <a:cs typeface="Calibri"/>
                <a:hlinkClick r:id="rId5"/>
              </a:rPr>
              <a:t>https://github.com/fmfn/BayesianOptimization</a:t>
            </a:r>
            <a:r>
              <a:rPr lang="en-US" dirty="0">
                <a:solidFill>
                  <a:schemeClr val="dk1"/>
                </a:solidFill>
                <a:latin typeface="Calibri"/>
                <a:cs typeface="Calibri"/>
              </a:rPr>
              <a:t> </a:t>
            </a:r>
            <a:endParaRPr dirty="0">
              <a:solidFill>
                <a:schemeClr val="dk1"/>
              </a:solidFill>
              <a:latin typeface="Calibri"/>
              <a:cs typeface="Calibri"/>
            </a:endParaRPr>
          </a:p>
        </p:txBody>
      </p:sp>
      <p:sp>
        <p:nvSpPr>
          <p:cNvPr id="2" name="TextBox 1">
            <a:extLst>
              <a:ext uri="{FF2B5EF4-FFF2-40B4-BE49-F238E27FC236}">
                <a16:creationId xmlns:a16="http://schemas.microsoft.com/office/drawing/2014/main" id="{BB66F01F-0498-204C-B082-40A9BFF950D5}"/>
              </a:ext>
            </a:extLst>
          </p:cNvPr>
          <p:cNvSpPr txBox="1"/>
          <p:nvPr/>
        </p:nvSpPr>
        <p:spPr>
          <a:xfrm>
            <a:off x="6308037" y="3497460"/>
            <a:ext cx="5870711" cy="3323987"/>
          </a:xfrm>
          <a:prstGeom prst="rect">
            <a:avLst/>
          </a:prstGeom>
          <a:noFill/>
        </p:spPr>
        <p:txBody>
          <a:bodyPr wrap="square" rtlCol="0">
            <a:spAutoFit/>
          </a:bodyPr>
          <a:lstStyle/>
          <a:p>
            <a:r>
              <a:rPr lang="en-US" dirty="0"/>
              <a:t>Note:</a:t>
            </a:r>
          </a:p>
          <a:p>
            <a:pPr marL="285750" indent="-285750">
              <a:buFont typeface="Arial" panose="020B0604020202020204" pitchFamily="34" charset="0"/>
              <a:buChar char="•"/>
            </a:pPr>
            <a:r>
              <a:rPr lang="en-US" b="1" dirty="0">
                <a:solidFill>
                  <a:srgbClr val="0070C0"/>
                </a:solidFill>
              </a:rPr>
              <a:t>Gaussian Process</a:t>
            </a:r>
            <a:r>
              <a:rPr lang="en-US" dirty="0"/>
              <a:t> is a stochastic process (a collection of random variables indexed by time or space), such that every finite collection of those random variables has a multivariate normal distribution. </a:t>
            </a:r>
          </a:p>
          <a:p>
            <a:pPr marL="285750" indent="-285750">
              <a:buFont typeface="Arial" panose="020B0604020202020204" pitchFamily="34" charset="0"/>
              <a:buChar char="•"/>
            </a:pPr>
            <a:r>
              <a:rPr lang="en-US" dirty="0"/>
              <a:t>A machine-learning algorithm that involves a </a:t>
            </a:r>
            <a:r>
              <a:rPr lang="en-US" b="1" dirty="0">
                <a:solidFill>
                  <a:srgbClr val="0070C0"/>
                </a:solidFill>
              </a:rPr>
              <a:t>Gaussian Process</a:t>
            </a:r>
            <a:r>
              <a:rPr lang="en-US" dirty="0"/>
              <a:t> uses </a:t>
            </a:r>
            <a:r>
              <a:rPr lang="en-US" b="1" dirty="0">
                <a:solidFill>
                  <a:srgbClr val="00B050"/>
                </a:solidFill>
              </a:rPr>
              <a:t>lazy learning</a:t>
            </a:r>
            <a:r>
              <a:rPr lang="en-US" dirty="0"/>
              <a:t> and a </a:t>
            </a:r>
            <a:r>
              <a:rPr lang="en-US" b="1" dirty="0">
                <a:solidFill>
                  <a:srgbClr val="00B050"/>
                </a:solidFill>
              </a:rPr>
              <a:t>measure of the similarity between points</a:t>
            </a:r>
            <a:r>
              <a:rPr lang="en-US" dirty="0"/>
              <a:t> (the kernel function) to predict the value for an unseen point from training data. </a:t>
            </a:r>
          </a:p>
          <a:p>
            <a:pPr marL="285750" indent="-285750">
              <a:buFont typeface="Arial" panose="020B0604020202020204" pitchFamily="34" charset="0"/>
              <a:buChar char="•"/>
            </a:pPr>
            <a:r>
              <a:rPr lang="en-US" dirty="0"/>
              <a:t>The prediction is not just an estimate for that point, but also has </a:t>
            </a:r>
            <a:r>
              <a:rPr lang="en-US" b="1" dirty="0">
                <a:solidFill>
                  <a:srgbClr val="00B050"/>
                </a:solidFill>
              </a:rPr>
              <a:t>uncertainty information</a:t>
            </a:r>
            <a:r>
              <a:rPr lang="en-US" dirty="0"/>
              <a:t> (it is a Gaussian distribution). </a:t>
            </a:r>
          </a:p>
          <a:p>
            <a:pPr marL="285750" indent="-285750">
              <a:buFont typeface="Arial" panose="020B0604020202020204" pitchFamily="34" charset="0"/>
              <a:buChar char="•"/>
            </a:pPr>
            <a:r>
              <a:rPr lang="en-US" dirty="0"/>
              <a:t>In practice GP models are often evaluated on a grid using maximum likelihood and calculating multivariate Gaussian density using  approximation methods to speed up calculations.</a:t>
            </a:r>
          </a:p>
          <a:p>
            <a:pPr marL="285750" indent="-285750">
              <a:buFont typeface="Arial" panose="020B0604020202020204" pitchFamily="34" charset="0"/>
              <a:buChar char="•"/>
            </a:pPr>
            <a:r>
              <a:rPr lang="en-US" dirty="0"/>
              <a:t>Good 2-min explanation of Gaussian Process:</a:t>
            </a:r>
            <a:br>
              <a:rPr lang="en-US" dirty="0"/>
            </a:br>
            <a:r>
              <a:rPr lang="en-US" dirty="0"/>
              <a:t> - </a:t>
            </a:r>
            <a:r>
              <a:rPr lang="en-US" dirty="0">
                <a:hlinkClick r:id="rId6"/>
              </a:rPr>
              <a:t>https://www.youtube.com/watch?v=mqOdIYxxNCs</a:t>
            </a:r>
            <a:r>
              <a:rPr lang="en-US" dirty="0"/>
              <a:t>   </a:t>
            </a:r>
          </a:p>
        </p:txBody>
      </p:sp>
    </p:spTree>
    <p:extLst>
      <p:ext uri="{BB962C8B-B14F-4D97-AF65-F5344CB8AC3E}">
        <p14:creationId xmlns:p14="http://schemas.microsoft.com/office/powerpoint/2010/main" val="22148972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11" name="TextBox 10">
            <a:extLst>
              <a:ext uri="{FF2B5EF4-FFF2-40B4-BE49-F238E27FC236}">
                <a16:creationId xmlns:a16="http://schemas.microsoft.com/office/drawing/2014/main" id="{2A85AADB-CA8B-934D-84A1-D6DA208D498F}"/>
              </a:ext>
            </a:extLst>
          </p:cNvPr>
          <p:cNvSpPr txBox="1"/>
          <p:nvPr/>
        </p:nvSpPr>
        <p:spPr>
          <a:xfrm>
            <a:off x="0" y="778920"/>
            <a:ext cx="6591300" cy="646331"/>
          </a:xfrm>
          <a:prstGeom prst="rect">
            <a:avLst/>
          </a:prstGeom>
          <a:noFill/>
        </p:spPr>
        <p:txBody>
          <a:bodyPr wrap="square" rtlCol="0">
            <a:spAutoFit/>
          </a:bodyPr>
          <a:lstStyle/>
          <a:p>
            <a:r>
              <a:rPr lang="en-US" dirty="0"/>
              <a:t>Jake </a:t>
            </a:r>
            <a:r>
              <a:rPr lang="en-US" dirty="0" err="1"/>
              <a:t>VanderPlas</a:t>
            </a:r>
            <a:r>
              <a:rPr lang="en-US" dirty="0"/>
              <a:t> (26 min lecture – and his blog) </a:t>
            </a:r>
          </a:p>
          <a:p>
            <a:r>
              <a:rPr lang="en-US" sz="1100" dirty="0"/>
              <a:t>  - </a:t>
            </a:r>
            <a:r>
              <a:rPr lang="en-US" sz="1100" dirty="0">
                <a:hlinkClick r:id="rId2"/>
              </a:rPr>
              <a:t>https://www.youtube.com/watch?v=KhAUfqhLakw</a:t>
            </a:r>
            <a:r>
              <a:rPr lang="en-US" sz="1100" dirty="0"/>
              <a:t> </a:t>
            </a:r>
          </a:p>
          <a:p>
            <a:r>
              <a:rPr lang="en-US" sz="1100" dirty="0"/>
              <a:t>  - </a:t>
            </a:r>
            <a:r>
              <a:rPr lang="en-US" sz="1100" dirty="0">
                <a:hlinkClick r:id="rId3"/>
              </a:rPr>
              <a:t>http://jakevdp.github.io/blog/2014/06/12/frequentism-and-bayesianism-3-confidence-credibility/</a:t>
            </a:r>
            <a:r>
              <a:rPr lang="en-US" sz="1100" dirty="0"/>
              <a:t> </a:t>
            </a:r>
          </a:p>
        </p:txBody>
      </p:sp>
      <p:pic>
        <p:nvPicPr>
          <p:cNvPr id="12" name="Picture 11">
            <a:extLst>
              <a:ext uri="{FF2B5EF4-FFF2-40B4-BE49-F238E27FC236}">
                <a16:creationId xmlns:a16="http://schemas.microsoft.com/office/drawing/2014/main" id="{7BC1EEDA-D36B-3745-8521-9723E046CF6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99070" y="4407378"/>
            <a:ext cx="3243065" cy="2347764"/>
          </a:xfrm>
          <a:prstGeom prst="rect">
            <a:avLst/>
          </a:prstGeom>
        </p:spPr>
      </p:pic>
      <p:pic>
        <p:nvPicPr>
          <p:cNvPr id="13" name="Picture 12">
            <a:extLst>
              <a:ext uri="{FF2B5EF4-FFF2-40B4-BE49-F238E27FC236}">
                <a16:creationId xmlns:a16="http://schemas.microsoft.com/office/drawing/2014/main" id="{756ED8DC-2BE1-094A-8A81-44CA1481AF2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1534" y="4407378"/>
            <a:ext cx="3156438" cy="2347764"/>
          </a:xfrm>
          <a:prstGeom prst="rect">
            <a:avLst/>
          </a:prstGeom>
        </p:spPr>
      </p:pic>
      <p:pic>
        <p:nvPicPr>
          <p:cNvPr id="14" name="Picture 13">
            <a:extLst>
              <a:ext uri="{FF2B5EF4-FFF2-40B4-BE49-F238E27FC236}">
                <a16:creationId xmlns:a16="http://schemas.microsoft.com/office/drawing/2014/main" id="{6CFCE086-5AD0-8344-AE93-F843BE43AD52}"/>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79015" y="4407378"/>
            <a:ext cx="3059546" cy="2347764"/>
          </a:xfrm>
          <a:prstGeom prst="rect">
            <a:avLst/>
          </a:prstGeom>
        </p:spPr>
      </p:pic>
      <p:sp>
        <p:nvSpPr>
          <p:cNvPr id="2" name="TextBox 1">
            <a:extLst>
              <a:ext uri="{FF2B5EF4-FFF2-40B4-BE49-F238E27FC236}">
                <a16:creationId xmlns:a16="http://schemas.microsoft.com/office/drawing/2014/main" id="{1B7E5E53-FD25-1743-9C2C-515C3CCE6CCD}"/>
              </a:ext>
            </a:extLst>
          </p:cNvPr>
          <p:cNvSpPr txBox="1"/>
          <p:nvPr/>
        </p:nvSpPr>
        <p:spPr>
          <a:xfrm>
            <a:off x="987858" y="3994984"/>
            <a:ext cx="1338363" cy="307777"/>
          </a:xfrm>
          <a:prstGeom prst="rect">
            <a:avLst/>
          </a:prstGeom>
          <a:noFill/>
        </p:spPr>
        <p:txBody>
          <a:bodyPr wrap="square" rtlCol="0">
            <a:spAutoFit/>
          </a:bodyPr>
          <a:lstStyle/>
          <a:p>
            <a:r>
              <a:rPr lang="en-US" b="1" dirty="0">
                <a:solidFill>
                  <a:srgbClr val="FF0000"/>
                </a:solidFill>
              </a:rPr>
              <a:t>Observations</a:t>
            </a:r>
          </a:p>
        </p:txBody>
      </p:sp>
      <p:sp>
        <p:nvSpPr>
          <p:cNvPr id="3" name="TextBox 2">
            <a:extLst>
              <a:ext uri="{FF2B5EF4-FFF2-40B4-BE49-F238E27FC236}">
                <a16:creationId xmlns:a16="http://schemas.microsoft.com/office/drawing/2014/main" id="{650AEA09-D359-3F4C-ADEB-940C7824EFEA}"/>
              </a:ext>
            </a:extLst>
          </p:cNvPr>
          <p:cNvSpPr txBox="1"/>
          <p:nvPr/>
        </p:nvSpPr>
        <p:spPr>
          <a:xfrm>
            <a:off x="0" y="1520268"/>
            <a:ext cx="7257972" cy="2246769"/>
          </a:xfrm>
          <a:prstGeom prst="rect">
            <a:avLst/>
          </a:prstGeom>
          <a:noFill/>
        </p:spPr>
        <p:txBody>
          <a:bodyPr wrap="square" rtlCol="0">
            <a:spAutoFit/>
          </a:bodyPr>
          <a:lstStyle/>
          <a:p>
            <a:r>
              <a:rPr lang="en-US" b="1" dirty="0">
                <a:solidFill>
                  <a:srgbClr val="00B050"/>
                </a:solidFill>
              </a:rPr>
              <a:t>Example - truncated exponential.</a:t>
            </a:r>
            <a:br>
              <a:rPr lang="en-US" dirty="0"/>
            </a:br>
            <a:r>
              <a:rPr lang="en-US" dirty="0"/>
              <a:t>You observe times of failures of something.</a:t>
            </a:r>
          </a:p>
          <a:p>
            <a:r>
              <a:rPr lang="en-US" dirty="0"/>
              <a:t>For time "</a:t>
            </a:r>
            <a:r>
              <a:rPr lang="el-GR" dirty="0"/>
              <a:t>θ</a:t>
            </a:r>
            <a:r>
              <a:rPr lang="en-US" dirty="0"/>
              <a:t>" there were no failures because the "device" is protected. </a:t>
            </a:r>
          </a:p>
          <a:p>
            <a:r>
              <a:rPr lang="en-US" dirty="0" err="1"/>
              <a:t>SUppose</a:t>
            </a:r>
            <a:r>
              <a:rPr lang="en-US" dirty="0"/>
              <a:t> you have three times of failure – {10,12,15}</a:t>
            </a:r>
          </a:p>
          <a:p>
            <a:r>
              <a:rPr lang="en-US" dirty="0"/>
              <a:t>You need to estimate value of "</a:t>
            </a:r>
            <a:r>
              <a:rPr lang="el-GR" dirty="0"/>
              <a:t>θ</a:t>
            </a:r>
            <a:r>
              <a:rPr lang="en-US" dirty="0"/>
              <a:t>".</a:t>
            </a:r>
          </a:p>
          <a:p>
            <a:r>
              <a:rPr lang="en-US" dirty="0"/>
              <a:t>Naturally it should be less than smallest data point, that it &lt; 10.</a:t>
            </a:r>
          </a:p>
          <a:p>
            <a:r>
              <a:rPr lang="en-US" dirty="0"/>
              <a:t>Frequentist approach just "averages" the observed values, </a:t>
            </a:r>
          </a:p>
          <a:p>
            <a:r>
              <a:rPr lang="en-US" dirty="0"/>
              <a:t>and gives range 10.2 - 12.2, which is wrong.</a:t>
            </a:r>
          </a:p>
          <a:p>
            <a:endParaRPr lang="en-US" dirty="0"/>
          </a:p>
          <a:p>
            <a:r>
              <a:rPr lang="en-US" dirty="0"/>
              <a:t>Bayesian approach with subjective flat prior gives interval 9.0 - 10.0 min, which is correct.</a:t>
            </a:r>
          </a:p>
        </p:txBody>
      </p:sp>
      <p:pic>
        <p:nvPicPr>
          <p:cNvPr id="5" name="Picture 4">
            <a:extLst>
              <a:ext uri="{FF2B5EF4-FFF2-40B4-BE49-F238E27FC236}">
                <a16:creationId xmlns:a16="http://schemas.microsoft.com/office/drawing/2014/main" id="{6FE4EB9A-6EB9-2542-835F-97BCA447F233}"/>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478248" y="102359"/>
            <a:ext cx="4621671" cy="2558779"/>
          </a:xfrm>
          <a:prstGeom prst="rect">
            <a:avLst/>
          </a:prstGeom>
        </p:spPr>
      </p:pic>
      <p:sp>
        <p:nvSpPr>
          <p:cNvPr id="10" name="TextBox 9">
            <a:extLst>
              <a:ext uri="{FF2B5EF4-FFF2-40B4-BE49-F238E27FC236}">
                <a16:creationId xmlns:a16="http://schemas.microsoft.com/office/drawing/2014/main" id="{8D69AEEA-F894-8445-A7AF-678B66CA726E}"/>
              </a:ext>
            </a:extLst>
          </p:cNvPr>
          <p:cNvSpPr txBox="1"/>
          <p:nvPr/>
        </p:nvSpPr>
        <p:spPr>
          <a:xfrm>
            <a:off x="5010571" y="3994983"/>
            <a:ext cx="1338363" cy="307777"/>
          </a:xfrm>
          <a:prstGeom prst="rect">
            <a:avLst/>
          </a:prstGeom>
          <a:noFill/>
        </p:spPr>
        <p:txBody>
          <a:bodyPr wrap="square" rtlCol="0">
            <a:spAutoFit/>
          </a:bodyPr>
          <a:lstStyle/>
          <a:p>
            <a:r>
              <a:rPr lang="en-US" b="1" dirty="0">
                <a:solidFill>
                  <a:srgbClr val="FF0000"/>
                </a:solidFill>
              </a:rPr>
              <a:t>Frequentist</a:t>
            </a:r>
          </a:p>
        </p:txBody>
      </p:sp>
      <p:sp>
        <p:nvSpPr>
          <p:cNvPr id="15" name="TextBox 14">
            <a:extLst>
              <a:ext uri="{FF2B5EF4-FFF2-40B4-BE49-F238E27FC236}">
                <a16:creationId xmlns:a16="http://schemas.microsoft.com/office/drawing/2014/main" id="{875BB597-953E-9E44-8B87-FA12DE7218C4}"/>
              </a:ext>
            </a:extLst>
          </p:cNvPr>
          <p:cNvSpPr txBox="1"/>
          <p:nvPr/>
        </p:nvSpPr>
        <p:spPr>
          <a:xfrm>
            <a:off x="8256653" y="3994984"/>
            <a:ext cx="1338363" cy="307777"/>
          </a:xfrm>
          <a:prstGeom prst="rect">
            <a:avLst/>
          </a:prstGeom>
          <a:noFill/>
        </p:spPr>
        <p:txBody>
          <a:bodyPr wrap="square" rtlCol="0">
            <a:spAutoFit/>
          </a:bodyPr>
          <a:lstStyle/>
          <a:p>
            <a:r>
              <a:rPr lang="en-US" b="1" dirty="0" err="1">
                <a:solidFill>
                  <a:srgbClr val="FF0000"/>
                </a:solidFill>
              </a:rPr>
              <a:t>Bayessian</a:t>
            </a:r>
            <a:endParaRPr lang="en-US" b="1" dirty="0">
              <a:solidFill>
                <a:srgbClr val="FF0000"/>
              </a:solidFill>
            </a:endParaRPr>
          </a:p>
        </p:txBody>
      </p:sp>
    </p:spTree>
    <p:extLst>
      <p:ext uri="{BB962C8B-B14F-4D97-AF65-F5344CB8AC3E}">
        <p14:creationId xmlns:p14="http://schemas.microsoft.com/office/powerpoint/2010/main" val="27288979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675</TotalTime>
  <Words>2833</Words>
  <Application>Microsoft Macintosh PowerPoint</Application>
  <PresentationFormat>Widescreen</PresentationFormat>
  <Paragraphs>278</Paragraphs>
  <Slides>12</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 Math</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63</cp:revision>
  <dcterms:modified xsi:type="dcterms:W3CDTF">2021-05-01T17:38:21Z</dcterms:modified>
</cp:coreProperties>
</file>