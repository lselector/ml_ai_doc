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0"/>
  </p:notesMasterIdLst>
  <p:sldIdLst>
    <p:sldId id="256" r:id="rId2"/>
    <p:sldId id="257" r:id="rId3"/>
    <p:sldId id="260" r:id="rId4"/>
    <p:sldId id="258" r:id="rId5"/>
    <p:sldId id="259" r:id="rId6"/>
    <p:sldId id="291" r:id="rId7"/>
    <p:sldId id="263" r:id="rId8"/>
    <p:sldId id="262"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63"/>
    <p:restoredTop sz="94732"/>
  </p:normalViewPr>
  <p:slideViewPr>
    <p:cSldViewPr snapToGrid="0">
      <p:cViewPr varScale="1">
        <p:scale>
          <a:sx n="97" d="100"/>
          <a:sy n="97" d="100"/>
        </p:scale>
        <p:origin x="68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vier Valderrama" userId="S::javier.valderrama@nationaldebtrelief.com::4c07f5f7-6816-4e17-a145-d1bcaae26731" providerId="AD" clId="Web-{2A5AFB3E-5A76-6412-34B2-0286C53A7609}"/>
  </pc:docChgLst>
  <pc:docChgLst>
    <pc:chgData name="Lev Selector" userId="314cf8c1-d356-4160-b242-72dee3bb7a46" providerId="ADAL" clId="{8C9BD69C-BC63-A845-A806-EC4BD0D69649}"/>
  </pc:docChgLst>
  <pc:docChgLst>
    <pc:chgData name="Lev Selector" userId="314cf8c1-d356-4160-b242-72dee3bb7a46" providerId="ADAL" clId="{4CBB6E57-5808-8F48-8E34-7993863C1B7B}"/>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1070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24301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8192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91425" rIns="91425" bIns="91425" anchor="t" anchorCtr="0"/>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watch?v=CPqOCI0ahss"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tiff"/><Relationship Id="rId4" Type="http://schemas.openxmlformats.org/officeDocument/2006/relationships/hyperlink" Target="https://www.geeksforgeeks.org/naive-bayes-classifiers/"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tiff"/></Relationships>
</file>

<file path=ppt/slides/_rels/slide6.xml.rels><?xml version="1.0" encoding="UTF-8" standalone="yes"?>
<Relationships xmlns="http://schemas.openxmlformats.org/package/2006/relationships"><Relationship Id="rId2" Type="http://schemas.openxmlformats.org/officeDocument/2006/relationships/hyperlink" Target="https://www.youtube.com/watch?v=R6d-AbkhBQ8"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p60-Jdq754A" TargetMode="External"/><Relationship Id="rId2" Type="http://schemas.openxmlformats.org/officeDocument/2006/relationships/hyperlink" Target="https://www.youtube.com/watch?v=B3YQJ5DwTzM" TargetMode="External"/><Relationship Id="rId1" Type="http://schemas.openxmlformats.org/officeDocument/2006/relationships/slideLayout" Target="../slideLayouts/slideLayout2.xml"/><Relationship Id="rId6" Type="http://schemas.openxmlformats.org/officeDocument/2006/relationships/image" Target="../media/image7.tiff"/><Relationship Id="rId5" Type="http://schemas.openxmlformats.org/officeDocument/2006/relationships/hyperlink" Target="https://www.youtube.com/watch?v=y8qaI5mpJeA" TargetMode="External"/><Relationship Id="rId4" Type="http://schemas.openxmlformats.org/officeDocument/2006/relationships/hyperlink" Target="https://www.youtube.com/watch?v=Gi4YeRqfb24"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youtube.com/watch?v=KhAUfqhLakw" TargetMode="Externa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8" name="Google Shape;88;p13"/>
              <p:cNvSpPr txBox="1"/>
              <p:nvPr/>
            </p:nvSpPr>
            <p:spPr>
              <a:xfrm>
                <a:off x="45811" y="978513"/>
                <a:ext cx="6187097" cy="2739291"/>
              </a:xfrm>
              <a:prstGeom prst="rect">
                <a:avLst/>
              </a:prstGeom>
              <a:noFill/>
              <a:ln w="63500"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i="0" u="none" strike="noStrike" cap="none" dirty="0">
                    <a:solidFill>
                      <a:srgbClr val="0070C0"/>
                    </a:solidFill>
                    <a:latin typeface="Calibri"/>
                    <a:ea typeface="Calibri"/>
                    <a:cs typeface="Calibri"/>
                    <a:sym typeface="Calibri"/>
                  </a:rPr>
                  <a:t>Bayes’ Theorem </a:t>
                </a:r>
                <a:r>
                  <a:rPr lang="en-US" sz="2000" b="0" i="0" u="none" strike="noStrike" cap="none" dirty="0">
                    <a:solidFill>
                      <a:schemeClr val="dk1"/>
                    </a:solidFill>
                    <a:latin typeface="Calibri"/>
                    <a:ea typeface="Calibri"/>
                    <a:cs typeface="Calibri"/>
                    <a:sym typeface="Calibri"/>
                  </a:rPr>
                  <a:t>(conditional probability)</a:t>
                </a:r>
              </a:p>
              <a:p>
                <a:pPr marL="0" marR="0" lvl="0" indent="0" algn="l" rtl="0">
                  <a:spcBef>
                    <a:spcPts val="0"/>
                  </a:spcBef>
                  <a:spcAft>
                    <a:spcPts val="0"/>
                  </a:spcAft>
                  <a:buNone/>
                </a:pPr>
                <a:endParaRPr lang="en-US" sz="2000" b="0" i="0" u="none" strike="noStrike" cap="none" dirty="0">
                  <a:solidFill>
                    <a:schemeClr val="dk1"/>
                  </a:solidFill>
                  <a:latin typeface="Calibri"/>
                  <a:ea typeface="Calibri"/>
                  <a:cs typeface="Calibri"/>
                  <a:sym typeface="Calibri"/>
                </a:endParaRPr>
              </a:p>
              <a:p>
                <a:pPr/>
                <a14:m>
                  <m:oMathPara xmlns:m="http://schemas.openxmlformats.org/officeDocument/2006/math">
                    <m:oMathParaPr>
                      <m:jc m:val="center"/>
                    </m:oMathParaPr>
                    <m:oMath xmlns:m="http://schemas.openxmlformats.org/officeDocument/2006/math">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 = </m:t>
                      </m:r>
                      <m:f>
                        <m:fPr>
                          <m:ctrlPr>
                            <a:rPr lang="en-US" b="1" i="1">
                              <a:latin typeface="Cambria Math" panose="02040503050406030204" pitchFamily="18" charset="0"/>
                            </a:rPr>
                          </m:ctrlPr>
                        </m:fPr>
                        <m:num>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 ∗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m:t>
                          </m:r>
                        </m:num>
                        <m:den>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m:t>
                          </m:r>
                        </m:den>
                      </m:f>
                    </m:oMath>
                  </m:oMathPara>
                </a14:m>
                <a:endParaRPr lang="en-US" dirty="0"/>
              </a:p>
              <a:p>
                <a:pPr marL="0" marR="0" lvl="0" indent="0" algn="l" rtl="0">
                  <a:spcBef>
                    <a:spcPts val="0"/>
                  </a:spcBef>
                  <a:spcAft>
                    <a:spcPts val="0"/>
                  </a:spcAft>
                  <a:buNone/>
                </a:pPr>
                <a:r>
                  <a:rPr lang="en-US" sz="2000" dirty="0">
                    <a:solidFill>
                      <a:schemeClr val="dk1"/>
                    </a:solidFill>
                    <a:latin typeface="Calibri"/>
                    <a:cs typeface="Calibri"/>
                    <a:sym typeface="Calibri"/>
                  </a:rPr>
                  <a:t>or</a:t>
                </a:r>
              </a:p>
              <a:p>
                <a:pPr algn="ctr"/>
                <a:r>
                  <a:rPr lang="en-US" sz="2000" dirty="0">
                    <a:solidFill>
                      <a:schemeClr val="dk1"/>
                    </a:solidFill>
                    <a:latin typeface="Calibri"/>
                    <a:cs typeface="Calibri"/>
                    <a:sym typeface="Calibri"/>
                  </a:rPr>
                  <a:t>     </a:t>
                </a:r>
                <a14:m>
                  <m:oMath xmlns:m="http://schemas.openxmlformats.org/officeDocument/2006/math">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 =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 ∗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m:t>
                    </m:r>
                  </m:oMath>
                </a14:m>
                <a:endParaRPr lang="en-US" dirty="0"/>
              </a:p>
              <a:p>
                <a:pPr marL="0" marR="0" lvl="0" indent="0" algn="l" rtl="0">
                  <a:spcBef>
                    <a:spcPts val="0"/>
                  </a:spcBef>
                  <a:spcAft>
                    <a:spcPts val="0"/>
                  </a:spcAft>
                  <a:buNone/>
                </a:pPr>
                <a:endParaRPr lang="en-US" sz="2000" dirty="0">
                  <a:solidFill>
                    <a:schemeClr val="dk1"/>
                  </a:solidFill>
                  <a:latin typeface="Calibri"/>
                  <a:cs typeface="Calibri"/>
                  <a:sym typeface="Calibri"/>
                </a:endParaRPr>
              </a:p>
              <a:p>
                <a:pPr marL="0" marR="0" lvl="0" indent="0" algn="l" rtl="0">
                  <a:spcBef>
                    <a:spcPts val="0"/>
                  </a:spcBef>
                  <a:spcAft>
                    <a:spcPts val="0"/>
                  </a:spcAft>
                  <a:buNone/>
                </a:pPr>
                <a:r>
                  <a:rPr lang="en-US" sz="2400" b="0" i="0" u="none" strike="noStrike" cap="none" dirty="0">
                    <a:solidFill>
                      <a:schemeClr val="dk1"/>
                    </a:solidFill>
                    <a:latin typeface="Calibri"/>
                    <a:ea typeface="Calibri"/>
                    <a:cs typeface="Calibri"/>
                    <a:sym typeface="Calibri"/>
                  </a:rPr>
                  <a:t>where A and B are events, and P(B) not equal 0.</a:t>
                </a:r>
                <a:endParaRPr sz="2400" b="0" i="0" u="none" strike="noStrike" cap="none" dirty="0">
                  <a:solidFill>
                    <a:schemeClr val="dk1"/>
                  </a:solidFill>
                  <a:latin typeface="Calibri"/>
                  <a:ea typeface="Calibri"/>
                  <a:cs typeface="Calibri"/>
                  <a:sym typeface="Calibri"/>
                </a:endParaRPr>
              </a:p>
            </p:txBody>
          </p:sp>
        </mc:Choice>
        <mc:Fallback xmlns="">
          <p:sp>
            <p:nvSpPr>
              <p:cNvPr id="88" name="Google Shape;88;p13"/>
              <p:cNvSpPr txBox="1">
                <a:spLocks noRot="1" noChangeAspect="1" noMove="1" noResize="1" noEditPoints="1" noAdjustHandles="1" noChangeArrowheads="1" noChangeShapeType="1" noTextEdit="1"/>
              </p:cNvSpPr>
              <p:nvPr/>
            </p:nvSpPr>
            <p:spPr>
              <a:xfrm>
                <a:off x="45811" y="978513"/>
                <a:ext cx="6187097" cy="2739291"/>
              </a:xfrm>
              <a:prstGeom prst="rect">
                <a:avLst/>
              </a:prstGeom>
              <a:blipFill>
                <a:blip r:embed="rId3"/>
                <a:stretch>
                  <a:fillRect l="-2051" t="-1743"/>
                </a:stretch>
              </a:blipFill>
              <a:ln w="63500" cap="flat" cmpd="sng">
                <a:solidFill>
                  <a:schemeClr val="accent6"/>
                </a:solidFill>
                <a:prstDash val="solid"/>
                <a:round/>
                <a:headEnd type="none" w="sm" len="sm"/>
                <a:tailEnd type="none" w="sm" len="sm"/>
              </a:ln>
            </p:spPr>
            <p:txBody>
              <a:bodyPr/>
              <a:lstStyle/>
              <a:p>
                <a:r>
                  <a:rPr lang="en-US">
                    <a:noFill/>
                  </a:rPr>
                  <a:t> </a:t>
                </a:r>
              </a:p>
            </p:txBody>
          </p:sp>
        </mc:Fallback>
      </mc:AlternateContent>
      <p:sp>
        <p:nvSpPr>
          <p:cNvPr id="89" name="Google Shape;89;p13"/>
          <p:cNvSpPr txBox="1"/>
          <p:nvPr/>
        </p:nvSpPr>
        <p:spPr>
          <a:xfrm>
            <a:off x="6532782" y="3589349"/>
            <a:ext cx="5637488" cy="327820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0" i="0" u="none" strike="noStrike" cap="none" dirty="0">
                <a:solidFill>
                  <a:schemeClr val="dk1"/>
                </a:solidFill>
                <a:latin typeface="Calibri"/>
                <a:ea typeface="Calibri"/>
                <a:cs typeface="Calibri"/>
                <a:sym typeface="Calibri"/>
              </a:rPr>
              <a:t>Intuitive explanation of Bayesian rule (on the left). </a:t>
            </a:r>
          </a:p>
          <a:p>
            <a:pPr marL="0" marR="0" lvl="0" indent="0" algn="l" rtl="0">
              <a:spcBef>
                <a:spcPts val="0"/>
              </a:spcBef>
              <a:spcAft>
                <a:spcPts val="0"/>
              </a:spcAft>
              <a:buNone/>
            </a:pPr>
            <a:r>
              <a:rPr lang="en-US" sz="1800" dirty="0">
                <a:solidFill>
                  <a:schemeClr val="dk1"/>
                </a:solidFill>
                <a:latin typeface="Calibri"/>
                <a:cs typeface="Calibri"/>
                <a:sym typeface="Calibri"/>
              </a:rPr>
              <a:t>A = Happy, B = Rich</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P(A) = 40% = probability of being happy (Yellow)</a:t>
            </a: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P(B) = 5% = probability of being rich (Blue)</a:t>
            </a: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P(A &amp; B) = 4% = probability of rich &amp; happy (Green)</a:t>
            </a: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P(B|A) = 10% = probability of being rich given that Happy</a:t>
            </a: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P(A|B) = 80% = probability of being happy given that rich</a:t>
            </a:r>
          </a:p>
          <a:p>
            <a:pPr marL="0" marR="0" lvl="0" indent="0" algn="l" rtl="0">
              <a:spcBef>
                <a:spcPts val="0"/>
              </a:spcBef>
              <a:spcAft>
                <a:spcPts val="0"/>
              </a:spcAft>
              <a:buNone/>
            </a:pPr>
            <a:endParaRPr lang="en-US"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You can calculate green intersection using two methods:</a:t>
            </a: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P(A|B)*P(B) = 80%*5% = 4%</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P(B|A)*P(A) = 10%*40% = 4%</a:t>
            </a:r>
          </a:p>
        </p:txBody>
      </p:sp>
      <p:sp>
        <p:nvSpPr>
          <p:cNvPr id="90" name="Google Shape;90;p13"/>
          <p:cNvSpPr txBox="1"/>
          <p:nvPr/>
        </p:nvSpPr>
        <p:spPr>
          <a:xfrm>
            <a:off x="93257" y="-77443"/>
            <a:ext cx="7972927" cy="95410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dirty="0">
                <a:solidFill>
                  <a:srgbClr val="0070C0"/>
                </a:solidFill>
                <a:latin typeface="Calibri"/>
                <a:ea typeface="Calibri"/>
                <a:cs typeface="Calibri"/>
                <a:sym typeface="Calibri"/>
              </a:rPr>
              <a:t>Bayesian inference - </a:t>
            </a:r>
            <a:r>
              <a:rPr lang="en-US" sz="2800" dirty="0">
                <a:solidFill>
                  <a:srgbClr val="0070C0"/>
                </a:solidFill>
                <a:latin typeface="Calibri"/>
                <a:ea typeface="Calibri"/>
                <a:cs typeface="Calibri"/>
                <a:sym typeface="Calibri"/>
              </a:rPr>
              <a:t>calculate probability</a:t>
            </a:r>
            <a:endParaRPr dirty="0"/>
          </a:p>
          <a:p>
            <a:pPr marL="0" marR="0" lvl="0" indent="0" algn="l" rtl="0">
              <a:spcBef>
                <a:spcPts val="0"/>
              </a:spcBef>
              <a:spcAft>
                <a:spcPts val="0"/>
              </a:spcAft>
              <a:buNone/>
            </a:pPr>
            <a:r>
              <a:rPr lang="en-US" sz="2800" dirty="0">
                <a:solidFill>
                  <a:srgbClr val="0070C0"/>
                </a:solidFill>
                <a:latin typeface="Calibri"/>
                <a:ea typeface="Calibri"/>
                <a:cs typeface="Calibri"/>
                <a:sym typeface="Calibri"/>
              </a:rPr>
              <a:t>following chains of dependencies or correlations</a:t>
            </a:r>
            <a:endParaRPr dirty="0"/>
          </a:p>
        </p:txBody>
      </p:sp>
      <p:sp>
        <p:nvSpPr>
          <p:cNvPr id="91" name="Google Shape;91;p13"/>
          <p:cNvSpPr txBox="1"/>
          <p:nvPr/>
        </p:nvSpPr>
        <p:spPr>
          <a:xfrm>
            <a:off x="10587787" y="2213811"/>
            <a:ext cx="1588170"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Thomas Bayes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(1701–1761)</a:t>
            </a:r>
            <a:endParaRPr sz="1800">
              <a:solidFill>
                <a:schemeClr val="dk1"/>
              </a:solidFill>
              <a:latin typeface="Calibri"/>
              <a:ea typeface="Calibri"/>
              <a:cs typeface="Calibri"/>
              <a:sym typeface="Calibri"/>
            </a:endParaRPr>
          </a:p>
        </p:txBody>
      </p:sp>
      <p:pic>
        <p:nvPicPr>
          <p:cNvPr id="92" name="Google Shape;92;p13"/>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351783" y="0"/>
            <a:ext cx="1818487" cy="2213811"/>
          </a:xfrm>
          <a:prstGeom prst="rect">
            <a:avLst/>
          </a:prstGeom>
          <a:noFill/>
          <a:ln>
            <a:noFill/>
          </a:ln>
        </p:spPr>
      </p:pic>
      <p:sp>
        <p:nvSpPr>
          <p:cNvPr id="96" name="Google Shape;96;p13"/>
          <p:cNvSpPr/>
          <p:nvPr/>
        </p:nvSpPr>
        <p:spPr>
          <a:xfrm>
            <a:off x="523454" y="4272171"/>
            <a:ext cx="4588042" cy="2229852"/>
          </a:xfrm>
          <a:prstGeom prst="rect">
            <a:avLst/>
          </a:prstGeom>
          <a:solidFill>
            <a:srgbClr val="FBE4D4"/>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 name="Google Shape;97;p13"/>
          <p:cNvSpPr/>
          <p:nvPr/>
        </p:nvSpPr>
        <p:spPr>
          <a:xfrm>
            <a:off x="1166937" y="4576971"/>
            <a:ext cx="3224463" cy="1764631"/>
          </a:xfrm>
          <a:prstGeom prst="ellipse">
            <a:avLst/>
          </a:prstGeom>
          <a:solidFill>
            <a:srgbClr val="FFC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 name="Google Shape;98;p13"/>
          <p:cNvSpPr/>
          <p:nvPr/>
        </p:nvSpPr>
        <p:spPr>
          <a:xfrm>
            <a:off x="3342855" y="5008818"/>
            <a:ext cx="1397874" cy="900935"/>
          </a:xfrm>
          <a:prstGeom prst="ellipse">
            <a:avLst/>
          </a:prstGeom>
          <a:solidFill>
            <a:srgbClr val="00B0F0">
              <a:alpha val="40784"/>
            </a:srgbClr>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 name="Google Shape;99;p13"/>
          <p:cNvSpPr txBox="1"/>
          <p:nvPr/>
        </p:nvSpPr>
        <p:spPr>
          <a:xfrm>
            <a:off x="2068401" y="5008818"/>
            <a:ext cx="1274454" cy="90093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dirty="0">
                <a:solidFill>
                  <a:srgbClr val="FF0000"/>
                </a:solidFill>
                <a:latin typeface="Calibri"/>
                <a:ea typeface="Calibri"/>
                <a:cs typeface="Calibri"/>
                <a:sym typeface="Calibri"/>
              </a:rPr>
              <a:t>A</a:t>
            </a:r>
          </a:p>
          <a:p>
            <a:pPr marL="0" marR="0" lvl="0" indent="0" algn="l" rtl="0">
              <a:spcBef>
                <a:spcPts val="0"/>
              </a:spcBef>
              <a:spcAft>
                <a:spcPts val="0"/>
              </a:spcAft>
              <a:buNone/>
            </a:pPr>
            <a:r>
              <a:rPr lang="en-US" sz="2400" b="1" dirty="0">
                <a:solidFill>
                  <a:srgbClr val="FF0000"/>
                </a:solidFill>
                <a:latin typeface="Calibri"/>
                <a:ea typeface="Calibri"/>
                <a:cs typeface="Calibri"/>
                <a:sym typeface="Calibri"/>
              </a:rPr>
              <a:t>Happy</a:t>
            </a:r>
            <a:endParaRPr sz="2400" b="1" dirty="0">
              <a:solidFill>
                <a:srgbClr val="FF0000"/>
              </a:solidFill>
              <a:latin typeface="Calibri"/>
              <a:ea typeface="Calibri"/>
              <a:cs typeface="Calibri"/>
              <a:sym typeface="Calibri"/>
            </a:endParaRPr>
          </a:p>
        </p:txBody>
      </p:sp>
      <p:sp>
        <p:nvSpPr>
          <p:cNvPr id="100" name="Google Shape;100;p13"/>
          <p:cNvSpPr txBox="1"/>
          <p:nvPr/>
        </p:nvSpPr>
        <p:spPr>
          <a:xfrm>
            <a:off x="3903802" y="5014208"/>
            <a:ext cx="1083013" cy="74577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dirty="0">
                <a:solidFill>
                  <a:srgbClr val="FF0000"/>
                </a:solidFill>
                <a:latin typeface="Calibri"/>
                <a:ea typeface="Calibri"/>
                <a:cs typeface="Calibri"/>
                <a:sym typeface="Calibri"/>
              </a:rPr>
              <a:t>B</a:t>
            </a:r>
          </a:p>
          <a:p>
            <a:pPr marL="0" marR="0" lvl="0" indent="0" algn="l" rtl="0">
              <a:spcBef>
                <a:spcPts val="0"/>
              </a:spcBef>
              <a:spcAft>
                <a:spcPts val="0"/>
              </a:spcAft>
              <a:buNone/>
            </a:pPr>
            <a:r>
              <a:rPr lang="en-US" sz="2400" b="1" dirty="0">
                <a:solidFill>
                  <a:srgbClr val="FF0000"/>
                </a:solidFill>
                <a:latin typeface="Calibri"/>
                <a:ea typeface="Calibri"/>
                <a:cs typeface="Calibri"/>
                <a:sym typeface="Calibri"/>
              </a:rPr>
              <a:t>Rich</a:t>
            </a:r>
            <a:endParaRPr sz="2400" b="1" dirty="0">
              <a:solidFill>
                <a:srgbClr val="FF0000"/>
              </a:solidFill>
              <a:latin typeface="Calibri"/>
              <a:ea typeface="Calibri"/>
              <a:cs typeface="Calibri"/>
              <a:sym typeface="Calibri"/>
            </a:endParaRPr>
          </a:p>
        </p:txBody>
      </p:sp>
      <p:sp>
        <p:nvSpPr>
          <p:cNvPr id="101" name="Google Shape;101;p13"/>
          <p:cNvSpPr txBox="1"/>
          <p:nvPr/>
        </p:nvSpPr>
        <p:spPr>
          <a:xfrm>
            <a:off x="3693291" y="4254614"/>
            <a:ext cx="1530878"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dirty="0">
                <a:solidFill>
                  <a:srgbClr val="FF0000"/>
                </a:solidFill>
                <a:latin typeface="Calibri"/>
                <a:ea typeface="Calibri"/>
                <a:cs typeface="Calibri"/>
                <a:sym typeface="Calibri"/>
              </a:rPr>
              <a:t>All People</a:t>
            </a:r>
            <a:endParaRPr sz="2400" b="1" dirty="0">
              <a:solidFill>
                <a:srgbClr val="FF0000"/>
              </a:solidFill>
              <a:latin typeface="Calibri"/>
              <a:ea typeface="Calibri"/>
              <a:cs typeface="Calibri"/>
              <a:sym typeface="Calibri"/>
            </a:endParaRPr>
          </a:p>
        </p:txBody>
      </p:sp>
      <p:pic>
        <p:nvPicPr>
          <p:cNvPr id="17" name="Google Shape;102;p13">
            <a:extLst>
              <a:ext uri="{FF2B5EF4-FFF2-40B4-BE49-F238E27FC236}">
                <a16:creationId xmlns:a16="http://schemas.microsoft.com/office/drawing/2014/main" id="{5D5E0C1C-95DE-384B-AD65-D49C976EA70D}"/>
              </a:ext>
            </a:extLst>
          </p:cNvPr>
          <p:cNvPicPr preferRelativeResize="0"/>
          <p:nvPr/>
        </p:nvPicPr>
        <p:blipFill rotWithShape="1">
          <a:blip r:embed="rId5">
            <a:alphaModFix/>
          </a:blip>
          <a:srcRect/>
          <a:stretch/>
        </p:blipFill>
        <p:spPr>
          <a:xfrm>
            <a:off x="6903091" y="1553411"/>
            <a:ext cx="2946400" cy="660400"/>
          </a:xfrm>
          <a:prstGeom prst="rect">
            <a:avLst/>
          </a:prstGeom>
          <a:noFill/>
          <a:ln w="50800" cap="flat" cmpd="sng">
            <a:solidFill>
              <a:srgbClr val="00B050"/>
            </a:solidFill>
            <a:prstDash val="solid"/>
            <a:round/>
            <a:headEnd type="none" w="sm" len="sm"/>
            <a:tailEnd type="none" w="sm" len="sm"/>
          </a:ln>
        </p:spPr>
      </p:pic>
    </p:spTree>
    <p:extLst>
      <p:ext uri="{BB962C8B-B14F-4D97-AF65-F5344CB8AC3E}">
        <p14:creationId xmlns:p14="http://schemas.microsoft.com/office/powerpoint/2010/main" val="531636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8" name="Google Shape;108;p14"/>
          <p:cNvSpPr txBox="1"/>
          <p:nvPr/>
        </p:nvSpPr>
        <p:spPr>
          <a:xfrm>
            <a:off x="9397" y="33382"/>
            <a:ext cx="8128763" cy="337456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dirty="0">
                <a:solidFill>
                  <a:schemeClr val="dk1"/>
                </a:solidFill>
                <a:latin typeface="Calibri"/>
                <a:ea typeface="Calibri"/>
                <a:cs typeface="Calibri"/>
                <a:sym typeface="Calibri"/>
              </a:rPr>
              <a:t>Naive Bayes Classifiers </a:t>
            </a:r>
            <a:endParaRPr sz="3200" b="1"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Simple probabilistic classifiers based on applying Bayes' theorem. </a:t>
            </a:r>
          </a:p>
          <a:p>
            <a:pPr lvl="0"/>
            <a:r>
              <a:rPr lang="en-US" sz="1800" dirty="0">
                <a:solidFill>
                  <a:schemeClr val="dk1"/>
                </a:solidFill>
                <a:latin typeface="Calibri"/>
                <a:ea typeface="Calibri"/>
                <a:cs typeface="Calibri"/>
                <a:sym typeface="Calibri"/>
              </a:rPr>
              <a:t>The main "Naive" assumption is that although individual features may </a:t>
            </a:r>
            <a:r>
              <a:rPr lang="en-US" sz="1800">
                <a:solidFill>
                  <a:schemeClr val="dk1"/>
                </a:solidFill>
                <a:latin typeface="Calibri"/>
                <a:ea typeface="Calibri"/>
                <a:cs typeface="Calibri"/>
                <a:sym typeface="Calibri"/>
              </a:rPr>
              <a:t>have inter-dependencies </a:t>
            </a:r>
            <a:r>
              <a:rPr lang="en-US" sz="1800" dirty="0">
                <a:solidFill>
                  <a:schemeClr val="dk1"/>
                </a:solidFill>
                <a:latin typeface="Calibri"/>
                <a:ea typeface="Calibri"/>
                <a:cs typeface="Calibri"/>
                <a:sym typeface="Calibri"/>
              </a:rPr>
              <a:t>and may have different importance, we "naively" assume that each feature makes an </a:t>
            </a:r>
            <a:r>
              <a:rPr lang="en-US" sz="1800" b="1" dirty="0">
                <a:solidFill>
                  <a:srgbClr val="0070C0"/>
                </a:solidFill>
                <a:latin typeface="Calibri"/>
                <a:ea typeface="Calibri"/>
                <a:cs typeface="Calibri"/>
                <a:sym typeface="Calibri"/>
              </a:rPr>
              <a:t>independent</a:t>
            </a:r>
            <a:r>
              <a:rPr lang="en-US" sz="1800" dirty="0">
                <a:solidFill>
                  <a:schemeClr val="dk1"/>
                </a:solidFill>
                <a:latin typeface="Calibri"/>
                <a:ea typeface="Calibri"/>
                <a:cs typeface="Calibri"/>
                <a:sym typeface="Calibri"/>
              </a:rPr>
              <a:t> and </a:t>
            </a:r>
            <a:r>
              <a:rPr lang="en-US" sz="1800" b="1" dirty="0">
                <a:solidFill>
                  <a:srgbClr val="0070C0"/>
                </a:solidFill>
                <a:latin typeface="Calibri"/>
                <a:ea typeface="Calibri"/>
                <a:cs typeface="Calibri"/>
                <a:sym typeface="Calibri"/>
              </a:rPr>
              <a:t>equal </a:t>
            </a:r>
            <a:r>
              <a:rPr lang="en-US" sz="1800" dirty="0">
                <a:solidFill>
                  <a:schemeClr val="dk1"/>
                </a:solidFill>
                <a:latin typeface="Calibri"/>
                <a:ea typeface="Calibri"/>
                <a:cs typeface="Calibri"/>
                <a:sym typeface="Calibri"/>
              </a:rPr>
              <a:t>contribution to the outcome. </a:t>
            </a:r>
          </a:p>
          <a:p>
            <a:pPr lvl="0"/>
            <a:endParaRPr lang="en-US" sz="1800" dirty="0">
              <a:solidFill>
                <a:schemeClr val="dk1"/>
              </a:solidFill>
              <a:latin typeface="Calibri"/>
              <a:ea typeface="Calibri"/>
              <a:cs typeface="Calibri"/>
              <a:sym typeface="Calibri"/>
            </a:endParaRPr>
          </a:p>
          <a:p>
            <a:pPr lvl="0"/>
            <a:r>
              <a:rPr lang="en-US" sz="1800" dirty="0">
                <a:solidFill>
                  <a:schemeClr val="dk1"/>
                </a:solidFill>
                <a:latin typeface="Calibri"/>
                <a:ea typeface="Calibri"/>
                <a:cs typeface="Calibri"/>
                <a:sym typeface="Calibri"/>
              </a:rPr>
              <a:t>On the picture below we have two features (A1 &amp; A2) influencing outcome (B).</a:t>
            </a:r>
          </a:p>
          <a:p>
            <a:pPr lvl="0"/>
            <a:r>
              <a:rPr lang="en-US" sz="1800" dirty="0">
                <a:solidFill>
                  <a:schemeClr val="dk1"/>
                </a:solidFill>
                <a:latin typeface="Calibri"/>
                <a:ea typeface="Calibri"/>
                <a:cs typeface="Calibri"/>
                <a:sym typeface="Calibri"/>
              </a:rPr>
              <a:t>We will be computing conditional probability of a person being fit P(B|(A1,A2)). </a:t>
            </a:r>
          </a:p>
          <a:p>
            <a:pPr lvl="0"/>
            <a:r>
              <a:rPr lang="en-US" sz="1800" dirty="0">
                <a:solidFill>
                  <a:schemeClr val="dk1"/>
                </a:solidFill>
                <a:latin typeface="Calibri"/>
                <a:ea typeface="Calibri"/>
                <a:cs typeface="Calibri"/>
                <a:sym typeface="Calibri"/>
              </a:rPr>
              <a:t>We "naively" assume that A1 &amp; A2 contribute equally to the outcome.</a:t>
            </a:r>
          </a:p>
          <a:p>
            <a:pPr lvl="0"/>
            <a:r>
              <a:rPr lang="en-US" sz="1800" dirty="0">
                <a:solidFill>
                  <a:schemeClr val="dk1"/>
                </a:solidFill>
                <a:latin typeface="Calibri"/>
                <a:ea typeface="Calibri"/>
                <a:cs typeface="Calibri"/>
                <a:sym typeface="Calibri"/>
              </a:rPr>
              <a:t>But in reality daily exercising probably contributes more. </a:t>
            </a:r>
          </a:p>
          <a:p>
            <a:pPr lvl="0"/>
            <a:r>
              <a:rPr lang="en-US" sz="1800" dirty="0">
                <a:solidFill>
                  <a:schemeClr val="dk1"/>
                </a:solidFill>
                <a:latin typeface="Calibri"/>
                <a:ea typeface="Calibri"/>
                <a:cs typeface="Calibri"/>
                <a:sym typeface="Calibri"/>
              </a:rPr>
              <a:t>Our naive model doesn't take this into account.</a:t>
            </a:r>
          </a:p>
        </p:txBody>
      </p:sp>
      <p:sp>
        <p:nvSpPr>
          <p:cNvPr id="4" name="TextBox 3">
            <a:extLst>
              <a:ext uri="{FF2B5EF4-FFF2-40B4-BE49-F238E27FC236}">
                <a16:creationId xmlns:a16="http://schemas.microsoft.com/office/drawing/2014/main" id="{C5F4338A-7460-2D43-8709-4C01BE3CBAE1}"/>
              </a:ext>
            </a:extLst>
          </p:cNvPr>
          <p:cNvSpPr txBox="1"/>
          <p:nvPr/>
        </p:nvSpPr>
        <p:spPr>
          <a:xfrm>
            <a:off x="-2791968" y="-475488"/>
            <a:ext cx="1107996" cy="307777"/>
          </a:xfrm>
          <a:prstGeom prst="rect">
            <a:avLst/>
          </a:prstGeom>
          <a:noFill/>
        </p:spPr>
        <p:txBody>
          <a:bodyPr wrap="none" rtlCol="0">
            <a:spAutoFit/>
          </a:bodyPr>
          <a:lstStyle/>
          <a:p>
            <a:r>
              <a:rPr lang="en-US" dirty="0"/>
              <a:t>b	</a:t>
            </a:r>
          </a:p>
        </p:txBody>
      </p:sp>
      <p:sp>
        <p:nvSpPr>
          <p:cNvPr id="8" name="Google Shape;96;p13">
            <a:extLst>
              <a:ext uri="{FF2B5EF4-FFF2-40B4-BE49-F238E27FC236}">
                <a16:creationId xmlns:a16="http://schemas.microsoft.com/office/drawing/2014/main" id="{E86965A6-BF94-F145-89D1-C6B2E5865414}"/>
              </a:ext>
            </a:extLst>
          </p:cNvPr>
          <p:cNvSpPr/>
          <p:nvPr/>
        </p:nvSpPr>
        <p:spPr>
          <a:xfrm>
            <a:off x="198355" y="3544856"/>
            <a:ext cx="6702776" cy="3041841"/>
          </a:xfrm>
          <a:prstGeom prst="rect">
            <a:avLst/>
          </a:prstGeom>
          <a:solidFill>
            <a:srgbClr val="FBE4D4"/>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 name="Google Shape;97;p13">
            <a:extLst>
              <a:ext uri="{FF2B5EF4-FFF2-40B4-BE49-F238E27FC236}">
                <a16:creationId xmlns:a16="http://schemas.microsoft.com/office/drawing/2014/main" id="{345B8856-5B94-5446-A782-2394C9731CBF}"/>
              </a:ext>
            </a:extLst>
          </p:cNvPr>
          <p:cNvSpPr/>
          <p:nvPr/>
        </p:nvSpPr>
        <p:spPr>
          <a:xfrm>
            <a:off x="641760" y="4139794"/>
            <a:ext cx="3774964" cy="1764631"/>
          </a:xfrm>
          <a:prstGeom prst="ellipse">
            <a:avLst/>
          </a:prstGeom>
          <a:solidFill>
            <a:srgbClr val="FFC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 name="Google Shape;98;p13">
            <a:extLst>
              <a:ext uri="{FF2B5EF4-FFF2-40B4-BE49-F238E27FC236}">
                <a16:creationId xmlns:a16="http://schemas.microsoft.com/office/drawing/2014/main" id="{CB8CAB0A-ECE1-744B-AFD7-926EB6778306}"/>
              </a:ext>
            </a:extLst>
          </p:cNvPr>
          <p:cNvSpPr/>
          <p:nvPr/>
        </p:nvSpPr>
        <p:spPr>
          <a:xfrm>
            <a:off x="2535840" y="3933325"/>
            <a:ext cx="4174638" cy="1423396"/>
          </a:xfrm>
          <a:prstGeom prst="ellipse">
            <a:avLst/>
          </a:prstGeom>
          <a:solidFill>
            <a:srgbClr val="00B0F0">
              <a:alpha val="40784"/>
            </a:srgbClr>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 name="Google Shape;99;p13">
            <a:extLst>
              <a:ext uri="{FF2B5EF4-FFF2-40B4-BE49-F238E27FC236}">
                <a16:creationId xmlns:a16="http://schemas.microsoft.com/office/drawing/2014/main" id="{1B3AAF2C-11F0-0049-B7DC-8141A6FF1C0C}"/>
              </a:ext>
            </a:extLst>
          </p:cNvPr>
          <p:cNvSpPr txBox="1"/>
          <p:nvPr/>
        </p:nvSpPr>
        <p:spPr>
          <a:xfrm>
            <a:off x="1453029" y="4791275"/>
            <a:ext cx="1113783"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dirty="0">
                <a:solidFill>
                  <a:srgbClr val="FF0000"/>
                </a:solidFill>
                <a:latin typeface="Calibri"/>
                <a:ea typeface="Calibri"/>
                <a:cs typeface="Calibri"/>
                <a:sym typeface="Calibri"/>
              </a:rPr>
              <a:t>B - Fit</a:t>
            </a:r>
            <a:endParaRPr sz="2400" b="1" dirty="0">
              <a:solidFill>
                <a:srgbClr val="FF0000"/>
              </a:solidFill>
              <a:latin typeface="Calibri"/>
              <a:ea typeface="Calibri"/>
              <a:cs typeface="Calibri"/>
              <a:sym typeface="Calibri"/>
            </a:endParaRPr>
          </a:p>
        </p:txBody>
      </p:sp>
      <p:sp>
        <p:nvSpPr>
          <p:cNvPr id="14" name="Google Shape;100;p13">
            <a:extLst>
              <a:ext uri="{FF2B5EF4-FFF2-40B4-BE49-F238E27FC236}">
                <a16:creationId xmlns:a16="http://schemas.microsoft.com/office/drawing/2014/main" id="{E7891A24-DF90-8D43-8EDC-651D0443DDE8}"/>
              </a:ext>
            </a:extLst>
          </p:cNvPr>
          <p:cNvSpPr txBox="1"/>
          <p:nvPr/>
        </p:nvSpPr>
        <p:spPr>
          <a:xfrm>
            <a:off x="3965881" y="4090215"/>
            <a:ext cx="2935250"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dirty="0">
                <a:solidFill>
                  <a:srgbClr val="FF0000"/>
                </a:solidFill>
                <a:latin typeface="Calibri"/>
                <a:ea typeface="Calibri"/>
                <a:cs typeface="Calibri"/>
                <a:sym typeface="Calibri"/>
              </a:rPr>
              <a:t>A1 - Exercise daily</a:t>
            </a:r>
            <a:endParaRPr sz="2400" b="1" dirty="0">
              <a:solidFill>
                <a:srgbClr val="FF0000"/>
              </a:solidFill>
              <a:latin typeface="Calibri"/>
              <a:ea typeface="Calibri"/>
              <a:cs typeface="Calibri"/>
              <a:sym typeface="Calibri"/>
            </a:endParaRPr>
          </a:p>
        </p:txBody>
      </p:sp>
      <p:sp>
        <p:nvSpPr>
          <p:cNvPr id="15" name="Google Shape;101;p13">
            <a:extLst>
              <a:ext uri="{FF2B5EF4-FFF2-40B4-BE49-F238E27FC236}">
                <a16:creationId xmlns:a16="http://schemas.microsoft.com/office/drawing/2014/main" id="{5F331993-8839-E14F-87F0-12C37B552B26}"/>
              </a:ext>
            </a:extLst>
          </p:cNvPr>
          <p:cNvSpPr txBox="1"/>
          <p:nvPr/>
        </p:nvSpPr>
        <p:spPr>
          <a:xfrm>
            <a:off x="217657" y="3544856"/>
            <a:ext cx="1530878"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dirty="0">
                <a:solidFill>
                  <a:srgbClr val="FF0000"/>
                </a:solidFill>
                <a:latin typeface="Calibri"/>
                <a:ea typeface="Calibri"/>
                <a:cs typeface="Calibri"/>
                <a:sym typeface="Calibri"/>
              </a:rPr>
              <a:t>All People</a:t>
            </a:r>
            <a:endParaRPr sz="2400" b="1" dirty="0">
              <a:solidFill>
                <a:srgbClr val="FF0000"/>
              </a:solidFill>
              <a:latin typeface="Calibri"/>
              <a:ea typeface="Calibri"/>
              <a:cs typeface="Calibri"/>
              <a:sym typeface="Calibri"/>
            </a:endParaRPr>
          </a:p>
        </p:txBody>
      </p:sp>
      <p:sp>
        <p:nvSpPr>
          <p:cNvPr id="16" name="Google Shape;98;p13">
            <a:extLst>
              <a:ext uri="{FF2B5EF4-FFF2-40B4-BE49-F238E27FC236}">
                <a16:creationId xmlns:a16="http://schemas.microsoft.com/office/drawing/2014/main" id="{8801D4D2-6C87-E448-BABD-2406AFC4D1B5}"/>
              </a:ext>
            </a:extLst>
          </p:cNvPr>
          <p:cNvSpPr/>
          <p:nvPr/>
        </p:nvSpPr>
        <p:spPr>
          <a:xfrm>
            <a:off x="2492108" y="4617869"/>
            <a:ext cx="4116519" cy="1638072"/>
          </a:xfrm>
          <a:prstGeom prst="ellipse">
            <a:avLst/>
          </a:prstGeom>
          <a:solidFill>
            <a:srgbClr val="92D050">
              <a:alpha val="40784"/>
            </a:srgbClr>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00B0F0"/>
              </a:solidFill>
              <a:latin typeface="Calibri"/>
              <a:ea typeface="Calibri"/>
              <a:cs typeface="Calibri"/>
              <a:sym typeface="Calibri"/>
            </a:endParaRPr>
          </a:p>
        </p:txBody>
      </p:sp>
      <p:sp>
        <p:nvSpPr>
          <p:cNvPr id="17" name="Google Shape;100;p13">
            <a:extLst>
              <a:ext uri="{FF2B5EF4-FFF2-40B4-BE49-F238E27FC236}">
                <a16:creationId xmlns:a16="http://schemas.microsoft.com/office/drawing/2014/main" id="{A4C67650-35D1-004F-BCDB-9A543C31DEBB}"/>
              </a:ext>
            </a:extLst>
          </p:cNvPr>
          <p:cNvSpPr txBox="1"/>
          <p:nvPr/>
        </p:nvSpPr>
        <p:spPr>
          <a:xfrm>
            <a:off x="4037214" y="5536803"/>
            <a:ext cx="2673263"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dirty="0">
                <a:solidFill>
                  <a:srgbClr val="FF0000"/>
                </a:solidFill>
                <a:latin typeface="Calibri"/>
                <a:ea typeface="Calibri"/>
                <a:cs typeface="Calibri"/>
                <a:sym typeface="Calibri"/>
              </a:rPr>
              <a:t>A2 - Dog Owner</a:t>
            </a:r>
            <a:endParaRPr sz="2400" b="1" dirty="0">
              <a:solidFill>
                <a:srgbClr val="FF0000"/>
              </a:solidFill>
              <a:latin typeface="Calibri"/>
              <a:ea typeface="Calibri"/>
              <a:cs typeface="Calibri"/>
              <a:sym typeface="Calibri"/>
            </a:endParaRPr>
          </a:p>
        </p:txBody>
      </p:sp>
      <p:sp>
        <p:nvSpPr>
          <p:cNvPr id="5" name="TextBox 4">
            <a:extLst>
              <a:ext uri="{FF2B5EF4-FFF2-40B4-BE49-F238E27FC236}">
                <a16:creationId xmlns:a16="http://schemas.microsoft.com/office/drawing/2014/main" id="{84C959D5-AEAE-C24D-891D-18CF918B93E3}"/>
              </a:ext>
            </a:extLst>
          </p:cNvPr>
          <p:cNvSpPr txBox="1"/>
          <p:nvPr/>
        </p:nvSpPr>
        <p:spPr>
          <a:xfrm>
            <a:off x="7227040" y="4398030"/>
            <a:ext cx="2255288" cy="1600438"/>
          </a:xfrm>
          <a:prstGeom prst="rect">
            <a:avLst/>
          </a:prstGeom>
          <a:noFill/>
        </p:spPr>
        <p:txBody>
          <a:bodyPr wrap="square" rtlCol="0">
            <a:spAutoFit/>
          </a:bodyPr>
          <a:lstStyle/>
          <a:p>
            <a:r>
              <a:rPr lang="en-US" dirty="0"/>
              <a:t>Features:</a:t>
            </a:r>
          </a:p>
          <a:p>
            <a:r>
              <a:rPr lang="en-US" dirty="0"/>
              <a:t>     A1 – Exercise Daily</a:t>
            </a:r>
          </a:p>
          <a:p>
            <a:r>
              <a:rPr lang="en-US" dirty="0"/>
              <a:t>     A2 – Dog owner</a:t>
            </a:r>
          </a:p>
          <a:p>
            <a:endParaRPr lang="en-US" dirty="0"/>
          </a:p>
          <a:p>
            <a:r>
              <a:rPr lang="en-US" dirty="0"/>
              <a:t>Outcome:</a:t>
            </a:r>
          </a:p>
          <a:p>
            <a:r>
              <a:rPr lang="en-US" dirty="0"/>
              <a:t>     B – Person is Fit</a:t>
            </a:r>
          </a:p>
          <a:p>
            <a:endParaRPr lang="en-US" dirty="0"/>
          </a:p>
        </p:txBody>
      </p:sp>
      <mc:AlternateContent xmlns:mc="http://schemas.openxmlformats.org/markup-compatibility/2006" xmlns:a14="http://schemas.microsoft.com/office/drawing/2010/main">
        <mc:Choice Requires="a14">
          <p:sp>
            <p:nvSpPr>
              <p:cNvPr id="18" name="Google Shape;88;p13">
                <a:extLst>
                  <a:ext uri="{FF2B5EF4-FFF2-40B4-BE49-F238E27FC236}">
                    <a16:creationId xmlns:a16="http://schemas.microsoft.com/office/drawing/2014/main" id="{95068AA8-7119-4F4F-AEAA-537C8A13CD7B}"/>
                  </a:ext>
                </a:extLst>
              </p:cNvPr>
              <p:cNvSpPr txBox="1"/>
              <p:nvPr/>
            </p:nvSpPr>
            <p:spPr>
              <a:xfrm>
                <a:off x="8988552" y="114998"/>
                <a:ext cx="3020568" cy="1494897"/>
              </a:xfrm>
              <a:prstGeom prst="rect">
                <a:avLst/>
              </a:prstGeom>
              <a:noFill/>
              <a:ln w="63500"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i="0" u="none" strike="noStrike" cap="none" dirty="0">
                    <a:solidFill>
                      <a:srgbClr val="0070C0"/>
                    </a:solidFill>
                    <a:latin typeface="Calibri"/>
                    <a:ea typeface="Calibri"/>
                    <a:cs typeface="Calibri"/>
                    <a:sym typeface="Calibri"/>
                  </a:rPr>
                  <a:t>Bayes’ Theorem </a:t>
                </a:r>
                <a:endParaRPr lang="en-US" sz="2000" b="0" i="0" u="none" strike="noStrike" cap="none" dirty="0">
                  <a:solidFill>
                    <a:schemeClr val="dk1"/>
                  </a:solidFill>
                  <a:latin typeface="Calibri"/>
                  <a:ea typeface="Calibri"/>
                  <a:cs typeface="Calibri"/>
                  <a:sym typeface="Calibri"/>
                </a:endParaRPr>
              </a:p>
              <a:p>
                <a:pPr marL="0" marR="0" lvl="0" indent="0" algn="l" rtl="0">
                  <a:spcBef>
                    <a:spcPts val="0"/>
                  </a:spcBef>
                  <a:spcAft>
                    <a:spcPts val="0"/>
                  </a:spcAft>
                  <a:buNone/>
                </a:pPr>
                <a:endParaRPr lang="en-US" sz="2000" b="0" i="0" u="none" strike="noStrike" cap="none" dirty="0">
                  <a:solidFill>
                    <a:schemeClr val="dk1"/>
                  </a:solidFill>
                  <a:latin typeface="Calibri"/>
                  <a:ea typeface="Calibri"/>
                  <a:cs typeface="Calibri"/>
                  <a:sym typeface="Calibri"/>
                </a:endParaRPr>
              </a:p>
              <a:p>
                <a:pPr/>
                <a14:m>
                  <m:oMathPara xmlns:m="http://schemas.openxmlformats.org/officeDocument/2006/math">
                    <m:oMathParaPr>
                      <m:jc m:val="center"/>
                    </m:oMathParaPr>
                    <m:oMath xmlns:m="http://schemas.openxmlformats.org/officeDocument/2006/math">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 = </m:t>
                      </m:r>
                      <m:f>
                        <m:fPr>
                          <m:ctrlPr>
                            <a:rPr lang="en-US" b="1" i="1">
                              <a:latin typeface="Cambria Math" panose="02040503050406030204" pitchFamily="18" charset="0"/>
                            </a:rPr>
                          </m:ctrlPr>
                        </m:fPr>
                        <m:num>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 ∗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m:t>
                          </m:r>
                        </m:num>
                        <m:den>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m:t>
                          </m:r>
                        </m:den>
                      </m:f>
                    </m:oMath>
                  </m:oMathPara>
                </a14:m>
                <a:endParaRPr lang="en-US" dirty="0"/>
              </a:p>
              <a:p>
                <a:pPr marL="0" marR="0" lvl="0" indent="0" algn="l" rtl="0">
                  <a:spcBef>
                    <a:spcPts val="0"/>
                  </a:spcBef>
                  <a:spcAft>
                    <a:spcPts val="0"/>
                  </a:spcAft>
                  <a:buNone/>
                </a:pPr>
                <a:endParaRPr lang="en-US" sz="2000" dirty="0">
                  <a:solidFill>
                    <a:schemeClr val="dk1"/>
                  </a:solidFill>
                  <a:latin typeface="Calibri"/>
                  <a:cs typeface="Calibri"/>
                  <a:sym typeface="Calibri"/>
                </a:endParaRPr>
              </a:p>
              <a:p>
                <a:pPr algn="ctr"/>
                <a:r>
                  <a:rPr lang="en-US" sz="2000" dirty="0">
                    <a:solidFill>
                      <a:schemeClr val="dk1"/>
                    </a:solidFill>
                    <a:latin typeface="Calibri"/>
                    <a:cs typeface="Calibri"/>
                    <a:sym typeface="Calibri"/>
                  </a:rPr>
                  <a:t>     </a:t>
                </a:r>
                <a:endParaRPr sz="2400" b="0" i="0" u="none" strike="noStrike" cap="none" dirty="0">
                  <a:solidFill>
                    <a:schemeClr val="dk1"/>
                  </a:solidFill>
                  <a:latin typeface="Calibri"/>
                  <a:ea typeface="Calibri"/>
                  <a:cs typeface="Calibri"/>
                  <a:sym typeface="Calibri"/>
                </a:endParaRPr>
              </a:p>
            </p:txBody>
          </p:sp>
        </mc:Choice>
        <mc:Fallback xmlns="">
          <p:sp>
            <p:nvSpPr>
              <p:cNvPr id="18" name="Google Shape;88;p13">
                <a:extLst>
                  <a:ext uri="{FF2B5EF4-FFF2-40B4-BE49-F238E27FC236}">
                    <a16:creationId xmlns:a16="http://schemas.microsoft.com/office/drawing/2014/main" id="{95068AA8-7119-4F4F-AEAA-537C8A13CD7B}"/>
                  </a:ext>
                </a:extLst>
              </p:cNvPr>
              <p:cNvSpPr txBox="1">
                <a:spLocks noRot="1" noChangeAspect="1" noMove="1" noResize="1" noEditPoints="1" noAdjustHandles="1" noChangeArrowheads="1" noChangeShapeType="1" noTextEdit="1"/>
              </p:cNvSpPr>
              <p:nvPr/>
            </p:nvSpPr>
            <p:spPr>
              <a:xfrm>
                <a:off x="8988552" y="114998"/>
                <a:ext cx="3020568" cy="1494897"/>
              </a:xfrm>
              <a:prstGeom prst="rect">
                <a:avLst/>
              </a:prstGeom>
              <a:blipFill>
                <a:blip r:embed="rId3"/>
                <a:stretch>
                  <a:fillRect l="-4098" t="-3226" r="-2049"/>
                </a:stretch>
              </a:blipFill>
              <a:ln w="63500" cap="flat" cmpd="sng">
                <a:solidFill>
                  <a:schemeClr val="accent6"/>
                </a:solidFill>
                <a:prstDash val="solid"/>
                <a:round/>
                <a:headEnd type="none" w="sm" len="sm"/>
                <a:tailEnd type="none" w="sm" len="sm"/>
              </a:ln>
            </p:spPr>
            <p:txBody>
              <a:bodyPr/>
              <a:lstStyle/>
              <a:p>
                <a:r>
                  <a:rPr lang="en-US">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8" name="Google Shape;108;p14"/>
          <p:cNvSpPr txBox="1"/>
          <p:nvPr/>
        </p:nvSpPr>
        <p:spPr>
          <a:xfrm>
            <a:off x="64171" y="64169"/>
            <a:ext cx="7136729" cy="420607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dirty="0">
                <a:solidFill>
                  <a:schemeClr val="dk1"/>
                </a:solidFill>
                <a:latin typeface="Calibri"/>
                <a:ea typeface="Calibri"/>
                <a:cs typeface="Calibri"/>
                <a:sym typeface="Calibri"/>
              </a:rPr>
              <a:t>Naive Bayes classifiers - continued</a:t>
            </a:r>
            <a:endParaRPr sz="3200" b="1" dirty="0">
              <a:solidFill>
                <a:schemeClr val="dk1"/>
              </a:solidFill>
              <a:latin typeface="Calibri"/>
              <a:ea typeface="Calibri"/>
              <a:cs typeface="Calibri"/>
              <a:sym typeface="Calibri"/>
            </a:endParaRPr>
          </a:p>
          <a:p>
            <a:pPr lvl="0"/>
            <a:r>
              <a:rPr lang="en-US" sz="1800" dirty="0">
                <a:solidFill>
                  <a:schemeClr val="dk1"/>
                </a:solidFill>
                <a:latin typeface="Calibri"/>
                <a:ea typeface="Calibri"/>
                <a:cs typeface="Calibri"/>
                <a:sym typeface="Calibri"/>
              </a:rPr>
              <a:t>In the table to the right we have 4 columns A</a:t>
            </a:r>
            <a:r>
              <a:rPr lang="en-US" sz="1800" baseline="-25000" dirty="0">
                <a:solidFill>
                  <a:schemeClr val="dk1"/>
                </a:solidFill>
                <a:latin typeface="Calibri"/>
                <a:ea typeface="Calibri"/>
                <a:cs typeface="Calibri"/>
                <a:sym typeface="Calibri"/>
              </a:rPr>
              <a:t>i</a:t>
            </a:r>
            <a:r>
              <a:rPr lang="en-US" sz="1800" dirty="0">
                <a:solidFill>
                  <a:schemeClr val="dk1"/>
                </a:solidFill>
                <a:latin typeface="Calibri"/>
                <a:ea typeface="Calibri"/>
                <a:cs typeface="Calibri"/>
                <a:sym typeface="Calibri"/>
              </a:rPr>
              <a:t> with features </a:t>
            </a:r>
          </a:p>
          <a:p>
            <a:pPr lvl="0"/>
            <a:r>
              <a:rPr lang="en-US" sz="1800" dirty="0">
                <a:solidFill>
                  <a:schemeClr val="dk1"/>
                </a:solidFill>
                <a:latin typeface="Calibri"/>
                <a:ea typeface="Calibri"/>
                <a:cs typeface="Calibri"/>
                <a:sym typeface="Calibri"/>
              </a:rPr>
              <a:t>and one outcome column B - "Play Golf". </a:t>
            </a:r>
          </a:p>
          <a:p>
            <a:pPr lvl="0"/>
            <a:r>
              <a:rPr lang="en-US" sz="1800" dirty="0">
                <a:solidFill>
                  <a:schemeClr val="dk1"/>
                </a:solidFill>
                <a:latin typeface="Calibri"/>
                <a:ea typeface="Calibri"/>
                <a:cs typeface="Calibri"/>
                <a:sym typeface="Calibri"/>
              </a:rPr>
              <a:t>For each value of the outcome (Yes or No) we can calculate the conditional probability/frequency of seeing each feature value A</a:t>
            </a:r>
            <a:r>
              <a:rPr lang="en-US" sz="1800" baseline="-25000" dirty="0">
                <a:solidFill>
                  <a:schemeClr val="dk1"/>
                </a:solidFill>
                <a:latin typeface="Calibri"/>
                <a:ea typeface="Calibri"/>
                <a:cs typeface="Calibri"/>
                <a:sym typeface="Calibri"/>
              </a:rPr>
              <a:t>i</a:t>
            </a:r>
            <a:r>
              <a:rPr lang="en-US" sz="1800" dirty="0">
                <a:solidFill>
                  <a:schemeClr val="dk1"/>
                </a:solidFill>
                <a:latin typeface="Calibri"/>
                <a:ea typeface="Calibri"/>
                <a:cs typeface="Calibri"/>
                <a:sym typeface="Calibri"/>
              </a:rPr>
              <a:t> for a given outcome B:    </a:t>
            </a:r>
          </a:p>
          <a:p>
            <a:pPr lvl="0"/>
            <a:r>
              <a:rPr lang="en-US" sz="1800" dirty="0">
                <a:solidFill>
                  <a:schemeClr val="dk1"/>
                </a:solidFill>
                <a:latin typeface="Calibri"/>
                <a:ea typeface="Calibri"/>
                <a:cs typeface="Calibri"/>
                <a:sym typeface="Calibri"/>
              </a:rPr>
              <a:t>                                   P(A</a:t>
            </a:r>
            <a:r>
              <a:rPr lang="en-US" sz="1800" baseline="-25000" dirty="0">
                <a:solidFill>
                  <a:schemeClr val="dk1"/>
                </a:solidFill>
                <a:latin typeface="Calibri"/>
                <a:ea typeface="Calibri"/>
                <a:cs typeface="Calibri"/>
                <a:sym typeface="Calibri"/>
              </a:rPr>
              <a:t>i</a:t>
            </a:r>
            <a:r>
              <a:rPr lang="en-US" sz="1800" dirty="0">
                <a:solidFill>
                  <a:schemeClr val="dk1"/>
                </a:solidFill>
                <a:latin typeface="Calibri"/>
                <a:ea typeface="Calibri"/>
                <a:cs typeface="Calibri"/>
                <a:sym typeface="Calibri"/>
              </a:rPr>
              <a:t>| B)</a:t>
            </a:r>
          </a:p>
          <a:p>
            <a:pPr lvl="0"/>
            <a:endParaRPr lang="en-US" sz="1800" dirty="0">
              <a:solidFill>
                <a:schemeClr val="dk1"/>
              </a:solidFill>
              <a:latin typeface="Calibri"/>
              <a:ea typeface="Calibri"/>
              <a:cs typeface="Calibri"/>
              <a:sym typeface="Calibri"/>
            </a:endParaRPr>
          </a:p>
          <a:p>
            <a:pPr lvl="0"/>
            <a:r>
              <a:rPr lang="en-US" sz="1800" dirty="0">
                <a:solidFill>
                  <a:schemeClr val="dk1"/>
                </a:solidFill>
                <a:latin typeface="Calibri"/>
                <a:ea typeface="Calibri"/>
                <a:cs typeface="Calibri"/>
                <a:sym typeface="Calibri"/>
              </a:rPr>
              <a:t>For example we can calculate how often we played or not played golf when it was rainy, etc. </a:t>
            </a:r>
          </a:p>
          <a:p>
            <a:pPr lvl="0"/>
            <a:r>
              <a:rPr lang="en-US" sz="1800" dirty="0">
                <a:solidFill>
                  <a:schemeClr val="dk1"/>
                </a:solidFill>
                <a:latin typeface="Calibri"/>
                <a:ea typeface="Calibri"/>
                <a:cs typeface="Calibri"/>
                <a:sym typeface="Calibri"/>
              </a:rPr>
              <a:t>Then we will be calculating the opposite – probability of playing golf</a:t>
            </a:r>
          </a:p>
          <a:p>
            <a:pPr lvl="0"/>
            <a:r>
              <a:rPr lang="en-US" sz="1800" dirty="0">
                <a:solidFill>
                  <a:schemeClr val="dk1"/>
                </a:solidFill>
                <a:latin typeface="Calibri"/>
                <a:ea typeface="Calibri"/>
                <a:cs typeface="Calibri"/>
                <a:sym typeface="Calibri"/>
              </a:rPr>
              <a:t>given a specific set of features: P(</a:t>
            </a:r>
            <a:r>
              <a:rPr lang="en-US" sz="1800" dirty="0" err="1">
                <a:solidFill>
                  <a:schemeClr val="dk1"/>
                </a:solidFill>
                <a:latin typeface="Calibri"/>
                <a:ea typeface="Calibri"/>
                <a:cs typeface="Calibri"/>
                <a:sym typeface="Calibri"/>
              </a:rPr>
              <a:t>B|A</a:t>
            </a:r>
            <a:r>
              <a:rPr lang="en-US" sz="1800" baseline="-25000" dirty="0" err="1">
                <a:solidFill>
                  <a:schemeClr val="dk1"/>
                </a:solidFill>
                <a:latin typeface="Calibri"/>
                <a:ea typeface="Calibri"/>
                <a:cs typeface="Calibri"/>
                <a:sym typeface="Calibri"/>
              </a:rPr>
              <a:t>i</a:t>
            </a:r>
            <a:r>
              <a:rPr lang="en-US" sz="1800" dirty="0">
                <a:solidFill>
                  <a:schemeClr val="dk1"/>
                </a:solidFill>
                <a:latin typeface="Calibri"/>
                <a:ea typeface="Calibri"/>
                <a:cs typeface="Calibri"/>
                <a:sym typeface="Calibri"/>
              </a:rPr>
              <a:t>) . We will use Bayes formula for this.</a:t>
            </a:r>
          </a:p>
          <a:p>
            <a:pPr lvl="0"/>
            <a:endParaRPr lang="en-US" sz="1800" dirty="0">
              <a:solidFill>
                <a:schemeClr val="dk1"/>
              </a:solidFill>
              <a:latin typeface="Calibri"/>
              <a:ea typeface="Calibri"/>
              <a:cs typeface="Calibri"/>
              <a:sym typeface="Calibri"/>
            </a:endParaRPr>
          </a:p>
          <a:p>
            <a:pPr lvl="0"/>
            <a:r>
              <a:rPr lang="en-US" sz="1800" dirty="0">
                <a:solidFill>
                  <a:schemeClr val="dk1"/>
                </a:solidFill>
                <a:latin typeface="Calibri"/>
                <a:ea typeface="Calibri"/>
                <a:cs typeface="Calibri"/>
                <a:sym typeface="Calibri"/>
              </a:rPr>
              <a:t>In other words, we will be able to predict outcome B from features A</a:t>
            </a:r>
            <a:r>
              <a:rPr lang="en-US" sz="1800" baseline="-25000" dirty="0">
                <a:solidFill>
                  <a:schemeClr val="dk1"/>
                </a:solidFill>
                <a:latin typeface="Calibri"/>
                <a:ea typeface="Calibri"/>
                <a:cs typeface="Calibri"/>
                <a:sym typeface="Calibri"/>
              </a:rPr>
              <a:t>i</a:t>
            </a:r>
            <a:r>
              <a:rPr lang="en-US" sz="1800" dirty="0">
                <a:solidFill>
                  <a:schemeClr val="dk1"/>
                </a:solidFill>
                <a:latin typeface="Calibri"/>
                <a:ea typeface="Calibri"/>
                <a:cs typeface="Calibri"/>
                <a:sym typeface="Calibri"/>
              </a:rPr>
              <a:t>.</a:t>
            </a:r>
          </a:p>
        </p:txBody>
      </p:sp>
      <p:sp>
        <p:nvSpPr>
          <p:cNvPr id="10" name="TextBox 9">
            <a:extLst>
              <a:ext uri="{FF2B5EF4-FFF2-40B4-BE49-F238E27FC236}">
                <a16:creationId xmlns:a16="http://schemas.microsoft.com/office/drawing/2014/main" id="{812C9AFE-2DC4-2C49-A11B-4A24EEEF46C2}"/>
              </a:ext>
            </a:extLst>
          </p:cNvPr>
          <p:cNvSpPr txBox="1"/>
          <p:nvPr/>
        </p:nvSpPr>
        <p:spPr>
          <a:xfrm>
            <a:off x="90386" y="4885456"/>
            <a:ext cx="11071467" cy="1754326"/>
          </a:xfrm>
          <a:prstGeom prst="rect">
            <a:avLst/>
          </a:prstGeom>
          <a:noFill/>
        </p:spPr>
        <p:txBody>
          <a:bodyPr wrap="square" rtlCol="0">
            <a:spAutoFit/>
          </a:bodyPr>
          <a:lstStyle/>
          <a:p>
            <a:r>
              <a:rPr lang="en-US" sz="1800" dirty="0">
                <a:latin typeface="Calibri" panose="020F0502020204030204" pitchFamily="34" charset="0"/>
                <a:cs typeface="Calibri" panose="020F0502020204030204" pitchFamily="34" charset="0"/>
              </a:rPr>
              <a:t>Here is a very good short video explaining the Naive Bayes Classification on a specific simple example:</a:t>
            </a:r>
          </a:p>
          <a:p>
            <a:r>
              <a:rPr lang="en-US" sz="1800" dirty="0">
                <a:latin typeface="Calibri" panose="020F0502020204030204" pitchFamily="34" charset="0"/>
                <a:cs typeface="Calibri" panose="020F0502020204030204" pitchFamily="34" charset="0"/>
              </a:rPr>
              <a:t> - </a:t>
            </a:r>
            <a:r>
              <a:rPr lang="en-US" sz="1800" dirty="0">
                <a:latin typeface="Calibri" panose="020F0502020204030204" pitchFamily="34" charset="0"/>
                <a:cs typeface="Calibri" panose="020F0502020204030204" pitchFamily="34" charset="0"/>
                <a:hlinkClick r:id="rId3"/>
              </a:rPr>
              <a:t>https://www.youtube.com/watch?v=CPqOCI0ahss</a:t>
            </a:r>
            <a:endParaRPr lang="en-US" sz="1800" dirty="0">
              <a:latin typeface="Calibri" panose="020F0502020204030204" pitchFamily="34" charset="0"/>
              <a:cs typeface="Calibri" panose="020F0502020204030204" pitchFamily="34" charset="0"/>
            </a:endParaRPr>
          </a:p>
          <a:p>
            <a:r>
              <a:rPr lang="en-US" sz="1800" dirty="0">
                <a:latin typeface="Calibri" panose="020F0502020204030204" pitchFamily="34" charset="0"/>
                <a:cs typeface="Calibri" panose="020F0502020204030204" pitchFamily="34" charset="0"/>
              </a:rPr>
              <a:t>Note – there is a (common) mistake in this video! Author calculates denominators via multiplication of individual probabilities. This is wrong. You can see it by yourself how making calculation this way makes the sum of two probabilities greater than one. </a:t>
            </a:r>
          </a:p>
          <a:p>
            <a:r>
              <a:rPr lang="en-US" sz="1800" dirty="0">
                <a:latin typeface="Calibri" panose="020F0502020204030204" pitchFamily="34" charset="0"/>
                <a:cs typeface="Calibri" panose="020F0502020204030204" pitchFamily="34" charset="0"/>
              </a:rPr>
              <a:t>Also here is a good article - </a:t>
            </a:r>
            <a:r>
              <a:rPr lang="en-US" sz="1800" dirty="0">
                <a:latin typeface="Calibri" panose="020F0502020204030204" pitchFamily="34" charset="0"/>
                <a:cs typeface="Calibri" panose="020F0502020204030204" pitchFamily="34" charset="0"/>
                <a:hlinkClick r:id="rId4"/>
              </a:rPr>
              <a:t>https://www.geeksforgeeks.org/naive-bayes-classifiers/</a:t>
            </a:r>
            <a:r>
              <a:rPr lang="en-US" sz="1800" dirty="0">
                <a:latin typeface="Calibri" panose="020F0502020204030204" pitchFamily="34" charset="0"/>
                <a:cs typeface="Calibri" panose="020F0502020204030204" pitchFamily="34" charset="0"/>
              </a:rPr>
              <a:t> </a:t>
            </a:r>
          </a:p>
        </p:txBody>
      </p:sp>
      <p:pic>
        <p:nvPicPr>
          <p:cNvPr id="2" name="Picture 1">
            <a:extLst>
              <a:ext uri="{FF2B5EF4-FFF2-40B4-BE49-F238E27FC236}">
                <a16:creationId xmlns:a16="http://schemas.microsoft.com/office/drawing/2014/main" id="{4627EC18-8F38-2442-B549-FBAD6F81E7EB}"/>
              </a:ext>
            </a:extLst>
          </p:cNvPr>
          <p:cNvPicPr>
            <a:picLocks noChangeAspect="1"/>
          </p:cNvPicPr>
          <p:nvPr/>
        </p:nvPicPr>
        <p:blipFill>
          <a:blip r:embed="rId5"/>
          <a:stretch>
            <a:fillRect/>
          </a:stretch>
        </p:blipFill>
        <p:spPr>
          <a:xfrm>
            <a:off x="7200900" y="891251"/>
            <a:ext cx="4991100" cy="3594100"/>
          </a:xfrm>
          <a:prstGeom prst="rect">
            <a:avLst/>
          </a:prstGeom>
        </p:spPr>
      </p:pic>
      <p:sp>
        <p:nvSpPr>
          <p:cNvPr id="3" name="TextBox 2">
            <a:extLst>
              <a:ext uri="{FF2B5EF4-FFF2-40B4-BE49-F238E27FC236}">
                <a16:creationId xmlns:a16="http://schemas.microsoft.com/office/drawing/2014/main" id="{11C7D318-EE28-164A-87A7-71DE10B21FD7}"/>
              </a:ext>
            </a:extLst>
          </p:cNvPr>
          <p:cNvSpPr txBox="1"/>
          <p:nvPr/>
        </p:nvSpPr>
        <p:spPr>
          <a:xfrm>
            <a:off x="9005104" y="68509"/>
            <a:ext cx="1030147" cy="830997"/>
          </a:xfrm>
          <a:prstGeom prst="rect">
            <a:avLst/>
          </a:prstGeom>
          <a:noFill/>
        </p:spPr>
        <p:txBody>
          <a:bodyPr wrap="square" rtlCol="0">
            <a:spAutoFit/>
          </a:bodyPr>
          <a:lstStyle/>
          <a:p>
            <a:r>
              <a:rPr lang="en-US" sz="4800" dirty="0"/>
              <a:t>A</a:t>
            </a:r>
            <a:r>
              <a:rPr lang="en-US" sz="4800" baseline="-25000" dirty="0"/>
              <a:t>i</a:t>
            </a:r>
            <a:endParaRPr lang="en-US" sz="4800" dirty="0"/>
          </a:p>
        </p:txBody>
      </p:sp>
      <p:sp>
        <p:nvSpPr>
          <p:cNvPr id="11" name="TextBox 10">
            <a:extLst>
              <a:ext uri="{FF2B5EF4-FFF2-40B4-BE49-F238E27FC236}">
                <a16:creationId xmlns:a16="http://schemas.microsoft.com/office/drawing/2014/main" id="{270CC2C1-38F9-C44F-AD2B-8120DE55C977}"/>
              </a:ext>
            </a:extLst>
          </p:cNvPr>
          <p:cNvSpPr txBox="1"/>
          <p:nvPr/>
        </p:nvSpPr>
        <p:spPr>
          <a:xfrm>
            <a:off x="11161853" y="31655"/>
            <a:ext cx="760071" cy="830997"/>
          </a:xfrm>
          <a:prstGeom prst="rect">
            <a:avLst/>
          </a:prstGeom>
          <a:noFill/>
        </p:spPr>
        <p:txBody>
          <a:bodyPr wrap="square" rtlCol="0">
            <a:spAutoFit/>
          </a:bodyPr>
          <a:lstStyle/>
          <a:p>
            <a:r>
              <a:rPr lang="en-US" sz="4800" dirty="0"/>
              <a:t>B</a:t>
            </a:r>
          </a:p>
        </p:txBody>
      </p:sp>
      <p:sp>
        <p:nvSpPr>
          <p:cNvPr id="4" name="TextBox 3">
            <a:extLst>
              <a:ext uri="{FF2B5EF4-FFF2-40B4-BE49-F238E27FC236}">
                <a16:creationId xmlns:a16="http://schemas.microsoft.com/office/drawing/2014/main" id="{C5F4338A-7460-2D43-8709-4C01BE3CBAE1}"/>
              </a:ext>
            </a:extLst>
          </p:cNvPr>
          <p:cNvSpPr txBox="1"/>
          <p:nvPr/>
        </p:nvSpPr>
        <p:spPr>
          <a:xfrm>
            <a:off x="-2791968" y="-475488"/>
            <a:ext cx="1107996" cy="307777"/>
          </a:xfrm>
          <a:prstGeom prst="rect">
            <a:avLst/>
          </a:prstGeom>
          <a:noFill/>
        </p:spPr>
        <p:txBody>
          <a:bodyPr wrap="none" rtlCol="0">
            <a:spAutoFit/>
          </a:bodyPr>
          <a:lstStyle/>
          <a:p>
            <a:r>
              <a:rPr lang="en-US" dirty="0"/>
              <a:t>b	</a:t>
            </a:r>
          </a:p>
        </p:txBody>
      </p:sp>
    </p:spTree>
    <p:extLst>
      <p:ext uri="{BB962C8B-B14F-4D97-AF65-F5344CB8AC3E}">
        <p14:creationId xmlns:p14="http://schemas.microsoft.com/office/powerpoint/2010/main" val="2024227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37068B0-78A5-0E4A-8BEA-9B3F5428B23A}"/>
                  </a:ext>
                </a:extLst>
              </p:cNvPr>
              <p:cNvSpPr txBox="1"/>
              <p:nvPr/>
            </p:nvSpPr>
            <p:spPr>
              <a:xfrm>
                <a:off x="126123" y="731651"/>
                <a:ext cx="11109435" cy="2497607"/>
              </a:xfrm>
              <a:prstGeom prst="rect">
                <a:avLst/>
              </a:prstGeom>
              <a:noFill/>
            </p:spPr>
            <p:txBody>
              <a:bodyPr wrap="square" rtlCol="0">
                <a:spAutoFit/>
              </a:bodyPr>
              <a:lstStyle/>
              <a:p>
                <a:r>
                  <a:rPr lang="en-US" dirty="0"/>
                  <a:t>Suppose that an outcome "O" can have values </a:t>
                </a:r>
                <a:r>
                  <a:rPr lang="en-US" b="1" dirty="0"/>
                  <a:t>True</a:t>
                </a:r>
                <a:r>
                  <a:rPr lang="en-US" dirty="0"/>
                  <a:t> or </a:t>
                </a:r>
                <a:r>
                  <a:rPr lang="en-US" b="1" dirty="0"/>
                  <a:t>False</a:t>
                </a:r>
                <a:r>
                  <a:rPr lang="en-US" dirty="0"/>
                  <a:t> (Binary Classification) depending on events e1, e2, e3.</a:t>
                </a:r>
              </a:p>
              <a:p>
                <a:r>
                  <a:rPr lang="en-US" dirty="0"/>
                  <a:t>Suppose that influences of these events on the outcome are mutually independent. </a:t>
                </a:r>
              </a:p>
              <a:p>
                <a:r>
                  <a:rPr lang="en-US" dirty="0"/>
                  <a:t>Then we can write Bayes' Theorem formula like this:</a:t>
                </a:r>
              </a:p>
              <a:p>
                <a:endParaRPr lang="en-US" dirty="0"/>
              </a:p>
              <a:p>
                <a:pPr/>
                <a14:m>
                  <m:oMathPara xmlns:m="http://schemas.openxmlformats.org/officeDocument/2006/math">
                    <m:oMathParaPr>
                      <m:jc m:val="left"/>
                    </m:oMathParaPr>
                    <m:oMath xmlns:m="http://schemas.openxmlformats.org/officeDocument/2006/math">
                      <m:r>
                        <a:rPr lang="en-US" b="1" i="1">
                          <a:latin typeface="Cambria Math" panose="02040503050406030204" pitchFamily="18" charset="0"/>
                        </a:rPr>
                        <m:t>𝑷</m:t>
                      </m:r>
                      <m:r>
                        <a:rPr lang="en-US" b="1" i="1" baseline="-25000" smtClean="0">
                          <a:latin typeface="Cambria Math" panose="02040503050406030204" pitchFamily="18" charset="0"/>
                        </a:rPr>
                        <m:t>𝒕𝒓𝒖𝒆</m:t>
                      </m:r>
                      <m:r>
                        <a:rPr lang="en-US" b="1" i="1" baseline="-25000" smtClean="0">
                          <a:latin typeface="Cambria Math" panose="02040503050406030204" pitchFamily="18" charset="0"/>
                        </a:rPr>
                        <m:t>  =  </m:t>
                      </m:r>
                      <m:r>
                        <a:rPr lang="en-US" b="1" i="1" smtClean="0">
                          <a:latin typeface="Cambria Math" panose="02040503050406030204" pitchFamily="18" charset="0"/>
                        </a:rPr>
                        <m:t>𝑷</m:t>
                      </m:r>
                      <m:d>
                        <m:dPr>
                          <m:ctrlPr>
                            <a:rPr lang="en-US" b="1" i="1">
                              <a:latin typeface="Cambria Math" panose="02040503050406030204" pitchFamily="18" charset="0"/>
                            </a:rPr>
                          </m:ctrlPr>
                        </m:dPr>
                        <m:e>
                          <m:r>
                            <a:rPr lang="en-US" b="1" i="1">
                              <a:latin typeface="Cambria Math" panose="02040503050406030204" pitchFamily="18" charset="0"/>
                            </a:rPr>
                            <m:t>𝑻𝒓𝒖𝒆</m:t>
                          </m:r>
                        </m:e>
                        <m:e>
                          <m:r>
                            <a:rPr lang="en-US" b="1" i="1">
                              <a:latin typeface="Cambria Math" panose="02040503050406030204" pitchFamily="18" charset="0"/>
                            </a:rPr>
                            <m:t>𝒆</m:t>
                          </m:r>
                          <m:r>
                            <a:rPr lang="en-US" b="1" i="1">
                              <a:latin typeface="Cambria Math" panose="02040503050406030204" pitchFamily="18" charset="0"/>
                            </a:rPr>
                            <m:t>𝟏</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𝟐</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𝟑</m:t>
                          </m:r>
                        </m:e>
                      </m:d>
                      <m:r>
                        <a:rPr lang="en-US" b="1" i="1" smtClean="0">
                          <a:latin typeface="Cambria Math" panose="02040503050406030204" pitchFamily="18" charset="0"/>
                        </a:rPr>
                        <m:t>  =   </m:t>
                      </m:r>
                      <m:f>
                        <m:fPr>
                          <m:ctrlPr>
                            <a:rPr lang="en-US" b="1" i="1">
                              <a:latin typeface="Cambria Math" panose="02040503050406030204" pitchFamily="18" charset="0"/>
                            </a:rPr>
                          </m:ctrlPr>
                        </m:fPr>
                        <m:num>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𝟏</m:t>
                          </m:r>
                          <m:r>
                            <a:rPr lang="en-US" b="1" i="1" smtClean="0">
                              <a:latin typeface="Cambria Math" panose="02040503050406030204" pitchFamily="18" charset="0"/>
                            </a:rPr>
                            <m:t>,</m:t>
                          </m:r>
                          <m:r>
                            <a:rPr lang="en-US" b="1" i="1" smtClean="0">
                              <a:latin typeface="Cambria Math" panose="02040503050406030204" pitchFamily="18" charset="0"/>
                            </a:rPr>
                            <m:t>𝒆</m:t>
                          </m:r>
                          <m:r>
                            <a:rPr lang="en-US" b="1" i="1" smtClean="0">
                              <a:latin typeface="Cambria Math" panose="02040503050406030204" pitchFamily="18" charset="0"/>
                            </a:rPr>
                            <m:t>𝟐</m:t>
                          </m:r>
                          <m:r>
                            <a:rPr lang="en-US" b="1" i="1" smtClean="0">
                              <a:latin typeface="Cambria Math" panose="02040503050406030204" pitchFamily="18" charset="0"/>
                            </a:rPr>
                            <m:t>,</m:t>
                          </m:r>
                          <m:r>
                            <a:rPr lang="en-US" b="1" i="1" smtClean="0">
                              <a:latin typeface="Cambria Math" panose="02040503050406030204" pitchFamily="18" charset="0"/>
                            </a:rPr>
                            <m:t>𝒆</m:t>
                          </m:r>
                          <m:r>
                            <a:rPr lang="en-US" b="1" i="1" smtClean="0">
                              <a:latin typeface="Cambria Math" panose="02040503050406030204" pitchFamily="18" charset="0"/>
                            </a:rPr>
                            <m:t>𝟑</m:t>
                          </m:r>
                          <m:r>
                            <a:rPr lang="en-US" b="1" i="1">
                              <a:latin typeface="Cambria Math" panose="02040503050406030204" pitchFamily="18" charset="0"/>
                            </a:rPr>
                            <m:t>|</m:t>
                          </m:r>
                          <m:r>
                            <a:rPr lang="en-US" b="1" i="1">
                              <a:latin typeface="Cambria Math" panose="02040503050406030204" pitchFamily="18" charset="0"/>
                            </a:rPr>
                            <m:t>𝑻𝒓𝒖𝒆</m:t>
                          </m:r>
                          <m:r>
                            <a:rPr lang="en-US" b="1" i="1">
                              <a:latin typeface="Cambria Math" panose="02040503050406030204" pitchFamily="18" charset="0"/>
                            </a:rPr>
                            <m:t>)∗ </m:t>
                          </m:r>
                          <m:r>
                            <a:rPr lang="en-US" b="1" i="1" smtClean="0">
                              <a:solidFill>
                                <a:srgbClr val="0070C0"/>
                              </a:solidFill>
                              <a:latin typeface="Cambria Math" panose="02040503050406030204" pitchFamily="18" charset="0"/>
                            </a:rPr>
                            <m:t>𝑷</m:t>
                          </m:r>
                          <m:r>
                            <a:rPr lang="en-US" b="1" i="1" smtClean="0">
                              <a:solidFill>
                                <a:srgbClr val="0070C0"/>
                              </a:solidFill>
                              <a:latin typeface="Cambria Math" panose="02040503050406030204" pitchFamily="18" charset="0"/>
                            </a:rPr>
                            <m:t>(</m:t>
                          </m:r>
                          <m:r>
                            <a:rPr lang="en-US" b="1" i="1" smtClean="0">
                              <a:solidFill>
                                <a:srgbClr val="0070C0"/>
                              </a:solidFill>
                              <a:latin typeface="Cambria Math" panose="02040503050406030204" pitchFamily="18" charset="0"/>
                            </a:rPr>
                            <m:t>𝑻𝒓𝒖𝒆</m:t>
                          </m:r>
                          <m:r>
                            <a:rPr lang="en-US" b="1" i="1" smtClean="0">
                              <a:solidFill>
                                <a:srgbClr val="0070C0"/>
                              </a:solidFill>
                              <a:latin typeface="Cambria Math" panose="02040503050406030204" pitchFamily="18" charset="0"/>
                            </a:rPr>
                            <m:t>)</m:t>
                          </m:r>
                        </m:num>
                        <m:den>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𝟏</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𝟐</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𝟑</m:t>
                          </m:r>
                          <m:r>
                            <a:rPr lang="en-US" b="1" i="1">
                              <a:latin typeface="Cambria Math" panose="02040503050406030204" pitchFamily="18" charset="0"/>
                            </a:rPr>
                            <m:t>)</m:t>
                          </m:r>
                        </m:den>
                      </m:f>
                      <m:r>
                        <a:rPr lang="en-US" b="1" i="1" smtClean="0">
                          <a:latin typeface="Cambria Math" panose="02040503050406030204" pitchFamily="18" charset="0"/>
                        </a:rPr>
                        <m:t>   </m:t>
                      </m:r>
                      <m:r>
                        <a:rPr lang="en-US" b="1" i="1">
                          <a:latin typeface="Cambria Math" panose="02040503050406030204" pitchFamily="18" charset="0"/>
                        </a:rPr>
                        <m:t>= </m:t>
                      </m:r>
                      <m:r>
                        <a:rPr lang="en-US" b="1" i="1" smtClean="0">
                          <a:latin typeface="Cambria Math" panose="02040503050406030204" pitchFamily="18" charset="0"/>
                        </a:rPr>
                        <m:t>   </m:t>
                      </m:r>
                      <m:f>
                        <m:fPr>
                          <m:ctrlPr>
                            <a:rPr lang="en-US" b="1" i="1">
                              <a:latin typeface="Cambria Math" panose="02040503050406030204" pitchFamily="18" charset="0"/>
                            </a:rPr>
                          </m:ctrlPr>
                        </m:fPr>
                        <m:num>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𝟏</m:t>
                          </m:r>
                          <m:r>
                            <a:rPr lang="en-US" b="1" i="1">
                              <a:latin typeface="Cambria Math" panose="02040503050406030204" pitchFamily="18" charset="0"/>
                            </a:rPr>
                            <m:t>|</m:t>
                          </m:r>
                          <m:r>
                            <a:rPr lang="en-US" b="1" i="1">
                              <a:latin typeface="Cambria Math" panose="02040503050406030204" pitchFamily="18" charset="0"/>
                            </a:rPr>
                            <m:t>𝑻𝒓𝒖𝒆</m:t>
                          </m:r>
                          <m:r>
                            <a:rPr lang="en-US" b="1" i="1">
                              <a:latin typeface="Cambria Math" panose="02040503050406030204" pitchFamily="18" charset="0"/>
                            </a:rPr>
                            <m:t>) ∗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𝟐</m:t>
                          </m:r>
                          <m:r>
                            <a:rPr lang="en-US" b="1" i="1">
                              <a:latin typeface="Cambria Math" panose="02040503050406030204" pitchFamily="18" charset="0"/>
                            </a:rPr>
                            <m:t>|</m:t>
                          </m:r>
                          <m:r>
                            <a:rPr lang="en-US" b="1" i="1">
                              <a:latin typeface="Cambria Math" panose="02040503050406030204" pitchFamily="18" charset="0"/>
                            </a:rPr>
                            <m:t>𝑻𝒓𝒖𝒆</m:t>
                          </m:r>
                          <m:r>
                            <a:rPr lang="en-US" b="1" i="1">
                              <a:latin typeface="Cambria Math" panose="02040503050406030204" pitchFamily="18" charset="0"/>
                            </a:rPr>
                            <m:t>) ∗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𝟑</m:t>
                          </m:r>
                          <m:r>
                            <a:rPr lang="en-US" b="1" i="1">
                              <a:latin typeface="Cambria Math" panose="02040503050406030204" pitchFamily="18" charset="0"/>
                            </a:rPr>
                            <m:t>|</m:t>
                          </m:r>
                          <m:r>
                            <a:rPr lang="en-US" b="1" i="1">
                              <a:latin typeface="Cambria Math" panose="02040503050406030204" pitchFamily="18" charset="0"/>
                            </a:rPr>
                            <m:t>𝑻𝒓𝒖𝒆</m:t>
                          </m:r>
                          <m:r>
                            <a:rPr lang="en-US" b="1" i="1">
                              <a:latin typeface="Cambria Math" panose="02040503050406030204" pitchFamily="18" charset="0"/>
                            </a:rPr>
                            <m:t>) ∗ </m:t>
                          </m:r>
                          <m:r>
                            <a:rPr lang="en-US" b="1" i="1" smtClean="0">
                              <a:solidFill>
                                <a:srgbClr val="0070C0"/>
                              </a:solidFill>
                              <a:latin typeface="Cambria Math" panose="02040503050406030204" pitchFamily="18" charset="0"/>
                            </a:rPr>
                            <m:t>𝑷</m:t>
                          </m:r>
                          <m:r>
                            <a:rPr lang="en-US" b="1" i="1" smtClean="0">
                              <a:solidFill>
                                <a:srgbClr val="0070C0"/>
                              </a:solidFill>
                              <a:latin typeface="Cambria Math" panose="02040503050406030204" pitchFamily="18" charset="0"/>
                            </a:rPr>
                            <m:t>(</m:t>
                          </m:r>
                          <m:r>
                            <a:rPr lang="en-US" b="1" i="1" smtClean="0">
                              <a:solidFill>
                                <a:srgbClr val="0070C0"/>
                              </a:solidFill>
                              <a:latin typeface="Cambria Math" panose="02040503050406030204" pitchFamily="18" charset="0"/>
                            </a:rPr>
                            <m:t>𝑻𝒓𝒖𝒆</m:t>
                          </m:r>
                          <m:r>
                            <a:rPr lang="en-US" b="1" i="1" smtClean="0">
                              <a:solidFill>
                                <a:srgbClr val="0070C0"/>
                              </a:solidFill>
                              <a:latin typeface="Cambria Math" panose="02040503050406030204" pitchFamily="18" charset="0"/>
                            </a:rPr>
                            <m:t>)</m:t>
                          </m:r>
                        </m:num>
                        <m:den>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𝟏</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𝟐</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𝟑</m:t>
                          </m:r>
                          <m:r>
                            <a:rPr lang="en-US" b="1" i="1">
                              <a:latin typeface="Cambria Math" panose="02040503050406030204" pitchFamily="18" charset="0"/>
                            </a:rPr>
                            <m:t>)</m:t>
                          </m:r>
                        </m:den>
                      </m:f>
                    </m:oMath>
                  </m:oMathPara>
                </a14:m>
                <a:endParaRPr lang="en-US" dirty="0"/>
              </a:p>
              <a:p>
                <a:r>
                  <a:rPr lang="en-US" dirty="0"/>
                  <a:t> </a:t>
                </a:r>
              </a:p>
              <a:p>
                <a:r>
                  <a:rPr lang="en-US" dirty="0"/>
                  <a:t>and similarly:</a:t>
                </a:r>
              </a:p>
              <a:p>
                <a:r>
                  <a:rPr lang="en-US" dirty="0"/>
                  <a:t> </a:t>
                </a:r>
              </a:p>
              <a:p>
                <a:pPr/>
                <a14:m>
                  <m:oMathPara xmlns:m="http://schemas.openxmlformats.org/officeDocument/2006/math">
                    <m:oMathParaPr>
                      <m:jc m:val="left"/>
                    </m:oMathParaPr>
                    <m:oMath xmlns:m="http://schemas.openxmlformats.org/officeDocument/2006/math">
                      <m:r>
                        <a:rPr lang="en-US" b="1" i="1">
                          <a:latin typeface="Cambria Math" panose="02040503050406030204" pitchFamily="18" charset="0"/>
                        </a:rPr>
                        <m:t>𝑷</m:t>
                      </m:r>
                      <m:r>
                        <a:rPr lang="en-US" b="1" i="1" baseline="-25000" smtClean="0">
                          <a:latin typeface="Cambria Math" panose="02040503050406030204" pitchFamily="18" charset="0"/>
                        </a:rPr>
                        <m:t>𝒇𝒂𝒍𝒔𝒆</m:t>
                      </m:r>
                      <m:r>
                        <a:rPr lang="en-US" b="1" i="1" baseline="-25000" smtClean="0">
                          <a:latin typeface="Cambria Math" panose="02040503050406030204" pitchFamily="18" charset="0"/>
                        </a:rPr>
                        <m:t> = </m:t>
                      </m:r>
                      <m:r>
                        <a:rPr lang="en-US" b="1" i="1" smtClean="0">
                          <a:latin typeface="Cambria Math" panose="02040503050406030204" pitchFamily="18" charset="0"/>
                        </a:rPr>
                        <m:t>𝑷</m:t>
                      </m:r>
                      <m:d>
                        <m:dPr>
                          <m:ctrlPr>
                            <a:rPr lang="en-US" b="1" i="1">
                              <a:latin typeface="Cambria Math" panose="02040503050406030204" pitchFamily="18" charset="0"/>
                            </a:rPr>
                          </m:ctrlPr>
                        </m:dPr>
                        <m:e>
                          <m:r>
                            <a:rPr lang="en-US" b="1" i="1">
                              <a:latin typeface="Cambria Math" panose="02040503050406030204" pitchFamily="18" charset="0"/>
                            </a:rPr>
                            <m:t>𝑭𝒂𝒍𝒔𝒆</m:t>
                          </m:r>
                        </m:e>
                        <m:e>
                          <m:r>
                            <a:rPr lang="en-US" b="1" i="1">
                              <a:latin typeface="Cambria Math" panose="02040503050406030204" pitchFamily="18" charset="0"/>
                            </a:rPr>
                            <m:t>𝒆</m:t>
                          </m:r>
                          <m:r>
                            <a:rPr lang="en-US" b="1" i="1">
                              <a:latin typeface="Cambria Math" panose="02040503050406030204" pitchFamily="18" charset="0"/>
                            </a:rPr>
                            <m:t>𝟏</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𝟐</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𝟑</m:t>
                          </m:r>
                        </m:e>
                      </m:d>
                      <m:r>
                        <a:rPr lang="en-US" b="1" i="1" smtClean="0">
                          <a:latin typeface="Cambria Math" panose="02040503050406030204" pitchFamily="18" charset="0"/>
                        </a:rPr>
                        <m:t>= … </m:t>
                      </m:r>
                      <m:r>
                        <a:rPr lang="en-US" b="1" i="1">
                          <a:latin typeface="Cambria Math" panose="02040503050406030204" pitchFamily="18" charset="0"/>
                        </a:rPr>
                        <m:t>= </m:t>
                      </m:r>
                      <m:f>
                        <m:fPr>
                          <m:ctrlPr>
                            <a:rPr lang="en-US" b="1" i="1">
                              <a:latin typeface="Cambria Math" panose="02040503050406030204" pitchFamily="18" charset="0"/>
                            </a:rPr>
                          </m:ctrlPr>
                        </m:fPr>
                        <m:num>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𝟏</m:t>
                          </m:r>
                          <m:r>
                            <a:rPr lang="en-US" b="1" i="1">
                              <a:latin typeface="Cambria Math" panose="02040503050406030204" pitchFamily="18" charset="0"/>
                            </a:rPr>
                            <m:t>|</m:t>
                          </m:r>
                          <m:r>
                            <a:rPr lang="en-US" b="1" i="1">
                              <a:latin typeface="Cambria Math" panose="02040503050406030204" pitchFamily="18" charset="0"/>
                            </a:rPr>
                            <m:t>𝑭𝒂𝒍𝒔𝒆</m:t>
                          </m:r>
                          <m:r>
                            <a:rPr lang="en-US" b="1" i="1">
                              <a:latin typeface="Cambria Math" panose="02040503050406030204" pitchFamily="18" charset="0"/>
                            </a:rPr>
                            <m:t>) ∗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𝟐</m:t>
                          </m:r>
                          <m:r>
                            <a:rPr lang="en-US" b="1" i="1">
                              <a:latin typeface="Cambria Math" panose="02040503050406030204" pitchFamily="18" charset="0"/>
                            </a:rPr>
                            <m:t>|</m:t>
                          </m:r>
                          <m:r>
                            <a:rPr lang="en-US" b="1" i="1">
                              <a:latin typeface="Cambria Math" panose="02040503050406030204" pitchFamily="18" charset="0"/>
                            </a:rPr>
                            <m:t>𝑭𝒂𝒍𝒔𝒆</m:t>
                          </m:r>
                          <m:r>
                            <a:rPr lang="en-US" b="1" i="1">
                              <a:latin typeface="Cambria Math" panose="02040503050406030204" pitchFamily="18" charset="0"/>
                            </a:rPr>
                            <m:t>) ∗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𝟑</m:t>
                          </m:r>
                          <m:r>
                            <a:rPr lang="en-US" b="1" i="1">
                              <a:latin typeface="Cambria Math" panose="02040503050406030204" pitchFamily="18" charset="0"/>
                            </a:rPr>
                            <m:t>|</m:t>
                          </m:r>
                          <m:r>
                            <a:rPr lang="en-US" b="1" i="1">
                              <a:latin typeface="Cambria Math" panose="02040503050406030204" pitchFamily="18" charset="0"/>
                            </a:rPr>
                            <m:t>𝑭𝒂𝒍𝒔𝒆</m:t>
                          </m:r>
                          <m:r>
                            <a:rPr lang="en-US" b="1" i="1">
                              <a:latin typeface="Cambria Math" panose="02040503050406030204" pitchFamily="18" charset="0"/>
                            </a:rPr>
                            <m:t>) ∗ </m:t>
                          </m:r>
                          <m:r>
                            <a:rPr lang="en-US" b="1" i="1" smtClean="0">
                              <a:solidFill>
                                <a:srgbClr val="0070C0"/>
                              </a:solidFill>
                              <a:latin typeface="Cambria Math" panose="02040503050406030204" pitchFamily="18" charset="0"/>
                            </a:rPr>
                            <m:t>𝑷</m:t>
                          </m:r>
                          <m:r>
                            <a:rPr lang="en-US" b="1" i="1" smtClean="0">
                              <a:solidFill>
                                <a:srgbClr val="0070C0"/>
                              </a:solidFill>
                              <a:latin typeface="Cambria Math" panose="02040503050406030204" pitchFamily="18" charset="0"/>
                            </a:rPr>
                            <m:t>(</m:t>
                          </m:r>
                          <m:r>
                            <a:rPr lang="en-US" b="1" i="1" smtClean="0">
                              <a:solidFill>
                                <a:srgbClr val="0070C0"/>
                              </a:solidFill>
                              <a:latin typeface="Cambria Math" panose="02040503050406030204" pitchFamily="18" charset="0"/>
                            </a:rPr>
                            <m:t>𝑭𝒂𝒍𝒔𝒆</m:t>
                          </m:r>
                          <m:r>
                            <a:rPr lang="en-US" b="1" i="1" smtClean="0">
                              <a:solidFill>
                                <a:srgbClr val="0070C0"/>
                              </a:solidFill>
                              <a:latin typeface="Cambria Math" panose="02040503050406030204" pitchFamily="18" charset="0"/>
                            </a:rPr>
                            <m:t>)</m:t>
                          </m:r>
                        </m:num>
                        <m:den>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𝟏</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𝟐</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𝟑</m:t>
                          </m:r>
                          <m:r>
                            <a:rPr lang="en-US" b="1" i="1">
                              <a:latin typeface="Cambria Math" panose="02040503050406030204" pitchFamily="18" charset="0"/>
                            </a:rPr>
                            <m:t>)</m:t>
                          </m:r>
                        </m:den>
                      </m:f>
                    </m:oMath>
                  </m:oMathPara>
                </a14:m>
                <a:endParaRPr lang="en-US" dirty="0"/>
              </a:p>
            </p:txBody>
          </p:sp>
        </mc:Choice>
        <mc:Fallback xmlns="">
          <p:sp>
            <p:nvSpPr>
              <p:cNvPr id="5" name="TextBox 4">
                <a:extLst>
                  <a:ext uri="{FF2B5EF4-FFF2-40B4-BE49-F238E27FC236}">
                    <a16:creationId xmlns:a16="http://schemas.microsoft.com/office/drawing/2014/main" id="{637068B0-78A5-0E4A-8BEA-9B3F5428B23A}"/>
                  </a:ext>
                </a:extLst>
              </p:cNvPr>
              <p:cNvSpPr txBox="1">
                <a:spLocks noRot="1" noChangeAspect="1" noMove="1" noResize="1" noEditPoints="1" noAdjustHandles="1" noChangeArrowheads="1" noChangeShapeType="1" noTextEdit="1"/>
              </p:cNvSpPr>
              <p:nvPr/>
            </p:nvSpPr>
            <p:spPr>
              <a:xfrm>
                <a:off x="126123" y="731651"/>
                <a:ext cx="11109435" cy="2497607"/>
              </a:xfrm>
              <a:prstGeom prst="rect">
                <a:avLst/>
              </a:prstGeom>
              <a:blipFill>
                <a:blip r:embed="rId2"/>
                <a:stretch>
                  <a:fillRect l="-114" t="-508" b="-5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18FC7FC-51D9-5A43-8D54-0691902B9E97}"/>
                  </a:ext>
                </a:extLst>
              </p:cNvPr>
              <p:cNvSpPr txBox="1"/>
              <p:nvPr/>
            </p:nvSpPr>
            <p:spPr>
              <a:xfrm>
                <a:off x="126122" y="3464488"/>
                <a:ext cx="11109435" cy="3341684"/>
              </a:xfrm>
              <a:prstGeom prst="rect">
                <a:avLst/>
              </a:prstGeom>
              <a:noFill/>
            </p:spPr>
            <p:txBody>
              <a:bodyPr wrap="square" rtlCol="0">
                <a:spAutoFit/>
              </a:bodyPr>
              <a:lstStyle/>
              <a:p>
                <a:r>
                  <a:rPr lang="en-US" dirty="0"/>
                  <a:t>Note how we write conditional probability P(e1,e2,e3|O) on top as a product of individual probabilities.</a:t>
                </a:r>
              </a:p>
              <a:p>
                <a:r>
                  <a:rPr lang="en-US" dirty="0"/>
                  <a:t>We can do that because their influences are presumed independent and equal (this is the main assumption of "Naive" approach).</a:t>
                </a:r>
              </a:p>
              <a:p>
                <a:endParaRPr lang="en-US" dirty="0"/>
              </a:p>
              <a:p>
                <a:r>
                  <a:rPr lang="en-US" dirty="0"/>
                  <a:t>Also note that the probability in the denominator is NOT split into multiplication. </a:t>
                </a:r>
                <a:br>
                  <a:rPr lang="en-US" dirty="0"/>
                </a:br>
                <a:r>
                  <a:rPr lang="en-US" dirty="0"/>
                  <a:t>We can not split it because generally we don't assume that events e1,e2,e3 are independent. </a:t>
                </a:r>
                <a:br>
                  <a:rPr lang="en-US" dirty="0"/>
                </a:br>
                <a:r>
                  <a:rPr lang="en-US" dirty="0"/>
                  <a:t>We only assume that their influences on the outcome "O" are independent (and equal in their potential influence).</a:t>
                </a:r>
              </a:p>
              <a:p>
                <a:endParaRPr lang="en-US" dirty="0"/>
              </a:p>
              <a:p>
                <a:r>
                  <a:rPr lang="en-US" dirty="0"/>
                  <a:t>But the good news is that we don't have to calculate the denominator, because it is the same for both probabilities, and for classification purposes we only need to determine which value is larger – </a:t>
                </a:r>
                <a:r>
                  <a:rPr lang="en-US" dirty="0" err="1"/>
                  <a:t>P</a:t>
                </a:r>
                <a:r>
                  <a:rPr lang="en-US" baseline="-25000" dirty="0" err="1"/>
                  <a:t>true</a:t>
                </a:r>
                <a:r>
                  <a:rPr lang="en-US" dirty="0"/>
                  <a:t> or </a:t>
                </a:r>
                <a:r>
                  <a:rPr lang="en-US" dirty="0" err="1"/>
                  <a:t>P</a:t>
                </a:r>
                <a:r>
                  <a:rPr lang="en-US" baseline="-25000" dirty="0" err="1"/>
                  <a:t>false</a:t>
                </a:r>
                <a:r>
                  <a:rPr lang="en-US" dirty="0"/>
                  <a:t>.</a:t>
                </a:r>
              </a:p>
              <a:p>
                <a:endParaRPr lang="en-US" dirty="0"/>
              </a:p>
              <a:p>
                <a:r>
                  <a:rPr lang="en-US" dirty="0"/>
                  <a:t>Also note that if you want to use this formula for only few events (for example e1 &amp; e2), you can simply remove all other events from the formula as if you have never known that they existed. Ultimately for just one event e1 you will get classical Bayes formula: </a:t>
                </a:r>
              </a:p>
              <a:p>
                <a:endParaRPr lang="en-US" dirty="0"/>
              </a:p>
              <a:p>
                <a:pPr/>
                <a14:m>
                  <m:oMathPara xmlns:m="http://schemas.openxmlformats.org/officeDocument/2006/math">
                    <m:oMathParaPr>
                      <m:jc m:val="center"/>
                    </m:oMathParaPr>
                    <m:oMath xmlns:m="http://schemas.openxmlformats.org/officeDocument/2006/math">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𝑶</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𝟏</m:t>
                      </m:r>
                      <m:r>
                        <a:rPr lang="en-US" b="1" i="1">
                          <a:latin typeface="Cambria Math" panose="02040503050406030204" pitchFamily="18" charset="0"/>
                        </a:rPr>
                        <m:t>) = </m:t>
                      </m:r>
                      <m:f>
                        <m:fPr>
                          <m:ctrlPr>
                            <a:rPr lang="en-US" b="1" i="1">
                              <a:latin typeface="Cambria Math" panose="02040503050406030204" pitchFamily="18" charset="0"/>
                            </a:rPr>
                          </m:ctrlPr>
                        </m:fPr>
                        <m:num>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𝟏</m:t>
                          </m:r>
                          <m:r>
                            <a:rPr lang="en-US" b="1" i="1">
                              <a:latin typeface="Cambria Math" panose="02040503050406030204" pitchFamily="18" charset="0"/>
                            </a:rPr>
                            <m:t>|</m:t>
                          </m:r>
                          <m:r>
                            <a:rPr lang="en-US" b="1" i="1">
                              <a:latin typeface="Cambria Math" panose="02040503050406030204" pitchFamily="18" charset="0"/>
                            </a:rPr>
                            <m:t>𝑶</m:t>
                          </m:r>
                          <m:r>
                            <a:rPr lang="en-US" b="1" i="1">
                              <a:latin typeface="Cambria Math" panose="02040503050406030204" pitchFamily="18" charset="0"/>
                            </a:rPr>
                            <m:t>) ∗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𝑶</m:t>
                          </m:r>
                          <m:r>
                            <a:rPr lang="en-US" b="1" i="1">
                              <a:latin typeface="Cambria Math" panose="02040503050406030204" pitchFamily="18" charset="0"/>
                            </a:rPr>
                            <m:t>)</m:t>
                          </m:r>
                        </m:num>
                        <m:den>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𝟏</m:t>
                          </m:r>
                          <m:r>
                            <a:rPr lang="en-US" b="1" i="1">
                              <a:latin typeface="Cambria Math" panose="02040503050406030204" pitchFamily="18" charset="0"/>
                            </a:rPr>
                            <m:t>)</m:t>
                          </m:r>
                        </m:den>
                      </m:f>
                    </m:oMath>
                  </m:oMathPara>
                </a14:m>
                <a:endParaRPr lang="en-US" dirty="0"/>
              </a:p>
            </p:txBody>
          </p:sp>
        </mc:Choice>
        <mc:Fallback xmlns="">
          <p:sp>
            <p:nvSpPr>
              <p:cNvPr id="6" name="TextBox 5">
                <a:extLst>
                  <a:ext uri="{FF2B5EF4-FFF2-40B4-BE49-F238E27FC236}">
                    <a16:creationId xmlns:a16="http://schemas.microsoft.com/office/drawing/2014/main" id="{518FC7FC-51D9-5A43-8D54-0691902B9E97}"/>
                  </a:ext>
                </a:extLst>
              </p:cNvPr>
              <p:cNvSpPr txBox="1">
                <a:spLocks noRot="1" noChangeAspect="1" noMove="1" noResize="1" noEditPoints="1" noAdjustHandles="1" noChangeArrowheads="1" noChangeShapeType="1" noTextEdit="1"/>
              </p:cNvSpPr>
              <p:nvPr/>
            </p:nvSpPr>
            <p:spPr>
              <a:xfrm>
                <a:off x="126122" y="3464488"/>
                <a:ext cx="11109435" cy="3341684"/>
              </a:xfrm>
              <a:prstGeom prst="rect">
                <a:avLst/>
              </a:prstGeom>
              <a:blipFill>
                <a:blip r:embed="rId3"/>
                <a:stretch>
                  <a:fillRect l="-114" t="-37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6C291246-E548-174A-A5A0-C754F51FA9FB}"/>
              </a:ext>
            </a:extLst>
          </p:cNvPr>
          <p:cNvSpPr txBox="1"/>
          <p:nvPr/>
        </p:nvSpPr>
        <p:spPr>
          <a:xfrm>
            <a:off x="126124" y="66909"/>
            <a:ext cx="5969876" cy="400110"/>
          </a:xfrm>
          <a:prstGeom prst="rect">
            <a:avLst/>
          </a:prstGeom>
          <a:noFill/>
        </p:spPr>
        <p:txBody>
          <a:bodyPr wrap="square" rtlCol="0">
            <a:spAutoFit/>
          </a:bodyPr>
          <a:lstStyle/>
          <a:p>
            <a:r>
              <a:rPr lang="en-US" sz="2000" b="1"/>
              <a:t>Naive Bayes Classification in more details:</a:t>
            </a:r>
            <a:endParaRPr lang="en-US" sz="2000"/>
          </a:p>
        </p:txBody>
      </p:sp>
    </p:spTree>
    <p:extLst>
      <p:ext uri="{BB962C8B-B14F-4D97-AF65-F5344CB8AC3E}">
        <p14:creationId xmlns:p14="http://schemas.microsoft.com/office/powerpoint/2010/main" val="3827244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93" name="Google Shape;93;p13"/>
          <p:cNvSpPr txBox="1"/>
          <p:nvPr/>
        </p:nvSpPr>
        <p:spPr>
          <a:xfrm>
            <a:off x="0" y="0"/>
            <a:ext cx="6705600" cy="294289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accent1"/>
                </a:solidFill>
                <a:latin typeface="Calibri" panose="020F0502020204030204" pitchFamily="34" charset="0"/>
                <a:cs typeface="Calibri" panose="020F0502020204030204" pitchFamily="34" charset="0"/>
                <a:sym typeface="Calibri"/>
              </a:rPr>
              <a:t>Frequentist interpretation of Bayes’ theorem.</a:t>
            </a:r>
            <a:endParaRPr sz="1800" b="1">
              <a:solidFill>
                <a:schemeClr val="accent1"/>
              </a:solidFill>
              <a:latin typeface="Calibri" panose="020F0502020204030204" pitchFamily="34" charset="0"/>
              <a:cs typeface="Calibri" panose="020F0502020204030204" pitchFamily="34" charset="0"/>
            </a:endParaRPr>
          </a:p>
          <a:p>
            <a:pPr marL="0" marR="0" lvl="0" indent="0" algn="l" rtl="0">
              <a:spcBef>
                <a:spcPts val="0"/>
              </a:spcBef>
              <a:spcAft>
                <a:spcPts val="0"/>
              </a:spcAft>
              <a:buNone/>
            </a:pPr>
            <a:r>
              <a:rPr lang="en-US" sz="1800">
                <a:solidFill>
                  <a:schemeClr val="dk1"/>
                </a:solidFill>
                <a:latin typeface="Calibri" panose="020F0502020204030204" pitchFamily="34" charset="0"/>
                <a:cs typeface="Calibri" panose="020F0502020204030204" pitchFamily="34" charset="0"/>
                <a:sym typeface="Calibri"/>
              </a:rPr>
              <a:t>Probability measures a proportion of outcomes.</a:t>
            </a:r>
            <a:endParaRPr sz="1800">
              <a:solidFill>
                <a:schemeClr val="dk1"/>
              </a:solidFill>
              <a:latin typeface="Calibri" panose="020F0502020204030204" pitchFamily="34" charset="0"/>
              <a:cs typeface="Calibri" panose="020F0502020204030204" pitchFamily="34" charset="0"/>
              <a:sym typeface="Calibri"/>
            </a:endParaRPr>
          </a:p>
          <a:p>
            <a:pPr marL="0" marR="0" lvl="0" indent="0" algn="l" rtl="0">
              <a:spcBef>
                <a:spcPts val="0"/>
              </a:spcBef>
              <a:spcAft>
                <a:spcPts val="0"/>
              </a:spcAft>
              <a:buNone/>
            </a:pPr>
            <a:r>
              <a:rPr lang="en-US" sz="1800">
                <a:solidFill>
                  <a:schemeClr val="dk1"/>
                </a:solidFill>
                <a:latin typeface="Calibri" panose="020F0502020204030204" pitchFamily="34" charset="0"/>
                <a:cs typeface="Calibri" panose="020F0502020204030204" pitchFamily="34" charset="0"/>
                <a:sym typeface="Calibri"/>
              </a:rPr>
              <a:t>P(A) is the proportion of outcomes with A,  P(B) – with B.</a:t>
            </a:r>
            <a:endParaRPr sz="1800">
              <a:solidFill>
                <a:schemeClr val="dk1"/>
              </a:solidFill>
              <a:latin typeface="Calibri" panose="020F0502020204030204" pitchFamily="34" charset="0"/>
              <a:cs typeface="Calibri" panose="020F0502020204030204" pitchFamily="34" charset="0"/>
            </a:endParaRPr>
          </a:p>
          <a:p>
            <a:pPr marL="0" marR="0" lvl="0" indent="0" algn="l" rtl="0">
              <a:spcBef>
                <a:spcPts val="0"/>
              </a:spcBef>
              <a:spcAft>
                <a:spcPts val="0"/>
              </a:spcAft>
              <a:buNone/>
            </a:pPr>
            <a:r>
              <a:rPr lang="en-US" sz="1800">
                <a:solidFill>
                  <a:schemeClr val="dk1"/>
                </a:solidFill>
                <a:latin typeface="Calibri" panose="020F0502020204030204" pitchFamily="34" charset="0"/>
                <a:cs typeface="Calibri" panose="020F0502020204030204" pitchFamily="34" charset="0"/>
                <a:sym typeface="Calibri"/>
              </a:rPr>
              <a:t>P(B|A) is the proportion of outcomes with property B </a:t>
            </a:r>
            <a:endParaRPr sz="1800">
              <a:solidFill>
                <a:schemeClr val="dk1"/>
              </a:solidFill>
              <a:latin typeface="Calibri" panose="020F0502020204030204" pitchFamily="34" charset="0"/>
              <a:cs typeface="Calibri" panose="020F0502020204030204" pitchFamily="34" charset="0"/>
              <a:sym typeface="Calibri"/>
            </a:endParaRPr>
          </a:p>
          <a:p>
            <a:pPr marL="0" marR="0" lvl="0" indent="0" algn="l" rtl="0">
              <a:spcBef>
                <a:spcPts val="0"/>
              </a:spcBef>
              <a:spcAft>
                <a:spcPts val="0"/>
              </a:spcAft>
              <a:buNone/>
            </a:pPr>
            <a:r>
              <a:rPr lang="en-US" sz="1800">
                <a:solidFill>
                  <a:schemeClr val="dk1"/>
                </a:solidFill>
                <a:latin typeface="Calibri" panose="020F0502020204030204" pitchFamily="34" charset="0"/>
                <a:cs typeface="Calibri" panose="020F0502020204030204" pitchFamily="34" charset="0"/>
                <a:sym typeface="Calibri"/>
              </a:rPr>
              <a:t>out of outcomes with property A.</a:t>
            </a:r>
          </a:p>
          <a:p>
            <a:r>
              <a:rPr lang="en-US" sz="1800" b="1">
                <a:solidFill>
                  <a:schemeClr val="accent1"/>
                </a:solidFill>
                <a:latin typeface="Calibri" panose="020F0502020204030204" pitchFamily="34" charset="0"/>
                <a:cs typeface="Calibri" panose="020F0502020204030204" pitchFamily="34" charset="0"/>
                <a:sym typeface="Calibri"/>
              </a:rPr>
              <a:t>Bayesian interpretation of Bayes’ theorem.</a:t>
            </a:r>
            <a:endParaRPr lang="en-US" sz="1800" b="1">
              <a:solidFill>
                <a:schemeClr val="accent1"/>
              </a:solidFill>
              <a:latin typeface="Calibri" panose="020F0502020204030204" pitchFamily="34" charset="0"/>
              <a:cs typeface="Calibri" panose="020F0502020204030204" pitchFamily="34" charset="0"/>
            </a:endParaRPr>
          </a:p>
          <a:p>
            <a:pPr lvl="0"/>
            <a:r>
              <a:rPr lang="en-US" sz="1800">
                <a:solidFill>
                  <a:schemeClr val="dk1"/>
                </a:solidFill>
                <a:latin typeface="Calibri" panose="020F0502020204030204" pitchFamily="34" charset="0"/>
                <a:cs typeface="Calibri" panose="020F0502020204030204" pitchFamily="34" charset="0"/>
                <a:sym typeface="Calibri"/>
              </a:rPr>
              <a:t>Probability measures a degree of belief.</a:t>
            </a:r>
            <a:br>
              <a:rPr lang="en-US" sz="1800">
                <a:solidFill>
                  <a:schemeClr val="dk1"/>
                </a:solidFill>
                <a:latin typeface="Calibri" panose="020F0502020204030204" pitchFamily="34" charset="0"/>
                <a:cs typeface="Calibri" panose="020F0502020204030204" pitchFamily="34" charset="0"/>
                <a:sym typeface="Calibri"/>
              </a:rPr>
            </a:br>
            <a:r>
              <a:rPr lang="en-US" sz="1800">
                <a:solidFill>
                  <a:schemeClr val="dk1"/>
                </a:solidFill>
                <a:latin typeface="Calibri" panose="020F0502020204030204" pitchFamily="34" charset="0"/>
                <a:cs typeface="Calibri" panose="020F0502020204030204" pitchFamily="34" charset="0"/>
                <a:sym typeface="Calibri"/>
              </a:rPr>
              <a:t>P(A), the </a:t>
            </a:r>
            <a:r>
              <a:rPr lang="en-US" sz="1800" b="1">
                <a:solidFill>
                  <a:schemeClr val="accent1"/>
                </a:solidFill>
                <a:latin typeface="Calibri" panose="020F0502020204030204" pitchFamily="34" charset="0"/>
                <a:cs typeface="Calibri" panose="020F0502020204030204" pitchFamily="34" charset="0"/>
                <a:sym typeface="Calibri"/>
              </a:rPr>
              <a:t>prior</a:t>
            </a:r>
            <a:r>
              <a:rPr lang="en-US" sz="1800">
                <a:solidFill>
                  <a:schemeClr val="dk1"/>
                </a:solidFill>
                <a:latin typeface="Calibri" panose="020F0502020204030204" pitchFamily="34" charset="0"/>
                <a:cs typeface="Calibri" panose="020F0502020204030204" pitchFamily="34" charset="0"/>
                <a:sym typeface="Calibri"/>
              </a:rPr>
              <a:t>, is the initial degree of belief in A.</a:t>
            </a:r>
            <a:endParaRPr lang="en-US" sz="1800">
              <a:solidFill>
                <a:schemeClr val="dk1"/>
              </a:solidFill>
              <a:latin typeface="Calibri" panose="020F0502020204030204" pitchFamily="34" charset="0"/>
              <a:cs typeface="Calibri" panose="020F0502020204030204" pitchFamily="34" charset="0"/>
            </a:endParaRPr>
          </a:p>
          <a:p>
            <a:pPr lvl="0"/>
            <a:r>
              <a:rPr lang="en-US" sz="1800">
                <a:solidFill>
                  <a:schemeClr val="dk1"/>
                </a:solidFill>
                <a:latin typeface="Calibri" panose="020F0502020204030204" pitchFamily="34" charset="0"/>
                <a:cs typeface="Calibri" panose="020F0502020204030204" pitchFamily="34" charset="0"/>
                <a:sym typeface="Calibri"/>
              </a:rPr>
              <a:t>P(A|B), the </a:t>
            </a:r>
            <a:r>
              <a:rPr lang="en-US" sz="1800" b="1">
                <a:solidFill>
                  <a:schemeClr val="accent1"/>
                </a:solidFill>
                <a:latin typeface="Calibri" panose="020F0502020204030204" pitchFamily="34" charset="0"/>
                <a:cs typeface="Calibri" panose="020F0502020204030204" pitchFamily="34" charset="0"/>
                <a:sym typeface="Calibri"/>
              </a:rPr>
              <a:t>posterior</a:t>
            </a:r>
            <a:r>
              <a:rPr lang="en-US" sz="1800">
                <a:solidFill>
                  <a:schemeClr val="dk1"/>
                </a:solidFill>
                <a:latin typeface="Calibri" panose="020F0502020204030204" pitchFamily="34" charset="0"/>
                <a:cs typeface="Calibri" panose="020F0502020204030204" pitchFamily="34" charset="0"/>
                <a:sym typeface="Calibri"/>
              </a:rPr>
              <a:t>, is the degree of belief having accounted for B.</a:t>
            </a:r>
            <a:br>
              <a:rPr lang="en-US" sz="1800">
                <a:solidFill>
                  <a:schemeClr val="dk1"/>
                </a:solidFill>
                <a:latin typeface="Calibri" panose="020F0502020204030204" pitchFamily="34" charset="0"/>
                <a:cs typeface="Calibri" panose="020F0502020204030204" pitchFamily="34" charset="0"/>
                <a:sym typeface="Calibri"/>
              </a:rPr>
            </a:br>
            <a:r>
              <a:rPr lang="en-US" sz="1800">
                <a:solidFill>
                  <a:schemeClr val="dk1"/>
                </a:solidFill>
                <a:latin typeface="Calibri" panose="020F0502020204030204" pitchFamily="34" charset="0"/>
                <a:cs typeface="Calibri" panose="020F0502020204030204" pitchFamily="34" charset="0"/>
                <a:sym typeface="Calibri"/>
              </a:rPr>
              <a:t>P(B|A)/P(B) – represents the support B provides for A.</a:t>
            </a:r>
            <a:endParaRPr lang="en-US" sz="1800">
              <a:solidFill>
                <a:schemeClr val="dk1"/>
              </a:solidFill>
              <a:latin typeface="Calibri" panose="020F0502020204030204" pitchFamily="34" charset="0"/>
              <a:cs typeface="Calibri" panose="020F0502020204030204" pitchFamily="34" charset="0"/>
            </a:endParaRPr>
          </a:p>
          <a:p>
            <a:pPr marL="0" marR="0" lvl="0" indent="0" algn="l" rtl="0">
              <a:spcBef>
                <a:spcPts val="0"/>
              </a:spcBef>
              <a:spcAft>
                <a:spcPts val="0"/>
              </a:spcAft>
              <a:buNone/>
            </a:pPr>
            <a:endParaRPr>
              <a:latin typeface="Calibri" panose="020F0502020204030204" pitchFamily="34" charset="0"/>
              <a:cs typeface="Calibri" panose="020F0502020204030204" pitchFamily="34" charset="0"/>
            </a:endParaRPr>
          </a:p>
        </p:txBody>
      </p:sp>
      <p:sp>
        <p:nvSpPr>
          <p:cNvPr id="17" name="Google Shape;113;p14">
            <a:extLst>
              <a:ext uri="{FF2B5EF4-FFF2-40B4-BE49-F238E27FC236}">
                <a16:creationId xmlns:a16="http://schemas.microsoft.com/office/drawing/2014/main" id="{686E86FA-5888-014D-BB3F-938CE5095920}"/>
              </a:ext>
            </a:extLst>
          </p:cNvPr>
          <p:cNvSpPr txBox="1"/>
          <p:nvPr/>
        </p:nvSpPr>
        <p:spPr>
          <a:xfrm>
            <a:off x="6779172" y="105038"/>
            <a:ext cx="5412828" cy="113877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accent1"/>
                </a:solidFill>
                <a:latin typeface="Calibri" panose="020F0502020204030204" pitchFamily="34" charset="0"/>
                <a:cs typeface="Calibri" panose="020F0502020204030204" pitchFamily="34" charset="0"/>
                <a:sym typeface="Calibri"/>
              </a:rPr>
              <a:t>Bayesian optimization </a:t>
            </a:r>
            <a:endParaRPr sz="1800" b="1">
              <a:solidFill>
                <a:schemeClr val="accent1"/>
              </a:solidFill>
              <a:latin typeface="Calibri" panose="020F0502020204030204" pitchFamily="34" charset="0"/>
              <a:cs typeface="Calibri" panose="020F0502020204030204" pitchFamily="34" charset="0"/>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 sequential design strategy for global optimization of black-box functions that doesn't require derivatives.</a:t>
            </a:r>
            <a:endParaRPr/>
          </a:p>
        </p:txBody>
      </p:sp>
      <p:sp>
        <p:nvSpPr>
          <p:cNvPr id="18" name="Google Shape;107;p14">
            <a:extLst>
              <a:ext uri="{FF2B5EF4-FFF2-40B4-BE49-F238E27FC236}">
                <a16:creationId xmlns:a16="http://schemas.microsoft.com/office/drawing/2014/main" id="{C2992640-6531-5D46-B219-A020079806DB}"/>
              </a:ext>
            </a:extLst>
          </p:cNvPr>
          <p:cNvSpPr txBox="1"/>
          <p:nvPr/>
        </p:nvSpPr>
        <p:spPr>
          <a:xfrm>
            <a:off x="-1" y="3104101"/>
            <a:ext cx="8082455" cy="323406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accent1"/>
                </a:solidFill>
                <a:latin typeface="Calibri" panose="020F0502020204030204" pitchFamily="34" charset="0"/>
                <a:cs typeface="Calibri" panose="020F0502020204030204" pitchFamily="34" charset="0"/>
                <a:sym typeface="Calibri"/>
              </a:rPr>
              <a:t>Bayesian network  </a:t>
            </a:r>
            <a:br>
              <a:rPr lang="en-US" sz="1800" b="1">
                <a:solidFill>
                  <a:schemeClr val="accent1"/>
                </a:solidFill>
                <a:latin typeface="Calibri" panose="020F0502020204030204" pitchFamily="34" charset="0"/>
                <a:cs typeface="Calibri" panose="020F0502020204030204" pitchFamily="34" charset="0"/>
                <a:sym typeface="Calibri"/>
              </a:rPr>
            </a:br>
            <a:r>
              <a:rPr lang="en-US" sz="1800">
                <a:solidFill>
                  <a:schemeClr val="dk1"/>
                </a:solidFill>
                <a:latin typeface="Calibri"/>
                <a:cs typeface="Calibri"/>
                <a:sym typeface="Calibri"/>
              </a:rPr>
              <a:t>(Bayes network, belief network, Bayes(</a:t>
            </a:r>
            <a:r>
              <a:rPr lang="en-US" sz="1800" err="1">
                <a:solidFill>
                  <a:schemeClr val="dk1"/>
                </a:solidFill>
                <a:latin typeface="Calibri"/>
                <a:cs typeface="Calibri"/>
                <a:sym typeface="Calibri"/>
              </a:rPr>
              <a:t>ian</a:t>
            </a:r>
            <a:r>
              <a:rPr lang="en-US" sz="1800">
                <a:solidFill>
                  <a:schemeClr val="dk1"/>
                </a:solidFill>
                <a:latin typeface="Calibri"/>
                <a:cs typeface="Calibri"/>
                <a:sym typeface="Calibri"/>
              </a:rPr>
              <a:t>) model or probabilistic directed acyclic graphical model)</a:t>
            </a:r>
            <a:r>
              <a:rPr lang="en-US" sz="1800">
                <a:solidFill>
                  <a:schemeClr val="dk1"/>
                </a:solidFill>
                <a:latin typeface="Calibri"/>
                <a:ea typeface="Calibri"/>
                <a:cs typeface="Calibri"/>
                <a:sym typeface="Calibri"/>
              </a:rPr>
              <a:t> is a probabilistic graphical model (a type of statistical model) that represents a set of random variables and their conditional dependencies via a directed acyclic graph (DAG).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lang="en-US" sz="1800">
              <a:solidFill>
                <a:schemeClr val="dk1"/>
              </a:solidFill>
              <a:latin typeface="Calibri"/>
              <a:ea typeface="Calibri"/>
              <a:cs typeface="Calibri"/>
              <a:sym typeface="Calibri"/>
            </a:endParaRPr>
          </a:p>
          <a:p>
            <a:pPr marL="0" marR="0" lvl="0" indent="0" algn="l" rtl="0">
              <a:spcBef>
                <a:spcPts val="0"/>
              </a:spcBef>
              <a:spcAft>
                <a:spcPts val="0"/>
              </a:spcAft>
              <a:buNone/>
            </a:pPr>
            <a:endParaRPr lang="en-US"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Example: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a:t>
            </a:r>
            <a:r>
              <a:rPr lang="en-US" sz="1800" b="1">
                <a:solidFill>
                  <a:srgbClr val="0070C0"/>
                </a:solidFill>
                <a:latin typeface="Calibri"/>
                <a:ea typeface="Calibri"/>
                <a:cs typeface="Calibri"/>
                <a:sym typeface="Calibri"/>
              </a:rPr>
              <a:t>Deep Belief Networks </a:t>
            </a:r>
            <a:r>
              <a:rPr lang="en-US" sz="1800">
                <a:solidFill>
                  <a:schemeClr val="dk1"/>
                </a:solidFill>
                <a:latin typeface="Calibri"/>
                <a:ea typeface="Calibri"/>
                <a:cs typeface="Calibri"/>
                <a:sym typeface="Calibri"/>
              </a:rPr>
              <a:t>- made of layers of RBMs </a:t>
            </a:r>
          </a:p>
          <a:p>
            <a:pPr marL="0" marR="0" lvl="0" indent="0" algn="l" rtl="0">
              <a:spcBef>
                <a:spcPts val="0"/>
              </a:spcBef>
              <a:spcAft>
                <a:spcPts val="0"/>
              </a:spcAft>
              <a:buNone/>
            </a:pPr>
            <a:r>
              <a:rPr lang="en-US" sz="1800">
                <a:solidFill>
                  <a:schemeClr val="dk1"/>
                </a:solidFill>
                <a:latin typeface="Calibri"/>
                <a:ea typeface="Calibri"/>
                <a:cs typeface="Calibri"/>
                <a:sym typeface="Calibri"/>
              </a:rPr>
              <a:t>    (Restricted Boltzmann Machines),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each next layer (“B”) is trained on top of the previous layer (“A”).</a:t>
            </a:r>
            <a:endParaRPr sz="1800">
              <a:solidFill>
                <a:schemeClr val="dk1"/>
              </a:solidFill>
              <a:latin typeface="Calibri"/>
              <a:ea typeface="Calibri"/>
              <a:cs typeface="Calibri"/>
              <a:sym typeface="Calibri"/>
            </a:endParaRPr>
          </a:p>
        </p:txBody>
      </p:sp>
      <p:pic>
        <p:nvPicPr>
          <p:cNvPr id="19" name="Google Shape;114;p14">
            <a:extLst>
              <a:ext uri="{FF2B5EF4-FFF2-40B4-BE49-F238E27FC236}">
                <a16:creationId xmlns:a16="http://schemas.microsoft.com/office/drawing/2014/main" id="{6CEB8B6B-5D31-D04D-8340-CFFC67C74C71}"/>
              </a:ext>
            </a:extLst>
          </p:cNvPr>
          <p:cNvPicPr preferRelativeResize="0"/>
          <p:nvPr/>
        </p:nvPicPr>
        <p:blipFill rotWithShape="1">
          <a:blip r:embed="rId3">
            <a:alphaModFix/>
          </a:blip>
          <a:srcRect/>
          <a:stretch/>
        </p:blipFill>
        <p:spPr>
          <a:xfrm>
            <a:off x="9734988" y="1537237"/>
            <a:ext cx="2074067" cy="2412900"/>
          </a:xfrm>
          <a:prstGeom prst="rect">
            <a:avLst/>
          </a:prstGeom>
          <a:noFill/>
          <a:ln>
            <a:noFill/>
          </a:ln>
        </p:spPr>
      </p:pic>
      <p:pic>
        <p:nvPicPr>
          <p:cNvPr id="2" name="Picture 1">
            <a:extLst>
              <a:ext uri="{FF2B5EF4-FFF2-40B4-BE49-F238E27FC236}">
                <a16:creationId xmlns:a16="http://schemas.microsoft.com/office/drawing/2014/main" id="{1ACCABFF-30F1-C24A-8208-2DD7566C1AD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799567" y="4536988"/>
            <a:ext cx="3308350" cy="2273031"/>
          </a:xfrm>
          <a:prstGeom prst="rect">
            <a:avLst/>
          </a:prstGeom>
        </p:spPr>
      </p:pic>
      <p:cxnSp>
        <p:nvCxnSpPr>
          <p:cNvPr id="4" name="Straight Arrow Connector 3">
            <a:extLst>
              <a:ext uri="{FF2B5EF4-FFF2-40B4-BE49-F238E27FC236}">
                <a16:creationId xmlns:a16="http://schemas.microsoft.com/office/drawing/2014/main" id="{E055C238-B21B-A94E-B3FA-927006824DB1}"/>
              </a:ext>
            </a:extLst>
          </p:cNvPr>
          <p:cNvCxnSpPr>
            <a:cxnSpLocks/>
          </p:cNvCxnSpPr>
          <p:nvPr/>
        </p:nvCxnSpPr>
        <p:spPr>
          <a:xfrm flipV="1">
            <a:off x="8262335" y="3353896"/>
            <a:ext cx="1074464" cy="15020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21C78CF4-58E9-AC47-9EBD-FD10204A9181}"/>
              </a:ext>
            </a:extLst>
          </p:cNvPr>
          <p:cNvCxnSpPr>
            <a:cxnSpLocks/>
            <a:endCxn id="2" idx="1"/>
          </p:cNvCxnSpPr>
          <p:nvPr/>
        </p:nvCxnSpPr>
        <p:spPr>
          <a:xfrm>
            <a:off x="6705600" y="5673504"/>
            <a:ext cx="2093967"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3733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A0212EB-D5F5-7C42-9867-3F4106A76AC3}"/>
              </a:ext>
            </a:extLst>
          </p:cNvPr>
          <p:cNvSpPr txBox="1"/>
          <p:nvPr/>
        </p:nvSpPr>
        <p:spPr>
          <a:xfrm>
            <a:off x="-1" y="37572"/>
            <a:ext cx="6694715" cy="523220"/>
          </a:xfrm>
          <a:prstGeom prst="rect">
            <a:avLst/>
          </a:prstGeom>
          <a:noFill/>
        </p:spPr>
        <p:txBody>
          <a:bodyPr wrap="square" rtlCol="0">
            <a:spAutoFit/>
          </a:bodyPr>
          <a:lstStyle/>
          <a:p>
            <a:r>
              <a:rPr lang="en-US" sz="2800" b="1" dirty="0"/>
              <a:t>Probability - Bayesian vs Frequentist</a:t>
            </a:r>
          </a:p>
        </p:txBody>
      </p:sp>
      <p:sp>
        <p:nvSpPr>
          <p:cNvPr id="5" name="TextBox 4">
            <a:extLst>
              <a:ext uri="{FF2B5EF4-FFF2-40B4-BE49-F238E27FC236}">
                <a16:creationId xmlns:a16="http://schemas.microsoft.com/office/drawing/2014/main" id="{AADE8889-8C42-E543-BA59-6986D4778221}"/>
              </a:ext>
            </a:extLst>
          </p:cNvPr>
          <p:cNvSpPr txBox="1"/>
          <p:nvPr/>
        </p:nvSpPr>
        <p:spPr>
          <a:xfrm>
            <a:off x="185221" y="4350908"/>
            <a:ext cx="5929952" cy="2462213"/>
          </a:xfrm>
          <a:prstGeom prst="rect">
            <a:avLst/>
          </a:prstGeom>
          <a:noFill/>
        </p:spPr>
        <p:txBody>
          <a:bodyPr wrap="square" rtlCol="0">
            <a:spAutoFit/>
          </a:bodyPr>
          <a:lstStyle/>
          <a:p>
            <a:r>
              <a:rPr lang="en-US" b="1" dirty="0">
                <a:solidFill>
                  <a:srgbClr val="FF0000"/>
                </a:solidFill>
              </a:rPr>
              <a:t>Frequentist (classical):</a:t>
            </a:r>
          </a:p>
          <a:p>
            <a:r>
              <a:rPr lang="en-US" dirty="0"/>
              <a:t>    Calculate means (estimates) and confidence intervals</a:t>
            </a:r>
          </a:p>
          <a:p>
            <a:r>
              <a:rPr lang="en-US" dirty="0"/>
              <a:t>    Problems treating missing data (</a:t>
            </a:r>
            <a:r>
              <a:rPr lang="en-US" b="1" dirty="0">
                <a:solidFill>
                  <a:srgbClr val="FF0000"/>
                </a:solidFill>
              </a:rPr>
              <a:t>survivorship bias</a:t>
            </a:r>
            <a:r>
              <a:rPr lang="en-US" dirty="0"/>
              <a:t>)</a:t>
            </a:r>
          </a:p>
          <a:p>
            <a:r>
              <a:rPr lang="en-US" dirty="0"/>
              <a:t>    Problems with hypothesis testing (</a:t>
            </a:r>
            <a:r>
              <a:rPr lang="en-US" b="1" dirty="0">
                <a:solidFill>
                  <a:srgbClr val="FF0000"/>
                </a:solidFill>
              </a:rPr>
              <a:t>p-hacking</a:t>
            </a:r>
            <a:r>
              <a:rPr lang="en-US" dirty="0"/>
              <a:t>)</a:t>
            </a:r>
          </a:p>
          <a:p>
            <a:endParaRPr lang="en-US" b="1" dirty="0">
              <a:solidFill>
                <a:srgbClr val="FF0000"/>
              </a:solidFill>
            </a:endParaRPr>
          </a:p>
          <a:p>
            <a:r>
              <a:rPr lang="en-US" b="1" dirty="0">
                <a:solidFill>
                  <a:srgbClr val="FF0000"/>
                </a:solidFill>
              </a:rPr>
              <a:t>Bayesian:</a:t>
            </a:r>
          </a:p>
          <a:p>
            <a:r>
              <a:rPr lang="en-US" dirty="0"/>
              <a:t>    Enumerate all possible hypotheses – and compute their probabilities.</a:t>
            </a:r>
          </a:p>
          <a:p>
            <a:r>
              <a:rPr lang="en-US" dirty="0"/>
              <a:t>    We make a (subjective) choice of “prior” (model, distribution)</a:t>
            </a:r>
          </a:p>
          <a:p>
            <a:r>
              <a:rPr lang="en-US" dirty="0"/>
              <a:t>    and produce posterior distribution.</a:t>
            </a:r>
          </a:p>
          <a:p>
            <a:r>
              <a:rPr lang="en-US" dirty="0"/>
              <a:t>    Allows for complex decision analysis under uncertainty.</a:t>
            </a:r>
          </a:p>
          <a:p>
            <a:endParaRPr lang="en-US" b="1" dirty="0">
              <a:solidFill>
                <a:srgbClr val="FF0000"/>
              </a:solidFill>
            </a:endParaRPr>
          </a:p>
        </p:txBody>
      </p:sp>
      <p:sp>
        <p:nvSpPr>
          <p:cNvPr id="6" name="TextBox 5">
            <a:extLst>
              <a:ext uri="{FF2B5EF4-FFF2-40B4-BE49-F238E27FC236}">
                <a16:creationId xmlns:a16="http://schemas.microsoft.com/office/drawing/2014/main" id="{D86CA22F-D1DB-184B-8C0D-193FFD538439}"/>
              </a:ext>
            </a:extLst>
          </p:cNvPr>
          <p:cNvSpPr txBox="1"/>
          <p:nvPr/>
        </p:nvSpPr>
        <p:spPr>
          <a:xfrm>
            <a:off x="6985379" y="682726"/>
            <a:ext cx="5206621" cy="1815882"/>
          </a:xfrm>
          <a:prstGeom prst="rect">
            <a:avLst/>
          </a:prstGeom>
          <a:noFill/>
        </p:spPr>
        <p:txBody>
          <a:bodyPr wrap="square" rtlCol="0">
            <a:spAutoFit/>
          </a:bodyPr>
          <a:lstStyle/>
          <a:p>
            <a:r>
              <a:rPr lang="en-US" b="1" dirty="0">
                <a:solidFill>
                  <a:srgbClr val="FF0000"/>
                </a:solidFill>
              </a:rPr>
              <a:t>Example1: </a:t>
            </a:r>
            <a:r>
              <a:rPr lang="en-US" dirty="0"/>
              <a:t>Polling, two candidates: Alice &amp; Bob.</a:t>
            </a:r>
          </a:p>
          <a:p>
            <a:r>
              <a:rPr lang="en-US" dirty="0"/>
              <a:t>52% of polled voters intend to vote for Alice.</a:t>
            </a:r>
          </a:p>
          <a:p>
            <a:r>
              <a:rPr lang="en-US" dirty="0"/>
              <a:t>Confidence interval [42%,62%], p-value = 0.34</a:t>
            </a:r>
          </a:p>
          <a:p>
            <a:r>
              <a:rPr lang="en-US" dirty="0"/>
              <a:t>What is the probability that Alice will win ?</a:t>
            </a:r>
          </a:p>
          <a:p>
            <a:r>
              <a:rPr lang="en-US" dirty="0"/>
              <a:t>Classical frequentist approach can not answer this question.</a:t>
            </a:r>
          </a:p>
          <a:p>
            <a:r>
              <a:rPr lang="en-US" dirty="0"/>
              <a:t>Bayesian method – result is a posterior distribution of possible </a:t>
            </a:r>
          </a:p>
          <a:p>
            <a:r>
              <a:rPr lang="en-US" dirty="0"/>
              <a:t>outcomes based on data.</a:t>
            </a:r>
          </a:p>
          <a:p>
            <a:r>
              <a:rPr lang="en-US" dirty="0"/>
              <a:t>Thus you can get your answer.</a:t>
            </a:r>
          </a:p>
        </p:txBody>
      </p:sp>
      <p:sp>
        <p:nvSpPr>
          <p:cNvPr id="7" name="TextBox 6">
            <a:extLst>
              <a:ext uri="{FF2B5EF4-FFF2-40B4-BE49-F238E27FC236}">
                <a16:creationId xmlns:a16="http://schemas.microsoft.com/office/drawing/2014/main" id="{E88A1638-21E4-C746-A837-4CF59231442C}"/>
              </a:ext>
            </a:extLst>
          </p:cNvPr>
          <p:cNvSpPr txBox="1"/>
          <p:nvPr/>
        </p:nvSpPr>
        <p:spPr>
          <a:xfrm>
            <a:off x="6985379" y="2596582"/>
            <a:ext cx="5206621" cy="1600438"/>
          </a:xfrm>
          <a:prstGeom prst="rect">
            <a:avLst/>
          </a:prstGeom>
          <a:noFill/>
        </p:spPr>
        <p:txBody>
          <a:bodyPr wrap="square" rtlCol="0">
            <a:spAutoFit/>
          </a:bodyPr>
          <a:lstStyle/>
          <a:p>
            <a:r>
              <a:rPr lang="en-US" b="1" dirty="0">
                <a:solidFill>
                  <a:srgbClr val="FF0000"/>
                </a:solidFill>
              </a:rPr>
              <a:t>Example2:</a:t>
            </a:r>
            <a:r>
              <a:rPr lang="en-US" dirty="0"/>
              <a:t> comparing two drugs A &amp; B.</a:t>
            </a:r>
          </a:p>
          <a:p>
            <a:r>
              <a:rPr lang="en-US" dirty="0"/>
              <a:t>A is better than B with p value &lt; 0.001</a:t>
            </a:r>
          </a:p>
          <a:p>
            <a:r>
              <a:rPr lang="en-US" dirty="0"/>
              <a:t>A is more expensive.</a:t>
            </a:r>
          </a:p>
          <a:p>
            <a:r>
              <a:rPr lang="en-US" dirty="0"/>
              <a:t>Which drug should we prescribe?</a:t>
            </a:r>
          </a:p>
          <a:p>
            <a:r>
              <a:rPr lang="en-US" dirty="0"/>
              <a:t>Cost-benefit. </a:t>
            </a:r>
          </a:p>
          <a:p>
            <a:r>
              <a:rPr lang="en-US" dirty="0"/>
              <a:t>Suppose we get predicted probability of survival with A and B.</a:t>
            </a:r>
          </a:p>
          <a:p>
            <a:r>
              <a:rPr lang="en-US" dirty="0"/>
              <a:t>We could then compute dollars per life saved. </a:t>
            </a:r>
          </a:p>
        </p:txBody>
      </p:sp>
      <p:sp>
        <p:nvSpPr>
          <p:cNvPr id="8" name="TextBox 7">
            <a:extLst>
              <a:ext uri="{FF2B5EF4-FFF2-40B4-BE49-F238E27FC236}">
                <a16:creationId xmlns:a16="http://schemas.microsoft.com/office/drawing/2014/main" id="{81EB3310-1369-7647-9FF9-5016F01991CC}"/>
              </a:ext>
            </a:extLst>
          </p:cNvPr>
          <p:cNvSpPr txBox="1"/>
          <p:nvPr/>
        </p:nvSpPr>
        <p:spPr>
          <a:xfrm>
            <a:off x="6985379" y="4294994"/>
            <a:ext cx="5206621" cy="954107"/>
          </a:xfrm>
          <a:prstGeom prst="rect">
            <a:avLst/>
          </a:prstGeom>
          <a:noFill/>
        </p:spPr>
        <p:txBody>
          <a:bodyPr wrap="square" rtlCol="0">
            <a:spAutoFit/>
          </a:bodyPr>
          <a:lstStyle/>
          <a:p>
            <a:r>
              <a:rPr lang="en-US" b="1" dirty="0">
                <a:solidFill>
                  <a:srgbClr val="FF0000"/>
                </a:solidFill>
              </a:rPr>
              <a:t>Example3:</a:t>
            </a:r>
            <a:r>
              <a:rPr lang="en-US" dirty="0"/>
              <a:t> Guessing game</a:t>
            </a:r>
          </a:p>
          <a:p>
            <a:r>
              <a:rPr lang="en-US" dirty="0"/>
              <a:t>You see the prize – and guess the price</a:t>
            </a:r>
          </a:p>
          <a:p>
            <a:r>
              <a:rPr lang="en-US" dirty="0"/>
              <a:t>Opponent sees a different prize – and guesses the price.</a:t>
            </a:r>
          </a:p>
          <a:p>
            <a:r>
              <a:rPr lang="en-US" dirty="0"/>
              <a:t>Whoever is closer (without going over) wins.</a:t>
            </a:r>
          </a:p>
        </p:txBody>
      </p:sp>
      <p:sp>
        <p:nvSpPr>
          <p:cNvPr id="9" name="TextBox 8">
            <a:extLst>
              <a:ext uri="{FF2B5EF4-FFF2-40B4-BE49-F238E27FC236}">
                <a16:creationId xmlns:a16="http://schemas.microsoft.com/office/drawing/2014/main" id="{9D171819-C6E6-4541-8406-01258005E5A5}"/>
              </a:ext>
            </a:extLst>
          </p:cNvPr>
          <p:cNvSpPr txBox="1"/>
          <p:nvPr/>
        </p:nvSpPr>
        <p:spPr>
          <a:xfrm>
            <a:off x="185220" y="4043131"/>
            <a:ext cx="5595582" cy="307777"/>
          </a:xfrm>
          <a:prstGeom prst="rect">
            <a:avLst/>
          </a:prstGeom>
          <a:noFill/>
        </p:spPr>
        <p:txBody>
          <a:bodyPr wrap="square" rtlCol="0">
            <a:spAutoFit/>
          </a:bodyPr>
          <a:lstStyle/>
          <a:p>
            <a:r>
              <a:rPr lang="en-US" dirty="0"/>
              <a:t>Allen Downey – </a:t>
            </a:r>
            <a:r>
              <a:rPr lang="en-US" dirty="0">
                <a:hlinkClick r:id="rId2"/>
              </a:rPr>
              <a:t>https://www.youtube.com/watch?v=R6d-AbkhBQ8</a:t>
            </a:r>
            <a:r>
              <a:rPr lang="en-US" dirty="0"/>
              <a:t> </a:t>
            </a:r>
          </a:p>
        </p:txBody>
      </p:sp>
      <p:sp>
        <p:nvSpPr>
          <p:cNvPr id="10" name="TextBox 9">
            <a:extLst>
              <a:ext uri="{FF2B5EF4-FFF2-40B4-BE49-F238E27FC236}">
                <a16:creationId xmlns:a16="http://schemas.microsoft.com/office/drawing/2014/main" id="{E9BADB20-D64C-6847-BE85-8D8A5503503B}"/>
              </a:ext>
            </a:extLst>
          </p:cNvPr>
          <p:cNvSpPr txBox="1"/>
          <p:nvPr/>
        </p:nvSpPr>
        <p:spPr>
          <a:xfrm>
            <a:off x="6985379" y="5526100"/>
            <a:ext cx="5206621" cy="307777"/>
          </a:xfrm>
          <a:prstGeom prst="rect">
            <a:avLst/>
          </a:prstGeom>
          <a:noFill/>
        </p:spPr>
        <p:txBody>
          <a:bodyPr wrap="square" rtlCol="0">
            <a:spAutoFit/>
          </a:bodyPr>
          <a:lstStyle/>
          <a:p>
            <a:r>
              <a:rPr lang="en-US" b="1" dirty="0">
                <a:solidFill>
                  <a:srgbClr val="FF0000"/>
                </a:solidFill>
              </a:rPr>
              <a:t>Example4: </a:t>
            </a:r>
            <a:r>
              <a:rPr lang="en-US" dirty="0"/>
              <a:t>MCMC (Markov-Chain Monte-Carlo)</a:t>
            </a:r>
          </a:p>
        </p:txBody>
      </p:sp>
      <p:sp>
        <p:nvSpPr>
          <p:cNvPr id="2" name="TextBox 1">
            <a:extLst>
              <a:ext uri="{FF2B5EF4-FFF2-40B4-BE49-F238E27FC236}">
                <a16:creationId xmlns:a16="http://schemas.microsoft.com/office/drawing/2014/main" id="{809CB213-96B1-CD42-937A-368036DCD1E0}"/>
              </a:ext>
            </a:extLst>
          </p:cNvPr>
          <p:cNvSpPr txBox="1"/>
          <p:nvPr/>
        </p:nvSpPr>
        <p:spPr>
          <a:xfrm>
            <a:off x="353867" y="868569"/>
            <a:ext cx="5560001" cy="2677656"/>
          </a:xfrm>
          <a:prstGeom prst="rect">
            <a:avLst/>
          </a:prstGeom>
          <a:noFill/>
        </p:spPr>
        <p:txBody>
          <a:bodyPr wrap="square" rtlCol="0">
            <a:spAutoFit/>
          </a:bodyPr>
          <a:lstStyle/>
          <a:p>
            <a:r>
              <a:rPr lang="en-US" dirty="0"/>
              <a:t>The </a:t>
            </a:r>
            <a:r>
              <a:rPr lang="en-US" b="1" dirty="0">
                <a:solidFill>
                  <a:srgbClr val="FF0000"/>
                </a:solidFill>
              </a:rPr>
              <a:t>Frequentist</a:t>
            </a:r>
            <a:r>
              <a:rPr lang="en-US" dirty="0"/>
              <a:t> see probability as something that has to do with a limiting frequency based on an observed proportion.</a:t>
            </a:r>
          </a:p>
          <a:p>
            <a:endParaRPr lang="en-US" dirty="0"/>
          </a:p>
          <a:p>
            <a:r>
              <a:rPr lang="en-US" dirty="0"/>
              <a:t>The </a:t>
            </a:r>
            <a:r>
              <a:rPr lang="en-US" b="1" dirty="0">
                <a:solidFill>
                  <a:srgbClr val="FF0000"/>
                </a:solidFill>
              </a:rPr>
              <a:t>Bayesian</a:t>
            </a:r>
            <a:r>
              <a:rPr lang="en-US" dirty="0"/>
              <a:t> is subjective and uses a priori beliefs to define a prior probability distribution on the possible values of the unknown parameters.</a:t>
            </a:r>
          </a:p>
          <a:p>
            <a:endParaRPr lang="en-US" dirty="0"/>
          </a:p>
          <a:p>
            <a:r>
              <a:rPr lang="en-US" dirty="0"/>
              <a:t>Frequentists accuse Bayesians for being subjective in selecting a prior model / distribution. </a:t>
            </a:r>
          </a:p>
          <a:p>
            <a:endParaRPr lang="en-US" dirty="0"/>
          </a:p>
          <a:p>
            <a:r>
              <a:rPr lang="en-US" dirty="0"/>
              <a:t>Bayesians snap back that at least they have a model, whereas Frequentists just calculate averages of observed data</a:t>
            </a:r>
          </a:p>
        </p:txBody>
      </p:sp>
    </p:spTree>
    <p:extLst>
      <p:ext uri="{BB962C8B-B14F-4D97-AF65-F5344CB8AC3E}">
        <p14:creationId xmlns:p14="http://schemas.microsoft.com/office/powerpoint/2010/main" val="4124171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3FB964B-A29C-1649-A2C4-81BC78C24A50}"/>
              </a:ext>
            </a:extLst>
          </p:cNvPr>
          <p:cNvSpPr txBox="1"/>
          <p:nvPr/>
        </p:nvSpPr>
        <p:spPr>
          <a:xfrm>
            <a:off x="238539" y="225286"/>
            <a:ext cx="5579165" cy="6555641"/>
          </a:xfrm>
          <a:prstGeom prst="rect">
            <a:avLst/>
          </a:prstGeom>
          <a:noFill/>
        </p:spPr>
        <p:txBody>
          <a:bodyPr wrap="square" rtlCol="0">
            <a:spAutoFit/>
          </a:bodyPr>
          <a:lstStyle/>
          <a:p>
            <a:r>
              <a:rPr lang="en-US" b="1" dirty="0"/>
              <a:t>Bayesian vs Frequentist – Survivorship Bias in World War 2</a:t>
            </a:r>
          </a:p>
          <a:p>
            <a:endParaRPr lang="en-US" dirty="0"/>
          </a:p>
          <a:p>
            <a:r>
              <a:rPr lang="en-US" dirty="0"/>
              <a:t>During World War II the US military's concluded that the most-hit areas of the plane needed additional armor.</a:t>
            </a:r>
          </a:p>
          <a:p>
            <a:r>
              <a:rPr lang="en-US" dirty="0"/>
              <a:t>But statistician Abraham Wald (Statistical Research Group (SRG) at Columbia University) has recommended adding armor to the areas that showed the least damage. His reasoning was that the sample didn't include the planes which were shot down.</a:t>
            </a:r>
          </a:p>
          <a:p>
            <a:endParaRPr lang="en-US" dirty="0"/>
          </a:p>
          <a:p>
            <a:r>
              <a:rPr lang="en-US" dirty="0"/>
              <a:t>It is dangerous to use data "as is" to create a model,</a:t>
            </a:r>
            <a:br>
              <a:rPr lang="en-US" dirty="0"/>
            </a:br>
            <a:r>
              <a:rPr lang="en-US" dirty="0"/>
              <a:t>because the data may be biased to start with,</a:t>
            </a:r>
            <a:br>
              <a:rPr lang="en-US" dirty="0"/>
            </a:br>
            <a:r>
              <a:rPr lang="en-US" dirty="0"/>
              <a:t>and it can easily lead to creating a biased model</a:t>
            </a:r>
            <a:br>
              <a:rPr lang="en-US" dirty="0"/>
            </a:br>
            <a:br>
              <a:rPr lang="en-US" dirty="0"/>
            </a:br>
            <a:r>
              <a:rPr lang="en-US" dirty="0"/>
              <a:t>Problem occur when we have:</a:t>
            </a:r>
            <a:br>
              <a:rPr lang="en-US" dirty="0"/>
            </a:br>
            <a:r>
              <a:rPr lang="en-US" dirty="0"/>
              <a:t> - under-represented features (missing data)</a:t>
            </a:r>
            <a:br>
              <a:rPr lang="en-US" dirty="0"/>
            </a:br>
            <a:r>
              <a:rPr lang="en-US" dirty="0"/>
              <a:t> - over-represented features,</a:t>
            </a:r>
            <a:br>
              <a:rPr lang="en-US" dirty="0"/>
            </a:br>
            <a:r>
              <a:rPr lang="en-US" dirty="0"/>
              <a:t> - "target leakage" effect.</a:t>
            </a:r>
            <a:br>
              <a:rPr lang="en-US" dirty="0"/>
            </a:br>
            <a:br>
              <a:rPr lang="en-US" dirty="0"/>
            </a:br>
            <a:r>
              <a:rPr lang="en-US" dirty="0"/>
              <a:t>Survivorship bias:</a:t>
            </a:r>
            <a:br>
              <a:rPr lang="en-US" dirty="0"/>
            </a:br>
            <a:r>
              <a:rPr lang="en-US" dirty="0"/>
              <a:t> - </a:t>
            </a:r>
            <a:r>
              <a:rPr lang="en-US" dirty="0">
                <a:hlinkClick r:id="rId2"/>
              </a:rPr>
              <a:t>https://www.youtube.com/watch?v=B3YQJ5DwTzM</a:t>
            </a:r>
            <a:r>
              <a:rPr lang="en-US" dirty="0"/>
              <a:t> </a:t>
            </a:r>
            <a:br>
              <a:rPr lang="en-US" dirty="0"/>
            </a:br>
            <a:br>
              <a:rPr lang="en-US" dirty="0"/>
            </a:br>
            <a:r>
              <a:rPr lang="en-US" dirty="0"/>
              <a:t>Gender Bias:</a:t>
            </a:r>
            <a:br>
              <a:rPr lang="en-US" dirty="0"/>
            </a:br>
            <a:r>
              <a:rPr lang="en-US" dirty="0"/>
              <a:t> - </a:t>
            </a:r>
            <a:r>
              <a:rPr lang="en-US" dirty="0">
                <a:hlinkClick r:id="rId3"/>
              </a:rPr>
              <a:t>https://www.youtube.com/watch?v=p60-Jdq754A</a:t>
            </a:r>
            <a:r>
              <a:rPr lang="en-US" dirty="0"/>
              <a:t> </a:t>
            </a:r>
            <a:br>
              <a:rPr lang="en-US" dirty="0"/>
            </a:br>
            <a:br>
              <a:rPr lang="en-US" dirty="0"/>
            </a:br>
            <a:r>
              <a:rPr lang="en-US" dirty="0"/>
              <a:t>Bias in criminal justice:</a:t>
            </a:r>
            <a:br>
              <a:rPr lang="en-US" dirty="0"/>
            </a:br>
            <a:r>
              <a:rPr lang="en-US" dirty="0"/>
              <a:t> - </a:t>
            </a:r>
            <a:r>
              <a:rPr lang="en-US" dirty="0">
                <a:hlinkClick r:id="rId4"/>
              </a:rPr>
              <a:t>https://www.youtube.com/watch?v=Gi4YeRqfb24</a:t>
            </a:r>
            <a:r>
              <a:rPr lang="en-US" dirty="0"/>
              <a:t> </a:t>
            </a:r>
            <a:br>
              <a:rPr lang="en-US" dirty="0"/>
            </a:br>
            <a:br>
              <a:rPr lang="en-US" dirty="0"/>
            </a:br>
            <a:r>
              <a:rPr lang="en-US" dirty="0"/>
              <a:t>Target Leakage:</a:t>
            </a:r>
            <a:br>
              <a:rPr lang="en-US" dirty="0"/>
            </a:br>
            <a:r>
              <a:rPr lang="en-US" dirty="0"/>
              <a:t> - </a:t>
            </a:r>
            <a:r>
              <a:rPr lang="en-US" dirty="0">
                <a:hlinkClick r:id="rId5"/>
              </a:rPr>
              <a:t>https://www.youtube.com/watch?v=y8qaI5mpJeA</a:t>
            </a:r>
            <a:r>
              <a:rPr lang="en-US" dirty="0"/>
              <a:t> </a:t>
            </a:r>
          </a:p>
        </p:txBody>
      </p:sp>
      <p:pic>
        <p:nvPicPr>
          <p:cNvPr id="6" name="Picture 5">
            <a:extLst>
              <a:ext uri="{FF2B5EF4-FFF2-40B4-BE49-F238E27FC236}">
                <a16:creationId xmlns:a16="http://schemas.microsoft.com/office/drawing/2014/main" id="{EA27DDEE-0422-6E4F-AC95-3AFA579C3DB8}"/>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6617056" y="225286"/>
            <a:ext cx="5429170" cy="3419062"/>
          </a:xfrm>
          <a:prstGeom prst="rect">
            <a:avLst/>
          </a:prstGeom>
        </p:spPr>
      </p:pic>
    </p:spTree>
    <p:extLst>
      <p:ext uri="{BB962C8B-B14F-4D97-AF65-F5344CB8AC3E}">
        <p14:creationId xmlns:p14="http://schemas.microsoft.com/office/powerpoint/2010/main" val="3774625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A0212EB-D5F5-7C42-9867-3F4106A76AC3}"/>
              </a:ext>
            </a:extLst>
          </p:cNvPr>
          <p:cNvSpPr txBox="1"/>
          <p:nvPr/>
        </p:nvSpPr>
        <p:spPr>
          <a:xfrm>
            <a:off x="0" y="37572"/>
            <a:ext cx="4572000" cy="523220"/>
          </a:xfrm>
          <a:prstGeom prst="rect">
            <a:avLst/>
          </a:prstGeom>
          <a:noFill/>
        </p:spPr>
        <p:txBody>
          <a:bodyPr wrap="square" rtlCol="0">
            <a:spAutoFit/>
          </a:bodyPr>
          <a:lstStyle/>
          <a:p>
            <a:r>
              <a:rPr lang="en-US" sz="2800" b="1" dirty="0"/>
              <a:t>Bayesian vs Frequentist</a:t>
            </a:r>
          </a:p>
        </p:txBody>
      </p:sp>
      <p:sp>
        <p:nvSpPr>
          <p:cNvPr id="11" name="TextBox 10">
            <a:extLst>
              <a:ext uri="{FF2B5EF4-FFF2-40B4-BE49-F238E27FC236}">
                <a16:creationId xmlns:a16="http://schemas.microsoft.com/office/drawing/2014/main" id="{2A85AADB-CA8B-934D-84A1-D6DA208D498F}"/>
              </a:ext>
            </a:extLst>
          </p:cNvPr>
          <p:cNvSpPr txBox="1"/>
          <p:nvPr/>
        </p:nvSpPr>
        <p:spPr>
          <a:xfrm>
            <a:off x="0" y="645511"/>
            <a:ext cx="5636525" cy="523220"/>
          </a:xfrm>
          <a:prstGeom prst="rect">
            <a:avLst/>
          </a:prstGeom>
          <a:noFill/>
        </p:spPr>
        <p:txBody>
          <a:bodyPr wrap="square" rtlCol="0">
            <a:spAutoFit/>
          </a:bodyPr>
          <a:lstStyle/>
          <a:p>
            <a:r>
              <a:rPr lang="en-US" dirty="0"/>
              <a:t>Jake </a:t>
            </a:r>
            <a:r>
              <a:rPr lang="en-US" dirty="0" err="1"/>
              <a:t>VanderPlas</a:t>
            </a:r>
            <a:r>
              <a:rPr lang="en-US" dirty="0"/>
              <a:t> (26 min lecture) </a:t>
            </a:r>
          </a:p>
          <a:p>
            <a:r>
              <a:rPr lang="en-US" dirty="0"/>
              <a:t>  - </a:t>
            </a:r>
            <a:r>
              <a:rPr lang="en-US" dirty="0">
                <a:hlinkClick r:id="rId2"/>
              </a:rPr>
              <a:t>https://www.youtube.com/watch?v=KhAUfqhLakw</a:t>
            </a:r>
            <a:endParaRPr lang="en-US" dirty="0"/>
          </a:p>
        </p:txBody>
      </p:sp>
      <p:pic>
        <p:nvPicPr>
          <p:cNvPr id="12" name="Picture 11">
            <a:extLst>
              <a:ext uri="{FF2B5EF4-FFF2-40B4-BE49-F238E27FC236}">
                <a16:creationId xmlns:a16="http://schemas.microsoft.com/office/drawing/2014/main" id="{7BC1EEDA-D36B-3745-8521-9723E046CF6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958110" y="37572"/>
            <a:ext cx="3942737" cy="2854280"/>
          </a:xfrm>
          <a:prstGeom prst="rect">
            <a:avLst/>
          </a:prstGeom>
        </p:spPr>
      </p:pic>
      <p:pic>
        <p:nvPicPr>
          <p:cNvPr id="13" name="Picture 12">
            <a:extLst>
              <a:ext uri="{FF2B5EF4-FFF2-40B4-BE49-F238E27FC236}">
                <a16:creationId xmlns:a16="http://schemas.microsoft.com/office/drawing/2014/main" id="{756ED8DC-2BE1-094A-8A81-44CA1481AF2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5952" y="3131170"/>
            <a:ext cx="4872900" cy="3624471"/>
          </a:xfrm>
          <a:prstGeom prst="rect">
            <a:avLst/>
          </a:prstGeom>
        </p:spPr>
      </p:pic>
      <p:pic>
        <p:nvPicPr>
          <p:cNvPr id="14" name="Picture 13">
            <a:extLst>
              <a:ext uri="{FF2B5EF4-FFF2-40B4-BE49-F238E27FC236}">
                <a16:creationId xmlns:a16="http://schemas.microsoft.com/office/drawing/2014/main" id="{6CFCE086-5AD0-8344-AE93-F843BE43AD5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771810" y="3131171"/>
            <a:ext cx="4723317" cy="3624470"/>
          </a:xfrm>
          <a:prstGeom prst="rect">
            <a:avLst/>
          </a:prstGeom>
        </p:spPr>
      </p:pic>
      <p:sp>
        <p:nvSpPr>
          <p:cNvPr id="2" name="TextBox 1">
            <a:extLst>
              <a:ext uri="{FF2B5EF4-FFF2-40B4-BE49-F238E27FC236}">
                <a16:creationId xmlns:a16="http://schemas.microsoft.com/office/drawing/2014/main" id="{1B7E5E53-FD25-1743-9C2C-515C3CCE6CCD}"/>
              </a:ext>
            </a:extLst>
          </p:cNvPr>
          <p:cNvSpPr txBox="1"/>
          <p:nvPr/>
        </p:nvSpPr>
        <p:spPr>
          <a:xfrm>
            <a:off x="6360881" y="200276"/>
            <a:ext cx="1338363" cy="523220"/>
          </a:xfrm>
          <a:prstGeom prst="rect">
            <a:avLst/>
          </a:prstGeom>
          <a:noFill/>
        </p:spPr>
        <p:txBody>
          <a:bodyPr wrap="square" rtlCol="0">
            <a:spAutoFit/>
          </a:bodyPr>
          <a:lstStyle/>
          <a:p>
            <a:r>
              <a:rPr lang="en-US" b="1" dirty="0">
                <a:solidFill>
                  <a:srgbClr val="FF0000"/>
                </a:solidFill>
              </a:rPr>
              <a:t>Example:</a:t>
            </a:r>
          </a:p>
          <a:p>
            <a:r>
              <a:rPr lang="en-US" b="1" dirty="0">
                <a:solidFill>
                  <a:srgbClr val="FF0000"/>
                </a:solidFill>
              </a:rPr>
              <a:t>estimating </a:t>
            </a:r>
            <a:r>
              <a:rPr lang="el-GR" b="1" dirty="0">
                <a:solidFill>
                  <a:srgbClr val="FF0000"/>
                </a:solidFill>
              </a:rPr>
              <a:t>θ</a:t>
            </a:r>
            <a:r>
              <a:rPr lang="en-US" b="1" dirty="0">
                <a:solidFill>
                  <a:srgbClr val="FF0000"/>
                </a:solidFill>
              </a:rPr>
              <a:t>  </a:t>
            </a:r>
          </a:p>
        </p:txBody>
      </p:sp>
      <p:sp>
        <p:nvSpPr>
          <p:cNvPr id="3" name="TextBox 2">
            <a:extLst>
              <a:ext uri="{FF2B5EF4-FFF2-40B4-BE49-F238E27FC236}">
                <a16:creationId xmlns:a16="http://schemas.microsoft.com/office/drawing/2014/main" id="{650AEA09-D359-3F4C-ADEB-940C7824EFEA}"/>
              </a:ext>
            </a:extLst>
          </p:cNvPr>
          <p:cNvSpPr txBox="1"/>
          <p:nvPr/>
        </p:nvSpPr>
        <p:spPr>
          <a:xfrm>
            <a:off x="0" y="1291414"/>
            <a:ext cx="7699244" cy="1600438"/>
          </a:xfrm>
          <a:prstGeom prst="rect">
            <a:avLst/>
          </a:prstGeom>
          <a:noFill/>
        </p:spPr>
        <p:txBody>
          <a:bodyPr wrap="square" rtlCol="0">
            <a:spAutoFit/>
          </a:bodyPr>
          <a:lstStyle/>
          <a:p>
            <a:r>
              <a:rPr lang="en-US" dirty="0"/>
              <a:t>Example - truncated exponential.</a:t>
            </a:r>
            <a:br>
              <a:rPr lang="en-US" dirty="0"/>
            </a:br>
            <a:r>
              <a:rPr lang="en-US" dirty="0"/>
              <a:t>You observe times of failures of something.</a:t>
            </a:r>
          </a:p>
          <a:p>
            <a:r>
              <a:rPr lang="en-US" dirty="0"/>
              <a:t>The time should be less than 10 min, but for the first 10 min there are no failures because the "device" is protected. You can only measure after 10 min. </a:t>
            </a:r>
          </a:p>
          <a:p>
            <a:r>
              <a:rPr lang="en-US" dirty="0"/>
              <a:t>Frequentist approach just "averages" the observed values. </a:t>
            </a:r>
          </a:p>
          <a:p>
            <a:r>
              <a:rPr lang="en-US" dirty="0"/>
              <a:t>As all of them are &gt;10, it gives interval 10.2 - 12.2 min</a:t>
            </a:r>
          </a:p>
          <a:p>
            <a:r>
              <a:rPr lang="en-US" dirty="0"/>
              <a:t>Bayesian approach with subjective flat prior gives interval 9.0 - 10.0 min, which is correct.</a:t>
            </a:r>
          </a:p>
        </p:txBody>
      </p:sp>
    </p:spTree>
    <p:extLst>
      <p:ext uri="{BB962C8B-B14F-4D97-AF65-F5344CB8AC3E}">
        <p14:creationId xmlns:p14="http://schemas.microsoft.com/office/powerpoint/2010/main" val="27288979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191</TotalTime>
  <Words>1845</Words>
  <Application>Microsoft Macintosh PowerPoint</Application>
  <PresentationFormat>Widescreen</PresentationFormat>
  <Paragraphs>161</Paragraphs>
  <Slides>8</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19</cp:revision>
  <dcterms:modified xsi:type="dcterms:W3CDTF">2020-09-09T02:48:07Z</dcterms:modified>
</cp:coreProperties>
</file>