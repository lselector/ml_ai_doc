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67" r:id="rId2"/>
    <p:sldId id="268" r:id="rId3"/>
    <p:sldId id="269" r:id="rId4"/>
    <p:sldId id="270" r:id="rId5"/>
    <p:sldId id="256" r:id="rId6"/>
    <p:sldId id="257" r:id="rId7"/>
    <p:sldId id="258" r:id="rId8"/>
    <p:sldId id="259" r:id="rId9"/>
    <p:sldId id="260" r:id="rId10"/>
    <p:sldId id="261" r:id="rId11"/>
    <p:sldId id="263" r:id="rId12"/>
    <p:sldId id="264" r:id="rId13"/>
    <p:sldId id="265" r:id="rId14"/>
    <p:sldId id="26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89"/>
    <p:restoredTop sz="94185"/>
  </p:normalViewPr>
  <p:slideViewPr>
    <p:cSldViewPr snapToGrid="0" snapToObjects="1">
      <p:cViewPr varScale="1">
        <p:scale>
          <a:sx n="73" d="100"/>
          <a:sy n="73" d="100"/>
        </p:scale>
        <p:origin x="216" y="20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0257BA-3AB2-914B-B1C7-8E64980B0969}" type="datetimeFigureOut">
              <a:rPr lang="en-US" smtClean="0"/>
              <a:t>6/3/21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60023B-930E-5D47-A261-B33FCDE8C9F4}" type="slidenum">
              <a:rPr lang="en-US" smtClean="0"/>
              <a:t>‹#›</a:t>
            </a:fld>
            <a:endParaRPr lang="en-US"/>
          </a:p>
        </p:txBody>
      </p:sp>
    </p:spTree>
    <p:extLst>
      <p:ext uri="{BB962C8B-B14F-4D97-AF65-F5344CB8AC3E}">
        <p14:creationId xmlns:p14="http://schemas.microsoft.com/office/powerpoint/2010/main" val="24263058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df40cf67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df40cf67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df40cf67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df40cf67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df40cf677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df40cf677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60023B-930E-5D47-A261-B33FCDE8C9F4}" type="slidenum">
              <a:rPr lang="en-US" smtClean="0"/>
              <a:t>5</a:t>
            </a:fld>
            <a:endParaRPr lang="en-US"/>
          </a:p>
        </p:txBody>
      </p:sp>
    </p:spTree>
    <p:extLst>
      <p:ext uri="{BB962C8B-B14F-4D97-AF65-F5344CB8AC3E}">
        <p14:creationId xmlns:p14="http://schemas.microsoft.com/office/powerpoint/2010/main" val="998336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60023B-930E-5D47-A261-B33FCDE8C9F4}" type="slidenum">
              <a:rPr lang="en-US" smtClean="0"/>
              <a:t>6</a:t>
            </a:fld>
            <a:endParaRPr lang="en-US"/>
          </a:p>
        </p:txBody>
      </p:sp>
    </p:spTree>
    <p:extLst>
      <p:ext uri="{BB962C8B-B14F-4D97-AF65-F5344CB8AC3E}">
        <p14:creationId xmlns:p14="http://schemas.microsoft.com/office/powerpoint/2010/main" val="17453921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60023B-930E-5D47-A261-B33FCDE8C9F4}" type="slidenum">
              <a:rPr lang="en-US" smtClean="0"/>
              <a:t>7</a:t>
            </a:fld>
            <a:endParaRPr lang="en-US"/>
          </a:p>
        </p:txBody>
      </p:sp>
    </p:spTree>
    <p:extLst>
      <p:ext uri="{BB962C8B-B14F-4D97-AF65-F5344CB8AC3E}">
        <p14:creationId xmlns:p14="http://schemas.microsoft.com/office/powerpoint/2010/main" val="3958627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5065E-626C-9A40-BCB2-0ECFF870BE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B44CCC5-8E4F-9D42-AEA0-22272E46CC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2EAD20A-ABB9-5449-878C-D1DD3D2C426A}"/>
              </a:ext>
            </a:extLst>
          </p:cNvPr>
          <p:cNvSpPr>
            <a:spLocks noGrp="1"/>
          </p:cNvSpPr>
          <p:nvPr>
            <p:ph type="dt" sz="half" idx="10"/>
          </p:nvPr>
        </p:nvSpPr>
        <p:spPr/>
        <p:txBody>
          <a:bodyPr/>
          <a:lstStyle/>
          <a:p>
            <a:fld id="{58E89A2C-8675-FD42-8E16-D355BB796D05}" type="datetimeFigureOut">
              <a:rPr lang="en-US" smtClean="0"/>
              <a:t>6/3/21</a:t>
            </a:fld>
            <a:endParaRPr lang="en-US"/>
          </a:p>
        </p:txBody>
      </p:sp>
      <p:sp>
        <p:nvSpPr>
          <p:cNvPr id="5" name="Footer Placeholder 4">
            <a:extLst>
              <a:ext uri="{FF2B5EF4-FFF2-40B4-BE49-F238E27FC236}">
                <a16:creationId xmlns:a16="http://schemas.microsoft.com/office/drawing/2014/main" id="{69DEB7F8-12EC-7340-B194-25210B11A7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540EF5-BE3C-F645-B9A0-235F0F4EEA5D}"/>
              </a:ext>
            </a:extLst>
          </p:cNvPr>
          <p:cNvSpPr>
            <a:spLocks noGrp="1"/>
          </p:cNvSpPr>
          <p:nvPr>
            <p:ph type="sldNum" sz="quarter" idx="12"/>
          </p:nvPr>
        </p:nvSpPr>
        <p:spPr/>
        <p:txBody>
          <a:bodyPr/>
          <a:lstStyle/>
          <a:p>
            <a:fld id="{E4AF8EFD-194E-6B42-9788-7AB751EC40D9}" type="slidenum">
              <a:rPr lang="en-US" smtClean="0"/>
              <a:t>‹#›</a:t>
            </a:fld>
            <a:endParaRPr lang="en-US"/>
          </a:p>
        </p:txBody>
      </p:sp>
    </p:spTree>
    <p:extLst>
      <p:ext uri="{BB962C8B-B14F-4D97-AF65-F5344CB8AC3E}">
        <p14:creationId xmlns:p14="http://schemas.microsoft.com/office/powerpoint/2010/main" val="3364263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C37CE-67E3-DF48-8324-16DC89E071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0F6544-98D9-604A-9682-A9578E393E1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DB02A-6E7B-4C4D-84BC-400893CA3D98}"/>
              </a:ext>
            </a:extLst>
          </p:cNvPr>
          <p:cNvSpPr>
            <a:spLocks noGrp="1"/>
          </p:cNvSpPr>
          <p:nvPr>
            <p:ph type="dt" sz="half" idx="10"/>
          </p:nvPr>
        </p:nvSpPr>
        <p:spPr/>
        <p:txBody>
          <a:bodyPr/>
          <a:lstStyle/>
          <a:p>
            <a:fld id="{58E89A2C-8675-FD42-8E16-D355BB796D05}" type="datetimeFigureOut">
              <a:rPr lang="en-US" smtClean="0"/>
              <a:t>6/3/21</a:t>
            </a:fld>
            <a:endParaRPr lang="en-US"/>
          </a:p>
        </p:txBody>
      </p:sp>
      <p:sp>
        <p:nvSpPr>
          <p:cNvPr id="5" name="Footer Placeholder 4">
            <a:extLst>
              <a:ext uri="{FF2B5EF4-FFF2-40B4-BE49-F238E27FC236}">
                <a16:creationId xmlns:a16="http://schemas.microsoft.com/office/drawing/2014/main" id="{BADBEEF6-DD00-524E-A893-0793A84E4C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2E73A0-0B15-8440-AD45-89EB7281E7A4}"/>
              </a:ext>
            </a:extLst>
          </p:cNvPr>
          <p:cNvSpPr>
            <a:spLocks noGrp="1"/>
          </p:cNvSpPr>
          <p:nvPr>
            <p:ph type="sldNum" sz="quarter" idx="12"/>
          </p:nvPr>
        </p:nvSpPr>
        <p:spPr/>
        <p:txBody>
          <a:bodyPr/>
          <a:lstStyle/>
          <a:p>
            <a:fld id="{E4AF8EFD-194E-6B42-9788-7AB751EC40D9}" type="slidenum">
              <a:rPr lang="en-US" smtClean="0"/>
              <a:t>‹#›</a:t>
            </a:fld>
            <a:endParaRPr lang="en-US"/>
          </a:p>
        </p:txBody>
      </p:sp>
    </p:spTree>
    <p:extLst>
      <p:ext uri="{BB962C8B-B14F-4D97-AF65-F5344CB8AC3E}">
        <p14:creationId xmlns:p14="http://schemas.microsoft.com/office/powerpoint/2010/main" val="2933221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EA67A-2A2A-484C-B254-5E075B769A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9967DD3-2120-534D-A220-5A192C44BE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50493FB-D984-BD4A-8BCF-73C671966666}"/>
              </a:ext>
            </a:extLst>
          </p:cNvPr>
          <p:cNvSpPr>
            <a:spLocks noGrp="1"/>
          </p:cNvSpPr>
          <p:nvPr>
            <p:ph type="dt" sz="half" idx="10"/>
          </p:nvPr>
        </p:nvSpPr>
        <p:spPr/>
        <p:txBody>
          <a:bodyPr/>
          <a:lstStyle/>
          <a:p>
            <a:fld id="{58E89A2C-8675-FD42-8E16-D355BB796D05}" type="datetimeFigureOut">
              <a:rPr lang="en-US" smtClean="0"/>
              <a:t>6/3/21</a:t>
            </a:fld>
            <a:endParaRPr lang="en-US"/>
          </a:p>
        </p:txBody>
      </p:sp>
      <p:sp>
        <p:nvSpPr>
          <p:cNvPr id="5" name="Footer Placeholder 4">
            <a:extLst>
              <a:ext uri="{FF2B5EF4-FFF2-40B4-BE49-F238E27FC236}">
                <a16:creationId xmlns:a16="http://schemas.microsoft.com/office/drawing/2014/main" id="{1479A4F8-503D-F14C-BC5A-75443BF712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D145FC-D5DA-4943-9D37-F64F4571FA5E}"/>
              </a:ext>
            </a:extLst>
          </p:cNvPr>
          <p:cNvSpPr>
            <a:spLocks noGrp="1"/>
          </p:cNvSpPr>
          <p:nvPr>
            <p:ph type="sldNum" sz="quarter" idx="12"/>
          </p:nvPr>
        </p:nvSpPr>
        <p:spPr/>
        <p:txBody>
          <a:bodyPr/>
          <a:lstStyle/>
          <a:p>
            <a:fld id="{E4AF8EFD-194E-6B42-9788-7AB751EC40D9}" type="slidenum">
              <a:rPr lang="en-US" smtClean="0"/>
              <a:t>‹#›</a:t>
            </a:fld>
            <a:endParaRPr lang="en-US"/>
          </a:p>
        </p:txBody>
      </p:sp>
    </p:spTree>
    <p:extLst>
      <p:ext uri="{BB962C8B-B14F-4D97-AF65-F5344CB8AC3E}">
        <p14:creationId xmlns:p14="http://schemas.microsoft.com/office/powerpoint/2010/main" val="1590311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EA0C9-331A-0A47-A9CA-3CA9E805A4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F939E7-0F56-DD49-9CE2-2E4B2E88C78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4922D6F-49C8-5F44-9C42-FF65FBEA7C9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1E2D4F-A988-5C4B-A20E-2B50BB3EB712}"/>
              </a:ext>
            </a:extLst>
          </p:cNvPr>
          <p:cNvSpPr>
            <a:spLocks noGrp="1"/>
          </p:cNvSpPr>
          <p:nvPr>
            <p:ph type="dt" sz="half" idx="10"/>
          </p:nvPr>
        </p:nvSpPr>
        <p:spPr/>
        <p:txBody>
          <a:bodyPr/>
          <a:lstStyle/>
          <a:p>
            <a:fld id="{58E89A2C-8675-FD42-8E16-D355BB796D05}" type="datetimeFigureOut">
              <a:rPr lang="en-US" smtClean="0"/>
              <a:t>6/3/21</a:t>
            </a:fld>
            <a:endParaRPr lang="en-US"/>
          </a:p>
        </p:txBody>
      </p:sp>
      <p:sp>
        <p:nvSpPr>
          <p:cNvPr id="6" name="Footer Placeholder 5">
            <a:extLst>
              <a:ext uri="{FF2B5EF4-FFF2-40B4-BE49-F238E27FC236}">
                <a16:creationId xmlns:a16="http://schemas.microsoft.com/office/drawing/2014/main" id="{95920547-6417-DA41-A93B-18B28DD554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462D6-D8F1-1C40-A8EA-2D93A0C3F200}"/>
              </a:ext>
            </a:extLst>
          </p:cNvPr>
          <p:cNvSpPr>
            <a:spLocks noGrp="1"/>
          </p:cNvSpPr>
          <p:nvPr>
            <p:ph type="sldNum" sz="quarter" idx="12"/>
          </p:nvPr>
        </p:nvSpPr>
        <p:spPr/>
        <p:txBody>
          <a:bodyPr/>
          <a:lstStyle/>
          <a:p>
            <a:fld id="{E4AF8EFD-194E-6B42-9788-7AB751EC40D9}" type="slidenum">
              <a:rPr lang="en-US" smtClean="0"/>
              <a:t>‹#›</a:t>
            </a:fld>
            <a:endParaRPr lang="en-US"/>
          </a:p>
        </p:txBody>
      </p:sp>
    </p:spTree>
    <p:extLst>
      <p:ext uri="{BB962C8B-B14F-4D97-AF65-F5344CB8AC3E}">
        <p14:creationId xmlns:p14="http://schemas.microsoft.com/office/powerpoint/2010/main" val="1115277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0B342-AB43-7942-9609-A64BC0CDE7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59D4298-9E56-8941-A15C-C9C114CB82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18B6D3F-80D9-FB46-BCA2-0F8FF120C24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BC603CB-7EFF-B74D-8027-048FFD52C6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A1C94D2-ABF7-6342-ACF8-857A2447149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87DE67-7F02-C247-A237-101562E0A959}"/>
              </a:ext>
            </a:extLst>
          </p:cNvPr>
          <p:cNvSpPr>
            <a:spLocks noGrp="1"/>
          </p:cNvSpPr>
          <p:nvPr>
            <p:ph type="dt" sz="half" idx="10"/>
          </p:nvPr>
        </p:nvSpPr>
        <p:spPr/>
        <p:txBody>
          <a:bodyPr/>
          <a:lstStyle/>
          <a:p>
            <a:fld id="{58E89A2C-8675-FD42-8E16-D355BB796D05}" type="datetimeFigureOut">
              <a:rPr lang="en-US" smtClean="0"/>
              <a:t>6/3/21</a:t>
            </a:fld>
            <a:endParaRPr lang="en-US"/>
          </a:p>
        </p:txBody>
      </p:sp>
      <p:sp>
        <p:nvSpPr>
          <p:cNvPr id="8" name="Footer Placeholder 7">
            <a:extLst>
              <a:ext uri="{FF2B5EF4-FFF2-40B4-BE49-F238E27FC236}">
                <a16:creationId xmlns:a16="http://schemas.microsoft.com/office/drawing/2014/main" id="{AAB7F247-B890-6D43-96B9-84F4618668A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A0C275-149F-E342-BD8B-6A1787706DBA}"/>
              </a:ext>
            </a:extLst>
          </p:cNvPr>
          <p:cNvSpPr>
            <a:spLocks noGrp="1"/>
          </p:cNvSpPr>
          <p:nvPr>
            <p:ph type="sldNum" sz="quarter" idx="12"/>
          </p:nvPr>
        </p:nvSpPr>
        <p:spPr/>
        <p:txBody>
          <a:bodyPr/>
          <a:lstStyle/>
          <a:p>
            <a:fld id="{E4AF8EFD-194E-6B42-9788-7AB751EC40D9}" type="slidenum">
              <a:rPr lang="en-US" smtClean="0"/>
              <a:t>‹#›</a:t>
            </a:fld>
            <a:endParaRPr lang="en-US"/>
          </a:p>
        </p:txBody>
      </p:sp>
    </p:spTree>
    <p:extLst>
      <p:ext uri="{BB962C8B-B14F-4D97-AF65-F5344CB8AC3E}">
        <p14:creationId xmlns:p14="http://schemas.microsoft.com/office/powerpoint/2010/main" val="4279883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4006B-D734-2649-AD82-9E70EACB12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96291F-E7C6-224C-92F3-57FE683DF4A1}"/>
              </a:ext>
            </a:extLst>
          </p:cNvPr>
          <p:cNvSpPr>
            <a:spLocks noGrp="1"/>
          </p:cNvSpPr>
          <p:nvPr>
            <p:ph type="dt" sz="half" idx="10"/>
          </p:nvPr>
        </p:nvSpPr>
        <p:spPr/>
        <p:txBody>
          <a:bodyPr/>
          <a:lstStyle/>
          <a:p>
            <a:fld id="{58E89A2C-8675-FD42-8E16-D355BB796D05}" type="datetimeFigureOut">
              <a:rPr lang="en-US" smtClean="0"/>
              <a:t>6/3/21</a:t>
            </a:fld>
            <a:endParaRPr lang="en-US"/>
          </a:p>
        </p:txBody>
      </p:sp>
      <p:sp>
        <p:nvSpPr>
          <p:cNvPr id="4" name="Footer Placeholder 3">
            <a:extLst>
              <a:ext uri="{FF2B5EF4-FFF2-40B4-BE49-F238E27FC236}">
                <a16:creationId xmlns:a16="http://schemas.microsoft.com/office/drawing/2014/main" id="{ECEF1950-69B2-C041-855A-B3B7F031722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F16F240-BDD2-EE42-9B08-11D1D4EFEF6B}"/>
              </a:ext>
            </a:extLst>
          </p:cNvPr>
          <p:cNvSpPr>
            <a:spLocks noGrp="1"/>
          </p:cNvSpPr>
          <p:nvPr>
            <p:ph type="sldNum" sz="quarter" idx="12"/>
          </p:nvPr>
        </p:nvSpPr>
        <p:spPr/>
        <p:txBody>
          <a:bodyPr/>
          <a:lstStyle/>
          <a:p>
            <a:fld id="{E4AF8EFD-194E-6B42-9788-7AB751EC40D9}" type="slidenum">
              <a:rPr lang="en-US" smtClean="0"/>
              <a:t>‹#›</a:t>
            </a:fld>
            <a:endParaRPr lang="en-US"/>
          </a:p>
        </p:txBody>
      </p:sp>
    </p:spTree>
    <p:extLst>
      <p:ext uri="{BB962C8B-B14F-4D97-AF65-F5344CB8AC3E}">
        <p14:creationId xmlns:p14="http://schemas.microsoft.com/office/powerpoint/2010/main" val="1536896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456A54-8D30-9144-BFB2-1C924E2FA8D6}"/>
              </a:ext>
            </a:extLst>
          </p:cNvPr>
          <p:cNvSpPr>
            <a:spLocks noGrp="1"/>
          </p:cNvSpPr>
          <p:nvPr>
            <p:ph type="dt" sz="half" idx="10"/>
          </p:nvPr>
        </p:nvSpPr>
        <p:spPr/>
        <p:txBody>
          <a:bodyPr/>
          <a:lstStyle/>
          <a:p>
            <a:fld id="{58E89A2C-8675-FD42-8E16-D355BB796D05}" type="datetimeFigureOut">
              <a:rPr lang="en-US" smtClean="0"/>
              <a:t>6/3/21</a:t>
            </a:fld>
            <a:endParaRPr lang="en-US"/>
          </a:p>
        </p:txBody>
      </p:sp>
      <p:sp>
        <p:nvSpPr>
          <p:cNvPr id="3" name="Footer Placeholder 2">
            <a:extLst>
              <a:ext uri="{FF2B5EF4-FFF2-40B4-BE49-F238E27FC236}">
                <a16:creationId xmlns:a16="http://schemas.microsoft.com/office/drawing/2014/main" id="{C7FE72EB-A914-B749-A5B8-EA1681149E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125497-8AC9-5549-BB32-CACC04A84698}"/>
              </a:ext>
            </a:extLst>
          </p:cNvPr>
          <p:cNvSpPr>
            <a:spLocks noGrp="1"/>
          </p:cNvSpPr>
          <p:nvPr>
            <p:ph type="sldNum" sz="quarter" idx="12"/>
          </p:nvPr>
        </p:nvSpPr>
        <p:spPr/>
        <p:txBody>
          <a:bodyPr/>
          <a:lstStyle/>
          <a:p>
            <a:fld id="{E4AF8EFD-194E-6B42-9788-7AB751EC40D9}" type="slidenum">
              <a:rPr lang="en-US" smtClean="0"/>
              <a:t>‹#›</a:t>
            </a:fld>
            <a:endParaRPr lang="en-US"/>
          </a:p>
        </p:txBody>
      </p:sp>
    </p:spTree>
    <p:extLst>
      <p:ext uri="{BB962C8B-B14F-4D97-AF65-F5344CB8AC3E}">
        <p14:creationId xmlns:p14="http://schemas.microsoft.com/office/powerpoint/2010/main" val="2197960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829B6-882F-C741-92FF-BCB23673CF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2F0FE88-9FE8-9C46-884B-583D39AD9A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3AAFE74-AF21-CD4E-9254-18111025B6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974F537-B783-9D48-BB2E-240D1502CC2A}"/>
              </a:ext>
            </a:extLst>
          </p:cNvPr>
          <p:cNvSpPr>
            <a:spLocks noGrp="1"/>
          </p:cNvSpPr>
          <p:nvPr>
            <p:ph type="dt" sz="half" idx="10"/>
          </p:nvPr>
        </p:nvSpPr>
        <p:spPr/>
        <p:txBody>
          <a:bodyPr/>
          <a:lstStyle/>
          <a:p>
            <a:fld id="{58E89A2C-8675-FD42-8E16-D355BB796D05}" type="datetimeFigureOut">
              <a:rPr lang="en-US" smtClean="0"/>
              <a:t>6/3/21</a:t>
            </a:fld>
            <a:endParaRPr lang="en-US"/>
          </a:p>
        </p:txBody>
      </p:sp>
      <p:sp>
        <p:nvSpPr>
          <p:cNvPr id="6" name="Footer Placeholder 5">
            <a:extLst>
              <a:ext uri="{FF2B5EF4-FFF2-40B4-BE49-F238E27FC236}">
                <a16:creationId xmlns:a16="http://schemas.microsoft.com/office/drawing/2014/main" id="{E5D66954-3D90-474F-8FA0-F546E9BD63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391803-D9DF-9043-BD3F-944719839C7C}"/>
              </a:ext>
            </a:extLst>
          </p:cNvPr>
          <p:cNvSpPr>
            <a:spLocks noGrp="1"/>
          </p:cNvSpPr>
          <p:nvPr>
            <p:ph type="sldNum" sz="quarter" idx="12"/>
          </p:nvPr>
        </p:nvSpPr>
        <p:spPr/>
        <p:txBody>
          <a:bodyPr/>
          <a:lstStyle/>
          <a:p>
            <a:fld id="{E4AF8EFD-194E-6B42-9788-7AB751EC40D9}" type="slidenum">
              <a:rPr lang="en-US" smtClean="0"/>
              <a:t>‹#›</a:t>
            </a:fld>
            <a:endParaRPr lang="en-US"/>
          </a:p>
        </p:txBody>
      </p:sp>
    </p:spTree>
    <p:extLst>
      <p:ext uri="{BB962C8B-B14F-4D97-AF65-F5344CB8AC3E}">
        <p14:creationId xmlns:p14="http://schemas.microsoft.com/office/powerpoint/2010/main" val="4128292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B8069-00A5-184A-8680-3D558B67DD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84785F-478E-5743-932D-C4768A5DD1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83CA8EB-ACB2-594B-904D-B0857077E5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96A26ED-A181-174A-A172-F587D3EFE7E9}"/>
              </a:ext>
            </a:extLst>
          </p:cNvPr>
          <p:cNvSpPr>
            <a:spLocks noGrp="1"/>
          </p:cNvSpPr>
          <p:nvPr>
            <p:ph type="dt" sz="half" idx="10"/>
          </p:nvPr>
        </p:nvSpPr>
        <p:spPr/>
        <p:txBody>
          <a:bodyPr/>
          <a:lstStyle/>
          <a:p>
            <a:fld id="{58E89A2C-8675-FD42-8E16-D355BB796D05}" type="datetimeFigureOut">
              <a:rPr lang="en-US" smtClean="0"/>
              <a:t>6/3/21</a:t>
            </a:fld>
            <a:endParaRPr lang="en-US"/>
          </a:p>
        </p:txBody>
      </p:sp>
      <p:sp>
        <p:nvSpPr>
          <p:cNvPr id="6" name="Footer Placeholder 5">
            <a:extLst>
              <a:ext uri="{FF2B5EF4-FFF2-40B4-BE49-F238E27FC236}">
                <a16:creationId xmlns:a16="http://schemas.microsoft.com/office/drawing/2014/main" id="{007FF9AB-C385-1B4B-BF4B-5068392319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D32105-1B83-CF4E-9E25-B85CDCAAF553}"/>
              </a:ext>
            </a:extLst>
          </p:cNvPr>
          <p:cNvSpPr>
            <a:spLocks noGrp="1"/>
          </p:cNvSpPr>
          <p:nvPr>
            <p:ph type="sldNum" sz="quarter" idx="12"/>
          </p:nvPr>
        </p:nvSpPr>
        <p:spPr/>
        <p:txBody>
          <a:bodyPr/>
          <a:lstStyle/>
          <a:p>
            <a:fld id="{E4AF8EFD-194E-6B42-9788-7AB751EC40D9}" type="slidenum">
              <a:rPr lang="en-US" smtClean="0"/>
              <a:t>‹#›</a:t>
            </a:fld>
            <a:endParaRPr lang="en-US"/>
          </a:p>
        </p:txBody>
      </p:sp>
    </p:spTree>
    <p:extLst>
      <p:ext uri="{BB962C8B-B14F-4D97-AF65-F5344CB8AC3E}">
        <p14:creationId xmlns:p14="http://schemas.microsoft.com/office/powerpoint/2010/main" val="2957440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E45E6-F4F6-B244-A4DC-C4139B363D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ACFB0FC-FB41-114A-A31C-0D5FE676743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1B7DD5-53EA-3E4C-8800-938132FDEABC}"/>
              </a:ext>
            </a:extLst>
          </p:cNvPr>
          <p:cNvSpPr>
            <a:spLocks noGrp="1"/>
          </p:cNvSpPr>
          <p:nvPr>
            <p:ph type="dt" sz="half" idx="10"/>
          </p:nvPr>
        </p:nvSpPr>
        <p:spPr/>
        <p:txBody>
          <a:bodyPr/>
          <a:lstStyle/>
          <a:p>
            <a:fld id="{58E89A2C-8675-FD42-8E16-D355BB796D05}" type="datetimeFigureOut">
              <a:rPr lang="en-US" smtClean="0"/>
              <a:t>6/3/21</a:t>
            </a:fld>
            <a:endParaRPr lang="en-US"/>
          </a:p>
        </p:txBody>
      </p:sp>
      <p:sp>
        <p:nvSpPr>
          <p:cNvPr id="5" name="Footer Placeholder 4">
            <a:extLst>
              <a:ext uri="{FF2B5EF4-FFF2-40B4-BE49-F238E27FC236}">
                <a16:creationId xmlns:a16="http://schemas.microsoft.com/office/drawing/2014/main" id="{29006ED5-BC7F-D94B-8A46-9D2DA57FCE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76F154-DDD2-0945-9E05-1AE5082DBCFB}"/>
              </a:ext>
            </a:extLst>
          </p:cNvPr>
          <p:cNvSpPr>
            <a:spLocks noGrp="1"/>
          </p:cNvSpPr>
          <p:nvPr>
            <p:ph type="sldNum" sz="quarter" idx="12"/>
          </p:nvPr>
        </p:nvSpPr>
        <p:spPr/>
        <p:txBody>
          <a:bodyPr/>
          <a:lstStyle/>
          <a:p>
            <a:fld id="{E4AF8EFD-194E-6B42-9788-7AB751EC40D9}" type="slidenum">
              <a:rPr lang="en-US" smtClean="0"/>
              <a:t>‹#›</a:t>
            </a:fld>
            <a:endParaRPr lang="en-US"/>
          </a:p>
        </p:txBody>
      </p:sp>
    </p:spTree>
    <p:extLst>
      <p:ext uri="{BB962C8B-B14F-4D97-AF65-F5344CB8AC3E}">
        <p14:creationId xmlns:p14="http://schemas.microsoft.com/office/powerpoint/2010/main" val="1306868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D48199-7542-514E-88D4-78AEE6C3D9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E7DE58B-CF79-FF4D-949B-63A703E2519D}"/>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6E4924-1218-D64A-B8F2-22010FF739FB}"/>
              </a:ext>
            </a:extLst>
          </p:cNvPr>
          <p:cNvSpPr>
            <a:spLocks noGrp="1"/>
          </p:cNvSpPr>
          <p:nvPr>
            <p:ph type="dt" sz="half" idx="10"/>
          </p:nvPr>
        </p:nvSpPr>
        <p:spPr/>
        <p:txBody>
          <a:bodyPr/>
          <a:lstStyle/>
          <a:p>
            <a:fld id="{58E89A2C-8675-FD42-8E16-D355BB796D05}" type="datetimeFigureOut">
              <a:rPr lang="en-US" smtClean="0"/>
              <a:t>6/3/21</a:t>
            </a:fld>
            <a:endParaRPr lang="en-US"/>
          </a:p>
        </p:txBody>
      </p:sp>
      <p:sp>
        <p:nvSpPr>
          <p:cNvPr id="5" name="Footer Placeholder 4">
            <a:extLst>
              <a:ext uri="{FF2B5EF4-FFF2-40B4-BE49-F238E27FC236}">
                <a16:creationId xmlns:a16="http://schemas.microsoft.com/office/drawing/2014/main" id="{C51A0E2E-C4B3-5345-9466-8A22C176C1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345E07-AF67-AF49-BF5A-5686A8A85123}"/>
              </a:ext>
            </a:extLst>
          </p:cNvPr>
          <p:cNvSpPr>
            <a:spLocks noGrp="1"/>
          </p:cNvSpPr>
          <p:nvPr>
            <p:ph type="sldNum" sz="quarter" idx="12"/>
          </p:nvPr>
        </p:nvSpPr>
        <p:spPr/>
        <p:txBody>
          <a:bodyPr/>
          <a:lstStyle/>
          <a:p>
            <a:fld id="{E4AF8EFD-194E-6B42-9788-7AB751EC40D9}" type="slidenum">
              <a:rPr lang="en-US" smtClean="0"/>
              <a:t>‹#›</a:t>
            </a:fld>
            <a:endParaRPr lang="en-US"/>
          </a:p>
        </p:txBody>
      </p:sp>
    </p:spTree>
    <p:extLst>
      <p:ext uri="{BB962C8B-B14F-4D97-AF65-F5344CB8AC3E}">
        <p14:creationId xmlns:p14="http://schemas.microsoft.com/office/powerpoint/2010/main" val="2733283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7519CB-E0AA-4748-93BA-A1629F88F6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A30CB16-A0AF-EC45-A997-A9722F201E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B22EA6-A922-EB49-8E47-0DF233CD8C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E89A2C-8675-FD42-8E16-D355BB796D05}" type="datetimeFigureOut">
              <a:rPr lang="en-US" smtClean="0"/>
              <a:t>6/3/21</a:t>
            </a:fld>
            <a:endParaRPr lang="en-US"/>
          </a:p>
        </p:txBody>
      </p:sp>
      <p:sp>
        <p:nvSpPr>
          <p:cNvPr id="5" name="Footer Placeholder 4">
            <a:extLst>
              <a:ext uri="{FF2B5EF4-FFF2-40B4-BE49-F238E27FC236}">
                <a16:creationId xmlns:a16="http://schemas.microsoft.com/office/drawing/2014/main" id="{4297D122-247B-184C-ABBA-4AEFE87F96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85F06D0-6C79-164D-AE31-0AAD1F4395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AF8EFD-194E-6B42-9788-7AB751EC40D9}" type="slidenum">
              <a:rPr lang="en-US" smtClean="0"/>
              <a:t>‹#›</a:t>
            </a:fld>
            <a:endParaRPr lang="en-US"/>
          </a:p>
        </p:txBody>
      </p:sp>
    </p:spTree>
    <p:extLst>
      <p:ext uri="{BB962C8B-B14F-4D97-AF65-F5344CB8AC3E}">
        <p14:creationId xmlns:p14="http://schemas.microsoft.com/office/powerpoint/2010/main" val="26187077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kubernetes.io/" TargetMode="External"/><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istio.io/" TargetMode="Externa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docker.com/"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craft.co/docker"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en.wikipedia.org/wiki/Chroot" TargetMode="External"/><Relationship Id="rId7" Type="http://schemas.openxmlformats.org/officeDocument/2006/relationships/hyperlink" Target="https://blog.realkinetic.com/building-minimal-docker-containers-for-python-applications-37d0272c52f3"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docs.docker.com/engine/docker-overview/#the-underlying-technology" TargetMode="External"/><Relationship Id="rId5" Type="http://schemas.openxmlformats.org/officeDocument/2006/relationships/hyperlink" Target="https://en.wikipedia.org/wiki/LXC" TargetMode="External"/><Relationship Id="rId4" Type="http://schemas.openxmlformats.org/officeDocument/2006/relationships/hyperlink" Target="https://en.wikipedia.org/wiki/Cgroups" TargetMode="External"/></Relationships>
</file>

<file path=ppt/slides/_rels/slide5.xml.rels><?xml version="1.0" encoding="UTF-8" standalone="yes"?>
<Relationships xmlns="http://schemas.openxmlformats.org/package/2006/relationships"><Relationship Id="rId8" Type="http://schemas.openxmlformats.org/officeDocument/2006/relationships/hyperlink" Target="https://docs.docker.com/engine/reference/run/" TargetMode="External"/><Relationship Id="rId3" Type="http://schemas.openxmlformats.org/officeDocument/2006/relationships/hyperlink" Target="https://www.youtube.com/watch?v=JprTjTViaEA" TargetMode="External"/><Relationship Id="rId7" Type="http://schemas.openxmlformats.org/officeDocument/2006/relationships/hyperlink" Target="https://jonnylangefeld.github.io/learning/Docker/How%2Bto%2BDocker.html"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medium.com/@patrickmichelberger/getting-started-with-anaconda-docker-b50a2c482139" TargetMode="External"/><Relationship Id="rId5" Type="http://schemas.openxmlformats.org/officeDocument/2006/relationships/hyperlink" Target="https://docs.docker.com/get-started/" TargetMode="External"/><Relationship Id="rId4" Type="http://schemas.openxmlformats.org/officeDocument/2006/relationships/hyperlink" Target="https://hub.docker.com/editions/community/docker-ce-desktop-mac" TargetMode="External"/><Relationship Id="rId9" Type="http://schemas.openxmlformats.org/officeDocument/2006/relationships/hyperlink" Target="https://docs.docker.com/engine/reference/builder/"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JprTjTViaEA"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hyperlink" Target="https://hub.docker.com/u/continuumio/"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docs.docker.com/engine/reference/builder/"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ocs.docker.com/compose/" TargetMode="External"/><Relationship Id="rId2" Type="http://schemas.openxmlformats.org/officeDocument/2006/relationships/hyperlink" Target="https://docs.docker.com/config/containers/multi-service_container/"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stackoverflow.com/questions/18136389/using-ssh-keys-inside-docker-container"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dev.to/brpaz/using-docker-multi-stage-builds-during-development-35bc" TargetMode="External"/><Relationship Id="rId3" Type="http://schemas.openxmlformats.org/officeDocument/2006/relationships/hyperlink" Target="https://l-lin.github.io/post/2018/2018-09-03-docker_ubuntu_18_dns/" TargetMode="External"/><Relationship Id="rId7" Type="http://schemas.openxmlformats.org/officeDocument/2006/relationships/hyperlink" Target="https://stackoverflow.com/questions/33322103/multiple-froms-what-it-means" TargetMode="External"/><Relationship Id="rId2" Type="http://schemas.openxmlformats.org/officeDocument/2006/relationships/hyperlink" Target="https://docs.docker.com/v17.09/engine/userguide/networking/default_network/configure-dns/" TargetMode="External"/><Relationship Id="rId1" Type="http://schemas.openxmlformats.org/officeDocument/2006/relationships/slideLayout" Target="../slideLayouts/slideLayout2.xml"/><Relationship Id="rId6" Type="http://schemas.openxmlformats.org/officeDocument/2006/relationships/hyperlink" Target="https://github.com/moby/moby/issues/3378" TargetMode="External"/><Relationship Id="rId5" Type="http://schemas.openxmlformats.org/officeDocument/2006/relationships/hyperlink" Target="https://docs.nginx.com/nginx/admin-guide/installing-nginx/installing-nginx-docker/" TargetMode="External"/><Relationship Id="rId10" Type="http://schemas.openxmlformats.org/officeDocument/2006/relationships/hyperlink" Target="https://blog.aquasec.com/a-brief-history-of-containers-from-1970s-chroot-to-docker-2016" TargetMode="External"/><Relationship Id="rId4" Type="http://schemas.openxmlformats.org/officeDocument/2006/relationships/hyperlink" Target="https://blog.codeship.com/using-the-add-host-flag-for-dns-mapping-within-docker-containers/" TargetMode="External"/><Relationship Id="rId9" Type="http://schemas.openxmlformats.org/officeDocument/2006/relationships/hyperlink" Target="https://medium.com/@tonistiigi/advanced-multi-stage-build-patterns-6f741b852fae"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nickjanetakis.com/blog/docker-tip-40-running-cron-jobs-on-the-host-vs-in-a-container" TargetMode="External"/><Relationship Id="rId7" Type="http://schemas.openxmlformats.org/officeDocument/2006/relationships/hyperlink" Target="https://github.com/mcuadros/ofelia" TargetMode="External"/><Relationship Id="rId2" Type="http://schemas.openxmlformats.org/officeDocument/2006/relationships/hyperlink" Target="https://devops.stackexchange.com/questions/4904/scheduling-a-docker-container-or-installing-scheduler-in-container" TargetMode="External"/><Relationship Id="rId1" Type="http://schemas.openxmlformats.org/officeDocument/2006/relationships/slideLayout" Target="../slideLayouts/slideLayout2.xml"/><Relationship Id="rId6" Type="http://schemas.openxmlformats.org/officeDocument/2006/relationships/hyperlink" Target="https://coreos.com/os/docs/latest/scheduling-tasks-with-systemd-timers.html" TargetMode="External"/><Relationship Id="rId5" Type="http://schemas.openxmlformats.org/officeDocument/2006/relationships/hyperlink" Target="https://blog.trifork.com/2014/03/11/using-supervisor-with-docker-to-manage-processes-supporting-image-inheritance/" TargetMode="External"/><Relationship Id="rId4" Type="http://schemas.openxmlformats.org/officeDocument/2006/relationships/hyperlink" Target="https://www.tddapps.com/2017/02/18/how-to-run-any-container-on-a-schedul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0" y="0"/>
            <a:ext cx="6096000" cy="836800"/>
          </a:xfrm>
          <a:prstGeom prst="rect">
            <a:avLst/>
          </a:prstGeom>
          <a:noFill/>
          <a:ln>
            <a:noFill/>
          </a:ln>
        </p:spPr>
        <p:txBody>
          <a:bodyPr spcFirstLastPara="1" wrap="square" lIns="121900" tIns="121900" rIns="121900" bIns="121900" anchor="t" anchorCtr="0">
            <a:noAutofit/>
          </a:bodyPr>
          <a:lstStyle/>
          <a:p>
            <a:r>
              <a:rPr lang="en" sz="2800" b="1" dirty="0">
                <a:latin typeface="Arial" panose="020B0604020202020204" pitchFamily="34" charset="0"/>
                <a:cs typeface="Arial" panose="020B0604020202020204" pitchFamily="34" charset="0"/>
              </a:rPr>
              <a:t>VM, Docker, Kubernetes, Istio</a:t>
            </a:r>
            <a:endParaRPr sz="2800" b="1" dirty="0">
              <a:latin typeface="Arial" panose="020B0604020202020204" pitchFamily="34" charset="0"/>
              <a:cs typeface="Arial" panose="020B0604020202020204" pitchFamily="34" charset="0"/>
            </a:endParaRPr>
          </a:p>
        </p:txBody>
      </p:sp>
      <p:sp>
        <p:nvSpPr>
          <p:cNvPr id="55" name="Google Shape;55;p13"/>
          <p:cNvSpPr txBox="1"/>
          <p:nvPr/>
        </p:nvSpPr>
        <p:spPr>
          <a:xfrm>
            <a:off x="2258867" y="4091393"/>
            <a:ext cx="9933200" cy="1146000"/>
          </a:xfrm>
          <a:prstGeom prst="rect">
            <a:avLst/>
          </a:prstGeom>
          <a:noFill/>
          <a:ln>
            <a:noFill/>
          </a:ln>
        </p:spPr>
        <p:txBody>
          <a:bodyPr spcFirstLastPara="1" wrap="square" lIns="121900" tIns="121900" rIns="121900" bIns="121900" anchor="t" anchorCtr="0">
            <a:noAutofit/>
          </a:bodyPr>
          <a:lstStyle/>
          <a:p>
            <a:r>
              <a:rPr lang="en" sz="2000" b="1" dirty="0">
                <a:solidFill>
                  <a:srgbClr val="FF0000"/>
                </a:solidFill>
                <a:latin typeface="Arial" panose="020B0604020202020204" pitchFamily="34" charset="0"/>
                <a:cs typeface="Arial" panose="020B0604020202020204" pitchFamily="34" charset="0"/>
              </a:rPr>
              <a:t>Kubernetes</a:t>
            </a:r>
            <a:r>
              <a:rPr lang="en" sz="2000" dirty="0">
                <a:solidFill>
                  <a:schemeClr val="dk1"/>
                </a:solidFill>
                <a:latin typeface="Arial" panose="020B0604020202020204" pitchFamily="34" charset="0"/>
                <a:cs typeface="Arial" panose="020B0604020202020204" pitchFamily="34" charset="0"/>
              </a:rPr>
              <a:t> (</a:t>
            </a:r>
            <a:r>
              <a:rPr lang="en" sz="2000" dirty="0" err="1">
                <a:solidFill>
                  <a:schemeClr val="dk1"/>
                </a:solidFill>
                <a:latin typeface="Arial" panose="020B0604020202020204" pitchFamily="34" charset="0"/>
                <a:cs typeface="Arial" panose="020B0604020202020204" pitchFamily="34" charset="0"/>
              </a:rPr>
              <a:t>κυ</a:t>
            </a:r>
            <a:r>
              <a:rPr lang="en" sz="2000" dirty="0">
                <a:solidFill>
                  <a:schemeClr val="dk1"/>
                </a:solidFill>
                <a:latin typeface="Arial" panose="020B0604020202020204" pitchFamily="34" charset="0"/>
                <a:cs typeface="Arial" panose="020B0604020202020204" pitchFamily="34" charset="0"/>
              </a:rPr>
              <a:t>β</a:t>
            </a:r>
            <a:r>
              <a:rPr lang="en" sz="2000" dirty="0" err="1">
                <a:solidFill>
                  <a:schemeClr val="dk1"/>
                </a:solidFill>
                <a:latin typeface="Arial" panose="020B0604020202020204" pitchFamily="34" charset="0"/>
                <a:cs typeface="Arial" panose="020B0604020202020204" pitchFamily="34" charset="0"/>
              </a:rPr>
              <a:t>ερνήτης</a:t>
            </a:r>
            <a:r>
              <a:rPr lang="en" sz="2000" dirty="0">
                <a:solidFill>
                  <a:schemeClr val="dk1"/>
                </a:solidFill>
                <a:latin typeface="Arial" panose="020B0604020202020204" pitchFamily="34" charset="0"/>
                <a:cs typeface="Arial" panose="020B0604020202020204" pitchFamily="34" charset="0"/>
              </a:rPr>
              <a:t>) - "helmsman” - software to deploy and manage multiple dockers together.  - </a:t>
            </a:r>
            <a:r>
              <a:rPr lang="en" sz="2000" u="sng" dirty="0">
                <a:solidFill>
                  <a:schemeClr val="hlink"/>
                </a:solidFill>
                <a:latin typeface="Arial" panose="020B0604020202020204" pitchFamily="34" charset="0"/>
                <a:cs typeface="Arial" panose="020B0604020202020204" pitchFamily="34" charset="0"/>
                <a:hlinkClick r:id="rId3"/>
              </a:rPr>
              <a:t>https://kubernetes.io</a:t>
            </a:r>
            <a:endParaRPr sz="2000" dirty="0">
              <a:solidFill>
                <a:schemeClr val="dk1"/>
              </a:solidFill>
              <a:latin typeface="Arial" panose="020B0604020202020204" pitchFamily="34" charset="0"/>
              <a:cs typeface="Arial" panose="020B0604020202020204" pitchFamily="34" charset="0"/>
            </a:endParaRPr>
          </a:p>
          <a:p>
            <a:endParaRPr sz="2000" dirty="0">
              <a:solidFill>
                <a:schemeClr val="dk1"/>
              </a:solidFill>
              <a:latin typeface="Arial" panose="020B0604020202020204" pitchFamily="34" charset="0"/>
              <a:cs typeface="Arial" panose="020B0604020202020204" pitchFamily="34" charset="0"/>
            </a:endParaRPr>
          </a:p>
        </p:txBody>
      </p:sp>
      <p:pic>
        <p:nvPicPr>
          <p:cNvPr id="56" name="Google Shape;56;p1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57200" y="2252933"/>
            <a:ext cx="1701376" cy="1410000"/>
          </a:xfrm>
          <a:prstGeom prst="rect">
            <a:avLst/>
          </a:prstGeom>
          <a:noFill/>
          <a:ln>
            <a:noFill/>
          </a:ln>
        </p:spPr>
      </p:pic>
      <p:sp>
        <p:nvSpPr>
          <p:cNvPr id="57" name="Google Shape;57;p13"/>
          <p:cNvSpPr txBox="1"/>
          <p:nvPr/>
        </p:nvSpPr>
        <p:spPr>
          <a:xfrm>
            <a:off x="2258867" y="695833"/>
            <a:ext cx="9933200" cy="1410000"/>
          </a:xfrm>
          <a:prstGeom prst="rect">
            <a:avLst/>
          </a:prstGeom>
          <a:noFill/>
          <a:ln>
            <a:noFill/>
          </a:ln>
        </p:spPr>
        <p:txBody>
          <a:bodyPr spcFirstLastPara="1" wrap="square" lIns="121900" tIns="121900" rIns="121900" bIns="121900" anchor="t" anchorCtr="0">
            <a:noAutofit/>
          </a:bodyPr>
          <a:lstStyle/>
          <a:p>
            <a:r>
              <a:rPr lang="en" sz="2000" b="1" dirty="0">
                <a:solidFill>
                  <a:srgbClr val="FF0000"/>
                </a:solidFill>
                <a:latin typeface="Arial" panose="020B0604020202020204" pitchFamily="34" charset="0"/>
                <a:cs typeface="Arial" panose="020B0604020202020204" pitchFamily="34" charset="0"/>
              </a:rPr>
              <a:t>Virtual Machine (VM)</a:t>
            </a:r>
            <a:r>
              <a:rPr lang="en" sz="2000" dirty="0">
                <a:solidFill>
                  <a:schemeClr val="dk1"/>
                </a:solidFill>
                <a:latin typeface="Arial" panose="020B0604020202020204" pitchFamily="34" charset="0"/>
                <a:cs typeface="Arial" panose="020B0604020202020204" pitchFamily="34" charset="0"/>
              </a:rPr>
              <a:t> is an operating system (OS) software, which imitates working on dedicated hardware. User can run several (different) VMs on one underlying hardware server, or one VM can span several physical servers. VM usually requires several </a:t>
            </a:r>
            <a:r>
              <a:rPr lang="en" sz="2000" dirty="0" err="1">
                <a:solidFill>
                  <a:schemeClr val="dk1"/>
                </a:solidFill>
                <a:latin typeface="Arial" panose="020B0604020202020204" pitchFamily="34" charset="0"/>
                <a:cs typeface="Arial" panose="020B0604020202020204" pitchFamily="34" charset="0"/>
              </a:rPr>
              <a:t>GBytes</a:t>
            </a:r>
            <a:r>
              <a:rPr lang="en" sz="2000" dirty="0">
                <a:solidFill>
                  <a:schemeClr val="dk1"/>
                </a:solidFill>
                <a:latin typeface="Arial" panose="020B0604020202020204" pitchFamily="34" charset="0"/>
                <a:cs typeface="Arial" panose="020B0604020202020204" pitchFamily="34" charset="0"/>
              </a:rPr>
              <a:t>.</a:t>
            </a:r>
            <a:endParaRPr sz="2000" dirty="0">
              <a:solidFill>
                <a:schemeClr val="dk1"/>
              </a:solidFill>
              <a:latin typeface="Arial" panose="020B0604020202020204" pitchFamily="34" charset="0"/>
              <a:cs typeface="Arial" panose="020B0604020202020204" pitchFamily="34" charset="0"/>
            </a:endParaRPr>
          </a:p>
        </p:txBody>
      </p:sp>
      <p:pic>
        <p:nvPicPr>
          <p:cNvPr id="58" name="Google Shape;58;p1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133597" y="695834"/>
            <a:ext cx="2125267" cy="1593933"/>
          </a:xfrm>
          <a:prstGeom prst="rect">
            <a:avLst/>
          </a:prstGeom>
          <a:noFill/>
          <a:ln>
            <a:noFill/>
          </a:ln>
        </p:spPr>
      </p:pic>
      <p:sp>
        <p:nvSpPr>
          <p:cNvPr id="59" name="Google Shape;59;p13"/>
          <p:cNvSpPr txBox="1"/>
          <p:nvPr/>
        </p:nvSpPr>
        <p:spPr>
          <a:xfrm>
            <a:off x="2258867" y="2332733"/>
            <a:ext cx="9933200" cy="1250400"/>
          </a:xfrm>
          <a:prstGeom prst="rect">
            <a:avLst/>
          </a:prstGeom>
          <a:noFill/>
          <a:ln>
            <a:noFill/>
          </a:ln>
        </p:spPr>
        <p:txBody>
          <a:bodyPr spcFirstLastPara="1" wrap="square" lIns="121900" tIns="121900" rIns="121900" bIns="121900" anchor="t" anchorCtr="0">
            <a:noAutofit/>
          </a:bodyPr>
          <a:lstStyle/>
          <a:p>
            <a:r>
              <a:rPr lang="en" sz="2000" b="1" dirty="0">
                <a:solidFill>
                  <a:srgbClr val="FF0000"/>
                </a:solidFill>
                <a:latin typeface="Arial" panose="020B0604020202020204" pitchFamily="34" charset="0"/>
                <a:cs typeface="Arial" panose="020B0604020202020204" pitchFamily="34" charset="0"/>
              </a:rPr>
              <a:t>Docker container</a:t>
            </a:r>
            <a:r>
              <a:rPr lang="en" sz="2000" dirty="0">
                <a:solidFill>
                  <a:schemeClr val="dk1"/>
                </a:solidFill>
                <a:latin typeface="Arial" panose="020B0604020202020204" pitchFamily="34" charset="0"/>
                <a:cs typeface="Arial" panose="020B0604020202020204" pitchFamily="34" charset="0"/>
              </a:rPr>
              <a:t> is like VM, but usually smaller and lighter, because it doesn't have to include the OS. Docker may be just few </a:t>
            </a:r>
            <a:r>
              <a:rPr lang="en" sz="2000" dirty="0" err="1">
                <a:solidFill>
                  <a:schemeClr val="dk1"/>
                </a:solidFill>
                <a:latin typeface="Arial" panose="020B0604020202020204" pitchFamily="34" charset="0"/>
                <a:cs typeface="Arial" panose="020B0604020202020204" pitchFamily="34" charset="0"/>
              </a:rPr>
              <a:t>MBytes</a:t>
            </a:r>
            <a:r>
              <a:rPr lang="en" sz="2000" dirty="0">
                <a:solidFill>
                  <a:schemeClr val="dk1"/>
                </a:solidFill>
                <a:latin typeface="Arial" panose="020B0604020202020204" pitchFamily="34" charset="0"/>
                <a:cs typeface="Arial" panose="020B0604020202020204" pitchFamily="34" charset="0"/>
              </a:rPr>
              <a:t> in size. Docker usually contains an application along with all necessary libraries which all can be deployed together.</a:t>
            </a:r>
            <a:endParaRPr sz="2000" dirty="0">
              <a:solidFill>
                <a:schemeClr val="dk1"/>
              </a:solidFill>
              <a:latin typeface="Arial" panose="020B0604020202020204" pitchFamily="34" charset="0"/>
              <a:cs typeface="Arial" panose="020B0604020202020204" pitchFamily="34" charset="0"/>
            </a:endParaRPr>
          </a:p>
        </p:txBody>
      </p:sp>
      <p:sp>
        <p:nvSpPr>
          <p:cNvPr id="60" name="Google Shape;60;p13"/>
          <p:cNvSpPr txBox="1"/>
          <p:nvPr/>
        </p:nvSpPr>
        <p:spPr>
          <a:xfrm>
            <a:off x="2258867" y="5446933"/>
            <a:ext cx="9933200" cy="1146000"/>
          </a:xfrm>
          <a:prstGeom prst="rect">
            <a:avLst/>
          </a:prstGeom>
          <a:noFill/>
          <a:ln>
            <a:noFill/>
          </a:ln>
        </p:spPr>
        <p:txBody>
          <a:bodyPr spcFirstLastPara="1" wrap="square" lIns="121900" tIns="121900" rIns="121900" bIns="121900" anchor="t" anchorCtr="0">
            <a:noAutofit/>
          </a:bodyPr>
          <a:lstStyle/>
          <a:p>
            <a:r>
              <a:rPr lang="en" sz="2000" b="1" dirty="0">
                <a:solidFill>
                  <a:srgbClr val="FF0000"/>
                </a:solidFill>
                <a:latin typeface="Arial" panose="020B0604020202020204" pitchFamily="34" charset="0"/>
                <a:cs typeface="Arial" panose="020B0604020202020204" pitchFamily="34" charset="0"/>
              </a:rPr>
              <a:t>Istio</a:t>
            </a:r>
            <a:r>
              <a:rPr lang="en" sz="2000" dirty="0">
                <a:solidFill>
                  <a:schemeClr val="dk1"/>
                </a:solidFill>
                <a:latin typeface="Arial" panose="020B0604020202020204" pitchFamily="34" charset="0"/>
                <a:cs typeface="Arial" panose="020B0604020202020204" pitchFamily="34" charset="0"/>
              </a:rPr>
              <a:t> (</a:t>
            </a:r>
            <a:r>
              <a:rPr lang="en" sz="2000" dirty="0" err="1">
                <a:solidFill>
                  <a:schemeClr val="dk1"/>
                </a:solidFill>
                <a:latin typeface="Arial" panose="020B0604020202020204" pitchFamily="34" charset="0"/>
                <a:cs typeface="Arial" panose="020B0604020202020204" pitchFamily="34" charset="0"/>
              </a:rPr>
              <a:t>ιστιο</a:t>
            </a:r>
            <a:r>
              <a:rPr lang="en" sz="2000" dirty="0">
                <a:solidFill>
                  <a:schemeClr val="dk1"/>
                </a:solidFill>
                <a:latin typeface="Arial" panose="020B0604020202020204" pitchFamily="34" charset="0"/>
                <a:cs typeface="Arial" panose="020B0604020202020204" pitchFamily="34" charset="0"/>
              </a:rPr>
              <a:t>) - "yachting" - (http) proxy on top of Kubernetes. It adds service discovery, routing, security, policies, failure handling, logging, tracing, visibility.  (Connect, Secure, Control, Observe). - </a:t>
            </a:r>
            <a:r>
              <a:rPr lang="en" sz="2000" u="sng" dirty="0">
                <a:solidFill>
                  <a:schemeClr val="hlink"/>
                </a:solidFill>
                <a:latin typeface="Arial" panose="020B0604020202020204" pitchFamily="34" charset="0"/>
                <a:cs typeface="Arial" panose="020B0604020202020204" pitchFamily="34" charset="0"/>
                <a:hlinkClick r:id="rId6"/>
              </a:rPr>
              <a:t>https://istio.io</a:t>
            </a:r>
            <a:r>
              <a:rPr lang="en" sz="2000" dirty="0">
                <a:solidFill>
                  <a:schemeClr val="dk1"/>
                </a:solidFill>
                <a:latin typeface="Arial" panose="020B0604020202020204" pitchFamily="34" charset="0"/>
                <a:cs typeface="Arial" panose="020B0604020202020204" pitchFamily="34" charset="0"/>
              </a:rPr>
              <a:t> . Istio is a "service mesh". </a:t>
            </a:r>
            <a:endParaRPr sz="2000" dirty="0">
              <a:solidFill>
                <a:schemeClr val="dk1"/>
              </a:solidFill>
              <a:latin typeface="Arial" panose="020B0604020202020204" pitchFamily="34" charset="0"/>
              <a:cs typeface="Arial" panose="020B0604020202020204" pitchFamily="34" charset="0"/>
            </a:endParaRPr>
          </a:p>
          <a:p>
            <a:endParaRPr sz="2000" dirty="0">
              <a:solidFill>
                <a:schemeClr val="dk1"/>
              </a:solidFill>
              <a:latin typeface="Arial" panose="020B0604020202020204" pitchFamily="34" charset="0"/>
              <a:cs typeface="Arial" panose="020B0604020202020204" pitchFamily="34" charset="0"/>
            </a:endParaRPr>
          </a:p>
          <a:p>
            <a:endParaRPr sz="2000" dirty="0">
              <a:solidFill>
                <a:schemeClr val="dk1"/>
              </a:solidFill>
              <a:latin typeface="Arial" panose="020B0604020202020204" pitchFamily="34" charset="0"/>
              <a:cs typeface="Arial" panose="020B0604020202020204" pitchFamily="34" charset="0"/>
            </a:endParaRPr>
          </a:p>
          <a:p>
            <a:endParaRPr sz="2000" dirty="0">
              <a:solidFill>
                <a:schemeClr val="dk1"/>
              </a:solidFill>
              <a:latin typeface="Arial" panose="020B0604020202020204" pitchFamily="34" charset="0"/>
              <a:cs typeface="Arial" panose="020B0604020202020204" pitchFamily="34" charset="0"/>
            </a:endParaRPr>
          </a:p>
          <a:p>
            <a:endParaRPr sz="2000" dirty="0">
              <a:solidFill>
                <a:schemeClr val="dk1"/>
              </a:solidFill>
              <a:latin typeface="Arial" panose="020B0604020202020204" pitchFamily="34" charset="0"/>
              <a:cs typeface="Arial" panose="020B0604020202020204" pitchFamily="34" charset="0"/>
            </a:endParaRPr>
          </a:p>
        </p:txBody>
      </p:sp>
      <p:pic>
        <p:nvPicPr>
          <p:cNvPr id="61" name="Google Shape;61;p13"/>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02867" y="3810033"/>
            <a:ext cx="1410000" cy="1410000"/>
          </a:xfrm>
          <a:prstGeom prst="rect">
            <a:avLst/>
          </a:prstGeom>
          <a:noFill/>
          <a:ln>
            <a:noFill/>
          </a:ln>
        </p:spPr>
      </p:pic>
      <p:pic>
        <p:nvPicPr>
          <p:cNvPr id="62" name="Google Shape;62;p13"/>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788161" y="5182927"/>
            <a:ext cx="1069900" cy="159393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p:nvPr/>
        </p:nvSpPr>
        <p:spPr>
          <a:xfrm>
            <a:off x="181633" y="161233"/>
            <a:ext cx="11869600" cy="5791200"/>
          </a:xfrm>
          <a:prstGeom prst="rect">
            <a:avLst/>
          </a:prstGeom>
          <a:noFill/>
          <a:ln>
            <a:noFill/>
          </a:ln>
        </p:spPr>
        <p:txBody>
          <a:bodyPr spcFirstLastPara="1" wrap="square" lIns="121900" tIns="121900" rIns="121900" bIns="121900" anchor="t" anchorCtr="0">
            <a:noAutofit/>
          </a:bodyPr>
          <a:lstStyle/>
          <a:p>
            <a:r>
              <a:rPr lang="en" sz="2800" b="1" dirty="0">
                <a:solidFill>
                  <a:schemeClr val="dk1"/>
                </a:solidFill>
                <a:latin typeface="Arial" panose="020B0604020202020204" pitchFamily="34" charset="0"/>
                <a:cs typeface="Arial" panose="020B0604020202020204" pitchFamily="34" charset="0"/>
              </a:rPr>
              <a:t>from Dedicated Server </a:t>
            </a:r>
            <a:endParaRPr sz="2800" b="1" dirty="0">
              <a:solidFill>
                <a:schemeClr val="dk1"/>
              </a:solidFill>
              <a:latin typeface="Arial" panose="020B0604020202020204" pitchFamily="34" charset="0"/>
              <a:cs typeface="Arial" panose="020B0604020202020204" pitchFamily="34" charset="0"/>
            </a:endParaRPr>
          </a:p>
          <a:p>
            <a:endParaRPr sz="2800" b="1" dirty="0">
              <a:solidFill>
                <a:schemeClr val="dk1"/>
              </a:solidFill>
              <a:latin typeface="Arial" panose="020B0604020202020204" pitchFamily="34" charset="0"/>
              <a:cs typeface="Arial" panose="020B0604020202020204" pitchFamily="34" charset="0"/>
            </a:endParaRPr>
          </a:p>
          <a:p>
            <a:r>
              <a:rPr lang="en" sz="2800" b="1" dirty="0">
                <a:solidFill>
                  <a:schemeClr val="dk1"/>
                </a:solidFill>
                <a:latin typeface="Arial" panose="020B0604020202020204" pitchFamily="34" charset="0"/>
                <a:cs typeface="Arial" panose="020B0604020202020204" pitchFamily="34" charset="0"/>
              </a:rPr>
              <a:t>    to VM (Cloud)</a:t>
            </a:r>
            <a:endParaRPr sz="2800" b="1" dirty="0">
              <a:solidFill>
                <a:schemeClr val="dk1"/>
              </a:solidFill>
              <a:latin typeface="Arial" panose="020B0604020202020204" pitchFamily="34" charset="0"/>
              <a:cs typeface="Arial" panose="020B0604020202020204" pitchFamily="34" charset="0"/>
            </a:endParaRPr>
          </a:p>
          <a:p>
            <a:endParaRPr sz="2800" b="1" dirty="0">
              <a:solidFill>
                <a:schemeClr val="dk1"/>
              </a:solidFill>
              <a:latin typeface="Arial" panose="020B0604020202020204" pitchFamily="34" charset="0"/>
              <a:cs typeface="Arial" panose="020B0604020202020204" pitchFamily="34" charset="0"/>
            </a:endParaRPr>
          </a:p>
          <a:p>
            <a:r>
              <a:rPr lang="en" sz="2800" b="1" dirty="0">
                <a:solidFill>
                  <a:schemeClr val="dk1"/>
                </a:solidFill>
                <a:latin typeface="Arial" panose="020B0604020202020204" pitchFamily="34" charset="0"/>
                <a:cs typeface="Arial" panose="020B0604020202020204" pitchFamily="34" charset="0"/>
              </a:rPr>
              <a:t>        to Dockers </a:t>
            </a:r>
            <a:endParaRPr sz="2800" b="1" dirty="0">
              <a:solidFill>
                <a:schemeClr val="dk1"/>
              </a:solidFill>
              <a:latin typeface="Arial" panose="020B0604020202020204" pitchFamily="34" charset="0"/>
              <a:cs typeface="Arial" panose="020B0604020202020204" pitchFamily="34" charset="0"/>
            </a:endParaRPr>
          </a:p>
          <a:p>
            <a:endParaRPr sz="2800" b="1" dirty="0">
              <a:solidFill>
                <a:schemeClr val="dk1"/>
              </a:solidFill>
              <a:latin typeface="Arial" panose="020B0604020202020204" pitchFamily="34" charset="0"/>
              <a:cs typeface="Arial" panose="020B0604020202020204" pitchFamily="34" charset="0"/>
            </a:endParaRPr>
          </a:p>
          <a:p>
            <a:r>
              <a:rPr lang="en" sz="2800" b="1" dirty="0">
                <a:solidFill>
                  <a:schemeClr val="dk1"/>
                </a:solidFill>
                <a:latin typeface="Arial" panose="020B0604020202020204" pitchFamily="34" charset="0"/>
                <a:cs typeface="Arial" panose="020B0604020202020204" pitchFamily="34" charset="0"/>
              </a:rPr>
              <a:t>            to Kubernetes </a:t>
            </a:r>
            <a:endParaRPr sz="2800" b="1" dirty="0">
              <a:solidFill>
                <a:schemeClr val="dk1"/>
              </a:solidFill>
              <a:latin typeface="Arial" panose="020B0604020202020204" pitchFamily="34" charset="0"/>
              <a:cs typeface="Arial" panose="020B0604020202020204" pitchFamily="34" charset="0"/>
            </a:endParaRPr>
          </a:p>
          <a:p>
            <a:endParaRPr sz="2800" b="1" dirty="0">
              <a:solidFill>
                <a:schemeClr val="dk1"/>
              </a:solidFill>
              <a:latin typeface="Arial" panose="020B0604020202020204" pitchFamily="34" charset="0"/>
              <a:cs typeface="Arial" panose="020B0604020202020204" pitchFamily="34" charset="0"/>
            </a:endParaRPr>
          </a:p>
          <a:p>
            <a:r>
              <a:rPr lang="en" sz="2800" b="1" dirty="0">
                <a:solidFill>
                  <a:schemeClr val="dk1"/>
                </a:solidFill>
                <a:latin typeface="Arial" panose="020B0604020202020204" pitchFamily="34" charset="0"/>
                <a:cs typeface="Arial" panose="020B0604020202020204" pitchFamily="34" charset="0"/>
              </a:rPr>
              <a:t>                to Service Meshes (Istio)</a:t>
            </a:r>
            <a:endParaRPr sz="2800" b="1" dirty="0">
              <a:solidFill>
                <a:schemeClr val="dk1"/>
              </a:solidFill>
              <a:latin typeface="Arial" panose="020B0604020202020204" pitchFamily="34" charset="0"/>
              <a:cs typeface="Arial" panose="020B0604020202020204" pitchFamily="34" charset="0"/>
            </a:endParaRPr>
          </a:p>
          <a:p>
            <a:endParaRPr sz="2800" b="1" dirty="0">
              <a:solidFill>
                <a:schemeClr val="dk1"/>
              </a:solidFill>
              <a:latin typeface="Arial" panose="020B0604020202020204" pitchFamily="34" charset="0"/>
              <a:cs typeface="Arial" panose="020B0604020202020204" pitchFamily="34" charset="0"/>
            </a:endParaRPr>
          </a:p>
          <a:p>
            <a:r>
              <a:rPr lang="en" sz="2800" b="1" dirty="0">
                <a:solidFill>
                  <a:schemeClr val="dk1"/>
                </a:solidFill>
                <a:latin typeface="Arial" panose="020B0604020202020204" pitchFamily="34" charset="0"/>
                <a:cs typeface="Arial" panose="020B0604020202020204" pitchFamily="34" charset="0"/>
              </a:rPr>
              <a:t>                    to Serverless Architecture (Microservices)</a:t>
            </a:r>
            <a:endParaRPr sz="2800" b="1" dirty="0">
              <a:solidFill>
                <a:schemeClr val="dk1"/>
              </a:solidFill>
              <a:latin typeface="Arial" panose="020B0604020202020204" pitchFamily="34" charset="0"/>
              <a:cs typeface="Arial" panose="020B0604020202020204" pitchFamily="34" charset="0"/>
            </a:endParaRPr>
          </a:p>
          <a:p>
            <a:endParaRPr sz="2800" b="1" dirty="0">
              <a:solidFill>
                <a:schemeClr val="dk1"/>
              </a:solidFill>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5"/>
          <p:cNvSpPr txBox="1"/>
          <p:nvPr/>
        </p:nvSpPr>
        <p:spPr>
          <a:xfrm>
            <a:off x="161200" y="861646"/>
            <a:ext cx="11869600" cy="5064369"/>
          </a:xfrm>
          <a:prstGeom prst="rect">
            <a:avLst/>
          </a:prstGeom>
          <a:noFill/>
          <a:ln>
            <a:noFill/>
          </a:ln>
        </p:spPr>
        <p:txBody>
          <a:bodyPr spcFirstLastPara="1" wrap="square" lIns="121900" tIns="121900" rIns="121900" bIns="121900" anchor="t" anchorCtr="0">
            <a:noAutofit/>
          </a:bodyPr>
          <a:lstStyle/>
          <a:p>
            <a:r>
              <a:rPr lang="en" sz="2000" dirty="0">
                <a:solidFill>
                  <a:schemeClr val="dk1"/>
                </a:solidFill>
                <a:latin typeface="Arial" panose="020B0604020202020204" pitchFamily="34" charset="0"/>
                <a:cs typeface="Arial" panose="020B0604020202020204" pitchFamily="34" charset="0"/>
              </a:rPr>
              <a:t> - </a:t>
            </a:r>
            <a:r>
              <a:rPr lang="en" sz="2000" u="sng" dirty="0">
                <a:solidFill>
                  <a:schemeClr val="hlink"/>
                </a:solidFill>
                <a:latin typeface="Arial" panose="020B0604020202020204" pitchFamily="34" charset="0"/>
                <a:cs typeface="Arial" panose="020B0604020202020204" pitchFamily="34" charset="0"/>
                <a:hlinkClick r:id="rId3"/>
              </a:rPr>
              <a:t>https://www.docker.com</a:t>
            </a:r>
            <a:r>
              <a:rPr lang="en" sz="2000" dirty="0">
                <a:solidFill>
                  <a:schemeClr val="dk1"/>
                </a:solidFill>
                <a:latin typeface="Arial" panose="020B0604020202020204" pitchFamily="34" charset="0"/>
                <a:cs typeface="Arial" panose="020B0604020202020204" pitchFamily="34" charset="0"/>
              </a:rPr>
              <a:t> - Docker is open source software.</a:t>
            </a:r>
            <a:endParaRPr sz="2000" dirty="0">
              <a:solidFill>
                <a:schemeClr val="dk1"/>
              </a:solidFill>
              <a:latin typeface="Arial" panose="020B0604020202020204" pitchFamily="34" charset="0"/>
              <a:cs typeface="Arial" panose="020B0604020202020204" pitchFamily="34" charset="0"/>
            </a:endParaRPr>
          </a:p>
          <a:p>
            <a:pPr>
              <a:buClr>
                <a:schemeClr val="dk1"/>
              </a:buClr>
              <a:buSzPts val="1100"/>
            </a:pPr>
            <a:endParaRPr sz="2000" dirty="0">
              <a:solidFill>
                <a:schemeClr val="dk1"/>
              </a:solidFill>
              <a:latin typeface="Arial" panose="020B0604020202020204" pitchFamily="34" charset="0"/>
              <a:cs typeface="Arial" panose="020B0604020202020204" pitchFamily="34" charset="0"/>
            </a:endParaRPr>
          </a:p>
          <a:p>
            <a:r>
              <a:rPr lang="en" sz="2000" dirty="0">
                <a:solidFill>
                  <a:srgbClr val="0000FF"/>
                </a:solidFill>
                <a:latin typeface="Arial" panose="020B0604020202020204" pitchFamily="34" charset="0"/>
                <a:cs typeface="Arial" panose="020B0604020202020204" pitchFamily="34" charset="0"/>
              </a:rPr>
              <a:t>Docker Inc.</a:t>
            </a:r>
            <a:r>
              <a:rPr lang="en" sz="2000" dirty="0">
                <a:solidFill>
                  <a:schemeClr val="dk1"/>
                </a:solidFill>
                <a:latin typeface="Arial" panose="020B0604020202020204" pitchFamily="34" charset="0"/>
                <a:cs typeface="Arial" panose="020B0604020202020204" pitchFamily="34" charset="0"/>
              </a:rPr>
              <a:t> is a company with ~515 employees. It does docker development, docker hub (~1 </a:t>
            </a:r>
            <a:r>
              <a:rPr lang="en" sz="2000" dirty="0" err="1">
                <a:solidFill>
                  <a:schemeClr val="dk1"/>
                </a:solidFill>
                <a:latin typeface="Arial" panose="020B0604020202020204" pitchFamily="34" charset="0"/>
                <a:cs typeface="Arial" panose="020B0604020202020204" pitchFamily="34" charset="0"/>
              </a:rPr>
              <a:t>Mln</a:t>
            </a:r>
            <a:r>
              <a:rPr lang="en" sz="2000" dirty="0">
                <a:solidFill>
                  <a:schemeClr val="dk1"/>
                </a:solidFill>
                <a:latin typeface="Arial" panose="020B0604020202020204" pitchFamily="34" charset="0"/>
                <a:cs typeface="Arial" panose="020B0604020202020204" pitchFamily="34" charset="0"/>
              </a:rPr>
              <a:t> images), support for Enterprises ( </a:t>
            </a:r>
            <a:r>
              <a:rPr lang="en" sz="2000" u="sng" dirty="0">
                <a:solidFill>
                  <a:schemeClr val="hlink"/>
                </a:solidFill>
                <a:latin typeface="Arial" panose="020B0604020202020204" pitchFamily="34" charset="0"/>
                <a:cs typeface="Arial" panose="020B0604020202020204" pitchFamily="34" charset="0"/>
                <a:hlinkClick r:id="rId4"/>
              </a:rPr>
              <a:t>https://craft.co/docker</a:t>
            </a:r>
            <a:r>
              <a:rPr lang="en" sz="2000" dirty="0">
                <a:solidFill>
                  <a:schemeClr val="dk1"/>
                </a:solidFill>
                <a:latin typeface="Arial" panose="020B0604020202020204" pitchFamily="34" charset="0"/>
                <a:cs typeface="Arial" panose="020B0604020202020204" pitchFamily="34" charset="0"/>
              </a:rPr>
              <a:t> ).</a:t>
            </a:r>
            <a:endParaRPr sz="2000" dirty="0">
              <a:solidFill>
                <a:schemeClr val="dk1"/>
              </a:solidFill>
              <a:latin typeface="Arial" panose="020B0604020202020204" pitchFamily="34" charset="0"/>
              <a:cs typeface="Arial" panose="020B0604020202020204" pitchFamily="34" charset="0"/>
            </a:endParaRPr>
          </a:p>
          <a:p>
            <a:pPr>
              <a:buClr>
                <a:schemeClr val="dk1"/>
              </a:buClr>
              <a:buSzPts val="1100"/>
            </a:pPr>
            <a:endParaRPr sz="2000" dirty="0">
              <a:solidFill>
                <a:schemeClr val="dk1"/>
              </a:solidFill>
              <a:latin typeface="Arial" panose="020B0604020202020204" pitchFamily="34" charset="0"/>
              <a:cs typeface="Arial" panose="020B0604020202020204" pitchFamily="34" charset="0"/>
            </a:endParaRPr>
          </a:p>
          <a:p>
            <a:pPr>
              <a:buClr>
                <a:schemeClr val="dk1"/>
              </a:buClr>
              <a:buSzPts val="1100"/>
            </a:pPr>
            <a:r>
              <a:rPr lang="en" sz="2000" dirty="0" err="1">
                <a:solidFill>
                  <a:srgbClr val="0000FF"/>
                </a:solidFill>
                <a:latin typeface="Arial" panose="020B0604020202020204" pitchFamily="34" charset="0"/>
                <a:cs typeface="Arial" panose="020B0604020202020204" pitchFamily="34" charset="0"/>
              </a:rPr>
              <a:t>Dockerfile</a:t>
            </a:r>
            <a:r>
              <a:rPr lang="en" sz="2000" dirty="0">
                <a:solidFill>
                  <a:schemeClr val="dk1"/>
                </a:solidFill>
                <a:latin typeface="Arial" panose="020B0604020202020204" pitchFamily="34" charset="0"/>
                <a:cs typeface="Arial" panose="020B0604020202020204" pitchFamily="34" charset="0"/>
              </a:rPr>
              <a:t> - one file describing your container. It is used to build "docker image" - downloading and compiling all dependencies together. You can run this image, deploy it into production, put it into repository (hub), etc.</a:t>
            </a:r>
            <a:endParaRPr sz="2000" dirty="0">
              <a:solidFill>
                <a:schemeClr val="dk1"/>
              </a:solidFill>
              <a:latin typeface="Arial" panose="020B0604020202020204" pitchFamily="34" charset="0"/>
              <a:cs typeface="Arial" panose="020B0604020202020204" pitchFamily="34" charset="0"/>
            </a:endParaRPr>
          </a:p>
          <a:p>
            <a:pPr>
              <a:buClr>
                <a:schemeClr val="dk1"/>
              </a:buClr>
              <a:buSzPts val="1100"/>
            </a:pPr>
            <a:endParaRPr sz="2000" dirty="0">
              <a:solidFill>
                <a:schemeClr val="dk1"/>
              </a:solidFill>
              <a:latin typeface="Arial" panose="020B0604020202020204" pitchFamily="34" charset="0"/>
              <a:cs typeface="Arial" panose="020B0604020202020204" pitchFamily="34" charset="0"/>
            </a:endParaRPr>
          </a:p>
          <a:p>
            <a:pPr>
              <a:buClr>
                <a:schemeClr val="dk1"/>
              </a:buClr>
              <a:buSzPts val="1100"/>
            </a:pPr>
            <a:r>
              <a:rPr lang="en" sz="2000" dirty="0">
                <a:solidFill>
                  <a:schemeClr val="dk1"/>
                </a:solidFill>
                <a:latin typeface="Arial" panose="020B0604020202020204" pitchFamily="34" charset="0"/>
                <a:cs typeface="Arial" panose="020B0604020202020204" pitchFamily="34" charset="0"/>
              </a:rPr>
              <a:t>Benefits of using containers:</a:t>
            </a:r>
            <a:endParaRPr sz="2000" dirty="0">
              <a:solidFill>
                <a:schemeClr val="dk1"/>
              </a:solidFill>
              <a:latin typeface="Arial" panose="020B0604020202020204" pitchFamily="34" charset="0"/>
              <a:cs typeface="Arial" panose="020B0604020202020204" pitchFamily="34" charset="0"/>
            </a:endParaRPr>
          </a:p>
          <a:p>
            <a:pPr>
              <a:buClr>
                <a:schemeClr val="dk1"/>
              </a:buClr>
              <a:buSzPts val="1100"/>
            </a:pPr>
            <a:r>
              <a:rPr lang="en" sz="2000" dirty="0">
                <a:solidFill>
                  <a:schemeClr val="dk1"/>
                </a:solidFill>
                <a:latin typeface="Arial" panose="020B0604020202020204" pitchFamily="34" charset="0"/>
                <a:cs typeface="Arial" panose="020B0604020202020204" pitchFamily="34" charset="0"/>
              </a:rPr>
              <a:t>  - small size (2kb .. 100MB (or more as needed) - much smaller than typical Virtual Machine</a:t>
            </a:r>
            <a:endParaRPr sz="2000" dirty="0">
              <a:solidFill>
                <a:schemeClr val="dk1"/>
              </a:solidFill>
              <a:latin typeface="Arial" panose="020B0604020202020204" pitchFamily="34" charset="0"/>
              <a:cs typeface="Arial" panose="020B0604020202020204" pitchFamily="34" charset="0"/>
            </a:endParaRPr>
          </a:p>
          <a:p>
            <a:pPr>
              <a:buClr>
                <a:schemeClr val="dk1"/>
              </a:buClr>
              <a:buSzPts val="1100"/>
            </a:pPr>
            <a:r>
              <a:rPr lang="en" sz="2000" dirty="0">
                <a:solidFill>
                  <a:schemeClr val="dk1"/>
                </a:solidFill>
                <a:latin typeface="Arial" panose="020B0604020202020204" pitchFamily="34" charset="0"/>
                <a:cs typeface="Arial" panose="020B0604020202020204" pitchFamily="34" charset="0"/>
              </a:rPr>
              <a:t>  - all dependencies included</a:t>
            </a:r>
            <a:endParaRPr sz="2000" dirty="0">
              <a:solidFill>
                <a:schemeClr val="dk1"/>
              </a:solidFill>
              <a:latin typeface="Arial" panose="020B0604020202020204" pitchFamily="34" charset="0"/>
              <a:cs typeface="Arial" panose="020B0604020202020204" pitchFamily="34" charset="0"/>
            </a:endParaRPr>
          </a:p>
          <a:p>
            <a:pPr>
              <a:buClr>
                <a:schemeClr val="dk1"/>
              </a:buClr>
              <a:buSzPts val="1100"/>
            </a:pPr>
            <a:r>
              <a:rPr lang="en" sz="2000" dirty="0">
                <a:solidFill>
                  <a:schemeClr val="dk1"/>
                </a:solidFill>
                <a:latin typeface="Arial" panose="020B0604020202020204" pitchFamily="34" charset="0"/>
                <a:cs typeface="Arial" panose="020B0604020202020204" pitchFamily="34" charset="0"/>
              </a:rPr>
              <a:t>  - portability</a:t>
            </a:r>
            <a:endParaRPr sz="2000" dirty="0">
              <a:solidFill>
                <a:schemeClr val="dk1"/>
              </a:solidFill>
              <a:latin typeface="Arial" panose="020B0604020202020204" pitchFamily="34" charset="0"/>
              <a:cs typeface="Arial" panose="020B0604020202020204" pitchFamily="34" charset="0"/>
            </a:endParaRPr>
          </a:p>
          <a:p>
            <a:pPr>
              <a:buClr>
                <a:schemeClr val="dk1"/>
              </a:buClr>
              <a:buSzPts val="1100"/>
            </a:pPr>
            <a:r>
              <a:rPr lang="en" sz="2000" dirty="0">
                <a:solidFill>
                  <a:schemeClr val="dk1"/>
                </a:solidFill>
                <a:latin typeface="Arial" panose="020B0604020202020204" pitchFamily="34" charset="0"/>
                <a:cs typeface="Arial" panose="020B0604020202020204" pitchFamily="34" charset="0"/>
              </a:rPr>
              <a:t>  - security, isolation</a:t>
            </a:r>
            <a:endParaRPr sz="2000" dirty="0">
              <a:solidFill>
                <a:schemeClr val="dk1"/>
              </a:solidFill>
              <a:latin typeface="Arial" panose="020B0604020202020204" pitchFamily="34" charset="0"/>
              <a:cs typeface="Arial" panose="020B0604020202020204" pitchFamily="34" charset="0"/>
            </a:endParaRPr>
          </a:p>
          <a:p>
            <a:pPr>
              <a:buClr>
                <a:schemeClr val="dk1"/>
              </a:buClr>
              <a:buSzPts val="1100"/>
            </a:pPr>
            <a:r>
              <a:rPr lang="en" sz="2000" dirty="0">
                <a:solidFill>
                  <a:schemeClr val="dk1"/>
                </a:solidFill>
                <a:latin typeface="Arial" panose="020B0604020202020204" pitchFamily="34" charset="0"/>
                <a:cs typeface="Arial" panose="020B0604020202020204" pitchFamily="34" charset="0"/>
              </a:rPr>
              <a:t>  - you can run multiple containers on a host machine</a:t>
            </a:r>
            <a:endParaRPr sz="2000" dirty="0">
              <a:solidFill>
                <a:schemeClr val="dk1"/>
              </a:solidFill>
              <a:latin typeface="Arial" panose="020B0604020202020204" pitchFamily="34" charset="0"/>
              <a:cs typeface="Arial" panose="020B0604020202020204" pitchFamily="34" charset="0"/>
            </a:endParaRPr>
          </a:p>
          <a:p>
            <a:pPr>
              <a:buClr>
                <a:schemeClr val="dk1"/>
              </a:buClr>
              <a:buSzPts val="1100"/>
            </a:pPr>
            <a:r>
              <a:rPr lang="en" sz="2000" dirty="0">
                <a:solidFill>
                  <a:schemeClr val="dk1"/>
                </a:solidFill>
                <a:latin typeface="Arial" panose="020B0604020202020204" pitchFamily="34" charset="0"/>
                <a:cs typeface="Arial" panose="020B0604020202020204" pitchFamily="34" charset="0"/>
              </a:rPr>
              <a:t>  - you can regulate how much resources containers get (CPU, memory, etc.)</a:t>
            </a:r>
            <a:endParaRPr sz="2000" dirty="0">
              <a:solidFill>
                <a:schemeClr val="dk1"/>
              </a:solidFill>
              <a:latin typeface="Arial" panose="020B0604020202020204" pitchFamily="34" charset="0"/>
              <a:cs typeface="Arial" panose="020B0604020202020204" pitchFamily="34" charset="0"/>
            </a:endParaRPr>
          </a:p>
          <a:p>
            <a:endParaRPr sz="2000" dirty="0">
              <a:solidFill>
                <a:schemeClr val="dk1"/>
              </a:solidFill>
              <a:latin typeface="Arial" panose="020B0604020202020204" pitchFamily="34" charset="0"/>
              <a:cs typeface="Arial" panose="020B0604020202020204" pitchFamily="34" charset="0"/>
            </a:endParaRPr>
          </a:p>
        </p:txBody>
      </p:sp>
      <p:sp>
        <p:nvSpPr>
          <p:cNvPr id="3" name="Google Shape;72;p15">
            <a:extLst>
              <a:ext uri="{FF2B5EF4-FFF2-40B4-BE49-F238E27FC236}">
                <a16:creationId xmlns:a16="http://schemas.microsoft.com/office/drawing/2014/main" id="{12D95613-6712-2F4B-A9F1-7170F27AE5D8}"/>
              </a:ext>
            </a:extLst>
          </p:cNvPr>
          <p:cNvSpPr txBox="1"/>
          <p:nvPr/>
        </p:nvSpPr>
        <p:spPr>
          <a:xfrm>
            <a:off x="161200" y="137788"/>
            <a:ext cx="4991092" cy="723858"/>
          </a:xfrm>
          <a:prstGeom prst="rect">
            <a:avLst/>
          </a:prstGeom>
          <a:noFill/>
          <a:ln>
            <a:noFill/>
          </a:ln>
        </p:spPr>
        <p:txBody>
          <a:bodyPr spcFirstLastPara="1" wrap="square" lIns="121900" tIns="121900" rIns="121900" bIns="121900" anchor="t" anchorCtr="0">
            <a:noAutofit/>
          </a:bodyPr>
          <a:lstStyle/>
          <a:p>
            <a:r>
              <a:rPr lang="en" sz="2800" b="1" dirty="0">
                <a:solidFill>
                  <a:schemeClr val="dk1"/>
                </a:solidFill>
                <a:latin typeface="Arial" panose="020B0604020202020204" pitchFamily="34" charset="0"/>
                <a:cs typeface="Arial" panose="020B0604020202020204" pitchFamily="34" charset="0"/>
              </a:rPr>
              <a:t>Docker Containers</a:t>
            </a:r>
            <a:endParaRPr sz="2000" dirty="0">
              <a:solidFill>
                <a:schemeClr val="dk1"/>
              </a:solidFill>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p:nvPr/>
        </p:nvSpPr>
        <p:spPr>
          <a:xfrm>
            <a:off x="161200" y="720971"/>
            <a:ext cx="5571385" cy="4747844"/>
          </a:xfrm>
          <a:prstGeom prst="rect">
            <a:avLst/>
          </a:prstGeom>
          <a:noFill/>
          <a:ln>
            <a:noFill/>
          </a:ln>
        </p:spPr>
        <p:txBody>
          <a:bodyPr spcFirstLastPara="1" wrap="square" lIns="121900" tIns="121900" rIns="121900" bIns="121900" anchor="t" anchorCtr="0">
            <a:noAutofit/>
          </a:bodyPr>
          <a:lstStyle/>
          <a:p>
            <a:r>
              <a:rPr lang="en" dirty="0">
                <a:solidFill>
                  <a:schemeClr val="dk1"/>
                </a:solidFill>
                <a:latin typeface="Arial" panose="020B0604020202020204" pitchFamily="34" charset="0"/>
                <a:cs typeface="Arial" panose="020B0604020202020204" pitchFamily="34" charset="0"/>
              </a:rPr>
              <a:t>Containers grew from Linux development.</a:t>
            </a:r>
          </a:p>
          <a:p>
            <a:r>
              <a:rPr lang="en" dirty="0">
                <a:solidFill>
                  <a:schemeClr val="dk1"/>
                </a:solidFill>
                <a:latin typeface="Arial" panose="020B0604020202020204" pitchFamily="34" charset="0"/>
                <a:cs typeface="Arial" panose="020B0604020202020204" pitchFamily="34" charset="0"/>
              </a:rPr>
              <a:t>Over the years many changes were introduced </a:t>
            </a:r>
          </a:p>
          <a:p>
            <a:r>
              <a:rPr lang="en" dirty="0">
                <a:solidFill>
                  <a:schemeClr val="dk1"/>
                </a:solidFill>
                <a:latin typeface="Arial" panose="020B0604020202020204" pitchFamily="34" charset="0"/>
                <a:cs typeface="Arial" panose="020B0604020202020204" pitchFamily="34" charset="0"/>
              </a:rPr>
              <a:t>into Linux to make a better isolation between </a:t>
            </a:r>
          </a:p>
          <a:p>
            <a:r>
              <a:rPr lang="en" dirty="0">
                <a:solidFill>
                  <a:schemeClr val="dk1"/>
                </a:solidFill>
                <a:latin typeface="Arial" panose="020B0604020202020204" pitchFamily="34" charset="0"/>
                <a:cs typeface="Arial" panose="020B0604020202020204" pitchFamily="34" charset="0"/>
              </a:rPr>
              <a:t>users and processes. </a:t>
            </a:r>
          </a:p>
          <a:p>
            <a:r>
              <a:rPr lang="en" dirty="0">
                <a:solidFill>
                  <a:schemeClr val="dk1"/>
                </a:solidFill>
                <a:latin typeface="Arial" panose="020B0604020202020204" pitchFamily="34" charset="0"/>
                <a:cs typeface="Arial" panose="020B0604020202020204" pitchFamily="34" charset="0"/>
              </a:rPr>
              <a:t>Three Linux features that are used by docker:</a:t>
            </a:r>
            <a:endParaRPr dirty="0">
              <a:solidFill>
                <a:schemeClr val="dk1"/>
              </a:solidFill>
              <a:latin typeface="Arial" panose="020B0604020202020204" pitchFamily="34" charset="0"/>
              <a:cs typeface="Arial" panose="020B0604020202020204" pitchFamily="34" charset="0"/>
            </a:endParaRPr>
          </a:p>
          <a:p>
            <a:r>
              <a:rPr lang="en" dirty="0">
                <a:solidFill>
                  <a:schemeClr val="dk1"/>
                </a:solidFill>
                <a:latin typeface="Arial" panose="020B0604020202020204" pitchFamily="34" charset="0"/>
                <a:cs typeface="Arial" panose="020B0604020202020204" pitchFamily="34" charset="0"/>
              </a:rPr>
              <a:t>  1. namespaces,</a:t>
            </a:r>
            <a:endParaRPr dirty="0">
              <a:solidFill>
                <a:schemeClr val="dk1"/>
              </a:solidFill>
              <a:latin typeface="Arial" panose="020B0604020202020204" pitchFamily="34" charset="0"/>
              <a:cs typeface="Arial" panose="020B0604020202020204" pitchFamily="34" charset="0"/>
            </a:endParaRPr>
          </a:p>
          <a:p>
            <a:r>
              <a:rPr lang="en" dirty="0">
                <a:solidFill>
                  <a:schemeClr val="dk1"/>
                </a:solidFill>
                <a:latin typeface="Arial" panose="020B0604020202020204" pitchFamily="34" charset="0"/>
                <a:cs typeface="Arial" panose="020B0604020202020204" pitchFamily="34" charset="0"/>
              </a:rPr>
              <a:t>  2. control groups,</a:t>
            </a:r>
            <a:endParaRPr dirty="0">
              <a:solidFill>
                <a:schemeClr val="dk1"/>
              </a:solidFill>
              <a:latin typeface="Arial" panose="020B0604020202020204" pitchFamily="34" charset="0"/>
              <a:cs typeface="Arial" panose="020B0604020202020204" pitchFamily="34" charset="0"/>
            </a:endParaRPr>
          </a:p>
          <a:p>
            <a:r>
              <a:rPr lang="en" dirty="0">
                <a:solidFill>
                  <a:schemeClr val="dk1"/>
                </a:solidFill>
                <a:latin typeface="Arial" panose="020B0604020202020204" pitchFamily="34" charset="0"/>
                <a:cs typeface="Arial" panose="020B0604020202020204" pitchFamily="34" charset="0"/>
              </a:rPr>
              <a:t>  3. union file systems.</a:t>
            </a:r>
            <a:endParaRPr dirty="0">
              <a:solidFill>
                <a:schemeClr val="dk1"/>
              </a:solidFill>
              <a:latin typeface="Arial" panose="020B0604020202020204" pitchFamily="34" charset="0"/>
              <a:cs typeface="Arial" panose="020B0604020202020204" pitchFamily="34" charset="0"/>
            </a:endParaRPr>
          </a:p>
          <a:p>
            <a:endParaRPr dirty="0">
              <a:solidFill>
                <a:schemeClr val="dk1"/>
              </a:solidFill>
              <a:latin typeface="Arial" panose="020B0604020202020204" pitchFamily="34" charset="0"/>
              <a:cs typeface="Arial" panose="020B0604020202020204" pitchFamily="34" charset="0"/>
            </a:endParaRPr>
          </a:p>
          <a:p>
            <a:r>
              <a:rPr lang="en" dirty="0">
                <a:solidFill>
                  <a:schemeClr val="dk1"/>
                </a:solidFill>
                <a:latin typeface="Arial" panose="020B0604020202020204" pitchFamily="34" charset="0"/>
                <a:cs typeface="Arial" panose="020B0604020202020204" pitchFamily="34" charset="0"/>
              </a:rPr>
              <a:t>chroot &amp; jail (~1982) as precursors of containers</a:t>
            </a:r>
          </a:p>
          <a:p>
            <a:r>
              <a:rPr lang="en" dirty="0">
                <a:solidFill>
                  <a:schemeClr val="dk1"/>
                </a:solidFill>
                <a:latin typeface="Arial" panose="020B0604020202020204" pitchFamily="34" charset="0"/>
                <a:cs typeface="Arial" panose="020B0604020202020204" pitchFamily="34" charset="0"/>
              </a:rPr>
              <a:t> - </a:t>
            </a:r>
            <a:r>
              <a:rPr lang="en" u="sng" dirty="0">
                <a:solidFill>
                  <a:schemeClr val="hlink"/>
                </a:solidFill>
                <a:latin typeface="Arial" panose="020B0604020202020204" pitchFamily="34" charset="0"/>
                <a:cs typeface="Arial" panose="020B0604020202020204" pitchFamily="34" charset="0"/>
                <a:hlinkClick r:id="rId3"/>
              </a:rPr>
              <a:t>https://en.wikipedia.org/wiki/Chroot</a:t>
            </a:r>
            <a:r>
              <a:rPr lang="en" dirty="0">
                <a:solidFill>
                  <a:schemeClr val="dk1"/>
                </a:solidFill>
                <a:latin typeface="Arial" panose="020B0604020202020204" pitchFamily="34" charset="0"/>
                <a:cs typeface="Arial" panose="020B0604020202020204" pitchFamily="34" charset="0"/>
              </a:rPr>
              <a:t> </a:t>
            </a:r>
          </a:p>
          <a:p>
            <a:endParaRPr lang="en" dirty="0">
              <a:solidFill>
                <a:schemeClr val="dk1"/>
              </a:solidFill>
              <a:latin typeface="Arial" panose="020B0604020202020204" pitchFamily="34" charset="0"/>
              <a:cs typeface="Arial" panose="020B0604020202020204" pitchFamily="34" charset="0"/>
            </a:endParaRPr>
          </a:p>
          <a:p>
            <a:r>
              <a:rPr lang="en-US" dirty="0">
                <a:solidFill>
                  <a:schemeClr val="dk1"/>
                </a:solidFill>
                <a:latin typeface="Arial" panose="020B0604020202020204" pitchFamily="34" charset="0"/>
                <a:cs typeface="Arial" panose="020B0604020202020204" pitchFamily="34" charset="0"/>
              </a:rPr>
              <a:t>Engineers at Google (primarily Paul Menage and </a:t>
            </a:r>
          </a:p>
          <a:p>
            <a:r>
              <a:rPr lang="en-US" dirty="0">
                <a:solidFill>
                  <a:schemeClr val="dk1"/>
                </a:solidFill>
                <a:latin typeface="Arial" panose="020B0604020202020204" pitchFamily="34" charset="0"/>
                <a:cs typeface="Arial" panose="020B0604020202020204" pitchFamily="34" charset="0"/>
              </a:rPr>
              <a:t>Rohit Seth) started the work on control groups in 2006:</a:t>
            </a:r>
          </a:p>
          <a:p>
            <a:r>
              <a:rPr lang="en-US" dirty="0">
                <a:solidFill>
                  <a:schemeClr val="dk1"/>
                </a:solidFill>
                <a:latin typeface="Arial" panose="020B0604020202020204" pitchFamily="34" charset="0"/>
                <a:cs typeface="Arial" panose="020B0604020202020204" pitchFamily="34" charset="0"/>
              </a:rPr>
              <a:t>  </a:t>
            </a:r>
            <a:r>
              <a:rPr lang="en-US" u="sng" dirty="0">
                <a:solidFill>
                  <a:schemeClr val="hlink"/>
                </a:solidFill>
                <a:latin typeface="Arial" panose="020B0604020202020204" pitchFamily="34" charset="0"/>
                <a:cs typeface="Arial" panose="020B0604020202020204" pitchFamily="34" charset="0"/>
                <a:hlinkClick r:id="rId4"/>
              </a:rPr>
              <a:t>https://en.wikipedia.org/wiki/Cgroups</a:t>
            </a:r>
            <a:r>
              <a:rPr lang="en-US" dirty="0">
                <a:solidFill>
                  <a:schemeClr val="dk1"/>
                </a:solidFill>
                <a:latin typeface="Arial" panose="020B0604020202020204" pitchFamily="34" charset="0"/>
                <a:cs typeface="Arial" panose="020B0604020202020204" pitchFamily="34" charset="0"/>
              </a:rPr>
              <a:t> </a:t>
            </a:r>
          </a:p>
          <a:p>
            <a:endParaRPr lang="en-US" dirty="0">
              <a:solidFill>
                <a:schemeClr val="dk1"/>
              </a:solidFill>
              <a:latin typeface="Arial" panose="020B0604020202020204" pitchFamily="34" charset="0"/>
              <a:cs typeface="Arial" panose="020B0604020202020204" pitchFamily="34" charset="0"/>
            </a:endParaRPr>
          </a:p>
          <a:p>
            <a:endParaRPr dirty="0">
              <a:solidFill>
                <a:schemeClr val="dk1"/>
              </a:solidFill>
              <a:latin typeface="Arial" panose="020B0604020202020204" pitchFamily="34" charset="0"/>
              <a:cs typeface="Arial" panose="020B0604020202020204" pitchFamily="34" charset="0"/>
            </a:endParaRPr>
          </a:p>
          <a:p>
            <a:endParaRPr dirty="0">
              <a:solidFill>
                <a:schemeClr val="dk1"/>
              </a:solidFill>
              <a:latin typeface="Arial" panose="020B0604020202020204" pitchFamily="34" charset="0"/>
              <a:cs typeface="Arial" panose="020B0604020202020204" pitchFamily="34" charset="0"/>
            </a:endParaRPr>
          </a:p>
        </p:txBody>
      </p:sp>
      <p:sp>
        <p:nvSpPr>
          <p:cNvPr id="3" name="Google Shape;77;p16">
            <a:extLst>
              <a:ext uri="{FF2B5EF4-FFF2-40B4-BE49-F238E27FC236}">
                <a16:creationId xmlns:a16="http://schemas.microsoft.com/office/drawing/2014/main" id="{A0E7D859-48AF-A647-9AC0-B5876F132BC7}"/>
              </a:ext>
            </a:extLst>
          </p:cNvPr>
          <p:cNvSpPr txBox="1"/>
          <p:nvPr/>
        </p:nvSpPr>
        <p:spPr>
          <a:xfrm>
            <a:off x="52755" y="70340"/>
            <a:ext cx="5679831" cy="650631"/>
          </a:xfrm>
          <a:prstGeom prst="rect">
            <a:avLst/>
          </a:prstGeom>
          <a:noFill/>
          <a:ln>
            <a:noFill/>
          </a:ln>
        </p:spPr>
        <p:txBody>
          <a:bodyPr spcFirstLastPara="1" wrap="square" lIns="121900" tIns="121900" rIns="121900" bIns="121900" anchor="t" anchorCtr="0">
            <a:noAutofit/>
          </a:bodyPr>
          <a:lstStyle/>
          <a:p>
            <a:r>
              <a:rPr lang="en" sz="2800" b="1" dirty="0">
                <a:solidFill>
                  <a:schemeClr val="dk1"/>
                </a:solidFill>
                <a:latin typeface="Arial" panose="020B0604020202020204" pitchFamily="34" charset="0"/>
                <a:cs typeface="Arial" panose="020B0604020202020204" pitchFamily="34" charset="0"/>
              </a:rPr>
              <a:t>Docker History</a:t>
            </a:r>
            <a:endParaRPr sz="2800" b="1" dirty="0">
              <a:solidFill>
                <a:schemeClr val="dk1"/>
              </a:solidFill>
              <a:latin typeface="Arial" panose="020B0604020202020204" pitchFamily="34" charset="0"/>
              <a:cs typeface="Arial" panose="020B0604020202020204" pitchFamily="34" charset="0"/>
            </a:endParaRPr>
          </a:p>
          <a:p>
            <a:endParaRPr sz="2800" b="1" dirty="0">
              <a:solidFill>
                <a:schemeClr val="dk1"/>
              </a:solidFill>
              <a:latin typeface="Arial" panose="020B0604020202020204" pitchFamily="34" charset="0"/>
              <a:cs typeface="Arial" panose="020B0604020202020204" pitchFamily="34" charset="0"/>
            </a:endParaRPr>
          </a:p>
        </p:txBody>
      </p:sp>
      <p:sp>
        <p:nvSpPr>
          <p:cNvPr id="4" name="Google Shape;77;p16">
            <a:extLst>
              <a:ext uri="{FF2B5EF4-FFF2-40B4-BE49-F238E27FC236}">
                <a16:creationId xmlns:a16="http://schemas.microsoft.com/office/drawing/2014/main" id="{4146D911-DB16-1E4C-8C11-13C875B5603B}"/>
              </a:ext>
            </a:extLst>
          </p:cNvPr>
          <p:cNvSpPr txBox="1"/>
          <p:nvPr/>
        </p:nvSpPr>
        <p:spPr>
          <a:xfrm>
            <a:off x="5841030" y="720971"/>
            <a:ext cx="6350970" cy="3692767"/>
          </a:xfrm>
          <a:prstGeom prst="rect">
            <a:avLst/>
          </a:prstGeom>
          <a:noFill/>
          <a:ln>
            <a:noFill/>
          </a:ln>
        </p:spPr>
        <p:txBody>
          <a:bodyPr spcFirstLastPara="1" wrap="square" lIns="121900" tIns="121900" rIns="121900" bIns="121900" anchor="t" anchorCtr="0">
            <a:noAutofit/>
          </a:bodyPr>
          <a:lstStyle/>
          <a:p>
            <a:r>
              <a:rPr lang="en" dirty="0">
                <a:solidFill>
                  <a:schemeClr val="dk1"/>
                </a:solidFill>
                <a:latin typeface="Arial" panose="020B0604020202020204" pitchFamily="34" charset="0"/>
                <a:cs typeface="Arial" panose="020B0604020202020204" pitchFamily="34" charset="0"/>
              </a:rPr>
              <a:t>Early versions of Docker (until v1.10) used LXC (Linux Containers) as the container execution driver.</a:t>
            </a:r>
            <a:endParaRPr dirty="0">
              <a:solidFill>
                <a:schemeClr val="dk1"/>
              </a:solidFill>
              <a:latin typeface="Arial" panose="020B0604020202020204" pitchFamily="34" charset="0"/>
              <a:cs typeface="Arial" panose="020B0604020202020204" pitchFamily="34" charset="0"/>
            </a:endParaRPr>
          </a:p>
          <a:p>
            <a:r>
              <a:rPr lang="en" dirty="0">
                <a:solidFill>
                  <a:schemeClr val="dk1"/>
                </a:solidFill>
                <a:latin typeface="Arial" panose="020B0604020202020204" pitchFamily="34" charset="0"/>
                <a:cs typeface="Arial" panose="020B0604020202020204" pitchFamily="34" charset="0"/>
              </a:rPr>
              <a:t>  </a:t>
            </a:r>
            <a:r>
              <a:rPr lang="en" u="sng" dirty="0">
                <a:solidFill>
                  <a:schemeClr val="hlink"/>
                </a:solidFill>
                <a:latin typeface="Arial" panose="020B0604020202020204" pitchFamily="34" charset="0"/>
                <a:cs typeface="Arial" panose="020B0604020202020204" pitchFamily="34" charset="0"/>
                <a:hlinkClick r:id="rId5"/>
              </a:rPr>
              <a:t>https://en.wikipedia.org/wiki/LXC</a:t>
            </a:r>
            <a:r>
              <a:rPr lang="en" dirty="0">
                <a:solidFill>
                  <a:schemeClr val="dk1"/>
                </a:solidFill>
                <a:latin typeface="Arial" panose="020B0604020202020204" pitchFamily="34" charset="0"/>
                <a:cs typeface="Arial" panose="020B0604020202020204" pitchFamily="34" charset="0"/>
              </a:rPr>
              <a:t> </a:t>
            </a:r>
            <a:endParaRPr dirty="0">
              <a:solidFill>
                <a:schemeClr val="dk1"/>
              </a:solidFill>
              <a:latin typeface="Arial" panose="020B0604020202020204" pitchFamily="34" charset="0"/>
              <a:cs typeface="Arial" panose="020B0604020202020204" pitchFamily="34" charset="0"/>
            </a:endParaRPr>
          </a:p>
          <a:p>
            <a:endParaRPr dirty="0">
              <a:solidFill>
                <a:schemeClr val="dk1"/>
              </a:solidFill>
              <a:latin typeface="Arial" panose="020B0604020202020204" pitchFamily="34" charset="0"/>
              <a:cs typeface="Arial" panose="020B0604020202020204" pitchFamily="34" charset="0"/>
            </a:endParaRPr>
          </a:p>
          <a:p>
            <a:r>
              <a:rPr lang="en" dirty="0">
                <a:solidFill>
                  <a:schemeClr val="dk1"/>
                </a:solidFill>
                <a:latin typeface="Arial" panose="020B0604020202020204" pitchFamily="34" charset="0"/>
                <a:cs typeface="Arial" panose="020B0604020202020204" pitchFamily="34" charset="0"/>
              </a:rPr>
              <a:t>docker is written in “Go” !</a:t>
            </a:r>
            <a:br>
              <a:rPr lang="en" dirty="0">
                <a:solidFill>
                  <a:schemeClr val="dk1"/>
                </a:solidFill>
                <a:latin typeface="Arial" panose="020B0604020202020204" pitchFamily="34" charset="0"/>
                <a:cs typeface="Arial" panose="020B0604020202020204" pitchFamily="34" charset="0"/>
              </a:rPr>
            </a:br>
            <a:r>
              <a:rPr lang="en" dirty="0">
                <a:solidFill>
                  <a:schemeClr val="dk1"/>
                </a:solidFill>
                <a:latin typeface="Arial" panose="020B0604020202020204" pitchFamily="34" charset="0"/>
                <a:cs typeface="Arial" panose="020B0604020202020204" pitchFamily="34" charset="0"/>
              </a:rPr>
              <a:t> - </a:t>
            </a:r>
            <a:r>
              <a:rPr lang="en" u="sng" dirty="0">
                <a:solidFill>
                  <a:schemeClr val="hlink"/>
                </a:solidFill>
                <a:latin typeface="Arial" panose="020B0604020202020204" pitchFamily="34" charset="0"/>
                <a:cs typeface="Arial" panose="020B0604020202020204" pitchFamily="34" charset="0"/>
                <a:hlinkClick r:id="rId6"/>
              </a:rPr>
              <a:t>https://docs.docker.com/engine/docker-overview/#the-underlying-technology</a:t>
            </a:r>
            <a:r>
              <a:rPr lang="en" dirty="0">
                <a:solidFill>
                  <a:schemeClr val="dk1"/>
                </a:solidFill>
                <a:latin typeface="Arial" panose="020B0604020202020204" pitchFamily="34" charset="0"/>
                <a:cs typeface="Arial" panose="020B0604020202020204" pitchFamily="34" charset="0"/>
              </a:rPr>
              <a:t> </a:t>
            </a:r>
            <a:endParaRPr dirty="0">
              <a:solidFill>
                <a:schemeClr val="dk1"/>
              </a:solidFill>
              <a:latin typeface="Arial" panose="020B0604020202020204" pitchFamily="34" charset="0"/>
              <a:cs typeface="Arial" panose="020B0604020202020204" pitchFamily="34" charset="0"/>
            </a:endParaRPr>
          </a:p>
          <a:p>
            <a:endParaRPr dirty="0">
              <a:solidFill>
                <a:schemeClr val="dk1"/>
              </a:solidFill>
              <a:latin typeface="Arial" panose="020B0604020202020204" pitchFamily="34" charset="0"/>
              <a:cs typeface="Arial" panose="020B0604020202020204" pitchFamily="34" charset="0"/>
            </a:endParaRPr>
          </a:p>
          <a:p>
            <a:r>
              <a:rPr lang="en" dirty="0">
                <a:solidFill>
                  <a:schemeClr val="dk1"/>
                </a:solidFill>
                <a:latin typeface="Arial" panose="020B0604020202020204" pitchFamily="34" charset="0"/>
                <a:cs typeface="Arial" panose="020B0604020202020204" pitchFamily="34" charset="0"/>
              </a:rPr>
              <a:t>Very nice article on minimizing the size of docker image for a python application -</a:t>
            </a:r>
            <a:endParaRPr dirty="0">
              <a:solidFill>
                <a:schemeClr val="dk1"/>
              </a:solidFill>
              <a:latin typeface="Arial" panose="020B0604020202020204" pitchFamily="34" charset="0"/>
              <a:cs typeface="Arial" panose="020B0604020202020204" pitchFamily="34" charset="0"/>
            </a:endParaRPr>
          </a:p>
          <a:p>
            <a:r>
              <a:rPr lang="en" dirty="0">
                <a:solidFill>
                  <a:schemeClr val="dk1"/>
                </a:solidFill>
                <a:latin typeface="Arial" panose="020B0604020202020204" pitchFamily="34" charset="0"/>
                <a:cs typeface="Arial" panose="020B0604020202020204" pitchFamily="34" charset="0"/>
              </a:rPr>
              <a:t> - </a:t>
            </a:r>
            <a:r>
              <a:rPr lang="en" u="sng" dirty="0">
                <a:solidFill>
                  <a:schemeClr val="hlink"/>
                </a:solidFill>
                <a:latin typeface="Arial" panose="020B0604020202020204" pitchFamily="34" charset="0"/>
                <a:cs typeface="Arial" panose="020B0604020202020204" pitchFamily="34" charset="0"/>
                <a:hlinkClick r:id="rId7"/>
              </a:rPr>
              <a:t>https://blog.realkinetic.com/building-minimal-docker-containers-for-python-applications-37d0272c52f3</a:t>
            </a:r>
            <a:r>
              <a:rPr lang="en" dirty="0">
                <a:solidFill>
                  <a:schemeClr val="dk1"/>
                </a:solidFill>
                <a:latin typeface="Arial" panose="020B0604020202020204" pitchFamily="34" charset="0"/>
                <a:cs typeface="Arial" panose="020B0604020202020204" pitchFamily="34" charset="0"/>
              </a:rPr>
              <a:t> </a:t>
            </a:r>
            <a:endParaRPr dirty="0">
              <a:solidFill>
                <a:schemeClr val="dk1"/>
              </a:solidFill>
              <a:latin typeface="Arial" panose="020B0604020202020204" pitchFamily="34" charset="0"/>
              <a:cs typeface="Arial" panose="020B0604020202020204" pitchFamily="34" charset="0"/>
            </a:endParaRPr>
          </a:p>
          <a:p>
            <a:endParaRPr dirty="0">
              <a:solidFill>
                <a:schemeClr val="dk1"/>
              </a:solidFill>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0E0800D-0545-8F4C-944B-800108629EE3}"/>
              </a:ext>
            </a:extLst>
          </p:cNvPr>
          <p:cNvSpPr txBox="1"/>
          <p:nvPr/>
        </p:nvSpPr>
        <p:spPr>
          <a:xfrm>
            <a:off x="0" y="25800"/>
            <a:ext cx="7554754" cy="646331"/>
          </a:xfrm>
          <a:prstGeom prst="rect">
            <a:avLst/>
          </a:prstGeom>
          <a:noFill/>
        </p:spPr>
        <p:txBody>
          <a:bodyPr wrap="square" rtlCol="0">
            <a:spAutoFit/>
          </a:bodyPr>
          <a:lstStyle/>
          <a:p>
            <a:r>
              <a:rPr lang="en-US" sz="3600" b="1" dirty="0"/>
              <a:t>Docker container – tutorial – p1</a:t>
            </a:r>
          </a:p>
        </p:txBody>
      </p:sp>
      <p:sp>
        <p:nvSpPr>
          <p:cNvPr id="5" name="TextBox 4">
            <a:extLst>
              <a:ext uri="{FF2B5EF4-FFF2-40B4-BE49-F238E27FC236}">
                <a16:creationId xmlns:a16="http://schemas.microsoft.com/office/drawing/2014/main" id="{D89165B1-A7F3-C847-BE32-3B5CEA20312C}"/>
              </a:ext>
            </a:extLst>
          </p:cNvPr>
          <p:cNvSpPr txBox="1"/>
          <p:nvPr/>
        </p:nvSpPr>
        <p:spPr>
          <a:xfrm>
            <a:off x="0" y="733246"/>
            <a:ext cx="12027109" cy="6124754"/>
          </a:xfrm>
          <a:prstGeom prst="rect">
            <a:avLst/>
          </a:prstGeom>
          <a:noFill/>
        </p:spPr>
        <p:txBody>
          <a:bodyPr wrap="square" rtlCol="0">
            <a:spAutoFit/>
          </a:bodyPr>
          <a:lstStyle/>
          <a:p>
            <a:r>
              <a:rPr lang="en-US" sz="1200" dirty="0">
                <a:latin typeface="Andale Mono" panose="020B0509000000000004" pitchFamily="49" charset="0"/>
              </a:rPr>
              <a:t>Nice tutorial for Mac and Linux</a:t>
            </a:r>
            <a:endParaRPr lang="en-US" sz="1200" dirty="0">
              <a:latin typeface="Andale Mono" panose="020B0509000000000004" pitchFamily="49" charset="0"/>
              <a:hlinkClick r:id="rId3"/>
            </a:endParaRPr>
          </a:p>
          <a:p>
            <a:r>
              <a:rPr lang="en-US" sz="1200" dirty="0">
                <a:latin typeface="Andale Mono" panose="020B0509000000000004" pitchFamily="49" charset="0"/>
                <a:hlinkClick r:id="rId3"/>
              </a:rPr>
              <a:t>https://www.youtube.com/watch?v=JprTjTViaEA</a:t>
            </a:r>
            <a:r>
              <a:rPr lang="en-US" sz="1200" dirty="0">
                <a:latin typeface="Andale Mono" panose="020B0509000000000004" pitchFamily="49" charset="0"/>
              </a:rPr>
              <a:t> </a:t>
            </a:r>
          </a:p>
          <a:p>
            <a:endParaRPr lang="en-US" sz="1200" dirty="0">
              <a:latin typeface="Andale Mono" panose="020B0509000000000004" pitchFamily="49" charset="0"/>
            </a:endParaRPr>
          </a:p>
          <a:p>
            <a:r>
              <a:rPr lang="en-US" sz="1200" dirty="0">
                <a:latin typeface="Andale Mono" panose="020B0509000000000004" pitchFamily="49" charset="0"/>
              </a:rPr>
              <a:t>Download docker for Mac – file </a:t>
            </a:r>
            <a:r>
              <a:rPr lang="en-US" sz="1200" dirty="0" err="1">
                <a:latin typeface="Andale Mono" panose="020B0509000000000004" pitchFamily="49" charset="0"/>
              </a:rPr>
              <a:t>Docker.dmg</a:t>
            </a:r>
            <a:r>
              <a:rPr lang="en-US" sz="1200" dirty="0">
                <a:latin typeface="Andale Mono" panose="020B0509000000000004" pitchFamily="49" charset="0"/>
              </a:rPr>
              <a:t> :</a:t>
            </a:r>
          </a:p>
          <a:p>
            <a:r>
              <a:rPr lang="en-US" sz="1200" dirty="0">
                <a:latin typeface="Andale Mono" panose="020B0509000000000004" pitchFamily="49" charset="0"/>
                <a:hlinkClick r:id="rId4"/>
              </a:rPr>
              <a:t>https://hub.docker.com/editions/community/docker-ce-desktop-mac</a:t>
            </a:r>
            <a:r>
              <a:rPr lang="en-US" sz="1200" dirty="0">
                <a:latin typeface="Andale Mono" panose="020B0509000000000004" pitchFamily="49" charset="0"/>
              </a:rPr>
              <a:t> </a:t>
            </a:r>
          </a:p>
          <a:p>
            <a:endParaRPr lang="en-US" sz="1200" dirty="0">
              <a:latin typeface="Andale Mono" panose="020B0509000000000004" pitchFamily="49" charset="0"/>
            </a:endParaRPr>
          </a:p>
          <a:p>
            <a:r>
              <a:rPr lang="en-US" sz="1200" dirty="0">
                <a:latin typeface="Andale Mono" panose="020B0509000000000004" pitchFamily="49" charset="0"/>
              </a:rPr>
              <a:t>Install it – now you have </a:t>
            </a:r>
            <a:r>
              <a:rPr lang="en-US" sz="1200" dirty="0" err="1">
                <a:latin typeface="Andale Mono" panose="020B0509000000000004" pitchFamily="49" charset="0"/>
              </a:rPr>
              <a:t>Docker.app</a:t>
            </a:r>
            <a:r>
              <a:rPr lang="en-US" sz="1200" dirty="0">
                <a:latin typeface="Andale Mono" panose="020B0509000000000004" pitchFamily="49" charset="0"/>
              </a:rPr>
              <a:t> in Applications</a:t>
            </a:r>
          </a:p>
          <a:p>
            <a:r>
              <a:rPr lang="en-US" sz="1200" dirty="0">
                <a:latin typeface="Andale Mono" panose="020B0509000000000004" pitchFamily="49" charset="0"/>
              </a:rPr>
              <a:t>Run it, a docker icon will appear on the top bar of Mac desktop.</a:t>
            </a:r>
          </a:p>
          <a:p>
            <a:r>
              <a:rPr lang="en-US" sz="1200" dirty="0">
                <a:latin typeface="Andale Mono" panose="020B0509000000000004" pitchFamily="49" charset="0"/>
              </a:rPr>
              <a:t>It will ask to login using your login/password at </a:t>
            </a:r>
            <a:r>
              <a:rPr lang="en-US" sz="1200" dirty="0" err="1">
                <a:latin typeface="Andale Mono" panose="020B0509000000000004" pitchFamily="49" charset="0"/>
              </a:rPr>
              <a:t>docker.com</a:t>
            </a:r>
            <a:endParaRPr lang="en-US" sz="1200" dirty="0">
              <a:latin typeface="Andale Mono" panose="020B0509000000000004" pitchFamily="49" charset="0"/>
            </a:endParaRPr>
          </a:p>
          <a:p>
            <a:r>
              <a:rPr lang="en-US" sz="1200" dirty="0">
                <a:latin typeface="Andale Mono" panose="020B0509000000000004" pitchFamily="49" charset="0"/>
              </a:rPr>
              <a:t>Now you can open terminal and run docker commands:</a:t>
            </a:r>
          </a:p>
          <a:p>
            <a:endParaRPr lang="en-US" sz="1200" dirty="0">
              <a:latin typeface="Andale Mono" panose="020B0509000000000004" pitchFamily="49" charset="0"/>
            </a:endParaRPr>
          </a:p>
          <a:p>
            <a:r>
              <a:rPr lang="en-US" sz="1000" dirty="0">
                <a:latin typeface="Andale Mono" panose="020B0509000000000004" pitchFamily="49" charset="0"/>
              </a:rPr>
              <a:t>docker --version</a:t>
            </a:r>
          </a:p>
          <a:p>
            <a:r>
              <a:rPr lang="en-US" sz="1000" dirty="0">
                <a:latin typeface="Andale Mono" panose="020B0509000000000004" pitchFamily="49" charset="0"/>
              </a:rPr>
              <a:t>docker run hello-world</a:t>
            </a:r>
          </a:p>
          <a:p>
            <a:r>
              <a:rPr lang="en-US" sz="1000" dirty="0">
                <a:latin typeface="Andale Mono" panose="020B0509000000000004" pitchFamily="49" charset="0"/>
              </a:rPr>
              <a:t>docker </a:t>
            </a:r>
            <a:r>
              <a:rPr lang="en-US" sz="1000" dirty="0" err="1">
                <a:latin typeface="Andale Mono" panose="020B0509000000000004" pitchFamily="49" charset="0"/>
              </a:rPr>
              <a:t>ps</a:t>
            </a:r>
            <a:r>
              <a:rPr lang="en-US" sz="1000" dirty="0">
                <a:latin typeface="Andale Mono" panose="020B0509000000000004" pitchFamily="49" charset="0"/>
              </a:rPr>
              <a:t> –a   # shows all running and exited containers</a:t>
            </a:r>
          </a:p>
          <a:p>
            <a:r>
              <a:rPr lang="en-US" sz="1000" dirty="0">
                <a:latin typeface="Andale Mono" panose="020B0509000000000004" pitchFamily="49" charset="0"/>
              </a:rPr>
              <a:t>docker run --name my-hello hello-world</a:t>
            </a:r>
          </a:p>
          <a:p>
            <a:r>
              <a:rPr lang="en-US" sz="1000" dirty="0">
                <a:latin typeface="Andale Mono" panose="020B0509000000000004" pitchFamily="49" charset="0"/>
              </a:rPr>
              <a:t>docker </a:t>
            </a:r>
            <a:r>
              <a:rPr lang="en-US" sz="1000" dirty="0" err="1">
                <a:latin typeface="Andale Mono" panose="020B0509000000000004" pitchFamily="49" charset="0"/>
              </a:rPr>
              <a:t>ps</a:t>
            </a:r>
            <a:r>
              <a:rPr lang="en-US" sz="1000" dirty="0">
                <a:latin typeface="Andale Mono" panose="020B0509000000000004" pitchFamily="49" charset="0"/>
              </a:rPr>
              <a:t> -a</a:t>
            </a:r>
          </a:p>
          <a:p>
            <a:r>
              <a:rPr lang="en-US" sz="1000" dirty="0">
                <a:latin typeface="Andale Mono" panose="020B0509000000000004" pitchFamily="49" charset="0"/>
              </a:rPr>
              <a:t>CONTAINER ID        IMAGE               COMMAND             CREATED             STATUS                     PORTS               NAMES</a:t>
            </a:r>
          </a:p>
          <a:p>
            <a:r>
              <a:rPr lang="en-US" sz="1000" dirty="0">
                <a:latin typeface="Andale Mono" panose="020B0509000000000004" pitchFamily="49" charset="0"/>
              </a:rPr>
              <a:t>7f02d0054824        hello-world         "/hello"            6 seconds ago       Exited (0) 5 seconds ago                       my-hello</a:t>
            </a:r>
          </a:p>
          <a:p>
            <a:r>
              <a:rPr lang="en-US" sz="1000" dirty="0">
                <a:latin typeface="Andale Mono" panose="020B0509000000000004" pitchFamily="49" charset="0"/>
              </a:rPr>
              <a:t>877d44086bed        hello-world         "/hello"            4 minutes ago       Exited (0) 4 minutes ago                       </a:t>
            </a:r>
            <a:r>
              <a:rPr lang="en-US" sz="1000" dirty="0" err="1">
                <a:latin typeface="Andale Mono" panose="020B0509000000000004" pitchFamily="49" charset="0"/>
              </a:rPr>
              <a:t>gifted_Sutherland</a:t>
            </a:r>
            <a:endParaRPr lang="en-US" sz="1000" dirty="0">
              <a:latin typeface="Andale Mono" panose="020B0509000000000004" pitchFamily="49" charset="0"/>
            </a:endParaRPr>
          </a:p>
          <a:p>
            <a:endParaRPr lang="en-US" sz="1000" dirty="0">
              <a:latin typeface="Andale Mono" panose="020B0509000000000004" pitchFamily="49" charset="0"/>
            </a:endParaRPr>
          </a:p>
          <a:p>
            <a:r>
              <a:rPr lang="en-US" sz="1000" dirty="0">
                <a:latin typeface="Andale Mono" panose="020B0509000000000004" pitchFamily="49" charset="0"/>
              </a:rPr>
              <a:t>docker run -it --name my-</a:t>
            </a:r>
            <a:r>
              <a:rPr lang="en-US" sz="1000" dirty="0" err="1">
                <a:latin typeface="Andale Mono" panose="020B0509000000000004" pitchFamily="49" charset="0"/>
              </a:rPr>
              <a:t>linuc</a:t>
            </a:r>
            <a:r>
              <a:rPr lang="en-US" sz="1000" dirty="0">
                <a:latin typeface="Andale Mono" panose="020B0509000000000004" pitchFamily="49" charset="0"/>
              </a:rPr>
              <a:t>-container ubuntu bash</a:t>
            </a:r>
          </a:p>
          <a:p>
            <a:r>
              <a:rPr lang="en-US" sz="1000" dirty="0">
                <a:latin typeface="Andale Mono" panose="020B0509000000000004" pitchFamily="49" charset="0"/>
              </a:rPr>
              <a:t>…</a:t>
            </a:r>
          </a:p>
          <a:p>
            <a:r>
              <a:rPr lang="en-US" sz="1000" dirty="0">
                <a:latin typeface="Andale Mono" panose="020B0509000000000004" pitchFamily="49" charset="0"/>
              </a:rPr>
              <a:t>root@05c21049cf30:/# </a:t>
            </a:r>
          </a:p>
          <a:p>
            <a:endParaRPr lang="en-US" sz="1000" dirty="0">
              <a:latin typeface="Andale Mono" panose="020B0509000000000004" pitchFamily="49" charset="0"/>
            </a:endParaRPr>
          </a:p>
          <a:p>
            <a:r>
              <a:rPr lang="en-US" sz="1000" dirty="0">
                <a:latin typeface="Andale Mono" panose="020B0509000000000004" pitchFamily="49" charset="0"/>
              </a:rPr>
              <a:t>Try running commands on prompt:  top , </a:t>
            </a:r>
            <a:r>
              <a:rPr lang="en-US" sz="1000" dirty="0" err="1">
                <a:latin typeface="Andale Mono" panose="020B0509000000000004" pitchFamily="49" charset="0"/>
              </a:rPr>
              <a:t>pwd</a:t>
            </a:r>
            <a:r>
              <a:rPr lang="en-US" sz="1000" dirty="0">
                <a:latin typeface="Andale Mono" panose="020B0509000000000004" pitchFamily="49" charset="0"/>
              </a:rPr>
              <a:t> , ls –</a:t>
            </a:r>
            <a:r>
              <a:rPr lang="en-US" sz="1000" dirty="0" err="1">
                <a:latin typeface="Andale Mono" panose="020B0509000000000004" pitchFamily="49" charset="0"/>
              </a:rPr>
              <a:t>alF</a:t>
            </a:r>
            <a:r>
              <a:rPr lang="en-US" sz="1000" dirty="0">
                <a:latin typeface="Andale Mono" panose="020B0509000000000004" pitchFamily="49" charset="0"/>
              </a:rPr>
              <a:t> , etc., then exit</a:t>
            </a:r>
          </a:p>
          <a:p>
            <a:endParaRPr lang="en-US" sz="1000" dirty="0">
              <a:latin typeface="Andale Mono" panose="020B0509000000000004" pitchFamily="49" charset="0"/>
            </a:endParaRPr>
          </a:p>
          <a:p>
            <a:r>
              <a:rPr lang="en-US" sz="1000" dirty="0">
                <a:latin typeface="Andale Mono" panose="020B0509000000000004" pitchFamily="49" charset="0"/>
              </a:rPr>
              <a:t>docker </a:t>
            </a:r>
            <a:r>
              <a:rPr lang="en-US" sz="1000" dirty="0" err="1">
                <a:latin typeface="Andale Mono" panose="020B0509000000000004" pitchFamily="49" charset="0"/>
              </a:rPr>
              <a:t>ps</a:t>
            </a:r>
            <a:r>
              <a:rPr lang="en-US" sz="1000" dirty="0">
                <a:latin typeface="Andale Mono" panose="020B0509000000000004" pitchFamily="49" charset="0"/>
              </a:rPr>
              <a:t> –a   # now shows 3 exited containers</a:t>
            </a:r>
          </a:p>
          <a:p>
            <a:endParaRPr lang="en-US" sz="1000" dirty="0">
              <a:latin typeface="Andale Mono" panose="020B0509000000000004" pitchFamily="49" charset="0"/>
            </a:endParaRPr>
          </a:p>
          <a:p>
            <a:r>
              <a:rPr lang="en-US" sz="1000" dirty="0">
                <a:latin typeface="Andale Mono" panose="020B0509000000000004" pitchFamily="49" charset="0"/>
              </a:rPr>
              <a:t>docker run -it --name my-linuc-container-1 ubuntu bash</a:t>
            </a:r>
          </a:p>
          <a:p>
            <a:r>
              <a:rPr lang="en-US" sz="1000" dirty="0">
                <a:latin typeface="Andale Mono" panose="020B0509000000000004" pitchFamily="49" charset="0"/>
              </a:rPr>
              <a:t>docker run -it --name my-linuc-container-2 ubuntu bash</a:t>
            </a:r>
          </a:p>
          <a:p>
            <a:endParaRPr lang="en-US" sz="1000" dirty="0">
              <a:latin typeface="Andale Mono" panose="020B0509000000000004" pitchFamily="49" charset="0"/>
            </a:endParaRPr>
          </a:p>
          <a:p>
            <a:r>
              <a:rPr lang="en-US" sz="1000" dirty="0">
                <a:latin typeface="Andale Mono" panose="020B0509000000000004" pitchFamily="49" charset="0"/>
              </a:rPr>
              <a:t># Make a list of IDs of all exited containers:</a:t>
            </a:r>
          </a:p>
          <a:p>
            <a:r>
              <a:rPr lang="en-US" sz="1000" dirty="0">
                <a:latin typeface="Andale Mono" panose="020B0509000000000004" pitchFamily="49" charset="0"/>
              </a:rPr>
              <a:t>docker </a:t>
            </a:r>
            <a:r>
              <a:rPr lang="en-US" sz="1000" dirty="0" err="1">
                <a:latin typeface="Andale Mono" panose="020B0509000000000004" pitchFamily="49" charset="0"/>
              </a:rPr>
              <a:t>ps</a:t>
            </a:r>
            <a:r>
              <a:rPr lang="en-US" sz="1000" dirty="0">
                <a:latin typeface="Andale Mono" panose="020B0509000000000004" pitchFamily="49" charset="0"/>
              </a:rPr>
              <a:t> -a -f status=exited -q</a:t>
            </a:r>
          </a:p>
          <a:p>
            <a:endParaRPr lang="en-US" sz="1000" dirty="0">
              <a:latin typeface="Andale Mono" panose="020B0509000000000004" pitchFamily="49" charset="0"/>
            </a:endParaRPr>
          </a:p>
          <a:p>
            <a:r>
              <a:rPr lang="en-US" sz="1000" dirty="0">
                <a:latin typeface="Andale Mono" panose="020B0509000000000004" pitchFamily="49" charset="0"/>
              </a:rPr>
              <a:t># Remove them from list:</a:t>
            </a:r>
          </a:p>
          <a:p>
            <a:r>
              <a:rPr lang="en-US" sz="1000" dirty="0">
                <a:latin typeface="Andale Mono" panose="020B0509000000000004" pitchFamily="49" charset="0"/>
              </a:rPr>
              <a:t>docker </a:t>
            </a:r>
            <a:r>
              <a:rPr lang="en-US" sz="1000" dirty="0" err="1">
                <a:latin typeface="Andale Mono" panose="020B0509000000000004" pitchFamily="49" charset="0"/>
              </a:rPr>
              <a:t>rm</a:t>
            </a:r>
            <a:r>
              <a:rPr lang="en-US" sz="1000" dirty="0">
                <a:latin typeface="Andale Mono" panose="020B0509000000000004" pitchFamily="49" charset="0"/>
              </a:rPr>
              <a:t> $(docker </a:t>
            </a:r>
            <a:r>
              <a:rPr lang="en-US" sz="1000" dirty="0" err="1">
                <a:latin typeface="Andale Mono" panose="020B0509000000000004" pitchFamily="49" charset="0"/>
              </a:rPr>
              <a:t>ps</a:t>
            </a:r>
            <a:r>
              <a:rPr lang="en-US" sz="1000" dirty="0">
                <a:latin typeface="Andale Mono" panose="020B0509000000000004" pitchFamily="49" charset="0"/>
              </a:rPr>
              <a:t> -a -f status=exited -q)</a:t>
            </a:r>
          </a:p>
        </p:txBody>
      </p:sp>
      <p:sp>
        <p:nvSpPr>
          <p:cNvPr id="6" name="TextBox 5">
            <a:extLst>
              <a:ext uri="{FF2B5EF4-FFF2-40B4-BE49-F238E27FC236}">
                <a16:creationId xmlns:a16="http://schemas.microsoft.com/office/drawing/2014/main" id="{D62FFE2D-EA3A-9C4F-9241-E7A4C683C10C}"/>
              </a:ext>
            </a:extLst>
          </p:cNvPr>
          <p:cNvSpPr txBox="1"/>
          <p:nvPr/>
        </p:nvSpPr>
        <p:spPr>
          <a:xfrm>
            <a:off x="6730584" y="149902"/>
            <a:ext cx="5296525" cy="2123658"/>
          </a:xfrm>
          <a:prstGeom prst="rect">
            <a:avLst/>
          </a:prstGeom>
          <a:noFill/>
        </p:spPr>
        <p:txBody>
          <a:bodyPr wrap="square" rtlCol="0">
            <a:spAutoFit/>
          </a:bodyPr>
          <a:lstStyle/>
          <a:p>
            <a:r>
              <a:rPr lang="en-US" sz="1200" dirty="0"/>
              <a:t>Official docker tutorial:</a:t>
            </a:r>
          </a:p>
          <a:p>
            <a:r>
              <a:rPr lang="en-US" sz="1200" dirty="0"/>
              <a:t> - </a:t>
            </a:r>
            <a:r>
              <a:rPr lang="en-US" sz="1200" dirty="0">
                <a:hlinkClick r:id="rId5"/>
              </a:rPr>
              <a:t>https://docs.docker.com/get-started/</a:t>
            </a:r>
            <a:endParaRPr lang="en-US" sz="1200" dirty="0"/>
          </a:p>
          <a:p>
            <a:r>
              <a:rPr lang="en-US" sz="1200" dirty="0"/>
              <a:t>One more tutorial:</a:t>
            </a:r>
          </a:p>
          <a:p>
            <a:r>
              <a:rPr lang="en-US" sz="1200" dirty="0"/>
              <a:t> - </a:t>
            </a:r>
            <a:r>
              <a:rPr lang="en-US" sz="1200" dirty="0">
                <a:hlinkClick r:id="rId6"/>
              </a:rPr>
              <a:t>https://medium.com/@patrickmichelberger/getting-started-with-anaconda-docker-b50a2c482139</a:t>
            </a:r>
            <a:endParaRPr lang="en-US" sz="1200" dirty="0"/>
          </a:p>
          <a:p>
            <a:r>
              <a:rPr lang="en-US" sz="1200" dirty="0"/>
              <a:t>This tutorial:</a:t>
            </a:r>
          </a:p>
          <a:p>
            <a:r>
              <a:rPr lang="en-US" sz="1200" dirty="0"/>
              <a:t> -</a:t>
            </a:r>
            <a:r>
              <a:rPr lang="en-US" sz="1200" dirty="0">
                <a:hlinkClick r:id="rId7"/>
              </a:rPr>
              <a:t> https://jonnylangefeld.github.io/learning/Docker/How%2Bto%2BDocker.html</a:t>
            </a:r>
            <a:r>
              <a:rPr lang="en-US" sz="1200" dirty="0"/>
              <a:t> </a:t>
            </a:r>
          </a:p>
          <a:p>
            <a:r>
              <a:rPr lang="en-US" sz="1200" dirty="0"/>
              <a:t>Reference for “dicker run”:</a:t>
            </a:r>
          </a:p>
          <a:p>
            <a:r>
              <a:rPr lang="en-US" sz="1200" dirty="0"/>
              <a:t> - </a:t>
            </a:r>
            <a:r>
              <a:rPr lang="en-US" sz="1200" dirty="0">
                <a:hlinkClick r:id="rId8"/>
              </a:rPr>
              <a:t>https://docs.docker.com/engine/reference/run/</a:t>
            </a:r>
            <a:endParaRPr lang="en-US" sz="1200" dirty="0"/>
          </a:p>
          <a:p>
            <a:r>
              <a:rPr lang="en-US" sz="1200" dirty="0"/>
              <a:t>Reference for </a:t>
            </a:r>
            <a:r>
              <a:rPr lang="en-US" sz="1200" dirty="0" err="1"/>
              <a:t>Dockerfile</a:t>
            </a:r>
            <a:r>
              <a:rPr lang="en-US" sz="1200" dirty="0"/>
              <a:t>:</a:t>
            </a:r>
          </a:p>
          <a:p>
            <a:r>
              <a:rPr lang="en-US" sz="1200" dirty="0"/>
              <a:t> - </a:t>
            </a:r>
            <a:r>
              <a:rPr lang="en-US" sz="1200" dirty="0">
                <a:hlinkClick r:id="rId9"/>
              </a:rPr>
              <a:t>https://docs.docker.com/engine/reference/builder/</a:t>
            </a:r>
            <a:endParaRPr lang="en-US" sz="1200" dirty="0"/>
          </a:p>
        </p:txBody>
      </p:sp>
    </p:spTree>
    <p:extLst>
      <p:ext uri="{BB962C8B-B14F-4D97-AF65-F5344CB8AC3E}">
        <p14:creationId xmlns:p14="http://schemas.microsoft.com/office/powerpoint/2010/main" val="1709166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0E0800D-0545-8F4C-944B-800108629EE3}"/>
              </a:ext>
            </a:extLst>
          </p:cNvPr>
          <p:cNvSpPr txBox="1"/>
          <p:nvPr/>
        </p:nvSpPr>
        <p:spPr>
          <a:xfrm>
            <a:off x="24212" y="9222"/>
            <a:ext cx="9923488" cy="646331"/>
          </a:xfrm>
          <a:prstGeom prst="rect">
            <a:avLst/>
          </a:prstGeom>
          <a:noFill/>
        </p:spPr>
        <p:txBody>
          <a:bodyPr wrap="square" rtlCol="0">
            <a:spAutoFit/>
          </a:bodyPr>
          <a:lstStyle/>
          <a:p>
            <a:r>
              <a:rPr lang="en-US" sz="3600" b="1" dirty="0"/>
              <a:t>Docker container – tutorial – p2</a:t>
            </a:r>
          </a:p>
        </p:txBody>
      </p:sp>
      <p:sp>
        <p:nvSpPr>
          <p:cNvPr id="5" name="TextBox 4">
            <a:extLst>
              <a:ext uri="{FF2B5EF4-FFF2-40B4-BE49-F238E27FC236}">
                <a16:creationId xmlns:a16="http://schemas.microsoft.com/office/drawing/2014/main" id="{D89165B1-A7F3-C847-BE32-3B5CEA20312C}"/>
              </a:ext>
            </a:extLst>
          </p:cNvPr>
          <p:cNvSpPr txBox="1"/>
          <p:nvPr/>
        </p:nvSpPr>
        <p:spPr>
          <a:xfrm>
            <a:off x="0" y="733246"/>
            <a:ext cx="12027109" cy="5970865"/>
          </a:xfrm>
          <a:prstGeom prst="rect">
            <a:avLst/>
          </a:prstGeom>
          <a:noFill/>
        </p:spPr>
        <p:txBody>
          <a:bodyPr wrap="square" rtlCol="0">
            <a:spAutoFit/>
          </a:bodyPr>
          <a:lstStyle/>
          <a:p>
            <a:r>
              <a:rPr lang="en-US" sz="1200" dirty="0">
                <a:latin typeface="Andale Mono" panose="020B0509000000000004" pitchFamily="49" charset="0"/>
              </a:rPr>
              <a:t>Continue tutorial - </a:t>
            </a:r>
            <a:r>
              <a:rPr lang="en-US" sz="1200" dirty="0">
                <a:latin typeface="Andale Mono" panose="020B0509000000000004" pitchFamily="49" charset="0"/>
                <a:hlinkClick r:id="rId3"/>
              </a:rPr>
              <a:t>https://www.youtube.com/watch?v=JprTjTViaEA</a:t>
            </a:r>
            <a:r>
              <a:rPr lang="en-US" sz="1200" dirty="0">
                <a:latin typeface="Andale Mono" panose="020B0509000000000004" pitchFamily="49" charset="0"/>
              </a:rPr>
              <a:t> </a:t>
            </a:r>
          </a:p>
          <a:p>
            <a:r>
              <a:rPr lang="en-US" sz="1200" dirty="0">
                <a:latin typeface="Andale Mono" panose="020B0509000000000004" pitchFamily="49" charset="0"/>
              </a:rPr>
              <a:t>=========================================</a:t>
            </a:r>
          </a:p>
          <a:p>
            <a:r>
              <a:rPr lang="en-US" sz="1200" dirty="0">
                <a:latin typeface="Andale Mono" panose="020B0509000000000004" pitchFamily="49" charset="0"/>
              </a:rPr>
              <a:t>Add local directory as volume into the container:</a:t>
            </a:r>
          </a:p>
          <a:p>
            <a:r>
              <a:rPr lang="en-US" sz="1200" dirty="0">
                <a:solidFill>
                  <a:srgbClr val="0070C0"/>
                </a:solidFill>
                <a:latin typeface="Andale Mono" panose="020B0509000000000004" pitchFamily="49" charset="0"/>
              </a:rPr>
              <a:t>docker run -it --name my-</a:t>
            </a:r>
            <a:r>
              <a:rPr lang="en-US" sz="1200" dirty="0" err="1">
                <a:solidFill>
                  <a:srgbClr val="0070C0"/>
                </a:solidFill>
                <a:latin typeface="Andale Mono" panose="020B0509000000000004" pitchFamily="49" charset="0"/>
              </a:rPr>
              <a:t>linux</a:t>
            </a:r>
            <a:r>
              <a:rPr lang="en-US" sz="1200" dirty="0">
                <a:solidFill>
                  <a:srgbClr val="0070C0"/>
                </a:solidFill>
                <a:latin typeface="Andale Mono" panose="020B0509000000000004" pitchFamily="49" charset="0"/>
              </a:rPr>
              <a:t>-container --</a:t>
            </a:r>
            <a:r>
              <a:rPr lang="en-US" sz="1200" dirty="0" err="1">
                <a:solidFill>
                  <a:srgbClr val="0070C0"/>
                </a:solidFill>
                <a:latin typeface="Andale Mono" panose="020B0509000000000004" pitchFamily="49" charset="0"/>
              </a:rPr>
              <a:t>rm</a:t>
            </a:r>
            <a:r>
              <a:rPr lang="en-US" sz="1200" dirty="0">
                <a:solidFill>
                  <a:srgbClr val="0070C0"/>
                </a:solidFill>
                <a:latin typeface="Andale Mono" panose="020B0509000000000004" pitchFamily="49" charset="0"/>
              </a:rPr>
              <a:t> -v $HOME/test:/my-data  ubuntu  bash</a:t>
            </a:r>
          </a:p>
          <a:p>
            <a:r>
              <a:rPr lang="en-US" sz="1200" dirty="0">
                <a:latin typeface="Andale Mono" panose="020B0509000000000004" pitchFamily="49" charset="0"/>
              </a:rPr>
              <a:t>=========================================</a:t>
            </a:r>
          </a:p>
          <a:p>
            <a:r>
              <a:rPr lang="en-US" sz="1200" dirty="0">
                <a:latin typeface="Andale Mono" panose="020B0509000000000004" pitchFamily="49" charset="0"/>
              </a:rPr>
              <a:t>Creating your own container</a:t>
            </a:r>
          </a:p>
          <a:p>
            <a:r>
              <a:rPr lang="en-US" sz="1000" dirty="0">
                <a:solidFill>
                  <a:srgbClr val="0070C0"/>
                </a:solidFill>
                <a:latin typeface="Andale Mono" panose="020B0509000000000004" pitchFamily="49" charset="0"/>
              </a:rPr>
              <a:t>vi </a:t>
            </a:r>
            <a:r>
              <a:rPr lang="en-US" sz="1000" dirty="0" err="1">
                <a:solidFill>
                  <a:srgbClr val="0070C0"/>
                </a:solidFill>
                <a:latin typeface="Andale Mono" panose="020B0509000000000004" pitchFamily="49" charset="0"/>
              </a:rPr>
              <a:t>Dockerfile</a:t>
            </a:r>
            <a:endParaRPr lang="en-US" sz="1000" dirty="0">
              <a:solidFill>
                <a:srgbClr val="0070C0"/>
              </a:solidFill>
              <a:latin typeface="Andale Mono" panose="020B0509000000000004" pitchFamily="49" charset="0"/>
            </a:endParaRPr>
          </a:p>
          <a:p>
            <a:endParaRPr lang="en-US" sz="1000" dirty="0">
              <a:latin typeface="Andale Mono" panose="020B0509000000000004" pitchFamily="49" charset="0"/>
            </a:endParaRPr>
          </a:p>
          <a:p>
            <a:r>
              <a:rPr lang="en-US" sz="1000" dirty="0">
                <a:solidFill>
                  <a:srgbClr val="0070C0"/>
                </a:solidFill>
                <a:latin typeface="Andale Mono" panose="020B0509000000000004" pitchFamily="49" charset="0"/>
              </a:rPr>
              <a:t>FROM ubuntu</a:t>
            </a:r>
          </a:p>
          <a:p>
            <a:r>
              <a:rPr lang="en-US" sz="1000" dirty="0">
                <a:solidFill>
                  <a:srgbClr val="0070C0"/>
                </a:solidFill>
                <a:latin typeface="Andale Mono" panose="020B0509000000000004" pitchFamily="49" charset="0"/>
              </a:rPr>
              <a:t>CMD echo "Hello Jonny" # some comment</a:t>
            </a:r>
          </a:p>
          <a:p>
            <a:endParaRPr lang="en-US" sz="1000" dirty="0">
              <a:latin typeface="Andale Mono" panose="020B0509000000000004" pitchFamily="49" charset="0"/>
            </a:endParaRPr>
          </a:p>
          <a:p>
            <a:r>
              <a:rPr lang="en-US" sz="1000" dirty="0">
                <a:solidFill>
                  <a:srgbClr val="0070C0"/>
                </a:solidFill>
                <a:latin typeface="Andale Mono" panose="020B0509000000000004" pitchFamily="49" charset="0"/>
              </a:rPr>
              <a:t>docker build -t my-ubuntu-image .</a:t>
            </a:r>
          </a:p>
          <a:p>
            <a:r>
              <a:rPr lang="en-US" sz="1000" dirty="0">
                <a:solidFill>
                  <a:srgbClr val="0070C0"/>
                </a:solidFill>
                <a:latin typeface="Andale Mono" panose="020B0509000000000004" pitchFamily="49" charset="0"/>
              </a:rPr>
              <a:t>docker images</a:t>
            </a:r>
          </a:p>
          <a:p>
            <a:r>
              <a:rPr lang="en-US" sz="1000" dirty="0">
                <a:solidFill>
                  <a:srgbClr val="0070C0"/>
                </a:solidFill>
                <a:latin typeface="Andale Mono" panose="020B0509000000000004" pitchFamily="49" charset="0"/>
              </a:rPr>
              <a:t>docker run my-ubuntu-image</a:t>
            </a:r>
            <a:endParaRPr lang="en-US" sz="1000" dirty="0">
              <a:latin typeface="Andale Mono" panose="020B0509000000000004" pitchFamily="49" charset="0"/>
            </a:endParaRPr>
          </a:p>
          <a:p>
            <a:r>
              <a:rPr lang="en-US" sz="1000" dirty="0">
                <a:latin typeface="Andale Mono" panose="020B0509000000000004" pitchFamily="49" charset="0"/>
              </a:rPr>
              <a:t>=========================================</a:t>
            </a:r>
          </a:p>
          <a:p>
            <a:r>
              <a:rPr lang="en-US" sz="1000" dirty="0">
                <a:latin typeface="Andale Mono" panose="020B0509000000000004" pitchFamily="49" charset="0"/>
              </a:rPr>
              <a:t>Another example:</a:t>
            </a:r>
          </a:p>
          <a:p>
            <a:r>
              <a:rPr lang="en-US" sz="1000" dirty="0">
                <a:solidFill>
                  <a:srgbClr val="0070C0"/>
                </a:solidFill>
                <a:latin typeface="Andale Mono" panose="020B0509000000000004" pitchFamily="49" charset="0"/>
              </a:rPr>
              <a:t>FROM ubuntu</a:t>
            </a:r>
          </a:p>
          <a:p>
            <a:r>
              <a:rPr lang="en-US" sz="1000" dirty="0">
                <a:solidFill>
                  <a:srgbClr val="0070C0"/>
                </a:solidFill>
                <a:latin typeface="Andale Mono" panose="020B0509000000000004" pitchFamily="49" charset="0"/>
              </a:rPr>
              <a:t>RUN apt-get upgrade &amp;&amp; apt-get update &amp;&amp; apt-get install -y python3</a:t>
            </a:r>
          </a:p>
          <a:p>
            <a:r>
              <a:rPr lang="en-US" sz="1000" dirty="0">
                <a:latin typeface="Andale Mono" panose="020B0509000000000004" pitchFamily="49" charset="0"/>
              </a:rPr>
              <a:t>=========================================</a:t>
            </a:r>
          </a:p>
          <a:p>
            <a:r>
              <a:rPr lang="en-US" sz="1000" dirty="0">
                <a:latin typeface="Andale Mono" panose="020B0509000000000004" pitchFamily="49" charset="0"/>
              </a:rPr>
              <a:t>Another example – use anaconda python from </a:t>
            </a:r>
            <a:r>
              <a:rPr lang="en-US" sz="1000" dirty="0">
                <a:hlinkClick r:id="rId4"/>
              </a:rPr>
              <a:t>https://hub.docker.com/u/continuumio/</a:t>
            </a:r>
            <a:endParaRPr lang="en-US" sz="1000" dirty="0">
              <a:latin typeface="Andale Mono" panose="020B0509000000000004" pitchFamily="49" charset="0"/>
            </a:endParaRPr>
          </a:p>
          <a:p>
            <a:endParaRPr lang="en-US" sz="1000" dirty="0">
              <a:latin typeface="Andale Mono" panose="020B0509000000000004" pitchFamily="49" charset="0"/>
            </a:endParaRPr>
          </a:p>
          <a:p>
            <a:r>
              <a:rPr lang="en-US" sz="1000" dirty="0">
                <a:solidFill>
                  <a:srgbClr val="0070C0"/>
                </a:solidFill>
                <a:latin typeface="Andale Mono" panose="020B0509000000000004" pitchFamily="49" charset="0"/>
              </a:rPr>
              <a:t>docker pull </a:t>
            </a:r>
            <a:r>
              <a:rPr lang="en-US" sz="1000" dirty="0" err="1">
                <a:solidFill>
                  <a:srgbClr val="0070C0"/>
                </a:solidFill>
                <a:latin typeface="Andale Mono" panose="020B0509000000000004" pitchFamily="49" charset="0"/>
              </a:rPr>
              <a:t>continuumio</a:t>
            </a:r>
            <a:r>
              <a:rPr lang="en-US" sz="1000" dirty="0">
                <a:solidFill>
                  <a:srgbClr val="0070C0"/>
                </a:solidFill>
                <a:latin typeface="Andale Mono" panose="020B0509000000000004" pitchFamily="49" charset="0"/>
              </a:rPr>
              <a:t>/anaconda3</a:t>
            </a:r>
          </a:p>
          <a:p>
            <a:r>
              <a:rPr lang="en-US" sz="1000" dirty="0">
                <a:solidFill>
                  <a:srgbClr val="0070C0"/>
                </a:solidFill>
                <a:latin typeface="Andale Mono" panose="020B0509000000000004" pitchFamily="49" charset="0"/>
              </a:rPr>
              <a:t>docker run -</a:t>
            </a:r>
            <a:r>
              <a:rPr lang="en-US" sz="1000" dirty="0" err="1">
                <a:solidFill>
                  <a:srgbClr val="0070C0"/>
                </a:solidFill>
                <a:latin typeface="Andale Mono" panose="020B0509000000000004" pitchFamily="49" charset="0"/>
              </a:rPr>
              <a:t>i</a:t>
            </a:r>
            <a:r>
              <a:rPr lang="en-US" sz="1000" dirty="0">
                <a:solidFill>
                  <a:srgbClr val="0070C0"/>
                </a:solidFill>
                <a:latin typeface="Andale Mono" panose="020B0509000000000004" pitchFamily="49" charset="0"/>
              </a:rPr>
              <a:t> -t </a:t>
            </a:r>
            <a:r>
              <a:rPr lang="en-US" sz="1000" dirty="0" err="1">
                <a:solidFill>
                  <a:srgbClr val="0070C0"/>
                </a:solidFill>
                <a:latin typeface="Andale Mono" panose="020B0509000000000004" pitchFamily="49" charset="0"/>
              </a:rPr>
              <a:t>continuumio</a:t>
            </a:r>
            <a:r>
              <a:rPr lang="en-US" sz="1000" dirty="0">
                <a:solidFill>
                  <a:srgbClr val="0070C0"/>
                </a:solidFill>
                <a:latin typeface="Andale Mono" panose="020B0509000000000004" pitchFamily="49" charset="0"/>
              </a:rPr>
              <a:t>/anaconda3 /bin/bash</a:t>
            </a:r>
          </a:p>
          <a:p>
            <a:endParaRPr lang="en-US" sz="1000" dirty="0">
              <a:solidFill>
                <a:srgbClr val="0070C0"/>
              </a:solidFill>
              <a:latin typeface="Andale Mono" panose="020B0509000000000004" pitchFamily="49" charset="0"/>
            </a:endParaRPr>
          </a:p>
          <a:p>
            <a:r>
              <a:rPr lang="en-US" sz="1000" dirty="0">
                <a:solidFill>
                  <a:srgbClr val="0070C0"/>
                </a:solidFill>
                <a:latin typeface="Andale Mono" panose="020B0509000000000004" pitchFamily="49" charset="0"/>
              </a:rPr>
              <a:t>docker pull </a:t>
            </a:r>
            <a:r>
              <a:rPr lang="en-US" sz="1000" dirty="0" err="1">
                <a:solidFill>
                  <a:srgbClr val="0070C0"/>
                </a:solidFill>
                <a:latin typeface="Andale Mono" panose="020B0509000000000004" pitchFamily="49" charset="0"/>
              </a:rPr>
              <a:t>continuumio</a:t>
            </a:r>
            <a:r>
              <a:rPr lang="en-US" sz="1000" dirty="0">
                <a:solidFill>
                  <a:srgbClr val="0070C0"/>
                </a:solidFill>
                <a:latin typeface="Andale Mono" panose="020B0509000000000004" pitchFamily="49" charset="0"/>
              </a:rPr>
              <a:t>/miniconda3</a:t>
            </a:r>
          </a:p>
          <a:p>
            <a:r>
              <a:rPr lang="en-US" sz="1000" dirty="0">
                <a:solidFill>
                  <a:srgbClr val="0070C0"/>
                </a:solidFill>
                <a:latin typeface="Andale Mono" panose="020B0509000000000004" pitchFamily="49" charset="0"/>
              </a:rPr>
              <a:t>docker run -</a:t>
            </a:r>
            <a:r>
              <a:rPr lang="en-US" sz="1000" dirty="0" err="1">
                <a:solidFill>
                  <a:srgbClr val="0070C0"/>
                </a:solidFill>
                <a:latin typeface="Andale Mono" panose="020B0509000000000004" pitchFamily="49" charset="0"/>
              </a:rPr>
              <a:t>i</a:t>
            </a:r>
            <a:r>
              <a:rPr lang="en-US" sz="1000" dirty="0">
                <a:solidFill>
                  <a:srgbClr val="0070C0"/>
                </a:solidFill>
                <a:latin typeface="Andale Mono" panose="020B0509000000000004" pitchFamily="49" charset="0"/>
              </a:rPr>
              <a:t> -t </a:t>
            </a:r>
            <a:r>
              <a:rPr lang="en-US" sz="1000" dirty="0" err="1">
                <a:solidFill>
                  <a:srgbClr val="0070C0"/>
                </a:solidFill>
                <a:latin typeface="Andale Mono" panose="020B0509000000000004" pitchFamily="49" charset="0"/>
              </a:rPr>
              <a:t>continuumio</a:t>
            </a:r>
            <a:r>
              <a:rPr lang="en-US" sz="1000" dirty="0">
                <a:solidFill>
                  <a:srgbClr val="0070C0"/>
                </a:solidFill>
                <a:latin typeface="Andale Mono" panose="020B0509000000000004" pitchFamily="49" charset="0"/>
              </a:rPr>
              <a:t>/miniconda3 /bin/bash</a:t>
            </a:r>
          </a:p>
          <a:p>
            <a:endParaRPr lang="en-US" sz="1000" dirty="0">
              <a:latin typeface="Andale Mono" panose="020B0509000000000004" pitchFamily="49" charset="0"/>
            </a:endParaRPr>
          </a:p>
          <a:p>
            <a:r>
              <a:rPr lang="en-US" sz="1000" dirty="0">
                <a:latin typeface="Andale Mono" panose="020B0509000000000004" pitchFamily="49" charset="0"/>
              </a:rPr>
              <a:t>You can start a </a:t>
            </a:r>
            <a:r>
              <a:rPr lang="en-US" sz="1000" dirty="0" err="1">
                <a:latin typeface="Andale Mono" panose="020B0509000000000004" pitchFamily="49" charset="0"/>
              </a:rPr>
              <a:t>Jupyter</a:t>
            </a:r>
            <a:r>
              <a:rPr lang="en-US" sz="1000" dirty="0">
                <a:latin typeface="Andale Mono" panose="020B0509000000000004" pitchFamily="49" charset="0"/>
              </a:rPr>
              <a:t> Notebook server and interact with anaconda3 or </a:t>
            </a:r>
            <a:r>
              <a:rPr lang="en-US" sz="1000" dirty="0" err="1">
                <a:latin typeface="Andale Mono" panose="020B0509000000000004" pitchFamily="49" charset="0"/>
              </a:rPr>
              <a:t>Miniconda</a:t>
            </a:r>
            <a:r>
              <a:rPr lang="en-US" sz="1000" dirty="0">
                <a:latin typeface="Andale Mono" panose="020B0509000000000004" pitchFamily="49" charset="0"/>
              </a:rPr>
              <a:t> via your browser:</a:t>
            </a:r>
          </a:p>
          <a:p>
            <a:r>
              <a:rPr lang="en-US" sz="1000" dirty="0">
                <a:solidFill>
                  <a:srgbClr val="0070C0"/>
                </a:solidFill>
                <a:latin typeface="Andale Mono" panose="020B0509000000000004" pitchFamily="49" charset="0"/>
              </a:rPr>
              <a:t>docker run -</a:t>
            </a:r>
            <a:r>
              <a:rPr lang="en-US" sz="1000" dirty="0" err="1">
                <a:solidFill>
                  <a:srgbClr val="0070C0"/>
                </a:solidFill>
                <a:latin typeface="Andale Mono" panose="020B0509000000000004" pitchFamily="49" charset="0"/>
              </a:rPr>
              <a:t>i</a:t>
            </a:r>
            <a:r>
              <a:rPr lang="en-US" sz="1000" dirty="0">
                <a:solidFill>
                  <a:srgbClr val="0070C0"/>
                </a:solidFill>
                <a:latin typeface="Andale Mono" panose="020B0509000000000004" pitchFamily="49" charset="0"/>
              </a:rPr>
              <a:t> -t -p 8888:8888 </a:t>
            </a:r>
            <a:r>
              <a:rPr lang="en-US" sz="1000" dirty="0" err="1">
                <a:solidFill>
                  <a:srgbClr val="0070C0"/>
                </a:solidFill>
                <a:latin typeface="Andale Mono" panose="020B0509000000000004" pitchFamily="49" charset="0"/>
              </a:rPr>
              <a:t>continuumio</a:t>
            </a:r>
            <a:r>
              <a:rPr lang="en-US" sz="1000" dirty="0">
                <a:solidFill>
                  <a:srgbClr val="0070C0"/>
                </a:solidFill>
                <a:latin typeface="Andale Mono" panose="020B0509000000000004" pitchFamily="49" charset="0"/>
              </a:rPr>
              <a:t>/miniconda3 /bin/bash -c "/opt/</a:t>
            </a:r>
            <a:r>
              <a:rPr lang="en-US" sz="1000" dirty="0" err="1">
                <a:solidFill>
                  <a:srgbClr val="0070C0"/>
                </a:solidFill>
                <a:latin typeface="Andale Mono" panose="020B0509000000000004" pitchFamily="49" charset="0"/>
              </a:rPr>
              <a:t>conda</a:t>
            </a:r>
            <a:r>
              <a:rPr lang="en-US" sz="1000" dirty="0">
                <a:solidFill>
                  <a:srgbClr val="0070C0"/>
                </a:solidFill>
                <a:latin typeface="Andale Mono" panose="020B0509000000000004" pitchFamily="49" charset="0"/>
              </a:rPr>
              <a:t>/bin/</a:t>
            </a:r>
            <a:r>
              <a:rPr lang="en-US" sz="1000" dirty="0" err="1">
                <a:solidFill>
                  <a:srgbClr val="0070C0"/>
                </a:solidFill>
                <a:latin typeface="Andale Mono" panose="020B0509000000000004" pitchFamily="49" charset="0"/>
              </a:rPr>
              <a:t>conda</a:t>
            </a:r>
            <a:r>
              <a:rPr lang="en-US" sz="1000" dirty="0">
                <a:solidFill>
                  <a:srgbClr val="0070C0"/>
                </a:solidFill>
                <a:latin typeface="Andale Mono" panose="020B0509000000000004" pitchFamily="49" charset="0"/>
              </a:rPr>
              <a:t> install </a:t>
            </a:r>
            <a:r>
              <a:rPr lang="en-US" sz="1000" dirty="0" err="1">
                <a:solidFill>
                  <a:srgbClr val="0070C0"/>
                </a:solidFill>
                <a:latin typeface="Andale Mono" panose="020B0509000000000004" pitchFamily="49" charset="0"/>
              </a:rPr>
              <a:t>jupyter</a:t>
            </a:r>
            <a:r>
              <a:rPr lang="en-US" sz="1000" dirty="0">
                <a:solidFill>
                  <a:srgbClr val="0070C0"/>
                </a:solidFill>
                <a:latin typeface="Andale Mono" panose="020B0509000000000004" pitchFamily="49" charset="0"/>
              </a:rPr>
              <a:t> -y --quiet &amp;&amp; </a:t>
            </a:r>
            <a:r>
              <a:rPr lang="en-US" sz="1000" dirty="0" err="1">
                <a:solidFill>
                  <a:srgbClr val="0070C0"/>
                </a:solidFill>
                <a:latin typeface="Andale Mono" panose="020B0509000000000004" pitchFamily="49" charset="0"/>
              </a:rPr>
              <a:t>mkdir</a:t>
            </a:r>
            <a:r>
              <a:rPr lang="en-US" sz="1000" dirty="0">
                <a:solidFill>
                  <a:srgbClr val="0070C0"/>
                </a:solidFill>
                <a:latin typeface="Andale Mono" panose="020B0509000000000004" pitchFamily="49" charset="0"/>
              </a:rPr>
              <a:t> /opt/notebooks &amp;&amp; /opt/</a:t>
            </a:r>
            <a:r>
              <a:rPr lang="en-US" sz="1000" dirty="0" err="1">
                <a:solidFill>
                  <a:srgbClr val="0070C0"/>
                </a:solidFill>
                <a:latin typeface="Andale Mono" panose="020B0509000000000004" pitchFamily="49" charset="0"/>
              </a:rPr>
              <a:t>conda</a:t>
            </a:r>
            <a:r>
              <a:rPr lang="en-US" sz="1000" dirty="0">
                <a:solidFill>
                  <a:srgbClr val="0070C0"/>
                </a:solidFill>
                <a:latin typeface="Andale Mono" panose="020B0509000000000004" pitchFamily="49" charset="0"/>
              </a:rPr>
              <a:t>/bin/</a:t>
            </a:r>
            <a:r>
              <a:rPr lang="en-US" sz="1000" dirty="0" err="1">
                <a:solidFill>
                  <a:srgbClr val="0070C0"/>
                </a:solidFill>
                <a:latin typeface="Andale Mono" panose="020B0509000000000004" pitchFamily="49" charset="0"/>
              </a:rPr>
              <a:t>jupyter</a:t>
            </a:r>
            <a:r>
              <a:rPr lang="en-US" sz="1000" dirty="0">
                <a:solidFill>
                  <a:srgbClr val="0070C0"/>
                </a:solidFill>
                <a:latin typeface="Andale Mono" panose="020B0509000000000004" pitchFamily="49" charset="0"/>
              </a:rPr>
              <a:t> notebook --notebook-</a:t>
            </a:r>
            <a:r>
              <a:rPr lang="en-US" sz="1000" dirty="0" err="1">
                <a:solidFill>
                  <a:srgbClr val="0070C0"/>
                </a:solidFill>
                <a:latin typeface="Andale Mono" panose="020B0509000000000004" pitchFamily="49" charset="0"/>
              </a:rPr>
              <a:t>dir</a:t>
            </a:r>
            <a:r>
              <a:rPr lang="en-US" sz="1000" dirty="0">
                <a:solidFill>
                  <a:srgbClr val="0070C0"/>
                </a:solidFill>
                <a:latin typeface="Andale Mono" panose="020B0509000000000004" pitchFamily="49" charset="0"/>
              </a:rPr>
              <a:t>=/opt/notebooks --</a:t>
            </a:r>
            <a:r>
              <a:rPr lang="en-US" sz="1000" dirty="0" err="1">
                <a:solidFill>
                  <a:srgbClr val="0070C0"/>
                </a:solidFill>
                <a:latin typeface="Andale Mono" panose="020B0509000000000004" pitchFamily="49" charset="0"/>
              </a:rPr>
              <a:t>ip</a:t>
            </a:r>
            <a:r>
              <a:rPr lang="en-US" sz="1000" dirty="0">
                <a:solidFill>
                  <a:srgbClr val="0070C0"/>
                </a:solidFill>
                <a:latin typeface="Andale Mono" panose="020B0509000000000004" pitchFamily="49" charset="0"/>
              </a:rPr>
              <a:t>='*' --port=8888 --no-browser"</a:t>
            </a:r>
          </a:p>
          <a:p>
            <a:r>
              <a:rPr lang="en-US" sz="1000" dirty="0">
                <a:latin typeface="Andale Mono" panose="020B0509000000000004" pitchFamily="49" charset="0"/>
              </a:rPr>
              <a:t>You can then view the </a:t>
            </a:r>
            <a:r>
              <a:rPr lang="en-US" sz="1000" dirty="0" err="1">
                <a:latin typeface="Andale Mono" panose="020B0509000000000004" pitchFamily="49" charset="0"/>
              </a:rPr>
              <a:t>Jupyter</a:t>
            </a:r>
            <a:r>
              <a:rPr lang="en-US" sz="1000" dirty="0">
                <a:latin typeface="Andale Mono" panose="020B0509000000000004" pitchFamily="49" charset="0"/>
              </a:rPr>
              <a:t> Notebook by opening http://localhost:8888 in your browser, </a:t>
            </a:r>
          </a:p>
          <a:p>
            <a:r>
              <a:rPr lang="en-US" sz="1000" dirty="0">
                <a:latin typeface="Andale Mono" panose="020B0509000000000004" pitchFamily="49" charset="0"/>
              </a:rPr>
              <a:t>or http://&lt;docker-machine-</a:t>
            </a:r>
            <a:r>
              <a:rPr lang="en-US" sz="1000" dirty="0" err="1">
                <a:latin typeface="Andale Mono" panose="020B0509000000000004" pitchFamily="49" charset="0"/>
              </a:rPr>
              <a:t>ip</a:t>
            </a:r>
            <a:r>
              <a:rPr lang="en-US" sz="1000" dirty="0">
                <a:latin typeface="Andale Mono" panose="020B0509000000000004" pitchFamily="49" charset="0"/>
              </a:rPr>
              <a:t>&gt;:8888 if you are using a Docker Machine VM.</a:t>
            </a:r>
          </a:p>
          <a:p>
            <a:r>
              <a:rPr lang="en-US" sz="1000" dirty="0">
                <a:latin typeface="Andale Mono" panose="020B0509000000000004" pitchFamily="49" charset="0"/>
              </a:rPr>
              <a:t>=========================================</a:t>
            </a:r>
          </a:p>
          <a:p>
            <a:r>
              <a:rPr lang="en-US" sz="1000" dirty="0">
                <a:latin typeface="Andale Mono" panose="020B0509000000000004" pitchFamily="49" charset="0"/>
              </a:rPr>
              <a:t>Here is how to save a docker image to a file:</a:t>
            </a:r>
          </a:p>
          <a:p>
            <a:r>
              <a:rPr lang="en-US" sz="1000" dirty="0">
                <a:solidFill>
                  <a:srgbClr val="0070C0"/>
                </a:solidFill>
                <a:latin typeface="Andale Mono" panose="020B0509000000000004" pitchFamily="49" charset="0"/>
              </a:rPr>
              <a:t>docker save –o </a:t>
            </a:r>
            <a:r>
              <a:rPr lang="en-US" sz="1000" dirty="0" err="1">
                <a:solidFill>
                  <a:srgbClr val="0070C0"/>
                </a:solidFill>
                <a:latin typeface="Andale Mono" panose="020B0509000000000004" pitchFamily="49" charset="0"/>
              </a:rPr>
              <a:t>myimage.tar</a:t>
            </a:r>
            <a:r>
              <a:rPr lang="en-US" sz="1000" dirty="0">
                <a:solidFill>
                  <a:srgbClr val="0070C0"/>
                </a:solidFill>
                <a:latin typeface="Andale Mono" panose="020B0509000000000004" pitchFamily="49" charset="0"/>
              </a:rPr>
              <a:t> myimage1 myimage2</a:t>
            </a:r>
          </a:p>
          <a:p>
            <a:r>
              <a:rPr lang="en-US" sz="1000" dirty="0">
                <a:solidFill>
                  <a:srgbClr val="0070C0"/>
                </a:solidFill>
                <a:latin typeface="Andale Mono" panose="020B0509000000000004" pitchFamily="49" charset="0"/>
              </a:rPr>
              <a:t>docker save </a:t>
            </a:r>
            <a:r>
              <a:rPr lang="en-US" sz="1000" dirty="0" err="1">
                <a:solidFill>
                  <a:srgbClr val="0070C0"/>
                </a:solidFill>
                <a:latin typeface="Andale Mono" panose="020B0509000000000004" pitchFamily="49" charset="0"/>
              </a:rPr>
              <a:t>myimage</a:t>
            </a:r>
            <a:r>
              <a:rPr lang="en-US" sz="1000" dirty="0">
                <a:solidFill>
                  <a:srgbClr val="0070C0"/>
                </a:solidFill>
                <a:latin typeface="Andale Mono" panose="020B0509000000000004" pitchFamily="49" charset="0"/>
              </a:rPr>
              <a:t> &gt; </a:t>
            </a:r>
            <a:r>
              <a:rPr lang="en-US" sz="1000" dirty="0" err="1">
                <a:solidFill>
                  <a:srgbClr val="0070C0"/>
                </a:solidFill>
                <a:latin typeface="Andale Mono" panose="020B0509000000000004" pitchFamily="49" charset="0"/>
              </a:rPr>
              <a:t>myimage.tar</a:t>
            </a:r>
            <a:endParaRPr lang="en-US" sz="1000" dirty="0">
              <a:solidFill>
                <a:srgbClr val="0070C0"/>
              </a:solidFill>
              <a:latin typeface="Andale Mono" panose="020B0509000000000004" pitchFamily="49" charset="0"/>
            </a:endParaRPr>
          </a:p>
          <a:p>
            <a:r>
              <a:rPr lang="en-US" sz="1000" dirty="0">
                <a:solidFill>
                  <a:srgbClr val="0070C0"/>
                </a:solidFill>
                <a:latin typeface="Andale Mono" panose="020B0509000000000004" pitchFamily="49" charset="0"/>
              </a:rPr>
              <a:t>docker save </a:t>
            </a:r>
            <a:r>
              <a:rPr lang="en-US" sz="1000" dirty="0" err="1">
                <a:solidFill>
                  <a:srgbClr val="0070C0"/>
                </a:solidFill>
                <a:latin typeface="Andale Mono" panose="020B0509000000000004" pitchFamily="49" charset="0"/>
              </a:rPr>
              <a:t>myimage</a:t>
            </a:r>
            <a:r>
              <a:rPr lang="en-US" sz="1000" dirty="0">
                <a:solidFill>
                  <a:srgbClr val="0070C0"/>
                </a:solidFill>
                <a:latin typeface="Andale Mono" panose="020B0509000000000004" pitchFamily="49" charset="0"/>
              </a:rPr>
              <a:t> | </a:t>
            </a:r>
            <a:r>
              <a:rPr lang="en-US" sz="1000" dirty="0" err="1">
                <a:solidFill>
                  <a:srgbClr val="0070C0"/>
                </a:solidFill>
                <a:latin typeface="Andale Mono" panose="020B0509000000000004" pitchFamily="49" charset="0"/>
              </a:rPr>
              <a:t>gzip</a:t>
            </a:r>
            <a:r>
              <a:rPr lang="en-US" sz="1000" dirty="0">
                <a:solidFill>
                  <a:srgbClr val="0070C0"/>
                </a:solidFill>
                <a:latin typeface="Andale Mono" panose="020B0509000000000004" pitchFamily="49" charset="0"/>
              </a:rPr>
              <a:t> &gt; </a:t>
            </a:r>
            <a:r>
              <a:rPr lang="en-US" sz="1000" dirty="0" err="1">
                <a:solidFill>
                  <a:srgbClr val="0070C0"/>
                </a:solidFill>
                <a:latin typeface="Andale Mono" panose="020B0509000000000004" pitchFamily="49" charset="0"/>
              </a:rPr>
              <a:t>myimage.tar.gz</a:t>
            </a:r>
            <a:endParaRPr lang="en-US" sz="1000" dirty="0">
              <a:solidFill>
                <a:srgbClr val="0070C0"/>
              </a:solidFill>
              <a:latin typeface="Andale Mono" panose="020B0509000000000004" pitchFamily="49" charset="0"/>
            </a:endParaRPr>
          </a:p>
        </p:txBody>
      </p:sp>
    </p:spTree>
    <p:extLst>
      <p:ext uri="{BB962C8B-B14F-4D97-AF65-F5344CB8AC3E}">
        <p14:creationId xmlns:p14="http://schemas.microsoft.com/office/powerpoint/2010/main" val="3651130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0E0800D-0545-8F4C-944B-800108629EE3}"/>
              </a:ext>
            </a:extLst>
          </p:cNvPr>
          <p:cNvSpPr txBox="1"/>
          <p:nvPr/>
        </p:nvSpPr>
        <p:spPr>
          <a:xfrm>
            <a:off x="24212" y="-8363"/>
            <a:ext cx="7495082" cy="646331"/>
          </a:xfrm>
          <a:prstGeom prst="rect">
            <a:avLst/>
          </a:prstGeom>
          <a:noFill/>
        </p:spPr>
        <p:txBody>
          <a:bodyPr wrap="square" rtlCol="0">
            <a:spAutoFit/>
          </a:bodyPr>
          <a:lstStyle/>
          <a:p>
            <a:r>
              <a:rPr lang="en-US" sz="3600" b="1" dirty="0"/>
              <a:t>Docker container – tutorial – p3</a:t>
            </a:r>
          </a:p>
        </p:txBody>
      </p:sp>
      <p:pic>
        <p:nvPicPr>
          <p:cNvPr id="2" name="Picture 1">
            <a:extLst>
              <a:ext uri="{FF2B5EF4-FFF2-40B4-BE49-F238E27FC236}">
                <a16:creationId xmlns:a16="http://schemas.microsoft.com/office/drawing/2014/main" id="{75C08EC1-97FD-964A-9373-E8F1F9FA9C9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693888" y="2068642"/>
            <a:ext cx="7495082" cy="3897443"/>
          </a:xfrm>
          <a:prstGeom prst="rect">
            <a:avLst/>
          </a:prstGeom>
        </p:spPr>
      </p:pic>
      <p:sp>
        <p:nvSpPr>
          <p:cNvPr id="3" name="TextBox 2">
            <a:extLst>
              <a:ext uri="{FF2B5EF4-FFF2-40B4-BE49-F238E27FC236}">
                <a16:creationId xmlns:a16="http://schemas.microsoft.com/office/drawing/2014/main" id="{EFEF1017-9AED-A04E-9EC9-7F0038A6EF18}"/>
              </a:ext>
            </a:extLst>
          </p:cNvPr>
          <p:cNvSpPr txBox="1"/>
          <p:nvPr/>
        </p:nvSpPr>
        <p:spPr>
          <a:xfrm>
            <a:off x="3665095" y="1514006"/>
            <a:ext cx="2923082" cy="369332"/>
          </a:xfrm>
          <a:prstGeom prst="rect">
            <a:avLst/>
          </a:prstGeom>
          <a:noFill/>
        </p:spPr>
        <p:txBody>
          <a:bodyPr wrap="square" rtlCol="0">
            <a:spAutoFit/>
          </a:bodyPr>
          <a:lstStyle/>
          <a:p>
            <a:r>
              <a:rPr lang="en-US" dirty="0"/>
              <a:t>Recap: Docker commands</a:t>
            </a:r>
          </a:p>
        </p:txBody>
      </p:sp>
    </p:spTree>
    <p:extLst>
      <p:ext uri="{BB962C8B-B14F-4D97-AF65-F5344CB8AC3E}">
        <p14:creationId xmlns:p14="http://schemas.microsoft.com/office/powerpoint/2010/main" val="1105923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0DE8DB9-33FE-2E45-BA01-37015B9F5BCE}"/>
              </a:ext>
            </a:extLst>
          </p:cNvPr>
          <p:cNvSpPr txBox="1"/>
          <p:nvPr/>
        </p:nvSpPr>
        <p:spPr>
          <a:xfrm>
            <a:off x="194870" y="2338451"/>
            <a:ext cx="11892197" cy="2031325"/>
          </a:xfrm>
          <a:prstGeom prst="rect">
            <a:avLst/>
          </a:prstGeom>
          <a:noFill/>
        </p:spPr>
        <p:txBody>
          <a:bodyPr wrap="square" rtlCol="0">
            <a:spAutoFit/>
          </a:bodyPr>
          <a:lstStyle/>
          <a:p>
            <a:r>
              <a:rPr lang="en-US" dirty="0">
                <a:solidFill>
                  <a:srgbClr val="00B050"/>
                </a:solidFill>
                <a:latin typeface="Consolas" panose="020B0609020204030204" pitchFamily="49" charset="0"/>
                <a:cs typeface="Consolas" panose="020B0609020204030204" pitchFamily="49" charset="0"/>
              </a:rPr>
              <a:t># Clean commands (for Linux, docker v.19.x):</a:t>
            </a:r>
          </a:p>
          <a:p>
            <a:r>
              <a:rPr lang="en-US" dirty="0">
                <a:solidFill>
                  <a:srgbClr val="00B050"/>
                </a:solidFill>
                <a:latin typeface="Consolas" panose="020B0609020204030204" pitchFamily="49" charset="0"/>
                <a:cs typeface="Consolas" panose="020B0609020204030204" pitchFamily="49" charset="0"/>
              </a:rPr>
              <a:t># remove exited containers:</a:t>
            </a:r>
          </a:p>
          <a:p>
            <a:r>
              <a:rPr lang="en-US" dirty="0">
                <a:solidFill>
                  <a:srgbClr val="0070C0"/>
                </a:solidFill>
                <a:latin typeface="Consolas" panose="020B0609020204030204" pitchFamily="49" charset="0"/>
                <a:cs typeface="Consolas" panose="020B0609020204030204" pitchFamily="49" charset="0"/>
              </a:rPr>
              <a:t>docker </a:t>
            </a:r>
            <a:r>
              <a:rPr lang="en-US" dirty="0" err="1">
                <a:solidFill>
                  <a:srgbClr val="0070C0"/>
                </a:solidFill>
                <a:latin typeface="Consolas" panose="020B0609020204030204" pitchFamily="49" charset="0"/>
                <a:cs typeface="Consolas" panose="020B0609020204030204" pitchFamily="49" charset="0"/>
              </a:rPr>
              <a:t>ps</a:t>
            </a:r>
            <a:r>
              <a:rPr lang="en-US" dirty="0">
                <a:solidFill>
                  <a:srgbClr val="0070C0"/>
                </a:solidFill>
                <a:latin typeface="Consolas" panose="020B0609020204030204" pitchFamily="49" charset="0"/>
                <a:cs typeface="Consolas" panose="020B0609020204030204" pitchFamily="49" charset="0"/>
              </a:rPr>
              <a:t> --filter status=dead --filter status=exited -</a:t>
            </a:r>
            <a:r>
              <a:rPr lang="en-US" dirty="0" err="1">
                <a:solidFill>
                  <a:srgbClr val="0070C0"/>
                </a:solidFill>
                <a:latin typeface="Consolas" panose="020B0609020204030204" pitchFamily="49" charset="0"/>
                <a:cs typeface="Consolas" panose="020B0609020204030204" pitchFamily="49" charset="0"/>
              </a:rPr>
              <a:t>aq</a:t>
            </a:r>
            <a:r>
              <a:rPr lang="en-US" dirty="0">
                <a:solidFill>
                  <a:srgbClr val="0070C0"/>
                </a:solidFill>
                <a:latin typeface="Consolas" panose="020B0609020204030204" pitchFamily="49" charset="0"/>
                <a:cs typeface="Consolas" panose="020B0609020204030204" pitchFamily="49" charset="0"/>
              </a:rPr>
              <a:t> | </a:t>
            </a:r>
            <a:r>
              <a:rPr lang="en-US" dirty="0" err="1">
                <a:solidFill>
                  <a:srgbClr val="0070C0"/>
                </a:solidFill>
                <a:latin typeface="Consolas" panose="020B0609020204030204" pitchFamily="49" charset="0"/>
                <a:cs typeface="Consolas" panose="020B0609020204030204" pitchFamily="49" charset="0"/>
              </a:rPr>
              <a:t>xargs</a:t>
            </a:r>
            <a:r>
              <a:rPr lang="en-US" dirty="0">
                <a:solidFill>
                  <a:srgbClr val="0070C0"/>
                </a:solidFill>
                <a:latin typeface="Consolas" panose="020B0609020204030204" pitchFamily="49" charset="0"/>
                <a:cs typeface="Consolas" panose="020B0609020204030204" pitchFamily="49" charset="0"/>
              </a:rPr>
              <a:t> -r docker </a:t>
            </a:r>
            <a:r>
              <a:rPr lang="en-US" dirty="0" err="1">
                <a:solidFill>
                  <a:srgbClr val="0070C0"/>
                </a:solidFill>
                <a:latin typeface="Consolas" panose="020B0609020204030204" pitchFamily="49" charset="0"/>
                <a:cs typeface="Consolas" panose="020B0609020204030204" pitchFamily="49" charset="0"/>
              </a:rPr>
              <a:t>rm</a:t>
            </a:r>
            <a:r>
              <a:rPr lang="en-US" dirty="0">
                <a:solidFill>
                  <a:srgbClr val="0070C0"/>
                </a:solidFill>
                <a:latin typeface="Consolas" panose="020B0609020204030204" pitchFamily="49" charset="0"/>
                <a:cs typeface="Consolas" panose="020B0609020204030204" pitchFamily="49" charset="0"/>
              </a:rPr>
              <a:t> -v</a:t>
            </a:r>
          </a:p>
          <a:p>
            <a:r>
              <a:rPr lang="en-US" dirty="0">
                <a:solidFill>
                  <a:srgbClr val="00B050"/>
                </a:solidFill>
                <a:latin typeface="Consolas" panose="020B0609020204030204" pitchFamily="49" charset="0"/>
                <a:cs typeface="Consolas" panose="020B0609020204030204" pitchFamily="49" charset="0"/>
              </a:rPr>
              <a:t># remove unused images:</a:t>
            </a:r>
          </a:p>
          <a:p>
            <a:r>
              <a:rPr lang="en-US" dirty="0">
                <a:solidFill>
                  <a:srgbClr val="0070C0"/>
                </a:solidFill>
                <a:latin typeface="Consolas" panose="020B0609020204030204" pitchFamily="49" charset="0"/>
                <a:cs typeface="Consolas" panose="020B0609020204030204" pitchFamily="49" charset="0"/>
              </a:rPr>
              <a:t>docker images --no-</a:t>
            </a:r>
            <a:r>
              <a:rPr lang="en-US" dirty="0" err="1">
                <a:solidFill>
                  <a:srgbClr val="0070C0"/>
                </a:solidFill>
                <a:latin typeface="Consolas" panose="020B0609020204030204" pitchFamily="49" charset="0"/>
                <a:cs typeface="Consolas" panose="020B0609020204030204" pitchFamily="49" charset="0"/>
              </a:rPr>
              <a:t>trunc</a:t>
            </a:r>
            <a:r>
              <a:rPr lang="en-US" dirty="0">
                <a:solidFill>
                  <a:srgbClr val="0070C0"/>
                </a:solidFill>
                <a:latin typeface="Consolas" panose="020B0609020204030204" pitchFamily="49" charset="0"/>
                <a:cs typeface="Consolas" panose="020B0609020204030204" pitchFamily="49" charset="0"/>
              </a:rPr>
              <a:t> | grep '&lt;none&gt;' | </a:t>
            </a:r>
            <a:r>
              <a:rPr lang="en-US" dirty="0" err="1">
                <a:solidFill>
                  <a:srgbClr val="0070C0"/>
                </a:solidFill>
                <a:latin typeface="Consolas" panose="020B0609020204030204" pitchFamily="49" charset="0"/>
                <a:cs typeface="Consolas" panose="020B0609020204030204" pitchFamily="49" charset="0"/>
              </a:rPr>
              <a:t>awk</a:t>
            </a:r>
            <a:r>
              <a:rPr lang="en-US" dirty="0">
                <a:solidFill>
                  <a:srgbClr val="0070C0"/>
                </a:solidFill>
                <a:latin typeface="Consolas" panose="020B0609020204030204" pitchFamily="49" charset="0"/>
                <a:cs typeface="Consolas" panose="020B0609020204030204" pitchFamily="49" charset="0"/>
              </a:rPr>
              <a:t> '{ print $3 }' | </a:t>
            </a:r>
            <a:r>
              <a:rPr lang="en-US" dirty="0" err="1">
                <a:solidFill>
                  <a:srgbClr val="0070C0"/>
                </a:solidFill>
                <a:latin typeface="Consolas" panose="020B0609020204030204" pitchFamily="49" charset="0"/>
                <a:cs typeface="Consolas" panose="020B0609020204030204" pitchFamily="49" charset="0"/>
              </a:rPr>
              <a:t>xargs</a:t>
            </a:r>
            <a:r>
              <a:rPr lang="en-US" dirty="0">
                <a:solidFill>
                  <a:srgbClr val="0070C0"/>
                </a:solidFill>
                <a:latin typeface="Consolas" panose="020B0609020204030204" pitchFamily="49" charset="0"/>
                <a:cs typeface="Consolas" panose="020B0609020204030204" pitchFamily="49" charset="0"/>
              </a:rPr>
              <a:t> -r docker </a:t>
            </a:r>
            <a:r>
              <a:rPr lang="en-US" dirty="0" err="1">
                <a:solidFill>
                  <a:srgbClr val="0070C0"/>
                </a:solidFill>
                <a:latin typeface="Consolas" panose="020B0609020204030204" pitchFamily="49" charset="0"/>
                <a:cs typeface="Consolas" panose="020B0609020204030204" pitchFamily="49" charset="0"/>
              </a:rPr>
              <a:t>rmi</a:t>
            </a:r>
            <a:endParaRPr lang="en-US" dirty="0">
              <a:solidFill>
                <a:srgbClr val="0070C0"/>
              </a:solidFill>
              <a:latin typeface="Consolas" panose="020B0609020204030204" pitchFamily="49" charset="0"/>
              <a:cs typeface="Consolas" panose="020B0609020204030204" pitchFamily="49" charset="0"/>
            </a:endParaRPr>
          </a:p>
          <a:p>
            <a:r>
              <a:rPr lang="en-US" dirty="0">
                <a:solidFill>
                  <a:srgbClr val="00B050"/>
                </a:solidFill>
                <a:latin typeface="Consolas" panose="020B0609020204030204" pitchFamily="49" charset="0"/>
                <a:cs typeface="Consolas" panose="020B0609020204030204" pitchFamily="49" charset="0"/>
              </a:rPr>
              <a:t># remove unused volumes:</a:t>
            </a:r>
          </a:p>
          <a:p>
            <a:r>
              <a:rPr lang="en-US" dirty="0">
                <a:solidFill>
                  <a:srgbClr val="0070C0"/>
                </a:solidFill>
                <a:latin typeface="Consolas" panose="020B0609020204030204" pitchFamily="49" charset="0"/>
                <a:cs typeface="Consolas" panose="020B0609020204030204" pitchFamily="49" charset="0"/>
              </a:rPr>
              <a:t>docker volume ls -</a:t>
            </a:r>
            <a:r>
              <a:rPr lang="en-US" dirty="0" err="1">
                <a:solidFill>
                  <a:srgbClr val="0070C0"/>
                </a:solidFill>
                <a:latin typeface="Consolas" panose="020B0609020204030204" pitchFamily="49" charset="0"/>
                <a:cs typeface="Consolas" panose="020B0609020204030204" pitchFamily="49" charset="0"/>
              </a:rPr>
              <a:t>qf</a:t>
            </a:r>
            <a:r>
              <a:rPr lang="en-US" dirty="0">
                <a:solidFill>
                  <a:srgbClr val="0070C0"/>
                </a:solidFill>
                <a:latin typeface="Consolas" panose="020B0609020204030204" pitchFamily="49" charset="0"/>
                <a:cs typeface="Consolas" panose="020B0609020204030204" pitchFamily="49" charset="0"/>
              </a:rPr>
              <a:t> dangling=true | </a:t>
            </a:r>
            <a:r>
              <a:rPr lang="en-US" dirty="0" err="1">
                <a:solidFill>
                  <a:srgbClr val="0070C0"/>
                </a:solidFill>
                <a:latin typeface="Consolas" panose="020B0609020204030204" pitchFamily="49" charset="0"/>
                <a:cs typeface="Consolas" panose="020B0609020204030204" pitchFamily="49" charset="0"/>
              </a:rPr>
              <a:t>xargs</a:t>
            </a:r>
            <a:r>
              <a:rPr lang="en-US" dirty="0">
                <a:solidFill>
                  <a:srgbClr val="0070C0"/>
                </a:solidFill>
                <a:latin typeface="Consolas" panose="020B0609020204030204" pitchFamily="49" charset="0"/>
                <a:cs typeface="Consolas" panose="020B0609020204030204" pitchFamily="49" charset="0"/>
              </a:rPr>
              <a:t> -r docker volume </a:t>
            </a:r>
            <a:r>
              <a:rPr lang="en-US" dirty="0" err="1">
                <a:solidFill>
                  <a:srgbClr val="0070C0"/>
                </a:solidFill>
                <a:latin typeface="Consolas" panose="020B0609020204030204" pitchFamily="49" charset="0"/>
                <a:cs typeface="Consolas" panose="020B0609020204030204" pitchFamily="49" charset="0"/>
              </a:rPr>
              <a:t>rm</a:t>
            </a:r>
            <a:endParaRPr lang="en-US" dirty="0">
              <a:solidFill>
                <a:srgbClr val="0070C0"/>
              </a:solidFill>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59281D48-F8B9-ED44-8E4E-04A36D608CB8}"/>
              </a:ext>
            </a:extLst>
          </p:cNvPr>
          <p:cNvSpPr txBox="1"/>
          <p:nvPr/>
        </p:nvSpPr>
        <p:spPr>
          <a:xfrm>
            <a:off x="194871" y="4799346"/>
            <a:ext cx="11892197" cy="2031325"/>
          </a:xfrm>
          <a:prstGeom prst="rect">
            <a:avLst/>
          </a:prstGeom>
          <a:noFill/>
        </p:spPr>
        <p:txBody>
          <a:bodyPr wrap="square" rtlCol="0">
            <a:spAutoFit/>
          </a:bodyPr>
          <a:lstStyle/>
          <a:p>
            <a:r>
              <a:rPr lang="en-US" dirty="0">
                <a:solidFill>
                  <a:srgbClr val="00B050"/>
                </a:solidFill>
                <a:latin typeface="Consolas" panose="020B0609020204030204" pitchFamily="49" charset="0"/>
                <a:cs typeface="Consolas" panose="020B0609020204030204" pitchFamily="49" charset="0"/>
              </a:rPr>
              <a:t># Clean commands (for Mac, docker v.19.x – no “-r” option for </a:t>
            </a:r>
            <a:r>
              <a:rPr lang="en-US" dirty="0" err="1">
                <a:solidFill>
                  <a:srgbClr val="00B050"/>
                </a:solidFill>
                <a:latin typeface="Consolas" panose="020B0609020204030204" pitchFamily="49" charset="0"/>
                <a:cs typeface="Consolas" panose="020B0609020204030204" pitchFamily="49" charset="0"/>
              </a:rPr>
              <a:t>xargs</a:t>
            </a:r>
            <a:r>
              <a:rPr lang="en-US" dirty="0">
                <a:solidFill>
                  <a:srgbClr val="00B050"/>
                </a:solidFill>
                <a:latin typeface="Consolas" panose="020B0609020204030204" pitchFamily="49" charset="0"/>
                <a:cs typeface="Consolas" panose="020B0609020204030204" pitchFamily="49" charset="0"/>
              </a:rPr>
              <a:t>):</a:t>
            </a:r>
          </a:p>
          <a:p>
            <a:r>
              <a:rPr lang="en-US" dirty="0">
                <a:solidFill>
                  <a:srgbClr val="00B050"/>
                </a:solidFill>
                <a:latin typeface="Consolas" panose="020B0609020204030204" pitchFamily="49" charset="0"/>
                <a:cs typeface="Consolas" panose="020B0609020204030204" pitchFamily="49" charset="0"/>
              </a:rPr>
              <a:t># remove exited containers:</a:t>
            </a:r>
          </a:p>
          <a:p>
            <a:r>
              <a:rPr lang="en-US" dirty="0">
                <a:solidFill>
                  <a:srgbClr val="0070C0"/>
                </a:solidFill>
                <a:latin typeface="Consolas" panose="020B0609020204030204" pitchFamily="49" charset="0"/>
                <a:cs typeface="Consolas" panose="020B0609020204030204" pitchFamily="49" charset="0"/>
              </a:rPr>
              <a:t>docker </a:t>
            </a:r>
            <a:r>
              <a:rPr lang="en-US" dirty="0" err="1">
                <a:solidFill>
                  <a:srgbClr val="0070C0"/>
                </a:solidFill>
                <a:latin typeface="Consolas" panose="020B0609020204030204" pitchFamily="49" charset="0"/>
                <a:cs typeface="Consolas" panose="020B0609020204030204" pitchFamily="49" charset="0"/>
              </a:rPr>
              <a:t>ps</a:t>
            </a:r>
            <a:r>
              <a:rPr lang="en-US" dirty="0">
                <a:solidFill>
                  <a:srgbClr val="0070C0"/>
                </a:solidFill>
                <a:latin typeface="Consolas" panose="020B0609020204030204" pitchFamily="49" charset="0"/>
                <a:cs typeface="Consolas" panose="020B0609020204030204" pitchFamily="49" charset="0"/>
              </a:rPr>
              <a:t> --filter status=dead --filter status=exited -</a:t>
            </a:r>
            <a:r>
              <a:rPr lang="en-US" dirty="0" err="1">
                <a:solidFill>
                  <a:srgbClr val="0070C0"/>
                </a:solidFill>
                <a:latin typeface="Consolas" panose="020B0609020204030204" pitchFamily="49" charset="0"/>
                <a:cs typeface="Consolas" panose="020B0609020204030204" pitchFamily="49" charset="0"/>
              </a:rPr>
              <a:t>aq</a:t>
            </a:r>
            <a:r>
              <a:rPr lang="en-US" dirty="0">
                <a:solidFill>
                  <a:srgbClr val="0070C0"/>
                </a:solidFill>
                <a:latin typeface="Consolas" panose="020B0609020204030204" pitchFamily="49" charset="0"/>
                <a:cs typeface="Consolas" panose="020B0609020204030204" pitchFamily="49" charset="0"/>
              </a:rPr>
              <a:t> | </a:t>
            </a:r>
            <a:r>
              <a:rPr lang="en-US" dirty="0" err="1">
                <a:solidFill>
                  <a:srgbClr val="0070C0"/>
                </a:solidFill>
                <a:latin typeface="Consolas" panose="020B0609020204030204" pitchFamily="49" charset="0"/>
                <a:cs typeface="Consolas" panose="020B0609020204030204" pitchFamily="49" charset="0"/>
              </a:rPr>
              <a:t>xargs</a:t>
            </a:r>
            <a:r>
              <a:rPr lang="en-US" dirty="0">
                <a:solidFill>
                  <a:srgbClr val="0070C0"/>
                </a:solidFill>
                <a:latin typeface="Consolas" panose="020B0609020204030204" pitchFamily="49" charset="0"/>
                <a:cs typeface="Consolas" panose="020B0609020204030204" pitchFamily="49" charset="0"/>
              </a:rPr>
              <a:t>    docker </a:t>
            </a:r>
            <a:r>
              <a:rPr lang="en-US" dirty="0" err="1">
                <a:solidFill>
                  <a:srgbClr val="0070C0"/>
                </a:solidFill>
                <a:latin typeface="Consolas" panose="020B0609020204030204" pitchFamily="49" charset="0"/>
                <a:cs typeface="Consolas" panose="020B0609020204030204" pitchFamily="49" charset="0"/>
              </a:rPr>
              <a:t>rm</a:t>
            </a:r>
            <a:r>
              <a:rPr lang="en-US" dirty="0">
                <a:solidFill>
                  <a:srgbClr val="0070C0"/>
                </a:solidFill>
                <a:latin typeface="Consolas" panose="020B0609020204030204" pitchFamily="49" charset="0"/>
                <a:cs typeface="Consolas" panose="020B0609020204030204" pitchFamily="49" charset="0"/>
              </a:rPr>
              <a:t> -v</a:t>
            </a:r>
          </a:p>
          <a:p>
            <a:r>
              <a:rPr lang="en-US" dirty="0">
                <a:solidFill>
                  <a:srgbClr val="00B050"/>
                </a:solidFill>
                <a:latin typeface="Consolas" panose="020B0609020204030204" pitchFamily="49" charset="0"/>
                <a:cs typeface="Consolas" panose="020B0609020204030204" pitchFamily="49" charset="0"/>
              </a:rPr>
              <a:t># remove unused images:</a:t>
            </a:r>
          </a:p>
          <a:p>
            <a:r>
              <a:rPr lang="en-US" dirty="0">
                <a:solidFill>
                  <a:srgbClr val="0070C0"/>
                </a:solidFill>
                <a:latin typeface="Consolas" panose="020B0609020204030204" pitchFamily="49" charset="0"/>
                <a:cs typeface="Consolas" panose="020B0609020204030204" pitchFamily="49" charset="0"/>
              </a:rPr>
              <a:t>docker images --no-</a:t>
            </a:r>
            <a:r>
              <a:rPr lang="en-US" dirty="0" err="1">
                <a:solidFill>
                  <a:srgbClr val="0070C0"/>
                </a:solidFill>
                <a:latin typeface="Consolas" panose="020B0609020204030204" pitchFamily="49" charset="0"/>
                <a:cs typeface="Consolas" panose="020B0609020204030204" pitchFamily="49" charset="0"/>
              </a:rPr>
              <a:t>trunc</a:t>
            </a:r>
            <a:r>
              <a:rPr lang="en-US" dirty="0">
                <a:solidFill>
                  <a:srgbClr val="0070C0"/>
                </a:solidFill>
                <a:latin typeface="Consolas" panose="020B0609020204030204" pitchFamily="49" charset="0"/>
                <a:cs typeface="Consolas" panose="020B0609020204030204" pitchFamily="49" charset="0"/>
              </a:rPr>
              <a:t> | grep '&lt;none&gt;' | </a:t>
            </a:r>
            <a:r>
              <a:rPr lang="en-US" dirty="0" err="1">
                <a:solidFill>
                  <a:srgbClr val="0070C0"/>
                </a:solidFill>
                <a:latin typeface="Consolas" panose="020B0609020204030204" pitchFamily="49" charset="0"/>
                <a:cs typeface="Consolas" panose="020B0609020204030204" pitchFamily="49" charset="0"/>
              </a:rPr>
              <a:t>awk</a:t>
            </a:r>
            <a:r>
              <a:rPr lang="en-US" dirty="0">
                <a:solidFill>
                  <a:srgbClr val="0070C0"/>
                </a:solidFill>
                <a:latin typeface="Consolas" panose="020B0609020204030204" pitchFamily="49" charset="0"/>
                <a:cs typeface="Consolas" panose="020B0609020204030204" pitchFamily="49" charset="0"/>
              </a:rPr>
              <a:t> '{ print $3 }' | </a:t>
            </a:r>
            <a:r>
              <a:rPr lang="en-US" dirty="0" err="1">
                <a:solidFill>
                  <a:srgbClr val="0070C0"/>
                </a:solidFill>
                <a:latin typeface="Consolas" panose="020B0609020204030204" pitchFamily="49" charset="0"/>
                <a:cs typeface="Consolas" panose="020B0609020204030204" pitchFamily="49" charset="0"/>
              </a:rPr>
              <a:t>xargs</a:t>
            </a:r>
            <a:r>
              <a:rPr lang="en-US" dirty="0">
                <a:solidFill>
                  <a:srgbClr val="0070C0"/>
                </a:solidFill>
                <a:latin typeface="Consolas" panose="020B0609020204030204" pitchFamily="49" charset="0"/>
                <a:cs typeface="Consolas" panose="020B0609020204030204" pitchFamily="49" charset="0"/>
              </a:rPr>
              <a:t>    docker </a:t>
            </a:r>
            <a:r>
              <a:rPr lang="en-US" dirty="0" err="1">
                <a:solidFill>
                  <a:srgbClr val="0070C0"/>
                </a:solidFill>
                <a:latin typeface="Consolas" panose="020B0609020204030204" pitchFamily="49" charset="0"/>
                <a:cs typeface="Consolas" panose="020B0609020204030204" pitchFamily="49" charset="0"/>
              </a:rPr>
              <a:t>rmi</a:t>
            </a:r>
            <a:endParaRPr lang="en-US" dirty="0">
              <a:solidFill>
                <a:srgbClr val="0070C0"/>
              </a:solidFill>
              <a:latin typeface="Consolas" panose="020B0609020204030204" pitchFamily="49" charset="0"/>
              <a:cs typeface="Consolas" panose="020B0609020204030204" pitchFamily="49" charset="0"/>
            </a:endParaRPr>
          </a:p>
          <a:p>
            <a:r>
              <a:rPr lang="en-US" dirty="0">
                <a:solidFill>
                  <a:srgbClr val="00B050"/>
                </a:solidFill>
                <a:latin typeface="Consolas" panose="020B0609020204030204" pitchFamily="49" charset="0"/>
                <a:cs typeface="Consolas" panose="020B0609020204030204" pitchFamily="49" charset="0"/>
              </a:rPr>
              <a:t># remove unused volumes:</a:t>
            </a:r>
          </a:p>
          <a:p>
            <a:r>
              <a:rPr lang="en-US" dirty="0">
                <a:solidFill>
                  <a:srgbClr val="0070C0"/>
                </a:solidFill>
                <a:latin typeface="Consolas" panose="020B0609020204030204" pitchFamily="49" charset="0"/>
                <a:cs typeface="Consolas" panose="020B0609020204030204" pitchFamily="49" charset="0"/>
              </a:rPr>
              <a:t>docker volume ls -</a:t>
            </a:r>
            <a:r>
              <a:rPr lang="en-US" dirty="0" err="1">
                <a:solidFill>
                  <a:srgbClr val="0070C0"/>
                </a:solidFill>
                <a:latin typeface="Consolas" panose="020B0609020204030204" pitchFamily="49" charset="0"/>
                <a:cs typeface="Consolas" panose="020B0609020204030204" pitchFamily="49" charset="0"/>
              </a:rPr>
              <a:t>qf</a:t>
            </a:r>
            <a:r>
              <a:rPr lang="en-US" dirty="0">
                <a:solidFill>
                  <a:srgbClr val="0070C0"/>
                </a:solidFill>
                <a:latin typeface="Consolas" panose="020B0609020204030204" pitchFamily="49" charset="0"/>
                <a:cs typeface="Consolas" panose="020B0609020204030204" pitchFamily="49" charset="0"/>
              </a:rPr>
              <a:t> dangling=true | </a:t>
            </a:r>
            <a:r>
              <a:rPr lang="en-US" dirty="0" err="1">
                <a:solidFill>
                  <a:srgbClr val="0070C0"/>
                </a:solidFill>
                <a:latin typeface="Consolas" panose="020B0609020204030204" pitchFamily="49" charset="0"/>
                <a:cs typeface="Consolas" panose="020B0609020204030204" pitchFamily="49" charset="0"/>
              </a:rPr>
              <a:t>xargs</a:t>
            </a:r>
            <a:r>
              <a:rPr lang="en-US" dirty="0">
                <a:solidFill>
                  <a:srgbClr val="0070C0"/>
                </a:solidFill>
                <a:latin typeface="Consolas" panose="020B0609020204030204" pitchFamily="49" charset="0"/>
                <a:cs typeface="Consolas" panose="020B0609020204030204" pitchFamily="49" charset="0"/>
              </a:rPr>
              <a:t>    docker volume </a:t>
            </a:r>
            <a:r>
              <a:rPr lang="en-US" dirty="0" err="1">
                <a:solidFill>
                  <a:srgbClr val="0070C0"/>
                </a:solidFill>
                <a:latin typeface="Consolas" panose="020B0609020204030204" pitchFamily="49" charset="0"/>
                <a:cs typeface="Consolas" panose="020B0609020204030204" pitchFamily="49" charset="0"/>
              </a:rPr>
              <a:t>rm</a:t>
            </a:r>
            <a:endParaRPr lang="en-US" dirty="0">
              <a:solidFill>
                <a:srgbClr val="0070C0"/>
              </a:solidFill>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2F51395F-6A72-0142-A435-0DB8E004C158}"/>
              </a:ext>
            </a:extLst>
          </p:cNvPr>
          <p:cNvSpPr txBox="1"/>
          <p:nvPr/>
        </p:nvSpPr>
        <p:spPr>
          <a:xfrm>
            <a:off x="194870" y="985551"/>
            <a:ext cx="10268266" cy="923330"/>
          </a:xfrm>
          <a:prstGeom prst="rect">
            <a:avLst/>
          </a:prstGeom>
          <a:noFill/>
        </p:spPr>
        <p:txBody>
          <a:bodyPr wrap="square" rtlCol="0">
            <a:spAutoFit/>
          </a:bodyPr>
          <a:lstStyle/>
          <a:p>
            <a:r>
              <a:rPr lang="en-US" dirty="0"/>
              <a:t>Docker runs in its own VM. And it stores images inside it.</a:t>
            </a:r>
          </a:p>
          <a:p>
            <a:r>
              <a:rPr lang="en-US" dirty="0"/>
              <a:t>For example, this file is approx. 64 GB on my Mac:</a:t>
            </a:r>
          </a:p>
          <a:p>
            <a:r>
              <a:rPr lang="en-US" dirty="0"/>
              <a:t>$HOME/Library/Containers/</a:t>
            </a:r>
            <a:r>
              <a:rPr lang="en-US" dirty="0" err="1"/>
              <a:t>com.docker.docker</a:t>
            </a:r>
            <a:r>
              <a:rPr lang="en-US" dirty="0"/>
              <a:t>/Data/</a:t>
            </a:r>
            <a:r>
              <a:rPr lang="en-US" dirty="0" err="1"/>
              <a:t>vms</a:t>
            </a:r>
            <a:r>
              <a:rPr lang="en-US" dirty="0"/>
              <a:t>/0/data/</a:t>
            </a:r>
            <a:r>
              <a:rPr lang="en-US" dirty="0" err="1"/>
              <a:t>Docker.raw</a:t>
            </a:r>
            <a:endParaRPr lang="en-US" dirty="0"/>
          </a:p>
        </p:txBody>
      </p:sp>
      <p:sp>
        <p:nvSpPr>
          <p:cNvPr id="8" name="TextBox 7">
            <a:extLst>
              <a:ext uri="{FF2B5EF4-FFF2-40B4-BE49-F238E27FC236}">
                <a16:creationId xmlns:a16="http://schemas.microsoft.com/office/drawing/2014/main" id="{77F0DA52-1256-5D4C-805D-B9D5EBFDDE2A}"/>
              </a:ext>
            </a:extLst>
          </p:cNvPr>
          <p:cNvSpPr txBox="1"/>
          <p:nvPr/>
        </p:nvSpPr>
        <p:spPr>
          <a:xfrm>
            <a:off x="0" y="36510"/>
            <a:ext cx="7913077" cy="646331"/>
          </a:xfrm>
          <a:prstGeom prst="rect">
            <a:avLst/>
          </a:prstGeom>
          <a:noFill/>
        </p:spPr>
        <p:txBody>
          <a:bodyPr wrap="square" rtlCol="0">
            <a:spAutoFit/>
          </a:bodyPr>
          <a:lstStyle/>
          <a:p>
            <a:r>
              <a:rPr lang="en-US" sz="3600" b="1" dirty="0"/>
              <a:t>Docker container – tutorial – p4</a:t>
            </a:r>
          </a:p>
        </p:txBody>
      </p:sp>
    </p:spTree>
    <p:extLst>
      <p:ext uri="{BB962C8B-B14F-4D97-AF65-F5344CB8AC3E}">
        <p14:creationId xmlns:p14="http://schemas.microsoft.com/office/powerpoint/2010/main" val="1210490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8DC17-2048-FC44-9EA9-C11EF7500ACF}"/>
              </a:ext>
            </a:extLst>
          </p:cNvPr>
          <p:cNvSpPr txBox="1"/>
          <p:nvPr/>
        </p:nvSpPr>
        <p:spPr>
          <a:xfrm>
            <a:off x="0" y="4686"/>
            <a:ext cx="7262446" cy="646331"/>
          </a:xfrm>
          <a:prstGeom prst="rect">
            <a:avLst/>
          </a:prstGeom>
          <a:noFill/>
        </p:spPr>
        <p:txBody>
          <a:bodyPr wrap="square" rtlCol="0">
            <a:spAutoFit/>
          </a:bodyPr>
          <a:lstStyle/>
          <a:p>
            <a:r>
              <a:rPr lang="en-US" sz="3600" b="1" dirty="0"/>
              <a:t>Docker container – tutorial – p5</a:t>
            </a:r>
          </a:p>
        </p:txBody>
      </p:sp>
      <p:sp>
        <p:nvSpPr>
          <p:cNvPr id="5" name="TextBox 4">
            <a:extLst>
              <a:ext uri="{FF2B5EF4-FFF2-40B4-BE49-F238E27FC236}">
                <a16:creationId xmlns:a16="http://schemas.microsoft.com/office/drawing/2014/main" id="{F7F4015F-E131-E048-86B4-4F8BDDE75829}"/>
              </a:ext>
            </a:extLst>
          </p:cNvPr>
          <p:cNvSpPr txBox="1"/>
          <p:nvPr/>
        </p:nvSpPr>
        <p:spPr>
          <a:xfrm>
            <a:off x="299803" y="801076"/>
            <a:ext cx="11892197" cy="1200329"/>
          </a:xfrm>
          <a:prstGeom prst="rect">
            <a:avLst/>
          </a:prstGeom>
          <a:noFill/>
        </p:spPr>
        <p:txBody>
          <a:bodyPr wrap="square" rtlCol="0">
            <a:spAutoFit/>
          </a:bodyPr>
          <a:lstStyle/>
          <a:p>
            <a:r>
              <a:rPr lang="en-US" dirty="0">
                <a:solidFill>
                  <a:srgbClr val="00B050"/>
                </a:solidFill>
                <a:latin typeface="Consolas" panose="020B0609020204030204" pitchFamily="49" charset="0"/>
                <a:cs typeface="Consolas" panose="020B0609020204030204" pitchFamily="49" charset="0"/>
              </a:rPr>
              <a:t># stop running containers:</a:t>
            </a:r>
          </a:p>
          <a:p>
            <a:r>
              <a:rPr lang="en-US" dirty="0">
                <a:solidFill>
                  <a:srgbClr val="00B050"/>
                </a:solidFill>
                <a:latin typeface="Consolas" panose="020B0609020204030204" pitchFamily="49" charset="0"/>
                <a:cs typeface="Consolas" panose="020B0609020204030204" pitchFamily="49" charset="0"/>
              </a:rPr>
              <a:t># Use command “docker </a:t>
            </a:r>
            <a:r>
              <a:rPr lang="en-US" dirty="0" err="1">
                <a:solidFill>
                  <a:srgbClr val="00B050"/>
                </a:solidFill>
                <a:latin typeface="Consolas" panose="020B0609020204030204" pitchFamily="49" charset="0"/>
                <a:cs typeface="Consolas" panose="020B0609020204030204" pitchFamily="49" charset="0"/>
              </a:rPr>
              <a:t>ps</a:t>
            </a:r>
            <a:r>
              <a:rPr lang="en-US" dirty="0">
                <a:solidFill>
                  <a:srgbClr val="00B050"/>
                </a:solidFill>
                <a:latin typeface="Consolas" panose="020B0609020204030204" pitchFamily="49" charset="0"/>
                <a:cs typeface="Consolas" panose="020B0609020204030204" pitchFamily="49" charset="0"/>
              </a:rPr>
              <a:t>” to show only running containers</a:t>
            </a:r>
          </a:p>
          <a:p>
            <a:r>
              <a:rPr lang="en-US" dirty="0">
                <a:solidFill>
                  <a:srgbClr val="00B050"/>
                </a:solidFill>
                <a:latin typeface="Consolas" panose="020B0609020204030204" pitchFamily="49" charset="0"/>
                <a:cs typeface="Consolas" panose="020B0609020204030204" pitchFamily="49" charset="0"/>
              </a:rPr>
              <a:t># Add option “-q” (quiet) to only display numeric IDs</a:t>
            </a:r>
            <a:endParaRPr lang="en-US" dirty="0">
              <a:solidFill>
                <a:srgbClr val="0070C0"/>
              </a:solidFill>
              <a:latin typeface="Consolas" panose="020B0609020204030204" pitchFamily="49" charset="0"/>
              <a:cs typeface="Consolas" panose="020B0609020204030204" pitchFamily="49" charset="0"/>
            </a:endParaRPr>
          </a:p>
          <a:p>
            <a:r>
              <a:rPr lang="en-US" dirty="0">
                <a:solidFill>
                  <a:srgbClr val="0070C0"/>
                </a:solidFill>
                <a:latin typeface="Consolas" panose="020B0609020204030204" pitchFamily="49" charset="0"/>
                <a:cs typeface="Consolas" panose="020B0609020204030204" pitchFamily="49" charset="0"/>
              </a:rPr>
              <a:t>docker stop `docker </a:t>
            </a:r>
            <a:r>
              <a:rPr lang="en-US" dirty="0" err="1">
                <a:solidFill>
                  <a:srgbClr val="0070C0"/>
                </a:solidFill>
                <a:latin typeface="Consolas" panose="020B0609020204030204" pitchFamily="49" charset="0"/>
                <a:cs typeface="Consolas" panose="020B0609020204030204" pitchFamily="49" charset="0"/>
              </a:rPr>
              <a:t>ps</a:t>
            </a:r>
            <a:r>
              <a:rPr lang="en-US" dirty="0">
                <a:solidFill>
                  <a:srgbClr val="0070C0"/>
                </a:solidFill>
                <a:latin typeface="Consolas" panose="020B0609020204030204" pitchFamily="49" charset="0"/>
                <a:cs typeface="Consolas" panose="020B0609020204030204" pitchFamily="49" charset="0"/>
              </a:rPr>
              <a:t> -q`</a:t>
            </a:r>
          </a:p>
        </p:txBody>
      </p:sp>
      <p:sp>
        <p:nvSpPr>
          <p:cNvPr id="6" name="TextBox 5">
            <a:extLst>
              <a:ext uri="{FF2B5EF4-FFF2-40B4-BE49-F238E27FC236}">
                <a16:creationId xmlns:a16="http://schemas.microsoft.com/office/drawing/2014/main" id="{208758DA-F2CC-AB42-B7B5-3955F5182318}"/>
              </a:ext>
            </a:extLst>
          </p:cNvPr>
          <p:cNvSpPr txBox="1"/>
          <p:nvPr/>
        </p:nvSpPr>
        <p:spPr>
          <a:xfrm>
            <a:off x="299803" y="2166814"/>
            <a:ext cx="9442074" cy="646331"/>
          </a:xfrm>
          <a:prstGeom prst="rect">
            <a:avLst/>
          </a:prstGeom>
          <a:noFill/>
        </p:spPr>
        <p:txBody>
          <a:bodyPr wrap="square" rtlCol="0">
            <a:spAutoFit/>
          </a:bodyPr>
          <a:lstStyle/>
          <a:p>
            <a:r>
              <a:rPr lang="en-US" dirty="0">
                <a:solidFill>
                  <a:srgbClr val="00B050"/>
                </a:solidFill>
                <a:latin typeface="Consolas" panose="020B0609020204030204" pitchFamily="49" charset="0"/>
                <a:cs typeface="Consolas" panose="020B0609020204030204" pitchFamily="49" charset="0"/>
              </a:rPr>
              <a:t># when mapping volume or port, we use syntax:    </a:t>
            </a:r>
            <a:r>
              <a:rPr lang="en-US" dirty="0" err="1">
                <a:solidFill>
                  <a:srgbClr val="00B050"/>
                </a:solidFill>
                <a:latin typeface="Consolas" panose="020B0609020204030204" pitchFamily="49" charset="0"/>
                <a:cs typeface="Consolas" panose="020B0609020204030204" pitchFamily="49" charset="0"/>
              </a:rPr>
              <a:t>external:internal</a:t>
            </a:r>
            <a:endParaRPr lang="en-US" dirty="0">
              <a:solidFill>
                <a:srgbClr val="0070C0"/>
              </a:solidFill>
              <a:latin typeface="Consolas" panose="020B0609020204030204" pitchFamily="49" charset="0"/>
              <a:cs typeface="Consolas" panose="020B0609020204030204" pitchFamily="49" charset="0"/>
            </a:endParaRPr>
          </a:p>
          <a:p>
            <a:r>
              <a:rPr lang="en-US" dirty="0">
                <a:solidFill>
                  <a:srgbClr val="0070C0"/>
                </a:solidFill>
                <a:latin typeface="Consolas" panose="020B0609020204030204" pitchFamily="49" charset="0"/>
                <a:cs typeface="Consolas" panose="020B0609020204030204" pitchFamily="49" charset="0"/>
              </a:rPr>
              <a:t>docker run –p 5000:80 –v /</a:t>
            </a:r>
            <a:r>
              <a:rPr lang="en-US" dirty="0" err="1">
                <a:solidFill>
                  <a:srgbClr val="0070C0"/>
                </a:solidFill>
                <a:latin typeface="Consolas" panose="020B0609020204030204" pitchFamily="49" charset="0"/>
                <a:cs typeface="Consolas" panose="020B0609020204030204" pitchFamily="49" charset="0"/>
              </a:rPr>
              <a:t>my_real_path</a:t>
            </a:r>
            <a:r>
              <a:rPr lang="en-US" dirty="0">
                <a:solidFill>
                  <a:srgbClr val="0070C0"/>
                </a:solidFill>
                <a:latin typeface="Consolas" panose="020B0609020204030204" pitchFamily="49" charset="0"/>
                <a:cs typeface="Consolas" panose="020B0609020204030204" pitchFamily="49" charset="0"/>
              </a:rPr>
              <a:t>/:/</a:t>
            </a:r>
            <a:r>
              <a:rPr lang="en-US" dirty="0" err="1">
                <a:solidFill>
                  <a:srgbClr val="0070C0"/>
                </a:solidFill>
                <a:latin typeface="Consolas" panose="020B0609020204030204" pitchFamily="49" charset="0"/>
                <a:cs typeface="Consolas" panose="020B0609020204030204" pitchFamily="49" charset="0"/>
              </a:rPr>
              <a:t>path_inside_docker</a:t>
            </a:r>
            <a:r>
              <a:rPr lang="en-US" dirty="0">
                <a:solidFill>
                  <a:srgbClr val="0070C0"/>
                </a:solidFill>
                <a:latin typeface="Consolas" panose="020B0609020204030204" pitchFamily="49" charset="0"/>
                <a:cs typeface="Consolas" panose="020B0609020204030204" pitchFamily="49" charset="0"/>
              </a:rPr>
              <a:t>/  </a:t>
            </a:r>
            <a:r>
              <a:rPr lang="en-US" dirty="0" err="1">
                <a:solidFill>
                  <a:srgbClr val="0070C0"/>
                </a:solidFill>
                <a:latin typeface="Consolas" panose="020B0609020204030204" pitchFamily="49" charset="0"/>
                <a:cs typeface="Consolas" panose="020B0609020204030204" pitchFamily="49" charset="0"/>
              </a:rPr>
              <a:t>myapp</a:t>
            </a:r>
            <a:endParaRPr lang="en-US" dirty="0">
              <a:solidFill>
                <a:srgbClr val="0070C0"/>
              </a:solidFill>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C11B651F-BFAC-194E-920A-22729280CE14}"/>
              </a:ext>
            </a:extLst>
          </p:cNvPr>
          <p:cNvSpPr txBox="1"/>
          <p:nvPr/>
        </p:nvSpPr>
        <p:spPr>
          <a:xfrm>
            <a:off x="351692" y="3233614"/>
            <a:ext cx="10498015" cy="923330"/>
          </a:xfrm>
          <a:prstGeom prst="rect">
            <a:avLst/>
          </a:prstGeom>
          <a:noFill/>
        </p:spPr>
        <p:txBody>
          <a:bodyPr wrap="square" rtlCol="0">
            <a:spAutoFit/>
          </a:bodyPr>
          <a:lstStyle/>
          <a:p>
            <a:r>
              <a:rPr lang="en-US" dirty="0">
                <a:solidFill>
                  <a:srgbClr val="00B050"/>
                </a:solidFill>
                <a:latin typeface="Consolas" panose="020B0609020204030204" pitchFamily="49" charset="0"/>
                <a:cs typeface="Consolas" panose="020B0609020204030204" pitchFamily="49" charset="0"/>
              </a:rPr>
              <a:t># example building current directory – and running it as daemon ( -d option):</a:t>
            </a:r>
          </a:p>
          <a:p>
            <a:r>
              <a:rPr lang="en-US" dirty="0">
                <a:solidFill>
                  <a:srgbClr val="0070C0"/>
                </a:solidFill>
                <a:latin typeface="Consolas" panose="020B0609020204030204" pitchFamily="49" charset="0"/>
                <a:cs typeface="Consolas" panose="020B0609020204030204" pitchFamily="49" charset="0"/>
              </a:rPr>
              <a:t>docker stop `docker </a:t>
            </a:r>
            <a:r>
              <a:rPr lang="en-US" dirty="0" err="1">
                <a:solidFill>
                  <a:srgbClr val="0070C0"/>
                </a:solidFill>
                <a:latin typeface="Consolas" panose="020B0609020204030204" pitchFamily="49" charset="0"/>
                <a:cs typeface="Consolas" panose="020B0609020204030204" pitchFamily="49" charset="0"/>
              </a:rPr>
              <a:t>ps</a:t>
            </a:r>
            <a:r>
              <a:rPr lang="en-US" dirty="0">
                <a:solidFill>
                  <a:srgbClr val="0070C0"/>
                </a:solidFill>
                <a:latin typeface="Consolas" panose="020B0609020204030204" pitchFamily="49" charset="0"/>
                <a:cs typeface="Consolas" panose="020B0609020204030204" pitchFamily="49" charset="0"/>
              </a:rPr>
              <a:t> -q`</a:t>
            </a:r>
          </a:p>
          <a:p>
            <a:r>
              <a:rPr lang="en-US" dirty="0">
                <a:solidFill>
                  <a:srgbClr val="0070C0"/>
                </a:solidFill>
                <a:latin typeface="Consolas" panose="020B0609020204030204" pitchFamily="49" charset="0"/>
                <a:cs typeface="Consolas" panose="020B0609020204030204" pitchFamily="49" charset="0"/>
              </a:rPr>
              <a:t>docker build . –t </a:t>
            </a:r>
            <a:r>
              <a:rPr lang="en-US" dirty="0" err="1">
                <a:solidFill>
                  <a:srgbClr val="0070C0"/>
                </a:solidFill>
                <a:latin typeface="Consolas" panose="020B0609020204030204" pitchFamily="49" charset="0"/>
                <a:cs typeface="Consolas" panose="020B0609020204030204" pitchFamily="49" charset="0"/>
              </a:rPr>
              <a:t>myapp</a:t>
            </a:r>
            <a:r>
              <a:rPr lang="en-US" dirty="0">
                <a:solidFill>
                  <a:srgbClr val="0070C0"/>
                </a:solidFill>
                <a:latin typeface="Consolas" panose="020B0609020204030204" pitchFamily="49" charset="0"/>
                <a:cs typeface="Consolas" panose="020B0609020204030204" pitchFamily="49" charset="0"/>
              </a:rPr>
              <a:t> &amp;&amp; docker run –v /</a:t>
            </a:r>
            <a:r>
              <a:rPr lang="en-US" dirty="0" err="1">
                <a:solidFill>
                  <a:srgbClr val="0070C0"/>
                </a:solidFill>
                <a:latin typeface="Consolas" panose="020B0609020204030204" pitchFamily="49" charset="0"/>
                <a:cs typeface="Consolas" panose="020B0609020204030204" pitchFamily="49" charset="0"/>
              </a:rPr>
              <a:t>out_path</a:t>
            </a:r>
            <a:r>
              <a:rPr lang="en-US" dirty="0">
                <a:solidFill>
                  <a:srgbClr val="0070C0"/>
                </a:solidFill>
                <a:latin typeface="Consolas" panose="020B0609020204030204" pitchFamily="49" charset="0"/>
                <a:cs typeface="Consolas" panose="020B0609020204030204" pitchFamily="49" charset="0"/>
              </a:rPr>
              <a:t>/:/</a:t>
            </a:r>
            <a:r>
              <a:rPr lang="en-US" dirty="0" err="1">
                <a:solidFill>
                  <a:srgbClr val="0070C0"/>
                </a:solidFill>
                <a:latin typeface="Consolas" panose="020B0609020204030204" pitchFamily="49" charset="0"/>
                <a:cs typeface="Consolas" panose="020B0609020204030204" pitchFamily="49" charset="0"/>
              </a:rPr>
              <a:t>in_path</a:t>
            </a:r>
            <a:r>
              <a:rPr lang="en-US" dirty="0">
                <a:solidFill>
                  <a:srgbClr val="0070C0"/>
                </a:solidFill>
                <a:latin typeface="Consolas" panose="020B0609020204030204" pitchFamily="49" charset="0"/>
                <a:cs typeface="Consolas" panose="020B0609020204030204" pitchFamily="49" charset="0"/>
              </a:rPr>
              <a:t>/ –p 5000:80 –d </a:t>
            </a:r>
            <a:r>
              <a:rPr lang="en-US" dirty="0" err="1">
                <a:solidFill>
                  <a:srgbClr val="0070C0"/>
                </a:solidFill>
                <a:latin typeface="Consolas" panose="020B0609020204030204" pitchFamily="49" charset="0"/>
                <a:cs typeface="Consolas" panose="020B0609020204030204" pitchFamily="49" charset="0"/>
              </a:rPr>
              <a:t>myapp</a:t>
            </a:r>
            <a:endParaRPr lang="en-US" dirty="0">
              <a:solidFill>
                <a:srgbClr val="0070C0"/>
              </a:solidFill>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E6E20902-0405-1040-B19B-F1450127088A}"/>
              </a:ext>
            </a:extLst>
          </p:cNvPr>
          <p:cNvSpPr txBox="1"/>
          <p:nvPr/>
        </p:nvSpPr>
        <p:spPr>
          <a:xfrm>
            <a:off x="351691" y="4465823"/>
            <a:ext cx="10498015" cy="923330"/>
          </a:xfrm>
          <a:prstGeom prst="rect">
            <a:avLst/>
          </a:prstGeom>
          <a:noFill/>
        </p:spPr>
        <p:txBody>
          <a:bodyPr wrap="square" rtlCol="0">
            <a:spAutoFit/>
          </a:bodyPr>
          <a:lstStyle/>
          <a:p>
            <a:r>
              <a:rPr lang="en-US" dirty="0">
                <a:solidFill>
                  <a:srgbClr val="00B050"/>
                </a:solidFill>
                <a:latin typeface="Consolas" panose="020B0609020204030204" pitchFamily="49" charset="0"/>
                <a:cs typeface="Consolas" panose="020B0609020204030204" pitchFamily="49" charset="0"/>
              </a:rPr>
              <a:t># login inside a running container:</a:t>
            </a:r>
          </a:p>
          <a:p>
            <a:r>
              <a:rPr lang="en-US" dirty="0">
                <a:solidFill>
                  <a:srgbClr val="0070C0"/>
                </a:solidFill>
                <a:latin typeface="Consolas" panose="020B0609020204030204" pitchFamily="49" charset="0"/>
                <a:cs typeface="Consolas" panose="020B0609020204030204" pitchFamily="49" charset="0"/>
              </a:rPr>
              <a:t>docker </a:t>
            </a:r>
            <a:r>
              <a:rPr lang="en-US" dirty="0" err="1">
                <a:solidFill>
                  <a:srgbClr val="0070C0"/>
                </a:solidFill>
                <a:latin typeface="Consolas" panose="020B0609020204030204" pitchFamily="49" charset="0"/>
                <a:cs typeface="Consolas" panose="020B0609020204030204" pitchFamily="49" charset="0"/>
              </a:rPr>
              <a:t>ps</a:t>
            </a:r>
            <a:r>
              <a:rPr lang="en-US" dirty="0">
                <a:solidFill>
                  <a:srgbClr val="0070C0"/>
                </a:solidFill>
                <a:latin typeface="Consolas" panose="020B0609020204030204" pitchFamily="49" charset="0"/>
                <a:cs typeface="Consolas" panose="020B0609020204030204" pitchFamily="49" charset="0"/>
              </a:rPr>
              <a:t>                                # get ID of your container</a:t>
            </a:r>
          </a:p>
          <a:p>
            <a:r>
              <a:rPr lang="en-US" dirty="0">
                <a:solidFill>
                  <a:srgbClr val="0070C0"/>
                </a:solidFill>
                <a:latin typeface="Consolas" panose="020B0609020204030204" pitchFamily="49" charset="0"/>
                <a:cs typeface="Consolas" panose="020B0609020204030204" pitchFamily="49" charset="0"/>
              </a:rPr>
              <a:t>docker exec –it 37701c34dfa9 /bin/bash   # login into your container</a:t>
            </a:r>
          </a:p>
        </p:txBody>
      </p:sp>
    </p:spTree>
    <p:extLst>
      <p:ext uri="{BB962C8B-B14F-4D97-AF65-F5344CB8AC3E}">
        <p14:creationId xmlns:p14="http://schemas.microsoft.com/office/powerpoint/2010/main" val="381570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8DC17-2048-FC44-9EA9-C11EF7500ACF}"/>
              </a:ext>
            </a:extLst>
          </p:cNvPr>
          <p:cNvSpPr txBox="1"/>
          <p:nvPr/>
        </p:nvSpPr>
        <p:spPr>
          <a:xfrm>
            <a:off x="0" y="0"/>
            <a:ext cx="7244862" cy="646331"/>
          </a:xfrm>
          <a:prstGeom prst="rect">
            <a:avLst/>
          </a:prstGeom>
          <a:noFill/>
        </p:spPr>
        <p:txBody>
          <a:bodyPr wrap="square" rtlCol="0">
            <a:spAutoFit/>
          </a:bodyPr>
          <a:lstStyle/>
          <a:p>
            <a:r>
              <a:rPr lang="en-US" sz="3600" b="1" dirty="0"/>
              <a:t>Docker container – tutorial – p6</a:t>
            </a:r>
          </a:p>
        </p:txBody>
      </p:sp>
      <p:sp>
        <p:nvSpPr>
          <p:cNvPr id="5" name="TextBox 4">
            <a:extLst>
              <a:ext uri="{FF2B5EF4-FFF2-40B4-BE49-F238E27FC236}">
                <a16:creationId xmlns:a16="http://schemas.microsoft.com/office/drawing/2014/main" id="{F7F4015F-E131-E048-86B4-4F8BDDE75829}"/>
              </a:ext>
            </a:extLst>
          </p:cNvPr>
          <p:cNvSpPr txBox="1"/>
          <p:nvPr/>
        </p:nvSpPr>
        <p:spPr>
          <a:xfrm>
            <a:off x="299803" y="801076"/>
            <a:ext cx="11892197" cy="3693319"/>
          </a:xfrm>
          <a:prstGeom prst="rect">
            <a:avLst/>
          </a:prstGeom>
          <a:noFill/>
        </p:spPr>
        <p:txBody>
          <a:bodyPr wrap="square" rtlCol="0">
            <a:spAutoFit/>
          </a:bodyPr>
          <a:lstStyle/>
          <a:p>
            <a:r>
              <a:rPr lang="en-US" dirty="0">
                <a:solidFill>
                  <a:srgbClr val="00B050"/>
                </a:solidFill>
                <a:latin typeface="Consolas" panose="020B0609020204030204" pitchFamily="49" charset="0"/>
                <a:cs typeface="Consolas" panose="020B0609020204030204" pitchFamily="49" charset="0"/>
              </a:rPr>
              <a:t># some common </a:t>
            </a:r>
            <a:r>
              <a:rPr lang="en-US" dirty="0" err="1">
                <a:solidFill>
                  <a:srgbClr val="00B050"/>
                </a:solidFill>
                <a:latin typeface="Consolas" panose="020B0609020204030204" pitchFamily="49" charset="0"/>
                <a:cs typeface="Consolas" panose="020B0609020204030204" pitchFamily="49" charset="0"/>
              </a:rPr>
              <a:t>Dockerfile</a:t>
            </a:r>
            <a:r>
              <a:rPr lang="en-US" dirty="0">
                <a:solidFill>
                  <a:srgbClr val="00B050"/>
                </a:solidFill>
                <a:latin typeface="Consolas" panose="020B0609020204030204" pitchFamily="49" charset="0"/>
                <a:cs typeface="Consolas" panose="020B0609020204030204" pitchFamily="49" charset="0"/>
              </a:rPr>
              <a:t> commands – see more here </a:t>
            </a:r>
            <a:r>
              <a:rPr lang="en-US" dirty="0">
                <a:hlinkClick r:id="rId2"/>
              </a:rPr>
              <a:t>https://docs.docker.com/engine/reference/builder/</a:t>
            </a:r>
            <a:endParaRPr lang="en-US" dirty="0">
              <a:solidFill>
                <a:srgbClr val="00B050"/>
              </a:solidFill>
              <a:latin typeface="Consolas" panose="020B0609020204030204" pitchFamily="49" charset="0"/>
              <a:cs typeface="Consolas" panose="020B0609020204030204" pitchFamily="49" charset="0"/>
            </a:endParaRPr>
          </a:p>
          <a:p>
            <a:endParaRPr lang="en-US" dirty="0">
              <a:solidFill>
                <a:srgbClr val="0070C0"/>
              </a:solidFill>
              <a:latin typeface="Consolas" panose="020B0609020204030204" pitchFamily="49" charset="0"/>
              <a:cs typeface="Consolas" panose="020B0609020204030204" pitchFamily="49" charset="0"/>
            </a:endParaRPr>
          </a:p>
          <a:p>
            <a:r>
              <a:rPr lang="en-US" dirty="0">
                <a:solidFill>
                  <a:srgbClr val="0070C0"/>
                </a:solidFill>
                <a:latin typeface="Consolas" panose="020B0609020204030204" pitchFamily="49" charset="0"/>
                <a:cs typeface="Consolas" panose="020B0609020204030204" pitchFamily="49" charset="0"/>
              </a:rPr>
              <a:t># Comment</a:t>
            </a:r>
          </a:p>
          <a:p>
            <a:r>
              <a:rPr lang="en-US" dirty="0">
                <a:solidFill>
                  <a:srgbClr val="0070C0"/>
                </a:solidFill>
                <a:latin typeface="Consolas" panose="020B0609020204030204" pitchFamily="49" charset="0"/>
                <a:cs typeface="Consolas" panose="020B0609020204030204" pitchFamily="49" charset="0"/>
              </a:rPr>
              <a:t>RUN echo 'something'</a:t>
            </a:r>
          </a:p>
          <a:p>
            <a:r>
              <a:rPr lang="en-US" dirty="0">
                <a:solidFill>
                  <a:srgbClr val="0070C0"/>
                </a:solidFill>
                <a:latin typeface="Consolas" panose="020B0609020204030204" pitchFamily="49" charset="0"/>
                <a:cs typeface="Consolas" panose="020B0609020204030204" pitchFamily="49" charset="0"/>
              </a:rPr>
              <a:t>RUN mv file1 file2</a:t>
            </a:r>
          </a:p>
          <a:p>
            <a:r>
              <a:rPr lang="en-US" dirty="0">
                <a:solidFill>
                  <a:srgbClr val="0070C0"/>
                </a:solidFill>
                <a:latin typeface="Consolas" panose="020B0609020204030204" pitchFamily="49" charset="0"/>
                <a:cs typeface="Consolas" panose="020B0609020204030204" pitchFamily="49" charset="0"/>
              </a:rPr>
              <a:t>COPY file1 file2</a:t>
            </a:r>
          </a:p>
          <a:p>
            <a:r>
              <a:rPr lang="en-US" dirty="0">
                <a:solidFill>
                  <a:srgbClr val="0070C0"/>
                </a:solidFill>
                <a:latin typeface="Consolas" panose="020B0609020204030204" pitchFamily="49" charset="0"/>
                <a:cs typeface="Consolas" panose="020B0609020204030204" pitchFamily="49" charset="0"/>
              </a:rPr>
              <a:t>RUN </a:t>
            </a:r>
            <a:r>
              <a:rPr lang="en-US" dirty="0" err="1">
                <a:solidFill>
                  <a:srgbClr val="0070C0"/>
                </a:solidFill>
                <a:latin typeface="Consolas" panose="020B0609020204030204" pitchFamily="49" charset="0"/>
                <a:cs typeface="Consolas" panose="020B0609020204030204" pitchFamily="49" charset="0"/>
              </a:rPr>
              <a:t>mkdir</a:t>
            </a:r>
            <a:r>
              <a:rPr lang="en-US" dirty="0">
                <a:solidFill>
                  <a:srgbClr val="0070C0"/>
                </a:solidFill>
                <a:latin typeface="Consolas" panose="020B0609020204030204" pitchFamily="49" charset="0"/>
                <a:cs typeface="Consolas" panose="020B0609020204030204" pitchFamily="49" charset="0"/>
              </a:rPr>
              <a:t> -p /</a:t>
            </a:r>
            <a:r>
              <a:rPr lang="en-US" dirty="0" err="1">
                <a:solidFill>
                  <a:srgbClr val="0070C0"/>
                </a:solidFill>
                <a:latin typeface="Consolas" panose="020B0609020204030204" pitchFamily="49" charset="0"/>
                <a:cs typeface="Consolas" panose="020B0609020204030204" pitchFamily="49" charset="0"/>
              </a:rPr>
              <a:t>var</a:t>
            </a:r>
            <a:r>
              <a:rPr lang="en-US" dirty="0">
                <a:solidFill>
                  <a:srgbClr val="0070C0"/>
                </a:solidFill>
                <a:latin typeface="Consolas" panose="020B0609020204030204" pitchFamily="49" charset="0"/>
                <a:cs typeface="Consolas" panose="020B0609020204030204" pitchFamily="49" charset="0"/>
              </a:rPr>
              <a:t>/log/</a:t>
            </a:r>
            <a:r>
              <a:rPr lang="en-US" dirty="0" err="1">
                <a:solidFill>
                  <a:srgbClr val="0070C0"/>
                </a:solidFill>
                <a:latin typeface="Consolas" panose="020B0609020204030204" pitchFamily="49" charset="0"/>
                <a:cs typeface="Consolas" panose="020B0609020204030204" pitchFamily="49" charset="0"/>
              </a:rPr>
              <a:t>mydir</a:t>
            </a:r>
            <a:endParaRPr lang="en-US" dirty="0">
              <a:solidFill>
                <a:srgbClr val="0070C0"/>
              </a:solidFill>
              <a:latin typeface="Consolas" panose="020B0609020204030204" pitchFamily="49" charset="0"/>
              <a:cs typeface="Consolas" panose="020B0609020204030204" pitchFamily="49" charset="0"/>
            </a:endParaRPr>
          </a:p>
          <a:p>
            <a:r>
              <a:rPr lang="en-US" dirty="0">
                <a:solidFill>
                  <a:srgbClr val="0070C0"/>
                </a:solidFill>
                <a:latin typeface="Consolas" panose="020B0609020204030204" pitchFamily="49" charset="0"/>
                <a:cs typeface="Consolas" panose="020B0609020204030204" pitchFamily="49" charset="0"/>
              </a:rPr>
              <a:t>RUN apt-get update &amp;&amp; apt-get install –y </a:t>
            </a:r>
            <a:r>
              <a:rPr lang="en-US" dirty="0" err="1">
                <a:solidFill>
                  <a:srgbClr val="0070C0"/>
                </a:solidFill>
                <a:latin typeface="Consolas" panose="020B0609020204030204" pitchFamily="49" charset="0"/>
                <a:cs typeface="Consolas" panose="020B0609020204030204" pitchFamily="49" charset="0"/>
              </a:rPr>
              <a:t>ssmtp</a:t>
            </a:r>
            <a:r>
              <a:rPr lang="en-US" dirty="0">
                <a:solidFill>
                  <a:srgbClr val="0070C0"/>
                </a:solidFill>
                <a:latin typeface="Consolas" panose="020B0609020204030204" pitchFamily="49" charset="0"/>
                <a:cs typeface="Consolas" panose="020B0609020204030204" pitchFamily="49" charset="0"/>
              </a:rPr>
              <a:t> &amp;&amp; apt-get clean</a:t>
            </a:r>
          </a:p>
          <a:p>
            <a:endParaRPr lang="en-US" dirty="0">
              <a:solidFill>
                <a:srgbClr val="0070C0"/>
              </a:solidFill>
              <a:latin typeface="Consolas" panose="020B0609020204030204" pitchFamily="49" charset="0"/>
              <a:cs typeface="Consolas" panose="020B0609020204030204" pitchFamily="49" charset="0"/>
            </a:endParaRPr>
          </a:p>
          <a:p>
            <a:r>
              <a:rPr lang="en-US" dirty="0">
                <a:solidFill>
                  <a:srgbClr val="0070C0"/>
                </a:solidFill>
                <a:latin typeface="Consolas" panose="020B0609020204030204" pitchFamily="49" charset="0"/>
                <a:cs typeface="Consolas" panose="020B0609020204030204" pitchFamily="49" charset="0"/>
              </a:rPr>
              <a:t>CMD ...   # command to execute when container starts</a:t>
            </a:r>
          </a:p>
          <a:p>
            <a:endParaRPr lang="en-US" dirty="0">
              <a:solidFill>
                <a:srgbClr val="0070C0"/>
              </a:solidFill>
              <a:latin typeface="Consolas" panose="020B0609020204030204" pitchFamily="49" charset="0"/>
              <a:cs typeface="Consolas" panose="020B0609020204030204" pitchFamily="49" charset="0"/>
            </a:endParaRPr>
          </a:p>
          <a:p>
            <a:r>
              <a:rPr lang="en-US" dirty="0">
                <a:solidFill>
                  <a:srgbClr val="0070C0"/>
                </a:solidFill>
                <a:latin typeface="Consolas" panose="020B0609020204030204" pitchFamily="49" charset="0"/>
                <a:cs typeface="Consolas" panose="020B0609020204030204" pitchFamily="49" charset="0"/>
              </a:rPr>
              <a:t>EXPOSE 80</a:t>
            </a:r>
          </a:p>
          <a:p>
            <a:r>
              <a:rPr lang="en-US" dirty="0">
                <a:solidFill>
                  <a:srgbClr val="0070C0"/>
                </a:solidFill>
                <a:latin typeface="Consolas" panose="020B0609020204030204" pitchFamily="49" charset="0"/>
                <a:cs typeface="Consolas" panose="020B0609020204030204" pitchFamily="49" charset="0"/>
              </a:rPr>
              <a:t>EXPOSE 443</a:t>
            </a:r>
          </a:p>
        </p:txBody>
      </p:sp>
    </p:spTree>
    <p:extLst>
      <p:ext uri="{BB962C8B-B14F-4D97-AF65-F5344CB8AC3E}">
        <p14:creationId xmlns:p14="http://schemas.microsoft.com/office/powerpoint/2010/main" val="3074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8DC17-2048-FC44-9EA9-C11EF7500ACF}"/>
              </a:ext>
            </a:extLst>
          </p:cNvPr>
          <p:cNvSpPr txBox="1"/>
          <p:nvPr/>
        </p:nvSpPr>
        <p:spPr>
          <a:xfrm>
            <a:off x="0" y="0"/>
            <a:ext cx="6499274" cy="646331"/>
          </a:xfrm>
          <a:prstGeom prst="rect">
            <a:avLst/>
          </a:prstGeom>
          <a:noFill/>
        </p:spPr>
        <p:txBody>
          <a:bodyPr wrap="square" rtlCol="0">
            <a:spAutoFit/>
          </a:bodyPr>
          <a:lstStyle/>
          <a:p>
            <a:r>
              <a:rPr lang="en-US" sz="3600" b="1" dirty="0"/>
              <a:t>Docker container – tutorial – 7</a:t>
            </a:r>
          </a:p>
        </p:txBody>
      </p:sp>
      <p:sp>
        <p:nvSpPr>
          <p:cNvPr id="5" name="TextBox 4">
            <a:extLst>
              <a:ext uri="{FF2B5EF4-FFF2-40B4-BE49-F238E27FC236}">
                <a16:creationId xmlns:a16="http://schemas.microsoft.com/office/drawing/2014/main" id="{F7F4015F-E131-E048-86B4-4F8BDDE75829}"/>
              </a:ext>
            </a:extLst>
          </p:cNvPr>
          <p:cNvSpPr txBox="1"/>
          <p:nvPr/>
        </p:nvSpPr>
        <p:spPr>
          <a:xfrm>
            <a:off x="0" y="646331"/>
            <a:ext cx="12192000" cy="5262979"/>
          </a:xfrm>
          <a:prstGeom prst="rect">
            <a:avLst/>
          </a:prstGeom>
          <a:noFill/>
        </p:spPr>
        <p:txBody>
          <a:bodyPr wrap="square" rtlCol="0">
            <a:spAutoFit/>
          </a:bodyPr>
          <a:lstStyle/>
          <a:p>
            <a:r>
              <a:rPr lang="en-US" sz="1600" dirty="0">
                <a:latin typeface="Consolas" panose="020B0609020204030204" pitchFamily="49" charset="0"/>
                <a:cs typeface="Consolas" panose="020B0609020204030204" pitchFamily="49" charset="0"/>
              </a:rPr>
              <a:t>Running multiple services inside one container </a:t>
            </a:r>
            <a:r>
              <a:rPr lang="en-US" sz="1600" dirty="0">
                <a:hlinkClick r:id="rId2"/>
              </a:rPr>
              <a:t>https://docs.docker.com/config/containers/multi-service_container/</a:t>
            </a:r>
            <a:endParaRPr lang="en-US" sz="1600" dirty="0"/>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The simplest way to start several services inside a container is to copy them from outside – and then start with a wrapper script. The drawback of this approach is that we will need to install these services manually on the box and to know all directories to copy.</a:t>
            </a:r>
          </a:p>
          <a:p>
            <a:r>
              <a:rPr lang="en-US" sz="1600" dirty="0">
                <a:solidFill>
                  <a:srgbClr val="0070C0"/>
                </a:solidFill>
                <a:latin typeface="Consolas" panose="020B0609020204030204" pitchFamily="49" charset="0"/>
                <a:cs typeface="Consolas" panose="020B0609020204030204" pitchFamily="49" charset="0"/>
              </a:rPr>
              <a:t>    FROM </a:t>
            </a:r>
            <a:r>
              <a:rPr lang="en-US" sz="1600" dirty="0" err="1">
                <a:solidFill>
                  <a:srgbClr val="0070C0"/>
                </a:solidFill>
                <a:latin typeface="Consolas" panose="020B0609020204030204" pitchFamily="49" charset="0"/>
                <a:cs typeface="Consolas" panose="020B0609020204030204" pitchFamily="49" charset="0"/>
              </a:rPr>
              <a:t>ubuntu:latest</a:t>
            </a:r>
            <a:endParaRPr lang="en-US" sz="1600" dirty="0">
              <a:solidFill>
                <a:srgbClr val="0070C0"/>
              </a:solidFill>
              <a:latin typeface="Consolas" panose="020B0609020204030204" pitchFamily="49" charset="0"/>
              <a:cs typeface="Consolas" panose="020B0609020204030204" pitchFamily="49" charset="0"/>
            </a:endParaRPr>
          </a:p>
          <a:p>
            <a:r>
              <a:rPr lang="en-US" sz="1600" dirty="0">
                <a:solidFill>
                  <a:srgbClr val="0070C0"/>
                </a:solidFill>
                <a:latin typeface="Consolas" panose="020B0609020204030204" pitchFamily="49" charset="0"/>
                <a:cs typeface="Consolas" panose="020B0609020204030204" pitchFamily="49" charset="0"/>
              </a:rPr>
              <a:t>    COPY /</a:t>
            </a:r>
            <a:r>
              <a:rPr lang="en-US" sz="1600" dirty="0" err="1">
                <a:solidFill>
                  <a:srgbClr val="0070C0"/>
                </a:solidFill>
                <a:latin typeface="Consolas" panose="020B0609020204030204" pitchFamily="49" charset="0"/>
                <a:cs typeface="Consolas" panose="020B0609020204030204" pitchFamily="49" charset="0"/>
              </a:rPr>
              <a:t>out_path</a:t>
            </a:r>
            <a:r>
              <a:rPr lang="en-US" sz="1600" dirty="0">
                <a:solidFill>
                  <a:srgbClr val="0070C0"/>
                </a:solidFill>
                <a:latin typeface="Consolas" panose="020B0609020204030204" pitchFamily="49" charset="0"/>
                <a:cs typeface="Consolas" panose="020B0609020204030204" pitchFamily="49" charset="0"/>
              </a:rPr>
              <a:t>/</a:t>
            </a:r>
            <a:r>
              <a:rPr lang="en-US" sz="1600" dirty="0" err="1">
                <a:solidFill>
                  <a:srgbClr val="0070C0"/>
                </a:solidFill>
                <a:latin typeface="Consolas" panose="020B0609020204030204" pitchFamily="49" charset="0"/>
                <a:cs typeface="Consolas" panose="020B0609020204030204" pitchFamily="49" charset="0"/>
              </a:rPr>
              <a:t>my_services</a:t>
            </a:r>
            <a:r>
              <a:rPr lang="en-US" sz="1600" dirty="0">
                <a:solidFill>
                  <a:srgbClr val="0070C0"/>
                </a:solidFill>
                <a:latin typeface="Consolas" panose="020B0609020204030204" pitchFamily="49" charset="0"/>
                <a:cs typeface="Consolas" panose="020B0609020204030204" pitchFamily="49" charset="0"/>
              </a:rPr>
              <a:t>          /</a:t>
            </a:r>
            <a:r>
              <a:rPr lang="en-US" sz="1600" dirty="0" err="1">
                <a:solidFill>
                  <a:srgbClr val="0070C0"/>
                </a:solidFill>
                <a:latin typeface="Consolas" panose="020B0609020204030204" pitchFamily="49" charset="0"/>
                <a:cs typeface="Consolas" panose="020B0609020204030204" pitchFamily="49" charset="0"/>
              </a:rPr>
              <a:t>in_path</a:t>
            </a:r>
            <a:r>
              <a:rPr lang="en-US" sz="1600" dirty="0">
                <a:solidFill>
                  <a:srgbClr val="0070C0"/>
                </a:solidFill>
                <a:latin typeface="Consolas" panose="020B0609020204030204" pitchFamily="49" charset="0"/>
                <a:cs typeface="Consolas" panose="020B0609020204030204" pitchFamily="49" charset="0"/>
              </a:rPr>
              <a:t>/</a:t>
            </a:r>
            <a:r>
              <a:rPr lang="en-US" sz="1600" dirty="0" err="1">
                <a:solidFill>
                  <a:srgbClr val="0070C0"/>
                </a:solidFill>
                <a:latin typeface="Consolas" panose="020B0609020204030204" pitchFamily="49" charset="0"/>
                <a:cs typeface="Consolas" panose="020B0609020204030204" pitchFamily="49" charset="0"/>
              </a:rPr>
              <a:t>my_services</a:t>
            </a:r>
            <a:r>
              <a:rPr lang="en-US" sz="1600" dirty="0">
                <a:solidFill>
                  <a:srgbClr val="0070C0"/>
                </a:solidFill>
                <a:latin typeface="Consolas" panose="020B0609020204030204" pitchFamily="49" charset="0"/>
                <a:cs typeface="Consolas" panose="020B0609020204030204" pitchFamily="49" charset="0"/>
              </a:rPr>
              <a:t> </a:t>
            </a:r>
          </a:p>
          <a:p>
            <a:r>
              <a:rPr lang="en-US" sz="1600" dirty="0">
                <a:solidFill>
                  <a:srgbClr val="0070C0"/>
                </a:solidFill>
                <a:latin typeface="Consolas" panose="020B0609020204030204" pitchFamily="49" charset="0"/>
                <a:cs typeface="Consolas" panose="020B0609020204030204" pitchFamily="49" charset="0"/>
              </a:rPr>
              <a:t>    ...</a:t>
            </a:r>
          </a:p>
          <a:p>
            <a:r>
              <a:rPr lang="en-US" sz="1600" dirty="0">
                <a:solidFill>
                  <a:srgbClr val="0070C0"/>
                </a:solidFill>
                <a:latin typeface="Consolas" panose="020B0609020204030204" pitchFamily="49" charset="0"/>
                <a:cs typeface="Consolas" panose="020B0609020204030204" pitchFamily="49" charset="0"/>
              </a:rPr>
              <a:t>    COPY /</a:t>
            </a:r>
            <a:r>
              <a:rPr lang="en-US" sz="1600" dirty="0" err="1">
                <a:solidFill>
                  <a:srgbClr val="0070C0"/>
                </a:solidFill>
                <a:latin typeface="Consolas" panose="020B0609020204030204" pitchFamily="49" charset="0"/>
                <a:cs typeface="Consolas" panose="020B0609020204030204" pitchFamily="49" charset="0"/>
              </a:rPr>
              <a:t>out_path</a:t>
            </a:r>
            <a:r>
              <a:rPr lang="en-US" sz="1600" dirty="0">
                <a:solidFill>
                  <a:srgbClr val="0070C0"/>
                </a:solidFill>
                <a:latin typeface="Consolas" panose="020B0609020204030204" pitchFamily="49" charset="0"/>
                <a:cs typeface="Consolas" panose="020B0609020204030204" pitchFamily="49" charset="0"/>
              </a:rPr>
              <a:t>/</a:t>
            </a:r>
            <a:r>
              <a:rPr lang="en-US" sz="1600" dirty="0" err="1">
                <a:solidFill>
                  <a:srgbClr val="0070C0"/>
                </a:solidFill>
                <a:latin typeface="Consolas" panose="020B0609020204030204" pitchFamily="49" charset="0"/>
                <a:cs typeface="Consolas" panose="020B0609020204030204" pitchFamily="49" charset="0"/>
              </a:rPr>
              <a:t>my_wrapper_script.sh</a:t>
            </a:r>
            <a:r>
              <a:rPr lang="en-US" sz="1600" dirty="0">
                <a:solidFill>
                  <a:srgbClr val="0070C0"/>
                </a:solidFill>
                <a:latin typeface="Consolas" panose="020B0609020204030204" pitchFamily="49" charset="0"/>
                <a:cs typeface="Consolas" panose="020B0609020204030204" pitchFamily="49" charset="0"/>
              </a:rPr>
              <a:t> ./</a:t>
            </a:r>
            <a:r>
              <a:rPr lang="en-US" sz="1600" dirty="0" err="1">
                <a:solidFill>
                  <a:srgbClr val="0070C0"/>
                </a:solidFill>
                <a:latin typeface="Consolas" panose="020B0609020204030204" pitchFamily="49" charset="0"/>
                <a:cs typeface="Consolas" panose="020B0609020204030204" pitchFamily="49" charset="0"/>
              </a:rPr>
              <a:t>my_wrapper_script.sh</a:t>
            </a:r>
            <a:endParaRPr lang="en-US" sz="1600" dirty="0">
              <a:solidFill>
                <a:srgbClr val="0070C0"/>
              </a:solidFill>
              <a:latin typeface="Consolas" panose="020B0609020204030204" pitchFamily="49" charset="0"/>
              <a:cs typeface="Consolas" panose="020B0609020204030204" pitchFamily="49" charset="0"/>
            </a:endParaRPr>
          </a:p>
          <a:p>
            <a:r>
              <a:rPr lang="en-US" sz="1600" dirty="0">
                <a:solidFill>
                  <a:srgbClr val="0070C0"/>
                </a:solidFill>
                <a:latin typeface="Consolas" panose="020B0609020204030204" pitchFamily="49" charset="0"/>
                <a:cs typeface="Consolas" panose="020B0609020204030204" pitchFamily="49" charset="0"/>
              </a:rPr>
              <a:t>    CMD ./</a:t>
            </a:r>
            <a:r>
              <a:rPr lang="en-US" sz="1600" dirty="0" err="1">
                <a:solidFill>
                  <a:srgbClr val="0070C0"/>
                </a:solidFill>
                <a:latin typeface="Consolas" panose="020B0609020204030204" pitchFamily="49" charset="0"/>
                <a:cs typeface="Consolas" panose="020B0609020204030204" pitchFamily="49" charset="0"/>
              </a:rPr>
              <a:t>my_wrapper_script.sh</a:t>
            </a:r>
            <a:endParaRPr lang="en-US" sz="1600" dirty="0">
              <a:solidFill>
                <a:srgbClr val="0070C0"/>
              </a:solidFill>
              <a:latin typeface="Consolas" panose="020B0609020204030204" pitchFamily="49" charset="0"/>
              <a:cs typeface="Consolas" panose="020B0609020204030204" pitchFamily="49" charset="0"/>
            </a:endParaRPr>
          </a:p>
          <a:p>
            <a:endParaRPr lang="en-US" sz="1600" dirty="0">
              <a:solidFill>
                <a:srgbClr val="0070C0"/>
              </a:solidFill>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Another approach would be to install everything inside the container:</a:t>
            </a:r>
          </a:p>
          <a:p>
            <a:r>
              <a:rPr lang="en-US" sz="1600" dirty="0">
                <a:solidFill>
                  <a:srgbClr val="0070C0"/>
                </a:solidFill>
                <a:latin typeface="Consolas" panose="020B0609020204030204" pitchFamily="49" charset="0"/>
                <a:cs typeface="Consolas" panose="020B0609020204030204" pitchFamily="49" charset="0"/>
              </a:rPr>
              <a:t>    FROM </a:t>
            </a:r>
            <a:r>
              <a:rPr lang="en-US" sz="1600" dirty="0" err="1">
                <a:solidFill>
                  <a:srgbClr val="0070C0"/>
                </a:solidFill>
                <a:latin typeface="Consolas" panose="020B0609020204030204" pitchFamily="49" charset="0"/>
                <a:cs typeface="Consolas" panose="020B0609020204030204" pitchFamily="49" charset="0"/>
              </a:rPr>
              <a:t>continuumio</a:t>
            </a:r>
            <a:r>
              <a:rPr lang="en-US" sz="1600" dirty="0">
                <a:solidFill>
                  <a:srgbClr val="0070C0"/>
                </a:solidFill>
                <a:latin typeface="Consolas" panose="020B0609020204030204" pitchFamily="49" charset="0"/>
                <a:cs typeface="Consolas" panose="020B0609020204030204" pitchFamily="49" charset="0"/>
              </a:rPr>
              <a:t>/anaconda3</a:t>
            </a:r>
          </a:p>
          <a:p>
            <a:r>
              <a:rPr lang="en-US" sz="1600" dirty="0">
                <a:solidFill>
                  <a:srgbClr val="0070C0"/>
                </a:solidFill>
                <a:latin typeface="Consolas" panose="020B0609020204030204" pitchFamily="49" charset="0"/>
                <a:cs typeface="Consolas" panose="020B0609020204030204" pitchFamily="49" charset="0"/>
              </a:rPr>
              <a:t>    RUN apt-get update &amp;&amp; apt-get install –y </a:t>
            </a:r>
            <a:r>
              <a:rPr lang="en-US" sz="1600" dirty="0" err="1">
                <a:solidFill>
                  <a:srgbClr val="0070C0"/>
                </a:solidFill>
                <a:latin typeface="Consolas" panose="020B0609020204030204" pitchFamily="49" charset="0"/>
                <a:cs typeface="Consolas" panose="020B0609020204030204" pitchFamily="49" charset="0"/>
              </a:rPr>
              <a:t>nginx</a:t>
            </a:r>
            <a:endParaRPr lang="en-US" sz="1600" dirty="0">
              <a:solidFill>
                <a:srgbClr val="0070C0"/>
              </a:solidFill>
              <a:latin typeface="Consolas" panose="020B0609020204030204" pitchFamily="49" charset="0"/>
              <a:cs typeface="Consolas" panose="020B0609020204030204" pitchFamily="49" charset="0"/>
            </a:endParaRPr>
          </a:p>
          <a:p>
            <a:r>
              <a:rPr lang="en-US" sz="1600" dirty="0">
                <a:solidFill>
                  <a:srgbClr val="0070C0"/>
                </a:solidFill>
                <a:latin typeface="Consolas" panose="020B0609020204030204" pitchFamily="49" charset="0"/>
                <a:cs typeface="Consolas" panose="020B0609020204030204" pitchFamily="49" charset="0"/>
              </a:rPr>
              <a:t>    RUN apt-get update &amp;&amp; apt-get install –y </a:t>
            </a:r>
            <a:r>
              <a:rPr lang="en-US" sz="1600" dirty="0" err="1">
                <a:solidFill>
                  <a:srgbClr val="0070C0"/>
                </a:solidFill>
                <a:latin typeface="Consolas" panose="020B0609020204030204" pitchFamily="49" charset="0"/>
                <a:cs typeface="Consolas" panose="020B0609020204030204" pitchFamily="49" charset="0"/>
              </a:rPr>
              <a:t>gunicorn</a:t>
            </a:r>
            <a:endParaRPr lang="en-US" sz="1600" dirty="0">
              <a:solidFill>
                <a:srgbClr val="0070C0"/>
              </a:solidFill>
              <a:latin typeface="Consolas" panose="020B0609020204030204" pitchFamily="49" charset="0"/>
              <a:cs typeface="Consolas" panose="020B0609020204030204" pitchFamily="49" charset="0"/>
            </a:endParaRPr>
          </a:p>
          <a:p>
            <a:r>
              <a:rPr lang="en-US" sz="1600" dirty="0">
                <a:solidFill>
                  <a:srgbClr val="0070C0"/>
                </a:solidFill>
                <a:latin typeface="Consolas" panose="020B0609020204030204" pitchFamily="49" charset="0"/>
                <a:cs typeface="Consolas" panose="020B0609020204030204" pitchFamily="49" charset="0"/>
              </a:rPr>
              <a:t>    COPY ...</a:t>
            </a:r>
          </a:p>
          <a:p>
            <a:r>
              <a:rPr lang="en-US" sz="1600" dirty="0">
                <a:solidFill>
                  <a:srgbClr val="0070C0"/>
                </a:solidFill>
                <a:latin typeface="Consolas" panose="020B0609020204030204" pitchFamily="49" charset="0"/>
                <a:cs typeface="Consolas" panose="020B0609020204030204" pitchFamily="49" charset="0"/>
              </a:rPr>
              <a:t>    ...</a:t>
            </a:r>
          </a:p>
          <a:p>
            <a:r>
              <a:rPr lang="en-US" sz="1600" dirty="0">
                <a:solidFill>
                  <a:srgbClr val="0070C0"/>
                </a:solidFill>
                <a:latin typeface="Consolas" panose="020B0609020204030204" pitchFamily="49" charset="0"/>
                <a:cs typeface="Consolas" panose="020B0609020204030204" pitchFamily="49" charset="0"/>
              </a:rPr>
              <a:t>    CMD  ... </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Yet another approach is to use ”Docker Compose” to use multiple containers together:  </a:t>
            </a:r>
            <a:r>
              <a:rPr lang="en-US" sz="1600" dirty="0">
                <a:hlinkClick r:id="rId3"/>
              </a:rPr>
              <a:t>https://docs.docker.com/compose/</a:t>
            </a:r>
            <a:endParaRPr lang="en-US"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193226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8DC17-2048-FC44-9EA9-C11EF7500ACF}"/>
              </a:ext>
            </a:extLst>
          </p:cNvPr>
          <p:cNvSpPr txBox="1"/>
          <p:nvPr/>
        </p:nvSpPr>
        <p:spPr>
          <a:xfrm>
            <a:off x="0" y="0"/>
            <a:ext cx="6499274" cy="646331"/>
          </a:xfrm>
          <a:prstGeom prst="rect">
            <a:avLst/>
          </a:prstGeom>
          <a:noFill/>
        </p:spPr>
        <p:txBody>
          <a:bodyPr wrap="square" rtlCol="0">
            <a:spAutoFit/>
          </a:bodyPr>
          <a:lstStyle/>
          <a:p>
            <a:r>
              <a:rPr lang="en-US" sz="3600" b="1" dirty="0"/>
              <a:t>Docker container – tutorial – 8</a:t>
            </a:r>
          </a:p>
        </p:txBody>
      </p:sp>
      <p:sp>
        <p:nvSpPr>
          <p:cNvPr id="5" name="TextBox 4">
            <a:extLst>
              <a:ext uri="{FF2B5EF4-FFF2-40B4-BE49-F238E27FC236}">
                <a16:creationId xmlns:a16="http://schemas.microsoft.com/office/drawing/2014/main" id="{F7F4015F-E131-E048-86B4-4F8BDDE75829}"/>
              </a:ext>
            </a:extLst>
          </p:cNvPr>
          <p:cNvSpPr txBox="1"/>
          <p:nvPr/>
        </p:nvSpPr>
        <p:spPr>
          <a:xfrm>
            <a:off x="0" y="646331"/>
            <a:ext cx="12192000" cy="5509200"/>
          </a:xfrm>
          <a:prstGeom prst="rect">
            <a:avLst/>
          </a:prstGeom>
          <a:noFill/>
        </p:spPr>
        <p:txBody>
          <a:bodyPr wrap="square" rtlCol="0">
            <a:spAutoFit/>
          </a:bodyPr>
          <a:lstStyle/>
          <a:p>
            <a:r>
              <a:rPr lang="en-US" sz="1600" dirty="0">
                <a:latin typeface="Consolas" panose="020B0609020204030204" pitchFamily="49" charset="0"/>
                <a:cs typeface="Consolas" panose="020B0609020204030204" pitchFamily="49" charset="0"/>
              </a:rPr>
              <a:t>Using </a:t>
            </a:r>
            <a:r>
              <a:rPr lang="en-US" sz="1600" dirty="0" err="1">
                <a:latin typeface="Consolas" panose="020B0609020204030204" pitchFamily="49" charset="0"/>
                <a:cs typeface="Consolas" panose="020B0609020204030204" pitchFamily="49" charset="0"/>
              </a:rPr>
              <a:t>ssh</a:t>
            </a:r>
            <a:r>
              <a:rPr lang="en-US" sz="1600" dirty="0">
                <a:latin typeface="Consolas" panose="020B0609020204030204" pitchFamily="49" charset="0"/>
                <a:cs typeface="Consolas" panose="020B0609020204030204" pitchFamily="49" charset="0"/>
              </a:rPr>
              <a:t> inside container: </a:t>
            </a:r>
            <a:r>
              <a:rPr lang="en-US" sz="1600" dirty="0">
                <a:hlinkClick r:id="rId2"/>
              </a:rPr>
              <a:t>https://stackoverflow.com/questions/18136389/using-ssh-keys-inside-docker-container</a:t>
            </a:r>
            <a:r>
              <a:rPr lang="en-US" sz="1600" dirty="0"/>
              <a:t> </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Build Context – files and directories which docker can copy into image during the build process. </a:t>
            </a:r>
          </a:p>
          <a:p>
            <a:r>
              <a:rPr lang="en-US" sz="1600" dirty="0">
                <a:latin typeface="Consolas" panose="020B0609020204030204" pitchFamily="49" charset="0"/>
                <a:cs typeface="Consolas" panose="020B0609020204030204" pitchFamily="49" charset="0"/>
              </a:rPr>
              <a:t>Build context is not required for for running the image.</a:t>
            </a:r>
          </a:p>
          <a:p>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A Docker image consists of read-only layers each of which represents a </a:t>
            </a:r>
            <a:r>
              <a:rPr lang="en-US" sz="1600" dirty="0" err="1">
                <a:latin typeface="Consolas" panose="020B0609020204030204" pitchFamily="49" charset="0"/>
                <a:cs typeface="Consolas" panose="020B0609020204030204" pitchFamily="49" charset="0"/>
              </a:rPr>
              <a:t>Dockerfile</a:t>
            </a:r>
            <a:r>
              <a:rPr lang="en-US" sz="1600" dirty="0">
                <a:latin typeface="Consolas" panose="020B0609020204030204" pitchFamily="49" charset="0"/>
                <a:cs typeface="Consolas" panose="020B0609020204030204" pitchFamily="49" charset="0"/>
              </a:rPr>
              <a:t> instruction.</a:t>
            </a:r>
          </a:p>
          <a:p>
            <a:r>
              <a:rPr lang="en-US" sz="1600" dirty="0">
                <a:latin typeface="Consolas" panose="020B0609020204030204" pitchFamily="49" charset="0"/>
                <a:cs typeface="Consolas" panose="020B0609020204030204" pitchFamily="49" charset="0"/>
              </a:rPr>
              <a:t>The layers are stacked, and each one is a delta of the changes from the previous layer.</a:t>
            </a:r>
          </a:p>
          <a:p>
            <a:r>
              <a:rPr lang="en-US" sz="1600" dirty="0">
                <a:solidFill>
                  <a:srgbClr val="0070C0"/>
                </a:solidFill>
                <a:latin typeface="Consolas" panose="020B0609020204030204" pitchFamily="49" charset="0"/>
                <a:cs typeface="Consolas" panose="020B0609020204030204" pitchFamily="49" charset="0"/>
              </a:rPr>
              <a:t>    FROM ubuntu:18.04        # creates a layer from the ubuntu:18.04 Docker image.</a:t>
            </a:r>
          </a:p>
          <a:p>
            <a:r>
              <a:rPr lang="en-US" sz="1600" dirty="0">
                <a:solidFill>
                  <a:srgbClr val="0070C0"/>
                </a:solidFill>
                <a:latin typeface="Consolas" panose="020B0609020204030204" pitchFamily="49" charset="0"/>
                <a:cs typeface="Consolas" panose="020B0609020204030204" pitchFamily="49" charset="0"/>
              </a:rPr>
              <a:t>    COPY . /app              # adds files from your Docker client’s current directory.</a:t>
            </a:r>
          </a:p>
          <a:p>
            <a:r>
              <a:rPr lang="en-US" sz="1600" dirty="0">
                <a:solidFill>
                  <a:srgbClr val="0070C0"/>
                </a:solidFill>
                <a:latin typeface="Consolas" panose="020B0609020204030204" pitchFamily="49" charset="0"/>
                <a:cs typeface="Consolas" panose="020B0609020204030204" pitchFamily="49" charset="0"/>
              </a:rPr>
              <a:t>    RUN make /app            # builds your application with make.</a:t>
            </a:r>
          </a:p>
          <a:p>
            <a:r>
              <a:rPr lang="en-US" sz="1600" dirty="0">
                <a:solidFill>
                  <a:srgbClr val="0070C0"/>
                </a:solidFill>
                <a:latin typeface="Consolas" panose="020B0609020204030204" pitchFamily="49" charset="0"/>
                <a:cs typeface="Consolas" panose="020B0609020204030204" pitchFamily="49" charset="0"/>
              </a:rPr>
              <a:t>    CMD python /app/</a:t>
            </a:r>
            <a:r>
              <a:rPr lang="en-US" sz="1600" dirty="0" err="1">
                <a:solidFill>
                  <a:srgbClr val="0070C0"/>
                </a:solidFill>
                <a:latin typeface="Consolas" panose="020B0609020204030204" pitchFamily="49" charset="0"/>
                <a:cs typeface="Consolas" panose="020B0609020204030204" pitchFamily="49" charset="0"/>
              </a:rPr>
              <a:t>app.py</a:t>
            </a:r>
            <a:r>
              <a:rPr lang="en-US" sz="1600" dirty="0">
                <a:solidFill>
                  <a:srgbClr val="0070C0"/>
                </a:solidFill>
                <a:latin typeface="Consolas" panose="020B0609020204030204" pitchFamily="49" charset="0"/>
                <a:cs typeface="Consolas" panose="020B0609020204030204" pitchFamily="49" charset="0"/>
              </a:rPr>
              <a:t>   # specifies what command to run within the container.</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a:t>
            </a:r>
          </a:p>
          <a:p>
            <a:r>
              <a:rPr lang="en-US" sz="1600" dirty="0">
                <a:solidFill>
                  <a:srgbClr val="00B050"/>
                </a:solidFill>
                <a:latin typeface="Consolas" panose="020B0609020204030204" pitchFamily="49" charset="0"/>
                <a:cs typeface="Consolas" panose="020B0609020204030204" pitchFamily="49" charset="0"/>
              </a:rPr>
              <a:t># setting environment </a:t>
            </a:r>
            <a:r>
              <a:rPr lang="en-US" sz="1600" dirty="0" err="1">
                <a:solidFill>
                  <a:srgbClr val="00B050"/>
                </a:solidFill>
                <a:latin typeface="Consolas" panose="020B0609020204030204" pitchFamily="49" charset="0"/>
                <a:cs typeface="Consolas" panose="020B0609020204030204" pitchFamily="49" charset="0"/>
              </a:rPr>
              <a:t>usint</a:t>
            </a:r>
            <a:r>
              <a:rPr lang="en-US" sz="1600" dirty="0">
                <a:solidFill>
                  <a:srgbClr val="00B050"/>
                </a:solidFill>
                <a:latin typeface="Consolas" panose="020B0609020204030204" pitchFamily="49" charset="0"/>
                <a:cs typeface="Consolas" panose="020B0609020204030204" pitchFamily="49" charset="0"/>
              </a:rPr>
              <a:t> “ENV” command</a:t>
            </a:r>
          </a:p>
          <a:p>
            <a:r>
              <a:rPr lang="en-US" sz="1600" dirty="0">
                <a:solidFill>
                  <a:srgbClr val="0070C0"/>
                </a:solidFill>
                <a:latin typeface="Consolas" panose="020B0609020204030204" pitchFamily="49" charset="0"/>
                <a:cs typeface="Consolas" panose="020B0609020204030204" pitchFamily="49" charset="0"/>
              </a:rPr>
              <a:t>    ENV PATH /</a:t>
            </a:r>
            <a:r>
              <a:rPr lang="en-US" sz="1600" dirty="0" err="1">
                <a:solidFill>
                  <a:srgbClr val="0070C0"/>
                </a:solidFill>
                <a:latin typeface="Consolas" panose="020B0609020204030204" pitchFamily="49" charset="0"/>
                <a:cs typeface="Consolas" panose="020B0609020204030204" pitchFamily="49" charset="0"/>
              </a:rPr>
              <a:t>usr</a:t>
            </a:r>
            <a:r>
              <a:rPr lang="en-US" sz="1600" dirty="0">
                <a:solidFill>
                  <a:srgbClr val="0070C0"/>
                </a:solidFill>
                <a:latin typeface="Consolas" panose="020B0609020204030204" pitchFamily="49" charset="0"/>
                <a:cs typeface="Consolas" panose="020B0609020204030204" pitchFamily="49" charset="0"/>
              </a:rPr>
              <a:t>/local/</a:t>
            </a:r>
            <a:r>
              <a:rPr lang="en-US" sz="1600" dirty="0" err="1">
                <a:solidFill>
                  <a:srgbClr val="0070C0"/>
                </a:solidFill>
                <a:latin typeface="Consolas" panose="020B0609020204030204" pitchFamily="49" charset="0"/>
                <a:cs typeface="Consolas" panose="020B0609020204030204" pitchFamily="49" charset="0"/>
              </a:rPr>
              <a:t>nginx</a:t>
            </a:r>
            <a:r>
              <a:rPr lang="en-US" sz="1600" dirty="0">
                <a:solidFill>
                  <a:srgbClr val="0070C0"/>
                </a:solidFill>
                <a:latin typeface="Consolas" panose="020B0609020204030204" pitchFamily="49" charset="0"/>
                <a:cs typeface="Consolas" panose="020B0609020204030204" pitchFamily="49" charset="0"/>
              </a:rPr>
              <a:t>/bin:$PATH</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Each next layer inherits from previous layers – unless you unset (in the same layer):</a:t>
            </a:r>
          </a:p>
          <a:p>
            <a:endParaRPr lang="en-US" sz="1600" dirty="0">
              <a:latin typeface="Consolas" panose="020B0609020204030204" pitchFamily="49" charset="0"/>
              <a:cs typeface="Consolas" panose="020B0609020204030204" pitchFamily="49" charset="0"/>
            </a:endParaRPr>
          </a:p>
          <a:p>
            <a:r>
              <a:rPr lang="en-US" sz="1600" dirty="0">
                <a:solidFill>
                  <a:srgbClr val="0070C0"/>
                </a:solidFill>
                <a:latin typeface="Consolas" panose="020B0609020204030204" pitchFamily="49" charset="0"/>
                <a:cs typeface="Consolas" panose="020B0609020204030204" pitchFamily="49" charset="0"/>
              </a:rPr>
              <a:t>    FROM alpine</a:t>
            </a:r>
          </a:p>
          <a:p>
            <a:r>
              <a:rPr lang="en-US" sz="1600" dirty="0">
                <a:solidFill>
                  <a:srgbClr val="0070C0"/>
                </a:solidFill>
                <a:latin typeface="Consolas" panose="020B0609020204030204" pitchFamily="49" charset="0"/>
                <a:cs typeface="Consolas" panose="020B0609020204030204" pitchFamily="49" charset="0"/>
              </a:rPr>
              <a:t>    RUN export ADMIN_USER="mark" &amp;&amp; echo $ADMIN_USER &gt; ./mark &amp;&amp; unset ADMIN_USER</a:t>
            </a:r>
          </a:p>
          <a:p>
            <a:r>
              <a:rPr lang="en-US" sz="1600" dirty="0">
                <a:solidFill>
                  <a:srgbClr val="0070C0"/>
                </a:solidFill>
                <a:latin typeface="Consolas" panose="020B0609020204030204" pitchFamily="49" charset="0"/>
                <a:cs typeface="Consolas" panose="020B0609020204030204" pitchFamily="49" charset="0"/>
              </a:rPr>
              <a:t>    CMD </a:t>
            </a:r>
            <a:r>
              <a:rPr lang="en-US" sz="1600" dirty="0" err="1">
                <a:solidFill>
                  <a:srgbClr val="0070C0"/>
                </a:solidFill>
                <a:latin typeface="Consolas" panose="020B0609020204030204" pitchFamily="49" charset="0"/>
                <a:cs typeface="Consolas" panose="020B0609020204030204" pitchFamily="49" charset="0"/>
              </a:rPr>
              <a:t>sh</a:t>
            </a:r>
            <a:endParaRPr lang="en-US" sz="1600" dirty="0">
              <a:solidFill>
                <a:srgbClr val="0070C0"/>
              </a:solidFill>
              <a:latin typeface="Consolas" panose="020B0609020204030204" pitchFamily="49" charset="0"/>
              <a:cs typeface="Consolas" panose="020B0609020204030204" pitchFamily="49" charset="0"/>
            </a:endParaRP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docker run --</a:t>
            </a:r>
            <a:r>
              <a:rPr lang="en-US" sz="1600" dirty="0" err="1">
                <a:latin typeface="Consolas" panose="020B0609020204030204" pitchFamily="49" charset="0"/>
                <a:cs typeface="Consolas" panose="020B0609020204030204" pitchFamily="49" charset="0"/>
              </a:rPr>
              <a:t>rm</a:t>
            </a:r>
            <a:r>
              <a:rPr lang="en-US" sz="1600" dirty="0">
                <a:latin typeface="Consolas" panose="020B0609020204030204" pitchFamily="49" charset="0"/>
                <a:cs typeface="Consolas" panose="020B0609020204030204" pitchFamily="49" charset="0"/>
              </a:rPr>
              <a:t> test </a:t>
            </a:r>
            <a:r>
              <a:rPr lang="en-US" sz="1600" dirty="0" err="1">
                <a:latin typeface="Consolas" panose="020B0609020204030204" pitchFamily="49" charset="0"/>
                <a:cs typeface="Consolas" panose="020B0609020204030204" pitchFamily="49" charset="0"/>
              </a:rPr>
              <a:t>sh</a:t>
            </a:r>
            <a:r>
              <a:rPr lang="en-US" sz="1600" dirty="0">
                <a:latin typeface="Consolas" panose="020B0609020204030204" pitchFamily="49" charset="0"/>
                <a:cs typeface="Consolas" panose="020B0609020204030204" pitchFamily="49" charset="0"/>
              </a:rPr>
              <a:t> -c 'echo $ADMIN_USER'</a:t>
            </a:r>
          </a:p>
        </p:txBody>
      </p:sp>
    </p:spTree>
    <p:extLst>
      <p:ext uri="{BB962C8B-B14F-4D97-AF65-F5344CB8AC3E}">
        <p14:creationId xmlns:p14="http://schemas.microsoft.com/office/powerpoint/2010/main" val="294781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8DC17-2048-FC44-9EA9-C11EF7500ACF}"/>
              </a:ext>
            </a:extLst>
          </p:cNvPr>
          <p:cNvSpPr txBox="1"/>
          <p:nvPr/>
        </p:nvSpPr>
        <p:spPr>
          <a:xfrm>
            <a:off x="0" y="0"/>
            <a:ext cx="6499274" cy="646331"/>
          </a:xfrm>
          <a:prstGeom prst="rect">
            <a:avLst/>
          </a:prstGeom>
          <a:noFill/>
        </p:spPr>
        <p:txBody>
          <a:bodyPr wrap="square" rtlCol="0">
            <a:spAutoFit/>
          </a:bodyPr>
          <a:lstStyle/>
          <a:p>
            <a:r>
              <a:rPr lang="en-US" sz="3600" b="1" dirty="0"/>
              <a:t>Docker container – tutorial – 9</a:t>
            </a:r>
          </a:p>
        </p:txBody>
      </p:sp>
      <p:sp>
        <p:nvSpPr>
          <p:cNvPr id="5" name="TextBox 4">
            <a:extLst>
              <a:ext uri="{FF2B5EF4-FFF2-40B4-BE49-F238E27FC236}">
                <a16:creationId xmlns:a16="http://schemas.microsoft.com/office/drawing/2014/main" id="{F7F4015F-E131-E048-86B4-4F8BDDE75829}"/>
              </a:ext>
            </a:extLst>
          </p:cNvPr>
          <p:cNvSpPr txBox="1"/>
          <p:nvPr/>
        </p:nvSpPr>
        <p:spPr>
          <a:xfrm>
            <a:off x="0" y="646331"/>
            <a:ext cx="11529391" cy="6001643"/>
          </a:xfrm>
          <a:prstGeom prst="rect">
            <a:avLst/>
          </a:prstGeom>
          <a:noFill/>
        </p:spPr>
        <p:txBody>
          <a:bodyPr wrap="square" rtlCol="0">
            <a:spAutoFit/>
          </a:bodyPr>
          <a:lstStyle/>
          <a:p>
            <a:r>
              <a:rPr lang="en-US" sz="1600" dirty="0">
                <a:latin typeface="Consolas" panose="020B0609020204030204" pitchFamily="49" charset="0"/>
                <a:cs typeface="Consolas" panose="020B0609020204030204" pitchFamily="49" charset="0"/>
              </a:rPr>
              <a:t>How can Docker supply each container with a hostname and DNS configuration, </a:t>
            </a:r>
          </a:p>
          <a:p>
            <a:r>
              <a:rPr lang="en-US" sz="1600" dirty="0">
                <a:latin typeface="Consolas" panose="020B0609020204030204" pitchFamily="49" charset="0"/>
                <a:cs typeface="Consolas" panose="020B0609020204030204" pitchFamily="49" charset="0"/>
              </a:rPr>
              <a:t>without having to build a custom image with the hostname written inside?</a:t>
            </a:r>
          </a:p>
          <a:p>
            <a:r>
              <a:rPr lang="en-US" sz="1600" dirty="0">
                <a:latin typeface="Consolas" panose="020B0609020204030204" pitchFamily="49" charset="0"/>
                <a:cs typeface="Consolas" panose="020B0609020204030204" pitchFamily="49" charset="0"/>
              </a:rPr>
              <a:t> - </a:t>
            </a:r>
            <a:r>
              <a:rPr lang="en-US" sz="1600" dirty="0">
                <a:hlinkClick r:id="rId2"/>
              </a:rPr>
              <a:t>https://docs.docker.com/v17.09/engine/userguide/networking/default_network/configure-dns/</a:t>
            </a:r>
            <a:endParaRPr lang="en-US" sz="1600" dirty="0">
              <a:latin typeface="Consolas" panose="020B0609020204030204" pitchFamily="49" charset="0"/>
              <a:cs typeface="Consolas" panose="020B0609020204030204" pitchFamily="49" charset="0"/>
            </a:endParaRP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How to tell docker which DNS servers to use:</a:t>
            </a:r>
          </a:p>
          <a:p>
            <a:r>
              <a:rPr lang="en-US" sz="1600" dirty="0">
                <a:latin typeface="Consolas" panose="020B0609020204030204" pitchFamily="49" charset="0"/>
                <a:cs typeface="Consolas" panose="020B0609020204030204" pitchFamily="49" charset="0"/>
              </a:rPr>
              <a:t> - </a:t>
            </a:r>
            <a:r>
              <a:rPr lang="en-US" sz="1600" dirty="0">
                <a:hlinkClick r:id="rId3"/>
              </a:rPr>
              <a:t>https://l-lin.github.io/post/2018/2018-09-03-docker_ubuntu_18_dns/</a:t>
            </a:r>
            <a:endParaRPr lang="en-US" sz="1600" dirty="0">
              <a:latin typeface="Consolas" panose="020B0609020204030204" pitchFamily="49" charset="0"/>
              <a:cs typeface="Consolas" panose="020B0609020204030204" pitchFamily="49" charset="0"/>
            </a:endParaRP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How to tell docker about external host (to make it visible inside docker):</a:t>
            </a:r>
          </a:p>
          <a:p>
            <a:r>
              <a:rPr lang="en-US" sz="1600" dirty="0">
                <a:latin typeface="Consolas" panose="020B0609020204030204" pitchFamily="49" charset="0"/>
                <a:cs typeface="Consolas" panose="020B0609020204030204" pitchFamily="49" charset="0"/>
              </a:rPr>
              <a:t> - </a:t>
            </a:r>
            <a:r>
              <a:rPr lang="en-US" sz="1600" dirty="0">
                <a:hlinkClick r:id="rId4"/>
              </a:rPr>
              <a:t>https://blog.codeship.com/using-the-add-host-flag-for-dns-mapping-within-docker-containers/ </a:t>
            </a:r>
            <a:endParaRPr lang="en-US" sz="1600" dirty="0"/>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Creating/using </a:t>
            </a:r>
            <a:r>
              <a:rPr lang="en-US" sz="1600" dirty="0" err="1">
                <a:latin typeface="Consolas" panose="020B0609020204030204" pitchFamily="49" charset="0"/>
                <a:cs typeface="Consolas" panose="020B0609020204030204" pitchFamily="49" charset="0"/>
              </a:rPr>
              <a:t>nginx</a:t>
            </a:r>
            <a:r>
              <a:rPr lang="en-US" sz="1600" dirty="0">
                <a:latin typeface="Consolas" panose="020B0609020204030204" pitchFamily="49" charset="0"/>
                <a:cs typeface="Consolas" panose="020B0609020204030204" pitchFamily="49" charset="0"/>
              </a:rPr>
              <a:t> docker (also how to configure)</a:t>
            </a:r>
          </a:p>
          <a:p>
            <a:r>
              <a:rPr lang="en-US" sz="1600" dirty="0">
                <a:latin typeface="Consolas" panose="020B0609020204030204" pitchFamily="49" charset="0"/>
                <a:cs typeface="Consolas" panose="020B0609020204030204" pitchFamily="49" charset="0"/>
              </a:rPr>
              <a:t> - </a:t>
            </a:r>
            <a:r>
              <a:rPr lang="en-US" sz="1600" dirty="0">
                <a:hlinkClick r:id="rId5"/>
              </a:rPr>
              <a:t>https://docs.nginx.com/nginx/admin-guide/installing-nginx/installing-nginx-docker/ </a:t>
            </a:r>
            <a:endParaRPr lang="en-US" sz="1600" dirty="0"/>
          </a:p>
          <a:p>
            <a:endParaRPr lang="en-US" sz="1600" dirty="0">
              <a:latin typeface="Consolas" panose="020B0609020204030204" pitchFamily="49" charset="0"/>
              <a:cs typeface="Consolas" panose="020B0609020204030204" pitchFamily="49" charset="0"/>
            </a:endParaRP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How do I combine several images into one via </a:t>
            </a:r>
            <a:r>
              <a:rPr lang="en-US" sz="1600" dirty="0" err="1">
                <a:latin typeface="Consolas" panose="020B0609020204030204" pitchFamily="49" charset="0"/>
                <a:cs typeface="Consolas" panose="020B0609020204030204" pitchFamily="49" charset="0"/>
              </a:rPr>
              <a:t>Dockerfile</a:t>
            </a:r>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 </a:t>
            </a:r>
            <a:r>
              <a:rPr lang="en-US" sz="1600" dirty="0">
                <a:hlinkClick r:id="rId6"/>
              </a:rPr>
              <a:t>https://github.com/moby/moby/issues/3378</a:t>
            </a:r>
            <a:endParaRPr lang="en-US" sz="1600" dirty="0">
              <a:latin typeface="Consolas" panose="020B0609020204030204" pitchFamily="49" charset="0"/>
              <a:cs typeface="Consolas" panose="020B0609020204030204" pitchFamily="49" charset="0"/>
            </a:endParaRP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Multiple FROMs - what it means</a:t>
            </a:r>
          </a:p>
          <a:p>
            <a:r>
              <a:rPr lang="en-US" sz="1600" dirty="0">
                <a:cs typeface="Consolas" panose="020B0609020204030204" pitchFamily="49" charset="0"/>
              </a:rPr>
              <a:t> - </a:t>
            </a:r>
            <a:r>
              <a:rPr lang="en-US" sz="1600" dirty="0">
                <a:cs typeface="Consolas" panose="020B0609020204030204" pitchFamily="49" charset="0"/>
                <a:hlinkClick r:id="rId7"/>
              </a:rPr>
              <a:t>https://</a:t>
            </a:r>
            <a:r>
              <a:rPr lang="en-US" sz="1600" dirty="0" err="1">
                <a:cs typeface="Consolas" panose="020B0609020204030204" pitchFamily="49" charset="0"/>
                <a:hlinkClick r:id="rId7"/>
              </a:rPr>
              <a:t>stackoverflow.com</a:t>
            </a:r>
            <a:r>
              <a:rPr lang="en-US" sz="1600" dirty="0">
                <a:cs typeface="Consolas" panose="020B0609020204030204" pitchFamily="49" charset="0"/>
                <a:hlinkClick r:id="rId7"/>
              </a:rPr>
              <a:t>/questions/33322103/multiple-</a:t>
            </a:r>
            <a:r>
              <a:rPr lang="en-US" sz="1600" dirty="0" err="1">
                <a:cs typeface="Consolas" panose="020B0609020204030204" pitchFamily="49" charset="0"/>
                <a:hlinkClick r:id="rId7"/>
              </a:rPr>
              <a:t>froms</a:t>
            </a:r>
            <a:r>
              <a:rPr lang="en-US" sz="1600" dirty="0">
                <a:cs typeface="Consolas" panose="020B0609020204030204" pitchFamily="49" charset="0"/>
                <a:hlinkClick r:id="rId7"/>
              </a:rPr>
              <a:t>-what-it-means</a:t>
            </a:r>
            <a:endParaRPr lang="en-US" sz="1600" dirty="0">
              <a:cs typeface="Consolas" panose="020B0609020204030204" pitchFamily="49" charset="0"/>
            </a:endParaRPr>
          </a:p>
          <a:p>
            <a:r>
              <a:rPr lang="en-US" sz="1600" dirty="0">
                <a:cs typeface="Consolas" panose="020B0609020204030204" pitchFamily="49" charset="0"/>
              </a:rPr>
              <a:t> - </a:t>
            </a:r>
            <a:r>
              <a:rPr lang="en-US" sz="1600" dirty="0">
                <a:cs typeface="Consolas" panose="020B0609020204030204" pitchFamily="49" charset="0"/>
                <a:hlinkClick r:id="rId8"/>
              </a:rPr>
              <a:t>https://</a:t>
            </a:r>
            <a:r>
              <a:rPr lang="en-US" sz="1600" dirty="0" err="1">
                <a:cs typeface="Consolas" panose="020B0609020204030204" pitchFamily="49" charset="0"/>
                <a:hlinkClick r:id="rId8"/>
              </a:rPr>
              <a:t>dev.to</a:t>
            </a:r>
            <a:r>
              <a:rPr lang="en-US" sz="1600" dirty="0">
                <a:cs typeface="Consolas" panose="020B0609020204030204" pitchFamily="49" charset="0"/>
                <a:hlinkClick r:id="rId8"/>
              </a:rPr>
              <a:t>/</a:t>
            </a:r>
            <a:r>
              <a:rPr lang="en-US" sz="1600" dirty="0" err="1">
                <a:cs typeface="Consolas" panose="020B0609020204030204" pitchFamily="49" charset="0"/>
                <a:hlinkClick r:id="rId8"/>
              </a:rPr>
              <a:t>brpaz</a:t>
            </a:r>
            <a:r>
              <a:rPr lang="en-US" sz="1600" dirty="0">
                <a:cs typeface="Consolas" panose="020B0609020204030204" pitchFamily="49" charset="0"/>
                <a:hlinkClick r:id="rId8"/>
              </a:rPr>
              <a:t>/using-docker-multi-stage-builds-during-development-35bc</a:t>
            </a:r>
            <a:endParaRPr lang="en-US" sz="1600" dirty="0">
              <a:cs typeface="Consolas" panose="020B0609020204030204" pitchFamily="49" charset="0"/>
            </a:endParaRPr>
          </a:p>
          <a:p>
            <a:r>
              <a:rPr lang="en-US" sz="1600" dirty="0">
                <a:cs typeface="Consolas" panose="020B0609020204030204" pitchFamily="49" charset="0"/>
              </a:rPr>
              <a:t> - </a:t>
            </a:r>
            <a:r>
              <a:rPr lang="en-US" sz="1600" dirty="0">
                <a:cs typeface="Consolas" panose="020B0609020204030204" pitchFamily="49" charset="0"/>
                <a:hlinkClick r:id="rId9"/>
              </a:rPr>
              <a:t>https://</a:t>
            </a:r>
            <a:r>
              <a:rPr lang="en-US" sz="1600" dirty="0" err="1">
                <a:cs typeface="Consolas" panose="020B0609020204030204" pitchFamily="49" charset="0"/>
                <a:hlinkClick r:id="rId9"/>
              </a:rPr>
              <a:t>medium.com</a:t>
            </a:r>
            <a:r>
              <a:rPr lang="en-US" sz="1600" dirty="0">
                <a:cs typeface="Consolas" panose="020B0609020204030204" pitchFamily="49" charset="0"/>
                <a:hlinkClick r:id="rId9"/>
              </a:rPr>
              <a:t>/@</a:t>
            </a:r>
            <a:r>
              <a:rPr lang="en-US" sz="1600" dirty="0" err="1">
                <a:cs typeface="Consolas" panose="020B0609020204030204" pitchFamily="49" charset="0"/>
                <a:hlinkClick r:id="rId9"/>
              </a:rPr>
              <a:t>tonistiigi</a:t>
            </a:r>
            <a:r>
              <a:rPr lang="en-US" sz="1600" dirty="0">
                <a:cs typeface="Consolas" panose="020B0609020204030204" pitchFamily="49" charset="0"/>
                <a:hlinkClick r:id="rId9"/>
              </a:rPr>
              <a:t>/advanced-multi-stage-build-patterns-6f741b852fae</a:t>
            </a:r>
            <a:endParaRPr lang="en-US" sz="1600" dirty="0">
              <a:cs typeface="Consolas" panose="020B0609020204030204" pitchFamily="49" charset="0"/>
            </a:endParaRP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Brief history of containers:</a:t>
            </a:r>
          </a:p>
          <a:p>
            <a:r>
              <a:rPr lang="en-US" sz="1600" dirty="0">
                <a:cs typeface="Consolas" panose="020B0609020204030204" pitchFamily="49" charset="0"/>
              </a:rPr>
              <a:t> - </a:t>
            </a:r>
            <a:r>
              <a:rPr lang="en-US" sz="1600" dirty="0">
                <a:hlinkClick r:id="rId10"/>
              </a:rPr>
              <a:t>https://blog.aquasec.com/a-brief-history-of-containers-from-1970s-chroot-to-docker-2016</a:t>
            </a:r>
            <a:r>
              <a:rPr lang="en-US" sz="1600" dirty="0"/>
              <a:t>  </a:t>
            </a:r>
            <a:endParaRPr lang="en-US"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497442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11FE0FF-ADC0-654C-9A5C-4676F7E2BFFE}"/>
              </a:ext>
            </a:extLst>
          </p:cNvPr>
          <p:cNvSpPr txBox="1"/>
          <p:nvPr/>
        </p:nvSpPr>
        <p:spPr>
          <a:xfrm>
            <a:off x="0" y="0"/>
            <a:ext cx="6499274" cy="646331"/>
          </a:xfrm>
          <a:prstGeom prst="rect">
            <a:avLst/>
          </a:prstGeom>
          <a:noFill/>
        </p:spPr>
        <p:txBody>
          <a:bodyPr wrap="square" rtlCol="0">
            <a:spAutoFit/>
          </a:bodyPr>
          <a:lstStyle/>
          <a:p>
            <a:r>
              <a:rPr lang="en-US" sz="3600" b="1" dirty="0"/>
              <a:t>Docker container – tutorial – 10</a:t>
            </a:r>
          </a:p>
        </p:txBody>
      </p:sp>
      <p:sp>
        <p:nvSpPr>
          <p:cNvPr id="5" name="TextBox 4">
            <a:extLst>
              <a:ext uri="{FF2B5EF4-FFF2-40B4-BE49-F238E27FC236}">
                <a16:creationId xmlns:a16="http://schemas.microsoft.com/office/drawing/2014/main" id="{B2236A7A-7900-9F4E-A64B-BEBEFA109EF4}"/>
              </a:ext>
            </a:extLst>
          </p:cNvPr>
          <p:cNvSpPr txBox="1"/>
          <p:nvPr/>
        </p:nvSpPr>
        <p:spPr>
          <a:xfrm>
            <a:off x="0" y="646331"/>
            <a:ext cx="10986052" cy="2308324"/>
          </a:xfrm>
          <a:prstGeom prst="rect">
            <a:avLst/>
          </a:prstGeom>
          <a:noFill/>
        </p:spPr>
        <p:txBody>
          <a:bodyPr wrap="square" rtlCol="0">
            <a:spAutoFit/>
          </a:bodyPr>
          <a:lstStyle/>
          <a:p>
            <a:r>
              <a:rPr lang="en-US" sz="1600" dirty="0">
                <a:latin typeface="Consolas" panose="020B0609020204030204" pitchFamily="49" charset="0"/>
                <a:cs typeface="Consolas" panose="020B0609020204030204" pitchFamily="49" charset="0"/>
              </a:rPr>
              <a:t>How to schedule jobs defined in containers</a:t>
            </a:r>
          </a:p>
          <a:p>
            <a:r>
              <a:rPr lang="en-US" sz="1600" dirty="0">
                <a:latin typeface="Consolas" panose="020B0609020204030204" pitchFamily="49" charset="0"/>
                <a:cs typeface="Consolas" panose="020B0609020204030204" pitchFamily="49" charset="0"/>
              </a:rPr>
              <a:t>Choice of schedulers:</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cron</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systemd</a:t>
            </a:r>
            <a:r>
              <a:rPr lang="en-US" sz="1600" dirty="0">
                <a:latin typeface="Consolas" panose="020B0609020204030204" pitchFamily="49" charset="0"/>
                <a:cs typeface="Consolas" panose="020B0609020204030204" pitchFamily="49" charset="0"/>
              </a:rPr>
              <a:t>, Ofelia, etc.</a:t>
            </a:r>
          </a:p>
          <a:p>
            <a:r>
              <a:rPr lang="en-US" sz="1600" dirty="0">
                <a:latin typeface="Consolas" panose="020B0609020204030204" pitchFamily="49" charset="0"/>
                <a:cs typeface="Consolas" panose="020B0609020204030204" pitchFamily="49" charset="0"/>
              </a:rPr>
              <a:t> - </a:t>
            </a:r>
            <a:r>
              <a:rPr lang="en-US" sz="1600" dirty="0">
                <a:hlinkClick r:id="rId2"/>
              </a:rPr>
              <a:t>https://devops.stackexchange.com/questions/4904/scheduling-a-docker-container-or-installing-scheduler-in-container</a:t>
            </a:r>
            <a:r>
              <a:rPr lang="en-US" sz="1600" dirty="0"/>
              <a:t> </a:t>
            </a:r>
          </a:p>
          <a:p>
            <a:r>
              <a:rPr lang="en-US" sz="1600" dirty="0">
                <a:latin typeface="Consolas" panose="020B0609020204030204" pitchFamily="49" charset="0"/>
                <a:cs typeface="Consolas" panose="020B0609020204030204" pitchFamily="49" charset="0"/>
              </a:rPr>
              <a:t> - </a:t>
            </a:r>
            <a:r>
              <a:rPr lang="en-US" sz="1600" dirty="0">
                <a:hlinkClick r:id="rId3"/>
              </a:rPr>
              <a:t>https://nickjanetakis.com/blog/docker-tip-40-running-cron-jobs-on-the-host-vs-in-a-container</a:t>
            </a:r>
            <a:endParaRPr lang="en-US" sz="1600" dirty="0"/>
          </a:p>
          <a:p>
            <a:r>
              <a:rPr lang="en-US" sz="1600" dirty="0">
                <a:latin typeface="Consolas" panose="020B0609020204030204" pitchFamily="49" charset="0"/>
                <a:cs typeface="Consolas" panose="020B0609020204030204" pitchFamily="49" charset="0"/>
              </a:rPr>
              <a:t> - </a:t>
            </a:r>
            <a:r>
              <a:rPr lang="en-US" sz="1600" dirty="0">
                <a:hlinkClick r:id="rId4"/>
              </a:rPr>
              <a:t>https://www.tddapps.com/2017/02/18/how-to-run-any-container-on-a-schedule/</a:t>
            </a:r>
            <a:endParaRPr lang="en-US" sz="1600" dirty="0"/>
          </a:p>
          <a:p>
            <a:r>
              <a:rPr lang="en-US" sz="1600" dirty="0">
                <a:latin typeface="Consolas" panose="020B0609020204030204" pitchFamily="49" charset="0"/>
                <a:cs typeface="Consolas" panose="020B0609020204030204" pitchFamily="49" charset="0"/>
              </a:rPr>
              <a:t> - </a:t>
            </a:r>
            <a:r>
              <a:rPr lang="en-US" sz="1600" dirty="0">
                <a:hlinkClick r:id="rId5"/>
              </a:rPr>
              <a:t>https://blog.trifork.com/2014/03/11/using-supervisor-with-docker-to-manage-processes-supporting-image-inheritance/</a:t>
            </a:r>
            <a:endParaRPr lang="en-US" sz="1600" dirty="0"/>
          </a:p>
          <a:p>
            <a:r>
              <a:rPr lang="en-US" sz="1600" dirty="0">
                <a:latin typeface="Consolas" panose="020B0609020204030204" pitchFamily="49" charset="0"/>
                <a:cs typeface="Consolas" panose="020B0609020204030204" pitchFamily="49" charset="0"/>
              </a:rPr>
              <a:t> - </a:t>
            </a:r>
            <a:r>
              <a:rPr lang="en-US" sz="1600" dirty="0">
                <a:hlinkClick r:id="rId6"/>
              </a:rPr>
              <a:t>https://coreos.com/os/docs/latest/scheduling-tasks-with-systemd-timers.html</a:t>
            </a:r>
            <a:endParaRPr lang="en-US" sz="1600" dirty="0"/>
          </a:p>
          <a:p>
            <a:r>
              <a:rPr lang="en-US" sz="1600" dirty="0">
                <a:latin typeface="Consolas" panose="020B0609020204030204" pitchFamily="49" charset="0"/>
                <a:cs typeface="Consolas" panose="020B0609020204030204" pitchFamily="49" charset="0"/>
              </a:rPr>
              <a:t> - </a:t>
            </a:r>
            <a:r>
              <a:rPr lang="en-US" sz="1600" dirty="0">
                <a:hlinkClick r:id="rId7"/>
              </a:rPr>
              <a:t>https://github.com/mcuadros/ofelia</a:t>
            </a:r>
            <a:endParaRPr lang="en-US" sz="1600" dirty="0"/>
          </a:p>
        </p:txBody>
      </p:sp>
    </p:spTree>
    <p:extLst>
      <p:ext uri="{BB962C8B-B14F-4D97-AF65-F5344CB8AC3E}">
        <p14:creationId xmlns:p14="http://schemas.microsoft.com/office/powerpoint/2010/main" val="13720342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393</TotalTime>
  <Words>2504</Words>
  <Application>Microsoft Macintosh PowerPoint</Application>
  <PresentationFormat>Widescreen</PresentationFormat>
  <Paragraphs>267</Paragraphs>
  <Slides>14</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Andale Mono</vt:lpstr>
      <vt:lpstr>Arial</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 Selector</dc:creator>
  <cp:lastModifiedBy>Lev Selector</cp:lastModifiedBy>
  <cp:revision>44</cp:revision>
  <dcterms:created xsi:type="dcterms:W3CDTF">2019-09-26T18:12:12Z</dcterms:created>
  <dcterms:modified xsi:type="dcterms:W3CDTF">2021-06-04T01:01:26Z</dcterms:modified>
</cp:coreProperties>
</file>