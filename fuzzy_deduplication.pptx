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/>
    <p:restoredTop sz="92169"/>
  </p:normalViewPr>
  <p:slideViewPr>
    <p:cSldViewPr snapToGrid="0" snapToObjects="1">
      <p:cViewPr varScale="1">
        <p:scale>
          <a:sx n="105" d="100"/>
          <a:sy n="105" d="100"/>
        </p:scale>
        <p:origin x="11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phonetics/" TargetMode="External"/><Relationship Id="rId7" Type="http://schemas.openxmlformats.org/officeDocument/2006/relationships/hyperlink" Target="https://github.com/openvenues/pypostal" TargetMode="External"/><Relationship Id="rId2" Type="http://schemas.openxmlformats.org/officeDocument/2006/relationships/hyperlink" Target="https://pypi.org/project/jellyfish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nlinelibrary.wiley.com/doi/full/10.1111/tgis.12522" TargetMode="External"/><Relationship Id="rId5" Type="http://schemas.openxmlformats.org/officeDocument/2006/relationships/hyperlink" Target="https://www.researchgate.net/publication/338588635_Demonstrating_the_utility_of_machine_learning_innovations_in_address_matching_to_spatial_socio-economic_applications%20%20https:/onlinelibrary.wiley.com/doi/full/10.1111/tgis.12522" TargetMode="External"/><Relationship Id="rId4" Type="http://schemas.openxmlformats.org/officeDocument/2006/relationships/hyperlink" Target="https://recordlinkage.readthedocs.io/en/latest/abou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Fuzzy Deduplication of Records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AD4B69-569A-F246-A34E-1020E0FF5EF7}"/>
              </a:ext>
            </a:extLst>
          </p:cNvPr>
          <p:cNvSpPr txBox="1"/>
          <p:nvPr/>
        </p:nvSpPr>
        <p:spPr>
          <a:xfrm>
            <a:off x="0" y="523220"/>
            <a:ext cx="1061923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Phonetic based algorithms. </a:t>
            </a:r>
          </a:p>
          <a:p>
            <a:r>
              <a:rPr lang="en-US" dirty="0"/>
              <a:t>With the most basic, Soundex algorithm, the string is represented as a four letter word. </a:t>
            </a:r>
          </a:p>
          <a:p>
            <a:r>
              <a:rPr lang="en-US" dirty="0"/>
              <a:t>This is based on a character followed by three numerical digits. </a:t>
            </a:r>
          </a:p>
          <a:p>
            <a:r>
              <a:rPr lang="en-US" dirty="0"/>
              <a:t>In general works quite good.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jellyfish - </a:t>
            </a:r>
            <a:r>
              <a:rPr lang="en-US" dirty="0">
                <a:hlinkClick r:id="rId2"/>
              </a:rPr>
              <a:t>https://pypi.org/project/jellyfish/</a:t>
            </a:r>
            <a:r>
              <a:rPr lang="en-US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pyphonetics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https://pypi.org/project/pyphonetics/</a:t>
            </a:r>
            <a:r>
              <a:rPr lang="en-US" dirty="0"/>
              <a:t> - </a:t>
            </a:r>
          </a:p>
          <a:p>
            <a:endParaRPr lang="en-US" dirty="0"/>
          </a:p>
          <a:p>
            <a:r>
              <a:rPr lang="en-US" dirty="0"/>
              <a:t>Record linkage using string similarities: </a:t>
            </a:r>
          </a:p>
          <a:p>
            <a:r>
              <a:rPr lang="en-US" dirty="0"/>
              <a:t>Python Record Linkage Toolkit - </a:t>
            </a:r>
            <a:r>
              <a:rPr lang="en-US" dirty="0">
                <a:hlinkClick r:id="rId4"/>
              </a:rPr>
              <a:t>https://recordlinkage.readthedocs.io/en/latest/about.html</a:t>
            </a:r>
            <a:r>
              <a:rPr lang="en-US" dirty="0"/>
              <a:t> -  </a:t>
            </a:r>
          </a:p>
          <a:p>
            <a:r>
              <a:rPr lang="en-US" dirty="0"/>
              <a:t>The record linkage procedure is represented as a workflow. </a:t>
            </a:r>
          </a:p>
          <a:p>
            <a:r>
              <a:rPr lang="en-US" dirty="0"/>
              <a:t>The steps are: cleaning, indexing, comparing, classifying and evaluation. </a:t>
            </a:r>
          </a:p>
          <a:p>
            <a:r>
              <a:rPr lang="en-US" dirty="0"/>
              <a:t>If needed, the classified record pairs flow back to improve the previous step.</a:t>
            </a:r>
          </a:p>
          <a:p>
            <a:endParaRPr lang="en-US" dirty="0"/>
          </a:p>
          <a:p>
            <a:r>
              <a:rPr lang="en-US" dirty="0"/>
              <a:t>ML approach:</a:t>
            </a:r>
          </a:p>
          <a:p>
            <a:r>
              <a:rPr lang="en-US" dirty="0"/>
              <a:t>check out the Sam Comber article </a:t>
            </a:r>
          </a:p>
          <a:p>
            <a:r>
              <a:rPr lang="en-US" dirty="0"/>
              <a:t>"Demonstrating the utility of machine learning innovations in address matching" </a:t>
            </a:r>
          </a:p>
          <a:p>
            <a:r>
              <a:rPr lang="en-US" dirty="0"/>
              <a:t>with the approach description and code snippets:</a:t>
            </a:r>
          </a:p>
          <a:p>
            <a:r>
              <a:rPr lang="en-US" sz="1000" dirty="0"/>
              <a:t> - </a:t>
            </a:r>
            <a:r>
              <a:rPr lang="en-US" sz="1000" dirty="0">
                <a:hlinkClick r:id="rId5"/>
              </a:rPr>
              <a:t>https://www.researchgate.net/publication/338588635_Demonstrating_the_utility_of_machine_learning_innovations_in_address_matching_to_spatial_socio-economic_applications</a:t>
            </a:r>
            <a:r>
              <a:rPr lang="en-US" sz="1000" dirty="0"/>
              <a:t> - </a:t>
            </a:r>
          </a:p>
          <a:p>
            <a:r>
              <a:rPr lang="en-US" sz="1000" dirty="0"/>
              <a:t> - </a:t>
            </a:r>
            <a:r>
              <a:rPr lang="en-US" sz="1000" dirty="0">
                <a:hlinkClick r:id="rId6"/>
              </a:rPr>
              <a:t>https://onlinelibrary.wiley.com/doi/full/10.1111/tgis.12522</a:t>
            </a:r>
            <a:r>
              <a:rPr lang="en-US" sz="1000" dirty="0"/>
              <a:t>  - </a:t>
            </a:r>
          </a:p>
          <a:p>
            <a:endParaRPr lang="en-US" dirty="0"/>
          </a:p>
          <a:p>
            <a:r>
              <a:rPr lang="en-US" dirty="0"/>
              <a:t>Address matching.  </a:t>
            </a:r>
          </a:p>
          <a:p>
            <a:r>
              <a:rPr lang="en-US" dirty="0"/>
              <a:t>You can use a statistical segmentation tool called </a:t>
            </a:r>
            <a:r>
              <a:rPr lang="en-US" dirty="0" err="1"/>
              <a:t>Libpostal</a:t>
            </a:r>
            <a:endParaRPr lang="en-US" dirty="0"/>
          </a:p>
          <a:p>
            <a:r>
              <a:rPr lang="en-US" dirty="0"/>
              <a:t> - </a:t>
            </a:r>
            <a:r>
              <a:rPr lang="en-US" dirty="0">
                <a:hlinkClick r:id="rId7"/>
              </a:rPr>
              <a:t>https://github.com/openvenues/pypostal</a:t>
            </a:r>
            <a:r>
              <a:rPr lang="en-US" dirty="0"/>
              <a:t> - </a:t>
            </a:r>
          </a:p>
          <a:p>
            <a:r>
              <a:rPr lang="en-US" dirty="0"/>
              <a:t>which is a Conditional Random Fields (CRFs) model trained on OpenStreetMap addresses. </a:t>
            </a:r>
          </a:p>
          <a:p>
            <a:r>
              <a:rPr lang="en-US" dirty="0"/>
              <a:t>You can extract city, street, house number, etc. out of address </a:t>
            </a:r>
          </a:p>
          <a:p>
            <a:r>
              <a:rPr lang="en-US" dirty="0"/>
              <a:t>and thus avoid street vs str, Saint vs St, different order mismatches. </a:t>
            </a:r>
          </a:p>
        </p:txBody>
      </p:sp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296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277</cp:revision>
  <cp:lastPrinted>2020-09-21T17:22:59Z</cp:lastPrinted>
  <dcterms:modified xsi:type="dcterms:W3CDTF">2021-03-11T15:57:22Z</dcterms:modified>
</cp:coreProperties>
</file>