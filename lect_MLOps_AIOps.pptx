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40" r:id="rId2"/>
    <p:sldId id="334" r:id="rId3"/>
    <p:sldId id="335" r:id="rId4"/>
    <p:sldId id="336" r:id="rId5"/>
    <p:sldId id="337" r:id="rId6"/>
    <p:sldId id="338" r:id="rId7"/>
    <p:sldId id="339" r:id="rId8"/>
    <p:sldId id="341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9"/>
    <p:restoredTop sz="94558"/>
  </p:normalViewPr>
  <p:slideViewPr>
    <p:cSldViewPr snapToGrid="0" snapToObjects="1">
      <p:cViewPr varScale="1">
        <p:scale>
          <a:sx n="121" d="100"/>
          <a:sy n="121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6/3/21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6/3/21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insight.net/delivering-aiops-microsoft-azure-cloud-platform/" TargetMode="External"/><Relationship Id="rId2" Type="http://schemas.openxmlformats.org/officeDocument/2006/relationships/hyperlink" Target="https://www.ibm.com/cloud/learn/aiop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bm.com/cloud/learn/hybrid-cloud" TargetMode="External"/><Relationship Id="rId5" Type="http://schemas.openxmlformats.org/officeDocument/2006/relationships/hyperlink" Target="https://www.moogsoft.com/moogsoft-aiops-in-microsoft-azure/" TargetMode="External"/><Relationship Id="rId4" Type="http://schemas.openxmlformats.org/officeDocument/2006/relationships/hyperlink" Target="https://www.analyticsinsight.net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dium.com/dataseries/machine-learning-reference-architectures-from-google-facebook-uber-databricks-and-others-58191cf82b98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dd.org/kdd2017/papers/view/tfx-a-tensorflow-based-production-scale-machine-learning-platform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ldon.io/" TargetMode="External"/><Relationship Id="rId3" Type="http://schemas.openxmlformats.org/officeDocument/2006/relationships/hyperlink" Target="https://www.determined.ai/product" TargetMode="External"/><Relationship Id="rId7" Type="http://schemas.openxmlformats.org/officeDocument/2006/relationships/hyperlink" Target="https://www.kubeflow.org/" TargetMode="External"/><Relationship Id="rId2" Type="http://schemas.openxmlformats.org/officeDocument/2006/relationships/hyperlink" Target="https://www.determined.ai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www.determined.ai/blog/production-training-pipelines-with-determined-and-kubeflow" TargetMode="External"/><Relationship Id="rId10" Type="http://schemas.openxmlformats.org/officeDocument/2006/relationships/image" Target="../media/image9.tiff"/><Relationship Id="rId4" Type="http://schemas.openxmlformats.org/officeDocument/2006/relationships/hyperlink" Target="https://github.com/determined-ai/determined" TargetMode="Externa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hyperlink" Target="https://www.linkedin.com/in/vishnukanan/" TargetMode="External"/><Relationship Id="rId3" Type="http://schemas.openxmlformats.org/officeDocument/2006/relationships/hyperlink" Target="https://github.com/kubeflow/kubeflow/blob/master/ROADMAP.md" TargetMode="External"/><Relationship Id="rId7" Type="http://schemas.openxmlformats.org/officeDocument/2006/relationships/image" Target="../media/image10.png"/><Relationship Id="rId12" Type="http://schemas.openxmlformats.org/officeDocument/2006/relationships/hyperlink" Target="https://www.linkedin.com/in/jeremy-lewi-600aaa8/" TargetMode="External"/><Relationship Id="rId2" Type="http://schemas.openxmlformats.org/officeDocument/2006/relationships/hyperlink" Target="https://www.kubeflow.org/docs/components/serving/kfserving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edium.com/kubeflow/kubeflow-1-0-cloud-native-ml-for-everyone-a3950202751" TargetMode="External"/><Relationship Id="rId11" Type="http://schemas.openxmlformats.org/officeDocument/2006/relationships/hyperlink" Target="https://www.linkedin.com/in/aronchick/" TargetMode="External"/><Relationship Id="rId5" Type="http://schemas.openxmlformats.org/officeDocument/2006/relationships/hyperlink" Target="https://en.wikipedia.org/wiki/Kubeflow" TargetMode="External"/><Relationship Id="rId10" Type="http://schemas.openxmlformats.org/officeDocument/2006/relationships/image" Target="../media/image13.jpeg"/><Relationship Id="rId4" Type="http://schemas.openxmlformats.org/officeDocument/2006/relationships/hyperlink" Target="https://www.kubeflow.org/docs/about/use-cases/" TargetMode="External"/><Relationship Id="rId9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76402"/>
            <a:ext cx="370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MLOps</a:t>
            </a:r>
            <a:r>
              <a:rPr lang="en-US" sz="2800" b="1" dirty="0"/>
              <a:t> vs AIOps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2C7A5-24FB-2144-BC6C-F091E2630966}"/>
              </a:ext>
            </a:extLst>
          </p:cNvPr>
          <p:cNvSpPr txBox="1"/>
          <p:nvPr/>
        </p:nvSpPr>
        <p:spPr>
          <a:xfrm>
            <a:off x="296882" y="748326"/>
            <a:ext cx="760021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b="1" dirty="0" err="1">
                <a:solidFill>
                  <a:srgbClr val="FF0000"/>
                </a:solidFill>
              </a:rPr>
              <a:t>MLOps</a:t>
            </a:r>
            <a:r>
              <a:rPr lang="en-US" b="1" dirty="0">
                <a:solidFill>
                  <a:srgbClr val="FF0000"/>
                </a:solidFill>
              </a:rPr>
              <a:t> = Machine Learning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Tools/frameworks to manage all stages of ML lifecycle as ongoing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basically DevOps for ML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covers building, scaling, deploying, monitoring, re-training ML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Google, Facebook, and other companies have their own frameworks (architectures) for that.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AIOps = Artificial Intelligence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to analyze, optimize, and automate the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data, analytics, and machine learning to analyze and improve IT infrastructure &amp;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Makes IT more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Effectively automates DevOps and </a:t>
            </a:r>
            <a:r>
              <a:rPr lang="en-US" dirty="0" err="1"/>
              <a:t>DataOps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6D151-A598-3246-9296-63C2CE94BB4D}"/>
              </a:ext>
            </a:extLst>
          </p:cNvPr>
          <p:cNvSpPr txBox="1"/>
          <p:nvPr/>
        </p:nvSpPr>
        <p:spPr>
          <a:xfrm>
            <a:off x="320634" y="3429000"/>
            <a:ext cx="69589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https://www.ibm.com/cloud/learn/aiops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https://www.analyticsinsight.net/delivering-aiops-microsoft-azure-cloud-platform/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https://www.analyticsinsight.net/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https://www.moogsoft.com/moogsoft-aiops-in-microsoft-azure/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https://www.ibm.com/cloud/learn/hybrid-cloud</a:t>
            </a:r>
            <a:r>
              <a:rPr lang="en-US" sz="14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15189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76402"/>
            <a:ext cx="8087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Machine Learning Reference Architectures </a:t>
            </a:r>
          </a:p>
          <a:p>
            <a:r>
              <a:rPr lang="en-US" sz="2800" b="1" dirty="0"/>
              <a:t>from Google, Facebook, Uber, </a:t>
            </a:r>
            <a:r>
              <a:rPr lang="en-US" sz="2800" b="1" dirty="0" err="1"/>
              <a:t>DataBricks</a:t>
            </a:r>
            <a:r>
              <a:rPr lang="en-US" sz="2800" b="1" dirty="0"/>
              <a:t> and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118752" y="1430863"/>
            <a:ext cx="5890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Nice Review about </a:t>
            </a:r>
            <a:r>
              <a:rPr lang="en-US" sz="1400" dirty="0" err="1"/>
              <a:t>MLOps</a:t>
            </a:r>
            <a:r>
              <a:rPr lang="en-US" sz="1400" dirty="0"/>
              <a:t> Reference Architectures</a:t>
            </a:r>
          </a:p>
          <a:p>
            <a:r>
              <a:rPr lang="en-US" sz="1400" dirty="0">
                <a:hlinkClick r:id="rId2"/>
              </a:rPr>
              <a:t>https://medium.com/dataseries/machine-learning-reference-architectures-from-google-facebook-uber-databricks-and-others-58191cf82b98</a:t>
            </a:r>
            <a:r>
              <a:rPr lang="en-US" sz="1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6B02F-94E8-4B46-80C2-7EE52FCA10C1}"/>
              </a:ext>
            </a:extLst>
          </p:cNvPr>
          <p:cNvSpPr txBox="1"/>
          <p:nvPr/>
        </p:nvSpPr>
        <p:spPr>
          <a:xfrm>
            <a:off x="118752" y="2386937"/>
            <a:ext cx="43019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 lifecycle of Machine Learning solutions is </a:t>
            </a:r>
          </a:p>
          <a:p>
            <a:r>
              <a:rPr lang="en-US" sz="1400" dirty="0"/>
              <a:t>fundamentally different than other software disciplines, </a:t>
            </a:r>
          </a:p>
          <a:p>
            <a:r>
              <a:rPr lang="en-US" sz="1400" dirty="0"/>
              <a:t>because </a:t>
            </a:r>
            <a:r>
              <a:rPr lang="en-US" sz="1400" b="1" dirty="0">
                <a:solidFill>
                  <a:srgbClr val="FF0000"/>
                </a:solidFill>
              </a:rPr>
              <a:t>the deployed model needs to be constantly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re-trained and optimized</a:t>
            </a:r>
            <a:r>
              <a:rPr lang="en-US" sz="1400" dirty="0"/>
              <a:t>.</a:t>
            </a:r>
          </a:p>
        </p:txBody>
      </p:sp>
      <p:pic>
        <p:nvPicPr>
          <p:cNvPr id="1028" name="Picture 4" descr="Machine Learning Life Cycle - Tutorial And Example">
            <a:extLst>
              <a:ext uri="{FF2B5EF4-FFF2-40B4-BE49-F238E27FC236}">
                <a16:creationId xmlns:a16="http://schemas.microsoft.com/office/drawing/2014/main" id="{0AABADB4-276E-024A-9E29-661C35E15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1438" y="2169527"/>
            <a:ext cx="3891478" cy="385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Stanford’s DAWN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616811"/>
            <a:ext cx="58901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Stanford’s DAWN - a series of tools, frameworks and an architecture reference </a:t>
            </a:r>
          </a:p>
          <a:p>
            <a:r>
              <a:rPr lang="en-US" sz="1400" dirty="0"/>
              <a:t>to streamline ML workflows. Includes projects such as training (Snorkel), </a:t>
            </a:r>
          </a:p>
          <a:p>
            <a:r>
              <a:rPr lang="en-US" sz="1400" dirty="0"/>
              <a:t>continuous analytics (</a:t>
            </a:r>
            <a:r>
              <a:rPr lang="en-US" sz="1400" dirty="0" err="1"/>
              <a:t>MacroBase</a:t>
            </a:r>
            <a:r>
              <a:rPr lang="en-US" sz="1400" dirty="0"/>
              <a:t>) or data computation(Weld).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dawn.cs.stanford.edu</a:t>
            </a:r>
            <a:r>
              <a:rPr lang="en-US" sz="1400" dirty="0"/>
              <a:t>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723B10-58B9-1645-BC15-6D926DED7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8320" y="1642310"/>
            <a:ext cx="8395360" cy="513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680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Uber’s Michelangelo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725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Uber’s Michelangelo – powers hundreds of ML workflows at Uber. </a:t>
            </a:r>
          </a:p>
          <a:p>
            <a:r>
              <a:rPr lang="en-US" sz="1400" dirty="0"/>
              <a:t>Works with other ML tools like </a:t>
            </a:r>
            <a:r>
              <a:rPr lang="en-US" sz="1400" dirty="0" err="1"/>
              <a:t>Horovod</a:t>
            </a:r>
            <a:r>
              <a:rPr lang="en-US" sz="1400" dirty="0"/>
              <a:t>, </a:t>
            </a:r>
            <a:r>
              <a:rPr lang="en-US" sz="1400" dirty="0" err="1"/>
              <a:t>PyML</a:t>
            </a:r>
            <a:r>
              <a:rPr lang="en-US" sz="1400" dirty="0"/>
              <a:t> or Pyro.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eng.uber.com</a:t>
            </a:r>
            <a:r>
              <a:rPr lang="en-US" sz="1400" dirty="0"/>
              <a:t>/</a:t>
            </a:r>
            <a:r>
              <a:rPr lang="en-US" sz="1400" dirty="0" err="1"/>
              <a:t>michelangelo</a:t>
            </a:r>
            <a:r>
              <a:rPr lang="en-US" sz="1400" dirty="0"/>
              <a:t>-machine-learning-platform/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A9BC4D-B74A-C846-8E8D-5944DBE43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1106" y="1712718"/>
            <a:ext cx="7742692" cy="436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177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5265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DataBricks’</a:t>
            </a:r>
            <a:r>
              <a:rPr lang="en-US" sz="2800" b="1" dirty="0"/>
              <a:t> </a:t>
            </a:r>
            <a:r>
              <a:rPr lang="en-US" sz="2800" b="1" dirty="0" err="1"/>
              <a:t>MLflow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78970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DataBricks’</a:t>
            </a:r>
            <a:r>
              <a:rPr lang="en-US" sz="1400" dirty="0"/>
              <a:t> </a:t>
            </a:r>
            <a:r>
              <a:rPr lang="en-US" sz="1400" dirty="0" err="1"/>
              <a:t>MLflow</a:t>
            </a:r>
            <a:r>
              <a:rPr lang="en-US" sz="1400" dirty="0"/>
              <a:t> is an open source platform for automating the lifecycle of machine learning solutions. </a:t>
            </a:r>
          </a:p>
          <a:p>
            <a:r>
              <a:rPr lang="en-US" sz="1400" dirty="0"/>
              <a:t>The project focuses on training, project packaging and model serving. </a:t>
            </a:r>
          </a:p>
          <a:p>
            <a:r>
              <a:rPr lang="en-US" sz="1400" dirty="0" err="1"/>
              <a:t>MLflow</a:t>
            </a:r>
            <a:r>
              <a:rPr lang="en-US" sz="1400" dirty="0"/>
              <a:t> integrates well with many development frameworks.</a:t>
            </a:r>
          </a:p>
          <a:p>
            <a:r>
              <a:rPr lang="en-US" sz="1400" dirty="0" err="1"/>
              <a:t>MLflow</a:t>
            </a:r>
            <a:r>
              <a:rPr lang="en-US" sz="1400" dirty="0"/>
              <a:t> integrates well with runtime infrastructures.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www.mlflow.org</a:t>
            </a:r>
            <a:r>
              <a:rPr lang="en-US" sz="1400" dirty="0"/>
              <a:t>/</a:t>
            </a:r>
          </a:p>
        </p:txBody>
      </p:sp>
      <p:pic>
        <p:nvPicPr>
          <p:cNvPr id="4098" name="Picture 2" descr="How to Share and Control ML Model Access with MLflow Model Registry">
            <a:extLst>
              <a:ext uri="{FF2B5EF4-FFF2-40B4-BE49-F238E27FC236}">
                <a16:creationId xmlns:a16="http://schemas.microsoft.com/office/drawing/2014/main" id="{753516CB-FF6B-594D-BCDE-9F361B453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21830" y="1900053"/>
            <a:ext cx="9138345" cy="479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98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473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Facebook’s </a:t>
            </a:r>
            <a:r>
              <a:rPr lang="en-US" sz="2800" b="1" dirty="0" err="1"/>
              <a:t>FBLearner</a:t>
            </a:r>
            <a:r>
              <a:rPr lang="en-US" sz="2800" b="1" dirty="0"/>
              <a:t>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8953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Facebook’s </a:t>
            </a:r>
            <a:r>
              <a:rPr lang="en-US" sz="1400" dirty="0" err="1"/>
              <a:t>FBLearner</a:t>
            </a:r>
            <a:r>
              <a:rPr lang="en-US" sz="1400" dirty="0"/>
              <a:t> Flow automates feature extraction, training, model evaluation and inference. </a:t>
            </a:r>
            <a:br>
              <a:rPr lang="en-US" sz="1400" dirty="0"/>
            </a:br>
            <a:r>
              <a:rPr lang="en-US" sz="1400" dirty="0" err="1"/>
              <a:t>FBLearner</a:t>
            </a:r>
            <a:r>
              <a:rPr lang="en-US" sz="1400" dirty="0"/>
              <a:t> Flow integrates with Facebook’s own Caffe2, </a:t>
            </a:r>
            <a:r>
              <a:rPr lang="en-US" sz="1400" dirty="0" err="1"/>
              <a:t>PyTorch</a:t>
            </a:r>
            <a:r>
              <a:rPr lang="en-US" sz="1400" dirty="0"/>
              <a:t> and ONNX.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engineering.fb.com</a:t>
            </a:r>
            <a:r>
              <a:rPr lang="en-US" sz="1400" dirty="0"/>
              <a:t>/ml-applications/introducing-</a:t>
            </a:r>
            <a:r>
              <a:rPr lang="en-US" sz="1400" dirty="0" err="1"/>
              <a:t>fblearner</a:t>
            </a:r>
            <a:r>
              <a:rPr lang="en-US" sz="1400" dirty="0"/>
              <a:t>-flow-</a:t>
            </a:r>
            <a:r>
              <a:rPr lang="en-US" sz="1400" dirty="0" err="1"/>
              <a:t>facebook</a:t>
            </a:r>
            <a:r>
              <a:rPr lang="en-US" sz="1400" dirty="0"/>
              <a:t>-s-ai-backbone/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3790401-0A71-064A-8349-CD0A239D0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6526" y="2180163"/>
            <a:ext cx="8375002" cy="343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10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0" y="76402"/>
            <a:ext cx="2369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Google’s TFX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0" y="599622"/>
            <a:ext cx="9227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Google’s TFX - architecture for executing machine learning workflows using TensorFlow programs. </a:t>
            </a:r>
          </a:p>
          <a:p>
            <a:r>
              <a:rPr lang="en-US" sz="1400" dirty="0"/>
              <a:t>TFX includes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learner for generating models based on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modules for analyzing and validating both data as well as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infrastructure for serving models in production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https://www.kdd.org/kdd2017/papers/view/tfx-a-tensorflow-based-production-scale-machine-learning-platform</a:t>
            </a:r>
            <a:r>
              <a:rPr lang="en-US" sz="1400" dirty="0"/>
              <a:t>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6505F18-2919-5446-A57B-3F68BA49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1254" y="2257099"/>
            <a:ext cx="9598308" cy="43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23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711458-5464-EC44-9A94-A1F98AA8F935}"/>
              </a:ext>
            </a:extLst>
          </p:cNvPr>
          <p:cNvSpPr txBox="1"/>
          <p:nvPr/>
        </p:nvSpPr>
        <p:spPr>
          <a:xfrm>
            <a:off x="89337" y="855515"/>
            <a:ext cx="472924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Determined AI</a:t>
            </a:r>
            <a:r>
              <a:rPr lang="en-US" sz="1600" dirty="0"/>
              <a:t> - </a:t>
            </a:r>
            <a:r>
              <a:rPr lang="en-US" sz="1600" b="1" dirty="0">
                <a:solidFill>
                  <a:srgbClr val="00B050"/>
                </a:solidFill>
              </a:rPr>
              <a:t>Open-Source framework</a:t>
            </a:r>
            <a:r>
              <a:rPr lang="en-US" sz="1600" dirty="0"/>
              <a:t> for 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distributed training</a:t>
            </a:r>
            <a:r>
              <a:rPr lang="en-US" sz="1600" dirty="0"/>
              <a:t> of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Deep Learning</a:t>
            </a:r>
            <a:r>
              <a:rPr lang="en-US" sz="1600" dirty="0"/>
              <a:t> models.</a:t>
            </a:r>
          </a:p>
          <a:p>
            <a:endParaRPr lang="en-US" sz="1600" dirty="0"/>
          </a:p>
          <a:p>
            <a:r>
              <a:rPr lang="en-US" sz="1600" dirty="0"/>
              <a:t>Whether you use </a:t>
            </a:r>
            <a:r>
              <a:rPr lang="en-US" sz="1600" dirty="0" err="1"/>
              <a:t>PyTorch</a:t>
            </a:r>
            <a:r>
              <a:rPr lang="en-US" sz="1600" dirty="0"/>
              <a:t> or </a:t>
            </a:r>
            <a:r>
              <a:rPr lang="en-US" sz="1600" dirty="0" err="1"/>
              <a:t>TensorFlow+Keras</a:t>
            </a:r>
            <a:r>
              <a:rPr lang="en-US" sz="1600" dirty="0"/>
              <a:t>,</a:t>
            </a:r>
          </a:p>
          <a:p>
            <a:r>
              <a:rPr lang="en-US" sz="1600" dirty="0"/>
              <a:t>you can speed up 20-100 times without</a:t>
            </a:r>
          </a:p>
          <a:p>
            <a:r>
              <a:rPr lang="en-US" sz="1600" dirty="0"/>
              <a:t>changing your code.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https://www.determined.ai/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https://www.determined.ai/product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4"/>
              </a:rPr>
              <a:t>https://github.com/determined-ai/determined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5"/>
              </a:rPr>
              <a:t>https://www.determined.ai/blog/production-training-pipelines-with-determined-and-kubeflow</a:t>
            </a:r>
            <a:r>
              <a:rPr lang="en-US" sz="1200" dirty="0"/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89735-86A5-9F43-B47B-FC17E2410682}"/>
              </a:ext>
            </a:extLst>
          </p:cNvPr>
          <p:cNvSpPr txBox="1"/>
          <p:nvPr/>
        </p:nvSpPr>
        <p:spPr>
          <a:xfrm>
            <a:off x="89337" y="71794"/>
            <a:ext cx="3184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Determined AI</a:t>
            </a:r>
          </a:p>
        </p:txBody>
      </p:sp>
      <p:pic>
        <p:nvPicPr>
          <p:cNvPr id="1034" name="Picture 10" descr="Open source machine learning platform Kubeflow reaches version 1.0 |  VentureBeat">
            <a:extLst>
              <a:ext uri="{FF2B5EF4-FFF2-40B4-BE49-F238E27FC236}">
                <a16:creationId xmlns:a16="http://schemas.microsoft.com/office/drawing/2014/main" id="{BFB6DC97-18F4-044A-B799-92279F733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020439" y="4369987"/>
            <a:ext cx="1807779" cy="41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265EFE-0C48-5740-BF27-CE3450E50AAB}"/>
              </a:ext>
            </a:extLst>
          </p:cNvPr>
          <p:cNvSpPr txBox="1"/>
          <p:nvPr/>
        </p:nvSpPr>
        <p:spPr>
          <a:xfrm>
            <a:off x="6102847" y="3656761"/>
            <a:ext cx="538353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The whole production system may be built using 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three open-source technologies: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Kubeflow Pipelines</a:t>
            </a:r>
            <a:r>
              <a:rPr lang="en-US" sz="1600" dirty="0"/>
              <a:t> - for ML pipelines</a:t>
            </a:r>
            <a:br>
              <a:rPr lang="en-US" sz="1600" dirty="0"/>
            </a:br>
            <a:r>
              <a:rPr lang="en-US" sz="1600" dirty="0"/>
              <a:t> - </a:t>
            </a:r>
            <a:r>
              <a:rPr lang="en-US" sz="1600" dirty="0">
                <a:hlinkClick r:id="rId7"/>
              </a:rPr>
              <a:t>https://www.kubeflow.org/</a:t>
            </a:r>
            <a:r>
              <a:rPr lang="en-US" sz="1600" dirty="0"/>
              <a:t> 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Determined AI</a:t>
            </a:r>
            <a:r>
              <a:rPr lang="en-US" sz="1600" dirty="0"/>
              <a:t> - for production-scale model training</a:t>
            </a:r>
            <a:br>
              <a:rPr lang="en-US" sz="1600" dirty="0"/>
            </a:br>
            <a:r>
              <a:rPr lang="en-US" sz="1600" dirty="0"/>
              <a:t> - </a:t>
            </a:r>
            <a:r>
              <a:rPr lang="en-US" sz="1600" dirty="0">
                <a:hlinkClick r:id="rId2"/>
              </a:rPr>
              <a:t>https://www.determined.ai/</a:t>
            </a:r>
            <a:r>
              <a:rPr lang="en-US" sz="1600" dirty="0"/>
              <a:t>  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Seldon Core</a:t>
            </a:r>
            <a:r>
              <a:rPr lang="en-US" sz="1600" dirty="0"/>
              <a:t> - for model deployment and serving</a:t>
            </a:r>
            <a:br>
              <a:rPr lang="en-US" sz="1600" dirty="0"/>
            </a:br>
            <a:r>
              <a:rPr lang="en-US" sz="1600" dirty="0"/>
              <a:t> - </a:t>
            </a:r>
            <a:r>
              <a:rPr lang="en-US" sz="1600" dirty="0">
                <a:hlinkClick r:id="rId8"/>
              </a:rPr>
              <a:t>https://www.seldon.io/</a:t>
            </a:r>
            <a:r>
              <a:rPr lang="en-US" sz="1600" dirty="0"/>
              <a:t> </a:t>
            </a:r>
          </a:p>
        </p:txBody>
      </p:sp>
      <p:pic>
        <p:nvPicPr>
          <p:cNvPr id="1036" name="Picture 12" descr="Seldon Core — seldon-core documentation">
            <a:extLst>
              <a:ext uri="{FF2B5EF4-FFF2-40B4-BE49-F238E27FC236}">
                <a16:creationId xmlns:a16="http://schemas.microsoft.com/office/drawing/2014/main" id="{F0918C66-B563-E14A-8590-209F521067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53404" y="5864193"/>
            <a:ext cx="1736334" cy="42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75403-9DE1-1A4A-AB57-39B9B8FDBF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7095" y="71794"/>
            <a:ext cx="774700" cy="609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BB2473-967A-6641-A0C2-80DC11E7D8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4221" y="5018782"/>
            <a:ext cx="7747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53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BD26C0-DED7-BF41-B97E-8FEAFA3645A0}"/>
              </a:ext>
            </a:extLst>
          </p:cNvPr>
          <p:cNvSpPr txBox="1"/>
          <p:nvPr/>
        </p:nvSpPr>
        <p:spPr>
          <a:xfrm>
            <a:off x="0" y="0"/>
            <a:ext cx="1882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Kubeflow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1C3A3-C28F-8D4D-9251-50834ADD32B2}"/>
              </a:ext>
            </a:extLst>
          </p:cNvPr>
          <p:cNvSpPr txBox="1"/>
          <p:nvPr/>
        </p:nvSpPr>
        <p:spPr>
          <a:xfrm>
            <a:off x="0" y="432672"/>
            <a:ext cx="71489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Kubeflow</a:t>
            </a:r>
            <a:r>
              <a:rPr lang="en-US" sz="1400" dirty="0"/>
              <a:t> began as an internal Google project,</a:t>
            </a:r>
          </a:p>
          <a:p>
            <a:r>
              <a:rPr lang="en-US" sz="1400" dirty="0"/>
              <a:t>it is a simple a way to ran </a:t>
            </a:r>
            <a:r>
              <a:rPr lang="en-US" sz="1400" b="1" dirty="0">
                <a:solidFill>
                  <a:srgbClr val="0070C0"/>
                </a:solidFill>
              </a:rPr>
              <a:t>TensorFlow</a:t>
            </a:r>
            <a:r>
              <a:rPr lang="en-US" sz="1400" dirty="0"/>
              <a:t> on </a:t>
            </a:r>
            <a:r>
              <a:rPr lang="en-US" sz="1400" b="1" dirty="0">
                <a:solidFill>
                  <a:srgbClr val="0070C0"/>
                </a:solidFill>
              </a:rPr>
              <a:t>Kubernetes</a:t>
            </a:r>
            <a:r>
              <a:rPr lang="en-US" sz="1400" dirty="0"/>
              <a:t>.</a:t>
            </a:r>
          </a:p>
          <a:p>
            <a:r>
              <a:rPr lang="en-US" sz="1400" dirty="0"/>
              <a:t>Kubeflow was open sourced at </a:t>
            </a:r>
            <a:r>
              <a:rPr lang="en-US" sz="1400" b="1" dirty="0" err="1">
                <a:solidFill>
                  <a:srgbClr val="0070C0"/>
                </a:solidFill>
              </a:rPr>
              <a:t>Kubecon</a:t>
            </a:r>
            <a:r>
              <a:rPr lang="en-US" sz="1400" dirty="0"/>
              <a:t> conference (USA, December 2017).</a:t>
            </a:r>
          </a:p>
          <a:p>
            <a:r>
              <a:rPr lang="en-US" sz="1400" dirty="0"/>
              <a:t>Later it was expanded to be a multi-architecture, multi-cloud framework </a:t>
            </a:r>
          </a:p>
          <a:p>
            <a:r>
              <a:rPr lang="en-US" sz="1400" dirty="0"/>
              <a:t>for running entire ML (Machine Learning) pipelines.</a:t>
            </a:r>
          </a:p>
          <a:p>
            <a:endParaRPr lang="en-US" sz="1400" dirty="0"/>
          </a:p>
          <a:p>
            <a:r>
              <a:rPr lang="en-US" sz="1400" dirty="0"/>
              <a:t>Purpose - to make training and deployments of </a:t>
            </a:r>
            <a:r>
              <a:rPr lang="en-US" sz="1400" b="1" dirty="0">
                <a:solidFill>
                  <a:srgbClr val="0070C0"/>
                </a:solidFill>
              </a:rPr>
              <a:t>ML</a:t>
            </a:r>
            <a:r>
              <a:rPr lang="en-US" sz="1400" dirty="0"/>
              <a:t> on </a:t>
            </a:r>
            <a:r>
              <a:rPr lang="en-US" sz="1400" b="1" dirty="0">
                <a:solidFill>
                  <a:srgbClr val="0070C0"/>
                </a:solidFill>
              </a:rPr>
              <a:t>Kubernetes</a:t>
            </a:r>
            <a:r>
              <a:rPr lang="en-US" sz="1400" dirty="0"/>
              <a:t> simple, portable and scalable.</a:t>
            </a:r>
          </a:p>
          <a:p>
            <a:r>
              <a:rPr lang="en-US" sz="1400" dirty="0"/>
              <a:t>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Kubeflow</a:t>
            </a:r>
            <a:r>
              <a:rPr lang="en-US" sz="1400" dirty="0"/>
              <a:t> allows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 python coding in </a:t>
            </a:r>
            <a:r>
              <a:rPr lang="en-US" sz="1400" dirty="0" err="1"/>
              <a:t>Jupyter</a:t>
            </a:r>
            <a:r>
              <a:rPr lang="en-US" sz="1400" dirty="0"/>
              <a:t> notebooks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popular training libraries and formats: TensorFlow, </a:t>
            </a:r>
            <a:r>
              <a:rPr lang="en-US" sz="1400" dirty="0" err="1"/>
              <a:t>PyTorch</a:t>
            </a:r>
            <a:r>
              <a:rPr lang="en-US" sz="1400" dirty="0"/>
              <a:t>, scikit-learn, </a:t>
            </a:r>
            <a:r>
              <a:rPr lang="en-US" sz="1400" dirty="0" err="1"/>
              <a:t>XGBoost</a:t>
            </a:r>
            <a:r>
              <a:rPr lang="en-US" sz="1400" dirty="0"/>
              <a:t>, ONNX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https://www.kubeflow.org/docs/components/serving/kfserving/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run code efficiently and securely in Kubernetes, isolated namespaces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portability between your laptop, on-prem cluster, or any of major clouds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portability between teams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Kubeflow’s hyperparameter tuner (</a:t>
            </a:r>
            <a:r>
              <a:rPr lang="en-US" sz="1400" b="1" dirty="0" err="1">
                <a:solidFill>
                  <a:srgbClr val="0070C0"/>
                </a:solidFill>
              </a:rPr>
              <a:t>Katib</a:t>
            </a:r>
            <a:r>
              <a:rPr lang="en-US" sz="1400" dirty="0"/>
              <a:t>) saves days of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Kubeflow Pipelines</a:t>
            </a:r>
            <a:r>
              <a:rPr lang="en-US" sz="1400" dirty="0"/>
              <a:t> - build ML workflows for integration and deployment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3"/>
              </a:rPr>
              <a:t>https://github.com/kubeflow/kubeflow/blob/master/ROADMAP.md</a:t>
            </a:r>
            <a:r>
              <a:rPr lang="en-US" sz="1400" dirty="0"/>
              <a:t> 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4"/>
              </a:rPr>
              <a:t>https://www.kubeflow.org/docs/about/use-cases/</a:t>
            </a:r>
            <a:r>
              <a:rPr lang="en-US" sz="1400" dirty="0"/>
              <a:t> 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5"/>
              </a:rPr>
              <a:t>https://en.wikipedia.org/wiki/Kubeflow</a:t>
            </a:r>
            <a:r>
              <a:rPr lang="en-US" sz="1400" dirty="0"/>
              <a:t> 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6"/>
              </a:rPr>
              <a:t>https://medium.com/kubeflow/kubeflow-1-0-cloud-native-ml-for-everyone-a3950202751</a:t>
            </a:r>
            <a:r>
              <a:rPr lang="en-US" sz="1400" dirty="0"/>
              <a:t> </a:t>
            </a:r>
          </a:p>
        </p:txBody>
      </p:sp>
      <p:pic>
        <p:nvPicPr>
          <p:cNvPr id="1026" name="Picture 2" descr="Kubeflow - Wikipedia">
            <a:extLst>
              <a:ext uri="{FF2B5EF4-FFF2-40B4-BE49-F238E27FC236}">
                <a16:creationId xmlns:a16="http://schemas.microsoft.com/office/drawing/2014/main" id="{3AD43C98-8B7F-8C4F-8941-8F63A436A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334" y="134118"/>
            <a:ext cx="1855095" cy="183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CD2FDB-EDF7-8447-A2DE-4DF3E99ACB5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9460" y="2586426"/>
            <a:ext cx="1210541" cy="1467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E12D42-3469-E648-B80D-BA506499F655}"/>
              </a:ext>
            </a:extLst>
          </p:cNvPr>
          <p:cNvSpPr txBox="1"/>
          <p:nvPr/>
        </p:nvSpPr>
        <p:spPr>
          <a:xfrm>
            <a:off x="8049459" y="4053647"/>
            <a:ext cx="1210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Jeremy Lewi</a:t>
            </a:r>
            <a:br>
              <a:rPr lang="en-US" sz="1400" dirty="0"/>
            </a:br>
            <a:r>
              <a:rPr lang="en-US" sz="1400" dirty="0"/>
              <a:t>Google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96142-43D8-9948-958B-D9F7568D708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59672" y="2586426"/>
            <a:ext cx="1210541" cy="1474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E45C24-9E9B-C144-94AF-83EF65642CD4}"/>
              </a:ext>
            </a:extLst>
          </p:cNvPr>
          <p:cNvSpPr txBox="1"/>
          <p:nvPr/>
        </p:nvSpPr>
        <p:spPr>
          <a:xfrm>
            <a:off x="9260000" y="4017462"/>
            <a:ext cx="1651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David </a:t>
            </a:r>
            <a:r>
              <a:rPr lang="en-US" sz="1400" dirty="0" err="1"/>
              <a:t>Aronchick</a:t>
            </a:r>
            <a:br>
              <a:rPr lang="en-US" sz="1400" dirty="0"/>
            </a:br>
            <a:r>
              <a:rPr lang="en-US" sz="1400" dirty="0"/>
              <a:t>Microsoft, Azure</a:t>
            </a:r>
          </a:p>
          <a:p>
            <a:pPr algn="ctr"/>
            <a:r>
              <a:rPr lang="en-US" sz="1400" dirty="0"/>
              <a:t>(originally - Google)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8C0A57-3399-F641-A3EE-3EA47F248A1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1194" y="2586426"/>
            <a:ext cx="1137235" cy="14017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20D068-A53A-FA4D-A905-8655D1718D68}"/>
              </a:ext>
            </a:extLst>
          </p:cNvPr>
          <p:cNvSpPr txBox="1"/>
          <p:nvPr/>
        </p:nvSpPr>
        <p:spPr>
          <a:xfrm>
            <a:off x="10742609" y="4008638"/>
            <a:ext cx="1474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Vishnu Kannan</a:t>
            </a:r>
            <a:br>
              <a:rPr lang="en-US" sz="1400" dirty="0"/>
            </a:br>
            <a:r>
              <a:rPr lang="en-US" sz="1400" dirty="0"/>
              <a:t>Google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15C5E-A93D-6A41-BC79-46FE28C050B5}"/>
              </a:ext>
            </a:extLst>
          </p:cNvPr>
          <p:cNvSpPr txBox="1"/>
          <p:nvPr/>
        </p:nvSpPr>
        <p:spPr>
          <a:xfrm>
            <a:off x="7995210" y="5049320"/>
            <a:ext cx="41394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David </a:t>
            </a:r>
            <a:r>
              <a:rPr lang="en-US" sz="1400" dirty="0" err="1"/>
              <a:t>Aronchick</a:t>
            </a:r>
            <a:r>
              <a:rPr lang="en-US" sz="1400" dirty="0"/>
              <a:t> - Azure, Microsoft (former Google)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11"/>
              </a:rPr>
              <a:t>https://www.linkedin.com/in/aronchick/</a:t>
            </a:r>
            <a:r>
              <a:rPr lang="en-US" sz="1400" dirty="0"/>
              <a:t> </a:t>
            </a:r>
          </a:p>
          <a:p>
            <a:r>
              <a:rPr lang="en-US" sz="1400" dirty="0"/>
              <a:t>Jeremy Lewi  - Google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2"/>
              </a:rPr>
              <a:t>https://www.linkedin.com/in/jeremy-lewi-600aaa8/</a:t>
            </a:r>
            <a:r>
              <a:rPr lang="en-US" sz="1400" dirty="0"/>
              <a:t> </a:t>
            </a:r>
          </a:p>
          <a:p>
            <a:r>
              <a:rPr lang="en-US" sz="1400" dirty="0"/>
              <a:t>Vishnu Kannan - Google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>
                <a:hlinkClick r:id="rId13"/>
              </a:rPr>
              <a:t>https://www.linkedin.com/in/vishnukanan/</a:t>
            </a:r>
            <a:r>
              <a:rPr lang="en-US" sz="14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9D7B0-1D67-9740-A6C6-6868C5E0AC3A}"/>
              </a:ext>
            </a:extLst>
          </p:cNvPr>
          <p:cNvSpPr txBox="1"/>
          <p:nvPr/>
        </p:nvSpPr>
        <p:spPr>
          <a:xfrm>
            <a:off x="8190853" y="2253278"/>
            <a:ext cx="374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Kubeflow was co-founded by Google engineers</a:t>
            </a:r>
          </a:p>
        </p:txBody>
      </p:sp>
    </p:spTree>
    <p:extLst>
      <p:ext uri="{BB962C8B-B14F-4D97-AF65-F5344CB8AC3E}">
        <p14:creationId xmlns:p14="http://schemas.microsoft.com/office/powerpoint/2010/main" val="2875421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908</Words>
  <Application>Microsoft Macintosh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170</cp:revision>
  <dcterms:created xsi:type="dcterms:W3CDTF">2018-10-10T17:24:46Z</dcterms:created>
  <dcterms:modified xsi:type="dcterms:W3CDTF">2021-06-04T00:48:30Z</dcterms:modified>
</cp:coreProperties>
</file>