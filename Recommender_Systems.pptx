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63"/>
  </p:normalViewPr>
  <p:slideViewPr>
    <p:cSldViewPr snapToGrid="0" snapToObjects="1">
      <p:cViewPr varScale="1">
        <p:scale>
          <a:sx n="90" d="100"/>
          <a:sy n="90" d="100"/>
        </p:scale>
        <p:origin x="22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microsoft/recommenders" TargetMode="External"/><Relationship Id="rId13" Type="http://schemas.openxmlformats.org/officeDocument/2006/relationships/hyperlink" Target="https://medium.com/swlh/recommendation-system-implementation-with-deep-learning-and-pytorch-a03ee84a96f4" TargetMode="External"/><Relationship Id="rId3" Type="http://schemas.openxmlformats.org/officeDocument/2006/relationships/hyperlink" Target="https://github.com/grahamjenson/list_of_recommender_systems" TargetMode="External"/><Relationship Id="rId7" Type="http://schemas.openxmlformats.org/officeDocument/2006/relationships/hyperlink" Target="https://towardsdatascience.com/recommendation-system-in-python-lightfm-61c85010ce17" TargetMode="External"/><Relationship Id="rId12" Type="http://schemas.openxmlformats.org/officeDocument/2006/relationships/hyperlink" Target="https://towardsdatascience.com/how-to-build-a-strong-baseline-recommender-using-pytorch-on-a-regular-laptop-2ad497504fe6"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mathsgee.com/docs/recommender-systems/open-source-recommender-systems/" TargetMode="External"/><Relationship Id="rId11" Type="http://schemas.openxmlformats.org/officeDocument/2006/relationships/hyperlink" Target="https://towardsdatascience.com/recommender-systems-matrix-factorization-using-pytorch-bd52f46aa199" TargetMode="External"/><Relationship Id="rId5" Type="http://schemas.openxmlformats.org/officeDocument/2006/relationships/hyperlink" Target="https://awesomeopensource.com/projects/recommendation-engine" TargetMode="External"/><Relationship Id="rId15" Type="http://schemas.openxmlformats.org/officeDocument/2006/relationships/hyperlink" Target="https://github.com/amazon-archives/amazon-dsstne" TargetMode="External"/><Relationship Id="rId10" Type="http://schemas.openxmlformats.org/officeDocument/2006/relationships/hyperlink" Target="https://blogs.nvidia.com/blog/2020/05/14/whats-a-recommender-system/" TargetMode="External"/><Relationship Id="rId4" Type="http://schemas.openxmlformats.org/officeDocument/2006/relationships/hyperlink" Target="https://awesomeopensource.com/projects/recommender-system" TargetMode="External"/><Relationship Id="rId9" Type="http://schemas.openxmlformats.org/officeDocument/2006/relationships/hyperlink" Target="https://analyticsindiamag.com/10-open-source-datasets-one-must-know-to-build-recommender-systems/" TargetMode="External"/><Relationship Id="rId14" Type="http://schemas.openxmlformats.org/officeDocument/2006/relationships/hyperlink" Target="https://towardsdatascience.com/building-an-incremental-recommender-system-8836e30afae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160420" y="128337"/>
            <a:ext cx="4578017" cy="141577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a:solidFill>
                  <a:schemeClr val="dk1"/>
                </a:solidFill>
                <a:latin typeface="Calibri"/>
                <a:ea typeface="Calibri"/>
                <a:cs typeface="Calibri"/>
                <a:sym typeface="Calibri"/>
              </a:rPr>
              <a:t>Recommender Systems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1. Content based (CB)</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2. Collaborative filtering (CF)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3. Latent factor based</a:t>
            </a:r>
            <a:endParaRPr/>
          </a:p>
        </p:txBody>
      </p:sp>
      <p:pic>
        <p:nvPicPr>
          <p:cNvPr id="89" name="Google Shape;89;p13"/>
          <p:cNvPicPr preferRelativeResize="0"/>
          <p:nvPr/>
        </p:nvPicPr>
        <p:blipFill rotWithShape="1">
          <a:blip r:embed="rId3">
            <a:alphaModFix/>
          </a:blip>
          <a:srcRect/>
          <a:stretch/>
        </p:blipFill>
        <p:spPr>
          <a:xfrm>
            <a:off x="5396164" y="1613233"/>
            <a:ext cx="6629400" cy="4305300"/>
          </a:xfrm>
          <a:prstGeom prst="rect">
            <a:avLst/>
          </a:prstGeom>
          <a:noFill/>
          <a:ln>
            <a:noFill/>
          </a:ln>
        </p:spPr>
      </p:pic>
      <p:sp>
        <p:nvSpPr>
          <p:cNvPr id="90" name="Google Shape;90;p13"/>
          <p:cNvSpPr txBox="1"/>
          <p:nvPr/>
        </p:nvSpPr>
        <p:spPr>
          <a:xfrm>
            <a:off x="6063916" y="128337"/>
            <a:ext cx="5961648" cy="107721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Long Tail</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Total sales in long-tail may be big, but sales of each individual item are small and each item is almost invisible. Recommendations help.</a:t>
            </a:r>
            <a:endParaRPr sz="1600">
              <a:solidFill>
                <a:schemeClr val="dk1"/>
              </a:solidFill>
              <a:latin typeface="Calibri"/>
              <a:ea typeface="Calibri"/>
              <a:cs typeface="Calibri"/>
              <a:sym typeface="Calibri"/>
            </a:endParaRPr>
          </a:p>
        </p:txBody>
      </p:sp>
      <p:sp>
        <p:nvSpPr>
          <p:cNvPr id="91" name="Google Shape;91;p13"/>
          <p:cNvSpPr txBox="1"/>
          <p:nvPr/>
        </p:nvSpPr>
        <p:spPr>
          <a:xfrm>
            <a:off x="160420" y="1603992"/>
            <a:ext cx="4989096"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 Lists of favorites, “essential” items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List of “Top 10”, Most popular, New items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Tailored to individual users</a:t>
            </a:r>
            <a:endParaRPr sz="1800">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363956" y="2910645"/>
            <a:ext cx="3135563" cy="1957852"/>
          </a:xfrm>
          <a:prstGeom prst="rect">
            <a:avLst/>
          </a:prstGeom>
          <a:noFill/>
          <a:ln>
            <a:noFill/>
          </a:ln>
        </p:spPr>
      </p:pic>
      <p:sp>
        <p:nvSpPr>
          <p:cNvPr id="93" name="Google Shape;93;p13"/>
          <p:cNvSpPr txBox="1"/>
          <p:nvPr/>
        </p:nvSpPr>
        <p:spPr>
          <a:xfrm>
            <a:off x="160420" y="2562967"/>
            <a:ext cx="165233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Utility Matrix:</a:t>
            </a:r>
            <a:endParaRPr sz="1800">
              <a:solidFill>
                <a:schemeClr val="dk1"/>
              </a:solidFill>
              <a:latin typeface="Calibri"/>
              <a:ea typeface="Calibri"/>
              <a:cs typeface="Calibri"/>
              <a:sym typeface="Calibri"/>
            </a:endParaRPr>
          </a:p>
        </p:txBody>
      </p:sp>
      <p:sp>
        <p:nvSpPr>
          <p:cNvPr id="94" name="Google Shape;94;p13"/>
          <p:cNvSpPr txBox="1"/>
          <p:nvPr/>
        </p:nvSpPr>
        <p:spPr>
          <a:xfrm>
            <a:off x="139368" y="4876799"/>
            <a:ext cx="5202655" cy="20313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Ratings: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Explicit reviews and ratings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Implicit from user buying behavior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 Utility Matrix is very sparse, most people haven’t rated most items.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New items have no ratings, new users have no ratings</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p:nvPr/>
        </p:nvSpPr>
        <p:spPr>
          <a:xfrm>
            <a:off x="160420" y="128337"/>
            <a:ext cx="9529012" cy="61247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Content-based Recommender Systems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Recommendations based on user history.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We build item profiles (vectors of features) and user profiles (vectors of feature preferences).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we match them (dot-product, angle between vectors)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each item – profile, vector of features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Comedy, action, actor, director, etc.</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How to extract most important features? Most important words/terms?</a:t>
            </a:r>
            <a:endParaRPr/>
          </a:p>
          <a:p>
            <a:pPr marL="0" marR="0" lvl="0" indent="0" algn="l" rtl="0">
              <a:spcBef>
                <a:spcPts val="0"/>
              </a:spcBef>
              <a:spcAft>
                <a:spcPts val="0"/>
              </a:spcAft>
              <a:buNone/>
            </a:pPr>
            <a:r>
              <a:rPr lang="en-US" sz="1800" b="1">
                <a:solidFill>
                  <a:srgbClr val="0070C0"/>
                </a:solidFill>
                <a:latin typeface="Calibri"/>
                <a:ea typeface="Calibri"/>
                <a:cs typeface="Calibri"/>
                <a:sym typeface="Calibri"/>
              </a:rPr>
              <a:t>TF_IDF </a:t>
            </a:r>
            <a:r>
              <a:rPr lang="en-US" sz="1800">
                <a:solidFill>
                  <a:schemeClr val="dk1"/>
                </a:solidFill>
                <a:latin typeface="Calibri"/>
                <a:ea typeface="Calibri"/>
                <a:cs typeface="Calibri"/>
                <a:sym typeface="Calibri"/>
              </a:rPr>
              <a:t>stands for </a:t>
            </a:r>
            <a:r>
              <a:rPr lang="en-US" sz="1800" b="1">
                <a:solidFill>
                  <a:srgbClr val="0070C0"/>
                </a:solidFill>
                <a:latin typeface="Calibri"/>
                <a:ea typeface="Calibri"/>
                <a:cs typeface="Calibri"/>
                <a:sym typeface="Calibri"/>
              </a:rPr>
              <a:t>Term Frequency - Inverse Document Frequency</a:t>
            </a:r>
            <a:r>
              <a:rPr lang="en-US" sz="1800">
                <a:solidFill>
                  <a:schemeClr val="dk1"/>
                </a:solidFill>
                <a:latin typeface="Calibri"/>
                <a:ea typeface="Calibri"/>
                <a:cs typeface="Calibri"/>
                <a:sym typeface="Calibri"/>
              </a:rPr>
              <a:t>,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It is calculated by multiplying two numbers:   </a:t>
            </a:r>
            <a:r>
              <a:rPr lang="en-US" sz="1800" b="1">
                <a:solidFill>
                  <a:srgbClr val="0070C0"/>
                </a:solidFill>
                <a:latin typeface="Calibri"/>
                <a:ea typeface="Calibri"/>
                <a:cs typeface="Calibri"/>
                <a:sym typeface="Calibri"/>
              </a:rPr>
              <a:t>TF_IDF = TF * IDF</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where: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TF(t) = (Number of times term t appears in a document) / (Total number of terms in the document).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IDF(t) = log(Total number of documents / Number of documents with term t in it).</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Doc profile – set of words with highest TF-IDF scores, together with their scores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User Profile: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user has rated … or user has bought …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Simple – take weighted average of items’ features, normalize by average rating of the user.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 – will never recommend anything which doesn’t fit user’s history. What to recommend to a new user?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p:nvPr/>
        </p:nvSpPr>
        <p:spPr>
          <a:xfrm>
            <a:off x="0" y="1"/>
            <a:ext cx="11774905" cy="363176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Collaborative filtering (CF) </a:t>
            </a:r>
            <a:endParaRPr sz="32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CF is a technique used by recommender systems.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CF is a method of making automatic predictions (filtering) about the interests of a user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by collecting preferences or taste information from many users (collaborating).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Typically, the workflow of a collaborative filtering system is: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A user expresses his or her preferences by rating items (e.g. books, movies or CDs) of the system. These ratings can be viewed as an approximate representation of the user's interest in the corresponding domain.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The system matches this user's ratings against other users' and finds the people with most "similar" tastes.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 With similar users, the system recommends items that the similar users have rated highly but not yet being rated by this user (presumably the absence of rating is often considered as the unfamiliarity of an item).</a:t>
            </a:r>
            <a:endParaRPr/>
          </a:p>
        </p:txBody>
      </p:sp>
      <p:pic>
        <p:nvPicPr>
          <p:cNvPr id="105" name="Google Shape;105;p15"/>
          <p:cNvPicPr preferRelativeResize="0"/>
          <p:nvPr/>
        </p:nvPicPr>
        <p:blipFill rotWithShape="1">
          <a:blip r:embed="rId3">
            <a:alphaModFix/>
          </a:blip>
          <a:srcRect/>
          <a:stretch/>
        </p:blipFill>
        <p:spPr>
          <a:xfrm>
            <a:off x="9286374" y="4350007"/>
            <a:ext cx="2057400" cy="723900"/>
          </a:xfrm>
          <a:prstGeom prst="rect">
            <a:avLst/>
          </a:prstGeom>
          <a:noFill/>
          <a:ln>
            <a:noFill/>
          </a:ln>
        </p:spPr>
      </p:pic>
      <p:sp>
        <p:nvSpPr>
          <p:cNvPr id="106" name="Google Shape;106;p15"/>
          <p:cNvSpPr txBox="1"/>
          <p:nvPr/>
        </p:nvSpPr>
        <p:spPr>
          <a:xfrm>
            <a:off x="16042" y="3712796"/>
            <a:ext cx="8871285" cy="31393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How to tell that users are similar?</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Option 1 - The Jaccard index (a.k.a. “Intersection over Union” or “Jaccard similarity coefficient”), originally coined coefficient de communauté by Paul Jaccard.</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 – it doesn’t account for the value of a rating.</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Option 2 - Better approach – look at similarity of feature vectors (cosine similarity).</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Problem here – how to deal with missing (not rated) components of vectors.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Option 3 – Centered cosine (</a:t>
            </a:r>
            <a:r>
              <a:rPr lang="en-US" sz="1800" b="1">
                <a:solidFill>
                  <a:srgbClr val="0070C0"/>
                </a:solidFill>
                <a:latin typeface="Calibri"/>
                <a:ea typeface="Calibri"/>
                <a:cs typeface="Calibri"/>
                <a:sym typeface="Calibri"/>
              </a:rPr>
              <a:t>Pearson correlation</a:t>
            </a:r>
            <a:r>
              <a:rPr lang="en-US" sz="1800">
                <a:solidFill>
                  <a:schemeClr val="dk1"/>
                </a:solidFill>
                <a:latin typeface="Calibri"/>
                <a:ea typeface="Calibri"/>
                <a:cs typeface="Calibri"/>
                <a:sym typeface="Calibri"/>
              </a:rPr>
              <a:t>) – subtracting the row (user) mean to center around zero. Then missing data is treated as “average”. Also helps to resolve “tough rates vs easy rates” problem.</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p:nvPr/>
        </p:nvSpPr>
        <p:spPr>
          <a:xfrm>
            <a:off x="160420" y="128337"/>
            <a:ext cx="8357938" cy="44627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Collaborative filtering (CF) - continued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Once we have identified features for each movie,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and identified preferences for users, we can identify users similar to our user.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Then we can make predictions by calculating similarities between their items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and our user (and normalizing by sum of all their similarities). Then we take top-10 of those weighted similarities.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This was user-to-user collaborative filtering.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We can also do item-to-item CF.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each item we will find similar items, calculate similarity, use weighted similarity – and select top 10.</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Item-to-item similarity is simpler (less features, easier to understand) than user-to-user. So in real life item-to-item outperforms user-to-user methods.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p:nvPr/>
        </p:nvSpPr>
        <p:spPr>
          <a:xfrm>
            <a:off x="160420" y="128337"/>
            <a:ext cx="11758864" cy="64940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dirty="0">
                <a:solidFill>
                  <a:schemeClr val="dk1"/>
                </a:solidFill>
                <a:latin typeface="Calibri"/>
                <a:ea typeface="Calibri"/>
                <a:cs typeface="Calibri"/>
                <a:sym typeface="Calibri"/>
              </a:rPr>
              <a:t>Collaborative filtering (CF) – continued - implementation </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It is expensive (time consuming) to calculate similarity for all users and items. </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The complexity is O(U), where U is the size of utility matrix = (</a:t>
            </a:r>
            <a:r>
              <a:rPr lang="en-US" sz="1600" dirty="0" err="1">
                <a:solidFill>
                  <a:schemeClr val="dk1"/>
                </a:solidFill>
                <a:latin typeface="Calibri"/>
                <a:ea typeface="Calibri"/>
                <a:cs typeface="Calibri"/>
                <a:sym typeface="Calibri"/>
              </a:rPr>
              <a:t>Nusers</a:t>
            </a:r>
            <a:r>
              <a:rPr lang="en-US" sz="1600" dirty="0">
                <a:solidFill>
                  <a:schemeClr val="dk1"/>
                </a:solidFill>
                <a:latin typeface="Calibri"/>
                <a:ea typeface="Calibri"/>
                <a:cs typeface="Calibri"/>
                <a:sym typeface="Calibri"/>
              </a:rPr>
              <a:t> * </a:t>
            </a:r>
            <a:r>
              <a:rPr lang="en-US" sz="1600" dirty="0" err="1">
                <a:solidFill>
                  <a:schemeClr val="dk1"/>
                </a:solidFill>
                <a:latin typeface="Calibri"/>
                <a:ea typeface="Calibri"/>
                <a:cs typeface="Calibri"/>
                <a:sym typeface="Calibri"/>
              </a:rPr>
              <a:t>Nmovies</a:t>
            </a:r>
            <a:r>
              <a:rPr lang="en-US" sz="16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Solutions:</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Near-neighbor search in high dimensions (LSH = Locality Sensitive Hashing, etc.)</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Clustering</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Dimensionality reduction</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Harry Potter effect (popularity bias) – recommending a popular item to many users makes it more popular.</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Combining item-to-item and user-to-user (Netflix).</a:t>
            </a:r>
            <a:endParaRPr dirty="0"/>
          </a:p>
          <a:p>
            <a:pPr marL="0" marR="0" lvl="0" indent="0" algn="l" rtl="0">
              <a:spcBef>
                <a:spcPts val="0"/>
              </a:spcBef>
              <a:spcAft>
                <a:spcPts val="0"/>
              </a:spcAft>
              <a:buNone/>
            </a:pPr>
            <a:r>
              <a:rPr lang="en-US" sz="1600">
                <a:solidFill>
                  <a:schemeClr val="dk1"/>
                </a:solidFill>
                <a:latin typeface="Calibri"/>
                <a:ea typeface="Calibri"/>
                <a:cs typeface="Calibri"/>
                <a:sym typeface="Calibri"/>
              </a:rPr>
              <a:t>Also adding other features (geography, language, age, etc.)</a:t>
            </a:r>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Common practice:</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define similarity of items</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select “K” nearest neighbors for each pair (item, user)</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estimate ratings as base-line + CF piece (weighted normalized average)</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Testing algorithm: remove some data from Utility matrix – and try to predict it.</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Compare actual data with predictions – using root-square measure.</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Problems with this:  </a:t>
            </a:r>
            <a:endParaRPr sz="16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prediction diversity (many similar items), </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prediction context (interest exists only during a trip), </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 - order of predictions</a:t>
            </a:r>
            <a:endParaRPr dirty="0"/>
          </a:p>
          <a:p>
            <a:pPr marL="0" marR="0" lvl="0" indent="0" algn="l" rtl="0">
              <a:spcBef>
                <a:spcPts val="0"/>
              </a:spcBef>
              <a:spcAft>
                <a:spcPts val="0"/>
              </a:spcAft>
              <a:buNone/>
            </a:pPr>
            <a:r>
              <a:rPr lang="en-US" sz="1600" dirty="0">
                <a:solidFill>
                  <a:schemeClr val="dk1"/>
                </a:solidFill>
                <a:latin typeface="Calibri"/>
                <a:ea typeface="Calibri"/>
                <a:cs typeface="Calibri"/>
                <a:sym typeface="Calibri"/>
              </a:rPr>
              <a:t>Possible solution – only compare several top ratings.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p:nvPr/>
        </p:nvSpPr>
        <p:spPr>
          <a:xfrm>
            <a:off x="0" y="42965"/>
            <a:ext cx="7042485" cy="181588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Latent Factor Recommender Systems</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Each user is represented as a K-dimensional vector of latent variables.</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Each movie is also represented as a K-dimensional vector (in picture below K=3)</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We decompose original utility matrix into a product of 2 matrixes of latent vectors.</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This is “matrix factorization”.</a:t>
            </a:r>
            <a:endParaRPr/>
          </a:p>
          <a:p>
            <a:pPr marL="0" marR="0" lvl="0" indent="0" algn="l" rtl="0">
              <a:spcBef>
                <a:spcPts val="0"/>
              </a:spcBef>
              <a:spcAft>
                <a:spcPts val="0"/>
              </a:spcAft>
              <a:buNone/>
            </a:pPr>
            <a:r>
              <a:rPr lang="en-US" sz="1600">
                <a:solidFill>
                  <a:schemeClr val="dk1"/>
                </a:solidFill>
                <a:latin typeface="Calibri"/>
                <a:ea typeface="Calibri"/>
                <a:cs typeface="Calibri"/>
                <a:sym typeface="Calibri"/>
              </a:rPr>
              <a:t>To find latent vectors, we solve minimization problem.</a:t>
            </a:r>
            <a:endParaRPr/>
          </a:p>
        </p:txBody>
      </p:sp>
      <p:pic>
        <p:nvPicPr>
          <p:cNvPr id="122" name="Google Shape;122;p1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395789" y="2055362"/>
            <a:ext cx="7796211" cy="4802638"/>
          </a:xfrm>
          <a:prstGeom prst="rect">
            <a:avLst/>
          </a:prstGeom>
          <a:noFill/>
          <a:ln>
            <a:noFill/>
          </a:ln>
        </p:spPr>
      </p:pic>
      <p:pic>
        <p:nvPicPr>
          <p:cNvPr id="123" name="Google Shape;123;p1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60420" y="2614864"/>
            <a:ext cx="3659438" cy="3264568"/>
          </a:xfrm>
          <a:prstGeom prst="rect">
            <a:avLst/>
          </a:prstGeom>
          <a:noFill/>
          <a:ln>
            <a:noFill/>
          </a:ln>
        </p:spPr>
      </p:pic>
      <p:sp>
        <p:nvSpPr>
          <p:cNvPr id="124" name="Google Shape;124;p18"/>
          <p:cNvSpPr txBox="1"/>
          <p:nvPr/>
        </p:nvSpPr>
        <p:spPr>
          <a:xfrm>
            <a:off x="1331494" y="6272463"/>
            <a:ext cx="210151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Netflix prize (2009)</a:t>
            </a:r>
            <a:endParaRPr sz="1800">
              <a:solidFill>
                <a:schemeClr val="dk1"/>
              </a:solidFill>
              <a:latin typeface="Calibri"/>
              <a:ea typeface="Calibri"/>
              <a:cs typeface="Calibri"/>
              <a:sym typeface="Calibri"/>
            </a:endParaRPr>
          </a:p>
        </p:txBody>
      </p:sp>
      <p:cxnSp>
        <p:nvCxnSpPr>
          <p:cNvPr id="125" name="Google Shape;125;p18"/>
          <p:cNvCxnSpPr>
            <a:stCxn id="124" idx="0"/>
          </p:cNvCxnSpPr>
          <p:nvPr/>
        </p:nvCxnSpPr>
        <p:spPr>
          <a:xfrm rot="10800000">
            <a:off x="2382253" y="5759163"/>
            <a:ext cx="0" cy="513300"/>
          </a:xfrm>
          <a:prstGeom prst="straightConnector1">
            <a:avLst/>
          </a:prstGeom>
          <a:noFill/>
          <a:ln w="63500" cap="flat" cmpd="sng">
            <a:solidFill>
              <a:schemeClr val="accent1"/>
            </a:solidFill>
            <a:prstDash val="solid"/>
            <a:miter lim="800000"/>
            <a:headEnd type="none" w="sm" len="sm"/>
            <a:tailEnd type="triangle" w="med" len="med"/>
          </a:ln>
        </p:spPr>
      </p:cxnSp>
      <p:sp>
        <p:nvSpPr>
          <p:cNvPr id="126" name="Google Shape;126;p18"/>
          <p:cNvSpPr txBox="1"/>
          <p:nvPr/>
        </p:nvSpPr>
        <p:spPr>
          <a:xfrm>
            <a:off x="7042486" y="128337"/>
            <a:ext cx="5005136" cy="175432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Dimensionality Reduction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some rows/columns of a matrix can be presented as linear combinations of others, this decreases the “rank” of the matrix. We can then reduce the matrix to a smaller matrix (for example, convert from 3D to 2D plane).</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p:nvPr/>
        </p:nvSpPr>
        <p:spPr>
          <a:xfrm>
            <a:off x="0" y="2906915"/>
            <a:ext cx="12047620" cy="258532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Andrew uses a (low rank) matrix factorization algorithm.</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It is similar to the Singular Value Decomposition (SVD = diagonalization / rotation) of “y”.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You're trying to compute Θ and X so that (Θ</a:t>
            </a:r>
            <a:r>
              <a:rPr lang="en-US" sz="1800" baseline="30000">
                <a:solidFill>
                  <a:schemeClr val="dk1"/>
                </a:solidFill>
                <a:latin typeface="Calibri"/>
                <a:ea typeface="Calibri"/>
                <a:cs typeface="Calibri"/>
                <a:sym typeface="Calibri"/>
              </a:rPr>
              <a:t>T</a:t>
            </a:r>
            <a:r>
              <a:rPr lang="en-US" sz="1800">
                <a:solidFill>
                  <a:schemeClr val="dk1"/>
                </a:solidFill>
                <a:latin typeface="Calibri"/>
                <a:ea typeface="Calibri"/>
                <a:cs typeface="Calibri"/>
                <a:sym typeface="Calibri"/>
              </a:rPr>
              <a:t>X−y)  is minimal in a sum of squares sense,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subject to a regularization condition and ignoring any values that aren't in y.</a:t>
            </a:r>
            <a:endParaRPr/>
          </a:p>
          <a:p>
            <a:pPr marL="0" marR="0" lvl="0" indent="0" algn="l" rtl="0">
              <a:spcBef>
                <a:spcPts val="0"/>
              </a:spcBef>
              <a:spcAft>
                <a:spcPts val="0"/>
              </a:spcAft>
              <a:buNone/>
            </a:pP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The number of features “n” that you elect to use can be seen as corresponding to the number of singular values you'd include if you were reducing the dimensionality of your data using a SVD. If you didn't have any missing data and there were no regularization, these notions would correspond exactly, except that SVD gives you USV</a:t>
            </a:r>
            <a:r>
              <a:rPr lang="en-US" sz="1800" baseline="30000">
                <a:solidFill>
                  <a:schemeClr val="dk1"/>
                </a:solidFill>
                <a:latin typeface="Calibri"/>
                <a:ea typeface="Calibri"/>
                <a:cs typeface="Calibri"/>
                <a:sym typeface="Calibri"/>
              </a:rPr>
              <a:t>T</a:t>
            </a:r>
            <a:r>
              <a:rPr lang="en-US" sz="1800">
                <a:solidFill>
                  <a:schemeClr val="dk1"/>
                </a:solidFill>
                <a:latin typeface="Calibri"/>
                <a:ea typeface="Calibri"/>
                <a:cs typeface="Calibri"/>
                <a:sym typeface="Calibri"/>
              </a:rPr>
              <a:t>=y , where S is diagonal so the S factors would be smushed into the Θ and X matrices you computed.</a:t>
            </a:r>
            <a:endParaRPr/>
          </a:p>
        </p:txBody>
      </p:sp>
      <p:sp>
        <p:nvSpPr>
          <p:cNvPr id="132" name="Google Shape;132;p19"/>
          <p:cNvSpPr txBox="1"/>
          <p:nvPr/>
        </p:nvSpPr>
        <p:spPr>
          <a:xfrm>
            <a:off x="1" y="0"/>
            <a:ext cx="9384632" cy="286232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 Andrew Ng’s Machine Learning course: Recommender System &amp; Collaborative Filtering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we select n features (like romance, action, etc. – in 0..5 scale).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x - vector of features’ values for a movie.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ϴ - vector of features’ values for user preferences.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y – matrix of ratings users give to movies (matrix size is (N</a:t>
            </a:r>
            <a:r>
              <a:rPr lang="en-US" sz="1800" baseline="-25000">
                <a:solidFill>
                  <a:schemeClr val="dk1"/>
                </a:solidFill>
                <a:latin typeface="Calibri"/>
                <a:ea typeface="Calibri"/>
                <a:cs typeface="Calibri"/>
                <a:sym typeface="Calibri"/>
              </a:rPr>
              <a:t>users</a:t>
            </a:r>
            <a:r>
              <a:rPr lang="en-US" sz="1800">
                <a:solidFill>
                  <a:schemeClr val="dk1"/>
                </a:solidFill>
                <a:latin typeface="Calibri"/>
                <a:ea typeface="Calibri"/>
                <a:cs typeface="Calibri"/>
                <a:sym typeface="Calibri"/>
              </a:rPr>
              <a:t>, N</a:t>
            </a:r>
            <a:r>
              <a:rPr lang="en-US" sz="1800" baseline="-25000">
                <a:solidFill>
                  <a:schemeClr val="dk1"/>
                </a:solidFill>
                <a:latin typeface="Calibri"/>
                <a:ea typeface="Calibri"/>
                <a:cs typeface="Calibri"/>
                <a:sym typeface="Calibri"/>
              </a:rPr>
              <a:t>movies</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Given n-features, y &amp; x , we can get ϴ</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Given n-features, y &amp; ϴ, we can get x</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 given “y”, we can solve minimization problem against both x &amp; ϴ (and find features).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Note: after you've learned features, it's often very hard to come in and apply a human understandable metric to what those features are.</a:t>
            </a:r>
            <a:endParaRPr/>
          </a:p>
        </p:txBody>
      </p:sp>
      <p:sp>
        <p:nvSpPr>
          <p:cNvPr id="133" name="Google Shape;133;p19"/>
          <p:cNvSpPr txBox="1"/>
          <p:nvPr/>
        </p:nvSpPr>
        <p:spPr>
          <a:xfrm>
            <a:off x="32085" y="5588490"/>
            <a:ext cx="11935326"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Mean Normalization: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Calculate average rating for each movie, and subtract them from ratings for this movie in matrix “y”. If we run our predictive algorithm for a user with no activity – it will predict zeros for all movies. But then we can add the average value for each movie – and recommend the ones with higher averages.</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0"/>
          <p:cNvSpPr txBox="1"/>
          <p:nvPr/>
        </p:nvSpPr>
        <p:spPr>
          <a:xfrm>
            <a:off x="545432" y="368968"/>
            <a:ext cx="8213557" cy="424731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Amazon has released their recommendation engine as open source: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 https://github.com/amzn/amazon-dsstne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a:solidFill>
                  <a:srgbClr val="0070C0"/>
                </a:solidFill>
                <a:latin typeface="Calibri"/>
                <a:ea typeface="Calibri"/>
                <a:cs typeface="Calibri"/>
                <a:sym typeface="Calibri"/>
              </a:rPr>
              <a:t>Amazon DSSTNE: Deep Scalable Sparse Tensor Network Engine </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DSSTNE (pronounced "Destiny") is an open source software library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for training and deploying recommendation models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with sparse inputs, fully connected hidden layers, and sparse outputs.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Models with weight matrices that are too large for a single GPU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can still be trained on a single host.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DSSTNE has been used at Amazon to generate personalized product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recommendations for our customers at Amazon's scale.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It is designed for production deployment of real-world applications </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which need to emphasize speed and scale over experimental flexibility.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1"/>
          <p:cNvSpPr txBox="1"/>
          <p:nvPr/>
        </p:nvSpPr>
        <p:spPr>
          <a:xfrm>
            <a:off x="0" y="0"/>
            <a:ext cx="5514975" cy="19288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err="1">
                <a:solidFill>
                  <a:schemeClr val="dk1"/>
                </a:solidFill>
                <a:latin typeface="Calibri"/>
                <a:ea typeface="Calibri"/>
                <a:cs typeface="Calibri"/>
                <a:sym typeface="Calibri"/>
              </a:rPr>
              <a:t>Misc</a:t>
            </a:r>
            <a:r>
              <a:rPr lang="en-US" sz="1200" dirty="0">
                <a:solidFill>
                  <a:schemeClr val="dk1"/>
                </a:solidFill>
                <a:latin typeface="Calibri"/>
                <a:ea typeface="Calibri"/>
                <a:cs typeface="Calibri"/>
                <a:sym typeface="Calibri"/>
              </a:rPr>
              <a:t>:</a:t>
            </a:r>
            <a:endParaRPr sz="1200"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err="1">
                <a:solidFill>
                  <a:schemeClr val="dk1"/>
                </a:solidFill>
                <a:latin typeface="Calibri"/>
                <a:ea typeface="Calibri"/>
                <a:cs typeface="Calibri"/>
                <a:sym typeface="Calibri"/>
              </a:rPr>
              <a:t>deFinetti</a:t>
            </a:r>
            <a:r>
              <a:rPr lang="en-US" sz="1200" dirty="0">
                <a:solidFill>
                  <a:schemeClr val="dk1"/>
                </a:solidFill>
                <a:latin typeface="Calibri"/>
                <a:ea typeface="Calibri"/>
                <a:cs typeface="Calibri"/>
                <a:sym typeface="Calibri"/>
              </a:rPr>
              <a:t> Theorem: Exchangeable random variable can be rewritten as   product of independent variables </a:t>
            </a:r>
            <a:r>
              <a:rPr lang="en-US" sz="1200" dirty="0" err="1">
                <a:solidFill>
                  <a:schemeClr val="dk1"/>
                </a:solidFill>
                <a:latin typeface="Calibri"/>
                <a:ea typeface="Calibri"/>
                <a:cs typeface="Calibri"/>
                <a:sym typeface="Calibri"/>
              </a:rPr>
              <a:t>conditionned</a:t>
            </a:r>
            <a:r>
              <a:rPr lang="en-US" sz="1200" dirty="0">
                <a:solidFill>
                  <a:schemeClr val="dk1"/>
                </a:solidFill>
                <a:latin typeface="Calibri"/>
                <a:ea typeface="Calibri"/>
                <a:cs typeface="Calibri"/>
                <a:sym typeface="Calibri"/>
              </a:rPr>
              <a:t> on some parameter (root cause).</a:t>
            </a:r>
            <a:endParaRPr sz="1200"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Aldous Hoover Factorization, variants</a:t>
            </a:r>
            <a:endParaRPr sz="1200"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Bias (user bias, product bias)</a:t>
            </a:r>
            <a:endParaRPr sz="1200" dirty="0"/>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Ratings are not random. Distribution is not even.</a:t>
            </a:r>
            <a:endParaRPr sz="1200" dirty="0"/>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It may be bi-modal (love/hate), or skewed to one side.</a:t>
            </a:r>
            <a:endParaRPr sz="1200" dirty="0"/>
          </a:p>
        </p:txBody>
      </p:sp>
      <p:sp>
        <p:nvSpPr>
          <p:cNvPr id="2" name="TextBox 1">
            <a:extLst>
              <a:ext uri="{FF2B5EF4-FFF2-40B4-BE49-F238E27FC236}">
                <a16:creationId xmlns:a16="http://schemas.microsoft.com/office/drawing/2014/main" id="{AC85AE35-6B56-AB40-85B5-465A6D1D06CA}"/>
              </a:ext>
            </a:extLst>
          </p:cNvPr>
          <p:cNvSpPr txBox="1"/>
          <p:nvPr/>
        </p:nvSpPr>
        <p:spPr>
          <a:xfrm>
            <a:off x="0" y="2471738"/>
            <a:ext cx="5514975" cy="3785652"/>
          </a:xfrm>
          <a:prstGeom prst="rect">
            <a:avLst/>
          </a:prstGeom>
          <a:noFill/>
        </p:spPr>
        <p:txBody>
          <a:bodyPr wrap="square" rtlCol="0">
            <a:spAutoFit/>
          </a:bodyPr>
          <a:lstStyle/>
          <a:p>
            <a:r>
              <a:rPr lang="en-US" sz="1200" dirty="0"/>
              <a:t>List of recommender systems:</a:t>
            </a:r>
          </a:p>
          <a:p>
            <a:r>
              <a:rPr lang="en-US" sz="1200" dirty="0"/>
              <a:t> - </a:t>
            </a:r>
            <a:r>
              <a:rPr lang="en-US" sz="1200" dirty="0">
                <a:hlinkClick r:id="rId3"/>
              </a:rPr>
              <a:t>https://github.com/grahamjenson/list_of_recommender_systems</a:t>
            </a:r>
            <a:endParaRPr lang="en-US" sz="1200" dirty="0"/>
          </a:p>
          <a:p>
            <a:r>
              <a:rPr lang="en-US" sz="1200" dirty="0"/>
              <a:t>The Top 98 Recommender System Open Source Projects</a:t>
            </a:r>
          </a:p>
          <a:p>
            <a:r>
              <a:rPr lang="en-US" sz="1200" dirty="0"/>
              <a:t>- </a:t>
            </a:r>
            <a:r>
              <a:rPr lang="en-US" sz="1200" dirty="0">
                <a:hlinkClick r:id="rId4"/>
              </a:rPr>
              <a:t>https://awesomeopensource.com/projects/recommender-system</a:t>
            </a:r>
            <a:r>
              <a:rPr lang="en-US" sz="1200" dirty="0"/>
              <a:t> </a:t>
            </a:r>
          </a:p>
          <a:p>
            <a:r>
              <a:rPr lang="en-US" sz="1200" dirty="0"/>
              <a:t>The Top 19 Recommendation Engine Open Source Projects</a:t>
            </a:r>
          </a:p>
          <a:p>
            <a:r>
              <a:rPr lang="en-US" sz="1200" dirty="0"/>
              <a:t>- </a:t>
            </a:r>
            <a:r>
              <a:rPr lang="en-US" sz="1200" dirty="0">
                <a:hlinkClick r:id="rId5"/>
              </a:rPr>
              <a:t>https://awesomeopensource.com/projects/recommendation-engine</a:t>
            </a:r>
            <a:r>
              <a:rPr lang="en-US" sz="1200" dirty="0"/>
              <a:t> </a:t>
            </a:r>
          </a:p>
          <a:p>
            <a:r>
              <a:rPr lang="en-US" sz="1200" dirty="0"/>
              <a:t>Open Source Recommender Systems</a:t>
            </a:r>
          </a:p>
          <a:p>
            <a:r>
              <a:rPr lang="en-US" sz="1200" dirty="0"/>
              <a:t> - </a:t>
            </a:r>
            <a:r>
              <a:rPr lang="en-US" sz="1200" dirty="0">
                <a:hlinkClick r:id="rId6"/>
              </a:rPr>
              <a:t>https://mathsgee.com/docs/recommender-systems/open-source-recommender-systems/</a:t>
            </a:r>
            <a:r>
              <a:rPr lang="en-US" sz="1200" dirty="0"/>
              <a:t> </a:t>
            </a:r>
          </a:p>
          <a:p>
            <a:r>
              <a:rPr lang="en-US" sz="1200" dirty="0"/>
              <a:t> Recommendation System in Python</a:t>
            </a:r>
          </a:p>
          <a:p>
            <a:r>
              <a:rPr lang="en-US" sz="1200" dirty="0"/>
              <a:t> - </a:t>
            </a:r>
            <a:r>
              <a:rPr lang="en-US" sz="1200" dirty="0">
                <a:hlinkClick r:id="rId7"/>
              </a:rPr>
              <a:t>https://towardsdatascience.com/recommendation-system-in-python-lightfm-61c85010ce17</a:t>
            </a:r>
            <a:endParaRPr lang="en-US" sz="1200" dirty="0"/>
          </a:p>
          <a:p>
            <a:r>
              <a:rPr lang="en-US" sz="1200" dirty="0"/>
              <a:t>Microsoft – Recommenders:</a:t>
            </a:r>
          </a:p>
          <a:p>
            <a:r>
              <a:rPr lang="en-US" sz="1200" dirty="0"/>
              <a:t> - </a:t>
            </a:r>
            <a:r>
              <a:rPr lang="en-US" sz="1200" dirty="0">
                <a:hlinkClick r:id="rId8"/>
              </a:rPr>
              <a:t>https://github.com/microsoft/recommenders</a:t>
            </a:r>
            <a:r>
              <a:rPr lang="en-US" sz="1200" dirty="0"/>
              <a:t> </a:t>
            </a:r>
          </a:p>
          <a:p>
            <a:r>
              <a:rPr lang="en-US" sz="1200" dirty="0"/>
              <a:t>10 Open-Source Datasets One Must Know To Build Recommender Systems:</a:t>
            </a:r>
          </a:p>
          <a:p>
            <a:r>
              <a:rPr lang="en-US" sz="1200" dirty="0"/>
              <a:t> - </a:t>
            </a:r>
            <a:r>
              <a:rPr lang="en-US" sz="1200" dirty="0">
                <a:hlinkClick r:id="rId9"/>
              </a:rPr>
              <a:t>https://analyticsindiamag.com/10-open-source-datasets-one-must-know-to-build-recommender-systems/</a:t>
            </a:r>
            <a:r>
              <a:rPr lang="en-US" sz="1200" dirty="0"/>
              <a:t> </a:t>
            </a:r>
          </a:p>
          <a:p>
            <a:r>
              <a:rPr lang="en-US" sz="1200" dirty="0"/>
              <a:t>NVIDIA Course on Building Recommender Systems:</a:t>
            </a:r>
          </a:p>
          <a:p>
            <a:r>
              <a:rPr lang="en-US" sz="1200" dirty="0"/>
              <a:t> - </a:t>
            </a:r>
            <a:r>
              <a:rPr lang="en-US" sz="1200" dirty="0">
                <a:hlinkClick r:id="rId10"/>
              </a:rPr>
              <a:t>https://blogs.nvidia.com/blog/2020/05/14/whats-a-recommender-system/</a:t>
            </a:r>
            <a:r>
              <a:rPr lang="en-US" sz="1200" dirty="0"/>
              <a:t> </a:t>
            </a:r>
          </a:p>
          <a:p>
            <a:endParaRPr lang="en-US" sz="1200" dirty="0"/>
          </a:p>
        </p:txBody>
      </p:sp>
      <p:sp>
        <p:nvSpPr>
          <p:cNvPr id="4" name="TextBox 3">
            <a:extLst>
              <a:ext uri="{FF2B5EF4-FFF2-40B4-BE49-F238E27FC236}">
                <a16:creationId xmlns:a16="http://schemas.microsoft.com/office/drawing/2014/main" id="{0BC8821A-78F3-8B4C-803A-D91C49EEF70B}"/>
              </a:ext>
            </a:extLst>
          </p:cNvPr>
          <p:cNvSpPr txBox="1"/>
          <p:nvPr/>
        </p:nvSpPr>
        <p:spPr>
          <a:xfrm>
            <a:off x="6257925" y="271462"/>
            <a:ext cx="5514976" cy="3631763"/>
          </a:xfrm>
          <a:prstGeom prst="rect">
            <a:avLst/>
          </a:prstGeom>
          <a:noFill/>
        </p:spPr>
        <p:txBody>
          <a:bodyPr wrap="square" rtlCol="0">
            <a:spAutoFit/>
          </a:bodyPr>
          <a:lstStyle/>
          <a:p>
            <a:r>
              <a:rPr lang="en-US" sz="1200" dirty="0"/>
              <a:t>Recommender Systems: Matrix Factorization using </a:t>
            </a:r>
            <a:r>
              <a:rPr lang="en-US" sz="1200" dirty="0" err="1"/>
              <a:t>PyTorch</a:t>
            </a:r>
            <a:endParaRPr lang="en-US" sz="1200" dirty="0"/>
          </a:p>
          <a:p>
            <a:r>
              <a:rPr lang="en-US" sz="1200" dirty="0"/>
              <a:t> - </a:t>
            </a:r>
            <a:r>
              <a:rPr lang="en-US" sz="1200" dirty="0">
                <a:hlinkClick r:id="rId11"/>
              </a:rPr>
              <a:t>https://towardsdatascience.com/recommender-systems-matrix-factorization-using-pytorch-bd52f46aa199</a:t>
            </a:r>
            <a:r>
              <a:rPr lang="en-US" sz="1200" dirty="0"/>
              <a:t> </a:t>
            </a:r>
          </a:p>
          <a:p>
            <a:endParaRPr lang="en-US" sz="1200" dirty="0"/>
          </a:p>
          <a:p>
            <a:r>
              <a:rPr lang="en-US" sz="1200" dirty="0"/>
              <a:t>Building a strong baseline recommender using </a:t>
            </a:r>
            <a:r>
              <a:rPr lang="en-US" sz="1200" dirty="0" err="1"/>
              <a:t>PyTorch</a:t>
            </a:r>
            <a:r>
              <a:rPr lang="en-US" sz="1200" dirty="0"/>
              <a:t>, on a regular laptop</a:t>
            </a:r>
          </a:p>
          <a:p>
            <a:r>
              <a:rPr lang="en-US" sz="1200" dirty="0"/>
              <a:t> - </a:t>
            </a:r>
            <a:r>
              <a:rPr lang="en-US" sz="1200" dirty="0">
                <a:hlinkClick r:id="rId12"/>
              </a:rPr>
              <a:t>https://towardsdatascience.com/how-to-build-a-strong-baseline-recommender-using-pytorch-on-a-regular-laptop-2ad497504fe6</a:t>
            </a:r>
            <a:endParaRPr lang="en-US" sz="1200" dirty="0"/>
          </a:p>
          <a:p>
            <a:endParaRPr lang="en-US" sz="1200" dirty="0"/>
          </a:p>
          <a:p>
            <a:r>
              <a:rPr lang="en-US" sz="1200" dirty="0"/>
              <a:t>Recommendation System Implementation With Deep Learning and </a:t>
            </a:r>
            <a:r>
              <a:rPr lang="en-US" sz="1200" dirty="0" err="1"/>
              <a:t>PyTorch</a:t>
            </a:r>
            <a:endParaRPr lang="en-US" sz="1200" dirty="0"/>
          </a:p>
          <a:p>
            <a:r>
              <a:rPr lang="en-US" sz="1200" dirty="0"/>
              <a:t> - </a:t>
            </a:r>
            <a:r>
              <a:rPr lang="en-US" sz="1200" dirty="0">
                <a:hlinkClick r:id="rId13"/>
              </a:rPr>
              <a:t>https://medium.com/swlh/recommendation-system-implementation-with-deep-learning-and-pytorch-a03ee84a96f4</a:t>
            </a:r>
            <a:endParaRPr lang="en-US" sz="1200" dirty="0"/>
          </a:p>
          <a:p>
            <a:endParaRPr lang="en-US" sz="1200" dirty="0"/>
          </a:p>
          <a:p>
            <a:r>
              <a:rPr lang="en-US" sz="1200" dirty="0"/>
              <a:t>Building an Incremental Recommender System</a:t>
            </a:r>
          </a:p>
          <a:p>
            <a:r>
              <a:rPr lang="en-US" sz="1200" dirty="0">
                <a:hlinkClick r:id="rId14"/>
              </a:rPr>
              <a:t>https://towardsdatascience.com/building-an-incremental-recommender-system-8836e30afaef</a:t>
            </a:r>
            <a:endParaRPr lang="en-US" sz="1200" dirty="0"/>
          </a:p>
          <a:p>
            <a:endParaRPr lang="en-US" sz="1200" dirty="0"/>
          </a:p>
          <a:p>
            <a:r>
              <a:rPr lang="en-US" sz="1200" dirty="0"/>
              <a:t>Amazon DSSTNE: Deep Scalable Sparse Tensor Network Engine:</a:t>
            </a:r>
          </a:p>
          <a:p>
            <a:r>
              <a:rPr lang="en-US" sz="1200" dirty="0">
                <a:hlinkClick r:id="rId15"/>
              </a:rPr>
              <a:t>https://github.com/amazon-archives/amazon-dsstne</a:t>
            </a:r>
            <a:r>
              <a:rPr lang="en-US" sz="1200" dirty="0"/>
              <a:t> </a:t>
            </a:r>
            <a:br>
              <a:rPr lang="en-US" sz="1200" dirty="0"/>
            </a:b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1881</Words>
  <Application>Microsoft Macintosh PowerPoint</Application>
  <PresentationFormat>Widescreen</PresentationFormat>
  <Paragraphs>171</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4</cp:revision>
  <dcterms:modified xsi:type="dcterms:W3CDTF">2020-10-29T14:58:15Z</dcterms:modified>
</cp:coreProperties>
</file>