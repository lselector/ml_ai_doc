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61" r:id="rId2"/>
    <p:sldId id="262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49"/>
    <p:restoredTop sz="94646"/>
  </p:normalViewPr>
  <p:slideViewPr>
    <p:cSldViewPr snapToGrid="0" snapToObjects="1">
      <p:cViewPr varScale="1">
        <p:scale>
          <a:sx n="103" d="100"/>
          <a:sy n="103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4176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3487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Conference_on_Neural_Information_Processing_Systems" TargetMode="External"/><Relationship Id="rId5" Type="http://schemas.openxmlformats.org/officeDocument/2006/relationships/hyperlink" Target="https://papers.nips.cc/" TargetMode="External"/><Relationship Id="rId4" Type="http://schemas.openxmlformats.org/officeDocument/2006/relationships/hyperlink" Target="https://nips.cc/" TargetMode="Externa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auai.org/" TargetMode="External"/><Relationship Id="rId13" Type="http://schemas.openxmlformats.org/officeDocument/2006/relationships/hyperlink" Target="https://www.ecmlpkdd2019.org/" TargetMode="External"/><Relationship Id="rId18" Type="http://schemas.openxmlformats.org/officeDocument/2006/relationships/hyperlink" Target="http://cvpr2020.thecvf.com/" TargetMode="External"/><Relationship Id="rId3" Type="http://schemas.openxmlformats.org/officeDocument/2006/relationships/hyperlink" Target="https://nips.cc/" TargetMode="External"/><Relationship Id="rId7" Type="http://schemas.openxmlformats.org/officeDocument/2006/relationships/hyperlink" Target="https://icml.cc/" TargetMode="External"/><Relationship Id="rId12" Type="http://schemas.openxmlformats.org/officeDocument/2006/relationships/hyperlink" Target="https://odsc.com/" TargetMode="External"/><Relationship Id="rId17" Type="http://schemas.openxmlformats.org/officeDocument/2006/relationships/hyperlink" Target="https://aaai.org/Conferences/AAAI-20/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www.ai-expo.net/northamerica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jcai.org/" TargetMode="External"/><Relationship Id="rId11" Type="http://schemas.openxmlformats.org/officeDocument/2006/relationships/hyperlink" Target="https://conferences.oreilly.com/artificial-intelligence/ai-ny" TargetMode="External"/><Relationship Id="rId5" Type="http://schemas.openxmlformats.org/officeDocument/2006/relationships/hyperlink" Target="https://saiconference.com/IntelliSys" TargetMode="External"/><Relationship Id="rId15" Type="http://schemas.openxmlformats.org/officeDocument/2006/relationships/hyperlink" Target="https://www.robot-learning.org/" TargetMode="External"/><Relationship Id="rId10" Type="http://schemas.openxmlformats.org/officeDocument/2006/relationships/hyperlink" Target="http://icdm2019.bigke.org/" TargetMode="External"/><Relationship Id="rId19" Type="http://schemas.openxmlformats.org/officeDocument/2006/relationships/hyperlink" Target="http://www.wikicfp.com/cfp/program?id=628" TargetMode="External"/><Relationship Id="rId4" Type="http://schemas.openxmlformats.org/officeDocument/2006/relationships/hyperlink" Target="https://iclr.cc/" TargetMode="External"/><Relationship Id="rId9" Type="http://schemas.openxmlformats.org/officeDocument/2006/relationships/hyperlink" Target="http://www.icaps-conference.org/" TargetMode="External"/><Relationship Id="rId14" Type="http://schemas.openxmlformats.org/officeDocument/2006/relationships/hyperlink" Target="http://2019.ieeeicip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378" y="142352"/>
            <a:ext cx="1871180" cy="203183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39378" y="2196282"/>
            <a:ext cx="187118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 Posner,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CalTech,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conference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President, founded NIPS foundation.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965492" y="2099521"/>
            <a:ext cx="204871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Yaser Abu-Mostafa,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CalTech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140560" y="2911353"/>
            <a:ext cx="5912062" cy="3777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NIPS Conference – held every </a:t>
            </a:r>
            <a:r>
              <a:rPr lang="en-US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December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since 1987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NIPS = Neural Information Processing Systems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https://nips.cc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https://papers.nips.cc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 sz="12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https://en.wikipedia.org/wiki/Conference_on_Neural_Information_Processing_Systems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2014 – 2,500 registered participants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2015 – 3,755 (~50% growth)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2016 – 5,680 (~51% growth)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2017 – 8,000+</a:t>
            </a:r>
          </a:p>
          <a:p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2018 – 12K  (2K tickets for main session sold in 12 minutes)</a:t>
            </a:r>
            <a:b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2019 ~ 13K, lottery was used to distribute tickets</a:t>
            </a:r>
          </a:p>
          <a:p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2020 - online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022639" y="2326579"/>
            <a:ext cx="332074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NIPS = </a:t>
            </a:r>
            <a:r>
              <a:rPr lang="en-US" sz="3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NeurIPS</a:t>
            </a:r>
            <a:endParaRPr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078937" y="2111135"/>
            <a:ext cx="2048718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James Bower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CalTech,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Virtual Worlds, OR</a:t>
            </a:r>
            <a:endParaRPr/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71847" y="142352"/>
            <a:ext cx="1995726" cy="195716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145441" y="3592662"/>
            <a:ext cx="4559359" cy="3096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1987-2000 – in Denver, USA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2001-2010 – in Vancouver, Canada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2011 – Granada, Spain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2012-2013 – Lake Tahoe, US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2014-2015 – Montreal, Canada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2016 - Barcelona, Spain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2017 - Long Beach, California, US (Dec 4-9)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2018 - Montréal, Quebec, Canada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2019 - ?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2020 - online</a:t>
            </a:r>
            <a:endParaRPr dirty="0"/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83831" y="142352"/>
            <a:ext cx="1457436" cy="2031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992214" y="123670"/>
            <a:ext cx="2050519" cy="20505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8100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3E7E0C-8002-794A-8E93-47A273F279C5}"/>
              </a:ext>
            </a:extLst>
          </p:cNvPr>
          <p:cNvSpPr txBox="1"/>
          <p:nvPr/>
        </p:nvSpPr>
        <p:spPr>
          <a:xfrm>
            <a:off x="111210" y="827901"/>
            <a:ext cx="1039203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NIPS = </a:t>
            </a:r>
            <a:r>
              <a:rPr lang="en-US" dirty="0" err="1"/>
              <a:t>NeurIPS</a:t>
            </a:r>
            <a:r>
              <a:rPr lang="en-US" dirty="0"/>
              <a:t> - </a:t>
            </a:r>
            <a:r>
              <a:rPr lang="en-US" dirty="0">
                <a:hlinkClick r:id="rId3"/>
              </a:rPr>
              <a:t>https://nips.cc/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ICLR = International Conference on Learning Representations - </a:t>
            </a:r>
            <a:r>
              <a:rPr lang="en-US" dirty="0">
                <a:hlinkClick r:id="rId4"/>
              </a:rPr>
              <a:t>https://iclr.cc/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ICMLR = International Conference on Machine Learning in Robotics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IntelliSys</a:t>
            </a:r>
            <a:r>
              <a:rPr lang="en-US" dirty="0"/>
              <a:t> - </a:t>
            </a:r>
            <a:r>
              <a:rPr lang="en-US" dirty="0">
                <a:hlinkClick r:id="rId5"/>
              </a:rPr>
              <a:t>https://saiconference.com/IntelliSys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IJCAI = International Joint Conferences on Artificial Intelligence - </a:t>
            </a:r>
            <a:r>
              <a:rPr lang="en-US" dirty="0">
                <a:hlinkClick r:id="rId6"/>
              </a:rPr>
              <a:t>https://www.ijcai.org/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ICML = International Conference on Machine Learning - </a:t>
            </a:r>
            <a:r>
              <a:rPr lang="en-US" dirty="0">
                <a:hlinkClick r:id="rId7"/>
              </a:rPr>
              <a:t>https://icml.cc/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UAI = Uncertainty in Artificial Intelligence - </a:t>
            </a:r>
            <a:r>
              <a:rPr lang="en-US" dirty="0">
                <a:hlinkClick r:id="rId8"/>
              </a:rPr>
              <a:t>http://www.auai.org/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ICAPS = International Conference on Automated Planning and Scheduling - </a:t>
            </a:r>
            <a:r>
              <a:rPr lang="en-US" dirty="0">
                <a:hlinkClick r:id="rId9"/>
              </a:rPr>
              <a:t>http://www.icaps-conference.org/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ICDM = IEEE International Conference on Data Mining - </a:t>
            </a:r>
            <a:r>
              <a:rPr lang="en-US" dirty="0">
                <a:hlinkClick r:id="rId10"/>
              </a:rPr>
              <a:t>http://icdm2019.bigke.org/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O'Reilly AI Conference - </a:t>
            </a:r>
            <a:r>
              <a:rPr lang="en-US" dirty="0">
                <a:hlinkClick r:id="rId11"/>
              </a:rPr>
              <a:t>https://conferences.oreilly.com/artificial-intelligence/ai-ny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 Data Science Conference (ODSC) - </a:t>
            </a:r>
            <a:r>
              <a:rPr lang="en-US" dirty="0">
                <a:hlinkClick r:id="rId12"/>
              </a:rPr>
              <a:t>https://odsc.com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European Conference on Machine Learning and Principles and Practice of Knowledge Discovery in Databases</a:t>
            </a:r>
            <a:br>
              <a:rPr lang="en-US" dirty="0"/>
            </a:br>
            <a:r>
              <a:rPr lang="en-US" dirty="0"/>
              <a:t> - </a:t>
            </a:r>
            <a:r>
              <a:rPr lang="en-US" dirty="0">
                <a:hlinkClick r:id="rId13"/>
              </a:rPr>
              <a:t>https://www.ecmlpkdd2019.org/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ICIP = IEEE International Conference on Image Processing - </a:t>
            </a:r>
            <a:r>
              <a:rPr lang="en-US" dirty="0">
                <a:hlinkClick r:id="rId14"/>
              </a:rPr>
              <a:t>http://2019.ieeeicip.org/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CoRL</a:t>
            </a:r>
            <a:r>
              <a:rPr lang="en-US" dirty="0"/>
              <a:t> = Conference on Robot Learning - </a:t>
            </a:r>
            <a:r>
              <a:rPr lang="en-US" dirty="0">
                <a:hlinkClick r:id="rId15"/>
              </a:rPr>
              <a:t>https://www.robot-learning.org/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 &amp; Big Data Expo - </a:t>
            </a:r>
            <a:r>
              <a:rPr lang="en-US" dirty="0">
                <a:hlinkClick r:id="rId16"/>
              </a:rPr>
              <a:t>https://www.ai-expo.net/northamerica/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AAAI Conference on AI (AAAI = Association for the Advancement of Artificial Intelligence)</a:t>
            </a:r>
            <a:br>
              <a:rPr lang="en-US" dirty="0"/>
            </a:br>
            <a:r>
              <a:rPr lang="en-US" dirty="0"/>
              <a:t> - </a:t>
            </a:r>
            <a:r>
              <a:rPr lang="en-US" dirty="0">
                <a:hlinkClick r:id="rId17"/>
              </a:rPr>
              <a:t>https://aaai.org/Conferences/AAAI-20/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CVPR = Conference on Computer Vision and Pattern Recognition - </a:t>
            </a:r>
            <a:r>
              <a:rPr lang="en-US" dirty="0">
                <a:hlinkClick r:id="rId18"/>
              </a:rPr>
              <a:t>http://cvpr2020.thecvf.com/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- </a:t>
            </a:r>
            <a:r>
              <a:rPr lang="en-US" dirty="0">
                <a:hlinkClick r:id="rId19"/>
              </a:rPr>
              <a:t>http://www.wikicfp.com/cfp/program?id=628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91AB67-B4CE-B84B-A275-FFBCB2BE1BC4}"/>
              </a:ext>
            </a:extLst>
          </p:cNvPr>
          <p:cNvSpPr txBox="1"/>
          <p:nvPr/>
        </p:nvSpPr>
        <p:spPr>
          <a:xfrm>
            <a:off x="0" y="0"/>
            <a:ext cx="5984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Some Conferences / Events</a:t>
            </a:r>
          </a:p>
        </p:txBody>
      </p:sp>
    </p:spTree>
    <p:extLst>
      <p:ext uri="{BB962C8B-B14F-4D97-AF65-F5344CB8AC3E}">
        <p14:creationId xmlns:p14="http://schemas.microsoft.com/office/powerpoint/2010/main" val="4134629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491</Words>
  <Application>Microsoft Macintosh PowerPoint</Application>
  <PresentationFormat>Widescreen</PresentationFormat>
  <Paragraphs>53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49</cp:revision>
  <dcterms:modified xsi:type="dcterms:W3CDTF">2021-05-30T00:05:42Z</dcterms:modified>
</cp:coreProperties>
</file>