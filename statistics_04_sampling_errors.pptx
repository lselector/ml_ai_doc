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69" r:id="rId2"/>
    <p:sldId id="302" r:id="rId3"/>
    <p:sldId id="303" r:id="rId4"/>
    <p:sldId id="256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2"/>
    <p:restoredTop sz="92169"/>
  </p:normalViewPr>
  <p:slideViewPr>
    <p:cSldViewPr snapToGrid="0" snapToObjects="1">
      <p:cViewPr varScale="1">
        <p:scale>
          <a:sx n="105" d="100"/>
          <a:sy n="105" d="100"/>
        </p:scale>
        <p:origin x="9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1EA1-5C46-5341-8587-79D72DBEA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A7D02-E489-6247-A488-5C2C9B2AC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B3616-05FA-A84E-879E-76D70962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5/14/21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A61D6-F5AF-DE42-B285-D209FD8C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3B590-5A43-BD4B-BCAC-54176201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3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tats.stackexchange.com/questions/3931/intuitive-explanation-for-dividing-by-n-1-when-calculating-standard-deviation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hyperlink" Target="https://en.wikipedia.org/wiki/Resampling_(statistics)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en.wikipedia.org/wiki/Sample_(statistics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Bootstrapping_(statistics)" TargetMode="External"/><Relationship Id="rId11" Type="http://schemas.openxmlformats.org/officeDocument/2006/relationships/image" Target="../media/image6.jpeg"/><Relationship Id="rId5" Type="http://schemas.openxmlformats.org/officeDocument/2006/relationships/hyperlink" Target="https://en.wikipedia.org/wiki/Bradley_Efron" TargetMode="External"/><Relationship Id="rId10" Type="http://schemas.openxmlformats.org/officeDocument/2006/relationships/image" Target="../media/image5.jpeg"/><Relationship Id="rId4" Type="http://schemas.openxmlformats.org/officeDocument/2006/relationships/hyperlink" Target="https://en.wikipedia.org/wiki/John_Tukey" TargetMode="External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2EEA3B-9D50-A145-B8FE-B6686486D979}"/>
              </a:ext>
            </a:extLst>
          </p:cNvPr>
          <p:cNvSpPr txBox="1"/>
          <p:nvPr/>
        </p:nvSpPr>
        <p:spPr>
          <a:xfrm>
            <a:off x="0" y="0"/>
            <a:ext cx="4807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Introduction into Statistics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D731C5-EDD2-C145-932A-A88B03CA281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2994" y="894842"/>
            <a:ext cx="3452730" cy="36014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24CC4E-3332-5542-A614-EDEF0AE14AAA}"/>
              </a:ext>
            </a:extLst>
          </p:cNvPr>
          <p:cNvSpPr txBox="1"/>
          <p:nvPr/>
        </p:nvSpPr>
        <p:spPr>
          <a:xfrm>
            <a:off x="8020423" y="200054"/>
            <a:ext cx="3019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</a:rPr>
              <a:t>Here are some basic formulas: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CAE6D3-B545-F244-8CA7-FAE7513462A6}"/>
              </a:ext>
            </a:extLst>
          </p:cNvPr>
          <p:cNvSpPr txBox="1"/>
          <p:nvPr/>
        </p:nvSpPr>
        <p:spPr>
          <a:xfrm>
            <a:off x="7438183" y="4859993"/>
            <a:ext cx="46641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Intuitive explanation for dividing by (n-1) </a:t>
            </a:r>
          </a:p>
          <a:p>
            <a:r>
              <a:rPr lang="en-US" dirty="0"/>
              <a:t>when calculating standard deviation:</a:t>
            </a:r>
          </a:p>
          <a:p>
            <a:endParaRPr lang="en-US" dirty="0"/>
          </a:p>
          <a:p>
            <a:r>
              <a:rPr lang="en-US" dirty="0"/>
              <a:t>– </a:t>
            </a:r>
            <a:r>
              <a:rPr lang="en-US" dirty="0">
                <a:hlinkClick r:id="rId3"/>
              </a:rPr>
              <a:t>http://</a:t>
            </a:r>
            <a:r>
              <a:rPr lang="en-US" dirty="0" err="1">
                <a:hlinkClick r:id="rId3"/>
              </a:rPr>
              <a:t>stats.stackexchange.com</a:t>
            </a:r>
            <a:r>
              <a:rPr lang="en-US" dirty="0">
                <a:hlinkClick r:id="rId3"/>
              </a:rPr>
              <a:t>/questions/3931/intuitive-explanation-for-dividing-by-n-1-when-calculating-standard-deviation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1F507-013B-404F-8201-ACF41C87EF19}"/>
              </a:ext>
            </a:extLst>
          </p:cNvPr>
          <p:cNvSpPr txBox="1"/>
          <p:nvPr/>
        </p:nvSpPr>
        <p:spPr>
          <a:xfrm>
            <a:off x="83341" y="791240"/>
            <a:ext cx="699122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“Statistics is the study of the collection, analysis, </a:t>
            </a:r>
          </a:p>
          <a:p>
            <a:r>
              <a:rPr lang="en-US" b="1" dirty="0">
                <a:solidFill>
                  <a:srgbClr val="0070C0"/>
                </a:solidFill>
              </a:rPr>
              <a:t>interpretation, presentation, and organization of data.”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Being a Statistician is the major part of being a Data Scientist. </a:t>
            </a:r>
          </a:p>
          <a:p>
            <a:r>
              <a:rPr lang="en-US" dirty="0"/>
              <a:t>And it is tricky, because there is easy to misuse statistics:</a:t>
            </a:r>
          </a:p>
          <a:p>
            <a:r>
              <a:rPr lang="en-US" b="1" dirty="0">
                <a:solidFill>
                  <a:srgbClr val="0070C0"/>
                </a:solidFill>
              </a:rPr>
              <a:t>“There are three kinds of lies: lies, damned lies, and statistics.”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Statistics involves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Collecting (sampling) the data from different kind of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Visualizing the data, estimating the parameters (average/mean values, errors,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validity of a hypothesis (null hypothesis) – or alternative hypothesis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Estimating intervals, estimating significance of observed differences, etc.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42AB10-A6DB-5944-AAE8-E9970EE78AEC}"/>
              </a:ext>
            </a:extLst>
          </p:cNvPr>
          <p:cNvCxnSpPr/>
          <p:nvPr/>
        </p:nvCxnSpPr>
        <p:spPr>
          <a:xfrm>
            <a:off x="7262949" y="169817"/>
            <a:ext cx="0" cy="4545874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A93A544D-1068-7342-8615-6D2C04FDA47D}"/>
              </a:ext>
            </a:extLst>
          </p:cNvPr>
          <p:cNvGrpSpPr/>
          <p:nvPr/>
        </p:nvGrpSpPr>
        <p:grpSpPr>
          <a:xfrm>
            <a:off x="4795870" y="4735058"/>
            <a:ext cx="2025854" cy="1206714"/>
            <a:chOff x="529389" y="4535701"/>
            <a:chExt cx="2448817" cy="145865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86DF43D-29FE-0443-9985-9ED524012597}"/>
                </a:ext>
              </a:extLst>
            </p:cNvPr>
            <p:cNvSpPr/>
            <p:nvPr/>
          </p:nvSpPr>
          <p:spPr>
            <a:xfrm>
              <a:off x="529389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5311AFC-C517-DC4C-960A-490461E5762B}"/>
                </a:ext>
              </a:extLst>
            </p:cNvPr>
            <p:cNvSpPr/>
            <p:nvPr/>
          </p:nvSpPr>
          <p:spPr>
            <a:xfrm>
              <a:off x="1149406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23A88AC-F721-804B-8F1A-F75760468CA7}"/>
                </a:ext>
              </a:extLst>
            </p:cNvPr>
            <p:cNvSpPr/>
            <p:nvPr/>
          </p:nvSpPr>
          <p:spPr>
            <a:xfrm>
              <a:off x="1328104" y="4550566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25DDCFC-44DE-5B43-83EA-2419844DEEC2}"/>
                </a:ext>
              </a:extLst>
            </p:cNvPr>
            <p:cNvSpPr/>
            <p:nvPr/>
          </p:nvSpPr>
          <p:spPr>
            <a:xfrm>
              <a:off x="1937961" y="4535701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6B5CD29-2539-1545-A9D4-A04D8BC9EB4B}"/>
              </a:ext>
            </a:extLst>
          </p:cNvPr>
          <p:cNvSpPr txBox="1"/>
          <p:nvPr/>
        </p:nvSpPr>
        <p:spPr>
          <a:xfrm>
            <a:off x="3877454" y="5629393"/>
            <a:ext cx="9250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70C0"/>
                </a:solidFill>
              </a:rPr>
              <a:t>Standard </a:t>
            </a:r>
          </a:p>
          <a:p>
            <a:pPr algn="ctr"/>
            <a:r>
              <a:rPr lang="en-US" sz="1100" b="1" dirty="0">
                <a:solidFill>
                  <a:srgbClr val="0070C0"/>
                </a:solidFill>
              </a:rPr>
              <a:t>Deviation</a:t>
            </a:r>
          </a:p>
          <a:p>
            <a:pPr algn="ctr"/>
            <a:r>
              <a:rPr lang="en-US" sz="1100" b="1" dirty="0">
                <a:solidFill>
                  <a:srgbClr val="0070C0"/>
                </a:solidFill>
              </a:rPr>
              <a:t>(blue)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C32BD6-7C9A-5146-8497-592987C58E52}"/>
              </a:ext>
            </a:extLst>
          </p:cNvPr>
          <p:cNvSpPr txBox="1"/>
          <p:nvPr/>
        </p:nvSpPr>
        <p:spPr>
          <a:xfrm>
            <a:off x="5219124" y="6012892"/>
            <a:ext cx="127619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2"/>
                </a:solidFill>
              </a:rPr>
              <a:t>Standard Error of the Mean</a:t>
            </a:r>
          </a:p>
          <a:p>
            <a:pPr algn="ctr"/>
            <a:r>
              <a:rPr lang="en-US" sz="1100" b="1" dirty="0">
                <a:solidFill>
                  <a:schemeClr val="accent2"/>
                </a:solidFill>
              </a:rPr>
              <a:t>(orange)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587302-9BB2-514D-BE3D-821FD097A44A}"/>
              </a:ext>
            </a:extLst>
          </p:cNvPr>
          <p:cNvSpPr txBox="1"/>
          <p:nvPr/>
        </p:nvSpPr>
        <p:spPr>
          <a:xfrm>
            <a:off x="5369111" y="4339389"/>
            <a:ext cx="1004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 A   B</a:t>
            </a:r>
          </a:p>
        </p:txBody>
      </p:sp>
      <p:pic>
        <p:nvPicPr>
          <p:cNvPr id="19" name="Picture 4" descr="Instance Selection: The myth behind Data Sampling | by Shibsankar Das |  Towards Data Science">
            <a:extLst>
              <a:ext uri="{FF2B5EF4-FFF2-40B4-BE49-F238E27FC236}">
                <a16:creationId xmlns:a16="http://schemas.microsoft.com/office/drawing/2014/main" id="{28CB2243-567E-6E40-9C2E-493178477D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2728" y="4528004"/>
            <a:ext cx="2018737" cy="163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69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A9F4D4-7EEB-964F-83D0-EB156B63BAD7}"/>
              </a:ext>
            </a:extLst>
          </p:cNvPr>
          <p:cNvSpPr txBox="1"/>
          <p:nvPr/>
        </p:nvSpPr>
        <p:spPr>
          <a:xfrm>
            <a:off x="1" y="1610"/>
            <a:ext cx="6693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Sampling, Resampling, Bootstrapping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DB410-4267-8E45-9276-D7FD97CA0E8A}"/>
              </a:ext>
            </a:extLst>
          </p:cNvPr>
          <p:cNvSpPr txBox="1"/>
          <p:nvPr/>
        </p:nvSpPr>
        <p:spPr>
          <a:xfrm>
            <a:off x="0" y="524830"/>
            <a:ext cx="738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Sample</a:t>
            </a:r>
            <a:r>
              <a:rPr lang="en-US" sz="1200" dirty="0"/>
              <a:t> – a set of objects/observations which were collected by a defined procedure. </a:t>
            </a:r>
          </a:p>
          <a:p>
            <a:r>
              <a:rPr lang="en-US" sz="1200" dirty="0"/>
              <a:t>The elements of a sample are known as </a:t>
            </a:r>
            <a:r>
              <a:rPr lang="en-US" sz="1200" b="1" dirty="0">
                <a:solidFill>
                  <a:srgbClr val="0070C0"/>
                </a:solidFill>
              </a:rPr>
              <a:t>sample points</a:t>
            </a:r>
            <a:r>
              <a:rPr lang="en-US" sz="1200" dirty="0"/>
              <a:t>, </a:t>
            </a:r>
            <a:r>
              <a:rPr lang="en-US" sz="1200" b="1" dirty="0">
                <a:solidFill>
                  <a:srgbClr val="0070C0"/>
                </a:solidFill>
              </a:rPr>
              <a:t>sampling units</a:t>
            </a:r>
            <a:r>
              <a:rPr lang="en-US" sz="1200" dirty="0"/>
              <a:t> or </a:t>
            </a:r>
            <a:r>
              <a:rPr lang="en-US" sz="1200" b="1" dirty="0">
                <a:solidFill>
                  <a:srgbClr val="0070C0"/>
                </a:solidFill>
              </a:rPr>
              <a:t>observations</a:t>
            </a:r>
            <a:r>
              <a:rPr lang="en-US" sz="1200" dirty="0"/>
              <a:t>.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2"/>
              </a:rPr>
              <a:t>https://en.wikipedia.org/wiki/Sample_(statistics)</a:t>
            </a:r>
            <a:r>
              <a:rPr lang="en-US" sz="12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916F69-773D-7044-A74D-A5F8B6802708}"/>
              </a:ext>
            </a:extLst>
          </p:cNvPr>
          <p:cNvSpPr txBox="1"/>
          <p:nvPr/>
        </p:nvSpPr>
        <p:spPr>
          <a:xfrm>
            <a:off x="8508900" y="2054429"/>
            <a:ext cx="35855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Why resampling is useful?</a:t>
            </a:r>
          </a:p>
          <a:p>
            <a:endParaRPr lang="en-US" sz="1200" dirty="0"/>
          </a:p>
          <a:p>
            <a:r>
              <a:rPr lang="en-US" sz="1200" dirty="0"/>
              <a:t>We don't need resampling to simply calculate the mean or standard error. But it may help when we need to calculate more non-trivial parameters (and especially their distributions, errors, confidence intervals, regression coefficients, etc.).</a:t>
            </a:r>
          </a:p>
          <a:p>
            <a:endParaRPr lang="en-US" sz="1200" dirty="0"/>
          </a:p>
          <a:p>
            <a:r>
              <a:rPr lang="en-US" sz="1200" dirty="0"/>
              <a:t>Using resampling is similar to using simple Monte-Carlo approach for estimating complex outcomes. 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rgbClr val="00B050"/>
                </a:solidFill>
              </a:rPr>
              <a:t>The main benefit of resampling is SIMPLICITY.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63AD0-3010-744C-81A8-0EC52C014139}"/>
              </a:ext>
            </a:extLst>
          </p:cNvPr>
          <p:cNvSpPr txBox="1"/>
          <p:nvPr/>
        </p:nvSpPr>
        <p:spPr>
          <a:xfrm>
            <a:off x="7668767" y="5615548"/>
            <a:ext cx="4474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Special methods: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Shuffling</a:t>
            </a:r>
            <a:r>
              <a:rPr lang="en-US" sz="1200" dirty="0"/>
              <a:t> - exchanging labels on data points when performing significance tests (a.k.a. permutation tests, exact tests, randomization tests, or re-randomization tests)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Cross-Validation</a:t>
            </a:r>
            <a:r>
              <a:rPr lang="en-US" sz="1200" dirty="0"/>
              <a:t> of models by comparing results between (random)  subsets.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F1CA07-9F87-D24C-A744-86785634A022}"/>
              </a:ext>
            </a:extLst>
          </p:cNvPr>
          <p:cNvSpPr txBox="1"/>
          <p:nvPr/>
        </p:nvSpPr>
        <p:spPr>
          <a:xfrm>
            <a:off x="-1" y="1353738"/>
            <a:ext cx="5286026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 statistics we routinely calculate parameters (mean, error) of a sample.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rgbClr val="FF0000"/>
                </a:solidFill>
              </a:rPr>
              <a:t>Resampling</a:t>
            </a:r>
            <a:r>
              <a:rPr lang="en-US" sz="1200" dirty="0"/>
              <a:t> - collecting multiple samples to do statistical estimations: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3"/>
              </a:rPr>
              <a:t>https://en.wikipedia.org/wiki/Resampling_(statistics)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Two most common methods of getting multiple samples: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jackknife</a:t>
            </a:r>
            <a:r>
              <a:rPr lang="en-US" sz="1200" dirty="0"/>
              <a:t> – simple tool - selecting subsets by removing one or more points from the original data set. Invented by </a:t>
            </a:r>
            <a:r>
              <a:rPr lang="en-US" sz="1200" b="1" dirty="0">
                <a:solidFill>
                  <a:srgbClr val="FF0000"/>
                </a:solidFill>
              </a:rPr>
              <a:t>John Tukey</a:t>
            </a:r>
            <a:r>
              <a:rPr lang="en-US" sz="1200" dirty="0"/>
              <a:t> –</a:t>
            </a:r>
            <a:br>
              <a:rPr lang="en-US" sz="1200" dirty="0"/>
            </a:br>
            <a:r>
              <a:rPr lang="en-US" sz="1200" dirty="0"/>
              <a:t> - </a:t>
            </a:r>
            <a:r>
              <a:rPr lang="en-US" sz="1200" dirty="0">
                <a:hlinkClick r:id="rId4"/>
              </a:rPr>
              <a:t>https://en.wikipedia.org/wiki/John_Tukey</a:t>
            </a:r>
            <a:r>
              <a:rPr lang="en-US" sz="1200" dirty="0"/>
              <a:t>  (inventor of FFT, "bit", ...)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bootstrap</a:t>
            </a:r>
            <a:r>
              <a:rPr lang="en-US" sz="1200" dirty="0"/>
              <a:t> - sampling with replacement (data points may be included more than once into any sample). Invented by </a:t>
            </a:r>
            <a:r>
              <a:rPr lang="en-US" sz="1200" b="1" dirty="0">
                <a:solidFill>
                  <a:srgbClr val="FF0000"/>
                </a:solidFill>
              </a:rPr>
              <a:t>Bradley </a:t>
            </a:r>
            <a:r>
              <a:rPr lang="en-US" sz="1200" b="1" dirty="0" err="1">
                <a:solidFill>
                  <a:srgbClr val="FF0000"/>
                </a:solidFill>
              </a:rPr>
              <a:t>Efron</a:t>
            </a:r>
            <a:r>
              <a:rPr lang="en-US" sz="1200" dirty="0"/>
              <a:t> –</a:t>
            </a:r>
            <a:br>
              <a:rPr lang="en-US" sz="1200" dirty="0"/>
            </a:br>
            <a:r>
              <a:rPr lang="en-US" sz="1200" dirty="0"/>
              <a:t>- </a:t>
            </a:r>
            <a:r>
              <a:rPr lang="en-US" sz="1200" dirty="0">
                <a:hlinkClick r:id="rId5"/>
              </a:rPr>
              <a:t>https://en.wikipedia.org/wiki/Bradley_Efron</a:t>
            </a:r>
            <a:r>
              <a:rPr lang="en-US" sz="1200" dirty="0"/>
              <a:t> - </a:t>
            </a:r>
            <a:br>
              <a:rPr lang="en-US" sz="1200" dirty="0"/>
            </a:br>
            <a:r>
              <a:rPr lang="en-US" sz="1200" dirty="0"/>
              <a:t>- </a:t>
            </a:r>
            <a:r>
              <a:rPr lang="en-US" sz="1200" dirty="0">
                <a:hlinkClick r:id="rId6"/>
              </a:rPr>
              <a:t>https://en.wikipedia.org/wiki/Bootstrapping_(statistics)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Once we get Ns samples of size N, we can calculate/estimate parameters of each sample (median, variance, percentiles, etc.).</a:t>
            </a:r>
          </a:p>
          <a:p>
            <a:endParaRPr lang="en-US" sz="1200" dirty="0"/>
          </a:p>
          <a:p>
            <a:r>
              <a:rPr lang="en-US" sz="1200" dirty="0"/>
              <a:t>The values of calculated parameters are usually different between samples.</a:t>
            </a:r>
          </a:p>
          <a:p>
            <a:r>
              <a:rPr lang="en-US" sz="1200" dirty="0"/>
              <a:t>We can look at the distributions of these parameters, </a:t>
            </a:r>
          </a:p>
          <a:p>
            <a:r>
              <a:rPr lang="en-US" sz="1200" dirty="0"/>
              <a:t>estimate the variability / precision of the estimates.</a:t>
            </a:r>
          </a:p>
          <a:p>
            <a:endParaRPr lang="en-US" sz="1200" dirty="0"/>
          </a:p>
          <a:p>
            <a:r>
              <a:rPr lang="en-US" sz="1200" dirty="0"/>
              <a:t>Under certain conditions when the numbers (Ns and N) are big, </a:t>
            </a:r>
          </a:p>
          <a:p>
            <a:r>
              <a:rPr lang="en-US" sz="1200" dirty="0"/>
              <a:t>the </a:t>
            </a:r>
            <a:r>
              <a:rPr lang="en-US" sz="1200" b="1" dirty="0">
                <a:solidFill>
                  <a:srgbClr val="0070C0"/>
                </a:solidFill>
              </a:rPr>
              <a:t>Central Limit Theorem (CLT)</a:t>
            </a:r>
            <a:r>
              <a:rPr lang="en-US" sz="1200" dirty="0"/>
              <a:t> kicks in, </a:t>
            </a:r>
          </a:p>
          <a:p>
            <a:r>
              <a:rPr lang="en-US" sz="1200" dirty="0"/>
              <a:t>and distributions may converge to </a:t>
            </a:r>
            <a:r>
              <a:rPr lang="en-US" sz="1200" b="1" dirty="0">
                <a:solidFill>
                  <a:srgbClr val="0070C0"/>
                </a:solidFill>
              </a:rPr>
              <a:t>Normal Gaussian</a:t>
            </a:r>
            <a:r>
              <a:rPr lang="en-US" sz="1200" dirty="0"/>
              <a:t> distributions.</a:t>
            </a:r>
          </a:p>
          <a:p>
            <a:endParaRPr lang="en-US" sz="1200" dirty="0"/>
          </a:p>
          <a:p>
            <a:r>
              <a:rPr lang="en-US" sz="1200" dirty="0"/>
              <a:t>But for small sample sizes the distributions don't have to be Gaussian.</a:t>
            </a:r>
          </a:p>
        </p:txBody>
      </p:sp>
      <p:pic>
        <p:nvPicPr>
          <p:cNvPr id="1028" name="Picture 4" descr="Instance Selection: The myth behind Data Sampling | by Shibsankar Das |  Towards Data Science">
            <a:extLst>
              <a:ext uri="{FF2B5EF4-FFF2-40B4-BE49-F238E27FC236}">
                <a16:creationId xmlns:a16="http://schemas.microsoft.com/office/drawing/2014/main" id="{3C98B8CF-E121-5841-8A78-D7EE94486A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716857" y="158497"/>
            <a:ext cx="2018737" cy="163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Jackknife definition and meaning | Collins English Dictionary">
            <a:extLst>
              <a:ext uri="{FF2B5EF4-FFF2-40B4-BE49-F238E27FC236}">
                <a16:creationId xmlns:a16="http://schemas.microsoft.com/office/drawing/2014/main" id="{3CE90554-EED8-084C-8931-AA23DBC709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99638" y="2176983"/>
            <a:ext cx="1085088" cy="90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What &quot;Pull Yourself Up By The Bootstraps&quot; Really Means... | Toluna">
            <a:extLst>
              <a:ext uri="{FF2B5EF4-FFF2-40B4-BE49-F238E27FC236}">
                <a16:creationId xmlns:a16="http://schemas.microsoft.com/office/drawing/2014/main" id="{568673C8-DB92-4E49-AD39-A764D7148B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31075" y="3416133"/>
            <a:ext cx="635359" cy="121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4C389BF-7215-A647-BE4C-4DB6D08848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383561" y="2111884"/>
            <a:ext cx="784797" cy="115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335C03E-0C17-AF43-B98C-B9CC044D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39"/>
          <a:stretch/>
        </p:blipFill>
        <p:spPr bwMode="auto">
          <a:xfrm>
            <a:off x="5383561" y="3416132"/>
            <a:ext cx="820589" cy="1214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5B0E83-5D9F-1944-BE18-8773ABA4BDFC}"/>
              </a:ext>
            </a:extLst>
          </p:cNvPr>
          <p:cNvSpPr txBox="1"/>
          <p:nvPr/>
        </p:nvSpPr>
        <p:spPr>
          <a:xfrm>
            <a:off x="5961202" y="4651228"/>
            <a:ext cx="1975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Bootstrapping</a:t>
            </a:r>
          </a:p>
          <a:p>
            <a:pPr algn="ctr"/>
            <a:r>
              <a:rPr lang="en-US" sz="1200" b="1" dirty="0">
                <a:solidFill>
                  <a:srgbClr val="FF0000"/>
                </a:solidFill>
              </a:rPr>
              <a:t>pulling yourself up </a:t>
            </a:r>
          </a:p>
          <a:p>
            <a:pPr algn="ctr"/>
            <a:r>
              <a:rPr lang="en-US" sz="1200" b="1" dirty="0">
                <a:solidFill>
                  <a:srgbClr val="FF0000"/>
                </a:solidFill>
              </a:rPr>
              <a:t>by your own bootstraps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15A468-6DD4-7E43-AADD-AD9BA74FAA27}"/>
              </a:ext>
            </a:extLst>
          </p:cNvPr>
          <p:cNvSpPr txBox="1"/>
          <p:nvPr/>
        </p:nvSpPr>
        <p:spPr>
          <a:xfrm>
            <a:off x="6458926" y="1803198"/>
            <a:ext cx="876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jackknife</a:t>
            </a:r>
          </a:p>
        </p:txBody>
      </p:sp>
    </p:spTree>
    <p:extLst>
      <p:ext uri="{BB962C8B-B14F-4D97-AF65-F5344CB8AC3E}">
        <p14:creationId xmlns:p14="http://schemas.microsoft.com/office/powerpoint/2010/main" val="557835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C9F387-FBE5-3D44-9B40-820D573B2B1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5013" y="2257388"/>
            <a:ext cx="4540567" cy="2818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C84F9D-C180-1B43-99F1-B243D8C3F929}"/>
              </a:ext>
            </a:extLst>
          </p:cNvPr>
          <p:cNvSpPr txBox="1"/>
          <p:nvPr/>
        </p:nvSpPr>
        <p:spPr>
          <a:xfrm>
            <a:off x="297187" y="301228"/>
            <a:ext cx="5328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</a:t>
            </a:r>
          </a:p>
          <a:p>
            <a:br>
              <a:rPr lang="en-US" dirty="0"/>
            </a:br>
            <a:r>
              <a:rPr lang="en-US" dirty="0"/>
              <a:t>standard deviation and standard error and  are NOT the same.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SME</a:t>
            </a:r>
            <a:r>
              <a:rPr lang="en-US" dirty="0"/>
              <a:t> = Standard Mean Error = Standard Deviation</a:t>
            </a:r>
          </a:p>
          <a:p>
            <a:r>
              <a:rPr lang="en-US" b="1" dirty="0">
                <a:solidFill>
                  <a:srgbClr val="0070C0"/>
                </a:solidFill>
              </a:rPr>
              <a:t>SEM</a:t>
            </a:r>
            <a:r>
              <a:rPr lang="en-US" dirty="0"/>
              <a:t> = Standard Error of Mean = </a:t>
            </a:r>
            <a:r>
              <a:rPr lang="en-US" b="1" dirty="0">
                <a:solidFill>
                  <a:srgbClr val="0070C0"/>
                </a:solidFill>
              </a:rPr>
              <a:t>SME</a:t>
            </a:r>
            <a:r>
              <a:rPr lang="en-US" dirty="0"/>
              <a:t> / sqrt(n)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41534-4120-C942-81D5-B0662B9480A4}"/>
              </a:ext>
            </a:extLst>
          </p:cNvPr>
          <p:cNvSpPr txBox="1"/>
          <p:nvPr/>
        </p:nvSpPr>
        <p:spPr>
          <a:xfrm>
            <a:off x="211843" y="5510081"/>
            <a:ext cx="60661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 error is the error of the estimate of the mean. </a:t>
            </a:r>
          </a:p>
          <a:p>
            <a:r>
              <a:rPr lang="en-US" dirty="0"/>
              <a:t>So as the sample size grows, we can estimate the mean better and better. The error gets smaller proportionally to the square root of sample size 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04C0CA-87F1-9842-B937-53DB4EF2C78D}"/>
              </a:ext>
            </a:extLst>
          </p:cNvPr>
          <p:cNvSpPr txBox="1"/>
          <p:nvPr/>
        </p:nvSpPr>
        <p:spPr>
          <a:xfrm>
            <a:off x="6826678" y="743712"/>
            <a:ext cx="532874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Several ways to calculate standard deviation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np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scipy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stats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math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([1, 2, 3])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  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3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mean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np.mean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2.0</a:t>
            </a:r>
          </a:p>
          <a:p>
            <a:endParaRPr lang="en-US" sz="12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f"length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{N}, mean={mean:.4f}")  # 3, 2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mysum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mysum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+= 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 mean)**2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 + 0 + 1 = 2</a:t>
            </a: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denom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N - 1                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2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se1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mysum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denom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sqrt(2/2) = 1.0000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se2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np.std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stats has different functions for </a:t>
            </a:r>
            <a:r>
              <a:rPr lang="en-US" sz="12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std_err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and </a:t>
            </a:r>
            <a:r>
              <a:rPr lang="en-US" sz="12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std_dev</a:t>
            </a:r>
            <a:endParaRPr lang="en-US" sz="12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se3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stats.sem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 *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se4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stats.tstd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trimmed std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print(f"se1 = {se1:.5f}")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print(f"se2 = {se2:.5f}")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print(f"se3 = {se3:.5f}")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print(f"se4 = {se4:.5f}")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47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B531CD-91CB-B449-AC6B-B8E8D0567AE3}"/>
              </a:ext>
            </a:extLst>
          </p:cNvPr>
          <p:cNvSpPr txBox="1"/>
          <p:nvPr/>
        </p:nvSpPr>
        <p:spPr>
          <a:xfrm>
            <a:off x="115993" y="99146"/>
            <a:ext cx="3529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Error of the mean</a:t>
            </a:r>
          </a:p>
        </p:txBody>
      </p:sp>
      <p:pic>
        <p:nvPicPr>
          <p:cNvPr id="1026" name="Picture 2" descr="Standard Error Calculator. you can use this Standard Error… | by Thelma R.  White | Medium">
            <a:extLst>
              <a:ext uri="{FF2B5EF4-FFF2-40B4-BE49-F238E27FC236}">
                <a16:creationId xmlns:a16="http://schemas.microsoft.com/office/drawing/2014/main" id="{9D7D50A9-956F-4845-8823-1033B7CB3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9025" y="433176"/>
            <a:ext cx="3810000" cy="299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FE2259-D413-B348-98BD-F5E7DB5E4176}"/>
              </a:ext>
            </a:extLst>
          </p:cNvPr>
          <p:cNvSpPr txBox="1"/>
          <p:nvPr/>
        </p:nvSpPr>
        <p:spPr>
          <a:xfrm>
            <a:off x="115993" y="733281"/>
            <a:ext cx="546940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Suppose we have two samples A and B, </a:t>
            </a:r>
          </a:p>
          <a:p>
            <a:r>
              <a:rPr lang="en-US" sz="1400" dirty="0"/>
              <a:t>each has "n" points, where n is relatively large (100+ points), </a:t>
            </a:r>
          </a:p>
          <a:p>
            <a:r>
              <a:rPr lang="en-US" sz="1400" dirty="0"/>
              <a:t>and distributions have "normal" shape </a:t>
            </a:r>
          </a:p>
          <a:p>
            <a:r>
              <a:rPr lang="en-US" sz="1400" dirty="0"/>
              <a:t>with same sample standard deviation "s".</a:t>
            </a:r>
          </a:p>
          <a:p>
            <a:endParaRPr lang="en-US" sz="1400" dirty="0"/>
          </a:p>
          <a:p>
            <a:r>
              <a:rPr lang="en-US" sz="1400" dirty="0"/>
              <a:t>The mean values are m</a:t>
            </a:r>
            <a:r>
              <a:rPr lang="en-US" sz="1400" baseline="-25000" dirty="0"/>
              <a:t>A</a:t>
            </a:r>
            <a:r>
              <a:rPr lang="en-US" sz="1400" dirty="0"/>
              <a:t> and </a:t>
            </a:r>
            <a:r>
              <a:rPr lang="en-US" sz="1400" dirty="0" err="1"/>
              <a:t>m</a:t>
            </a:r>
            <a:r>
              <a:rPr lang="en-US" sz="1400" baseline="-25000" dirty="0" err="1"/>
              <a:t>B</a:t>
            </a:r>
            <a:endParaRPr lang="en-US" sz="1400" baseline="-25000" dirty="0"/>
          </a:p>
          <a:p>
            <a:endParaRPr lang="en-US" sz="1400" dirty="0"/>
          </a:p>
          <a:p>
            <a:r>
              <a:rPr lang="en-US" sz="1400" dirty="0"/>
              <a:t>The standard error of the mean </a:t>
            </a:r>
            <a:r>
              <a:rPr lang="en-US" sz="1400" dirty="0" err="1"/>
              <a:t>sem</a:t>
            </a:r>
            <a:r>
              <a:rPr lang="en-US" sz="1400" dirty="0"/>
              <a:t> = s/sqrt(n)</a:t>
            </a:r>
          </a:p>
          <a:p>
            <a:endParaRPr lang="en-US" sz="1400" dirty="0"/>
          </a:p>
          <a:p>
            <a:r>
              <a:rPr lang="en-US" sz="1400" dirty="0"/>
              <a:t>Question – how big should be number of points so that we</a:t>
            </a:r>
          </a:p>
          <a:p>
            <a:r>
              <a:rPr lang="en-US" sz="1400" dirty="0"/>
              <a:t>can say that the means differ?</a:t>
            </a:r>
          </a:p>
          <a:p>
            <a:endParaRPr lang="en-US" sz="1400" dirty="0"/>
          </a:p>
          <a:p>
            <a:r>
              <a:rPr lang="en-US" sz="1400" dirty="0"/>
              <a:t>We can demand that </a:t>
            </a:r>
            <a:r>
              <a:rPr lang="el-GR" sz="1400" b="1" dirty="0"/>
              <a:t>δ</a:t>
            </a:r>
            <a:r>
              <a:rPr lang="en-US" sz="1400" dirty="0"/>
              <a:t> = |m</a:t>
            </a:r>
            <a:r>
              <a:rPr lang="en-US" sz="1400" baseline="-25000" dirty="0"/>
              <a:t>A</a:t>
            </a:r>
            <a:r>
              <a:rPr lang="en-US" sz="1400" dirty="0"/>
              <a:t> - </a:t>
            </a:r>
            <a:r>
              <a:rPr lang="en-US" sz="1400" dirty="0" err="1"/>
              <a:t>m</a:t>
            </a:r>
            <a:r>
              <a:rPr lang="en-US" sz="1400" baseline="-25000" dirty="0" err="1"/>
              <a:t>B</a:t>
            </a:r>
            <a:r>
              <a:rPr lang="en-US" sz="1400" dirty="0"/>
              <a:t>| &gt;= 4*</a:t>
            </a:r>
            <a:r>
              <a:rPr lang="en-US" sz="1400" dirty="0" err="1"/>
              <a:t>sem</a:t>
            </a:r>
            <a:r>
              <a:rPr lang="en-US" sz="1400" dirty="0"/>
              <a:t> = 4s/sqrt(n)</a:t>
            </a:r>
          </a:p>
          <a:p>
            <a:endParaRPr lang="en-US" sz="1400" dirty="0"/>
          </a:p>
          <a:p>
            <a:r>
              <a:rPr lang="en-US" sz="1400" dirty="0"/>
              <a:t>Or</a:t>
            </a:r>
          </a:p>
          <a:p>
            <a:r>
              <a:rPr lang="en-US" sz="1400" dirty="0"/>
              <a:t>              </a:t>
            </a:r>
            <a:r>
              <a:rPr lang="en-US" sz="1800" b="1" dirty="0">
                <a:solidFill>
                  <a:srgbClr val="0070C0"/>
                </a:solidFill>
              </a:rPr>
              <a:t> n &gt;= 16s</a:t>
            </a:r>
            <a:r>
              <a:rPr lang="en-US" sz="1800" b="1" baseline="30000" dirty="0">
                <a:solidFill>
                  <a:srgbClr val="0070C0"/>
                </a:solidFill>
              </a:rPr>
              <a:t>2</a:t>
            </a:r>
            <a:r>
              <a:rPr lang="en-US" sz="1800" b="1" dirty="0">
                <a:solidFill>
                  <a:srgbClr val="0070C0"/>
                </a:solidFill>
              </a:rPr>
              <a:t>/</a:t>
            </a:r>
            <a:r>
              <a:rPr lang="el-GR" sz="1800" b="1" dirty="0">
                <a:solidFill>
                  <a:srgbClr val="0070C0"/>
                </a:solidFill>
              </a:rPr>
              <a:t>δ</a:t>
            </a:r>
            <a:r>
              <a:rPr lang="en-US" sz="1800" b="1" baseline="30000" dirty="0">
                <a:solidFill>
                  <a:srgbClr val="0070C0"/>
                </a:solidFill>
              </a:rPr>
              <a:t>2</a:t>
            </a:r>
            <a:endParaRPr lang="en-US" sz="1800" b="1" dirty="0">
              <a:solidFill>
                <a:srgbClr val="0070C0"/>
              </a:solidFill>
            </a:endParaRPr>
          </a:p>
          <a:p>
            <a:endParaRPr lang="en-US" sz="1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F2B29D-2214-FE4C-B190-AD3AC3ACA5BC}"/>
              </a:ext>
            </a:extLst>
          </p:cNvPr>
          <p:cNvGrpSpPr/>
          <p:nvPr/>
        </p:nvGrpSpPr>
        <p:grpSpPr>
          <a:xfrm>
            <a:off x="5046074" y="3592743"/>
            <a:ext cx="2448817" cy="1458655"/>
            <a:chOff x="529389" y="4535701"/>
            <a:chExt cx="2448817" cy="145865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9894F7-85E1-FA42-989C-AB3BA9BE1FE8}"/>
                </a:ext>
              </a:extLst>
            </p:cNvPr>
            <p:cNvSpPr/>
            <p:nvPr/>
          </p:nvSpPr>
          <p:spPr>
            <a:xfrm>
              <a:off x="529389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80B9C3F-F4A9-7D4C-ADB2-9D091BB2DC2B}"/>
                </a:ext>
              </a:extLst>
            </p:cNvPr>
            <p:cNvSpPr/>
            <p:nvPr/>
          </p:nvSpPr>
          <p:spPr>
            <a:xfrm>
              <a:off x="1149406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51D2DD2-90FA-2143-BA9F-54FC5BE044BE}"/>
                </a:ext>
              </a:extLst>
            </p:cNvPr>
            <p:cNvSpPr/>
            <p:nvPr/>
          </p:nvSpPr>
          <p:spPr>
            <a:xfrm>
              <a:off x="1328104" y="4550566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D4078CB-F8B3-D540-9B24-AC87E5FD8361}"/>
                </a:ext>
              </a:extLst>
            </p:cNvPr>
            <p:cNvSpPr/>
            <p:nvPr/>
          </p:nvSpPr>
          <p:spPr>
            <a:xfrm>
              <a:off x="1937961" y="4535701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60CD50A-6481-7B45-ACBD-AA9F1714A205}"/>
              </a:ext>
            </a:extLst>
          </p:cNvPr>
          <p:cNvSpPr txBox="1"/>
          <p:nvPr/>
        </p:nvSpPr>
        <p:spPr>
          <a:xfrm>
            <a:off x="4072612" y="4789629"/>
            <a:ext cx="949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Standard </a:t>
            </a:r>
          </a:p>
          <a:p>
            <a:pPr algn="ctr"/>
            <a:r>
              <a:rPr lang="en-US" sz="1200" b="1" dirty="0">
                <a:solidFill>
                  <a:srgbClr val="0070C0"/>
                </a:solidFill>
              </a:rPr>
              <a:t>Deviation</a:t>
            </a:r>
          </a:p>
          <a:p>
            <a:pPr algn="ctr"/>
            <a:r>
              <a:rPr lang="en-US" sz="1200" b="1" dirty="0">
                <a:solidFill>
                  <a:srgbClr val="0070C0"/>
                </a:solidFill>
              </a:rPr>
              <a:t>(blue)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738075-2F24-A543-967A-97BA8A260259}"/>
              </a:ext>
            </a:extLst>
          </p:cNvPr>
          <p:cNvSpPr txBox="1"/>
          <p:nvPr/>
        </p:nvSpPr>
        <p:spPr>
          <a:xfrm>
            <a:off x="5698202" y="5650859"/>
            <a:ext cx="1276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Standard Error of the Mean</a:t>
            </a:r>
          </a:p>
          <a:p>
            <a:pPr algn="ctr"/>
            <a:r>
              <a:rPr lang="en-US" sz="1200" b="1" dirty="0">
                <a:solidFill>
                  <a:schemeClr val="accent2"/>
                </a:solidFill>
              </a:rPr>
              <a:t>(orange)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921B67D6-B1DA-D04B-801F-0945046F59CE}"/>
              </a:ext>
            </a:extLst>
          </p:cNvPr>
          <p:cNvSpPr/>
          <p:nvPr/>
        </p:nvSpPr>
        <p:spPr>
          <a:xfrm rot="9442603">
            <a:off x="6127921" y="5168133"/>
            <a:ext cx="141171" cy="467360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FB7EE3FC-D668-8A4B-89A3-C3E87EDE8295}"/>
              </a:ext>
            </a:extLst>
          </p:cNvPr>
          <p:cNvSpPr/>
          <p:nvPr/>
        </p:nvSpPr>
        <p:spPr>
          <a:xfrm rot="11812451">
            <a:off x="6374957" y="5159463"/>
            <a:ext cx="141171" cy="467360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E44D64-A743-1048-970B-E7F5E970E491}"/>
              </a:ext>
            </a:extLst>
          </p:cNvPr>
          <p:cNvSpPr txBox="1"/>
          <p:nvPr/>
        </p:nvSpPr>
        <p:spPr>
          <a:xfrm>
            <a:off x="5663189" y="3055269"/>
            <a:ext cx="146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A   B</a:t>
            </a:r>
          </a:p>
        </p:txBody>
      </p:sp>
    </p:spTree>
    <p:extLst>
      <p:ext uri="{BB962C8B-B14F-4D97-AF65-F5344CB8AC3E}">
        <p14:creationId xmlns:p14="http://schemas.microsoft.com/office/powerpoint/2010/main" val="24220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2930</TotalTime>
  <Words>1035</Words>
  <Application>Microsoft Macintosh PowerPoint</Application>
  <PresentationFormat>Widescreen</PresentationFormat>
  <Paragraphs>124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291</cp:revision>
  <cp:lastPrinted>2020-09-21T17:22:59Z</cp:lastPrinted>
  <dcterms:modified xsi:type="dcterms:W3CDTF">2021-05-15T04:11:26Z</dcterms:modified>
</cp:coreProperties>
</file>