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6"/>
  </p:notesMasterIdLst>
  <p:sldIdLst>
    <p:sldId id="269" r:id="rId2"/>
    <p:sldId id="302" r:id="rId3"/>
    <p:sldId id="303" r:id="rId4"/>
    <p:sldId id="256" r:id="rId5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B1618C5A-BF4F-44D7-ADB2-C5301EF81F8A}">
  <a:tblStyle styleId="{B1618C5A-BF4F-44D7-ADB2-C5301EF81F8A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>
    <p:restoredLeft sz="6354"/>
    <p:restoredTop sz="92197"/>
  </p:normalViewPr>
  <p:slideViewPr>
    <p:cSldViewPr snapToGrid="0" snapToObjects="1">
      <p:cViewPr varScale="1">
        <p:scale>
          <a:sx n="105" d="100"/>
          <a:sy n="105" d="100"/>
        </p:scale>
        <p:origin x="53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3" name="Google Shape;23;p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4" name="Google Shape;24;p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36" name="Google Shape;36;p5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7" name="Google Shape;37;p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8" name="Google Shape;38;p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9" name="Google Shape;39;p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42" name="Google Shape;42;p6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3" name="Google Shape;43;p6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4" name="Google Shape;44;p6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5" name="Google Shape;45;p6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6" name="Google Shape;46;p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7" name="Google Shape;47;p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8" name="Google Shape;48;p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51" name="Google Shape;51;p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2" name="Google Shape;52;p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3" name="Google Shape;53;p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6" name="Google Shape;56;p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7" name="Google Shape;57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9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318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1" name="Google Shape;61;p9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2" name="Google Shape;62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3" name="Google Shape;63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4" name="Google Shape;64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67" name="Google Shape;67;p10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8" name="Google Shape;68;p10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9" name="Google Shape;69;p1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0" name="Google Shape;70;p1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1" name="Google Shape;71;p1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4" name="Google Shape;74;p11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5" name="Google Shape;75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6" name="Google Shape;76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7" name="Google Shape;77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2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80" name="Google Shape;80;p12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1" name="Google Shape;81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2" name="Google Shape;82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3" name="Google Shape;83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BD1EA1-5C46-5341-8587-79D72DBEA6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55A7D02-E489-6247-A488-5C2C9B2AC1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0B3616-05FA-A84E-879E-76D70962B0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B26A4E-7CA4-0D47-BAAE-19E050D9F531}" type="datetimeFigureOut">
              <a:rPr lang="en-US" smtClean="0"/>
              <a:t>5/15/21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0A61D6-F5AF-DE42-B285-D209FD8C40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C3B590-5A43-BD4B-BCAC-54176201C0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4BFB66-61B7-1948-A9D5-31EFA3C6A5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59317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60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://stats.stackexchange.com/questions/3931/intuitive-explanation-for-dividing-by-n-1-when-calculating-standard-deviation" TargetMode="External"/><Relationship Id="rId2" Type="http://schemas.openxmlformats.org/officeDocument/2006/relationships/image" Target="../media/image1.tiff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13" Type="http://schemas.openxmlformats.org/officeDocument/2006/relationships/image" Target="../media/image7.jpeg"/><Relationship Id="rId3" Type="http://schemas.openxmlformats.org/officeDocument/2006/relationships/hyperlink" Target="https://www.youtube.com/watch?v=vTZSnTN67Fk" TargetMode="External"/><Relationship Id="rId7" Type="http://schemas.openxmlformats.org/officeDocument/2006/relationships/hyperlink" Target="https://en.wikipedia.org/wiki/Bootstrapping_(statistics)" TargetMode="External"/><Relationship Id="rId12" Type="http://schemas.openxmlformats.org/officeDocument/2006/relationships/image" Target="../media/image6.jpeg"/><Relationship Id="rId2" Type="http://schemas.openxmlformats.org/officeDocument/2006/relationships/hyperlink" Target="https://en.wikipedia.org/wiki/Sample_(statistics)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en.wikipedia.org/wiki/Bradley_Efron" TargetMode="External"/><Relationship Id="rId11" Type="http://schemas.openxmlformats.org/officeDocument/2006/relationships/image" Target="../media/image5.jpeg"/><Relationship Id="rId5" Type="http://schemas.openxmlformats.org/officeDocument/2006/relationships/hyperlink" Target="https://en.wikipedia.org/wiki/John_Tukey" TargetMode="External"/><Relationship Id="rId10" Type="http://schemas.openxmlformats.org/officeDocument/2006/relationships/image" Target="../media/image4.jpeg"/><Relationship Id="rId4" Type="http://schemas.openxmlformats.org/officeDocument/2006/relationships/hyperlink" Target="https://en.wikipedia.org/wiki/Resampling_(statistics)" TargetMode="External"/><Relationship Id="rId9" Type="http://schemas.openxmlformats.org/officeDocument/2006/relationships/image" Target="../media/image3.jpe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tiff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72EEA3B-9D50-A145-B8FE-B6686486D979}"/>
              </a:ext>
            </a:extLst>
          </p:cNvPr>
          <p:cNvSpPr txBox="1"/>
          <p:nvPr/>
        </p:nvSpPr>
        <p:spPr>
          <a:xfrm>
            <a:off x="0" y="0"/>
            <a:ext cx="48071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Introduction into Statistics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8D731C5-EDD2-C145-932A-A88B03CA2817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42994" y="894842"/>
            <a:ext cx="3452730" cy="360141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A24CC4E-3332-5542-A614-EDEF0AE14AAA}"/>
              </a:ext>
            </a:extLst>
          </p:cNvPr>
          <p:cNvSpPr txBox="1"/>
          <p:nvPr/>
        </p:nvSpPr>
        <p:spPr>
          <a:xfrm>
            <a:off x="8020423" y="200054"/>
            <a:ext cx="30199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rgbClr val="0070C0"/>
                </a:solidFill>
              </a:rPr>
              <a:t>Here are some basic formulas: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8CAE6D3-B545-F244-8CA7-FAE7513462A6}"/>
              </a:ext>
            </a:extLst>
          </p:cNvPr>
          <p:cNvSpPr txBox="1"/>
          <p:nvPr/>
        </p:nvSpPr>
        <p:spPr>
          <a:xfrm>
            <a:off x="7438183" y="4859993"/>
            <a:ext cx="4664171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Intuitive explanation for dividing by (n-1) </a:t>
            </a:r>
          </a:p>
          <a:p>
            <a:r>
              <a:rPr lang="en-US" dirty="0"/>
              <a:t>when calculating standard deviation:</a:t>
            </a:r>
          </a:p>
          <a:p>
            <a:endParaRPr lang="en-US" dirty="0"/>
          </a:p>
          <a:p>
            <a:r>
              <a:rPr lang="en-US" dirty="0"/>
              <a:t>– </a:t>
            </a:r>
            <a:r>
              <a:rPr lang="en-US" dirty="0">
                <a:hlinkClick r:id="rId3"/>
              </a:rPr>
              <a:t>http://</a:t>
            </a:r>
            <a:r>
              <a:rPr lang="en-US" dirty="0" err="1">
                <a:hlinkClick r:id="rId3"/>
              </a:rPr>
              <a:t>stats.stackexchange.com</a:t>
            </a:r>
            <a:r>
              <a:rPr lang="en-US" dirty="0">
                <a:hlinkClick r:id="rId3"/>
              </a:rPr>
              <a:t>/questions/3931/intuitive-explanation-for-dividing-by-n-1-when-calculating-standard-deviation</a:t>
            </a:r>
            <a:endParaRPr lang="en-US" dirty="0"/>
          </a:p>
          <a:p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0F1F507-013B-404F-8201-ACF41C87EF19}"/>
              </a:ext>
            </a:extLst>
          </p:cNvPr>
          <p:cNvSpPr txBox="1"/>
          <p:nvPr/>
        </p:nvSpPr>
        <p:spPr>
          <a:xfrm>
            <a:off x="95533" y="629571"/>
            <a:ext cx="6991227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“</a:t>
            </a:r>
            <a:r>
              <a:rPr lang="en-US" b="1" dirty="0">
                <a:solidFill>
                  <a:srgbClr val="FF0000"/>
                </a:solidFill>
              </a:rPr>
              <a:t>Statistics</a:t>
            </a:r>
            <a:r>
              <a:rPr lang="en-US" dirty="0">
                <a:solidFill>
                  <a:schemeClr val="tx1"/>
                </a:solidFill>
              </a:rPr>
              <a:t> - the study of the collection, analysis, </a:t>
            </a:r>
          </a:p>
          <a:p>
            <a:r>
              <a:rPr lang="en-US" dirty="0">
                <a:solidFill>
                  <a:schemeClr val="tx1"/>
                </a:solidFill>
              </a:rPr>
              <a:t>interpretation, presentation, and organization of data.” 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b="1" dirty="0">
                <a:solidFill>
                  <a:srgbClr val="FF0000"/>
                </a:solidFill>
              </a:rPr>
              <a:t>Statistical Inference</a:t>
            </a:r>
            <a:r>
              <a:rPr lang="en-US" dirty="0">
                <a:solidFill>
                  <a:schemeClr val="tx1"/>
                </a:solidFill>
              </a:rPr>
              <a:t> - using data from a noisy sample to make estimates or test hypotheses about the whole population.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/>
              <a:t>Being a Statistician is the major part of being a Data Scientist. </a:t>
            </a:r>
          </a:p>
          <a:p>
            <a:r>
              <a:rPr lang="en-US" dirty="0"/>
              <a:t>And it is tricky, because there is easy to misuse statistics:</a:t>
            </a:r>
          </a:p>
          <a:p>
            <a:r>
              <a:rPr lang="en-US" b="1" dirty="0">
                <a:solidFill>
                  <a:srgbClr val="0070C0"/>
                </a:solidFill>
              </a:rPr>
              <a:t>“There are three kinds of lies: lies, damned lies, and statistics.”</a:t>
            </a:r>
            <a:r>
              <a:rPr lang="en-US" dirty="0"/>
              <a:t> </a:t>
            </a:r>
          </a:p>
          <a:p>
            <a:endParaRPr lang="en-US" dirty="0"/>
          </a:p>
          <a:p>
            <a:r>
              <a:rPr lang="en-US" dirty="0"/>
              <a:t>Statistics involves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Collecting (sampling) the data from different kind of observations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Visualizing the data, estimating the parameters (average/mean values, errors, etc.)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Testing validity of a hypothesis (null hypothesis) – or alternative hypothesis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Estimating intervals, estimating significance of observed differences, etc.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F42AB10-A6DB-5944-AAE8-E9970EE78AEC}"/>
              </a:ext>
            </a:extLst>
          </p:cNvPr>
          <p:cNvCxnSpPr/>
          <p:nvPr/>
        </p:nvCxnSpPr>
        <p:spPr>
          <a:xfrm>
            <a:off x="7262949" y="169817"/>
            <a:ext cx="0" cy="4545874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Group 8">
            <a:extLst>
              <a:ext uri="{FF2B5EF4-FFF2-40B4-BE49-F238E27FC236}">
                <a16:creationId xmlns:a16="http://schemas.microsoft.com/office/drawing/2014/main" id="{A93A544D-1068-7342-8615-6D2C04FDA47D}"/>
              </a:ext>
            </a:extLst>
          </p:cNvPr>
          <p:cNvGrpSpPr/>
          <p:nvPr/>
        </p:nvGrpSpPr>
        <p:grpSpPr>
          <a:xfrm>
            <a:off x="4795870" y="4735058"/>
            <a:ext cx="2025854" cy="1206714"/>
            <a:chOff x="529389" y="4535701"/>
            <a:chExt cx="2448817" cy="1458655"/>
          </a:xfrm>
        </p:grpSpPr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486DF43D-29FE-0443-9985-9ED524012597}"/>
                </a:ext>
              </a:extLst>
            </p:cNvPr>
            <p:cNvSpPr/>
            <p:nvPr/>
          </p:nvSpPr>
          <p:spPr>
            <a:xfrm>
              <a:off x="529389" y="4550566"/>
              <a:ext cx="1828800" cy="1443790"/>
            </a:xfrm>
            <a:custGeom>
              <a:avLst/>
              <a:gdLst>
                <a:gd name="connsiteX0" fmla="*/ 0 w 1828800"/>
                <a:gd name="connsiteY0" fmla="*/ 1443790 h 1443790"/>
                <a:gd name="connsiteX1" fmla="*/ 112295 w 1828800"/>
                <a:gd name="connsiteY1" fmla="*/ 1411706 h 1443790"/>
                <a:gd name="connsiteX2" fmla="*/ 160422 w 1828800"/>
                <a:gd name="connsiteY2" fmla="*/ 1395664 h 1443790"/>
                <a:gd name="connsiteX3" fmla="*/ 256674 w 1828800"/>
                <a:gd name="connsiteY3" fmla="*/ 1347537 h 1443790"/>
                <a:gd name="connsiteX4" fmla="*/ 320843 w 1828800"/>
                <a:gd name="connsiteY4" fmla="*/ 1251285 h 1443790"/>
                <a:gd name="connsiteX5" fmla="*/ 352927 w 1828800"/>
                <a:gd name="connsiteY5" fmla="*/ 1219200 h 1443790"/>
                <a:gd name="connsiteX6" fmla="*/ 417095 w 1828800"/>
                <a:gd name="connsiteY6" fmla="*/ 1122948 h 1443790"/>
                <a:gd name="connsiteX7" fmla="*/ 449179 w 1828800"/>
                <a:gd name="connsiteY7" fmla="*/ 1074821 h 1443790"/>
                <a:gd name="connsiteX8" fmla="*/ 497306 w 1828800"/>
                <a:gd name="connsiteY8" fmla="*/ 978569 h 1443790"/>
                <a:gd name="connsiteX9" fmla="*/ 561474 w 1828800"/>
                <a:gd name="connsiteY9" fmla="*/ 866274 h 1443790"/>
                <a:gd name="connsiteX10" fmla="*/ 609600 w 1828800"/>
                <a:gd name="connsiteY10" fmla="*/ 705853 h 1443790"/>
                <a:gd name="connsiteX11" fmla="*/ 625643 w 1828800"/>
                <a:gd name="connsiteY11" fmla="*/ 657727 h 1443790"/>
                <a:gd name="connsiteX12" fmla="*/ 657727 w 1828800"/>
                <a:gd name="connsiteY12" fmla="*/ 625642 h 1443790"/>
                <a:gd name="connsiteX13" fmla="*/ 689811 w 1828800"/>
                <a:gd name="connsiteY13" fmla="*/ 465221 h 1443790"/>
                <a:gd name="connsiteX14" fmla="*/ 721895 w 1828800"/>
                <a:gd name="connsiteY14" fmla="*/ 368969 h 1443790"/>
                <a:gd name="connsiteX15" fmla="*/ 737937 w 1828800"/>
                <a:gd name="connsiteY15" fmla="*/ 320842 h 1443790"/>
                <a:gd name="connsiteX16" fmla="*/ 770022 w 1828800"/>
                <a:gd name="connsiteY16" fmla="*/ 224590 h 1443790"/>
                <a:gd name="connsiteX17" fmla="*/ 834190 w 1828800"/>
                <a:gd name="connsiteY17" fmla="*/ 128337 h 1443790"/>
                <a:gd name="connsiteX18" fmla="*/ 850232 w 1828800"/>
                <a:gd name="connsiteY18" fmla="*/ 80211 h 1443790"/>
                <a:gd name="connsiteX19" fmla="*/ 914400 w 1828800"/>
                <a:gd name="connsiteY19" fmla="*/ 0 h 1443790"/>
                <a:gd name="connsiteX20" fmla="*/ 1026695 w 1828800"/>
                <a:gd name="connsiteY20" fmla="*/ 16042 h 1443790"/>
                <a:gd name="connsiteX21" fmla="*/ 1058779 w 1828800"/>
                <a:gd name="connsiteY21" fmla="*/ 112295 h 1443790"/>
                <a:gd name="connsiteX22" fmla="*/ 1106906 w 1828800"/>
                <a:gd name="connsiteY22" fmla="*/ 256674 h 1443790"/>
                <a:gd name="connsiteX23" fmla="*/ 1122948 w 1828800"/>
                <a:gd name="connsiteY23" fmla="*/ 304800 h 1443790"/>
                <a:gd name="connsiteX24" fmla="*/ 1155032 w 1828800"/>
                <a:gd name="connsiteY24" fmla="*/ 336885 h 1443790"/>
                <a:gd name="connsiteX25" fmla="*/ 1203158 w 1828800"/>
                <a:gd name="connsiteY25" fmla="*/ 481264 h 1443790"/>
                <a:gd name="connsiteX26" fmla="*/ 1219200 w 1828800"/>
                <a:gd name="connsiteY26" fmla="*/ 529390 h 1443790"/>
                <a:gd name="connsiteX27" fmla="*/ 1251285 w 1828800"/>
                <a:gd name="connsiteY27" fmla="*/ 657727 h 1443790"/>
                <a:gd name="connsiteX28" fmla="*/ 1267327 w 1828800"/>
                <a:gd name="connsiteY28" fmla="*/ 705853 h 1443790"/>
                <a:gd name="connsiteX29" fmla="*/ 1283369 w 1828800"/>
                <a:gd name="connsiteY29" fmla="*/ 770021 h 1443790"/>
                <a:gd name="connsiteX30" fmla="*/ 1299411 w 1828800"/>
                <a:gd name="connsiteY30" fmla="*/ 818148 h 1443790"/>
                <a:gd name="connsiteX31" fmla="*/ 1347537 w 1828800"/>
                <a:gd name="connsiteY31" fmla="*/ 978569 h 1443790"/>
                <a:gd name="connsiteX32" fmla="*/ 1379622 w 1828800"/>
                <a:gd name="connsiteY32" fmla="*/ 1010653 h 1443790"/>
                <a:gd name="connsiteX33" fmla="*/ 1411706 w 1828800"/>
                <a:gd name="connsiteY33" fmla="*/ 1106906 h 1443790"/>
                <a:gd name="connsiteX34" fmla="*/ 1443790 w 1828800"/>
                <a:gd name="connsiteY34" fmla="*/ 1155032 h 1443790"/>
                <a:gd name="connsiteX35" fmla="*/ 1459832 w 1828800"/>
                <a:gd name="connsiteY35" fmla="*/ 1203158 h 1443790"/>
                <a:gd name="connsiteX36" fmla="*/ 1540043 w 1828800"/>
                <a:gd name="connsiteY36" fmla="*/ 1283369 h 1443790"/>
                <a:gd name="connsiteX37" fmla="*/ 1620253 w 1828800"/>
                <a:gd name="connsiteY37" fmla="*/ 1363579 h 1443790"/>
                <a:gd name="connsiteX38" fmla="*/ 1764632 w 1828800"/>
                <a:gd name="connsiteY38" fmla="*/ 1411706 h 1443790"/>
                <a:gd name="connsiteX39" fmla="*/ 1828800 w 1828800"/>
                <a:gd name="connsiteY39" fmla="*/ 1443790 h 14437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1828800" h="1443790">
                  <a:moveTo>
                    <a:pt x="0" y="1443790"/>
                  </a:moveTo>
                  <a:lnTo>
                    <a:pt x="112295" y="1411706"/>
                  </a:lnTo>
                  <a:cubicBezTo>
                    <a:pt x="128492" y="1406847"/>
                    <a:pt x="145297" y="1403226"/>
                    <a:pt x="160422" y="1395664"/>
                  </a:cubicBezTo>
                  <a:cubicBezTo>
                    <a:pt x="284817" y="1333466"/>
                    <a:pt x="135705" y="1387860"/>
                    <a:pt x="256674" y="1347537"/>
                  </a:cubicBezTo>
                  <a:cubicBezTo>
                    <a:pt x="278064" y="1315453"/>
                    <a:pt x="293577" y="1278552"/>
                    <a:pt x="320843" y="1251285"/>
                  </a:cubicBezTo>
                  <a:cubicBezTo>
                    <a:pt x="331538" y="1240590"/>
                    <a:pt x="343852" y="1231300"/>
                    <a:pt x="352927" y="1219200"/>
                  </a:cubicBezTo>
                  <a:cubicBezTo>
                    <a:pt x="376063" y="1188352"/>
                    <a:pt x="395706" y="1155032"/>
                    <a:pt x="417095" y="1122948"/>
                  </a:cubicBezTo>
                  <a:cubicBezTo>
                    <a:pt x="427790" y="1106906"/>
                    <a:pt x="443082" y="1093112"/>
                    <a:pt x="449179" y="1074821"/>
                  </a:cubicBezTo>
                  <a:cubicBezTo>
                    <a:pt x="478594" y="986581"/>
                    <a:pt x="447547" y="1065647"/>
                    <a:pt x="497306" y="978569"/>
                  </a:cubicBezTo>
                  <a:cubicBezTo>
                    <a:pt x="578718" y="836096"/>
                    <a:pt x="483307" y="983525"/>
                    <a:pt x="561474" y="866274"/>
                  </a:cubicBezTo>
                  <a:cubicBezTo>
                    <a:pt x="585717" y="769303"/>
                    <a:pt x="570547" y="823011"/>
                    <a:pt x="609600" y="705853"/>
                  </a:cubicBezTo>
                  <a:cubicBezTo>
                    <a:pt x="614947" y="689811"/>
                    <a:pt x="613686" y="669684"/>
                    <a:pt x="625643" y="657727"/>
                  </a:cubicBezTo>
                  <a:lnTo>
                    <a:pt x="657727" y="625642"/>
                  </a:lnTo>
                  <a:cubicBezTo>
                    <a:pt x="668567" y="560602"/>
                    <a:pt x="671863" y="525047"/>
                    <a:pt x="689811" y="465221"/>
                  </a:cubicBezTo>
                  <a:cubicBezTo>
                    <a:pt x="699529" y="432828"/>
                    <a:pt x="711200" y="401053"/>
                    <a:pt x="721895" y="368969"/>
                  </a:cubicBezTo>
                  <a:lnTo>
                    <a:pt x="737937" y="320842"/>
                  </a:lnTo>
                  <a:cubicBezTo>
                    <a:pt x="737939" y="320837"/>
                    <a:pt x="770019" y="224594"/>
                    <a:pt x="770022" y="224590"/>
                  </a:cubicBezTo>
                  <a:cubicBezTo>
                    <a:pt x="791411" y="192506"/>
                    <a:pt x="821996" y="164919"/>
                    <a:pt x="834190" y="128337"/>
                  </a:cubicBezTo>
                  <a:cubicBezTo>
                    <a:pt x="839537" y="112295"/>
                    <a:pt x="842670" y="95336"/>
                    <a:pt x="850232" y="80211"/>
                  </a:cubicBezTo>
                  <a:cubicBezTo>
                    <a:pt x="870468" y="39739"/>
                    <a:pt x="884559" y="29842"/>
                    <a:pt x="914400" y="0"/>
                  </a:cubicBezTo>
                  <a:cubicBezTo>
                    <a:pt x="951832" y="5347"/>
                    <a:pt x="996848" y="-7172"/>
                    <a:pt x="1026695" y="16042"/>
                  </a:cubicBezTo>
                  <a:cubicBezTo>
                    <a:pt x="1053391" y="36805"/>
                    <a:pt x="1048084" y="80211"/>
                    <a:pt x="1058779" y="112295"/>
                  </a:cubicBezTo>
                  <a:lnTo>
                    <a:pt x="1106906" y="256674"/>
                  </a:lnTo>
                  <a:cubicBezTo>
                    <a:pt x="1112253" y="272716"/>
                    <a:pt x="1110991" y="292843"/>
                    <a:pt x="1122948" y="304800"/>
                  </a:cubicBezTo>
                  <a:lnTo>
                    <a:pt x="1155032" y="336885"/>
                  </a:lnTo>
                  <a:lnTo>
                    <a:pt x="1203158" y="481264"/>
                  </a:lnTo>
                  <a:cubicBezTo>
                    <a:pt x="1208505" y="497306"/>
                    <a:pt x="1215099" y="512985"/>
                    <a:pt x="1219200" y="529390"/>
                  </a:cubicBezTo>
                  <a:cubicBezTo>
                    <a:pt x="1229895" y="572169"/>
                    <a:pt x="1237341" y="615894"/>
                    <a:pt x="1251285" y="657727"/>
                  </a:cubicBezTo>
                  <a:cubicBezTo>
                    <a:pt x="1256632" y="673769"/>
                    <a:pt x="1262682" y="689594"/>
                    <a:pt x="1267327" y="705853"/>
                  </a:cubicBezTo>
                  <a:cubicBezTo>
                    <a:pt x="1273384" y="727052"/>
                    <a:pt x="1277312" y="748822"/>
                    <a:pt x="1283369" y="770021"/>
                  </a:cubicBezTo>
                  <a:cubicBezTo>
                    <a:pt x="1288015" y="786280"/>
                    <a:pt x="1294765" y="801889"/>
                    <a:pt x="1299411" y="818148"/>
                  </a:cubicBezTo>
                  <a:cubicBezTo>
                    <a:pt x="1308135" y="848682"/>
                    <a:pt x="1332289" y="963321"/>
                    <a:pt x="1347537" y="978569"/>
                  </a:cubicBezTo>
                  <a:lnTo>
                    <a:pt x="1379622" y="1010653"/>
                  </a:lnTo>
                  <a:cubicBezTo>
                    <a:pt x="1390317" y="1042737"/>
                    <a:pt x="1392946" y="1078766"/>
                    <a:pt x="1411706" y="1106906"/>
                  </a:cubicBezTo>
                  <a:cubicBezTo>
                    <a:pt x="1422401" y="1122948"/>
                    <a:pt x="1435168" y="1137787"/>
                    <a:pt x="1443790" y="1155032"/>
                  </a:cubicBezTo>
                  <a:cubicBezTo>
                    <a:pt x="1451352" y="1170157"/>
                    <a:pt x="1449686" y="1189630"/>
                    <a:pt x="1459832" y="1203158"/>
                  </a:cubicBezTo>
                  <a:cubicBezTo>
                    <a:pt x="1482519" y="1233407"/>
                    <a:pt x="1519069" y="1251908"/>
                    <a:pt x="1540043" y="1283369"/>
                  </a:cubicBezTo>
                  <a:cubicBezTo>
                    <a:pt x="1569313" y="1327274"/>
                    <a:pt x="1569594" y="1341064"/>
                    <a:pt x="1620253" y="1363579"/>
                  </a:cubicBezTo>
                  <a:cubicBezTo>
                    <a:pt x="1620260" y="1363582"/>
                    <a:pt x="1740565" y="1403684"/>
                    <a:pt x="1764632" y="1411706"/>
                  </a:cubicBezTo>
                  <a:cubicBezTo>
                    <a:pt x="1819932" y="1430139"/>
                    <a:pt x="1800801" y="1415791"/>
                    <a:pt x="1828800" y="1443790"/>
                  </a:cubicBezTo>
                </a:path>
              </a:pathLst>
            </a:custGeom>
            <a:noFill/>
            <a:ln w="508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35311AFC-C517-DC4C-960A-490461E5762B}"/>
                </a:ext>
              </a:extLst>
            </p:cNvPr>
            <p:cNvSpPr/>
            <p:nvPr/>
          </p:nvSpPr>
          <p:spPr>
            <a:xfrm>
              <a:off x="1149406" y="4550566"/>
              <a:ext cx="1828800" cy="1443790"/>
            </a:xfrm>
            <a:custGeom>
              <a:avLst/>
              <a:gdLst>
                <a:gd name="connsiteX0" fmla="*/ 0 w 1828800"/>
                <a:gd name="connsiteY0" fmla="*/ 1443790 h 1443790"/>
                <a:gd name="connsiteX1" fmla="*/ 112295 w 1828800"/>
                <a:gd name="connsiteY1" fmla="*/ 1411706 h 1443790"/>
                <a:gd name="connsiteX2" fmla="*/ 160422 w 1828800"/>
                <a:gd name="connsiteY2" fmla="*/ 1395664 h 1443790"/>
                <a:gd name="connsiteX3" fmla="*/ 256674 w 1828800"/>
                <a:gd name="connsiteY3" fmla="*/ 1347537 h 1443790"/>
                <a:gd name="connsiteX4" fmla="*/ 320843 w 1828800"/>
                <a:gd name="connsiteY4" fmla="*/ 1251285 h 1443790"/>
                <a:gd name="connsiteX5" fmla="*/ 352927 w 1828800"/>
                <a:gd name="connsiteY5" fmla="*/ 1219200 h 1443790"/>
                <a:gd name="connsiteX6" fmla="*/ 417095 w 1828800"/>
                <a:gd name="connsiteY6" fmla="*/ 1122948 h 1443790"/>
                <a:gd name="connsiteX7" fmla="*/ 449179 w 1828800"/>
                <a:gd name="connsiteY7" fmla="*/ 1074821 h 1443790"/>
                <a:gd name="connsiteX8" fmla="*/ 497306 w 1828800"/>
                <a:gd name="connsiteY8" fmla="*/ 978569 h 1443790"/>
                <a:gd name="connsiteX9" fmla="*/ 561474 w 1828800"/>
                <a:gd name="connsiteY9" fmla="*/ 866274 h 1443790"/>
                <a:gd name="connsiteX10" fmla="*/ 609600 w 1828800"/>
                <a:gd name="connsiteY10" fmla="*/ 705853 h 1443790"/>
                <a:gd name="connsiteX11" fmla="*/ 625643 w 1828800"/>
                <a:gd name="connsiteY11" fmla="*/ 657727 h 1443790"/>
                <a:gd name="connsiteX12" fmla="*/ 657727 w 1828800"/>
                <a:gd name="connsiteY12" fmla="*/ 625642 h 1443790"/>
                <a:gd name="connsiteX13" fmla="*/ 689811 w 1828800"/>
                <a:gd name="connsiteY13" fmla="*/ 465221 h 1443790"/>
                <a:gd name="connsiteX14" fmla="*/ 721895 w 1828800"/>
                <a:gd name="connsiteY14" fmla="*/ 368969 h 1443790"/>
                <a:gd name="connsiteX15" fmla="*/ 737937 w 1828800"/>
                <a:gd name="connsiteY15" fmla="*/ 320842 h 1443790"/>
                <a:gd name="connsiteX16" fmla="*/ 770022 w 1828800"/>
                <a:gd name="connsiteY16" fmla="*/ 224590 h 1443790"/>
                <a:gd name="connsiteX17" fmla="*/ 834190 w 1828800"/>
                <a:gd name="connsiteY17" fmla="*/ 128337 h 1443790"/>
                <a:gd name="connsiteX18" fmla="*/ 850232 w 1828800"/>
                <a:gd name="connsiteY18" fmla="*/ 80211 h 1443790"/>
                <a:gd name="connsiteX19" fmla="*/ 914400 w 1828800"/>
                <a:gd name="connsiteY19" fmla="*/ 0 h 1443790"/>
                <a:gd name="connsiteX20" fmla="*/ 1026695 w 1828800"/>
                <a:gd name="connsiteY20" fmla="*/ 16042 h 1443790"/>
                <a:gd name="connsiteX21" fmla="*/ 1058779 w 1828800"/>
                <a:gd name="connsiteY21" fmla="*/ 112295 h 1443790"/>
                <a:gd name="connsiteX22" fmla="*/ 1106906 w 1828800"/>
                <a:gd name="connsiteY22" fmla="*/ 256674 h 1443790"/>
                <a:gd name="connsiteX23" fmla="*/ 1122948 w 1828800"/>
                <a:gd name="connsiteY23" fmla="*/ 304800 h 1443790"/>
                <a:gd name="connsiteX24" fmla="*/ 1155032 w 1828800"/>
                <a:gd name="connsiteY24" fmla="*/ 336885 h 1443790"/>
                <a:gd name="connsiteX25" fmla="*/ 1203158 w 1828800"/>
                <a:gd name="connsiteY25" fmla="*/ 481264 h 1443790"/>
                <a:gd name="connsiteX26" fmla="*/ 1219200 w 1828800"/>
                <a:gd name="connsiteY26" fmla="*/ 529390 h 1443790"/>
                <a:gd name="connsiteX27" fmla="*/ 1251285 w 1828800"/>
                <a:gd name="connsiteY27" fmla="*/ 657727 h 1443790"/>
                <a:gd name="connsiteX28" fmla="*/ 1267327 w 1828800"/>
                <a:gd name="connsiteY28" fmla="*/ 705853 h 1443790"/>
                <a:gd name="connsiteX29" fmla="*/ 1283369 w 1828800"/>
                <a:gd name="connsiteY29" fmla="*/ 770021 h 1443790"/>
                <a:gd name="connsiteX30" fmla="*/ 1299411 w 1828800"/>
                <a:gd name="connsiteY30" fmla="*/ 818148 h 1443790"/>
                <a:gd name="connsiteX31" fmla="*/ 1347537 w 1828800"/>
                <a:gd name="connsiteY31" fmla="*/ 978569 h 1443790"/>
                <a:gd name="connsiteX32" fmla="*/ 1379622 w 1828800"/>
                <a:gd name="connsiteY32" fmla="*/ 1010653 h 1443790"/>
                <a:gd name="connsiteX33" fmla="*/ 1411706 w 1828800"/>
                <a:gd name="connsiteY33" fmla="*/ 1106906 h 1443790"/>
                <a:gd name="connsiteX34" fmla="*/ 1443790 w 1828800"/>
                <a:gd name="connsiteY34" fmla="*/ 1155032 h 1443790"/>
                <a:gd name="connsiteX35" fmla="*/ 1459832 w 1828800"/>
                <a:gd name="connsiteY35" fmla="*/ 1203158 h 1443790"/>
                <a:gd name="connsiteX36" fmla="*/ 1540043 w 1828800"/>
                <a:gd name="connsiteY36" fmla="*/ 1283369 h 1443790"/>
                <a:gd name="connsiteX37" fmla="*/ 1620253 w 1828800"/>
                <a:gd name="connsiteY37" fmla="*/ 1363579 h 1443790"/>
                <a:gd name="connsiteX38" fmla="*/ 1764632 w 1828800"/>
                <a:gd name="connsiteY38" fmla="*/ 1411706 h 1443790"/>
                <a:gd name="connsiteX39" fmla="*/ 1828800 w 1828800"/>
                <a:gd name="connsiteY39" fmla="*/ 1443790 h 14437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1828800" h="1443790">
                  <a:moveTo>
                    <a:pt x="0" y="1443790"/>
                  </a:moveTo>
                  <a:lnTo>
                    <a:pt x="112295" y="1411706"/>
                  </a:lnTo>
                  <a:cubicBezTo>
                    <a:pt x="128492" y="1406847"/>
                    <a:pt x="145297" y="1403226"/>
                    <a:pt x="160422" y="1395664"/>
                  </a:cubicBezTo>
                  <a:cubicBezTo>
                    <a:pt x="284817" y="1333466"/>
                    <a:pt x="135705" y="1387860"/>
                    <a:pt x="256674" y="1347537"/>
                  </a:cubicBezTo>
                  <a:cubicBezTo>
                    <a:pt x="278064" y="1315453"/>
                    <a:pt x="293577" y="1278552"/>
                    <a:pt x="320843" y="1251285"/>
                  </a:cubicBezTo>
                  <a:cubicBezTo>
                    <a:pt x="331538" y="1240590"/>
                    <a:pt x="343852" y="1231300"/>
                    <a:pt x="352927" y="1219200"/>
                  </a:cubicBezTo>
                  <a:cubicBezTo>
                    <a:pt x="376063" y="1188352"/>
                    <a:pt x="395706" y="1155032"/>
                    <a:pt x="417095" y="1122948"/>
                  </a:cubicBezTo>
                  <a:cubicBezTo>
                    <a:pt x="427790" y="1106906"/>
                    <a:pt x="443082" y="1093112"/>
                    <a:pt x="449179" y="1074821"/>
                  </a:cubicBezTo>
                  <a:cubicBezTo>
                    <a:pt x="478594" y="986581"/>
                    <a:pt x="447547" y="1065647"/>
                    <a:pt x="497306" y="978569"/>
                  </a:cubicBezTo>
                  <a:cubicBezTo>
                    <a:pt x="578718" y="836096"/>
                    <a:pt x="483307" y="983525"/>
                    <a:pt x="561474" y="866274"/>
                  </a:cubicBezTo>
                  <a:cubicBezTo>
                    <a:pt x="585717" y="769303"/>
                    <a:pt x="570547" y="823011"/>
                    <a:pt x="609600" y="705853"/>
                  </a:cubicBezTo>
                  <a:cubicBezTo>
                    <a:pt x="614947" y="689811"/>
                    <a:pt x="613686" y="669684"/>
                    <a:pt x="625643" y="657727"/>
                  </a:cubicBezTo>
                  <a:lnTo>
                    <a:pt x="657727" y="625642"/>
                  </a:lnTo>
                  <a:cubicBezTo>
                    <a:pt x="668567" y="560602"/>
                    <a:pt x="671863" y="525047"/>
                    <a:pt x="689811" y="465221"/>
                  </a:cubicBezTo>
                  <a:cubicBezTo>
                    <a:pt x="699529" y="432828"/>
                    <a:pt x="711200" y="401053"/>
                    <a:pt x="721895" y="368969"/>
                  </a:cubicBezTo>
                  <a:lnTo>
                    <a:pt x="737937" y="320842"/>
                  </a:lnTo>
                  <a:cubicBezTo>
                    <a:pt x="737939" y="320837"/>
                    <a:pt x="770019" y="224594"/>
                    <a:pt x="770022" y="224590"/>
                  </a:cubicBezTo>
                  <a:cubicBezTo>
                    <a:pt x="791411" y="192506"/>
                    <a:pt x="821996" y="164919"/>
                    <a:pt x="834190" y="128337"/>
                  </a:cubicBezTo>
                  <a:cubicBezTo>
                    <a:pt x="839537" y="112295"/>
                    <a:pt x="842670" y="95336"/>
                    <a:pt x="850232" y="80211"/>
                  </a:cubicBezTo>
                  <a:cubicBezTo>
                    <a:pt x="870468" y="39739"/>
                    <a:pt x="884559" y="29842"/>
                    <a:pt x="914400" y="0"/>
                  </a:cubicBezTo>
                  <a:cubicBezTo>
                    <a:pt x="951832" y="5347"/>
                    <a:pt x="996848" y="-7172"/>
                    <a:pt x="1026695" y="16042"/>
                  </a:cubicBezTo>
                  <a:cubicBezTo>
                    <a:pt x="1053391" y="36805"/>
                    <a:pt x="1048084" y="80211"/>
                    <a:pt x="1058779" y="112295"/>
                  </a:cubicBezTo>
                  <a:lnTo>
                    <a:pt x="1106906" y="256674"/>
                  </a:lnTo>
                  <a:cubicBezTo>
                    <a:pt x="1112253" y="272716"/>
                    <a:pt x="1110991" y="292843"/>
                    <a:pt x="1122948" y="304800"/>
                  </a:cubicBezTo>
                  <a:lnTo>
                    <a:pt x="1155032" y="336885"/>
                  </a:lnTo>
                  <a:lnTo>
                    <a:pt x="1203158" y="481264"/>
                  </a:lnTo>
                  <a:cubicBezTo>
                    <a:pt x="1208505" y="497306"/>
                    <a:pt x="1215099" y="512985"/>
                    <a:pt x="1219200" y="529390"/>
                  </a:cubicBezTo>
                  <a:cubicBezTo>
                    <a:pt x="1229895" y="572169"/>
                    <a:pt x="1237341" y="615894"/>
                    <a:pt x="1251285" y="657727"/>
                  </a:cubicBezTo>
                  <a:cubicBezTo>
                    <a:pt x="1256632" y="673769"/>
                    <a:pt x="1262682" y="689594"/>
                    <a:pt x="1267327" y="705853"/>
                  </a:cubicBezTo>
                  <a:cubicBezTo>
                    <a:pt x="1273384" y="727052"/>
                    <a:pt x="1277312" y="748822"/>
                    <a:pt x="1283369" y="770021"/>
                  </a:cubicBezTo>
                  <a:cubicBezTo>
                    <a:pt x="1288015" y="786280"/>
                    <a:pt x="1294765" y="801889"/>
                    <a:pt x="1299411" y="818148"/>
                  </a:cubicBezTo>
                  <a:cubicBezTo>
                    <a:pt x="1308135" y="848682"/>
                    <a:pt x="1332289" y="963321"/>
                    <a:pt x="1347537" y="978569"/>
                  </a:cubicBezTo>
                  <a:lnTo>
                    <a:pt x="1379622" y="1010653"/>
                  </a:lnTo>
                  <a:cubicBezTo>
                    <a:pt x="1390317" y="1042737"/>
                    <a:pt x="1392946" y="1078766"/>
                    <a:pt x="1411706" y="1106906"/>
                  </a:cubicBezTo>
                  <a:cubicBezTo>
                    <a:pt x="1422401" y="1122948"/>
                    <a:pt x="1435168" y="1137787"/>
                    <a:pt x="1443790" y="1155032"/>
                  </a:cubicBezTo>
                  <a:cubicBezTo>
                    <a:pt x="1451352" y="1170157"/>
                    <a:pt x="1449686" y="1189630"/>
                    <a:pt x="1459832" y="1203158"/>
                  </a:cubicBezTo>
                  <a:cubicBezTo>
                    <a:pt x="1482519" y="1233407"/>
                    <a:pt x="1519069" y="1251908"/>
                    <a:pt x="1540043" y="1283369"/>
                  </a:cubicBezTo>
                  <a:cubicBezTo>
                    <a:pt x="1569313" y="1327274"/>
                    <a:pt x="1569594" y="1341064"/>
                    <a:pt x="1620253" y="1363579"/>
                  </a:cubicBezTo>
                  <a:cubicBezTo>
                    <a:pt x="1620260" y="1363582"/>
                    <a:pt x="1740565" y="1403684"/>
                    <a:pt x="1764632" y="1411706"/>
                  </a:cubicBezTo>
                  <a:cubicBezTo>
                    <a:pt x="1819932" y="1430139"/>
                    <a:pt x="1800801" y="1415791"/>
                    <a:pt x="1828800" y="1443790"/>
                  </a:cubicBezTo>
                </a:path>
              </a:pathLst>
            </a:custGeom>
            <a:noFill/>
            <a:ln w="508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A23A88AC-F721-804B-8F1A-F75760468CA7}"/>
                </a:ext>
              </a:extLst>
            </p:cNvPr>
            <p:cNvSpPr/>
            <p:nvPr/>
          </p:nvSpPr>
          <p:spPr>
            <a:xfrm>
              <a:off x="1328104" y="4550566"/>
              <a:ext cx="323238" cy="1443790"/>
            </a:xfrm>
            <a:custGeom>
              <a:avLst/>
              <a:gdLst>
                <a:gd name="connsiteX0" fmla="*/ 0 w 1828800"/>
                <a:gd name="connsiteY0" fmla="*/ 1443790 h 1443790"/>
                <a:gd name="connsiteX1" fmla="*/ 112295 w 1828800"/>
                <a:gd name="connsiteY1" fmla="*/ 1411706 h 1443790"/>
                <a:gd name="connsiteX2" fmla="*/ 160422 w 1828800"/>
                <a:gd name="connsiteY2" fmla="*/ 1395664 h 1443790"/>
                <a:gd name="connsiteX3" fmla="*/ 256674 w 1828800"/>
                <a:gd name="connsiteY3" fmla="*/ 1347537 h 1443790"/>
                <a:gd name="connsiteX4" fmla="*/ 320843 w 1828800"/>
                <a:gd name="connsiteY4" fmla="*/ 1251285 h 1443790"/>
                <a:gd name="connsiteX5" fmla="*/ 352927 w 1828800"/>
                <a:gd name="connsiteY5" fmla="*/ 1219200 h 1443790"/>
                <a:gd name="connsiteX6" fmla="*/ 417095 w 1828800"/>
                <a:gd name="connsiteY6" fmla="*/ 1122948 h 1443790"/>
                <a:gd name="connsiteX7" fmla="*/ 449179 w 1828800"/>
                <a:gd name="connsiteY7" fmla="*/ 1074821 h 1443790"/>
                <a:gd name="connsiteX8" fmla="*/ 497306 w 1828800"/>
                <a:gd name="connsiteY8" fmla="*/ 978569 h 1443790"/>
                <a:gd name="connsiteX9" fmla="*/ 561474 w 1828800"/>
                <a:gd name="connsiteY9" fmla="*/ 866274 h 1443790"/>
                <a:gd name="connsiteX10" fmla="*/ 609600 w 1828800"/>
                <a:gd name="connsiteY10" fmla="*/ 705853 h 1443790"/>
                <a:gd name="connsiteX11" fmla="*/ 625643 w 1828800"/>
                <a:gd name="connsiteY11" fmla="*/ 657727 h 1443790"/>
                <a:gd name="connsiteX12" fmla="*/ 657727 w 1828800"/>
                <a:gd name="connsiteY12" fmla="*/ 625642 h 1443790"/>
                <a:gd name="connsiteX13" fmla="*/ 689811 w 1828800"/>
                <a:gd name="connsiteY13" fmla="*/ 465221 h 1443790"/>
                <a:gd name="connsiteX14" fmla="*/ 721895 w 1828800"/>
                <a:gd name="connsiteY14" fmla="*/ 368969 h 1443790"/>
                <a:gd name="connsiteX15" fmla="*/ 737937 w 1828800"/>
                <a:gd name="connsiteY15" fmla="*/ 320842 h 1443790"/>
                <a:gd name="connsiteX16" fmla="*/ 770022 w 1828800"/>
                <a:gd name="connsiteY16" fmla="*/ 224590 h 1443790"/>
                <a:gd name="connsiteX17" fmla="*/ 834190 w 1828800"/>
                <a:gd name="connsiteY17" fmla="*/ 128337 h 1443790"/>
                <a:gd name="connsiteX18" fmla="*/ 850232 w 1828800"/>
                <a:gd name="connsiteY18" fmla="*/ 80211 h 1443790"/>
                <a:gd name="connsiteX19" fmla="*/ 914400 w 1828800"/>
                <a:gd name="connsiteY19" fmla="*/ 0 h 1443790"/>
                <a:gd name="connsiteX20" fmla="*/ 1026695 w 1828800"/>
                <a:gd name="connsiteY20" fmla="*/ 16042 h 1443790"/>
                <a:gd name="connsiteX21" fmla="*/ 1058779 w 1828800"/>
                <a:gd name="connsiteY21" fmla="*/ 112295 h 1443790"/>
                <a:gd name="connsiteX22" fmla="*/ 1106906 w 1828800"/>
                <a:gd name="connsiteY22" fmla="*/ 256674 h 1443790"/>
                <a:gd name="connsiteX23" fmla="*/ 1122948 w 1828800"/>
                <a:gd name="connsiteY23" fmla="*/ 304800 h 1443790"/>
                <a:gd name="connsiteX24" fmla="*/ 1155032 w 1828800"/>
                <a:gd name="connsiteY24" fmla="*/ 336885 h 1443790"/>
                <a:gd name="connsiteX25" fmla="*/ 1203158 w 1828800"/>
                <a:gd name="connsiteY25" fmla="*/ 481264 h 1443790"/>
                <a:gd name="connsiteX26" fmla="*/ 1219200 w 1828800"/>
                <a:gd name="connsiteY26" fmla="*/ 529390 h 1443790"/>
                <a:gd name="connsiteX27" fmla="*/ 1251285 w 1828800"/>
                <a:gd name="connsiteY27" fmla="*/ 657727 h 1443790"/>
                <a:gd name="connsiteX28" fmla="*/ 1267327 w 1828800"/>
                <a:gd name="connsiteY28" fmla="*/ 705853 h 1443790"/>
                <a:gd name="connsiteX29" fmla="*/ 1283369 w 1828800"/>
                <a:gd name="connsiteY29" fmla="*/ 770021 h 1443790"/>
                <a:gd name="connsiteX30" fmla="*/ 1299411 w 1828800"/>
                <a:gd name="connsiteY30" fmla="*/ 818148 h 1443790"/>
                <a:gd name="connsiteX31" fmla="*/ 1347537 w 1828800"/>
                <a:gd name="connsiteY31" fmla="*/ 978569 h 1443790"/>
                <a:gd name="connsiteX32" fmla="*/ 1379622 w 1828800"/>
                <a:gd name="connsiteY32" fmla="*/ 1010653 h 1443790"/>
                <a:gd name="connsiteX33" fmla="*/ 1411706 w 1828800"/>
                <a:gd name="connsiteY33" fmla="*/ 1106906 h 1443790"/>
                <a:gd name="connsiteX34" fmla="*/ 1443790 w 1828800"/>
                <a:gd name="connsiteY34" fmla="*/ 1155032 h 1443790"/>
                <a:gd name="connsiteX35" fmla="*/ 1459832 w 1828800"/>
                <a:gd name="connsiteY35" fmla="*/ 1203158 h 1443790"/>
                <a:gd name="connsiteX36" fmla="*/ 1540043 w 1828800"/>
                <a:gd name="connsiteY36" fmla="*/ 1283369 h 1443790"/>
                <a:gd name="connsiteX37" fmla="*/ 1620253 w 1828800"/>
                <a:gd name="connsiteY37" fmla="*/ 1363579 h 1443790"/>
                <a:gd name="connsiteX38" fmla="*/ 1764632 w 1828800"/>
                <a:gd name="connsiteY38" fmla="*/ 1411706 h 1443790"/>
                <a:gd name="connsiteX39" fmla="*/ 1828800 w 1828800"/>
                <a:gd name="connsiteY39" fmla="*/ 1443790 h 14437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1828800" h="1443790">
                  <a:moveTo>
                    <a:pt x="0" y="1443790"/>
                  </a:moveTo>
                  <a:lnTo>
                    <a:pt x="112295" y="1411706"/>
                  </a:lnTo>
                  <a:cubicBezTo>
                    <a:pt x="128492" y="1406847"/>
                    <a:pt x="145297" y="1403226"/>
                    <a:pt x="160422" y="1395664"/>
                  </a:cubicBezTo>
                  <a:cubicBezTo>
                    <a:pt x="284817" y="1333466"/>
                    <a:pt x="135705" y="1387860"/>
                    <a:pt x="256674" y="1347537"/>
                  </a:cubicBezTo>
                  <a:cubicBezTo>
                    <a:pt x="278064" y="1315453"/>
                    <a:pt x="293577" y="1278552"/>
                    <a:pt x="320843" y="1251285"/>
                  </a:cubicBezTo>
                  <a:cubicBezTo>
                    <a:pt x="331538" y="1240590"/>
                    <a:pt x="343852" y="1231300"/>
                    <a:pt x="352927" y="1219200"/>
                  </a:cubicBezTo>
                  <a:cubicBezTo>
                    <a:pt x="376063" y="1188352"/>
                    <a:pt x="395706" y="1155032"/>
                    <a:pt x="417095" y="1122948"/>
                  </a:cubicBezTo>
                  <a:cubicBezTo>
                    <a:pt x="427790" y="1106906"/>
                    <a:pt x="443082" y="1093112"/>
                    <a:pt x="449179" y="1074821"/>
                  </a:cubicBezTo>
                  <a:cubicBezTo>
                    <a:pt x="478594" y="986581"/>
                    <a:pt x="447547" y="1065647"/>
                    <a:pt x="497306" y="978569"/>
                  </a:cubicBezTo>
                  <a:cubicBezTo>
                    <a:pt x="578718" y="836096"/>
                    <a:pt x="483307" y="983525"/>
                    <a:pt x="561474" y="866274"/>
                  </a:cubicBezTo>
                  <a:cubicBezTo>
                    <a:pt x="585717" y="769303"/>
                    <a:pt x="570547" y="823011"/>
                    <a:pt x="609600" y="705853"/>
                  </a:cubicBezTo>
                  <a:cubicBezTo>
                    <a:pt x="614947" y="689811"/>
                    <a:pt x="613686" y="669684"/>
                    <a:pt x="625643" y="657727"/>
                  </a:cubicBezTo>
                  <a:lnTo>
                    <a:pt x="657727" y="625642"/>
                  </a:lnTo>
                  <a:cubicBezTo>
                    <a:pt x="668567" y="560602"/>
                    <a:pt x="671863" y="525047"/>
                    <a:pt x="689811" y="465221"/>
                  </a:cubicBezTo>
                  <a:cubicBezTo>
                    <a:pt x="699529" y="432828"/>
                    <a:pt x="711200" y="401053"/>
                    <a:pt x="721895" y="368969"/>
                  </a:cubicBezTo>
                  <a:lnTo>
                    <a:pt x="737937" y="320842"/>
                  </a:lnTo>
                  <a:cubicBezTo>
                    <a:pt x="737939" y="320837"/>
                    <a:pt x="770019" y="224594"/>
                    <a:pt x="770022" y="224590"/>
                  </a:cubicBezTo>
                  <a:cubicBezTo>
                    <a:pt x="791411" y="192506"/>
                    <a:pt x="821996" y="164919"/>
                    <a:pt x="834190" y="128337"/>
                  </a:cubicBezTo>
                  <a:cubicBezTo>
                    <a:pt x="839537" y="112295"/>
                    <a:pt x="842670" y="95336"/>
                    <a:pt x="850232" y="80211"/>
                  </a:cubicBezTo>
                  <a:cubicBezTo>
                    <a:pt x="870468" y="39739"/>
                    <a:pt x="884559" y="29842"/>
                    <a:pt x="914400" y="0"/>
                  </a:cubicBezTo>
                  <a:cubicBezTo>
                    <a:pt x="951832" y="5347"/>
                    <a:pt x="996848" y="-7172"/>
                    <a:pt x="1026695" y="16042"/>
                  </a:cubicBezTo>
                  <a:cubicBezTo>
                    <a:pt x="1053391" y="36805"/>
                    <a:pt x="1048084" y="80211"/>
                    <a:pt x="1058779" y="112295"/>
                  </a:cubicBezTo>
                  <a:lnTo>
                    <a:pt x="1106906" y="256674"/>
                  </a:lnTo>
                  <a:cubicBezTo>
                    <a:pt x="1112253" y="272716"/>
                    <a:pt x="1110991" y="292843"/>
                    <a:pt x="1122948" y="304800"/>
                  </a:cubicBezTo>
                  <a:lnTo>
                    <a:pt x="1155032" y="336885"/>
                  </a:lnTo>
                  <a:lnTo>
                    <a:pt x="1203158" y="481264"/>
                  </a:lnTo>
                  <a:cubicBezTo>
                    <a:pt x="1208505" y="497306"/>
                    <a:pt x="1215099" y="512985"/>
                    <a:pt x="1219200" y="529390"/>
                  </a:cubicBezTo>
                  <a:cubicBezTo>
                    <a:pt x="1229895" y="572169"/>
                    <a:pt x="1237341" y="615894"/>
                    <a:pt x="1251285" y="657727"/>
                  </a:cubicBezTo>
                  <a:cubicBezTo>
                    <a:pt x="1256632" y="673769"/>
                    <a:pt x="1262682" y="689594"/>
                    <a:pt x="1267327" y="705853"/>
                  </a:cubicBezTo>
                  <a:cubicBezTo>
                    <a:pt x="1273384" y="727052"/>
                    <a:pt x="1277312" y="748822"/>
                    <a:pt x="1283369" y="770021"/>
                  </a:cubicBezTo>
                  <a:cubicBezTo>
                    <a:pt x="1288015" y="786280"/>
                    <a:pt x="1294765" y="801889"/>
                    <a:pt x="1299411" y="818148"/>
                  </a:cubicBezTo>
                  <a:cubicBezTo>
                    <a:pt x="1308135" y="848682"/>
                    <a:pt x="1332289" y="963321"/>
                    <a:pt x="1347537" y="978569"/>
                  </a:cubicBezTo>
                  <a:lnTo>
                    <a:pt x="1379622" y="1010653"/>
                  </a:lnTo>
                  <a:cubicBezTo>
                    <a:pt x="1390317" y="1042737"/>
                    <a:pt x="1392946" y="1078766"/>
                    <a:pt x="1411706" y="1106906"/>
                  </a:cubicBezTo>
                  <a:cubicBezTo>
                    <a:pt x="1422401" y="1122948"/>
                    <a:pt x="1435168" y="1137787"/>
                    <a:pt x="1443790" y="1155032"/>
                  </a:cubicBezTo>
                  <a:cubicBezTo>
                    <a:pt x="1451352" y="1170157"/>
                    <a:pt x="1449686" y="1189630"/>
                    <a:pt x="1459832" y="1203158"/>
                  </a:cubicBezTo>
                  <a:cubicBezTo>
                    <a:pt x="1482519" y="1233407"/>
                    <a:pt x="1519069" y="1251908"/>
                    <a:pt x="1540043" y="1283369"/>
                  </a:cubicBezTo>
                  <a:cubicBezTo>
                    <a:pt x="1569313" y="1327274"/>
                    <a:pt x="1569594" y="1341064"/>
                    <a:pt x="1620253" y="1363579"/>
                  </a:cubicBezTo>
                  <a:cubicBezTo>
                    <a:pt x="1620260" y="1363582"/>
                    <a:pt x="1740565" y="1403684"/>
                    <a:pt x="1764632" y="1411706"/>
                  </a:cubicBezTo>
                  <a:cubicBezTo>
                    <a:pt x="1819932" y="1430139"/>
                    <a:pt x="1800801" y="1415791"/>
                    <a:pt x="1828800" y="1443790"/>
                  </a:cubicBezTo>
                </a:path>
              </a:pathLst>
            </a:custGeom>
            <a:noFill/>
            <a:ln w="508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B25DDCFC-44DE-5B43-83EA-2419844DEEC2}"/>
                </a:ext>
              </a:extLst>
            </p:cNvPr>
            <p:cNvSpPr/>
            <p:nvPr/>
          </p:nvSpPr>
          <p:spPr>
            <a:xfrm>
              <a:off x="1937961" y="4535701"/>
              <a:ext cx="323238" cy="1443790"/>
            </a:xfrm>
            <a:custGeom>
              <a:avLst/>
              <a:gdLst>
                <a:gd name="connsiteX0" fmla="*/ 0 w 1828800"/>
                <a:gd name="connsiteY0" fmla="*/ 1443790 h 1443790"/>
                <a:gd name="connsiteX1" fmla="*/ 112295 w 1828800"/>
                <a:gd name="connsiteY1" fmla="*/ 1411706 h 1443790"/>
                <a:gd name="connsiteX2" fmla="*/ 160422 w 1828800"/>
                <a:gd name="connsiteY2" fmla="*/ 1395664 h 1443790"/>
                <a:gd name="connsiteX3" fmla="*/ 256674 w 1828800"/>
                <a:gd name="connsiteY3" fmla="*/ 1347537 h 1443790"/>
                <a:gd name="connsiteX4" fmla="*/ 320843 w 1828800"/>
                <a:gd name="connsiteY4" fmla="*/ 1251285 h 1443790"/>
                <a:gd name="connsiteX5" fmla="*/ 352927 w 1828800"/>
                <a:gd name="connsiteY5" fmla="*/ 1219200 h 1443790"/>
                <a:gd name="connsiteX6" fmla="*/ 417095 w 1828800"/>
                <a:gd name="connsiteY6" fmla="*/ 1122948 h 1443790"/>
                <a:gd name="connsiteX7" fmla="*/ 449179 w 1828800"/>
                <a:gd name="connsiteY7" fmla="*/ 1074821 h 1443790"/>
                <a:gd name="connsiteX8" fmla="*/ 497306 w 1828800"/>
                <a:gd name="connsiteY8" fmla="*/ 978569 h 1443790"/>
                <a:gd name="connsiteX9" fmla="*/ 561474 w 1828800"/>
                <a:gd name="connsiteY9" fmla="*/ 866274 h 1443790"/>
                <a:gd name="connsiteX10" fmla="*/ 609600 w 1828800"/>
                <a:gd name="connsiteY10" fmla="*/ 705853 h 1443790"/>
                <a:gd name="connsiteX11" fmla="*/ 625643 w 1828800"/>
                <a:gd name="connsiteY11" fmla="*/ 657727 h 1443790"/>
                <a:gd name="connsiteX12" fmla="*/ 657727 w 1828800"/>
                <a:gd name="connsiteY12" fmla="*/ 625642 h 1443790"/>
                <a:gd name="connsiteX13" fmla="*/ 689811 w 1828800"/>
                <a:gd name="connsiteY13" fmla="*/ 465221 h 1443790"/>
                <a:gd name="connsiteX14" fmla="*/ 721895 w 1828800"/>
                <a:gd name="connsiteY14" fmla="*/ 368969 h 1443790"/>
                <a:gd name="connsiteX15" fmla="*/ 737937 w 1828800"/>
                <a:gd name="connsiteY15" fmla="*/ 320842 h 1443790"/>
                <a:gd name="connsiteX16" fmla="*/ 770022 w 1828800"/>
                <a:gd name="connsiteY16" fmla="*/ 224590 h 1443790"/>
                <a:gd name="connsiteX17" fmla="*/ 834190 w 1828800"/>
                <a:gd name="connsiteY17" fmla="*/ 128337 h 1443790"/>
                <a:gd name="connsiteX18" fmla="*/ 850232 w 1828800"/>
                <a:gd name="connsiteY18" fmla="*/ 80211 h 1443790"/>
                <a:gd name="connsiteX19" fmla="*/ 914400 w 1828800"/>
                <a:gd name="connsiteY19" fmla="*/ 0 h 1443790"/>
                <a:gd name="connsiteX20" fmla="*/ 1026695 w 1828800"/>
                <a:gd name="connsiteY20" fmla="*/ 16042 h 1443790"/>
                <a:gd name="connsiteX21" fmla="*/ 1058779 w 1828800"/>
                <a:gd name="connsiteY21" fmla="*/ 112295 h 1443790"/>
                <a:gd name="connsiteX22" fmla="*/ 1106906 w 1828800"/>
                <a:gd name="connsiteY22" fmla="*/ 256674 h 1443790"/>
                <a:gd name="connsiteX23" fmla="*/ 1122948 w 1828800"/>
                <a:gd name="connsiteY23" fmla="*/ 304800 h 1443790"/>
                <a:gd name="connsiteX24" fmla="*/ 1155032 w 1828800"/>
                <a:gd name="connsiteY24" fmla="*/ 336885 h 1443790"/>
                <a:gd name="connsiteX25" fmla="*/ 1203158 w 1828800"/>
                <a:gd name="connsiteY25" fmla="*/ 481264 h 1443790"/>
                <a:gd name="connsiteX26" fmla="*/ 1219200 w 1828800"/>
                <a:gd name="connsiteY26" fmla="*/ 529390 h 1443790"/>
                <a:gd name="connsiteX27" fmla="*/ 1251285 w 1828800"/>
                <a:gd name="connsiteY27" fmla="*/ 657727 h 1443790"/>
                <a:gd name="connsiteX28" fmla="*/ 1267327 w 1828800"/>
                <a:gd name="connsiteY28" fmla="*/ 705853 h 1443790"/>
                <a:gd name="connsiteX29" fmla="*/ 1283369 w 1828800"/>
                <a:gd name="connsiteY29" fmla="*/ 770021 h 1443790"/>
                <a:gd name="connsiteX30" fmla="*/ 1299411 w 1828800"/>
                <a:gd name="connsiteY30" fmla="*/ 818148 h 1443790"/>
                <a:gd name="connsiteX31" fmla="*/ 1347537 w 1828800"/>
                <a:gd name="connsiteY31" fmla="*/ 978569 h 1443790"/>
                <a:gd name="connsiteX32" fmla="*/ 1379622 w 1828800"/>
                <a:gd name="connsiteY32" fmla="*/ 1010653 h 1443790"/>
                <a:gd name="connsiteX33" fmla="*/ 1411706 w 1828800"/>
                <a:gd name="connsiteY33" fmla="*/ 1106906 h 1443790"/>
                <a:gd name="connsiteX34" fmla="*/ 1443790 w 1828800"/>
                <a:gd name="connsiteY34" fmla="*/ 1155032 h 1443790"/>
                <a:gd name="connsiteX35" fmla="*/ 1459832 w 1828800"/>
                <a:gd name="connsiteY35" fmla="*/ 1203158 h 1443790"/>
                <a:gd name="connsiteX36" fmla="*/ 1540043 w 1828800"/>
                <a:gd name="connsiteY36" fmla="*/ 1283369 h 1443790"/>
                <a:gd name="connsiteX37" fmla="*/ 1620253 w 1828800"/>
                <a:gd name="connsiteY37" fmla="*/ 1363579 h 1443790"/>
                <a:gd name="connsiteX38" fmla="*/ 1764632 w 1828800"/>
                <a:gd name="connsiteY38" fmla="*/ 1411706 h 1443790"/>
                <a:gd name="connsiteX39" fmla="*/ 1828800 w 1828800"/>
                <a:gd name="connsiteY39" fmla="*/ 1443790 h 14437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1828800" h="1443790">
                  <a:moveTo>
                    <a:pt x="0" y="1443790"/>
                  </a:moveTo>
                  <a:lnTo>
                    <a:pt x="112295" y="1411706"/>
                  </a:lnTo>
                  <a:cubicBezTo>
                    <a:pt x="128492" y="1406847"/>
                    <a:pt x="145297" y="1403226"/>
                    <a:pt x="160422" y="1395664"/>
                  </a:cubicBezTo>
                  <a:cubicBezTo>
                    <a:pt x="284817" y="1333466"/>
                    <a:pt x="135705" y="1387860"/>
                    <a:pt x="256674" y="1347537"/>
                  </a:cubicBezTo>
                  <a:cubicBezTo>
                    <a:pt x="278064" y="1315453"/>
                    <a:pt x="293577" y="1278552"/>
                    <a:pt x="320843" y="1251285"/>
                  </a:cubicBezTo>
                  <a:cubicBezTo>
                    <a:pt x="331538" y="1240590"/>
                    <a:pt x="343852" y="1231300"/>
                    <a:pt x="352927" y="1219200"/>
                  </a:cubicBezTo>
                  <a:cubicBezTo>
                    <a:pt x="376063" y="1188352"/>
                    <a:pt x="395706" y="1155032"/>
                    <a:pt x="417095" y="1122948"/>
                  </a:cubicBezTo>
                  <a:cubicBezTo>
                    <a:pt x="427790" y="1106906"/>
                    <a:pt x="443082" y="1093112"/>
                    <a:pt x="449179" y="1074821"/>
                  </a:cubicBezTo>
                  <a:cubicBezTo>
                    <a:pt x="478594" y="986581"/>
                    <a:pt x="447547" y="1065647"/>
                    <a:pt x="497306" y="978569"/>
                  </a:cubicBezTo>
                  <a:cubicBezTo>
                    <a:pt x="578718" y="836096"/>
                    <a:pt x="483307" y="983525"/>
                    <a:pt x="561474" y="866274"/>
                  </a:cubicBezTo>
                  <a:cubicBezTo>
                    <a:pt x="585717" y="769303"/>
                    <a:pt x="570547" y="823011"/>
                    <a:pt x="609600" y="705853"/>
                  </a:cubicBezTo>
                  <a:cubicBezTo>
                    <a:pt x="614947" y="689811"/>
                    <a:pt x="613686" y="669684"/>
                    <a:pt x="625643" y="657727"/>
                  </a:cubicBezTo>
                  <a:lnTo>
                    <a:pt x="657727" y="625642"/>
                  </a:lnTo>
                  <a:cubicBezTo>
                    <a:pt x="668567" y="560602"/>
                    <a:pt x="671863" y="525047"/>
                    <a:pt x="689811" y="465221"/>
                  </a:cubicBezTo>
                  <a:cubicBezTo>
                    <a:pt x="699529" y="432828"/>
                    <a:pt x="711200" y="401053"/>
                    <a:pt x="721895" y="368969"/>
                  </a:cubicBezTo>
                  <a:lnTo>
                    <a:pt x="737937" y="320842"/>
                  </a:lnTo>
                  <a:cubicBezTo>
                    <a:pt x="737939" y="320837"/>
                    <a:pt x="770019" y="224594"/>
                    <a:pt x="770022" y="224590"/>
                  </a:cubicBezTo>
                  <a:cubicBezTo>
                    <a:pt x="791411" y="192506"/>
                    <a:pt x="821996" y="164919"/>
                    <a:pt x="834190" y="128337"/>
                  </a:cubicBezTo>
                  <a:cubicBezTo>
                    <a:pt x="839537" y="112295"/>
                    <a:pt x="842670" y="95336"/>
                    <a:pt x="850232" y="80211"/>
                  </a:cubicBezTo>
                  <a:cubicBezTo>
                    <a:pt x="870468" y="39739"/>
                    <a:pt x="884559" y="29842"/>
                    <a:pt x="914400" y="0"/>
                  </a:cubicBezTo>
                  <a:cubicBezTo>
                    <a:pt x="951832" y="5347"/>
                    <a:pt x="996848" y="-7172"/>
                    <a:pt x="1026695" y="16042"/>
                  </a:cubicBezTo>
                  <a:cubicBezTo>
                    <a:pt x="1053391" y="36805"/>
                    <a:pt x="1048084" y="80211"/>
                    <a:pt x="1058779" y="112295"/>
                  </a:cubicBezTo>
                  <a:lnTo>
                    <a:pt x="1106906" y="256674"/>
                  </a:lnTo>
                  <a:cubicBezTo>
                    <a:pt x="1112253" y="272716"/>
                    <a:pt x="1110991" y="292843"/>
                    <a:pt x="1122948" y="304800"/>
                  </a:cubicBezTo>
                  <a:lnTo>
                    <a:pt x="1155032" y="336885"/>
                  </a:lnTo>
                  <a:lnTo>
                    <a:pt x="1203158" y="481264"/>
                  </a:lnTo>
                  <a:cubicBezTo>
                    <a:pt x="1208505" y="497306"/>
                    <a:pt x="1215099" y="512985"/>
                    <a:pt x="1219200" y="529390"/>
                  </a:cubicBezTo>
                  <a:cubicBezTo>
                    <a:pt x="1229895" y="572169"/>
                    <a:pt x="1237341" y="615894"/>
                    <a:pt x="1251285" y="657727"/>
                  </a:cubicBezTo>
                  <a:cubicBezTo>
                    <a:pt x="1256632" y="673769"/>
                    <a:pt x="1262682" y="689594"/>
                    <a:pt x="1267327" y="705853"/>
                  </a:cubicBezTo>
                  <a:cubicBezTo>
                    <a:pt x="1273384" y="727052"/>
                    <a:pt x="1277312" y="748822"/>
                    <a:pt x="1283369" y="770021"/>
                  </a:cubicBezTo>
                  <a:cubicBezTo>
                    <a:pt x="1288015" y="786280"/>
                    <a:pt x="1294765" y="801889"/>
                    <a:pt x="1299411" y="818148"/>
                  </a:cubicBezTo>
                  <a:cubicBezTo>
                    <a:pt x="1308135" y="848682"/>
                    <a:pt x="1332289" y="963321"/>
                    <a:pt x="1347537" y="978569"/>
                  </a:cubicBezTo>
                  <a:lnTo>
                    <a:pt x="1379622" y="1010653"/>
                  </a:lnTo>
                  <a:cubicBezTo>
                    <a:pt x="1390317" y="1042737"/>
                    <a:pt x="1392946" y="1078766"/>
                    <a:pt x="1411706" y="1106906"/>
                  </a:cubicBezTo>
                  <a:cubicBezTo>
                    <a:pt x="1422401" y="1122948"/>
                    <a:pt x="1435168" y="1137787"/>
                    <a:pt x="1443790" y="1155032"/>
                  </a:cubicBezTo>
                  <a:cubicBezTo>
                    <a:pt x="1451352" y="1170157"/>
                    <a:pt x="1449686" y="1189630"/>
                    <a:pt x="1459832" y="1203158"/>
                  </a:cubicBezTo>
                  <a:cubicBezTo>
                    <a:pt x="1482519" y="1233407"/>
                    <a:pt x="1519069" y="1251908"/>
                    <a:pt x="1540043" y="1283369"/>
                  </a:cubicBezTo>
                  <a:cubicBezTo>
                    <a:pt x="1569313" y="1327274"/>
                    <a:pt x="1569594" y="1341064"/>
                    <a:pt x="1620253" y="1363579"/>
                  </a:cubicBezTo>
                  <a:cubicBezTo>
                    <a:pt x="1620260" y="1363582"/>
                    <a:pt x="1740565" y="1403684"/>
                    <a:pt x="1764632" y="1411706"/>
                  </a:cubicBezTo>
                  <a:cubicBezTo>
                    <a:pt x="1819932" y="1430139"/>
                    <a:pt x="1800801" y="1415791"/>
                    <a:pt x="1828800" y="1443790"/>
                  </a:cubicBezTo>
                </a:path>
              </a:pathLst>
            </a:custGeom>
            <a:noFill/>
            <a:ln w="508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B6B5CD29-2539-1545-A9D4-A04D8BC9EB4B}"/>
              </a:ext>
            </a:extLst>
          </p:cNvPr>
          <p:cNvSpPr txBox="1"/>
          <p:nvPr/>
        </p:nvSpPr>
        <p:spPr>
          <a:xfrm>
            <a:off x="3877454" y="5629393"/>
            <a:ext cx="925056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b="1" dirty="0">
                <a:solidFill>
                  <a:srgbClr val="0070C0"/>
                </a:solidFill>
              </a:rPr>
              <a:t>Standard </a:t>
            </a:r>
          </a:p>
          <a:p>
            <a:pPr algn="ctr"/>
            <a:r>
              <a:rPr lang="en-US" sz="1100" b="1" dirty="0">
                <a:solidFill>
                  <a:srgbClr val="0070C0"/>
                </a:solidFill>
              </a:rPr>
              <a:t>Deviation</a:t>
            </a:r>
          </a:p>
          <a:p>
            <a:pPr algn="ctr"/>
            <a:r>
              <a:rPr lang="en-US" sz="1100" b="1" dirty="0">
                <a:solidFill>
                  <a:srgbClr val="0070C0"/>
                </a:solidFill>
              </a:rPr>
              <a:t>(blue)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DC32BD6-7C9A-5146-8497-592987C58E52}"/>
              </a:ext>
            </a:extLst>
          </p:cNvPr>
          <p:cNvSpPr txBox="1"/>
          <p:nvPr/>
        </p:nvSpPr>
        <p:spPr>
          <a:xfrm>
            <a:off x="5219124" y="6012892"/>
            <a:ext cx="1276190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b="1" dirty="0">
                <a:solidFill>
                  <a:schemeClr val="accent2"/>
                </a:solidFill>
              </a:rPr>
              <a:t>Standard Error of the Mean</a:t>
            </a:r>
          </a:p>
          <a:p>
            <a:pPr algn="ctr"/>
            <a:r>
              <a:rPr lang="en-US" sz="1100" b="1" dirty="0">
                <a:solidFill>
                  <a:schemeClr val="accent2"/>
                </a:solidFill>
              </a:rPr>
              <a:t>(orange)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E587302-9BB2-514D-BE3D-821FD097A44A}"/>
              </a:ext>
            </a:extLst>
          </p:cNvPr>
          <p:cNvSpPr txBox="1"/>
          <p:nvPr/>
        </p:nvSpPr>
        <p:spPr>
          <a:xfrm>
            <a:off x="5369111" y="4339389"/>
            <a:ext cx="100428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 A   B</a:t>
            </a:r>
          </a:p>
        </p:txBody>
      </p:sp>
      <p:pic>
        <p:nvPicPr>
          <p:cNvPr id="19" name="Picture 4" descr="Instance Selection: The myth behind Data Sampling | by Shibsankar Das |  Towards Data Science">
            <a:extLst>
              <a:ext uri="{FF2B5EF4-FFF2-40B4-BE49-F238E27FC236}">
                <a16:creationId xmlns:a16="http://schemas.microsoft.com/office/drawing/2014/main" id="{28CB2243-567E-6E40-9C2E-493178477D8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562728" y="4528004"/>
            <a:ext cx="2018737" cy="16331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046902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8A9F4D4-7EEB-964F-83D0-EB156B63BAD7}"/>
              </a:ext>
            </a:extLst>
          </p:cNvPr>
          <p:cNvSpPr txBox="1"/>
          <p:nvPr/>
        </p:nvSpPr>
        <p:spPr>
          <a:xfrm>
            <a:off x="1" y="1610"/>
            <a:ext cx="66934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Sampling, Resampling, Bootstrapping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67DB410-4267-8E45-9276-D7FD97CA0E8A}"/>
              </a:ext>
            </a:extLst>
          </p:cNvPr>
          <p:cNvSpPr txBox="1"/>
          <p:nvPr/>
        </p:nvSpPr>
        <p:spPr>
          <a:xfrm>
            <a:off x="3080" y="558723"/>
            <a:ext cx="6631075" cy="101566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FF0000"/>
                </a:solidFill>
              </a:rPr>
              <a:t>Sample</a:t>
            </a:r>
            <a:r>
              <a:rPr lang="en-US" sz="1200" dirty="0"/>
              <a:t> – a set of objects/observations which were collected by a defined procedure. </a:t>
            </a:r>
          </a:p>
          <a:p>
            <a:r>
              <a:rPr lang="en-US" sz="1200" dirty="0"/>
              <a:t>The elements of a sample are known as </a:t>
            </a:r>
            <a:r>
              <a:rPr lang="en-US" sz="1200" b="1" dirty="0">
                <a:solidFill>
                  <a:srgbClr val="0070C0"/>
                </a:solidFill>
              </a:rPr>
              <a:t>sample points</a:t>
            </a:r>
            <a:r>
              <a:rPr lang="en-US" sz="1200" dirty="0"/>
              <a:t>, </a:t>
            </a:r>
            <a:r>
              <a:rPr lang="en-US" sz="1200" b="1" dirty="0">
                <a:solidFill>
                  <a:srgbClr val="0070C0"/>
                </a:solidFill>
              </a:rPr>
              <a:t>sampling units</a:t>
            </a:r>
            <a:r>
              <a:rPr lang="en-US" sz="1200" dirty="0"/>
              <a:t> or </a:t>
            </a:r>
            <a:r>
              <a:rPr lang="en-US" sz="1200" b="1" dirty="0">
                <a:solidFill>
                  <a:srgbClr val="0070C0"/>
                </a:solidFill>
              </a:rPr>
              <a:t>observations</a:t>
            </a:r>
            <a:r>
              <a:rPr lang="en-US" sz="1200" dirty="0"/>
              <a:t>.</a:t>
            </a:r>
          </a:p>
          <a:p>
            <a:endParaRPr lang="en-US" sz="1200" dirty="0"/>
          </a:p>
          <a:p>
            <a:r>
              <a:rPr lang="en-US" sz="1200" dirty="0"/>
              <a:t> - </a:t>
            </a:r>
            <a:r>
              <a:rPr lang="en-US" sz="1200" dirty="0">
                <a:hlinkClick r:id="rId2"/>
              </a:rPr>
              <a:t>https://en.wikipedia.org/wiki/Sample_(statistics)</a:t>
            </a:r>
            <a:r>
              <a:rPr lang="en-US" sz="1200" dirty="0"/>
              <a:t> </a:t>
            </a:r>
          </a:p>
          <a:p>
            <a:r>
              <a:rPr lang="en-US" sz="1200" dirty="0"/>
              <a:t> - </a:t>
            </a:r>
            <a:r>
              <a:rPr lang="en-US" sz="1200" dirty="0">
                <a:hlinkClick r:id="rId3"/>
              </a:rPr>
              <a:t>https://www.youtube.com/watch?v=vTZSnTN67Fk</a:t>
            </a:r>
            <a:r>
              <a:rPr lang="en-US" sz="1200" dirty="0"/>
              <a:t> – very good lecture by Brian </a:t>
            </a:r>
            <a:r>
              <a:rPr lang="en-US" sz="1200" dirty="0" err="1"/>
              <a:t>Caffo</a:t>
            </a:r>
            <a:endParaRPr lang="en-US" sz="12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6916F69-773D-7044-A74D-A5F8B6802708}"/>
              </a:ext>
            </a:extLst>
          </p:cNvPr>
          <p:cNvSpPr txBox="1"/>
          <p:nvPr/>
        </p:nvSpPr>
        <p:spPr>
          <a:xfrm>
            <a:off x="8008486" y="1930198"/>
            <a:ext cx="4134744" cy="163121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FF0000"/>
                </a:solidFill>
              </a:rPr>
              <a:t>Bootstrapping popularity</a:t>
            </a:r>
            <a:r>
              <a:rPr lang="en-US" sz="1200" dirty="0">
                <a:solidFill>
                  <a:schemeClr val="tx1"/>
                </a:solidFill>
              </a:rPr>
              <a:t> grew around 1980 when computers became widely available. Computers allowed to run thousands of virtual experiments to get statistical results. This is basically the Monte-Carlo approach.</a:t>
            </a:r>
          </a:p>
          <a:p>
            <a:endParaRPr lang="en-US" sz="12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rgbClr val="00B0F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Before 1980  |  after 1980</a:t>
            </a:r>
          </a:p>
          <a:p>
            <a:r>
              <a:rPr lang="en-US" sz="1000" dirty="0">
                <a:solidFill>
                  <a:srgbClr val="00B0F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-------------+---------------------</a:t>
            </a:r>
          </a:p>
          <a:p>
            <a:r>
              <a:rPr lang="en-US" sz="1000" dirty="0">
                <a:solidFill>
                  <a:srgbClr val="00B0F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manual math  |  computer hacking</a:t>
            </a:r>
          </a:p>
          <a:p>
            <a:r>
              <a:rPr lang="en-US" sz="1000" dirty="0">
                <a:solidFill>
                  <a:srgbClr val="00B0F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     |  run virtual random experiments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4E63AD0-3010-744C-81A8-0EC52C014139}"/>
              </a:ext>
            </a:extLst>
          </p:cNvPr>
          <p:cNvSpPr txBox="1"/>
          <p:nvPr/>
        </p:nvSpPr>
        <p:spPr>
          <a:xfrm>
            <a:off x="7668767" y="5615548"/>
            <a:ext cx="4474463" cy="12003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00B050"/>
                </a:solidFill>
              </a:rPr>
              <a:t>Special methods: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FF0000"/>
                </a:solidFill>
              </a:rPr>
              <a:t>Shuffling</a:t>
            </a:r>
            <a:r>
              <a:rPr lang="en-US" sz="1200" dirty="0"/>
              <a:t> - exchanging labels on data points when performing significance tests (a.k.a. permutation tests, exact tests, randomization tests, or re-randomization tests)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FF0000"/>
                </a:solidFill>
              </a:rPr>
              <a:t>Cross-Validation</a:t>
            </a:r>
            <a:r>
              <a:rPr lang="en-US" sz="1200" dirty="0"/>
              <a:t> of models by comparing models built using random subsets of data.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F1CA07-9F87-D24C-A744-86785634A022}"/>
              </a:ext>
            </a:extLst>
          </p:cNvPr>
          <p:cNvSpPr txBox="1"/>
          <p:nvPr/>
        </p:nvSpPr>
        <p:spPr>
          <a:xfrm>
            <a:off x="-25439" y="1849960"/>
            <a:ext cx="5187982" cy="267765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FF0000"/>
                </a:solidFill>
              </a:rPr>
              <a:t>Resampling</a:t>
            </a:r>
            <a:r>
              <a:rPr lang="en-US" sz="1200" dirty="0"/>
              <a:t> - collecting multiple samples to do statistical estimations:</a:t>
            </a:r>
          </a:p>
          <a:p>
            <a:r>
              <a:rPr lang="en-US" sz="1200" dirty="0"/>
              <a:t> - </a:t>
            </a:r>
            <a:r>
              <a:rPr lang="en-US" sz="1200" dirty="0">
                <a:hlinkClick r:id="rId4"/>
              </a:rPr>
              <a:t>https://en.wikipedia.org/wiki/Resampling_(statistics)</a:t>
            </a:r>
            <a:endParaRPr lang="en-US" sz="1200" dirty="0"/>
          </a:p>
          <a:p>
            <a:endParaRPr lang="en-US" sz="1200" dirty="0"/>
          </a:p>
          <a:p>
            <a:r>
              <a:rPr lang="en-US" sz="1200" dirty="0"/>
              <a:t>Two most common methods of getting multiple samples:</a:t>
            </a:r>
          </a:p>
          <a:p>
            <a:endParaRPr lang="en-US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FF0000"/>
                </a:solidFill>
              </a:rPr>
              <a:t>jackknife</a:t>
            </a:r>
            <a:r>
              <a:rPr lang="en-US" sz="1200" dirty="0"/>
              <a:t> – simple tool - </a:t>
            </a:r>
            <a:r>
              <a:rPr lang="en-US" sz="1200" dirty="0">
                <a:solidFill>
                  <a:srgbClr val="0070C0"/>
                </a:solidFill>
              </a:rPr>
              <a:t>selecting subsets by removing one or more points from the original data set</a:t>
            </a:r>
            <a:r>
              <a:rPr lang="en-US" sz="1200" dirty="0"/>
              <a:t>. Invented by </a:t>
            </a:r>
            <a:r>
              <a:rPr lang="en-US" sz="1200" b="1" dirty="0">
                <a:solidFill>
                  <a:srgbClr val="FF0000"/>
                </a:solidFill>
              </a:rPr>
              <a:t>John Tukey</a:t>
            </a:r>
            <a:r>
              <a:rPr lang="en-US" sz="1200" dirty="0"/>
              <a:t> –</a:t>
            </a:r>
            <a:br>
              <a:rPr lang="en-US" sz="1200" dirty="0"/>
            </a:br>
            <a:r>
              <a:rPr lang="en-US" sz="1200" dirty="0"/>
              <a:t> - </a:t>
            </a:r>
            <a:r>
              <a:rPr lang="en-US" sz="1200" dirty="0">
                <a:hlinkClick r:id="rId5"/>
              </a:rPr>
              <a:t>https://en.wikipedia.org/wiki/John_Tukey</a:t>
            </a:r>
            <a:r>
              <a:rPr lang="en-US" sz="1200" dirty="0"/>
              <a:t>  (inventor of FFT, "bit", ...)</a:t>
            </a:r>
          </a:p>
          <a:p>
            <a:endParaRPr lang="en-US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FF0000"/>
                </a:solidFill>
              </a:rPr>
              <a:t>bootstrap</a:t>
            </a:r>
            <a:r>
              <a:rPr lang="en-US" sz="1200" dirty="0"/>
              <a:t> - </a:t>
            </a:r>
            <a:r>
              <a:rPr lang="en-US" sz="1200" dirty="0">
                <a:solidFill>
                  <a:srgbClr val="0070C0"/>
                </a:solidFill>
              </a:rPr>
              <a:t>sampling with replacement (data points may be included more than once into any sample</a:t>
            </a:r>
            <a:r>
              <a:rPr lang="en-US" sz="1200" dirty="0"/>
              <a:t>).</a:t>
            </a:r>
            <a:r>
              <a:rPr lang="en-US" sz="1200" b="1" dirty="0">
                <a:solidFill>
                  <a:srgbClr val="00B050"/>
                </a:solidFill>
              </a:rPr>
              <a:t> Invented by </a:t>
            </a:r>
            <a:r>
              <a:rPr lang="en-US" sz="1200" b="1" dirty="0">
                <a:solidFill>
                  <a:srgbClr val="FF0000"/>
                </a:solidFill>
              </a:rPr>
              <a:t>Bradley </a:t>
            </a:r>
            <a:r>
              <a:rPr lang="en-US" sz="1200" b="1" dirty="0" err="1">
                <a:solidFill>
                  <a:srgbClr val="FF0000"/>
                </a:solidFill>
              </a:rPr>
              <a:t>Efron</a:t>
            </a:r>
            <a:r>
              <a:rPr lang="en-US" sz="1200" b="1" dirty="0">
                <a:solidFill>
                  <a:srgbClr val="00B050"/>
                </a:solidFill>
              </a:rPr>
              <a:t> (1979) </a:t>
            </a:r>
            <a:br>
              <a:rPr lang="en-US" sz="1200" b="1" dirty="0">
                <a:solidFill>
                  <a:srgbClr val="00B050"/>
                </a:solidFill>
              </a:rPr>
            </a:br>
            <a:r>
              <a:rPr lang="en-US" sz="1200" b="1" dirty="0">
                <a:solidFill>
                  <a:srgbClr val="00B050"/>
                </a:solidFill>
              </a:rPr>
              <a:t>"Bootstrap Methods: Another Look at the Jackknife"</a:t>
            </a:r>
            <a:r>
              <a:rPr lang="en-US" sz="1200" dirty="0"/>
              <a:t> - </a:t>
            </a:r>
            <a:br>
              <a:rPr lang="en-US" sz="1200" dirty="0"/>
            </a:br>
            <a:r>
              <a:rPr lang="en-US" sz="1200" dirty="0"/>
              <a:t>- </a:t>
            </a:r>
            <a:r>
              <a:rPr lang="en-US" sz="1200" dirty="0">
                <a:hlinkClick r:id="rId6"/>
              </a:rPr>
              <a:t>https://en.wikipedia.org/wiki/Bradley_Efron</a:t>
            </a:r>
            <a:r>
              <a:rPr lang="en-US" sz="1200" dirty="0"/>
              <a:t> - </a:t>
            </a:r>
            <a:br>
              <a:rPr lang="en-US" sz="1200" dirty="0"/>
            </a:br>
            <a:r>
              <a:rPr lang="en-US" sz="1200" dirty="0"/>
              <a:t>- </a:t>
            </a:r>
            <a:r>
              <a:rPr lang="en-US" sz="1200" dirty="0">
                <a:hlinkClick r:id="rId7"/>
              </a:rPr>
              <a:t>https://en.wikipedia.org/wiki/Bootstrapping_(statistics)</a:t>
            </a:r>
            <a:r>
              <a:rPr lang="en-US" sz="1200" dirty="0"/>
              <a:t> </a:t>
            </a:r>
          </a:p>
        </p:txBody>
      </p:sp>
      <p:pic>
        <p:nvPicPr>
          <p:cNvPr id="1028" name="Picture 4" descr="Instance Selection: The myth behind Data Sampling | by Shibsankar Das |  Towards Data Science">
            <a:extLst>
              <a:ext uri="{FF2B5EF4-FFF2-40B4-BE49-F238E27FC236}">
                <a16:creationId xmlns:a16="http://schemas.microsoft.com/office/drawing/2014/main" id="{3C98B8CF-E121-5841-8A78-D7EE94486A0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9135957" y="42123"/>
            <a:ext cx="2018737" cy="16331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Jackknife definition and meaning | Collins English Dictionary">
            <a:extLst>
              <a:ext uri="{FF2B5EF4-FFF2-40B4-BE49-F238E27FC236}">
                <a16:creationId xmlns:a16="http://schemas.microsoft.com/office/drawing/2014/main" id="{3CE90554-EED8-084C-8931-AA23DBC7096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6299638" y="2303983"/>
            <a:ext cx="1085088" cy="9062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What &quot;Pull Yourself Up By The Bootstraps&quot; Really Means... | Toluna">
            <a:extLst>
              <a:ext uri="{FF2B5EF4-FFF2-40B4-BE49-F238E27FC236}">
                <a16:creationId xmlns:a16="http://schemas.microsoft.com/office/drawing/2014/main" id="{568673C8-DB92-4E49-AD39-A764D7148BA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6631075" y="3543133"/>
            <a:ext cx="635359" cy="12141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D4C389BF-7215-A647-BE4C-4DB6D088488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5383561" y="2238884"/>
            <a:ext cx="784797" cy="1159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B335C03E-0C17-AF43-B98C-B9CC044DCA3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-339"/>
          <a:stretch/>
        </p:blipFill>
        <p:spPr bwMode="auto">
          <a:xfrm>
            <a:off x="5383561" y="3543132"/>
            <a:ext cx="820589" cy="12141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55B0E83-5D9F-1944-BE18-8773ABA4BDFC}"/>
              </a:ext>
            </a:extLst>
          </p:cNvPr>
          <p:cNvSpPr txBox="1"/>
          <p:nvPr/>
        </p:nvSpPr>
        <p:spPr>
          <a:xfrm>
            <a:off x="5872301" y="4778228"/>
            <a:ext cx="215171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solidFill>
                  <a:srgbClr val="FF0000"/>
                </a:solidFill>
              </a:rPr>
              <a:t>Bootstrap</a:t>
            </a:r>
          </a:p>
          <a:p>
            <a:pPr algn="ctr"/>
            <a:r>
              <a:rPr lang="en-US" sz="1200" b="1" dirty="0">
                <a:solidFill>
                  <a:srgbClr val="FF0000"/>
                </a:solidFill>
              </a:rPr>
              <a:t>"pulling yourself up </a:t>
            </a:r>
          </a:p>
          <a:p>
            <a:pPr algn="ctr"/>
            <a:r>
              <a:rPr lang="en-US" sz="1200" b="1" dirty="0">
                <a:solidFill>
                  <a:srgbClr val="FF0000"/>
                </a:solidFill>
              </a:rPr>
              <a:t>by your own bootstraps"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115A468-6DD4-7E43-AADD-AD9BA74FAA27}"/>
              </a:ext>
            </a:extLst>
          </p:cNvPr>
          <p:cNvSpPr txBox="1"/>
          <p:nvPr/>
        </p:nvSpPr>
        <p:spPr>
          <a:xfrm>
            <a:off x="6458926" y="1930198"/>
            <a:ext cx="87604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solidFill>
                  <a:srgbClr val="FF0000"/>
                </a:solidFill>
              </a:rPr>
              <a:t>jackknife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9C74BA0-17B1-E443-851D-93D19F17F7DD}"/>
              </a:ext>
            </a:extLst>
          </p:cNvPr>
          <p:cNvSpPr txBox="1"/>
          <p:nvPr/>
        </p:nvSpPr>
        <p:spPr>
          <a:xfrm>
            <a:off x="5337938" y="1989531"/>
            <a:ext cx="87604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solidFill>
                  <a:srgbClr val="FF0000"/>
                </a:solidFill>
              </a:rPr>
              <a:t>Tukey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F005BBF-A86E-AE44-ABE1-7F22B909C5F8}"/>
              </a:ext>
            </a:extLst>
          </p:cNvPr>
          <p:cNvSpPr txBox="1"/>
          <p:nvPr/>
        </p:nvSpPr>
        <p:spPr>
          <a:xfrm>
            <a:off x="5318973" y="4714306"/>
            <a:ext cx="87604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 err="1">
                <a:solidFill>
                  <a:srgbClr val="FF0000"/>
                </a:solidFill>
              </a:rPr>
              <a:t>Efron</a:t>
            </a:r>
            <a:endParaRPr lang="en-US" sz="1200" b="1" dirty="0">
              <a:solidFill>
                <a:srgbClr val="FF0000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CCE9998-5FF3-B548-A590-B8EA3CC7943D}"/>
              </a:ext>
            </a:extLst>
          </p:cNvPr>
          <p:cNvSpPr txBox="1"/>
          <p:nvPr/>
        </p:nvSpPr>
        <p:spPr>
          <a:xfrm>
            <a:off x="5659110" y="5821419"/>
            <a:ext cx="16637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Very similar to </a:t>
            </a:r>
            <a:r>
              <a:rPr lang="en-US" sz="1200" b="1" dirty="0">
                <a:solidFill>
                  <a:srgbClr val="0070C0"/>
                </a:solidFill>
              </a:rPr>
              <a:t>Baron Munchausen's</a:t>
            </a:r>
            <a:r>
              <a:rPr lang="en-US" sz="1200" dirty="0">
                <a:solidFill>
                  <a:srgbClr val="FF0000"/>
                </a:solidFill>
              </a:rPr>
              <a:t> lifting  himself out of the mud by pulling by his own hair</a:t>
            </a:r>
          </a:p>
        </p:txBody>
      </p:sp>
      <p:sp>
        <p:nvSpPr>
          <p:cNvPr id="12" name="Down Arrow 11">
            <a:extLst>
              <a:ext uri="{FF2B5EF4-FFF2-40B4-BE49-F238E27FC236}">
                <a16:creationId xmlns:a16="http://schemas.microsoft.com/office/drawing/2014/main" id="{E78301AB-B61C-6142-AFFA-FB6273DDA150}"/>
              </a:ext>
            </a:extLst>
          </p:cNvPr>
          <p:cNvSpPr/>
          <p:nvPr/>
        </p:nvSpPr>
        <p:spPr>
          <a:xfrm rot="11954743">
            <a:off x="6602373" y="5445548"/>
            <a:ext cx="148773" cy="340000"/>
          </a:xfrm>
          <a:prstGeom prst="downArrow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4" name="Picture 2" descr="Why the phrase &quot;pull your bootstraps&quot; is nonsense">
            <a:extLst>
              <a:ext uri="{FF2B5EF4-FFF2-40B4-BE49-F238E27FC236}">
                <a16:creationId xmlns:a16="http://schemas.microsoft.com/office/drawing/2014/main" id="{CBAE5846-AA4F-2040-B550-DAE3BA2BA64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454175" y="5403354"/>
            <a:ext cx="1141462" cy="14125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114BB756-9C75-A04D-A34C-80D213EF5E4A}"/>
              </a:ext>
            </a:extLst>
          </p:cNvPr>
          <p:cNvSpPr txBox="1"/>
          <p:nvPr/>
        </p:nvSpPr>
        <p:spPr>
          <a:xfrm>
            <a:off x="33236" y="4673027"/>
            <a:ext cx="4276416" cy="193899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FF0000"/>
                </a:solidFill>
              </a:rPr>
              <a:t>Bootstrap principle</a:t>
            </a:r>
            <a:r>
              <a:rPr lang="en-US" sz="1200" dirty="0"/>
              <a:t> – </a:t>
            </a:r>
            <a:r>
              <a:rPr lang="en-US" sz="1200" b="1" dirty="0">
                <a:solidFill>
                  <a:srgbClr val="00B050"/>
                </a:solidFill>
              </a:rPr>
              <a:t>use distribution from computer resampling to evaluate the population distribution.</a:t>
            </a:r>
            <a:r>
              <a:rPr lang="en-US" sz="1200" dirty="0"/>
              <a:t> </a:t>
            </a:r>
          </a:p>
          <a:p>
            <a:endParaRPr lang="en-US" sz="1200" dirty="0"/>
          </a:p>
          <a:p>
            <a:r>
              <a:rPr lang="en-US" sz="1200" dirty="0"/>
              <a:t>The values of calculated parameters usually differ between samples. We can build distributions and estimate the variability of the estimates.</a:t>
            </a:r>
          </a:p>
          <a:p>
            <a:endParaRPr lang="en-US" sz="1200" dirty="0"/>
          </a:p>
          <a:p>
            <a:r>
              <a:rPr lang="en-US" sz="1200" dirty="0"/>
              <a:t>Under certain conditions when the numbers are big, the </a:t>
            </a:r>
            <a:r>
              <a:rPr lang="en-US" sz="1200" b="1" dirty="0">
                <a:solidFill>
                  <a:srgbClr val="0070C0"/>
                </a:solidFill>
              </a:rPr>
              <a:t>Central Limit Theorem (CLT)</a:t>
            </a:r>
            <a:r>
              <a:rPr lang="en-US" sz="1200" dirty="0"/>
              <a:t> can kick in leading to </a:t>
            </a:r>
            <a:r>
              <a:rPr lang="en-US" sz="1200" b="1" dirty="0">
                <a:solidFill>
                  <a:srgbClr val="0070C0"/>
                </a:solidFill>
              </a:rPr>
              <a:t>Normal Gaussian</a:t>
            </a:r>
            <a:r>
              <a:rPr lang="en-US" sz="1200" dirty="0"/>
              <a:t> distributions. But this doesn't have to be the case.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3146B72-845C-3D46-981A-04566C3C4D92}"/>
              </a:ext>
            </a:extLst>
          </p:cNvPr>
          <p:cNvSpPr txBox="1"/>
          <p:nvPr/>
        </p:nvSpPr>
        <p:spPr>
          <a:xfrm>
            <a:off x="7182772" y="229458"/>
            <a:ext cx="1682496" cy="116955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In statistics we often try to learn about population by analyzing noisy samples.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9ABF1A4-E840-5E4A-99F0-9903F9923E9A}"/>
              </a:ext>
            </a:extLst>
          </p:cNvPr>
          <p:cNvSpPr txBox="1"/>
          <p:nvPr/>
        </p:nvSpPr>
        <p:spPr>
          <a:xfrm>
            <a:off x="8001003" y="3725971"/>
            <a:ext cx="4134744" cy="1631216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FF0000"/>
                </a:solidFill>
              </a:rPr>
              <a:t>Why bootstrapping is useful?</a:t>
            </a:r>
            <a:endParaRPr lang="en-US" sz="1200" dirty="0">
              <a:solidFill>
                <a:schemeClr val="tx1"/>
              </a:solidFill>
            </a:endParaRPr>
          </a:p>
          <a:p>
            <a:br>
              <a:rPr lang="en-US" sz="800" dirty="0">
                <a:solidFill>
                  <a:schemeClr val="tx1"/>
                </a:solidFill>
              </a:rPr>
            </a:br>
            <a:r>
              <a:rPr lang="en-US" sz="1200" dirty="0">
                <a:solidFill>
                  <a:schemeClr val="tx1"/>
                </a:solidFill>
              </a:rPr>
              <a:t>The main benefit of resampling is </a:t>
            </a:r>
            <a:r>
              <a:rPr lang="en-US" sz="1200" b="1" dirty="0">
                <a:solidFill>
                  <a:srgbClr val="00B050"/>
                </a:solidFill>
              </a:rPr>
              <a:t>SIMPLICITY of computer hacking</a:t>
            </a:r>
            <a:r>
              <a:rPr lang="en-US" sz="1200" dirty="0">
                <a:solidFill>
                  <a:schemeClr val="tx1"/>
                </a:solidFill>
              </a:rPr>
              <a:t> as opposed to complex math.</a:t>
            </a:r>
          </a:p>
          <a:p>
            <a:endParaRPr lang="en-US" sz="800" dirty="0">
              <a:solidFill>
                <a:schemeClr val="tx1"/>
              </a:solidFill>
            </a:endParaRPr>
          </a:p>
          <a:p>
            <a:r>
              <a:rPr lang="en-US" sz="1200" dirty="0">
                <a:solidFill>
                  <a:schemeClr val="tx1"/>
                </a:solidFill>
              </a:rPr>
              <a:t>Note - we don't need resampling to simply calculate the mean or standard error. We use resampling to calculate non-trivial parameters (especially their distributions, errors, confidence intervals, regression coefficients, etc.).</a:t>
            </a:r>
          </a:p>
        </p:txBody>
      </p:sp>
    </p:spTree>
    <p:extLst>
      <p:ext uri="{BB962C8B-B14F-4D97-AF65-F5344CB8AC3E}">
        <p14:creationId xmlns:p14="http://schemas.microsoft.com/office/powerpoint/2010/main" val="5578359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9C9F387-FBE5-3D44-9B40-820D573B2B14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25013" y="2257388"/>
            <a:ext cx="4540567" cy="281863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5C84F9D-C180-1B43-99F1-B243D8C3F929}"/>
              </a:ext>
            </a:extLst>
          </p:cNvPr>
          <p:cNvSpPr txBox="1"/>
          <p:nvPr/>
        </p:nvSpPr>
        <p:spPr>
          <a:xfrm>
            <a:off x="297187" y="301228"/>
            <a:ext cx="5328746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Note: </a:t>
            </a:r>
          </a:p>
          <a:p>
            <a:br>
              <a:rPr lang="en-US" dirty="0"/>
            </a:br>
            <a:r>
              <a:rPr lang="en-US" dirty="0"/>
              <a:t>standard deviation and standard error and  are NOT the same.</a:t>
            </a:r>
          </a:p>
          <a:p>
            <a:endParaRPr lang="en-US" dirty="0"/>
          </a:p>
          <a:p>
            <a:r>
              <a:rPr lang="en-US" b="1" dirty="0">
                <a:solidFill>
                  <a:srgbClr val="0070C0"/>
                </a:solidFill>
              </a:rPr>
              <a:t>SME</a:t>
            </a:r>
            <a:r>
              <a:rPr lang="en-US" dirty="0"/>
              <a:t> = Standard Mean Error = Standard Deviation</a:t>
            </a:r>
          </a:p>
          <a:p>
            <a:r>
              <a:rPr lang="en-US" b="1" dirty="0">
                <a:solidFill>
                  <a:srgbClr val="0070C0"/>
                </a:solidFill>
              </a:rPr>
              <a:t>SEM</a:t>
            </a:r>
            <a:r>
              <a:rPr lang="en-US" dirty="0"/>
              <a:t> = Standard Error of Mean = </a:t>
            </a:r>
            <a:r>
              <a:rPr lang="en-US" b="1" dirty="0">
                <a:solidFill>
                  <a:srgbClr val="0070C0"/>
                </a:solidFill>
              </a:rPr>
              <a:t>SME</a:t>
            </a:r>
            <a:r>
              <a:rPr lang="en-US" dirty="0"/>
              <a:t> / sqrt(n)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3B41534-4120-C942-81D5-B0662B9480A4}"/>
              </a:ext>
            </a:extLst>
          </p:cNvPr>
          <p:cNvSpPr txBox="1"/>
          <p:nvPr/>
        </p:nvSpPr>
        <p:spPr>
          <a:xfrm>
            <a:off x="211843" y="5510081"/>
            <a:ext cx="606619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Standard error is the error of the estimate of the mean. </a:t>
            </a:r>
          </a:p>
          <a:p>
            <a:r>
              <a:rPr lang="en-US" dirty="0"/>
              <a:t>So as the sample size grows, we can estimate the mean better and better. The error gets smaller proportionally to the square root of sample size n.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304C0CA-87F1-9842-B937-53DB4EF2C78D}"/>
              </a:ext>
            </a:extLst>
          </p:cNvPr>
          <p:cNvSpPr txBox="1"/>
          <p:nvPr/>
        </p:nvSpPr>
        <p:spPr>
          <a:xfrm>
            <a:off x="6826678" y="743712"/>
            <a:ext cx="5328746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00B05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# Several ways to calculate standard deviation</a:t>
            </a:r>
          </a:p>
          <a:p>
            <a:endParaRPr lang="en-US" sz="1200" dirty="0">
              <a:solidFill>
                <a:srgbClr val="0070C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import 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numpy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as np</a:t>
            </a: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from 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scipy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import stats</a:t>
            </a: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import math</a:t>
            </a:r>
          </a:p>
          <a:p>
            <a:endParaRPr lang="en-US" sz="1200" dirty="0">
              <a:solidFill>
                <a:srgbClr val="0070C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arr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= 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np.array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([1, 2, 3])</a:t>
            </a: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N    = 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len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arr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)       </a:t>
            </a:r>
            <a:r>
              <a:rPr lang="en-US" sz="1200" dirty="0">
                <a:solidFill>
                  <a:srgbClr val="00B05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# 3</a:t>
            </a: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mean = 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np.mean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arr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)   </a:t>
            </a:r>
            <a:r>
              <a:rPr lang="en-US" sz="1200" dirty="0">
                <a:solidFill>
                  <a:srgbClr val="00B05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# 2.0</a:t>
            </a:r>
          </a:p>
          <a:p>
            <a:endParaRPr lang="en-US" sz="1200" dirty="0">
              <a:solidFill>
                <a:srgbClr val="00B05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print(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f"length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{N}, mean={mean:.4f}")  # 3, 2</a:t>
            </a:r>
          </a:p>
          <a:p>
            <a:endParaRPr lang="en-US" sz="1200" dirty="0">
              <a:solidFill>
                <a:srgbClr val="0070C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mysum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0</a:t>
            </a: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for 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elem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in 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arr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:</a:t>
            </a: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mysum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+= (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elem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- mean)**2    </a:t>
            </a:r>
            <a:r>
              <a:rPr lang="en-US" sz="1200" dirty="0">
                <a:solidFill>
                  <a:srgbClr val="00B05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# 1 + 0 + 1 = 2</a:t>
            </a:r>
          </a:p>
          <a:p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denom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N - 1                    </a:t>
            </a:r>
            <a:r>
              <a:rPr lang="en-US" sz="1200" dirty="0">
                <a:solidFill>
                  <a:srgbClr val="00B05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# 2</a:t>
            </a: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se1 = 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math.sqrt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mysum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/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denom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)     </a:t>
            </a:r>
            <a:r>
              <a:rPr lang="en-US" sz="1200" dirty="0">
                <a:solidFill>
                  <a:srgbClr val="00B05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# sqrt(2/2) = 1.0000</a:t>
            </a: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se2 = 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np.std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(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arr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 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ddof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=1)</a:t>
            </a:r>
          </a:p>
          <a:p>
            <a:endParaRPr lang="en-US" sz="1200" dirty="0">
              <a:solidFill>
                <a:srgbClr val="0070C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200" dirty="0">
                <a:solidFill>
                  <a:srgbClr val="00B05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# stats has different functions for </a:t>
            </a:r>
            <a:r>
              <a:rPr lang="en-US" sz="1200" dirty="0" err="1">
                <a:solidFill>
                  <a:srgbClr val="00B05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std_err</a:t>
            </a:r>
            <a:r>
              <a:rPr lang="en-US" sz="1200" dirty="0">
                <a:solidFill>
                  <a:srgbClr val="00B05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and </a:t>
            </a:r>
            <a:r>
              <a:rPr lang="en-US" sz="1200" dirty="0" err="1">
                <a:solidFill>
                  <a:srgbClr val="00B05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std_dev</a:t>
            </a:r>
            <a:endParaRPr lang="en-US" sz="1200" dirty="0">
              <a:solidFill>
                <a:srgbClr val="00B05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se3 = 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stats.sem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arr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 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ddof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=1) * 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math.sqrt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(N)</a:t>
            </a: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se4 = 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stats.tstd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arr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 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ddof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=1)    </a:t>
            </a:r>
            <a:r>
              <a:rPr lang="en-US" sz="1200" dirty="0">
                <a:solidFill>
                  <a:srgbClr val="00B05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# trimmed std</a:t>
            </a:r>
          </a:p>
          <a:p>
            <a:endParaRPr lang="en-US" sz="1200" dirty="0">
              <a:solidFill>
                <a:srgbClr val="0070C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print(f"se1 = {se1:.5f}")   </a:t>
            </a:r>
            <a:r>
              <a:rPr lang="en-US" sz="1200" dirty="0">
                <a:solidFill>
                  <a:srgbClr val="00B05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# 1.00000</a:t>
            </a: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print(f"se2 = {se2:.5f}")   </a:t>
            </a:r>
            <a:r>
              <a:rPr lang="en-US" sz="1200" dirty="0">
                <a:solidFill>
                  <a:srgbClr val="00B05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# 1.00000</a:t>
            </a:r>
            <a:endParaRPr lang="en-US" sz="1200" dirty="0">
              <a:solidFill>
                <a:srgbClr val="0070C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print(f"se3 = {se3:.5f}")   </a:t>
            </a:r>
            <a:r>
              <a:rPr lang="en-US" sz="1200" dirty="0">
                <a:solidFill>
                  <a:srgbClr val="00B05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# 1.00000</a:t>
            </a:r>
            <a:endParaRPr lang="en-US" sz="1200" dirty="0">
              <a:solidFill>
                <a:srgbClr val="0070C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print(f"se4 = {se4:.5f}")   </a:t>
            </a:r>
            <a:r>
              <a:rPr lang="en-US" sz="1200" dirty="0">
                <a:solidFill>
                  <a:srgbClr val="00B05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# 1.00000</a:t>
            </a:r>
            <a:endParaRPr lang="en-US" sz="1200" dirty="0">
              <a:solidFill>
                <a:srgbClr val="0070C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84787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5B531CD-91CB-B449-AC6B-B8E8D0567AE3}"/>
              </a:ext>
            </a:extLst>
          </p:cNvPr>
          <p:cNvSpPr txBox="1"/>
          <p:nvPr/>
        </p:nvSpPr>
        <p:spPr>
          <a:xfrm>
            <a:off x="115993" y="99146"/>
            <a:ext cx="352941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Error of the mean</a:t>
            </a:r>
          </a:p>
        </p:txBody>
      </p:sp>
      <p:pic>
        <p:nvPicPr>
          <p:cNvPr id="1026" name="Picture 2" descr="Standard Error Calculator. you can use this Standard Error… | by Thelma R.  White | Medium">
            <a:extLst>
              <a:ext uri="{FF2B5EF4-FFF2-40B4-BE49-F238E27FC236}">
                <a16:creationId xmlns:a16="http://schemas.microsoft.com/office/drawing/2014/main" id="{9D7D50A9-956F-4845-8823-1033B7CB3C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929025" y="433176"/>
            <a:ext cx="3810000" cy="2997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DFE2259-D413-B348-98BD-F5E7DB5E4176}"/>
              </a:ext>
            </a:extLst>
          </p:cNvPr>
          <p:cNvSpPr txBox="1"/>
          <p:nvPr/>
        </p:nvSpPr>
        <p:spPr>
          <a:xfrm>
            <a:off x="115993" y="733281"/>
            <a:ext cx="5469408" cy="38164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Suppose we have two samples A and B, </a:t>
            </a:r>
          </a:p>
          <a:p>
            <a:r>
              <a:rPr lang="en-US" sz="1400" dirty="0"/>
              <a:t>each has "n" points, where n is relatively large (100+ points), </a:t>
            </a:r>
          </a:p>
          <a:p>
            <a:r>
              <a:rPr lang="en-US" sz="1400" dirty="0"/>
              <a:t>and distributions have "normal" shape </a:t>
            </a:r>
          </a:p>
          <a:p>
            <a:r>
              <a:rPr lang="en-US" sz="1400" dirty="0"/>
              <a:t>with same sample standard deviation "s".</a:t>
            </a:r>
          </a:p>
          <a:p>
            <a:endParaRPr lang="en-US" sz="1400" dirty="0"/>
          </a:p>
          <a:p>
            <a:r>
              <a:rPr lang="en-US" sz="1400" dirty="0"/>
              <a:t>The mean values are m</a:t>
            </a:r>
            <a:r>
              <a:rPr lang="en-US" sz="1400" baseline="-25000" dirty="0"/>
              <a:t>A</a:t>
            </a:r>
            <a:r>
              <a:rPr lang="en-US" sz="1400" dirty="0"/>
              <a:t> and </a:t>
            </a:r>
            <a:r>
              <a:rPr lang="en-US" sz="1400" dirty="0" err="1"/>
              <a:t>m</a:t>
            </a:r>
            <a:r>
              <a:rPr lang="en-US" sz="1400" baseline="-25000" dirty="0" err="1"/>
              <a:t>B</a:t>
            </a:r>
            <a:endParaRPr lang="en-US" sz="1400" baseline="-25000" dirty="0"/>
          </a:p>
          <a:p>
            <a:endParaRPr lang="en-US" sz="1400" dirty="0"/>
          </a:p>
          <a:p>
            <a:r>
              <a:rPr lang="en-US" sz="1400" dirty="0"/>
              <a:t>The standard error of the mean </a:t>
            </a:r>
            <a:r>
              <a:rPr lang="en-US" sz="1400" dirty="0" err="1"/>
              <a:t>sem</a:t>
            </a:r>
            <a:r>
              <a:rPr lang="en-US" sz="1400" dirty="0"/>
              <a:t> = s/sqrt(n)</a:t>
            </a:r>
          </a:p>
          <a:p>
            <a:endParaRPr lang="en-US" sz="1400" dirty="0"/>
          </a:p>
          <a:p>
            <a:r>
              <a:rPr lang="en-US" sz="1400" dirty="0"/>
              <a:t>Question – how big should be number of points so that we</a:t>
            </a:r>
          </a:p>
          <a:p>
            <a:r>
              <a:rPr lang="en-US" sz="1400" dirty="0"/>
              <a:t>can say that the means differ?</a:t>
            </a:r>
          </a:p>
          <a:p>
            <a:endParaRPr lang="en-US" sz="1400" dirty="0"/>
          </a:p>
          <a:p>
            <a:r>
              <a:rPr lang="en-US" sz="1400" dirty="0"/>
              <a:t>We can demand that </a:t>
            </a:r>
            <a:r>
              <a:rPr lang="el-GR" sz="1400" b="1" dirty="0"/>
              <a:t>δ</a:t>
            </a:r>
            <a:r>
              <a:rPr lang="en-US" sz="1400" dirty="0"/>
              <a:t> = |m</a:t>
            </a:r>
            <a:r>
              <a:rPr lang="en-US" sz="1400" baseline="-25000" dirty="0"/>
              <a:t>A</a:t>
            </a:r>
            <a:r>
              <a:rPr lang="en-US" sz="1400" dirty="0"/>
              <a:t> - </a:t>
            </a:r>
            <a:r>
              <a:rPr lang="en-US" sz="1400" dirty="0" err="1"/>
              <a:t>m</a:t>
            </a:r>
            <a:r>
              <a:rPr lang="en-US" sz="1400" baseline="-25000" dirty="0" err="1"/>
              <a:t>B</a:t>
            </a:r>
            <a:r>
              <a:rPr lang="en-US" sz="1400" dirty="0"/>
              <a:t>| &gt;= 4*</a:t>
            </a:r>
            <a:r>
              <a:rPr lang="en-US" sz="1400" dirty="0" err="1"/>
              <a:t>sem</a:t>
            </a:r>
            <a:r>
              <a:rPr lang="en-US" sz="1400" dirty="0"/>
              <a:t> = 4s/sqrt(n)</a:t>
            </a:r>
          </a:p>
          <a:p>
            <a:endParaRPr lang="en-US" sz="1400" dirty="0"/>
          </a:p>
          <a:p>
            <a:r>
              <a:rPr lang="en-US" sz="1400" dirty="0"/>
              <a:t>Or</a:t>
            </a:r>
          </a:p>
          <a:p>
            <a:r>
              <a:rPr lang="en-US" sz="1400" dirty="0"/>
              <a:t>              </a:t>
            </a:r>
            <a:r>
              <a:rPr lang="en-US" sz="1800" b="1" dirty="0">
                <a:solidFill>
                  <a:srgbClr val="0070C0"/>
                </a:solidFill>
              </a:rPr>
              <a:t> n &gt;= 16s</a:t>
            </a:r>
            <a:r>
              <a:rPr lang="en-US" sz="1800" b="1" baseline="30000" dirty="0">
                <a:solidFill>
                  <a:srgbClr val="0070C0"/>
                </a:solidFill>
              </a:rPr>
              <a:t>2</a:t>
            </a:r>
            <a:r>
              <a:rPr lang="en-US" sz="1800" b="1" dirty="0">
                <a:solidFill>
                  <a:srgbClr val="0070C0"/>
                </a:solidFill>
              </a:rPr>
              <a:t>/</a:t>
            </a:r>
            <a:r>
              <a:rPr lang="el-GR" sz="1800" b="1" dirty="0">
                <a:solidFill>
                  <a:srgbClr val="0070C0"/>
                </a:solidFill>
              </a:rPr>
              <a:t>δ</a:t>
            </a:r>
            <a:r>
              <a:rPr lang="en-US" sz="1800" b="1" baseline="30000" dirty="0">
                <a:solidFill>
                  <a:srgbClr val="0070C0"/>
                </a:solidFill>
              </a:rPr>
              <a:t>2</a:t>
            </a:r>
            <a:endParaRPr lang="en-US" sz="1800" b="1" dirty="0">
              <a:solidFill>
                <a:srgbClr val="0070C0"/>
              </a:solidFill>
            </a:endParaRPr>
          </a:p>
          <a:p>
            <a:endParaRPr lang="en-US" sz="1400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25F2B29D-2214-FE4C-B190-AD3AC3ACA5BC}"/>
              </a:ext>
            </a:extLst>
          </p:cNvPr>
          <p:cNvGrpSpPr/>
          <p:nvPr/>
        </p:nvGrpSpPr>
        <p:grpSpPr>
          <a:xfrm>
            <a:off x="5046074" y="3592743"/>
            <a:ext cx="2448817" cy="1458655"/>
            <a:chOff x="529389" y="4535701"/>
            <a:chExt cx="2448817" cy="1458655"/>
          </a:xfrm>
        </p:grpSpPr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039894F7-85E1-FA42-989C-AB3BA9BE1FE8}"/>
                </a:ext>
              </a:extLst>
            </p:cNvPr>
            <p:cNvSpPr/>
            <p:nvPr/>
          </p:nvSpPr>
          <p:spPr>
            <a:xfrm>
              <a:off x="529389" y="4550566"/>
              <a:ext cx="1828800" cy="1443790"/>
            </a:xfrm>
            <a:custGeom>
              <a:avLst/>
              <a:gdLst>
                <a:gd name="connsiteX0" fmla="*/ 0 w 1828800"/>
                <a:gd name="connsiteY0" fmla="*/ 1443790 h 1443790"/>
                <a:gd name="connsiteX1" fmla="*/ 112295 w 1828800"/>
                <a:gd name="connsiteY1" fmla="*/ 1411706 h 1443790"/>
                <a:gd name="connsiteX2" fmla="*/ 160422 w 1828800"/>
                <a:gd name="connsiteY2" fmla="*/ 1395664 h 1443790"/>
                <a:gd name="connsiteX3" fmla="*/ 256674 w 1828800"/>
                <a:gd name="connsiteY3" fmla="*/ 1347537 h 1443790"/>
                <a:gd name="connsiteX4" fmla="*/ 320843 w 1828800"/>
                <a:gd name="connsiteY4" fmla="*/ 1251285 h 1443790"/>
                <a:gd name="connsiteX5" fmla="*/ 352927 w 1828800"/>
                <a:gd name="connsiteY5" fmla="*/ 1219200 h 1443790"/>
                <a:gd name="connsiteX6" fmla="*/ 417095 w 1828800"/>
                <a:gd name="connsiteY6" fmla="*/ 1122948 h 1443790"/>
                <a:gd name="connsiteX7" fmla="*/ 449179 w 1828800"/>
                <a:gd name="connsiteY7" fmla="*/ 1074821 h 1443790"/>
                <a:gd name="connsiteX8" fmla="*/ 497306 w 1828800"/>
                <a:gd name="connsiteY8" fmla="*/ 978569 h 1443790"/>
                <a:gd name="connsiteX9" fmla="*/ 561474 w 1828800"/>
                <a:gd name="connsiteY9" fmla="*/ 866274 h 1443790"/>
                <a:gd name="connsiteX10" fmla="*/ 609600 w 1828800"/>
                <a:gd name="connsiteY10" fmla="*/ 705853 h 1443790"/>
                <a:gd name="connsiteX11" fmla="*/ 625643 w 1828800"/>
                <a:gd name="connsiteY11" fmla="*/ 657727 h 1443790"/>
                <a:gd name="connsiteX12" fmla="*/ 657727 w 1828800"/>
                <a:gd name="connsiteY12" fmla="*/ 625642 h 1443790"/>
                <a:gd name="connsiteX13" fmla="*/ 689811 w 1828800"/>
                <a:gd name="connsiteY13" fmla="*/ 465221 h 1443790"/>
                <a:gd name="connsiteX14" fmla="*/ 721895 w 1828800"/>
                <a:gd name="connsiteY14" fmla="*/ 368969 h 1443790"/>
                <a:gd name="connsiteX15" fmla="*/ 737937 w 1828800"/>
                <a:gd name="connsiteY15" fmla="*/ 320842 h 1443790"/>
                <a:gd name="connsiteX16" fmla="*/ 770022 w 1828800"/>
                <a:gd name="connsiteY16" fmla="*/ 224590 h 1443790"/>
                <a:gd name="connsiteX17" fmla="*/ 834190 w 1828800"/>
                <a:gd name="connsiteY17" fmla="*/ 128337 h 1443790"/>
                <a:gd name="connsiteX18" fmla="*/ 850232 w 1828800"/>
                <a:gd name="connsiteY18" fmla="*/ 80211 h 1443790"/>
                <a:gd name="connsiteX19" fmla="*/ 914400 w 1828800"/>
                <a:gd name="connsiteY19" fmla="*/ 0 h 1443790"/>
                <a:gd name="connsiteX20" fmla="*/ 1026695 w 1828800"/>
                <a:gd name="connsiteY20" fmla="*/ 16042 h 1443790"/>
                <a:gd name="connsiteX21" fmla="*/ 1058779 w 1828800"/>
                <a:gd name="connsiteY21" fmla="*/ 112295 h 1443790"/>
                <a:gd name="connsiteX22" fmla="*/ 1106906 w 1828800"/>
                <a:gd name="connsiteY22" fmla="*/ 256674 h 1443790"/>
                <a:gd name="connsiteX23" fmla="*/ 1122948 w 1828800"/>
                <a:gd name="connsiteY23" fmla="*/ 304800 h 1443790"/>
                <a:gd name="connsiteX24" fmla="*/ 1155032 w 1828800"/>
                <a:gd name="connsiteY24" fmla="*/ 336885 h 1443790"/>
                <a:gd name="connsiteX25" fmla="*/ 1203158 w 1828800"/>
                <a:gd name="connsiteY25" fmla="*/ 481264 h 1443790"/>
                <a:gd name="connsiteX26" fmla="*/ 1219200 w 1828800"/>
                <a:gd name="connsiteY26" fmla="*/ 529390 h 1443790"/>
                <a:gd name="connsiteX27" fmla="*/ 1251285 w 1828800"/>
                <a:gd name="connsiteY27" fmla="*/ 657727 h 1443790"/>
                <a:gd name="connsiteX28" fmla="*/ 1267327 w 1828800"/>
                <a:gd name="connsiteY28" fmla="*/ 705853 h 1443790"/>
                <a:gd name="connsiteX29" fmla="*/ 1283369 w 1828800"/>
                <a:gd name="connsiteY29" fmla="*/ 770021 h 1443790"/>
                <a:gd name="connsiteX30" fmla="*/ 1299411 w 1828800"/>
                <a:gd name="connsiteY30" fmla="*/ 818148 h 1443790"/>
                <a:gd name="connsiteX31" fmla="*/ 1347537 w 1828800"/>
                <a:gd name="connsiteY31" fmla="*/ 978569 h 1443790"/>
                <a:gd name="connsiteX32" fmla="*/ 1379622 w 1828800"/>
                <a:gd name="connsiteY32" fmla="*/ 1010653 h 1443790"/>
                <a:gd name="connsiteX33" fmla="*/ 1411706 w 1828800"/>
                <a:gd name="connsiteY33" fmla="*/ 1106906 h 1443790"/>
                <a:gd name="connsiteX34" fmla="*/ 1443790 w 1828800"/>
                <a:gd name="connsiteY34" fmla="*/ 1155032 h 1443790"/>
                <a:gd name="connsiteX35" fmla="*/ 1459832 w 1828800"/>
                <a:gd name="connsiteY35" fmla="*/ 1203158 h 1443790"/>
                <a:gd name="connsiteX36" fmla="*/ 1540043 w 1828800"/>
                <a:gd name="connsiteY36" fmla="*/ 1283369 h 1443790"/>
                <a:gd name="connsiteX37" fmla="*/ 1620253 w 1828800"/>
                <a:gd name="connsiteY37" fmla="*/ 1363579 h 1443790"/>
                <a:gd name="connsiteX38" fmla="*/ 1764632 w 1828800"/>
                <a:gd name="connsiteY38" fmla="*/ 1411706 h 1443790"/>
                <a:gd name="connsiteX39" fmla="*/ 1828800 w 1828800"/>
                <a:gd name="connsiteY39" fmla="*/ 1443790 h 14437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1828800" h="1443790">
                  <a:moveTo>
                    <a:pt x="0" y="1443790"/>
                  </a:moveTo>
                  <a:lnTo>
                    <a:pt x="112295" y="1411706"/>
                  </a:lnTo>
                  <a:cubicBezTo>
                    <a:pt x="128492" y="1406847"/>
                    <a:pt x="145297" y="1403226"/>
                    <a:pt x="160422" y="1395664"/>
                  </a:cubicBezTo>
                  <a:cubicBezTo>
                    <a:pt x="284817" y="1333466"/>
                    <a:pt x="135705" y="1387860"/>
                    <a:pt x="256674" y="1347537"/>
                  </a:cubicBezTo>
                  <a:cubicBezTo>
                    <a:pt x="278064" y="1315453"/>
                    <a:pt x="293577" y="1278552"/>
                    <a:pt x="320843" y="1251285"/>
                  </a:cubicBezTo>
                  <a:cubicBezTo>
                    <a:pt x="331538" y="1240590"/>
                    <a:pt x="343852" y="1231300"/>
                    <a:pt x="352927" y="1219200"/>
                  </a:cubicBezTo>
                  <a:cubicBezTo>
                    <a:pt x="376063" y="1188352"/>
                    <a:pt x="395706" y="1155032"/>
                    <a:pt x="417095" y="1122948"/>
                  </a:cubicBezTo>
                  <a:cubicBezTo>
                    <a:pt x="427790" y="1106906"/>
                    <a:pt x="443082" y="1093112"/>
                    <a:pt x="449179" y="1074821"/>
                  </a:cubicBezTo>
                  <a:cubicBezTo>
                    <a:pt x="478594" y="986581"/>
                    <a:pt x="447547" y="1065647"/>
                    <a:pt x="497306" y="978569"/>
                  </a:cubicBezTo>
                  <a:cubicBezTo>
                    <a:pt x="578718" y="836096"/>
                    <a:pt x="483307" y="983525"/>
                    <a:pt x="561474" y="866274"/>
                  </a:cubicBezTo>
                  <a:cubicBezTo>
                    <a:pt x="585717" y="769303"/>
                    <a:pt x="570547" y="823011"/>
                    <a:pt x="609600" y="705853"/>
                  </a:cubicBezTo>
                  <a:cubicBezTo>
                    <a:pt x="614947" y="689811"/>
                    <a:pt x="613686" y="669684"/>
                    <a:pt x="625643" y="657727"/>
                  </a:cubicBezTo>
                  <a:lnTo>
                    <a:pt x="657727" y="625642"/>
                  </a:lnTo>
                  <a:cubicBezTo>
                    <a:pt x="668567" y="560602"/>
                    <a:pt x="671863" y="525047"/>
                    <a:pt x="689811" y="465221"/>
                  </a:cubicBezTo>
                  <a:cubicBezTo>
                    <a:pt x="699529" y="432828"/>
                    <a:pt x="711200" y="401053"/>
                    <a:pt x="721895" y="368969"/>
                  </a:cubicBezTo>
                  <a:lnTo>
                    <a:pt x="737937" y="320842"/>
                  </a:lnTo>
                  <a:cubicBezTo>
                    <a:pt x="737939" y="320837"/>
                    <a:pt x="770019" y="224594"/>
                    <a:pt x="770022" y="224590"/>
                  </a:cubicBezTo>
                  <a:cubicBezTo>
                    <a:pt x="791411" y="192506"/>
                    <a:pt x="821996" y="164919"/>
                    <a:pt x="834190" y="128337"/>
                  </a:cubicBezTo>
                  <a:cubicBezTo>
                    <a:pt x="839537" y="112295"/>
                    <a:pt x="842670" y="95336"/>
                    <a:pt x="850232" y="80211"/>
                  </a:cubicBezTo>
                  <a:cubicBezTo>
                    <a:pt x="870468" y="39739"/>
                    <a:pt x="884559" y="29842"/>
                    <a:pt x="914400" y="0"/>
                  </a:cubicBezTo>
                  <a:cubicBezTo>
                    <a:pt x="951832" y="5347"/>
                    <a:pt x="996848" y="-7172"/>
                    <a:pt x="1026695" y="16042"/>
                  </a:cubicBezTo>
                  <a:cubicBezTo>
                    <a:pt x="1053391" y="36805"/>
                    <a:pt x="1048084" y="80211"/>
                    <a:pt x="1058779" y="112295"/>
                  </a:cubicBezTo>
                  <a:lnTo>
                    <a:pt x="1106906" y="256674"/>
                  </a:lnTo>
                  <a:cubicBezTo>
                    <a:pt x="1112253" y="272716"/>
                    <a:pt x="1110991" y="292843"/>
                    <a:pt x="1122948" y="304800"/>
                  </a:cubicBezTo>
                  <a:lnTo>
                    <a:pt x="1155032" y="336885"/>
                  </a:lnTo>
                  <a:lnTo>
                    <a:pt x="1203158" y="481264"/>
                  </a:lnTo>
                  <a:cubicBezTo>
                    <a:pt x="1208505" y="497306"/>
                    <a:pt x="1215099" y="512985"/>
                    <a:pt x="1219200" y="529390"/>
                  </a:cubicBezTo>
                  <a:cubicBezTo>
                    <a:pt x="1229895" y="572169"/>
                    <a:pt x="1237341" y="615894"/>
                    <a:pt x="1251285" y="657727"/>
                  </a:cubicBezTo>
                  <a:cubicBezTo>
                    <a:pt x="1256632" y="673769"/>
                    <a:pt x="1262682" y="689594"/>
                    <a:pt x="1267327" y="705853"/>
                  </a:cubicBezTo>
                  <a:cubicBezTo>
                    <a:pt x="1273384" y="727052"/>
                    <a:pt x="1277312" y="748822"/>
                    <a:pt x="1283369" y="770021"/>
                  </a:cubicBezTo>
                  <a:cubicBezTo>
                    <a:pt x="1288015" y="786280"/>
                    <a:pt x="1294765" y="801889"/>
                    <a:pt x="1299411" y="818148"/>
                  </a:cubicBezTo>
                  <a:cubicBezTo>
                    <a:pt x="1308135" y="848682"/>
                    <a:pt x="1332289" y="963321"/>
                    <a:pt x="1347537" y="978569"/>
                  </a:cubicBezTo>
                  <a:lnTo>
                    <a:pt x="1379622" y="1010653"/>
                  </a:lnTo>
                  <a:cubicBezTo>
                    <a:pt x="1390317" y="1042737"/>
                    <a:pt x="1392946" y="1078766"/>
                    <a:pt x="1411706" y="1106906"/>
                  </a:cubicBezTo>
                  <a:cubicBezTo>
                    <a:pt x="1422401" y="1122948"/>
                    <a:pt x="1435168" y="1137787"/>
                    <a:pt x="1443790" y="1155032"/>
                  </a:cubicBezTo>
                  <a:cubicBezTo>
                    <a:pt x="1451352" y="1170157"/>
                    <a:pt x="1449686" y="1189630"/>
                    <a:pt x="1459832" y="1203158"/>
                  </a:cubicBezTo>
                  <a:cubicBezTo>
                    <a:pt x="1482519" y="1233407"/>
                    <a:pt x="1519069" y="1251908"/>
                    <a:pt x="1540043" y="1283369"/>
                  </a:cubicBezTo>
                  <a:cubicBezTo>
                    <a:pt x="1569313" y="1327274"/>
                    <a:pt x="1569594" y="1341064"/>
                    <a:pt x="1620253" y="1363579"/>
                  </a:cubicBezTo>
                  <a:cubicBezTo>
                    <a:pt x="1620260" y="1363582"/>
                    <a:pt x="1740565" y="1403684"/>
                    <a:pt x="1764632" y="1411706"/>
                  </a:cubicBezTo>
                  <a:cubicBezTo>
                    <a:pt x="1819932" y="1430139"/>
                    <a:pt x="1800801" y="1415791"/>
                    <a:pt x="1828800" y="1443790"/>
                  </a:cubicBezTo>
                </a:path>
              </a:pathLst>
            </a:custGeom>
            <a:noFill/>
            <a:ln w="508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D80B9C3F-F4A9-7D4C-ADB2-9D091BB2DC2B}"/>
                </a:ext>
              </a:extLst>
            </p:cNvPr>
            <p:cNvSpPr/>
            <p:nvPr/>
          </p:nvSpPr>
          <p:spPr>
            <a:xfrm>
              <a:off x="1149406" y="4550566"/>
              <a:ext cx="1828800" cy="1443790"/>
            </a:xfrm>
            <a:custGeom>
              <a:avLst/>
              <a:gdLst>
                <a:gd name="connsiteX0" fmla="*/ 0 w 1828800"/>
                <a:gd name="connsiteY0" fmla="*/ 1443790 h 1443790"/>
                <a:gd name="connsiteX1" fmla="*/ 112295 w 1828800"/>
                <a:gd name="connsiteY1" fmla="*/ 1411706 h 1443790"/>
                <a:gd name="connsiteX2" fmla="*/ 160422 w 1828800"/>
                <a:gd name="connsiteY2" fmla="*/ 1395664 h 1443790"/>
                <a:gd name="connsiteX3" fmla="*/ 256674 w 1828800"/>
                <a:gd name="connsiteY3" fmla="*/ 1347537 h 1443790"/>
                <a:gd name="connsiteX4" fmla="*/ 320843 w 1828800"/>
                <a:gd name="connsiteY4" fmla="*/ 1251285 h 1443790"/>
                <a:gd name="connsiteX5" fmla="*/ 352927 w 1828800"/>
                <a:gd name="connsiteY5" fmla="*/ 1219200 h 1443790"/>
                <a:gd name="connsiteX6" fmla="*/ 417095 w 1828800"/>
                <a:gd name="connsiteY6" fmla="*/ 1122948 h 1443790"/>
                <a:gd name="connsiteX7" fmla="*/ 449179 w 1828800"/>
                <a:gd name="connsiteY7" fmla="*/ 1074821 h 1443790"/>
                <a:gd name="connsiteX8" fmla="*/ 497306 w 1828800"/>
                <a:gd name="connsiteY8" fmla="*/ 978569 h 1443790"/>
                <a:gd name="connsiteX9" fmla="*/ 561474 w 1828800"/>
                <a:gd name="connsiteY9" fmla="*/ 866274 h 1443790"/>
                <a:gd name="connsiteX10" fmla="*/ 609600 w 1828800"/>
                <a:gd name="connsiteY10" fmla="*/ 705853 h 1443790"/>
                <a:gd name="connsiteX11" fmla="*/ 625643 w 1828800"/>
                <a:gd name="connsiteY11" fmla="*/ 657727 h 1443790"/>
                <a:gd name="connsiteX12" fmla="*/ 657727 w 1828800"/>
                <a:gd name="connsiteY12" fmla="*/ 625642 h 1443790"/>
                <a:gd name="connsiteX13" fmla="*/ 689811 w 1828800"/>
                <a:gd name="connsiteY13" fmla="*/ 465221 h 1443790"/>
                <a:gd name="connsiteX14" fmla="*/ 721895 w 1828800"/>
                <a:gd name="connsiteY14" fmla="*/ 368969 h 1443790"/>
                <a:gd name="connsiteX15" fmla="*/ 737937 w 1828800"/>
                <a:gd name="connsiteY15" fmla="*/ 320842 h 1443790"/>
                <a:gd name="connsiteX16" fmla="*/ 770022 w 1828800"/>
                <a:gd name="connsiteY16" fmla="*/ 224590 h 1443790"/>
                <a:gd name="connsiteX17" fmla="*/ 834190 w 1828800"/>
                <a:gd name="connsiteY17" fmla="*/ 128337 h 1443790"/>
                <a:gd name="connsiteX18" fmla="*/ 850232 w 1828800"/>
                <a:gd name="connsiteY18" fmla="*/ 80211 h 1443790"/>
                <a:gd name="connsiteX19" fmla="*/ 914400 w 1828800"/>
                <a:gd name="connsiteY19" fmla="*/ 0 h 1443790"/>
                <a:gd name="connsiteX20" fmla="*/ 1026695 w 1828800"/>
                <a:gd name="connsiteY20" fmla="*/ 16042 h 1443790"/>
                <a:gd name="connsiteX21" fmla="*/ 1058779 w 1828800"/>
                <a:gd name="connsiteY21" fmla="*/ 112295 h 1443790"/>
                <a:gd name="connsiteX22" fmla="*/ 1106906 w 1828800"/>
                <a:gd name="connsiteY22" fmla="*/ 256674 h 1443790"/>
                <a:gd name="connsiteX23" fmla="*/ 1122948 w 1828800"/>
                <a:gd name="connsiteY23" fmla="*/ 304800 h 1443790"/>
                <a:gd name="connsiteX24" fmla="*/ 1155032 w 1828800"/>
                <a:gd name="connsiteY24" fmla="*/ 336885 h 1443790"/>
                <a:gd name="connsiteX25" fmla="*/ 1203158 w 1828800"/>
                <a:gd name="connsiteY25" fmla="*/ 481264 h 1443790"/>
                <a:gd name="connsiteX26" fmla="*/ 1219200 w 1828800"/>
                <a:gd name="connsiteY26" fmla="*/ 529390 h 1443790"/>
                <a:gd name="connsiteX27" fmla="*/ 1251285 w 1828800"/>
                <a:gd name="connsiteY27" fmla="*/ 657727 h 1443790"/>
                <a:gd name="connsiteX28" fmla="*/ 1267327 w 1828800"/>
                <a:gd name="connsiteY28" fmla="*/ 705853 h 1443790"/>
                <a:gd name="connsiteX29" fmla="*/ 1283369 w 1828800"/>
                <a:gd name="connsiteY29" fmla="*/ 770021 h 1443790"/>
                <a:gd name="connsiteX30" fmla="*/ 1299411 w 1828800"/>
                <a:gd name="connsiteY30" fmla="*/ 818148 h 1443790"/>
                <a:gd name="connsiteX31" fmla="*/ 1347537 w 1828800"/>
                <a:gd name="connsiteY31" fmla="*/ 978569 h 1443790"/>
                <a:gd name="connsiteX32" fmla="*/ 1379622 w 1828800"/>
                <a:gd name="connsiteY32" fmla="*/ 1010653 h 1443790"/>
                <a:gd name="connsiteX33" fmla="*/ 1411706 w 1828800"/>
                <a:gd name="connsiteY33" fmla="*/ 1106906 h 1443790"/>
                <a:gd name="connsiteX34" fmla="*/ 1443790 w 1828800"/>
                <a:gd name="connsiteY34" fmla="*/ 1155032 h 1443790"/>
                <a:gd name="connsiteX35" fmla="*/ 1459832 w 1828800"/>
                <a:gd name="connsiteY35" fmla="*/ 1203158 h 1443790"/>
                <a:gd name="connsiteX36" fmla="*/ 1540043 w 1828800"/>
                <a:gd name="connsiteY36" fmla="*/ 1283369 h 1443790"/>
                <a:gd name="connsiteX37" fmla="*/ 1620253 w 1828800"/>
                <a:gd name="connsiteY37" fmla="*/ 1363579 h 1443790"/>
                <a:gd name="connsiteX38" fmla="*/ 1764632 w 1828800"/>
                <a:gd name="connsiteY38" fmla="*/ 1411706 h 1443790"/>
                <a:gd name="connsiteX39" fmla="*/ 1828800 w 1828800"/>
                <a:gd name="connsiteY39" fmla="*/ 1443790 h 14437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1828800" h="1443790">
                  <a:moveTo>
                    <a:pt x="0" y="1443790"/>
                  </a:moveTo>
                  <a:lnTo>
                    <a:pt x="112295" y="1411706"/>
                  </a:lnTo>
                  <a:cubicBezTo>
                    <a:pt x="128492" y="1406847"/>
                    <a:pt x="145297" y="1403226"/>
                    <a:pt x="160422" y="1395664"/>
                  </a:cubicBezTo>
                  <a:cubicBezTo>
                    <a:pt x="284817" y="1333466"/>
                    <a:pt x="135705" y="1387860"/>
                    <a:pt x="256674" y="1347537"/>
                  </a:cubicBezTo>
                  <a:cubicBezTo>
                    <a:pt x="278064" y="1315453"/>
                    <a:pt x="293577" y="1278552"/>
                    <a:pt x="320843" y="1251285"/>
                  </a:cubicBezTo>
                  <a:cubicBezTo>
                    <a:pt x="331538" y="1240590"/>
                    <a:pt x="343852" y="1231300"/>
                    <a:pt x="352927" y="1219200"/>
                  </a:cubicBezTo>
                  <a:cubicBezTo>
                    <a:pt x="376063" y="1188352"/>
                    <a:pt x="395706" y="1155032"/>
                    <a:pt x="417095" y="1122948"/>
                  </a:cubicBezTo>
                  <a:cubicBezTo>
                    <a:pt x="427790" y="1106906"/>
                    <a:pt x="443082" y="1093112"/>
                    <a:pt x="449179" y="1074821"/>
                  </a:cubicBezTo>
                  <a:cubicBezTo>
                    <a:pt x="478594" y="986581"/>
                    <a:pt x="447547" y="1065647"/>
                    <a:pt x="497306" y="978569"/>
                  </a:cubicBezTo>
                  <a:cubicBezTo>
                    <a:pt x="578718" y="836096"/>
                    <a:pt x="483307" y="983525"/>
                    <a:pt x="561474" y="866274"/>
                  </a:cubicBezTo>
                  <a:cubicBezTo>
                    <a:pt x="585717" y="769303"/>
                    <a:pt x="570547" y="823011"/>
                    <a:pt x="609600" y="705853"/>
                  </a:cubicBezTo>
                  <a:cubicBezTo>
                    <a:pt x="614947" y="689811"/>
                    <a:pt x="613686" y="669684"/>
                    <a:pt x="625643" y="657727"/>
                  </a:cubicBezTo>
                  <a:lnTo>
                    <a:pt x="657727" y="625642"/>
                  </a:lnTo>
                  <a:cubicBezTo>
                    <a:pt x="668567" y="560602"/>
                    <a:pt x="671863" y="525047"/>
                    <a:pt x="689811" y="465221"/>
                  </a:cubicBezTo>
                  <a:cubicBezTo>
                    <a:pt x="699529" y="432828"/>
                    <a:pt x="711200" y="401053"/>
                    <a:pt x="721895" y="368969"/>
                  </a:cubicBezTo>
                  <a:lnTo>
                    <a:pt x="737937" y="320842"/>
                  </a:lnTo>
                  <a:cubicBezTo>
                    <a:pt x="737939" y="320837"/>
                    <a:pt x="770019" y="224594"/>
                    <a:pt x="770022" y="224590"/>
                  </a:cubicBezTo>
                  <a:cubicBezTo>
                    <a:pt x="791411" y="192506"/>
                    <a:pt x="821996" y="164919"/>
                    <a:pt x="834190" y="128337"/>
                  </a:cubicBezTo>
                  <a:cubicBezTo>
                    <a:pt x="839537" y="112295"/>
                    <a:pt x="842670" y="95336"/>
                    <a:pt x="850232" y="80211"/>
                  </a:cubicBezTo>
                  <a:cubicBezTo>
                    <a:pt x="870468" y="39739"/>
                    <a:pt x="884559" y="29842"/>
                    <a:pt x="914400" y="0"/>
                  </a:cubicBezTo>
                  <a:cubicBezTo>
                    <a:pt x="951832" y="5347"/>
                    <a:pt x="996848" y="-7172"/>
                    <a:pt x="1026695" y="16042"/>
                  </a:cubicBezTo>
                  <a:cubicBezTo>
                    <a:pt x="1053391" y="36805"/>
                    <a:pt x="1048084" y="80211"/>
                    <a:pt x="1058779" y="112295"/>
                  </a:cubicBezTo>
                  <a:lnTo>
                    <a:pt x="1106906" y="256674"/>
                  </a:lnTo>
                  <a:cubicBezTo>
                    <a:pt x="1112253" y="272716"/>
                    <a:pt x="1110991" y="292843"/>
                    <a:pt x="1122948" y="304800"/>
                  </a:cubicBezTo>
                  <a:lnTo>
                    <a:pt x="1155032" y="336885"/>
                  </a:lnTo>
                  <a:lnTo>
                    <a:pt x="1203158" y="481264"/>
                  </a:lnTo>
                  <a:cubicBezTo>
                    <a:pt x="1208505" y="497306"/>
                    <a:pt x="1215099" y="512985"/>
                    <a:pt x="1219200" y="529390"/>
                  </a:cubicBezTo>
                  <a:cubicBezTo>
                    <a:pt x="1229895" y="572169"/>
                    <a:pt x="1237341" y="615894"/>
                    <a:pt x="1251285" y="657727"/>
                  </a:cubicBezTo>
                  <a:cubicBezTo>
                    <a:pt x="1256632" y="673769"/>
                    <a:pt x="1262682" y="689594"/>
                    <a:pt x="1267327" y="705853"/>
                  </a:cubicBezTo>
                  <a:cubicBezTo>
                    <a:pt x="1273384" y="727052"/>
                    <a:pt x="1277312" y="748822"/>
                    <a:pt x="1283369" y="770021"/>
                  </a:cubicBezTo>
                  <a:cubicBezTo>
                    <a:pt x="1288015" y="786280"/>
                    <a:pt x="1294765" y="801889"/>
                    <a:pt x="1299411" y="818148"/>
                  </a:cubicBezTo>
                  <a:cubicBezTo>
                    <a:pt x="1308135" y="848682"/>
                    <a:pt x="1332289" y="963321"/>
                    <a:pt x="1347537" y="978569"/>
                  </a:cubicBezTo>
                  <a:lnTo>
                    <a:pt x="1379622" y="1010653"/>
                  </a:lnTo>
                  <a:cubicBezTo>
                    <a:pt x="1390317" y="1042737"/>
                    <a:pt x="1392946" y="1078766"/>
                    <a:pt x="1411706" y="1106906"/>
                  </a:cubicBezTo>
                  <a:cubicBezTo>
                    <a:pt x="1422401" y="1122948"/>
                    <a:pt x="1435168" y="1137787"/>
                    <a:pt x="1443790" y="1155032"/>
                  </a:cubicBezTo>
                  <a:cubicBezTo>
                    <a:pt x="1451352" y="1170157"/>
                    <a:pt x="1449686" y="1189630"/>
                    <a:pt x="1459832" y="1203158"/>
                  </a:cubicBezTo>
                  <a:cubicBezTo>
                    <a:pt x="1482519" y="1233407"/>
                    <a:pt x="1519069" y="1251908"/>
                    <a:pt x="1540043" y="1283369"/>
                  </a:cubicBezTo>
                  <a:cubicBezTo>
                    <a:pt x="1569313" y="1327274"/>
                    <a:pt x="1569594" y="1341064"/>
                    <a:pt x="1620253" y="1363579"/>
                  </a:cubicBezTo>
                  <a:cubicBezTo>
                    <a:pt x="1620260" y="1363582"/>
                    <a:pt x="1740565" y="1403684"/>
                    <a:pt x="1764632" y="1411706"/>
                  </a:cubicBezTo>
                  <a:cubicBezTo>
                    <a:pt x="1819932" y="1430139"/>
                    <a:pt x="1800801" y="1415791"/>
                    <a:pt x="1828800" y="1443790"/>
                  </a:cubicBezTo>
                </a:path>
              </a:pathLst>
            </a:custGeom>
            <a:noFill/>
            <a:ln w="508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A51D2DD2-90FA-2143-BA9F-54FC5BE044BE}"/>
                </a:ext>
              </a:extLst>
            </p:cNvPr>
            <p:cNvSpPr/>
            <p:nvPr/>
          </p:nvSpPr>
          <p:spPr>
            <a:xfrm>
              <a:off x="1328104" y="4550566"/>
              <a:ext cx="323238" cy="1443790"/>
            </a:xfrm>
            <a:custGeom>
              <a:avLst/>
              <a:gdLst>
                <a:gd name="connsiteX0" fmla="*/ 0 w 1828800"/>
                <a:gd name="connsiteY0" fmla="*/ 1443790 h 1443790"/>
                <a:gd name="connsiteX1" fmla="*/ 112295 w 1828800"/>
                <a:gd name="connsiteY1" fmla="*/ 1411706 h 1443790"/>
                <a:gd name="connsiteX2" fmla="*/ 160422 w 1828800"/>
                <a:gd name="connsiteY2" fmla="*/ 1395664 h 1443790"/>
                <a:gd name="connsiteX3" fmla="*/ 256674 w 1828800"/>
                <a:gd name="connsiteY3" fmla="*/ 1347537 h 1443790"/>
                <a:gd name="connsiteX4" fmla="*/ 320843 w 1828800"/>
                <a:gd name="connsiteY4" fmla="*/ 1251285 h 1443790"/>
                <a:gd name="connsiteX5" fmla="*/ 352927 w 1828800"/>
                <a:gd name="connsiteY5" fmla="*/ 1219200 h 1443790"/>
                <a:gd name="connsiteX6" fmla="*/ 417095 w 1828800"/>
                <a:gd name="connsiteY6" fmla="*/ 1122948 h 1443790"/>
                <a:gd name="connsiteX7" fmla="*/ 449179 w 1828800"/>
                <a:gd name="connsiteY7" fmla="*/ 1074821 h 1443790"/>
                <a:gd name="connsiteX8" fmla="*/ 497306 w 1828800"/>
                <a:gd name="connsiteY8" fmla="*/ 978569 h 1443790"/>
                <a:gd name="connsiteX9" fmla="*/ 561474 w 1828800"/>
                <a:gd name="connsiteY9" fmla="*/ 866274 h 1443790"/>
                <a:gd name="connsiteX10" fmla="*/ 609600 w 1828800"/>
                <a:gd name="connsiteY10" fmla="*/ 705853 h 1443790"/>
                <a:gd name="connsiteX11" fmla="*/ 625643 w 1828800"/>
                <a:gd name="connsiteY11" fmla="*/ 657727 h 1443790"/>
                <a:gd name="connsiteX12" fmla="*/ 657727 w 1828800"/>
                <a:gd name="connsiteY12" fmla="*/ 625642 h 1443790"/>
                <a:gd name="connsiteX13" fmla="*/ 689811 w 1828800"/>
                <a:gd name="connsiteY13" fmla="*/ 465221 h 1443790"/>
                <a:gd name="connsiteX14" fmla="*/ 721895 w 1828800"/>
                <a:gd name="connsiteY14" fmla="*/ 368969 h 1443790"/>
                <a:gd name="connsiteX15" fmla="*/ 737937 w 1828800"/>
                <a:gd name="connsiteY15" fmla="*/ 320842 h 1443790"/>
                <a:gd name="connsiteX16" fmla="*/ 770022 w 1828800"/>
                <a:gd name="connsiteY16" fmla="*/ 224590 h 1443790"/>
                <a:gd name="connsiteX17" fmla="*/ 834190 w 1828800"/>
                <a:gd name="connsiteY17" fmla="*/ 128337 h 1443790"/>
                <a:gd name="connsiteX18" fmla="*/ 850232 w 1828800"/>
                <a:gd name="connsiteY18" fmla="*/ 80211 h 1443790"/>
                <a:gd name="connsiteX19" fmla="*/ 914400 w 1828800"/>
                <a:gd name="connsiteY19" fmla="*/ 0 h 1443790"/>
                <a:gd name="connsiteX20" fmla="*/ 1026695 w 1828800"/>
                <a:gd name="connsiteY20" fmla="*/ 16042 h 1443790"/>
                <a:gd name="connsiteX21" fmla="*/ 1058779 w 1828800"/>
                <a:gd name="connsiteY21" fmla="*/ 112295 h 1443790"/>
                <a:gd name="connsiteX22" fmla="*/ 1106906 w 1828800"/>
                <a:gd name="connsiteY22" fmla="*/ 256674 h 1443790"/>
                <a:gd name="connsiteX23" fmla="*/ 1122948 w 1828800"/>
                <a:gd name="connsiteY23" fmla="*/ 304800 h 1443790"/>
                <a:gd name="connsiteX24" fmla="*/ 1155032 w 1828800"/>
                <a:gd name="connsiteY24" fmla="*/ 336885 h 1443790"/>
                <a:gd name="connsiteX25" fmla="*/ 1203158 w 1828800"/>
                <a:gd name="connsiteY25" fmla="*/ 481264 h 1443790"/>
                <a:gd name="connsiteX26" fmla="*/ 1219200 w 1828800"/>
                <a:gd name="connsiteY26" fmla="*/ 529390 h 1443790"/>
                <a:gd name="connsiteX27" fmla="*/ 1251285 w 1828800"/>
                <a:gd name="connsiteY27" fmla="*/ 657727 h 1443790"/>
                <a:gd name="connsiteX28" fmla="*/ 1267327 w 1828800"/>
                <a:gd name="connsiteY28" fmla="*/ 705853 h 1443790"/>
                <a:gd name="connsiteX29" fmla="*/ 1283369 w 1828800"/>
                <a:gd name="connsiteY29" fmla="*/ 770021 h 1443790"/>
                <a:gd name="connsiteX30" fmla="*/ 1299411 w 1828800"/>
                <a:gd name="connsiteY30" fmla="*/ 818148 h 1443790"/>
                <a:gd name="connsiteX31" fmla="*/ 1347537 w 1828800"/>
                <a:gd name="connsiteY31" fmla="*/ 978569 h 1443790"/>
                <a:gd name="connsiteX32" fmla="*/ 1379622 w 1828800"/>
                <a:gd name="connsiteY32" fmla="*/ 1010653 h 1443790"/>
                <a:gd name="connsiteX33" fmla="*/ 1411706 w 1828800"/>
                <a:gd name="connsiteY33" fmla="*/ 1106906 h 1443790"/>
                <a:gd name="connsiteX34" fmla="*/ 1443790 w 1828800"/>
                <a:gd name="connsiteY34" fmla="*/ 1155032 h 1443790"/>
                <a:gd name="connsiteX35" fmla="*/ 1459832 w 1828800"/>
                <a:gd name="connsiteY35" fmla="*/ 1203158 h 1443790"/>
                <a:gd name="connsiteX36" fmla="*/ 1540043 w 1828800"/>
                <a:gd name="connsiteY36" fmla="*/ 1283369 h 1443790"/>
                <a:gd name="connsiteX37" fmla="*/ 1620253 w 1828800"/>
                <a:gd name="connsiteY37" fmla="*/ 1363579 h 1443790"/>
                <a:gd name="connsiteX38" fmla="*/ 1764632 w 1828800"/>
                <a:gd name="connsiteY38" fmla="*/ 1411706 h 1443790"/>
                <a:gd name="connsiteX39" fmla="*/ 1828800 w 1828800"/>
                <a:gd name="connsiteY39" fmla="*/ 1443790 h 14437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1828800" h="1443790">
                  <a:moveTo>
                    <a:pt x="0" y="1443790"/>
                  </a:moveTo>
                  <a:lnTo>
                    <a:pt x="112295" y="1411706"/>
                  </a:lnTo>
                  <a:cubicBezTo>
                    <a:pt x="128492" y="1406847"/>
                    <a:pt x="145297" y="1403226"/>
                    <a:pt x="160422" y="1395664"/>
                  </a:cubicBezTo>
                  <a:cubicBezTo>
                    <a:pt x="284817" y="1333466"/>
                    <a:pt x="135705" y="1387860"/>
                    <a:pt x="256674" y="1347537"/>
                  </a:cubicBezTo>
                  <a:cubicBezTo>
                    <a:pt x="278064" y="1315453"/>
                    <a:pt x="293577" y="1278552"/>
                    <a:pt x="320843" y="1251285"/>
                  </a:cubicBezTo>
                  <a:cubicBezTo>
                    <a:pt x="331538" y="1240590"/>
                    <a:pt x="343852" y="1231300"/>
                    <a:pt x="352927" y="1219200"/>
                  </a:cubicBezTo>
                  <a:cubicBezTo>
                    <a:pt x="376063" y="1188352"/>
                    <a:pt x="395706" y="1155032"/>
                    <a:pt x="417095" y="1122948"/>
                  </a:cubicBezTo>
                  <a:cubicBezTo>
                    <a:pt x="427790" y="1106906"/>
                    <a:pt x="443082" y="1093112"/>
                    <a:pt x="449179" y="1074821"/>
                  </a:cubicBezTo>
                  <a:cubicBezTo>
                    <a:pt x="478594" y="986581"/>
                    <a:pt x="447547" y="1065647"/>
                    <a:pt x="497306" y="978569"/>
                  </a:cubicBezTo>
                  <a:cubicBezTo>
                    <a:pt x="578718" y="836096"/>
                    <a:pt x="483307" y="983525"/>
                    <a:pt x="561474" y="866274"/>
                  </a:cubicBezTo>
                  <a:cubicBezTo>
                    <a:pt x="585717" y="769303"/>
                    <a:pt x="570547" y="823011"/>
                    <a:pt x="609600" y="705853"/>
                  </a:cubicBezTo>
                  <a:cubicBezTo>
                    <a:pt x="614947" y="689811"/>
                    <a:pt x="613686" y="669684"/>
                    <a:pt x="625643" y="657727"/>
                  </a:cubicBezTo>
                  <a:lnTo>
                    <a:pt x="657727" y="625642"/>
                  </a:lnTo>
                  <a:cubicBezTo>
                    <a:pt x="668567" y="560602"/>
                    <a:pt x="671863" y="525047"/>
                    <a:pt x="689811" y="465221"/>
                  </a:cubicBezTo>
                  <a:cubicBezTo>
                    <a:pt x="699529" y="432828"/>
                    <a:pt x="711200" y="401053"/>
                    <a:pt x="721895" y="368969"/>
                  </a:cubicBezTo>
                  <a:lnTo>
                    <a:pt x="737937" y="320842"/>
                  </a:lnTo>
                  <a:cubicBezTo>
                    <a:pt x="737939" y="320837"/>
                    <a:pt x="770019" y="224594"/>
                    <a:pt x="770022" y="224590"/>
                  </a:cubicBezTo>
                  <a:cubicBezTo>
                    <a:pt x="791411" y="192506"/>
                    <a:pt x="821996" y="164919"/>
                    <a:pt x="834190" y="128337"/>
                  </a:cubicBezTo>
                  <a:cubicBezTo>
                    <a:pt x="839537" y="112295"/>
                    <a:pt x="842670" y="95336"/>
                    <a:pt x="850232" y="80211"/>
                  </a:cubicBezTo>
                  <a:cubicBezTo>
                    <a:pt x="870468" y="39739"/>
                    <a:pt x="884559" y="29842"/>
                    <a:pt x="914400" y="0"/>
                  </a:cubicBezTo>
                  <a:cubicBezTo>
                    <a:pt x="951832" y="5347"/>
                    <a:pt x="996848" y="-7172"/>
                    <a:pt x="1026695" y="16042"/>
                  </a:cubicBezTo>
                  <a:cubicBezTo>
                    <a:pt x="1053391" y="36805"/>
                    <a:pt x="1048084" y="80211"/>
                    <a:pt x="1058779" y="112295"/>
                  </a:cubicBezTo>
                  <a:lnTo>
                    <a:pt x="1106906" y="256674"/>
                  </a:lnTo>
                  <a:cubicBezTo>
                    <a:pt x="1112253" y="272716"/>
                    <a:pt x="1110991" y="292843"/>
                    <a:pt x="1122948" y="304800"/>
                  </a:cubicBezTo>
                  <a:lnTo>
                    <a:pt x="1155032" y="336885"/>
                  </a:lnTo>
                  <a:lnTo>
                    <a:pt x="1203158" y="481264"/>
                  </a:lnTo>
                  <a:cubicBezTo>
                    <a:pt x="1208505" y="497306"/>
                    <a:pt x="1215099" y="512985"/>
                    <a:pt x="1219200" y="529390"/>
                  </a:cubicBezTo>
                  <a:cubicBezTo>
                    <a:pt x="1229895" y="572169"/>
                    <a:pt x="1237341" y="615894"/>
                    <a:pt x="1251285" y="657727"/>
                  </a:cubicBezTo>
                  <a:cubicBezTo>
                    <a:pt x="1256632" y="673769"/>
                    <a:pt x="1262682" y="689594"/>
                    <a:pt x="1267327" y="705853"/>
                  </a:cubicBezTo>
                  <a:cubicBezTo>
                    <a:pt x="1273384" y="727052"/>
                    <a:pt x="1277312" y="748822"/>
                    <a:pt x="1283369" y="770021"/>
                  </a:cubicBezTo>
                  <a:cubicBezTo>
                    <a:pt x="1288015" y="786280"/>
                    <a:pt x="1294765" y="801889"/>
                    <a:pt x="1299411" y="818148"/>
                  </a:cubicBezTo>
                  <a:cubicBezTo>
                    <a:pt x="1308135" y="848682"/>
                    <a:pt x="1332289" y="963321"/>
                    <a:pt x="1347537" y="978569"/>
                  </a:cubicBezTo>
                  <a:lnTo>
                    <a:pt x="1379622" y="1010653"/>
                  </a:lnTo>
                  <a:cubicBezTo>
                    <a:pt x="1390317" y="1042737"/>
                    <a:pt x="1392946" y="1078766"/>
                    <a:pt x="1411706" y="1106906"/>
                  </a:cubicBezTo>
                  <a:cubicBezTo>
                    <a:pt x="1422401" y="1122948"/>
                    <a:pt x="1435168" y="1137787"/>
                    <a:pt x="1443790" y="1155032"/>
                  </a:cubicBezTo>
                  <a:cubicBezTo>
                    <a:pt x="1451352" y="1170157"/>
                    <a:pt x="1449686" y="1189630"/>
                    <a:pt x="1459832" y="1203158"/>
                  </a:cubicBezTo>
                  <a:cubicBezTo>
                    <a:pt x="1482519" y="1233407"/>
                    <a:pt x="1519069" y="1251908"/>
                    <a:pt x="1540043" y="1283369"/>
                  </a:cubicBezTo>
                  <a:cubicBezTo>
                    <a:pt x="1569313" y="1327274"/>
                    <a:pt x="1569594" y="1341064"/>
                    <a:pt x="1620253" y="1363579"/>
                  </a:cubicBezTo>
                  <a:cubicBezTo>
                    <a:pt x="1620260" y="1363582"/>
                    <a:pt x="1740565" y="1403684"/>
                    <a:pt x="1764632" y="1411706"/>
                  </a:cubicBezTo>
                  <a:cubicBezTo>
                    <a:pt x="1819932" y="1430139"/>
                    <a:pt x="1800801" y="1415791"/>
                    <a:pt x="1828800" y="1443790"/>
                  </a:cubicBezTo>
                </a:path>
              </a:pathLst>
            </a:custGeom>
            <a:noFill/>
            <a:ln w="508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1D4078CB-F8B3-D540-9B24-AC87E5FD8361}"/>
                </a:ext>
              </a:extLst>
            </p:cNvPr>
            <p:cNvSpPr/>
            <p:nvPr/>
          </p:nvSpPr>
          <p:spPr>
            <a:xfrm>
              <a:off x="1937961" y="4535701"/>
              <a:ext cx="323238" cy="1443790"/>
            </a:xfrm>
            <a:custGeom>
              <a:avLst/>
              <a:gdLst>
                <a:gd name="connsiteX0" fmla="*/ 0 w 1828800"/>
                <a:gd name="connsiteY0" fmla="*/ 1443790 h 1443790"/>
                <a:gd name="connsiteX1" fmla="*/ 112295 w 1828800"/>
                <a:gd name="connsiteY1" fmla="*/ 1411706 h 1443790"/>
                <a:gd name="connsiteX2" fmla="*/ 160422 w 1828800"/>
                <a:gd name="connsiteY2" fmla="*/ 1395664 h 1443790"/>
                <a:gd name="connsiteX3" fmla="*/ 256674 w 1828800"/>
                <a:gd name="connsiteY3" fmla="*/ 1347537 h 1443790"/>
                <a:gd name="connsiteX4" fmla="*/ 320843 w 1828800"/>
                <a:gd name="connsiteY4" fmla="*/ 1251285 h 1443790"/>
                <a:gd name="connsiteX5" fmla="*/ 352927 w 1828800"/>
                <a:gd name="connsiteY5" fmla="*/ 1219200 h 1443790"/>
                <a:gd name="connsiteX6" fmla="*/ 417095 w 1828800"/>
                <a:gd name="connsiteY6" fmla="*/ 1122948 h 1443790"/>
                <a:gd name="connsiteX7" fmla="*/ 449179 w 1828800"/>
                <a:gd name="connsiteY7" fmla="*/ 1074821 h 1443790"/>
                <a:gd name="connsiteX8" fmla="*/ 497306 w 1828800"/>
                <a:gd name="connsiteY8" fmla="*/ 978569 h 1443790"/>
                <a:gd name="connsiteX9" fmla="*/ 561474 w 1828800"/>
                <a:gd name="connsiteY9" fmla="*/ 866274 h 1443790"/>
                <a:gd name="connsiteX10" fmla="*/ 609600 w 1828800"/>
                <a:gd name="connsiteY10" fmla="*/ 705853 h 1443790"/>
                <a:gd name="connsiteX11" fmla="*/ 625643 w 1828800"/>
                <a:gd name="connsiteY11" fmla="*/ 657727 h 1443790"/>
                <a:gd name="connsiteX12" fmla="*/ 657727 w 1828800"/>
                <a:gd name="connsiteY12" fmla="*/ 625642 h 1443790"/>
                <a:gd name="connsiteX13" fmla="*/ 689811 w 1828800"/>
                <a:gd name="connsiteY13" fmla="*/ 465221 h 1443790"/>
                <a:gd name="connsiteX14" fmla="*/ 721895 w 1828800"/>
                <a:gd name="connsiteY14" fmla="*/ 368969 h 1443790"/>
                <a:gd name="connsiteX15" fmla="*/ 737937 w 1828800"/>
                <a:gd name="connsiteY15" fmla="*/ 320842 h 1443790"/>
                <a:gd name="connsiteX16" fmla="*/ 770022 w 1828800"/>
                <a:gd name="connsiteY16" fmla="*/ 224590 h 1443790"/>
                <a:gd name="connsiteX17" fmla="*/ 834190 w 1828800"/>
                <a:gd name="connsiteY17" fmla="*/ 128337 h 1443790"/>
                <a:gd name="connsiteX18" fmla="*/ 850232 w 1828800"/>
                <a:gd name="connsiteY18" fmla="*/ 80211 h 1443790"/>
                <a:gd name="connsiteX19" fmla="*/ 914400 w 1828800"/>
                <a:gd name="connsiteY19" fmla="*/ 0 h 1443790"/>
                <a:gd name="connsiteX20" fmla="*/ 1026695 w 1828800"/>
                <a:gd name="connsiteY20" fmla="*/ 16042 h 1443790"/>
                <a:gd name="connsiteX21" fmla="*/ 1058779 w 1828800"/>
                <a:gd name="connsiteY21" fmla="*/ 112295 h 1443790"/>
                <a:gd name="connsiteX22" fmla="*/ 1106906 w 1828800"/>
                <a:gd name="connsiteY22" fmla="*/ 256674 h 1443790"/>
                <a:gd name="connsiteX23" fmla="*/ 1122948 w 1828800"/>
                <a:gd name="connsiteY23" fmla="*/ 304800 h 1443790"/>
                <a:gd name="connsiteX24" fmla="*/ 1155032 w 1828800"/>
                <a:gd name="connsiteY24" fmla="*/ 336885 h 1443790"/>
                <a:gd name="connsiteX25" fmla="*/ 1203158 w 1828800"/>
                <a:gd name="connsiteY25" fmla="*/ 481264 h 1443790"/>
                <a:gd name="connsiteX26" fmla="*/ 1219200 w 1828800"/>
                <a:gd name="connsiteY26" fmla="*/ 529390 h 1443790"/>
                <a:gd name="connsiteX27" fmla="*/ 1251285 w 1828800"/>
                <a:gd name="connsiteY27" fmla="*/ 657727 h 1443790"/>
                <a:gd name="connsiteX28" fmla="*/ 1267327 w 1828800"/>
                <a:gd name="connsiteY28" fmla="*/ 705853 h 1443790"/>
                <a:gd name="connsiteX29" fmla="*/ 1283369 w 1828800"/>
                <a:gd name="connsiteY29" fmla="*/ 770021 h 1443790"/>
                <a:gd name="connsiteX30" fmla="*/ 1299411 w 1828800"/>
                <a:gd name="connsiteY30" fmla="*/ 818148 h 1443790"/>
                <a:gd name="connsiteX31" fmla="*/ 1347537 w 1828800"/>
                <a:gd name="connsiteY31" fmla="*/ 978569 h 1443790"/>
                <a:gd name="connsiteX32" fmla="*/ 1379622 w 1828800"/>
                <a:gd name="connsiteY32" fmla="*/ 1010653 h 1443790"/>
                <a:gd name="connsiteX33" fmla="*/ 1411706 w 1828800"/>
                <a:gd name="connsiteY33" fmla="*/ 1106906 h 1443790"/>
                <a:gd name="connsiteX34" fmla="*/ 1443790 w 1828800"/>
                <a:gd name="connsiteY34" fmla="*/ 1155032 h 1443790"/>
                <a:gd name="connsiteX35" fmla="*/ 1459832 w 1828800"/>
                <a:gd name="connsiteY35" fmla="*/ 1203158 h 1443790"/>
                <a:gd name="connsiteX36" fmla="*/ 1540043 w 1828800"/>
                <a:gd name="connsiteY36" fmla="*/ 1283369 h 1443790"/>
                <a:gd name="connsiteX37" fmla="*/ 1620253 w 1828800"/>
                <a:gd name="connsiteY37" fmla="*/ 1363579 h 1443790"/>
                <a:gd name="connsiteX38" fmla="*/ 1764632 w 1828800"/>
                <a:gd name="connsiteY38" fmla="*/ 1411706 h 1443790"/>
                <a:gd name="connsiteX39" fmla="*/ 1828800 w 1828800"/>
                <a:gd name="connsiteY39" fmla="*/ 1443790 h 14437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1828800" h="1443790">
                  <a:moveTo>
                    <a:pt x="0" y="1443790"/>
                  </a:moveTo>
                  <a:lnTo>
                    <a:pt x="112295" y="1411706"/>
                  </a:lnTo>
                  <a:cubicBezTo>
                    <a:pt x="128492" y="1406847"/>
                    <a:pt x="145297" y="1403226"/>
                    <a:pt x="160422" y="1395664"/>
                  </a:cubicBezTo>
                  <a:cubicBezTo>
                    <a:pt x="284817" y="1333466"/>
                    <a:pt x="135705" y="1387860"/>
                    <a:pt x="256674" y="1347537"/>
                  </a:cubicBezTo>
                  <a:cubicBezTo>
                    <a:pt x="278064" y="1315453"/>
                    <a:pt x="293577" y="1278552"/>
                    <a:pt x="320843" y="1251285"/>
                  </a:cubicBezTo>
                  <a:cubicBezTo>
                    <a:pt x="331538" y="1240590"/>
                    <a:pt x="343852" y="1231300"/>
                    <a:pt x="352927" y="1219200"/>
                  </a:cubicBezTo>
                  <a:cubicBezTo>
                    <a:pt x="376063" y="1188352"/>
                    <a:pt x="395706" y="1155032"/>
                    <a:pt x="417095" y="1122948"/>
                  </a:cubicBezTo>
                  <a:cubicBezTo>
                    <a:pt x="427790" y="1106906"/>
                    <a:pt x="443082" y="1093112"/>
                    <a:pt x="449179" y="1074821"/>
                  </a:cubicBezTo>
                  <a:cubicBezTo>
                    <a:pt x="478594" y="986581"/>
                    <a:pt x="447547" y="1065647"/>
                    <a:pt x="497306" y="978569"/>
                  </a:cubicBezTo>
                  <a:cubicBezTo>
                    <a:pt x="578718" y="836096"/>
                    <a:pt x="483307" y="983525"/>
                    <a:pt x="561474" y="866274"/>
                  </a:cubicBezTo>
                  <a:cubicBezTo>
                    <a:pt x="585717" y="769303"/>
                    <a:pt x="570547" y="823011"/>
                    <a:pt x="609600" y="705853"/>
                  </a:cubicBezTo>
                  <a:cubicBezTo>
                    <a:pt x="614947" y="689811"/>
                    <a:pt x="613686" y="669684"/>
                    <a:pt x="625643" y="657727"/>
                  </a:cubicBezTo>
                  <a:lnTo>
                    <a:pt x="657727" y="625642"/>
                  </a:lnTo>
                  <a:cubicBezTo>
                    <a:pt x="668567" y="560602"/>
                    <a:pt x="671863" y="525047"/>
                    <a:pt x="689811" y="465221"/>
                  </a:cubicBezTo>
                  <a:cubicBezTo>
                    <a:pt x="699529" y="432828"/>
                    <a:pt x="711200" y="401053"/>
                    <a:pt x="721895" y="368969"/>
                  </a:cubicBezTo>
                  <a:lnTo>
                    <a:pt x="737937" y="320842"/>
                  </a:lnTo>
                  <a:cubicBezTo>
                    <a:pt x="737939" y="320837"/>
                    <a:pt x="770019" y="224594"/>
                    <a:pt x="770022" y="224590"/>
                  </a:cubicBezTo>
                  <a:cubicBezTo>
                    <a:pt x="791411" y="192506"/>
                    <a:pt x="821996" y="164919"/>
                    <a:pt x="834190" y="128337"/>
                  </a:cubicBezTo>
                  <a:cubicBezTo>
                    <a:pt x="839537" y="112295"/>
                    <a:pt x="842670" y="95336"/>
                    <a:pt x="850232" y="80211"/>
                  </a:cubicBezTo>
                  <a:cubicBezTo>
                    <a:pt x="870468" y="39739"/>
                    <a:pt x="884559" y="29842"/>
                    <a:pt x="914400" y="0"/>
                  </a:cubicBezTo>
                  <a:cubicBezTo>
                    <a:pt x="951832" y="5347"/>
                    <a:pt x="996848" y="-7172"/>
                    <a:pt x="1026695" y="16042"/>
                  </a:cubicBezTo>
                  <a:cubicBezTo>
                    <a:pt x="1053391" y="36805"/>
                    <a:pt x="1048084" y="80211"/>
                    <a:pt x="1058779" y="112295"/>
                  </a:cubicBezTo>
                  <a:lnTo>
                    <a:pt x="1106906" y="256674"/>
                  </a:lnTo>
                  <a:cubicBezTo>
                    <a:pt x="1112253" y="272716"/>
                    <a:pt x="1110991" y="292843"/>
                    <a:pt x="1122948" y="304800"/>
                  </a:cubicBezTo>
                  <a:lnTo>
                    <a:pt x="1155032" y="336885"/>
                  </a:lnTo>
                  <a:lnTo>
                    <a:pt x="1203158" y="481264"/>
                  </a:lnTo>
                  <a:cubicBezTo>
                    <a:pt x="1208505" y="497306"/>
                    <a:pt x="1215099" y="512985"/>
                    <a:pt x="1219200" y="529390"/>
                  </a:cubicBezTo>
                  <a:cubicBezTo>
                    <a:pt x="1229895" y="572169"/>
                    <a:pt x="1237341" y="615894"/>
                    <a:pt x="1251285" y="657727"/>
                  </a:cubicBezTo>
                  <a:cubicBezTo>
                    <a:pt x="1256632" y="673769"/>
                    <a:pt x="1262682" y="689594"/>
                    <a:pt x="1267327" y="705853"/>
                  </a:cubicBezTo>
                  <a:cubicBezTo>
                    <a:pt x="1273384" y="727052"/>
                    <a:pt x="1277312" y="748822"/>
                    <a:pt x="1283369" y="770021"/>
                  </a:cubicBezTo>
                  <a:cubicBezTo>
                    <a:pt x="1288015" y="786280"/>
                    <a:pt x="1294765" y="801889"/>
                    <a:pt x="1299411" y="818148"/>
                  </a:cubicBezTo>
                  <a:cubicBezTo>
                    <a:pt x="1308135" y="848682"/>
                    <a:pt x="1332289" y="963321"/>
                    <a:pt x="1347537" y="978569"/>
                  </a:cubicBezTo>
                  <a:lnTo>
                    <a:pt x="1379622" y="1010653"/>
                  </a:lnTo>
                  <a:cubicBezTo>
                    <a:pt x="1390317" y="1042737"/>
                    <a:pt x="1392946" y="1078766"/>
                    <a:pt x="1411706" y="1106906"/>
                  </a:cubicBezTo>
                  <a:cubicBezTo>
                    <a:pt x="1422401" y="1122948"/>
                    <a:pt x="1435168" y="1137787"/>
                    <a:pt x="1443790" y="1155032"/>
                  </a:cubicBezTo>
                  <a:cubicBezTo>
                    <a:pt x="1451352" y="1170157"/>
                    <a:pt x="1449686" y="1189630"/>
                    <a:pt x="1459832" y="1203158"/>
                  </a:cubicBezTo>
                  <a:cubicBezTo>
                    <a:pt x="1482519" y="1233407"/>
                    <a:pt x="1519069" y="1251908"/>
                    <a:pt x="1540043" y="1283369"/>
                  </a:cubicBezTo>
                  <a:cubicBezTo>
                    <a:pt x="1569313" y="1327274"/>
                    <a:pt x="1569594" y="1341064"/>
                    <a:pt x="1620253" y="1363579"/>
                  </a:cubicBezTo>
                  <a:cubicBezTo>
                    <a:pt x="1620260" y="1363582"/>
                    <a:pt x="1740565" y="1403684"/>
                    <a:pt x="1764632" y="1411706"/>
                  </a:cubicBezTo>
                  <a:cubicBezTo>
                    <a:pt x="1819932" y="1430139"/>
                    <a:pt x="1800801" y="1415791"/>
                    <a:pt x="1828800" y="1443790"/>
                  </a:cubicBezTo>
                </a:path>
              </a:pathLst>
            </a:custGeom>
            <a:noFill/>
            <a:ln w="508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060CD50A-6481-7B45-ACBD-AA9F1714A205}"/>
              </a:ext>
            </a:extLst>
          </p:cNvPr>
          <p:cNvSpPr txBox="1"/>
          <p:nvPr/>
        </p:nvSpPr>
        <p:spPr>
          <a:xfrm>
            <a:off x="4072612" y="4789629"/>
            <a:ext cx="94949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solidFill>
                  <a:srgbClr val="0070C0"/>
                </a:solidFill>
              </a:rPr>
              <a:t>Standard </a:t>
            </a:r>
          </a:p>
          <a:p>
            <a:pPr algn="ctr"/>
            <a:r>
              <a:rPr lang="en-US" sz="1200" b="1" dirty="0">
                <a:solidFill>
                  <a:srgbClr val="0070C0"/>
                </a:solidFill>
              </a:rPr>
              <a:t>Deviation</a:t>
            </a:r>
          </a:p>
          <a:p>
            <a:pPr algn="ctr"/>
            <a:r>
              <a:rPr lang="en-US" sz="1200" b="1" dirty="0">
                <a:solidFill>
                  <a:srgbClr val="0070C0"/>
                </a:solidFill>
              </a:rPr>
              <a:t>(blue)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2738075-2F24-A543-967A-97BA8A260259}"/>
              </a:ext>
            </a:extLst>
          </p:cNvPr>
          <p:cNvSpPr txBox="1"/>
          <p:nvPr/>
        </p:nvSpPr>
        <p:spPr>
          <a:xfrm>
            <a:off x="5698202" y="5650859"/>
            <a:ext cx="127619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solidFill>
                  <a:schemeClr val="accent2"/>
                </a:solidFill>
              </a:rPr>
              <a:t>Standard Error of the Mean</a:t>
            </a:r>
          </a:p>
          <a:p>
            <a:pPr algn="ctr"/>
            <a:r>
              <a:rPr lang="en-US" sz="1200" b="1" dirty="0">
                <a:solidFill>
                  <a:schemeClr val="accent2"/>
                </a:solidFill>
              </a:rPr>
              <a:t>(orange)</a:t>
            </a:r>
          </a:p>
        </p:txBody>
      </p:sp>
      <p:sp>
        <p:nvSpPr>
          <p:cNvPr id="16" name="Down Arrow 15">
            <a:extLst>
              <a:ext uri="{FF2B5EF4-FFF2-40B4-BE49-F238E27FC236}">
                <a16:creationId xmlns:a16="http://schemas.microsoft.com/office/drawing/2014/main" id="{921B67D6-B1DA-D04B-801F-0945046F59CE}"/>
              </a:ext>
            </a:extLst>
          </p:cNvPr>
          <p:cNvSpPr/>
          <p:nvPr/>
        </p:nvSpPr>
        <p:spPr>
          <a:xfrm rot="9442603">
            <a:off x="6127921" y="5168133"/>
            <a:ext cx="141171" cy="467360"/>
          </a:xfrm>
          <a:prstGeom prst="downArrow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Down Arrow 24">
            <a:extLst>
              <a:ext uri="{FF2B5EF4-FFF2-40B4-BE49-F238E27FC236}">
                <a16:creationId xmlns:a16="http://schemas.microsoft.com/office/drawing/2014/main" id="{FB7EE3FC-D668-8A4B-89A3-C3E87EDE8295}"/>
              </a:ext>
            </a:extLst>
          </p:cNvPr>
          <p:cNvSpPr/>
          <p:nvPr/>
        </p:nvSpPr>
        <p:spPr>
          <a:xfrm rot="11812451">
            <a:off x="6374957" y="5159463"/>
            <a:ext cx="141171" cy="467360"/>
          </a:xfrm>
          <a:prstGeom prst="downArrow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CE44D64-A743-1048-970B-E7F5E970E491}"/>
              </a:ext>
            </a:extLst>
          </p:cNvPr>
          <p:cNvSpPr txBox="1"/>
          <p:nvPr/>
        </p:nvSpPr>
        <p:spPr>
          <a:xfrm>
            <a:off x="5663189" y="3055269"/>
            <a:ext cx="146218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F0000"/>
                </a:solidFill>
              </a:rPr>
              <a:t> A   B</a:t>
            </a:r>
          </a:p>
        </p:txBody>
      </p:sp>
    </p:spTree>
    <p:extLst>
      <p:ext uri="{BB962C8B-B14F-4D97-AF65-F5344CB8AC3E}">
        <p14:creationId xmlns:p14="http://schemas.microsoft.com/office/powerpoint/2010/main" val="2422019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3042</TotalTime>
  <Words>1118</Words>
  <Application>Microsoft Macintosh PowerPoint</Application>
  <PresentationFormat>Widescreen</PresentationFormat>
  <Paragraphs>124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Menlo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Lev Selector</cp:lastModifiedBy>
  <cp:revision>306</cp:revision>
  <cp:lastPrinted>2020-09-21T17:22:59Z</cp:lastPrinted>
  <dcterms:modified xsi:type="dcterms:W3CDTF">2021-05-16T03:23:31Z</dcterms:modified>
</cp:coreProperties>
</file>