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9" r:id="rId3"/>
    <p:sldId id="308" r:id="rId4"/>
    <p:sldId id="274" r:id="rId5"/>
    <p:sldId id="275" r:id="rId6"/>
    <p:sldId id="309" r:id="rId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678"/>
    <p:restoredTop sz="94729"/>
  </p:normalViewPr>
  <p:slideViewPr>
    <p:cSldViewPr snapToGrid="0" snapToObjects="1">
      <p:cViewPr varScale="1">
        <p:scale>
          <a:sx n="69" d="100"/>
          <a:sy n="69" d="100"/>
        </p:scale>
        <p:origin x="224" y="10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803b8d74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803b8d742_0_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g3803b8d742_0_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763182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489488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621374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tiff"/><Relationship Id="rId4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/>
        </p:nvSpPr>
        <p:spPr>
          <a:xfrm>
            <a:off x="137295" y="94461"/>
            <a:ext cx="6868986" cy="968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What is Deep Learning?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Do I need it?</a:t>
            </a:r>
            <a:endParaRPr lang="en-US" sz="2800" b="1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Google Shape;88;p13">
            <a:extLst>
              <a:ext uri="{FF2B5EF4-FFF2-40B4-BE49-F238E27FC236}">
                <a16:creationId xmlns:a16="http://schemas.microsoft.com/office/drawing/2014/main" id="{8FC13FCD-36B6-B54A-96BD-A3C09BB033D8}"/>
              </a:ext>
            </a:extLst>
          </p:cNvPr>
          <p:cNvSpPr txBox="1"/>
          <p:nvPr/>
        </p:nvSpPr>
        <p:spPr>
          <a:xfrm>
            <a:off x="421500" y="2694606"/>
            <a:ext cx="10866610" cy="2940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u="none" strike="noStrike" cap="none" dirty="0">
                <a:solidFill>
                  <a:srgbClr val="0070C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“Deep Learning</a:t>
            </a:r>
            <a:r>
              <a:rPr lang="en-US" sz="200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” are modern methods of creating </a:t>
            </a:r>
            <a:r>
              <a:rPr lang="en-US" sz="2000" u="none" strike="noStrike" cap="none" dirty="0">
                <a:solidFill>
                  <a:srgbClr val="0070C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Machine Learning </a:t>
            </a:r>
            <a:r>
              <a:rPr lang="en-US" sz="200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Systems.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They use </a:t>
            </a:r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“Artificial Neural Networks”</a:t>
            </a:r>
            <a:r>
              <a:rPr lang="en-US" sz="2000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.</a:t>
            </a:r>
            <a:endParaRPr lang="en-US" sz="200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Machine Learning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Systems  =  </a:t>
            </a:r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Prediction Machines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Computers make computations cheap.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lvl="0"/>
            <a:r>
              <a:rPr lang="en-US" sz="2000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Computers make predictions practical – fast and cheap.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4AA738-C2BE-1444-B718-954435BFB19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46735" y="531298"/>
            <a:ext cx="4123765" cy="15464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/>
        </p:nvSpPr>
        <p:spPr>
          <a:xfrm>
            <a:off x="0" y="796159"/>
            <a:ext cx="12192000" cy="1797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Recent breakthroughs in DL methods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made them practical </a:t>
            </a:r>
            <a:endParaRPr sz="3200" b="1" dirty="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(effective, affordable, and easy).</a:t>
            </a:r>
            <a:endParaRPr sz="3200" b="1" dirty="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6"/>
          <p:cNvSpPr txBox="1"/>
          <p:nvPr/>
        </p:nvSpPr>
        <p:spPr>
          <a:xfrm>
            <a:off x="489116" y="3069852"/>
            <a:ext cx="11213768" cy="2388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Instead of software engineers manually coding </a:t>
            </a:r>
            <a:r>
              <a:rPr lang="en-US" sz="2400" b="1" dirty="0">
                <a:solidFill>
                  <a:srgbClr val="0000FF"/>
                </a:solidFill>
                <a:latin typeface="+mn-lt"/>
                <a:ea typeface="Calibri"/>
                <a:cs typeface="Calibri"/>
                <a:sym typeface="Calibri"/>
              </a:rPr>
              <a:t>if/else</a:t>
            </a:r>
            <a:r>
              <a:rPr lang="en-US" sz="2400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 logic,</a:t>
            </a:r>
            <a:endParaRPr sz="2400" dirty="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DL algorithms can train networks equivalent to millions or billions of </a:t>
            </a:r>
            <a:r>
              <a:rPr lang="en-US" sz="2400" b="1" dirty="0">
                <a:solidFill>
                  <a:srgbClr val="0000FF"/>
                </a:solidFill>
                <a:latin typeface="+mn-lt"/>
                <a:ea typeface="Calibri"/>
                <a:cs typeface="Calibri"/>
                <a:sym typeface="Calibri"/>
              </a:rPr>
              <a:t>if/else</a:t>
            </a:r>
            <a:r>
              <a:rPr lang="en-US" sz="2400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-s.</a:t>
            </a:r>
            <a:endParaRPr sz="2400" dirty="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(Record of year 2020 – 175 </a:t>
            </a:r>
            <a:r>
              <a:rPr lang="en-US" sz="2400" dirty="0" err="1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Bln</a:t>
            </a:r>
            <a:r>
              <a:rPr lang="en-US" sz="2400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 nodes).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Nowadays you can choose from a variety of pre-trained / pre-configured networks on the cloud.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78;p47">
            <a:extLst>
              <a:ext uri="{FF2B5EF4-FFF2-40B4-BE49-F238E27FC236}">
                <a16:creationId xmlns:a16="http://schemas.microsoft.com/office/drawing/2014/main" id="{94FF26DF-6B22-0748-82E7-9CB5779A2FF8}"/>
              </a:ext>
            </a:extLst>
          </p:cNvPr>
          <p:cNvSpPr txBox="1"/>
          <p:nvPr/>
        </p:nvSpPr>
        <p:spPr>
          <a:xfrm>
            <a:off x="232374" y="249360"/>
            <a:ext cx="10484931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Deep Learning – models implemented as Neural Networks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E93EE8-CC73-974C-A58C-B30D7B6B28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353" y="820978"/>
            <a:ext cx="10160000" cy="31623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040990-402D-E945-B8F0-5049D40F31F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16905" y="5024962"/>
            <a:ext cx="4676588" cy="181350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C13146D-8BD5-B747-BD8C-2AAB4B45B9F9}"/>
              </a:ext>
            </a:extLst>
          </p:cNvPr>
          <p:cNvSpPr txBox="1"/>
          <p:nvPr/>
        </p:nvSpPr>
        <p:spPr>
          <a:xfrm>
            <a:off x="232374" y="5024962"/>
            <a:ext cx="650837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As neuron input grows, neuron activates (starts firing).</a:t>
            </a:r>
          </a:p>
          <a:p>
            <a:r>
              <a:rPr lang="en-US" sz="2000" dirty="0"/>
              <a:t>In NN it is modeled by "</a:t>
            </a:r>
            <a:r>
              <a:rPr lang="en-US" sz="2000" b="1" dirty="0">
                <a:solidFill>
                  <a:srgbClr val="FF0000"/>
                </a:solidFill>
              </a:rPr>
              <a:t>Activation Function</a:t>
            </a:r>
            <a:r>
              <a:rPr lang="en-US" sz="2000" dirty="0"/>
              <a:t>".</a:t>
            </a:r>
          </a:p>
          <a:p>
            <a:r>
              <a:rPr lang="en-US" sz="2000" dirty="0"/>
              <a:t>Most commonly used function is "Rectifier".</a:t>
            </a:r>
          </a:p>
          <a:p>
            <a:r>
              <a:rPr lang="en-US" sz="2000" b="1" dirty="0" err="1">
                <a:solidFill>
                  <a:srgbClr val="FF0000"/>
                </a:solidFill>
              </a:rPr>
              <a:t>ReLU</a:t>
            </a:r>
            <a:r>
              <a:rPr lang="en-US" sz="2000" dirty="0"/>
              <a:t> = Rectified Linear Unit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51C1E4-22FF-EF4C-B80A-95149DF46493}"/>
              </a:ext>
            </a:extLst>
          </p:cNvPr>
          <p:cNvSpPr txBox="1"/>
          <p:nvPr/>
        </p:nvSpPr>
        <p:spPr>
          <a:xfrm>
            <a:off x="7971117" y="4427030"/>
            <a:ext cx="4222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Rectifier                        Leaky Rectifier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369493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1"/>
          <p:cNvSpPr txBox="1"/>
          <p:nvPr/>
        </p:nvSpPr>
        <p:spPr>
          <a:xfrm>
            <a:off x="144384" y="63284"/>
            <a:ext cx="11798799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Neural Networks Leverage “Multiplicative” Complexity</a:t>
            </a:r>
            <a:endParaRPr sz="2800" dirty="0">
              <a:latin typeface="+mn-lt"/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256666" y="1484448"/>
            <a:ext cx="641684" cy="641684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1"/>
          <p:cNvSpPr/>
          <p:nvPr/>
        </p:nvSpPr>
        <p:spPr>
          <a:xfrm>
            <a:off x="256666" y="2126132"/>
            <a:ext cx="641684" cy="641684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1"/>
          <p:cNvSpPr/>
          <p:nvPr/>
        </p:nvSpPr>
        <p:spPr>
          <a:xfrm>
            <a:off x="264687" y="2775837"/>
            <a:ext cx="641684" cy="641684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1"/>
          <p:cNvSpPr/>
          <p:nvPr/>
        </p:nvSpPr>
        <p:spPr>
          <a:xfrm>
            <a:off x="264687" y="3417521"/>
            <a:ext cx="641684" cy="641684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1"/>
          <p:cNvSpPr/>
          <p:nvPr/>
        </p:nvSpPr>
        <p:spPr>
          <a:xfrm>
            <a:off x="248646" y="4059206"/>
            <a:ext cx="641684" cy="641684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248646" y="4700890"/>
            <a:ext cx="641684" cy="641684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256667" y="5350595"/>
            <a:ext cx="641684" cy="641684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256667" y="5992279"/>
            <a:ext cx="641684" cy="641684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922412" y="2150192"/>
            <a:ext cx="641684" cy="641684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922412" y="2791876"/>
            <a:ext cx="641684" cy="641684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914391" y="3441581"/>
            <a:ext cx="641684" cy="641684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914391" y="4083265"/>
            <a:ext cx="641684" cy="641684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914392" y="4724950"/>
            <a:ext cx="641684" cy="641684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914392" y="5366634"/>
            <a:ext cx="641684" cy="641684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922413" y="6016339"/>
            <a:ext cx="641684" cy="641684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914388" y="1500494"/>
            <a:ext cx="641684" cy="641684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1548058" y="1492470"/>
            <a:ext cx="641684" cy="641684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1548058" y="2134154"/>
            <a:ext cx="641684" cy="641684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1556079" y="2783859"/>
            <a:ext cx="641684" cy="641684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1556079" y="3425543"/>
            <a:ext cx="641684" cy="641684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1556080" y="4067228"/>
            <a:ext cx="641684" cy="641684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1556080" y="4708912"/>
            <a:ext cx="641684" cy="641684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1548059" y="5358617"/>
            <a:ext cx="641684" cy="641684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1548059" y="6000301"/>
            <a:ext cx="641684" cy="641684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2213804" y="2158214"/>
            <a:ext cx="641684" cy="641684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2213804" y="2799898"/>
            <a:ext cx="641684" cy="641684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2205783" y="3449603"/>
            <a:ext cx="641684" cy="641684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2205783" y="4091287"/>
            <a:ext cx="641684" cy="641684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2205784" y="4732972"/>
            <a:ext cx="641684" cy="641684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2205784" y="5374656"/>
            <a:ext cx="641684" cy="641684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1"/>
          <p:cNvSpPr/>
          <p:nvPr/>
        </p:nvSpPr>
        <p:spPr>
          <a:xfrm>
            <a:off x="2213805" y="6024361"/>
            <a:ext cx="641684" cy="641684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1"/>
          <p:cNvSpPr/>
          <p:nvPr/>
        </p:nvSpPr>
        <p:spPr>
          <a:xfrm>
            <a:off x="2205780" y="1492474"/>
            <a:ext cx="641684" cy="641684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1"/>
          <p:cNvSpPr/>
          <p:nvPr/>
        </p:nvSpPr>
        <p:spPr>
          <a:xfrm>
            <a:off x="2847470" y="1476428"/>
            <a:ext cx="641684" cy="641684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2847470" y="2118112"/>
            <a:ext cx="641684" cy="641684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1"/>
          <p:cNvSpPr/>
          <p:nvPr/>
        </p:nvSpPr>
        <p:spPr>
          <a:xfrm>
            <a:off x="2855491" y="2767817"/>
            <a:ext cx="641684" cy="641684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1"/>
          <p:cNvSpPr/>
          <p:nvPr/>
        </p:nvSpPr>
        <p:spPr>
          <a:xfrm>
            <a:off x="2855491" y="3409501"/>
            <a:ext cx="641684" cy="641684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1"/>
          <p:cNvSpPr/>
          <p:nvPr/>
        </p:nvSpPr>
        <p:spPr>
          <a:xfrm>
            <a:off x="2839450" y="4051186"/>
            <a:ext cx="641684" cy="641684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2839450" y="4692870"/>
            <a:ext cx="641684" cy="641684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2847471" y="5342575"/>
            <a:ext cx="641684" cy="641684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1"/>
          <p:cNvSpPr/>
          <p:nvPr/>
        </p:nvSpPr>
        <p:spPr>
          <a:xfrm>
            <a:off x="2847471" y="5984259"/>
            <a:ext cx="641684" cy="641684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1"/>
          <p:cNvSpPr/>
          <p:nvPr/>
        </p:nvSpPr>
        <p:spPr>
          <a:xfrm>
            <a:off x="3513216" y="2142172"/>
            <a:ext cx="641684" cy="641684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3513216" y="2783856"/>
            <a:ext cx="641684" cy="641684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3505195" y="3433561"/>
            <a:ext cx="641684" cy="641684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3505195" y="4075245"/>
            <a:ext cx="641684" cy="641684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3505196" y="4716930"/>
            <a:ext cx="641684" cy="641684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1"/>
          <p:cNvSpPr/>
          <p:nvPr/>
        </p:nvSpPr>
        <p:spPr>
          <a:xfrm>
            <a:off x="3505196" y="5358614"/>
            <a:ext cx="641684" cy="641684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1"/>
          <p:cNvSpPr/>
          <p:nvPr/>
        </p:nvSpPr>
        <p:spPr>
          <a:xfrm>
            <a:off x="3513217" y="6008319"/>
            <a:ext cx="641684" cy="641684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1"/>
          <p:cNvSpPr/>
          <p:nvPr/>
        </p:nvSpPr>
        <p:spPr>
          <a:xfrm>
            <a:off x="3505192" y="1492474"/>
            <a:ext cx="641684" cy="641684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1"/>
          <p:cNvSpPr/>
          <p:nvPr/>
        </p:nvSpPr>
        <p:spPr>
          <a:xfrm>
            <a:off x="4138862" y="1484450"/>
            <a:ext cx="641684" cy="641684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1"/>
          <p:cNvSpPr/>
          <p:nvPr/>
        </p:nvSpPr>
        <p:spPr>
          <a:xfrm>
            <a:off x="4138862" y="2126134"/>
            <a:ext cx="641684" cy="641684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1"/>
          <p:cNvSpPr/>
          <p:nvPr/>
        </p:nvSpPr>
        <p:spPr>
          <a:xfrm>
            <a:off x="4146883" y="2775839"/>
            <a:ext cx="641684" cy="641684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1"/>
          <p:cNvSpPr/>
          <p:nvPr/>
        </p:nvSpPr>
        <p:spPr>
          <a:xfrm>
            <a:off x="4146883" y="3417523"/>
            <a:ext cx="641684" cy="641684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1"/>
          <p:cNvSpPr/>
          <p:nvPr/>
        </p:nvSpPr>
        <p:spPr>
          <a:xfrm>
            <a:off x="4146884" y="4059208"/>
            <a:ext cx="641684" cy="641684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1"/>
          <p:cNvSpPr/>
          <p:nvPr/>
        </p:nvSpPr>
        <p:spPr>
          <a:xfrm>
            <a:off x="4146884" y="4700892"/>
            <a:ext cx="641684" cy="641684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1"/>
          <p:cNvSpPr/>
          <p:nvPr/>
        </p:nvSpPr>
        <p:spPr>
          <a:xfrm>
            <a:off x="4138863" y="5350597"/>
            <a:ext cx="641684" cy="641684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1"/>
          <p:cNvSpPr/>
          <p:nvPr/>
        </p:nvSpPr>
        <p:spPr>
          <a:xfrm>
            <a:off x="4138863" y="5992281"/>
            <a:ext cx="641684" cy="641684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1"/>
          <p:cNvSpPr/>
          <p:nvPr/>
        </p:nvSpPr>
        <p:spPr>
          <a:xfrm>
            <a:off x="4804608" y="2150194"/>
            <a:ext cx="641684" cy="641684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1"/>
          <p:cNvSpPr/>
          <p:nvPr/>
        </p:nvSpPr>
        <p:spPr>
          <a:xfrm>
            <a:off x="4804608" y="2791878"/>
            <a:ext cx="641684" cy="641684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1"/>
          <p:cNvSpPr/>
          <p:nvPr/>
        </p:nvSpPr>
        <p:spPr>
          <a:xfrm>
            <a:off x="4796587" y="3441583"/>
            <a:ext cx="641684" cy="641684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1"/>
          <p:cNvSpPr/>
          <p:nvPr/>
        </p:nvSpPr>
        <p:spPr>
          <a:xfrm>
            <a:off x="4796587" y="4083267"/>
            <a:ext cx="641684" cy="641684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1"/>
          <p:cNvSpPr/>
          <p:nvPr/>
        </p:nvSpPr>
        <p:spPr>
          <a:xfrm>
            <a:off x="4796588" y="4724952"/>
            <a:ext cx="641684" cy="641684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1"/>
          <p:cNvSpPr/>
          <p:nvPr/>
        </p:nvSpPr>
        <p:spPr>
          <a:xfrm>
            <a:off x="4796588" y="5366636"/>
            <a:ext cx="641684" cy="641684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1"/>
          <p:cNvSpPr/>
          <p:nvPr/>
        </p:nvSpPr>
        <p:spPr>
          <a:xfrm>
            <a:off x="4804609" y="6016341"/>
            <a:ext cx="641684" cy="641684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1"/>
          <p:cNvSpPr/>
          <p:nvPr/>
        </p:nvSpPr>
        <p:spPr>
          <a:xfrm>
            <a:off x="4796584" y="1484454"/>
            <a:ext cx="641684" cy="641684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1"/>
          <p:cNvSpPr txBox="1"/>
          <p:nvPr/>
        </p:nvSpPr>
        <p:spPr>
          <a:xfrm>
            <a:off x="368958" y="1468406"/>
            <a:ext cx="481263" cy="705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4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1"/>
          <p:cNvSpPr txBox="1"/>
          <p:nvPr/>
        </p:nvSpPr>
        <p:spPr>
          <a:xfrm>
            <a:off x="1002622" y="1476423"/>
            <a:ext cx="481263" cy="705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dirty="0"/>
          </a:p>
        </p:txBody>
      </p:sp>
      <p:sp>
        <p:nvSpPr>
          <p:cNvPr id="255" name="Google Shape;255;p21"/>
          <p:cNvSpPr txBox="1"/>
          <p:nvPr/>
        </p:nvSpPr>
        <p:spPr>
          <a:xfrm>
            <a:off x="1668368" y="1468405"/>
            <a:ext cx="481263" cy="705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4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1"/>
          <p:cNvSpPr txBox="1"/>
          <p:nvPr/>
        </p:nvSpPr>
        <p:spPr>
          <a:xfrm>
            <a:off x="2334114" y="1460384"/>
            <a:ext cx="481263" cy="705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57" name="Google Shape;257;p21"/>
          <p:cNvSpPr txBox="1"/>
          <p:nvPr/>
        </p:nvSpPr>
        <p:spPr>
          <a:xfrm>
            <a:off x="2967778" y="1468405"/>
            <a:ext cx="481263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sz="4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1"/>
          <p:cNvSpPr txBox="1"/>
          <p:nvPr/>
        </p:nvSpPr>
        <p:spPr>
          <a:xfrm>
            <a:off x="6368708" y="5952169"/>
            <a:ext cx="3111194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4000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64</a:t>
            </a:r>
            <a:r>
              <a:rPr lang="en-US" sz="4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~ 10</a:t>
            </a:r>
            <a:r>
              <a:rPr lang="en-US" sz="4000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r>
              <a:rPr lang="en-US" sz="4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4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9" name="Google Shape;259;p21"/>
          <p:cNvCxnSpPr>
            <a:cxnSpLocks/>
            <a:stCxn id="258" idx="1"/>
          </p:cNvCxnSpPr>
          <p:nvPr/>
        </p:nvCxnSpPr>
        <p:spPr>
          <a:xfrm flipH="1">
            <a:off x="5125508" y="6306112"/>
            <a:ext cx="1243200" cy="39000"/>
          </a:xfrm>
          <a:prstGeom prst="straightConnector1">
            <a:avLst/>
          </a:prstGeom>
          <a:noFill/>
          <a:ln w="22225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60" name="Google Shape;260;p21"/>
          <p:cNvSpPr txBox="1"/>
          <p:nvPr/>
        </p:nvSpPr>
        <p:spPr>
          <a:xfrm>
            <a:off x="6096000" y="1969720"/>
            <a:ext cx="3898224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4000" baseline="-25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-US" sz="4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2*N</a:t>
            </a:r>
            <a:r>
              <a:rPr lang="en-US" sz="4000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k-1</a:t>
            </a:r>
            <a:endParaRPr sz="4000" baseline="-25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188;p21">
            <a:extLst>
              <a:ext uri="{FF2B5EF4-FFF2-40B4-BE49-F238E27FC236}">
                <a16:creationId xmlns:a16="http://schemas.microsoft.com/office/drawing/2014/main" id="{8F615013-D45A-2C49-97E2-79674FC5CC99}"/>
              </a:ext>
            </a:extLst>
          </p:cNvPr>
          <p:cNvSpPr txBox="1"/>
          <p:nvPr/>
        </p:nvSpPr>
        <p:spPr>
          <a:xfrm>
            <a:off x="138283" y="704968"/>
            <a:ext cx="687833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Chess board example:</a:t>
            </a:r>
            <a:endParaRPr sz="2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36241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2"/>
          <p:cNvSpPr txBox="1"/>
          <p:nvPr/>
        </p:nvSpPr>
        <p:spPr>
          <a:xfrm>
            <a:off x="128337" y="129790"/>
            <a:ext cx="115824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Deep Learning – using layers to achieve “multiplicative” complexity</a:t>
            </a:r>
            <a:endParaRPr sz="3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2"/>
          <p:cNvSpPr/>
          <p:nvPr/>
        </p:nvSpPr>
        <p:spPr>
          <a:xfrm>
            <a:off x="385014" y="2315874"/>
            <a:ext cx="545431" cy="545431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2"/>
          <p:cNvSpPr/>
          <p:nvPr/>
        </p:nvSpPr>
        <p:spPr>
          <a:xfrm>
            <a:off x="1949116" y="794089"/>
            <a:ext cx="545431" cy="545431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2"/>
          <p:cNvSpPr/>
          <p:nvPr/>
        </p:nvSpPr>
        <p:spPr>
          <a:xfrm>
            <a:off x="1949116" y="1770443"/>
            <a:ext cx="545431" cy="545431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2"/>
          <p:cNvSpPr/>
          <p:nvPr/>
        </p:nvSpPr>
        <p:spPr>
          <a:xfrm>
            <a:off x="1949116" y="2784688"/>
            <a:ext cx="545431" cy="545431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2"/>
          <p:cNvSpPr/>
          <p:nvPr/>
        </p:nvSpPr>
        <p:spPr>
          <a:xfrm>
            <a:off x="1949116" y="3761042"/>
            <a:ext cx="545431" cy="545431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2"/>
          <p:cNvSpPr/>
          <p:nvPr/>
        </p:nvSpPr>
        <p:spPr>
          <a:xfrm>
            <a:off x="8161404" y="2271958"/>
            <a:ext cx="545431" cy="545431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2" name="Google Shape;272;p22"/>
          <p:cNvCxnSpPr>
            <a:stCxn id="266" idx="6"/>
            <a:endCxn id="267" idx="2"/>
          </p:cNvCxnSpPr>
          <p:nvPr/>
        </p:nvCxnSpPr>
        <p:spPr>
          <a:xfrm rot="10800000" flipH="1">
            <a:off x="930445" y="1066690"/>
            <a:ext cx="1018800" cy="1521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73" name="Google Shape;273;p22"/>
          <p:cNvCxnSpPr>
            <a:stCxn id="266" idx="6"/>
            <a:endCxn id="268" idx="2"/>
          </p:cNvCxnSpPr>
          <p:nvPr/>
        </p:nvCxnSpPr>
        <p:spPr>
          <a:xfrm rot="10800000" flipH="1">
            <a:off x="930445" y="2043190"/>
            <a:ext cx="1018800" cy="545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74" name="Google Shape;274;p22"/>
          <p:cNvCxnSpPr>
            <a:stCxn id="266" idx="6"/>
            <a:endCxn id="269" idx="2"/>
          </p:cNvCxnSpPr>
          <p:nvPr/>
        </p:nvCxnSpPr>
        <p:spPr>
          <a:xfrm>
            <a:off x="930445" y="2588590"/>
            <a:ext cx="1018800" cy="468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75" name="Google Shape;275;p22"/>
          <p:cNvCxnSpPr>
            <a:stCxn id="266" idx="6"/>
            <a:endCxn id="270" idx="2"/>
          </p:cNvCxnSpPr>
          <p:nvPr/>
        </p:nvCxnSpPr>
        <p:spPr>
          <a:xfrm>
            <a:off x="930445" y="2588590"/>
            <a:ext cx="1018800" cy="1445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76" name="Google Shape;276;p22"/>
          <p:cNvCxnSpPr>
            <a:stCxn id="277" idx="6"/>
            <a:endCxn id="271" idx="2"/>
          </p:cNvCxnSpPr>
          <p:nvPr/>
        </p:nvCxnSpPr>
        <p:spPr>
          <a:xfrm rot="10800000" flipH="1">
            <a:off x="7251015" y="2544558"/>
            <a:ext cx="910500" cy="1489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78" name="Google Shape;278;p22"/>
          <p:cNvCxnSpPr>
            <a:stCxn id="279" idx="6"/>
            <a:endCxn id="271" idx="2"/>
          </p:cNvCxnSpPr>
          <p:nvPr/>
        </p:nvCxnSpPr>
        <p:spPr>
          <a:xfrm rot="10800000" flipH="1">
            <a:off x="7251015" y="2544704"/>
            <a:ext cx="910500" cy="512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80" name="Google Shape;280;p22"/>
          <p:cNvCxnSpPr>
            <a:stCxn id="281" idx="6"/>
            <a:endCxn id="271" idx="2"/>
          </p:cNvCxnSpPr>
          <p:nvPr/>
        </p:nvCxnSpPr>
        <p:spPr>
          <a:xfrm>
            <a:off x="7251015" y="2043158"/>
            <a:ext cx="910500" cy="501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82" name="Google Shape;282;p22"/>
          <p:cNvCxnSpPr>
            <a:stCxn id="283" idx="6"/>
            <a:endCxn id="271" idx="2"/>
          </p:cNvCxnSpPr>
          <p:nvPr/>
        </p:nvCxnSpPr>
        <p:spPr>
          <a:xfrm>
            <a:off x="7251015" y="1066805"/>
            <a:ext cx="910500" cy="1477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84" name="Google Shape;284;p22"/>
          <p:cNvSpPr txBox="1"/>
          <p:nvPr/>
        </p:nvSpPr>
        <p:spPr>
          <a:xfrm>
            <a:off x="288758" y="1620257"/>
            <a:ext cx="38501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2"/>
          <p:cNvSpPr txBox="1"/>
          <p:nvPr/>
        </p:nvSpPr>
        <p:spPr>
          <a:xfrm>
            <a:off x="8321824" y="1513769"/>
            <a:ext cx="1491921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 = f(x)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2"/>
          <p:cNvSpPr txBox="1"/>
          <p:nvPr/>
        </p:nvSpPr>
        <p:spPr>
          <a:xfrm>
            <a:off x="256678" y="4379502"/>
            <a:ext cx="11806986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sequential layers are fully interconnected, then number of connections ~N*N*(L-1), </a:t>
            </a:r>
            <a:b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complexity ~ </a:t>
            </a: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3200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L-1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(N = size, L = number of layers). </a:t>
            </a:r>
            <a:b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 if N=L=20, then </a:t>
            </a:r>
            <a:r>
              <a:rPr lang="en-US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Ncon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=~ 8,000, </a:t>
            </a:r>
            <a:r>
              <a:rPr lang="en-US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Ncompl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=~20</a:t>
            </a:r>
            <a:r>
              <a:rPr lang="en-US" sz="2400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=~ 5*10</a:t>
            </a:r>
            <a:r>
              <a:rPr lang="en-US" sz="2400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Logic is stored in weights of connections (W-coefficients), and biases (b-shifts).</a:t>
            </a:r>
            <a:b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we need non-linearity in nodes, otherwise the network is equivalent to a simple linear function.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2"/>
          <p:cNvSpPr/>
          <p:nvPr/>
        </p:nvSpPr>
        <p:spPr>
          <a:xfrm>
            <a:off x="3132221" y="794089"/>
            <a:ext cx="545431" cy="545431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2"/>
          <p:cNvSpPr/>
          <p:nvPr/>
        </p:nvSpPr>
        <p:spPr>
          <a:xfrm>
            <a:off x="3132221" y="1770443"/>
            <a:ext cx="545431" cy="545431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2"/>
          <p:cNvSpPr/>
          <p:nvPr/>
        </p:nvSpPr>
        <p:spPr>
          <a:xfrm>
            <a:off x="3132221" y="2784688"/>
            <a:ext cx="545431" cy="545431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2"/>
          <p:cNvSpPr/>
          <p:nvPr/>
        </p:nvSpPr>
        <p:spPr>
          <a:xfrm>
            <a:off x="3132221" y="3761042"/>
            <a:ext cx="545431" cy="545431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2"/>
          <p:cNvSpPr/>
          <p:nvPr/>
        </p:nvSpPr>
        <p:spPr>
          <a:xfrm>
            <a:off x="4323342" y="786069"/>
            <a:ext cx="545431" cy="545431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2"/>
          <p:cNvSpPr/>
          <p:nvPr/>
        </p:nvSpPr>
        <p:spPr>
          <a:xfrm>
            <a:off x="4323342" y="1762423"/>
            <a:ext cx="545431" cy="545431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2"/>
          <p:cNvSpPr/>
          <p:nvPr/>
        </p:nvSpPr>
        <p:spPr>
          <a:xfrm>
            <a:off x="4323342" y="2776668"/>
            <a:ext cx="545431" cy="545431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2"/>
          <p:cNvSpPr/>
          <p:nvPr/>
        </p:nvSpPr>
        <p:spPr>
          <a:xfrm>
            <a:off x="4323342" y="3753022"/>
            <a:ext cx="545431" cy="545431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2"/>
          <p:cNvSpPr/>
          <p:nvPr/>
        </p:nvSpPr>
        <p:spPr>
          <a:xfrm>
            <a:off x="5514463" y="802109"/>
            <a:ext cx="545431" cy="545431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2"/>
          <p:cNvSpPr/>
          <p:nvPr/>
        </p:nvSpPr>
        <p:spPr>
          <a:xfrm>
            <a:off x="5514463" y="1778463"/>
            <a:ext cx="545431" cy="545431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2"/>
          <p:cNvSpPr/>
          <p:nvPr/>
        </p:nvSpPr>
        <p:spPr>
          <a:xfrm>
            <a:off x="5514463" y="2792708"/>
            <a:ext cx="545431" cy="545431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2"/>
          <p:cNvSpPr/>
          <p:nvPr/>
        </p:nvSpPr>
        <p:spPr>
          <a:xfrm>
            <a:off x="5514463" y="3769062"/>
            <a:ext cx="545431" cy="545431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2"/>
          <p:cNvSpPr/>
          <p:nvPr/>
        </p:nvSpPr>
        <p:spPr>
          <a:xfrm>
            <a:off x="6705584" y="794089"/>
            <a:ext cx="545431" cy="545431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2"/>
          <p:cNvSpPr/>
          <p:nvPr/>
        </p:nvSpPr>
        <p:spPr>
          <a:xfrm>
            <a:off x="6705584" y="1770443"/>
            <a:ext cx="545431" cy="545431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2"/>
          <p:cNvSpPr/>
          <p:nvPr/>
        </p:nvSpPr>
        <p:spPr>
          <a:xfrm>
            <a:off x="6705584" y="2784688"/>
            <a:ext cx="545431" cy="545431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2"/>
          <p:cNvSpPr/>
          <p:nvPr/>
        </p:nvSpPr>
        <p:spPr>
          <a:xfrm>
            <a:off x="6705584" y="3761042"/>
            <a:ext cx="545431" cy="545431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9" name="Google Shape;299;p22"/>
          <p:cNvCxnSpPr>
            <a:stCxn id="267" idx="6"/>
            <a:endCxn id="288" idx="2"/>
          </p:cNvCxnSpPr>
          <p:nvPr/>
        </p:nvCxnSpPr>
        <p:spPr>
          <a:xfrm>
            <a:off x="2494547" y="1066805"/>
            <a:ext cx="637800" cy="976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00" name="Google Shape;300;p22"/>
          <p:cNvCxnSpPr>
            <a:stCxn id="267" idx="6"/>
            <a:endCxn id="287" idx="2"/>
          </p:cNvCxnSpPr>
          <p:nvPr/>
        </p:nvCxnSpPr>
        <p:spPr>
          <a:xfrm>
            <a:off x="2494547" y="1066805"/>
            <a:ext cx="6378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01" name="Google Shape;301;p22"/>
          <p:cNvCxnSpPr>
            <a:stCxn id="267" idx="6"/>
            <a:endCxn id="289" idx="2"/>
          </p:cNvCxnSpPr>
          <p:nvPr/>
        </p:nvCxnSpPr>
        <p:spPr>
          <a:xfrm>
            <a:off x="2494547" y="1066805"/>
            <a:ext cx="637800" cy="1990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02" name="Google Shape;302;p22"/>
          <p:cNvCxnSpPr>
            <a:stCxn id="267" idx="6"/>
            <a:endCxn id="290" idx="2"/>
          </p:cNvCxnSpPr>
          <p:nvPr/>
        </p:nvCxnSpPr>
        <p:spPr>
          <a:xfrm>
            <a:off x="2494547" y="1066805"/>
            <a:ext cx="637800" cy="29670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03" name="Google Shape;303;p22"/>
          <p:cNvCxnSpPr>
            <a:stCxn id="268" idx="6"/>
            <a:endCxn id="288" idx="2"/>
          </p:cNvCxnSpPr>
          <p:nvPr/>
        </p:nvCxnSpPr>
        <p:spPr>
          <a:xfrm>
            <a:off x="2494547" y="2043158"/>
            <a:ext cx="6378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04" name="Google Shape;304;p22"/>
          <p:cNvCxnSpPr>
            <a:stCxn id="269" idx="6"/>
            <a:endCxn id="289" idx="2"/>
          </p:cNvCxnSpPr>
          <p:nvPr/>
        </p:nvCxnSpPr>
        <p:spPr>
          <a:xfrm>
            <a:off x="2494547" y="3057404"/>
            <a:ext cx="6378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05" name="Google Shape;305;p22"/>
          <p:cNvCxnSpPr>
            <a:stCxn id="270" idx="6"/>
            <a:endCxn id="290" idx="2"/>
          </p:cNvCxnSpPr>
          <p:nvPr/>
        </p:nvCxnSpPr>
        <p:spPr>
          <a:xfrm>
            <a:off x="2494547" y="4033758"/>
            <a:ext cx="6378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06" name="Google Shape;306;p22"/>
          <p:cNvCxnSpPr>
            <a:stCxn id="270" idx="6"/>
            <a:endCxn id="289" idx="2"/>
          </p:cNvCxnSpPr>
          <p:nvPr/>
        </p:nvCxnSpPr>
        <p:spPr>
          <a:xfrm rot="10800000" flipH="1">
            <a:off x="2494547" y="3057258"/>
            <a:ext cx="637800" cy="976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07" name="Google Shape;307;p22"/>
          <p:cNvCxnSpPr>
            <a:stCxn id="270" idx="6"/>
            <a:endCxn id="288" idx="2"/>
          </p:cNvCxnSpPr>
          <p:nvPr/>
        </p:nvCxnSpPr>
        <p:spPr>
          <a:xfrm rot="10800000" flipH="1">
            <a:off x="2494547" y="2043258"/>
            <a:ext cx="637800" cy="1990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08" name="Google Shape;308;p22"/>
          <p:cNvCxnSpPr>
            <a:stCxn id="270" idx="6"/>
            <a:endCxn id="287" idx="2"/>
          </p:cNvCxnSpPr>
          <p:nvPr/>
        </p:nvCxnSpPr>
        <p:spPr>
          <a:xfrm rot="10800000" flipH="1">
            <a:off x="2494547" y="1066758"/>
            <a:ext cx="637800" cy="29670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09" name="Google Shape;309;p22"/>
          <p:cNvCxnSpPr>
            <a:stCxn id="269" idx="6"/>
            <a:endCxn id="290" idx="2"/>
          </p:cNvCxnSpPr>
          <p:nvPr/>
        </p:nvCxnSpPr>
        <p:spPr>
          <a:xfrm>
            <a:off x="2494547" y="3057404"/>
            <a:ext cx="637800" cy="976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10" name="Google Shape;310;p22"/>
          <p:cNvCxnSpPr>
            <a:stCxn id="269" idx="6"/>
            <a:endCxn id="288" idx="2"/>
          </p:cNvCxnSpPr>
          <p:nvPr/>
        </p:nvCxnSpPr>
        <p:spPr>
          <a:xfrm rot="10800000" flipH="1">
            <a:off x="2494547" y="2043104"/>
            <a:ext cx="637800" cy="1014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11" name="Google Shape;311;p22"/>
          <p:cNvCxnSpPr>
            <a:stCxn id="269" idx="6"/>
            <a:endCxn id="287" idx="2"/>
          </p:cNvCxnSpPr>
          <p:nvPr/>
        </p:nvCxnSpPr>
        <p:spPr>
          <a:xfrm rot="10800000" flipH="1">
            <a:off x="2494547" y="1066904"/>
            <a:ext cx="637800" cy="1990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12" name="Google Shape;312;p22"/>
          <p:cNvCxnSpPr>
            <a:stCxn id="268" idx="6"/>
            <a:endCxn id="287" idx="2"/>
          </p:cNvCxnSpPr>
          <p:nvPr/>
        </p:nvCxnSpPr>
        <p:spPr>
          <a:xfrm rot="10800000" flipH="1">
            <a:off x="2494547" y="1066658"/>
            <a:ext cx="637800" cy="976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13" name="Google Shape;313;p22"/>
          <p:cNvCxnSpPr>
            <a:stCxn id="268" idx="6"/>
            <a:endCxn id="289" idx="2"/>
          </p:cNvCxnSpPr>
          <p:nvPr/>
        </p:nvCxnSpPr>
        <p:spPr>
          <a:xfrm>
            <a:off x="2494547" y="2043158"/>
            <a:ext cx="637800" cy="1014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14" name="Google Shape;314;p22"/>
          <p:cNvCxnSpPr>
            <a:stCxn id="268" idx="6"/>
            <a:endCxn id="290" idx="2"/>
          </p:cNvCxnSpPr>
          <p:nvPr/>
        </p:nvCxnSpPr>
        <p:spPr>
          <a:xfrm>
            <a:off x="2494547" y="2043158"/>
            <a:ext cx="637800" cy="1990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15" name="Google Shape;315;p22"/>
          <p:cNvCxnSpPr>
            <a:stCxn id="316" idx="6"/>
          </p:cNvCxnSpPr>
          <p:nvPr/>
        </p:nvCxnSpPr>
        <p:spPr>
          <a:xfrm>
            <a:off x="3673642" y="1074827"/>
            <a:ext cx="637800" cy="976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17" name="Google Shape;317;p22"/>
          <p:cNvCxnSpPr>
            <a:stCxn id="316" idx="6"/>
          </p:cNvCxnSpPr>
          <p:nvPr/>
        </p:nvCxnSpPr>
        <p:spPr>
          <a:xfrm>
            <a:off x="3673642" y="1074827"/>
            <a:ext cx="6378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16" name="Google Shape;316;p22"/>
          <p:cNvCxnSpPr>
            <a:stCxn id="316" idx="6"/>
          </p:cNvCxnSpPr>
          <p:nvPr/>
        </p:nvCxnSpPr>
        <p:spPr>
          <a:xfrm>
            <a:off x="3673642" y="1074827"/>
            <a:ext cx="637800" cy="1990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18" name="Google Shape;318;p22"/>
          <p:cNvCxnSpPr>
            <a:stCxn id="316" idx="6"/>
          </p:cNvCxnSpPr>
          <p:nvPr/>
        </p:nvCxnSpPr>
        <p:spPr>
          <a:xfrm>
            <a:off x="3673642" y="1074827"/>
            <a:ext cx="637800" cy="29670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19" name="Google Shape;319;p22"/>
          <p:cNvCxnSpPr>
            <a:stCxn id="318" idx="6"/>
          </p:cNvCxnSpPr>
          <p:nvPr/>
        </p:nvCxnSpPr>
        <p:spPr>
          <a:xfrm>
            <a:off x="3673642" y="2051181"/>
            <a:ext cx="6378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20" name="Google Shape;320;p22"/>
          <p:cNvCxnSpPr>
            <a:stCxn id="321" idx="6"/>
          </p:cNvCxnSpPr>
          <p:nvPr/>
        </p:nvCxnSpPr>
        <p:spPr>
          <a:xfrm>
            <a:off x="3673642" y="3065426"/>
            <a:ext cx="6378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22" name="Google Shape;322;p22"/>
          <p:cNvCxnSpPr>
            <a:stCxn id="323" idx="6"/>
          </p:cNvCxnSpPr>
          <p:nvPr/>
        </p:nvCxnSpPr>
        <p:spPr>
          <a:xfrm>
            <a:off x="3673642" y="4041780"/>
            <a:ext cx="6378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24" name="Google Shape;324;p22"/>
          <p:cNvCxnSpPr>
            <a:stCxn id="323" idx="6"/>
          </p:cNvCxnSpPr>
          <p:nvPr/>
        </p:nvCxnSpPr>
        <p:spPr>
          <a:xfrm rot="10800000" flipH="1">
            <a:off x="3673642" y="3065280"/>
            <a:ext cx="637800" cy="976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25" name="Google Shape;325;p22"/>
          <p:cNvCxnSpPr>
            <a:stCxn id="323" idx="6"/>
          </p:cNvCxnSpPr>
          <p:nvPr/>
        </p:nvCxnSpPr>
        <p:spPr>
          <a:xfrm rot="10800000" flipH="1">
            <a:off x="3673642" y="2051280"/>
            <a:ext cx="637800" cy="1990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26" name="Google Shape;326;p22"/>
          <p:cNvCxnSpPr>
            <a:stCxn id="323" idx="6"/>
          </p:cNvCxnSpPr>
          <p:nvPr/>
        </p:nvCxnSpPr>
        <p:spPr>
          <a:xfrm rot="10800000" flipH="1">
            <a:off x="3673642" y="1074780"/>
            <a:ext cx="637800" cy="29670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27" name="Google Shape;327;p22"/>
          <p:cNvCxnSpPr>
            <a:stCxn id="321" idx="6"/>
          </p:cNvCxnSpPr>
          <p:nvPr/>
        </p:nvCxnSpPr>
        <p:spPr>
          <a:xfrm>
            <a:off x="3673642" y="3065426"/>
            <a:ext cx="637800" cy="976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28" name="Google Shape;328;p22"/>
          <p:cNvCxnSpPr>
            <a:stCxn id="321" idx="6"/>
          </p:cNvCxnSpPr>
          <p:nvPr/>
        </p:nvCxnSpPr>
        <p:spPr>
          <a:xfrm rot="10800000" flipH="1">
            <a:off x="3673642" y="2051126"/>
            <a:ext cx="637800" cy="1014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21" name="Google Shape;321;p22"/>
          <p:cNvCxnSpPr>
            <a:stCxn id="321" idx="6"/>
          </p:cNvCxnSpPr>
          <p:nvPr/>
        </p:nvCxnSpPr>
        <p:spPr>
          <a:xfrm rot="10800000" flipH="1">
            <a:off x="3673642" y="1074926"/>
            <a:ext cx="637800" cy="1990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23" name="Google Shape;323;p22"/>
          <p:cNvCxnSpPr>
            <a:stCxn id="318" idx="6"/>
          </p:cNvCxnSpPr>
          <p:nvPr/>
        </p:nvCxnSpPr>
        <p:spPr>
          <a:xfrm rot="10800000" flipH="1">
            <a:off x="3673642" y="1074681"/>
            <a:ext cx="637800" cy="976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29" name="Google Shape;329;p22"/>
          <p:cNvCxnSpPr>
            <a:stCxn id="318" idx="6"/>
          </p:cNvCxnSpPr>
          <p:nvPr/>
        </p:nvCxnSpPr>
        <p:spPr>
          <a:xfrm>
            <a:off x="3673642" y="2051181"/>
            <a:ext cx="637800" cy="1014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30" name="Google Shape;330;p22"/>
          <p:cNvCxnSpPr>
            <a:stCxn id="318" idx="6"/>
          </p:cNvCxnSpPr>
          <p:nvPr/>
        </p:nvCxnSpPr>
        <p:spPr>
          <a:xfrm>
            <a:off x="3673642" y="2051181"/>
            <a:ext cx="637800" cy="1990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31" name="Google Shape;331;p22"/>
          <p:cNvCxnSpPr/>
          <p:nvPr/>
        </p:nvCxnSpPr>
        <p:spPr>
          <a:xfrm>
            <a:off x="4884817" y="1066807"/>
            <a:ext cx="637674" cy="976354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32" name="Google Shape;332;p22"/>
          <p:cNvCxnSpPr/>
          <p:nvPr/>
        </p:nvCxnSpPr>
        <p:spPr>
          <a:xfrm>
            <a:off x="4884817" y="1066807"/>
            <a:ext cx="637674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33" name="Google Shape;333;p22"/>
          <p:cNvCxnSpPr/>
          <p:nvPr/>
        </p:nvCxnSpPr>
        <p:spPr>
          <a:xfrm>
            <a:off x="4884817" y="1066807"/>
            <a:ext cx="637674" cy="1990599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34" name="Google Shape;334;p22"/>
          <p:cNvCxnSpPr/>
          <p:nvPr/>
        </p:nvCxnSpPr>
        <p:spPr>
          <a:xfrm>
            <a:off x="4884817" y="1066807"/>
            <a:ext cx="637674" cy="2966953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35" name="Google Shape;335;p22"/>
          <p:cNvCxnSpPr/>
          <p:nvPr/>
        </p:nvCxnSpPr>
        <p:spPr>
          <a:xfrm>
            <a:off x="4884817" y="2043161"/>
            <a:ext cx="637674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36" name="Google Shape;336;p22"/>
          <p:cNvCxnSpPr/>
          <p:nvPr/>
        </p:nvCxnSpPr>
        <p:spPr>
          <a:xfrm>
            <a:off x="4884817" y="3057406"/>
            <a:ext cx="637674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37" name="Google Shape;337;p22"/>
          <p:cNvCxnSpPr/>
          <p:nvPr/>
        </p:nvCxnSpPr>
        <p:spPr>
          <a:xfrm>
            <a:off x="4884817" y="4033760"/>
            <a:ext cx="637674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38" name="Google Shape;338;p22"/>
          <p:cNvCxnSpPr/>
          <p:nvPr/>
        </p:nvCxnSpPr>
        <p:spPr>
          <a:xfrm rot="10800000" flipH="1">
            <a:off x="4884817" y="3057406"/>
            <a:ext cx="637674" cy="976354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39" name="Google Shape;339;p22"/>
          <p:cNvCxnSpPr/>
          <p:nvPr/>
        </p:nvCxnSpPr>
        <p:spPr>
          <a:xfrm rot="10800000" flipH="1">
            <a:off x="4884817" y="2043161"/>
            <a:ext cx="637674" cy="1990599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40" name="Google Shape;340;p22"/>
          <p:cNvCxnSpPr/>
          <p:nvPr/>
        </p:nvCxnSpPr>
        <p:spPr>
          <a:xfrm rot="10800000" flipH="1">
            <a:off x="4884817" y="1066807"/>
            <a:ext cx="637674" cy="2966953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41" name="Google Shape;341;p22"/>
          <p:cNvCxnSpPr/>
          <p:nvPr/>
        </p:nvCxnSpPr>
        <p:spPr>
          <a:xfrm>
            <a:off x="4884817" y="3057406"/>
            <a:ext cx="637674" cy="976354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42" name="Google Shape;342;p22"/>
          <p:cNvCxnSpPr/>
          <p:nvPr/>
        </p:nvCxnSpPr>
        <p:spPr>
          <a:xfrm rot="10800000" flipH="1">
            <a:off x="4884817" y="2043161"/>
            <a:ext cx="637674" cy="1014245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43" name="Google Shape;343;p22"/>
          <p:cNvCxnSpPr/>
          <p:nvPr/>
        </p:nvCxnSpPr>
        <p:spPr>
          <a:xfrm rot="10800000" flipH="1">
            <a:off x="4884817" y="1066807"/>
            <a:ext cx="637674" cy="1990599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44" name="Google Shape;344;p22"/>
          <p:cNvCxnSpPr/>
          <p:nvPr/>
        </p:nvCxnSpPr>
        <p:spPr>
          <a:xfrm rot="10800000" flipH="1">
            <a:off x="4884817" y="1066807"/>
            <a:ext cx="637674" cy="976354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45" name="Google Shape;345;p22"/>
          <p:cNvCxnSpPr/>
          <p:nvPr/>
        </p:nvCxnSpPr>
        <p:spPr>
          <a:xfrm>
            <a:off x="4884817" y="2043161"/>
            <a:ext cx="637674" cy="1014245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46" name="Google Shape;346;p22"/>
          <p:cNvCxnSpPr/>
          <p:nvPr/>
        </p:nvCxnSpPr>
        <p:spPr>
          <a:xfrm>
            <a:off x="4884817" y="2043161"/>
            <a:ext cx="637674" cy="1990599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47" name="Google Shape;347;p22"/>
          <p:cNvCxnSpPr/>
          <p:nvPr/>
        </p:nvCxnSpPr>
        <p:spPr>
          <a:xfrm>
            <a:off x="6063910" y="1074829"/>
            <a:ext cx="637674" cy="976354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48" name="Google Shape;348;p22"/>
          <p:cNvCxnSpPr/>
          <p:nvPr/>
        </p:nvCxnSpPr>
        <p:spPr>
          <a:xfrm>
            <a:off x="6063910" y="1074829"/>
            <a:ext cx="637674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49" name="Google Shape;349;p22"/>
          <p:cNvCxnSpPr/>
          <p:nvPr/>
        </p:nvCxnSpPr>
        <p:spPr>
          <a:xfrm>
            <a:off x="6063910" y="1074829"/>
            <a:ext cx="637674" cy="1990599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50" name="Google Shape;350;p22"/>
          <p:cNvCxnSpPr/>
          <p:nvPr/>
        </p:nvCxnSpPr>
        <p:spPr>
          <a:xfrm>
            <a:off x="6063910" y="1074829"/>
            <a:ext cx="637674" cy="2966953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51" name="Google Shape;351;p22"/>
          <p:cNvCxnSpPr/>
          <p:nvPr/>
        </p:nvCxnSpPr>
        <p:spPr>
          <a:xfrm>
            <a:off x="6063910" y="2051183"/>
            <a:ext cx="637674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52" name="Google Shape;352;p22"/>
          <p:cNvCxnSpPr/>
          <p:nvPr/>
        </p:nvCxnSpPr>
        <p:spPr>
          <a:xfrm>
            <a:off x="6063910" y="3065428"/>
            <a:ext cx="637674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53" name="Google Shape;353;p22"/>
          <p:cNvCxnSpPr/>
          <p:nvPr/>
        </p:nvCxnSpPr>
        <p:spPr>
          <a:xfrm>
            <a:off x="6063910" y="4041782"/>
            <a:ext cx="637674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54" name="Google Shape;354;p22"/>
          <p:cNvCxnSpPr/>
          <p:nvPr/>
        </p:nvCxnSpPr>
        <p:spPr>
          <a:xfrm rot="10800000" flipH="1">
            <a:off x="6063910" y="3065428"/>
            <a:ext cx="637674" cy="976354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55" name="Google Shape;355;p22"/>
          <p:cNvCxnSpPr/>
          <p:nvPr/>
        </p:nvCxnSpPr>
        <p:spPr>
          <a:xfrm rot="10800000" flipH="1">
            <a:off x="6063910" y="2051183"/>
            <a:ext cx="637674" cy="1990599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56" name="Google Shape;356;p22"/>
          <p:cNvCxnSpPr/>
          <p:nvPr/>
        </p:nvCxnSpPr>
        <p:spPr>
          <a:xfrm rot="10800000" flipH="1">
            <a:off x="6063910" y="1074829"/>
            <a:ext cx="637674" cy="2966953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57" name="Google Shape;357;p22"/>
          <p:cNvCxnSpPr/>
          <p:nvPr/>
        </p:nvCxnSpPr>
        <p:spPr>
          <a:xfrm>
            <a:off x="6063910" y="3065428"/>
            <a:ext cx="637674" cy="976354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58" name="Google Shape;358;p22"/>
          <p:cNvCxnSpPr/>
          <p:nvPr/>
        </p:nvCxnSpPr>
        <p:spPr>
          <a:xfrm rot="10800000" flipH="1">
            <a:off x="6063910" y="2051183"/>
            <a:ext cx="637674" cy="1014245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59" name="Google Shape;359;p22"/>
          <p:cNvCxnSpPr/>
          <p:nvPr/>
        </p:nvCxnSpPr>
        <p:spPr>
          <a:xfrm rot="10800000" flipH="1">
            <a:off x="6063910" y="1074829"/>
            <a:ext cx="637674" cy="1990599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60" name="Google Shape;360;p22"/>
          <p:cNvCxnSpPr/>
          <p:nvPr/>
        </p:nvCxnSpPr>
        <p:spPr>
          <a:xfrm rot="10800000" flipH="1">
            <a:off x="6063910" y="1074829"/>
            <a:ext cx="637674" cy="976354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61" name="Google Shape;361;p22"/>
          <p:cNvCxnSpPr/>
          <p:nvPr/>
        </p:nvCxnSpPr>
        <p:spPr>
          <a:xfrm>
            <a:off x="6063910" y="2051183"/>
            <a:ext cx="637674" cy="1014245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62" name="Google Shape;362;p22"/>
          <p:cNvCxnSpPr/>
          <p:nvPr/>
        </p:nvCxnSpPr>
        <p:spPr>
          <a:xfrm>
            <a:off x="6063910" y="2051183"/>
            <a:ext cx="637674" cy="1990599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490070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2"/>
          <p:cNvSpPr txBox="1"/>
          <p:nvPr/>
        </p:nvSpPr>
        <p:spPr>
          <a:xfrm>
            <a:off x="128337" y="129790"/>
            <a:ext cx="7914651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Do you need to use Deep Learning?</a:t>
            </a:r>
            <a:endParaRPr sz="2800" b="1" dirty="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2"/>
          <p:cNvSpPr txBox="1"/>
          <p:nvPr/>
        </p:nvSpPr>
        <p:spPr>
          <a:xfrm>
            <a:off x="258967" y="1195972"/>
            <a:ext cx="7018912" cy="4466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If your data looks like a spreadsheet and you doing analytics – then you probably don’t need Deep Learning. You can use conventional Data Science methods.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But if you need to do more complex tasks, like converting speech to text, doing language translations, extracting information from text, controlling a robot or self-driving car, etc. – then you need Deep Learning methods.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Many of complex tasks were already solved and available for you on major clouds (Google Translate, Azure Cognitive Services, etc.) – although these solutions tend to be costly.</a:t>
            </a:r>
            <a:endParaRPr sz="2000" dirty="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2" descr="Further processed tabular data as distinct columns with concepts and... |  Download Scientific Diagram">
            <a:extLst>
              <a:ext uri="{FF2B5EF4-FFF2-40B4-BE49-F238E27FC236}">
                <a16:creationId xmlns:a16="http://schemas.microsoft.com/office/drawing/2014/main" id="{AF974743-DC1F-ED46-B170-96DADEDBC6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944216" y="419355"/>
            <a:ext cx="4119447" cy="1553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Counting the cost: Why are certifications so expensive? - CertMag">
            <a:extLst>
              <a:ext uri="{FF2B5EF4-FFF2-40B4-BE49-F238E27FC236}">
                <a16:creationId xmlns:a16="http://schemas.microsoft.com/office/drawing/2014/main" id="{3ABE146E-D1F5-5C44-B419-9BDAF05123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00854" y="5236748"/>
            <a:ext cx="2075695" cy="1346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113453-63B3-8E4E-8552-0D76CC978068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81592" y="2470891"/>
            <a:ext cx="2394957" cy="2030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3053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500</TotalTime>
  <Words>410</Words>
  <Application>Microsoft Macintosh PowerPoint</Application>
  <PresentationFormat>Widescreen</PresentationFormat>
  <Paragraphs>49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Lev Selector</cp:lastModifiedBy>
  <cp:revision>52</cp:revision>
  <dcterms:modified xsi:type="dcterms:W3CDTF">2021-05-29T22:28:59Z</dcterms:modified>
</cp:coreProperties>
</file>