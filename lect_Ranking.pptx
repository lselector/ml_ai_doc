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92"/>
    <p:restoredTop sz="94578"/>
  </p:normalViewPr>
  <p:slideViewPr>
    <p:cSldViewPr snapToGrid="0" snapToObjects="1">
      <p:cViewPr varScale="1">
        <p:scale>
          <a:sx n="108" d="100"/>
          <a:sy n="108" d="100"/>
        </p:scale>
        <p:origin x="44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E883-AEBF-5148-B5CF-75C67427FF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EF8CB9-1AEC-594E-A915-9F5FFA7196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B2E501-CA5A-4E4D-A37E-E02C9D8FEE8E}"/>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5" name="Footer Placeholder 4">
            <a:extLst>
              <a:ext uri="{FF2B5EF4-FFF2-40B4-BE49-F238E27FC236}">
                <a16:creationId xmlns:a16="http://schemas.microsoft.com/office/drawing/2014/main" id="{A7C385AE-3AE6-BF40-AFD4-0BE890E761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98A0E-4002-5049-828E-04AEB0389E6C}"/>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695224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487E-163B-094E-8CEF-1FEC12BC5B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126703-99B2-E044-A3CA-987BD2F2ADB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2B6741-EAA1-E24D-B4B1-44E6F27DAB4C}"/>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5" name="Footer Placeholder 4">
            <a:extLst>
              <a:ext uri="{FF2B5EF4-FFF2-40B4-BE49-F238E27FC236}">
                <a16:creationId xmlns:a16="http://schemas.microsoft.com/office/drawing/2014/main" id="{25707820-AD2A-4F40-AEDE-9BE186C53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724814-03C1-914B-BC29-6EC669328D03}"/>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436979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4C4C-718A-2444-BDC9-65C8A6C64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763C14-FF2B-A546-8A59-CBB064706D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B96ED78-8BA6-9545-893F-495A24937201}"/>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5" name="Footer Placeholder 4">
            <a:extLst>
              <a:ext uri="{FF2B5EF4-FFF2-40B4-BE49-F238E27FC236}">
                <a16:creationId xmlns:a16="http://schemas.microsoft.com/office/drawing/2014/main" id="{19D14132-9644-534F-B120-118CE75A4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146AF-BF7A-934B-A558-0F1F1BF3F5D7}"/>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311623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C03D4-AFEA-504B-B8DC-2CA8C53115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D106BD-8BD5-5146-B0CE-4BD2C62687E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4AD5A3-D06E-0B41-B0CF-980DE4A8655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ED3E7A-5655-8048-A8E7-05483274960D}"/>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6" name="Footer Placeholder 5">
            <a:extLst>
              <a:ext uri="{FF2B5EF4-FFF2-40B4-BE49-F238E27FC236}">
                <a16:creationId xmlns:a16="http://schemas.microsoft.com/office/drawing/2014/main" id="{5DD3AE5E-90D0-7C41-A744-722660865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91D7A0-6D3B-7947-B4D5-ECE816361420}"/>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960757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6313-258C-0843-A1D4-ACE8AA4DC2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19BE9C-3CF8-D949-9873-738A43E15E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6EBDA7-22A8-3247-9A41-E7C3F274B44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95B411-8E2D-F94A-8793-756B24A26D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64FD855-16D1-9045-B709-E45CBCD82B6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5D46C0-F784-F94D-9B64-ED738C13EA05}"/>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8" name="Footer Placeholder 7">
            <a:extLst>
              <a:ext uri="{FF2B5EF4-FFF2-40B4-BE49-F238E27FC236}">
                <a16:creationId xmlns:a16="http://schemas.microsoft.com/office/drawing/2014/main" id="{AEDBA147-23A8-A14B-963D-234BC84288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4E0487-23FE-D147-AABF-2C2BC965CE82}"/>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959885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5079-B567-5344-9947-97FA159056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78D811-9E52-4E49-B999-66F930CEE336}"/>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4" name="Footer Placeholder 3">
            <a:extLst>
              <a:ext uri="{FF2B5EF4-FFF2-40B4-BE49-F238E27FC236}">
                <a16:creationId xmlns:a16="http://schemas.microsoft.com/office/drawing/2014/main" id="{1FAFFF53-D73C-4C43-9A4A-755897C1E5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E726BA-6D65-0247-B34A-FA3489EC07A7}"/>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812815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E69600-D603-D542-95B2-0399BFF370EF}"/>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3" name="Footer Placeholder 2">
            <a:extLst>
              <a:ext uri="{FF2B5EF4-FFF2-40B4-BE49-F238E27FC236}">
                <a16:creationId xmlns:a16="http://schemas.microsoft.com/office/drawing/2014/main" id="{D2FF96B9-6ED2-064B-BC15-6E46C4F560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E7F8CD-C11B-CF46-AF91-479FD990CFC0}"/>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37377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A4882-188A-8B4E-9756-93F0EC1282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94C3DC-D453-314B-B20E-14A5A9C0ED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86619D-3BCB-9C4A-99D7-4A68E7A419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DC0F2E0-2988-5E4E-92DB-757296094457}"/>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6" name="Footer Placeholder 5">
            <a:extLst>
              <a:ext uri="{FF2B5EF4-FFF2-40B4-BE49-F238E27FC236}">
                <a16:creationId xmlns:a16="http://schemas.microsoft.com/office/drawing/2014/main" id="{28501B32-CD0F-684B-87AC-51FF83F53B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B0924-B909-3040-A024-6068E39B2309}"/>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959044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06F57-9367-0444-8293-7335E6A49B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891A6F-1C09-3643-8A5C-19402569F7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362BC1-FC66-D949-9A6B-CE2194B1D3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51F4545-8F9F-B447-AA6E-5E7C08EFA67D}"/>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6" name="Footer Placeholder 5">
            <a:extLst>
              <a:ext uri="{FF2B5EF4-FFF2-40B4-BE49-F238E27FC236}">
                <a16:creationId xmlns:a16="http://schemas.microsoft.com/office/drawing/2014/main" id="{51C54558-A392-194B-9F4D-382BF99070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DD0BCD-6953-5948-BA78-DE0222EB07E2}"/>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719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9A63-8CFE-634C-AD9D-2513E86AC3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52EA3A-DC1F-B249-8857-758BC39DC99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8183A3-0598-5340-8450-D8800F598341}"/>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5" name="Footer Placeholder 4">
            <a:extLst>
              <a:ext uri="{FF2B5EF4-FFF2-40B4-BE49-F238E27FC236}">
                <a16:creationId xmlns:a16="http://schemas.microsoft.com/office/drawing/2014/main" id="{E09E10FC-8000-2544-AA51-168C8FA6A2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F9376-2BC9-624A-9038-ED83CA30EE4A}"/>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286235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AA79F4-E075-D247-9BEF-E928B2D521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F5ECFE-5838-974F-88FB-C330294BAD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1F5AA-3F9A-5244-A939-3849D05A8469}"/>
              </a:ext>
            </a:extLst>
          </p:cNvPr>
          <p:cNvSpPr>
            <a:spLocks noGrp="1"/>
          </p:cNvSpPr>
          <p:nvPr>
            <p:ph type="dt" sz="half" idx="10"/>
          </p:nvPr>
        </p:nvSpPr>
        <p:spPr/>
        <p:txBody>
          <a:bodyPr/>
          <a:lstStyle/>
          <a:p>
            <a:fld id="{978CCE7A-74A1-6341-9A34-33AF4358B7E1}" type="datetimeFigureOut">
              <a:rPr lang="en-US" smtClean="0"/>
              <a:t>5/29/21</a:t>
            </a:fld>
            <a:endParaRPr lang="en-US"/>
          </a:p>
        </p:txBody>
      </p:sp>
      <p:sp>
        <p:nvSpPr>
          <p:cNvPr id="5" name="Footer Placeholder 4">
            <a:extLst>
              <a:ext uri="{FF2B5EF4-FFF2-40B4-BE49-F238E27FC236}">
                <a16:creationId xmlns:a16="http://schemas.microsoft.com/office/drawing/2014/main" id="{800F8F4C-D351-6440-87FF-5F3DC35B44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9A8FA-3C1A-5E46-A96B-DD60489DC928}"/>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241762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9A7089-2046-A140-BE78-441B915BF2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8CCB74-6008-FC45-B331-46B7C9780C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0B5D65-009E-654F-BF1B-484FFBBE62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8CCE7A-74A1-6341-9A34-33AF4358B7E1}" type="datetimeFigureOut">
              <a:rPr lang="en-US" smtClean="0"/>
              <a:t>5/29/21</a:t>
            </a:fld>
            <a:endParaRPr lang="en-US"/>
          </a:p>
        </p:txBody>
      </p:sp>
      <p:sp>
        <p:nvSpPr>
          <p:cNvPr id="5" name="Footer Placeholder 4">
            <a:extLst>
              <a:ext uri="{FF2B5EF4-FFF2-40B4-BE49-F238E27FC236}">
                <a16:creationId xmlns:a16="http://schemas.microsoft.com/office/drawing/2014/main" id="{95B00331-6ECC-D042-86D2-9A4C2A3E64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4E48413-D8AA-5647-9811-BAB558D248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2D789B-E992-524D-AAF8-7433E2CF6DA5}" type="slidenum">
              <a:rPr lang="en-US" smtClean="0"/>
              <a:t>‹#›</a:t>
            </a:fld>
            <a:endParaRPr lang="en-US"/>
          </a:p>
        </p:txBody>
      </p:sp>
    </p:spTree>
    <p:extLst>
      <p:ext uri="{BB962C8B-B14F-4D97-AF65-F5344CB8AC3E}">
        <p14:creationId xmlns:p14="http://schemas.microsoft.com/office/powerpoint/2010/main" val="207015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en.wikipedia.org/wiki/Rankin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hyperlink" Target="https://gombru.github.io/2019/04/03/ranking_loss/" TargetMode="External"/><Relationship Id="rId1" Type="http://schemas.openxmlformats.org/officeDocument/2006/relationships/slideLayout" Target="../slideLayouts/slideLayout1.xml"/><Relationship Id="rId5" Type="http://schemas.openxmlformats.org/officeDocument/2006/relationships/image" Target="../media/image3.tiff"/><Relationship Id="rId4" Type="http://schemas.openxmlformats.org/officeDocument/2006/relationships/image" Target="../media/image2.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021CC3-A1D7-9B4C-86AC-550028D30F37}"/>
              </a:ext>
            </a:extLst>
          </p:cNvPr>
          <p:cNvSpPr txBox="1"/>
          <p:nvPr/>
        </p:nvSpPr>
        <p:spPr>
          <a:xfrm>
            <a:off x="138052" y="712519"/>
            <a:ext cx="10352314" cy="590931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Ranking: a week ordering of items by assigning a rank (a positive integer number) to each item.</a:t>
            </a:r>
          </a:p>
          <a:p>
            <a:r>
              <a:rPr lang="en-US" dirty="0">
                <a:latin typeface="Arial" panose="020B0604020202020204" pitchFamily="34" charset="0"/>
                <a:cs typeface="Arial" panose="020B0604020202020204" pitchFamily="34" charset="0"/>
              </a:rPr>
              <a:t>Rank is inversely related to the value.</a:t>
            </a:r>
          </a:p>
          <a:p>
            <a:r>
              <a:rPr lang="en-US" dirty="0">
                <a:latin typeface="Arial" panose="020B0604020202020204" pitchFamily="34" charset="0"/>
                <a:cs typeface="Arial" panose="020B0604020202020204" pitchFamily="34" charset="0"/>
              </a:rPr>
              <a:t>We say that the ranking is "higher" if the value of the assign rank integer number is "lower".</a:t>
            </a:r>
          </a:p>
          <a:p>
            <a:r>
              <a:rPr lang="en-US" dirty="0">
                <a:latin typeface="Arial" panose="020B0604020202020204" pitchFamily="34" charset="0"/>
                <a:cs typeface="Arial" panose="020B0604020202020204" pitchFamily="34" charset="0"/>
              </a:rPr>
              <a:t>So, for example, rank 2 is higher than rank 3.</a:t>
            </a:r>
          </a:p>
          <a:p>
            <a:r>
              <a:rPr lang="en-US" dirty="0">
                <a:latin typeface="Arial" panose="020B0604020202020204" pitchFamily="34" charset="0"/>
                <a:cs typeface="Arial" panose="020B0604020202020204" pitchFamily="34" charset="0"/>
              </a:rPr>
              <a:t>The highest possible rank is 1.</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hlinkClick r:id="rId2"/>
              </a:rPr>
              <a:t>https://en.wikipedia.org/wiki/Ranking</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Difference between Rating and Ranking:</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Rating usually means a category or a range of values. "a classification or ranking of someone or something based on a comparative assessment of their quality, standard, or performance."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Ranking = ordering number between values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Ranking in statistics (</a:t>
            </a:r>
            <a:r>
              <a:rPr lang="en-US" dirty="0" err="1">
                <a:latin typeface="Arial" panose="020B0604020202020204" pitchFamily="34" charset="0"/>
                <a:cs typeface="Arial" panose="020B0604020202020204" pitchFamily="34" charset="0"/>
              </a:rPr>
              <a:t>wikipedia</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Predictive vs. Earned (historic) Ranking </a:t>
            </a:r>
          </a:p>
          <a:p>
            <a:r>
              <a:rPr lang="en-US" dirty="0">
                <a:latin typeface="Arial" panose="020B0604020202020204" pitchFamily="34" charset="0"/>
                <a:cs typeface="Arial" panose="020B0604020202020204" pitchFamily="34" charset="0"/>
              </a:rPr>
              <a:t>Real-time ranking</a:t>
            </a:r>
          </a:p>
          <a:p>
            <a:r>
              <a:rPr lang="en-US" dirty="0">
                <a:latin typeface="Arial" panose="020B0604020202020204" pitchFamily="34" charset="0"/>
                <a:cs typeface="Arial" panose="020B0604020202020204" pitchFamily="34" charset="0"/>
              </a:rPr>
              <a:t>Top-N</a:t>
            </a:r>
          </a:p>
          <a:p>
            <a:r>
              <a:rPr lang="en-US" dirty="0">
                <a:latin typeface="Arial" panose="020B0604020202020204" pitchFamily="34" charset="0"/>
                <a:cs typeface="Arial" panose="020B0604020202020204" pitchFamily="34" charset="0"/>
              </a:rPr>
              <a:t>Rank using multiple features</a:t>
            </a:r>
          </a:p>
          <a:p>
            <a:r>
              <a:rPr lang="en-US" dirty="0">
                <a:latin typeface="Arial" panose="020B0604020202020204" pitchFamily="34" charset="0"/>
                <a:cs typeface="Arial" panose="020B0604020202020204" pitchFamily="34" charset="0"/>
              </a:rPr>
              <a:t>Numeric, extract sentiment, etc.</a:t>
            </a:r>
          </a:p>
          <a:p>
            <a:r>
              <a:rPr lang="en-US" dirty="0">
                <a:latin typeface="Arial" panose="020B0604020202020204" pitchFamily="34" charset="0"/>
                <a:cs typeface="Arial" panose="020B0604020202020204" pitchFamily="34" charset="0"/>
              </a:rPr>
              <a:t>Ranking models using Neural Networks</a:t>
            </a:r>
          </a:p>
        </p:txBody>
      </p:sp>
      <p:sp>
        <p:nvSpPr>
          <p:cNvPr id="2" name="TextBox 1">
            <a:extLst>
              <a:ext uri="{FF2B5EF4-FFF2-40B4-BE49-F238E27FC236}">
                <a16:creationId xmlns:a16="http://schemas.microsoft.com/office/drawing/2014/main" id="{E2283C1C-9356-2143-92D4-668FB91097A4}"/>
              </a:ext>
            </a:extLst>
          </p:cNvPr>
          <p:cNvSpPr txBox="1"/>
          <p:nvPr/>
        </p:nvSpPr>
        <p:spPr>
          <a:xfrm>
            <a:off x="138052" y="83127"/>
            <a:ext cx="1987631"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Ranking</a:t>
            </a:r>
          </a:p>
        </p:txBody>
      </p:sp>
    </p:spTree>
    <p:extLst>
      <p:ext uri="{BB962C8B-B14F-4D97-AF65-F5344CB8AC3E}">
        <p14:creationId xmlns:p14="http://schemas.microsoft.com/office/powerpoint/2010/main" val="1186883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F54904-02D1-9E4E-ADBF-799FA127274B}"/>
              </a:ext>
            </a:extLst>
          </p:cNvPr>
          <p:cNvSpPr txBox="1"/>
          <p:nvPr/>
        </p:nvSpPr>
        <p:spPr>
          <a:xfrm>
            <a:off x="0" y="0"/>
            <a:ext cx="3289465"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Loss Functions</a:t>
            </a:r>
          </a:p>
        </p:txBody>
      </p:sp>
      <p:sp>
        <p:nvSpPr>
          <p:cNvPr id="5" name="TextBox 4">
            <a:extLst>
              <a:ext uri="{FF2B5EF4-FFF2-40B4-BE49-F238E27FC236}">
                <a16:creationId xmlns:a16="http://schemas.microsoft.com/office/drawing/2014/main" id="{42C3C1AF-4C94-F24F-97BD-43BF37CBD333}"/>
              </a:ext>
            </a:extLst>
          </p:cNvPr>
          <p:cNvSpPr txBox="1"/>
          <p:nvPr/>
        </p:nvSpPr>
        <p:spPr>
          <a:xfrm>
            <a:off x="-1" y="461665"/>
            <a:ext cx="5892801" cy="2492990"/>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hlinkClick r:id="rId2"/>
              </a:rPr>
              <a:t>https://gombru.github.io/2019/04/03/ranking_loss/</a:t>
            </a: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Understanding Ranking Loss, Contrastive Loss, Margin Loss, Triplet Loss, Hinge Loss, etc.</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Mean Square Error Loss</a:t>
            </a:r>
          </a:p>
          <a:p>
            <a:r>
              <a:rPr lang="en-US" sz="1200" dirty="0">
                <a:latin typeface="Arial" panose="020B0604020202020204" pitchFamily="34" charset="0"/>
                <a:cs typeface="Arial" panose="020B0604020202020204" pitchFamily="34" charset="0"/>
              </a:rPr>
              <a:t>Categorical Cross-Entropy Loss</a:t>
            </a:r>
          </a:p>
          <a:p>
            <a:r>
              <a:rPr lang="en-US" sz="1200" dirty="0">
                <a:latin typeface="Arial" panose="020B0604020202020204" pitchFamily="34" charset="0"/>
                <a:cs typeface="Arial" panose="020B0604020202020204" pitchFamily="34" charset="0"/>
              </a:rPr>
              <a:t>Binary Cross-Entropy Loss</a:t>
            </a:r>
          </a:p>
          <a:p>
            <a:r>
              <a:rPr lang="en-US" sz="1200" dirty="0" err="1">
                <a:latin typeface="Arial" panose="020B0604020202020204" pitchFamily="34" charset="0"/>
                <a:cs typeface="Arial" panose="020B0604020202020204" pitchFamily="34" charset="0"/>
              </a:rPr>
              <a:t>Softmax</a:t>
            </a:r>
            <a:r>
              <a:rPr lang="en-US" sz="1200" dirty="0">
                <a:latin typeface="Arial" panose="020B0604020202020204" pitchFamily="34" charset="0"/>
                <a:cs typeface="Arial" panose="020B0604020202020204" pitchFamily="34" charset="0"/>
              </a:rPr>
              <a:t> Loss</a:t>
            </a:r>
          </a:p>
          <a:p>
            <a:r>
              <a:rPr lang="en-US" sz="1200" dirty="0">
                <a:latin typeface="Arial" panose="020B0604020202020204" pitchFamily="34" charset="0"/>
                <a:cs typeface="Arial" panose="020B0604020202020204" pitchFamily="34" charset="0"/>
              </a:rPr>
              <a:t>Logistic Loss</a:t>
            </a:r>
          </a:p>
          <a:p>
            <a:r>
              <a:rPr lang="en-US" sz="1200" dirty="0">
                <a:latin typeface="Arial" panose="020B0604020202020204" pitchFamily="34" charset="0"/>
                <a:cs typeface="Arial" panose="020B0604020202020204" pitchFamily="34" charset="0"/>
              </a:rPr>
              <a:t>Focal Loss</a:t>
            </a:r>
          </a:p>
          <a:p>
            <a:r>
              <a:rPr lang="en-US" sz="1200" dirty="0">
                <a:latin typeface="Arial" panose="020B0604020202020204" pitchFamily="34" charset="0"/>
                <a:cs typeface="Arial" panose="020B0604020202020204" pitchFamily="34" charset="0"/>
              </a:rPr>
              <a:t>Triplet Loss - outperforms Cross-Entropy Loss in Multi-Modal Retrieval</a:t>
            </a:r>
          </a:p>
          <a:p>
            <a:r>
              <a:rPr lang="en-US" sz="1200" dirty="0">
                <a:latin typeface="Arial" panose="020B0604020202020204" pitchFamily="34" charset="0"/>
                <a:cs typeface="Arial" panose="020B0604020202020204" pitchFamily="34" charset="0"/>
              </a:rPr>
              <a:t>Ranking Losses (Siamese Nets, Triplet Nets). Names - Contrastive Loss, Margin Loss, Hinge Loss, or Triplet Loss.</a:t>
            </a:r>
          </a:p>
        </p:txBody>
      </p:sp>
      <p:pic>
        <p:nvPicPr>
          <p:cNvPr id="6" name="Picture 5">
            <a:extLst>
              <a:ext uri="{FF2B5EF4-FFF2-40B4-BE49-F238E27FC236}">
                <a16:creationId xmlns:a16="http://schemas.microsoft.com/office/drawing/2014/main" id="{2561AA77-4005-F346-971C-6928AE38920F}"/>
              </a:ext>
            </a:extLst>
          </p:cNvPr>
          <p:cNvPicPr>
            <a:picLocks noChangeAspect="1"/>
          </p:cNvPicPr>
          <p:nvPr/>
        </p:nvPicPr>
        <p:blipFill>
          <a:blip r:embed="rId3"/>
          <a:stretch>
            <a:fillRect/>
          </a:stretch>
        </p:blipFill>
        <p:spPr>
          <a:xfrm>
            <a:off x="-14416" y="3528775"/>
            <a:ext cx="5232400" cy="647700"/>
          </a:xfrm>
          <a:prstGeom prst="rect">
            <a:avLst/>
          </a:prstGeom>
        </p:spPr>
      </p:pic>
      <p:pic>
        <p:nvPicPr>
          <p:cNvPr id="7" name="Picture 6">
            <a:extLst>
              <a:ext uri="{FF2B5EF4-FFF2-40B4-BE49-F238E27FC236}">
                <a16:creationId xmlns:a16="http://schemas.microsoft.com/office/drawing/2014/main" id="{EA334D28-1D04-9444-8391-81AEAED93C28}"/>
              </a:ext>
            </a:extLst>
          </p:cNvPr>
          <p:cNvPicPr>
            <a:picLocks noChangeAspect="1"/>
          </p:cNvPicPr>
          <p:nvPr/>
        </p:nvPicPr>
        <p:blipFill>
          <a:blip r:embed="rId4"/>
          <a:stretch>
            <a:fillRect/>
          </a:stretch>
        </p:blipFill>
        <p:spPr>
          <a:xfrm>
            <a:off x="-14416" y="4157425"/>
            <a:ext cx="5702300" cy="381000"/>
          </a:xfrm>
          <a:prstGeom prst="rect">
            <a:avLst/>
          </a:prstGeom>
        </p:spPr>
      </p:pic>
      <p:sp>
        <p:nvSpPr>
          <p:cNvPr id="8" name="TextBox 7">
            <a:extLst>
              <a:ext uri="{FF2B5EF4-FFF2-40B4-BE49-F238E27FC236}">
                <a16:creationId xmlns:a16="http://schemas.microsoft.com/office/drawing/2014/main" id="{095CFE46-B628-214B-A493-7DC13B90B710}"/>
              </a:ext>
            </a:extLst>
          </p:cNvPr>
          <p:cNvSpPr txBox="1"/>
          <p:nvPr/>
        </p:nvSpPr>
        <p:spPr>
          <a:xfrm>
            <a:off x="-14417" y="5071510"/>
            <a:ext cx="4297031" cy="338554"/>
          </a:xfrm>
          <a:prstGeom prst="rect">
            <a:avLst/>
          </a:prstGeom>
          <a:noFill/>
        </p:spPr>
        <p:txBody>
          <a:bodyPr wrap="square" rtlCol="0">
            <a:spAutoFit/>
          </a:bodyPr>
          <a:lstStyle/>
          <a:p>
            <a:r>
              <a:rPr lang="en-US" sz="1600" b="1" dirty="0">
                <a:solidFill>
                  <a:srgbClr val="FF0000"/>
                </a:solidFill>
                <a:latin typeface="Arial" panose="020B0604020202020204" pitchFamily="34" charset="0"/>
                <a:cs typeface="Arial" panose="020B0604020202020204" pitchFamily="34" charset="0"/>
              </a:rPr>
              <a:t>Triplet Loss (anchor, positive, negative)</a:t>
            </a:r>
          </a:p>
        </p:txBody>
      </p:sp>
      <p:sp>
        <p:nvSpPr>
          <p:cNvPr id="9" name="TextBox 8">
            <a:extLst>
              <a:ext uri="{FF2B5EF4-FFF2-40B4-BE49-F238E27FC236}">
                <a16:creationId xmlns:a16="http://schemas.microsoft.com/office/drawing/2014/main" id="{C2607627-2C13-F641-AE28-E48AB8F3F00D}"/>
              </a:ext>
            </a:extLst>
          </p:cNvPr>
          <p:cNvSpPr txBox="1"/>
          <p:nvPr/>
        </p:nvSpPr>
        <p:spPr>
          <a:xfrm>
            <a:off x="-1" y="3126641"/>
            <a:ext cx="6424551" cy="338554"/>
          </a:xfrm>
          <a:prstGeom prst="rect">
            <a:avLst/>
          </a:prstGeom>
          <a:noFill/>
        </p:spPr>
        <p:txBody>
          <a:bodyPr wrap="square" rtlCol="0">
            <a:spAutoFit/>
          </a:bodyPr>
          <a:lstStyle/>
          <a:p>
            <a:r>
              <a:rPr lang="en-US" sz="1600" b="1" dirty="0">
                <a:solidFill>
                  <a:srgbClr val="FF0000"/>
                </a:solidFill>
                <a:latin typeface="Arial" panose="020B0604020202020204" pitchFamily="34" charset="0"/>
                <a:cs typeface="Arial" panose="020B0604020202020204" pitchFamily="34" charset="0"/>
              </a:rPr>
              <a:t>Pairwise Ranking Loss   (similar or not, positive or negative)</a:t>
            </a:r>
          </a:p>
        </p:txBody>
      </p:sp>
      <p:pic>
        <p:nvPicPr>
          <p:cNvPr id="10" name="Picture 9">
            <a:extLst>
              <a:ext uri="{FF2B5EF4-FFF2-40B4-BE49-F238E27FC236}">
                <a16:creationId xmlns:a16="http://schemas.microsoft.com/office/drawing/2014/main" id="{9317705B-8157-E341-A11F-209255798501}"/>
              </a:ext>
            </a:extLst>
          </p:cNvPr>
          <p:cNvPicPr>
            <a:picLocks noChangeAspect="1"/>
          </p:cNvPicPr>
          <p:nvPr/>
        </p:nvPicPr>
        <p:blipFill>
          <a:blip r:embed="rId5"/>
          <a:stretch>
            <a:fillRect/>
          </a:stretch>
        </p:blipFill>
        <p:spPr>
          <a:xfrm>
            <a:off x="-14416" y="5440842"/>
            <a:ext cx="5473844" cy="446365"/>
          </a:xfrm>
          <a:prstGeom prst="rect">
            <a:avLst/>
          </a:prstGeom>
        </p:spPr>
      </p:pic>
      <p:sp>
        <p:nvSpPr>
          <p:cNvPr id="11" name="TextBox 10">
            <a:extLst>
              <a:ext uri="{FF2B5EF4-FFF2-40B4-BE49-F238E27FC236}">
                <a16:creationId xmlns:a16="http://schemas.microsoft.com/office/drawing/2014/main" id="{DD2DC6A0-E836-BA4A-BC1C-CCE14108A177}"/>
              </a:ext>
            </a:extLst>
          </p:cNvPr>
          <p:cNvSpPr txBox="1"/>
          <p:nvPr/>
        </p:nvSpPr>
        <p:spPr>
          <a:xfrm>
            <a:off x="6299200" y="127000"/>
            <a:ext cx="5892800" cy="6186309"/>
          </a:xfrm>
          <a:prstGeom prst="rect">
            <a:avLst/>
          </a:prstGeom>
          <a:noFill/>
        </p:spPr>
        <p:txBody>
          <a:bodyPr wrap="square" rtlCol="0">
            <a:spAutoFit/>
          </a:bodyPr>
          <a:lstStyle/>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offline triplet mining, which means that triplets are defined at the beginning of the training</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online triplet mining, meaning that triplets are defined for every batch during the training</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Ranking loss</a:t>
            </a:r>
            <a:r>
              <a:rPr lang="en-US" sz="1200" dirty="0">
                <a:latin typeface="Arial" panose="020B0604020202020204" pitchFamily="34" charset="0"/>
                <a:cs typeface="Arial" panose="020B0604020202020204" pitchFamily="34" charset="0"/>
              </a:rPr>
              <a:t>: This name comes from the information retrieval field, where we want to train models to rank items in an specific order.</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Margin Loss</a:t>
            </a:r>
            <a:r>
              <a:rPr lang="en-US" sz="1200" dirty="0">
                <a:latin typeface="Arial" panose="020B0604020202020204" pitchFamily="34" charset="0"/>
                <a:cs typeface="Arial" panose="020B0604020202020204" pitchFamily="34" charset="0"/>
              </a:rPr>
              <a:t>: This name comes from the fact that these losses use a margin to compare samples representations distances.</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Contrastive Loss</a:t>
            </a:r>
            <a:r>
              <a:rPr lang="en-US" sz="1200" dirty="0">
                <a:latin typeface="Arial" panose="020B0604020202020204" pitchFamily="34" charset="0"/>
                <a:cs typeface="Arial" panose="020B0604020202020204" pitchFamily="34" charset="0"/>
              </a:rPr>
              <a:t>: Contrastive refers to the fact that these losses are computed contrasting two or more data points representations. This name is often used for Pairwise Ranking Loss, but I’ve never seen using it in a setup with triplets.</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Triplet Loss</a:t>
            </a:r>
            <a:r>
              <a:rPr lang="en-US" sz="1200" dirty="0">
                <a:latin typeface="Arial" panose="020B0604020202020204" pitchFamily="34" charset="0"/>
                <a:cs typeface="Arial" panose="020B0604020202020204" pitchFamily="34" charset="0"/>
              </a:rPr>
              <a:t>: Often used as loss name when triplet training pairs are employed.</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Hinge Loss</a:t>
            </a:r>
            <a:r>
              <a:rPr lang="en-US" sz="1200" dirty="0">
                <a:latin typeface="Arial" panose="020B0604020202020204" pitchFamily="34" charset="0"/>
                <a:cs typeface="Arial" panose="020B0604020202020204" pitchFamily="34" charset="0"/>
              </a:rPr>
              <a:t>: Also known as max-margin objective. It’s used for training SVMs for classification. It has a similar formulation in the sense that it optimizes until a margin. That’s why this name is sometimes used for Ranking Losses.</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t>
            </a:r>
          </a:p>
          <a:p>
            <a:r>
              <a:rPr lang="en-US" sz="1200" b="1" dirty="0">
                <a:solidFill>
                  <a:srgbClr val="FF0000"/>
                </a:solidFill>
                <a:latin typeface="Arial" panose="020B0604020202020204" pitchFamily="34" charset="0"/>
                <a:cs typeface="Arial" panose="020B0604020202020204" pitchFamily="34" charset="0"/>
              </a:rPr>
              <a:t>Siamese Nets</a:t>
            </a:r>
            <a:r>
              <a:rPr lang="en-US" sz="1200" dirty="0">
                <a:latin typeface="Arial" panose="020B0604020202020204" pitchFamily="34" charset="0"/>
                <a:cs typeface="Arial" panose="020B0604020202020204" pitchFamily="34" charset="0"/>
              </a:rPr>
              <a:t> - two identical CNNs with shared weights. Each one processes an image and produces a representation. Those representations are compared and a distance between them is computed. Then, a Pairwise Ranking Loss is used to train the network, such that the distance between representations:</a:t>
            </a:r>
          </a:p>
          <a:p>
            <a:r>
              <a:rPr lang="en-US" sz="1200" dirty="0">
                <a:latin typeface="Arial" panose="020B0604020202020204" pitchFamily="34" charset="0"/>
                <a:cs typeface="Arial" panose="020B0604020202020204" pitchFamily="34" charset="0"/>
              </a:rPr>
              <a:t> - is small if produced by similar images</a:t>
            </a:r>
          </a:p>
          <a:p>
            <a:r>
              <a:rPr lang="en-US" sz="1200" dirty="0">
                <a:latin typeface="Arial" panose="020B0604020202020204" pitchFamily="34" charset="0"/>
                <a:cs typeface="Arial" panose="020B0604020202020204" pitchFamily="34" charset="0"/>
              </a:rPr>
              <a:t> - is big if produced by dis-similar images</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t>
            </a:r>
          </a:p>
          <a:p>
            <a:r>
              <a:rPr lang="en-US" sz="1200" b="1" dirty="0">
                <a:solidFill>
                  <a:srgbClr val="FF0000"/>
                </a:solidFill>
                <a:latin typeface="Arial" panose="020B0604020202020204" pitchFamily="34" charset="0"/>
                <a:cs typeface="Arial" panose="020B0604020202020204" pitchFamily="34" charset="0"/>
              </a:rPr>
              <a:t>Triplet Nets</a:t>
            </a:r>
          </a:p>
          <a:p>
            <a:r>
              <a:rPr lang="en-US" sz="1200" dirty="0">
                <a:latin typeface="Arial" panose="020B0604020202020204" pitchFamily="34" charset="0"/>
                <a:cs typeface="Arial" panose="020B0604020202020204" pitchFamily="34" charset="0"/>
              </a:rPr>
              <a:t>The idea is similar to a </a:t>
            </a:r>
            <a:r>
              <a:rPr lang="en-US" sz="1200" dirty="0" err="1">
                <a:latin typeface="Arial" panose="020B0604020202020204" pitchFamily="34" charset="0"/>
                <a:cs typeface="Arial" panose="020B0604020202020204" pitchFamily="34" charset="0"/>
              </a:rPr>
              <a:t>siamese</a:t>
            </a:r>
            <a:r>
              <a:rPr lang="en-US" sz="1200" dirty="0">
                <a:latin typeface="Arial" panose="020B0604020202020204" pitchFamily="34" charset="0"/>
                <a:cs typeface="Arial" panose="020B0604020202020204" pitchFamily="34" charset="0"/>
              </a:rPr>
              <a:t> net, but a triplet net has three branches (three CNNs with shared weights). The model is trained by simultaneously giving a positive and a negative image (relative to the corresponding anchor image), and using a Triplet Ranking Loss. That lets the net learn better which images are similar and different to the anchor image.</a:t>
            </a:r>
          </a:p>
        </p:txBody>
      </p:sp>
    </p:spTree>
    <p:extLst>
      <p:ext uri="{BB962C8B-B14F-4D97-AF65-F5344CB8AC3E}">
        <p14:creationId xmlns:p14="http://schemas.microsoft.com/office/powerpoint/2010/main" val="1941799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589</Words>
  <Application>Microsoft Macintosh PowerPoint</Application>
  <PresentationFormat>Widescreen</PresentationFormat>
  <Paragraphs>53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11</cp:revision>
  <dcterms:created xsi:type="dcterms:W3CDTF">2020-06-01T22:52:41Z</dcterms:created>
  <dcterms:modified xsi:type="dcterms:W3CDTF">2021-05-29T16:01:14Z</dcterms:modified>
</cp:coreProperties>
</file>