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21"/>
    <p:restoredTop sz="94211"/>
  </p:normalViewPr>
  <p:slideViewPr>
    <p:cSldViewPr snapToGrid="0" snapToObjects="1">
      <p:cViewPr varScale="1">
        <p:scale>
          <a:sx n="97" d="100"/>
          <a:sy n="97" d="100"/>
        </p:scale>
        <p:origin x="24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257BA-3AB2-914B-B1C7-8E64980B0969}" type="datetimeFigureOut">
              <a:rPr lang="en-US" smtClean="0"/>
              <a:t>5/27/20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0023B-930E-5D47-A261-B33FCDE8C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05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0023B-930E-5D47-A261-B33FCDE8C9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336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0023B-930E-5D47-A261-B33FCDE8C9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92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60023B-930E-5D47-A261-B33FCDE8C9F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627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5065E-626C-9A40-BCB2-0ECFF870BE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44CCC5-8E4F-9D42-AEA0-22272E46C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D20A-ABB9-5449-878C-D1DD3D2C4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9A2C-8675-FD42-8E16-D355BB796D05}" type="datetimeFigureOut">
              <a:rPr lang="en-US" smtClean="0"/>
              <a:t>5/27/20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EB7F8-12EC-7340-B194-25210B11A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40EF5-BE3C-F645-B9A0-235F0F4EE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8EFD-194E-6B42-9788-7AB751EC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263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C37CE-67E3-DF48-8324-16DC89E07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F6544-98D9-604A-9682-A9578E393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DB02A-6E7B-4C4D-84BC-400893CA3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9A2C-8675-FD42-8E16-D355BB796D05}" type="datetimeFigureOut">
              <a:rPr lang="en-US" smtClean="0"/>
              <a:t>5/27/20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BEEF6-DD00-524E-A893-0793A84E4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E73A0-0B15-8440-AD45-89EB7281E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8EFD-194E-6B42-9788-7AB751EC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221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EA67A-2A2A-484C-B254-5E075B76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67DD3-2120-534D-A220-5A192C44B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493FB-D984-BD4A-8BCF-73C671966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9A2C-8675-FD42-8E16-D355BB796D05}" type="datetimeFigureOut">
              <a:rPr lang="en-US" smtClean="0"/>
              <a:t>5/27/20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79A4F8-503D-F14C-BC5A-75443BF7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145FC-D5DA-4943-9D37-F64F4571F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8EFD-194E-6B42-9788-7AB751EC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11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EA0C9-331A-0A47-A9CA-3CA9E805A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939E7-0F56-DD49-9CE2-2E4B2E88C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22D6F-49C8-5F44-9C42-FF65FBEA7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E2D4F-A988-5C4B-A20E-2B50BB3EB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9A2C-8675-FD42-8E16-D355BB796D05}" type="datetimeFigureOut">
              <a:rPr lang="en-US" smtClean="0"/>
              <a:t>5/27/20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20547-6417-DA41-A93B-18B28DD55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462D6-D8F1-1C40-A8EA-2D93A0C3F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8EFD-194E-6B42-9788-7AB751EC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77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0B342-AB43-7942-9609-A64BC0CDE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D4298-9E56-8941-A15C-C9C114CB8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B6D3F-80D9-FB46-BCA2-0F8FF120C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C603CB-7EFF-B74D-8027-048FFD52C6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1C94D2-ABF7-6342-ACF8-857A244714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87DE67-7F02-C247-A237-101562E0A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9A2C-8675-FD42-8E16-D355BB796D05}" type="datetimeFigureOut">
              <a:rPr lang="en-US" smtClean="0"/>
              <a:t>5/27/20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B7F247-B890-6D43-96B9-84F461866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A0C275-149F-E342-BD8B-6A1787706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8EFD-194E-6B42-9788-7AB751EC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83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4006B-D734-2649-AD82-9E70EACB1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96291F-E7C6-224C-92F3-57FE683DF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9A2C-8675-FD42-8E16-D355BB796D05}" type="datetimeFigureOut">
              <a:rPr lang="en-US" smtClean="0"/>
              <a:t>5/27/20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EF1950-69B2-C041-855A-B3B7F031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16F240-BDD2-EE42-9B08-11D1D4EF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8EFD-194E-6B42-9788-7AB751EC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896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456A54-8D30-9144-BFB2-1C924E2FA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9A2C-8675-FD42-8E16-D355BB796D05}" type="datetimeFigureOut">
              <a:rPr lang="en-US" smtClean="0"/>
              <a:t>5/27/20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E72EB-A914-B749-A5B8-EA1681149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25497-8AC9-5549-BB32-CACC04A84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8EFD-194E-6B42-9788-7AB751EC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960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829B6-882F-C741-92FF-BCB23673C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0FE88-9FE8-9C46-884B-583D39AD9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AAFE74-AF21-CD4E-9254-18111025B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4F537-B783-9D48-BB2E-240D1502C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9A2C-8675-FD42-8E16-D355BB796D05}" type="datetimeFigureOut">
              <a:rPr lang="en-US" smtClean="0"/>
              <a:t>5/27/20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66954-3D90-474F-8FA0-F546E9BD6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391803-D9DF-9043-BD3F-944719839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8EFD-194E-6B42-9788-7AB751EC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292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8069-00A5-184A-8680-3D558B67D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84785F-478E-5743-932D-C4768A5DD1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CA8EB-ACB2-594B-904D-B0857077E5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A26ED-A181-174A-A172-F587D3EFE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9A2C-8675-FD42-8E16-D355BB796D05}" type="datetimeFigureOut">
              <a:rPr lang="en-US" smtClean="0"/>
              <a:t>5/27/20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FF9AB-C385-1B4B-BF4B-506839231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32105-1B83-CF4E-9E25-B85CDCAAF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8EFD-194E-6B42-9788-7AB751EC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440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E45E6-F4F6-B244-A4DC-C4139B363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CFB0FC-FB41-114A-A31C-0D5FE67674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7DD5-53EA-3E4C-8800-938132FDE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9A2C-8675-FD42-8E16-D355BB796D05}" type="datetimeFigureOut">
              <a:rPr lang="en-US" smtClean="0"/>
              <a:t>5/27/20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06ED5-BC7F-D94B-8A46-9D2DA57FC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6F154-DDD2-0945-9E05-1AE5082D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8EFD-194E-6B42-9788-7AB751EC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68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D48199-7542-514E-88D4-78AEE6C3D9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7DE58B-CF79-FF4D-949B-63A703E25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E4924-1218-D64A-B8F2-22010FF73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89A2C-8675-FD42-8E16-D355BB796D05}" type="datetimeFigureOut">
              <a:rPr lang="en-US" smtClean="0"/>
              <a:t>5/27/20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A0E2E-C4B3-5345-9466-8A22C176C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45E07-AF67-AF49-BF5A-5686A8A8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F8EFD-194E-6B42-9788-7AB751EC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8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7519CB-E0AA-4748-93BA-A1629F88F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30CB16-A0AF-EC45-A997-A9722F201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22EA6-A922-EB49-8E47-0DF233CD8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89A2C-8675-FD42-8E16-D355BB796D05}" type="datetimeFigureOut">
              <a:rPr lang="en-US" smtClean="0"/>
              <a:t>5/27/20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7D122-247B-184C-ABBA-4AEFE87F9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F06D0-6C79-164D-AE31-0AAD1F4395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F8EFD-194E-6B42-9788-7AB751EC40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07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docker.com/engine/reference/run/" TargetMode="External"/><Relationship Id="rId3" Type="http://schemas.openxmlformats.org/officeDocument/2006/relationships/hyperlink" Target="https://www.youtube.com/watch?v=JprTjTViaEA" TargetMode="External"/><Relationship Id="rId7" Type="http://schemas.openxmlformats.org/officeDocument/2006/relationships/hyperlink" Target="https://jonnylangefeld.github.io/learning/Docker/How%2Bto%2BDocker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edium.com/@patrickmichelberger/getting-started-with-anaconda-docker-b50a2c482139" TargetMode="External"/><Relationship Id="rId5" Type="http://schemas.openxmlformats.org/officeDocument/2006/relationships/hyperlink" Target="https://docs.docker.com/get-started/" TargetMode="External"/><Relationship Id="rId4" Type="http://schemas.openxmlformats.org/officeDocument/2006/relationships/hyperlink" Target="https://hub.docker.com/editions/community/docker-ce-desktop-mac" TargetMode="External"/><Relationship Id="rId9" Type="http://schemas.openxmlformats.org/officeDocument/2006/relationships/hyperlink" Target="https://docs.docker.com/engine/reference/builder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prTjTViaE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hub.docker.com/u/continuumio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engine/reference/builder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compose/" TargetMode="External"/><Relationship Id="rId2" Type="http://schemas.openxmlformats.org/officeDocument/2006/relationships/hyperlink" Target="https://docs.docker.com/config/containers/multi-service_container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overflow.com/questions/18136389/using-ssh-keys-inside-docker-container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dev.to/brpaz/using-docker-multi-stage-builds-during-development-35bc" TargetMode="External"/><Relationship Id="rId3" Type="http://schemas.openxmlformats.org/officeDocument/2006/relationships/hyperlink" Target="https://l-lin.github.io/post/2018/2018-09-03-docker_ubuntu_18_dns/" TargetMode="External"/><Relationship Id="rId7" Type="http://schemas.openxmlformats.org/officeDocument/2006/relationships/hyperlink" Target="https://stackoverflow.com/questions/33322103/multiple-froms-what-it-means" TargetMode="External"/><Relationship Id="rId2" Type="http://schemas.openxmlformats.org/officeDocument/2006/relationships/hyperlink" Target="https://docs.docker.com/v17.09/engine/userguide/networking/default_network/configure-dn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oby/moby/issues/3378" TargetMode="External"/><Relationship Id="rId5" Type="http://schemas.openxmlformats.org/officeDocument/2006/relationships/hyperlink" Target="https://docs.nginx.com/nginx/admin-guide/installing-nginx/installing-nginx-docker/" TargetMode="External"/><Relationship Id="rId10" Type="http://schemas.openxmlformats.org/officeDocument/2006/relationships/hyperlink" Target="https://blog.aquasec.com/a-brief-history-of-containers-from-1970s-chroot-to-docker-2016" TargetMode="External"/><Relationship Id="rId4" Type="http://schemas.openxmlformats.org/officeDocument/2006/relationships/hyperlink" Target="https://blog.codeship.com/using-the-add-host-flag-for-dns-mapping-within-docker-containers/" TargetMode="External"/><Relationship Id="rId9" Type="http://schemas.openxmlformats.org/officeDocument/2006/relationships/hyperlink" Target="https://medium.com/@tonistiigi/advanced-multi-stage-build-patterns-6f741b852fa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nickjanetakis.com/blog/docker-tip-40-running-cron-jobs-on-the-host-vs-in-a-container" TargetMode="External"/><Relationship Id="rId7" Type="http://schemas.openxmlformats.org/officeDocument/2006/relationships/hyperlink" Target="https://github.com/mcuadros/ofelia" TargetMode="External"/><Relationship Id="rId2" Type="http://schemas.openxmlformats.org/officeDocument/2006/relationships/hyperlink" Target="https://devops.stackexchange.com/questions/4904/scheduling-a-docker-container-or-installing-scheduler-in-containe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reos.com/os/docs/latest/scheduling-tasks-with-systemd-timers.html" TargetMode="External"/><Relationship Id="rId5" Type="http://schemas.openxmlformats.org/officeDocument/2006/relationships/hyperlink" Target="https://blog.trifork.com/2014/03/11/using-supervisor-with-docker-to-manage-processes-supporting-image-inheritance/" TargetMode="External"/><Relationship Id="rId4" Type="http://schemas.openxmlformats.org/officeDocument/2006/relationships/hyperlink" Target="https://www.tddapps.com/2017/02/18/how-to-run-any-container-on-a-schedul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E0800D-0545-8F4C-944B-800108629EE3}"/>
              </a:ext>
            </a:extLst>
          </p:cNvPr>
          <p:cNvSpPr txBox="1"/>
          <p:nvPr/>
        </p:nvSpPr>
        <p:spPr>
          <a:xfrm>
            <a:off x="164892" y="149902"/>
            <a:ext cx="9923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Docker container – tutorial – p1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165B1-A7F3-C847-BE32-3B5CEA20312C}"/>
              </a:ext>
            </a:extLst>
          </p:cNvPr>
          <p:cNvSpPr txBox="1"/>
          <p:nvPr/>
        </p:nvSpPr>
        <p:spPr>
          <a:xfrm>
            <a:off x="0" y="733246"/>
            <a:ext cx="12027109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ndale Mono" panose="020B0509000000000004" pitchFamily="49" charset="0"/>
              </a:rPr>
              <a:t>Nice tutorial for Mac and Linux</a:t>
            </a:r>
            <a:endParaRPr lang="en-US" sz="1200" dirty="0">
              <a:latin typeface="Andale Mono" panose="020B0509000000000004" pitchFamily="49" charset="0"/>
              <a:hlinkClick r:id="rId3"/>
            </a:endParaRPr>
          </a:p>
          <a:p>
            <a:r>
              <a:rPr lang="en-US" sz="1200" dirty="0">
                <a:latin typeface="Andale Mono" panose="020B0509000000000004" pitchFamily="49" charset="0"/>
                <a:hlinkClick r:id="rId3"/>
              </a:rPr>
              <a:t>https://www.youtube.com/watch?v=JprTjTViaEA</a:t>
            </a:r>
            <a:r>
              <a:rPr lang="en-US" sz="1200" dirty="0">
                <a:latin typeface="Andale Mono" panose="020B0509000000000004" pitchFamily="49" charset="0"/>
              </a:rPr>
              <a:t> </a:t>
            </a:r>
          </a:p>
          <a:p>
            <a:endParaRPr lang="en-US" sz="1200" dirty="0">
              <a:latin typeface="Andale Mono" panose="020B0509000000000004" pitchFamily="49" charset="0"/>
            </a:endParaRPr>
          </a:p>
          <a:p>
            <a:r>
              <a:rPr lang="en-US" sz="1200" dirty="0">
                <a:latin typeface="Andale Mono" panose="020B0509000000000004" pitchFamily="49" charset="0"/>
              </a:rPr>
              <a:t>Download docker for Mac – file </a:t>
            </a:r>
            <a:r>
              <a:rPr lang="en-US" sz="1200" dirty="0" err="1">
                <a:latin typeface="Andale Mono" panose="020B0509000000000004" pitchFamily="49" charset="0"/>
              </a:rPr>
              <a:t>Docker.dmg</a:t>
            </a:r>
            <a:r>
              <a:rPr lang="en-US" sz="1200" dirty="0">
                <a:latin typeface="Andale Mono" panose="020B0509000000000004" pitchFamily="49" charset="0"/>
              </a:rPr>
              <a:t> :</a:t>
            </a:r>
          </a:p>
          <a:p>
            <a:r>
              <a:rPr lang="en-US" sz="1200" dirty="0">
                <a:latin typeface="Andale Mono" panose="020B0509000000000004" pitchFamily="49" charset="0"/>
                <a:hlinkClick r:id="rId4"/>
              </a:rPr>
              <a:t>https://hub.docker.com/editions/community/docker-ce-desktop-mac</a:t>
            </a:r>
            <a:r>
              <a:rPr lang="en-US" sz="1200" dirty="0">
                <a:latin typeface="Andale Mono" panose="020B0509000000000004" pitchFamily="49" charset="0"/>
              </a:rPr>
              <a:t> </a:t>
            </a:r>
          </a:p>
          <a:p>
            <a:endParaRPr lang="en-US" sz="1200" dirty="0">
              <a:latin typeface="Andale Mono" panose="020B0509000000000004" pitchFamily="49" charset="0"/>
            </a:endParaRPr>
          </a:p>
          <a:p>
            <a:r>
              <a:rPr lang="en-US" sz="1200" dirty="0">
                <a:latin typeface="Andale Mono" panose="020B0509000000000004" pitchFamily="49" charset="0"/>
              </a:rPr>
              <a:t>Install it – now you have </a:t>
            </a:r>
            <a:r>
              <a:rPr lang="en-US" sz="1200" dirty="0" err="1">
                <a:latin typeface="Andale Mono" panose="020B0509000000000004" pitchFamily="49" charset="0"/>
              </a:rPr>
              <a:t>Docker.app</a:t>
            </a:r>
            <a:r>
              <a:rPr lang="en-US" sz="1200" dirty="0">
                <a:latin typeface="Andale Mono" panose="020B0509000000000004" pitchFamily="49" charset="0"/>
              </a:rPr>
              <a:t> in Applications</a:t>
            </a:r>
          </a:p>
          <a:p>
            <a:r>
              <a:rPr lang="en-US" sz="1200" dirty="0">
                <a:latin typeface="Andale Mono" panose="020B0509000000000004" pitchFamily="49" charset="0"/>
              </a:rPr>
              <a:t>Run it, a docker icon will appear on the top bar of Mac desktop.</a:t>
            </a:r>
          </a:p>
          <a:p>
            <a:r>
              <a:rPr lang="en-US" sz="1200" dirty="0">
                <a:latin typeface="Andale Mono" panose="020B0509000000000004" pitchFamily="49" charset="0"/>
              </a:rPr>
              <a:t>It will ask to login using your login/password at </a:t>
            </a:r>
            <a:r>
              <a:rPr lang="en-US" sz="1200" dirty="0" err="1">
                <a:latin typeface="Andale Mono" panose="020B0509000000000004" pitchFamily="49" charset="0"/>
              </a:rPr>
              <a:t>docker.com</a:t>
            </a:r>
            <a:endParaRPr lang="en-US" sz="1200" dirty="0">
              <a:latin typeface="Andale Mono" panose="020B0509000000000004" pitchFamily="49" charset="0"/>
            </a:endParaRPr>
          </a:p>
          <a:p>
            <a:r>
              <a:rPr lang="en-US" sz="1200" dirty="0">
                <a:latin typeface="Andale Mono" panose="020B0509000000000004" pitchFamily="49" charset="0"/>
              </a:rPr>
              <a:t>Now you can open terminal and run docker commands:</a:t>
            </a:r>
          </a:p>
          <a:p>
            <a:endParaRPr lang="en-US" sz="1200" dirty="0">
              <a:latin typeface="Andale Mono" panose="020B0509000000000004" pitchFamily="49" charset="0"/>
            </a:endParaRPr>
          </a:p>
          <a:p>
            <a:r>
              <a:rPr lang="en-US" sz="1000" dirty="0">
                <a:latin typeface="Andale Mono" panose="020B0509000000000004" pitchFamily="49" charset="0"/>
              </a:rPr>
              <a:t>docker --version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docker run hello-world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docker </a:t>
            </a:r>
            <a:r>
              <a:rPr lang="en-US" sz="1000" dirty="0" err="1">
                <a:latin typeface="Andale Mono" panose="020B0509000000000004" pitchFamily="49" charset="0"/>
              </a:rPr>
              <a:t>ps</a:t>
            </a:r>
            <a:r>
              <a:rPr lang="en-US" sz="1000" dirty="0">
                <a:latin typeface="Andale Mono" panose="020B0509000000000004" pitchFamily="49" charset="0"/>
              </a:rPr>
              <a:t> –a   # shows all running and exited containers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docker run --name my-hello hello-world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docker </a:t>
            </a:r>
            <a:r>
              <a:rPr lang="en-US" sz="1000" dirty="0" err="1">
                <a:latin typeface="Andale Mono" panose="020B0509000000000004" pitchFamily="49" charset="0"/>
              </a:rPr>
              <a:t>ps</a:t>
            </a:r>
            <a:r>
              <a:rPr lang="en-US" sz="1000" dirty="0">
                <a:latin typeface="Andale Mono" panose="020B0509000000000004" pitchFamily="49" charset="0"/>
              </a:rPr>
              <a:t> -a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CONTAINER ID        IMAGE               COMMAND             CREATED             STATUS                     PORTS               NAMES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7f02d0054824        hello-world         "/hello"            6 seconds ago       Exited (0) 5 seconds ago                       my-hello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877d44086bed        hello-world         "/hello"            4 minutes ago       Exited (0) 4 minutes ago                       </a:t>
            </a:r>
            <a:r>
              <a:rPr lang="en-US" sz="1000" dirty="0" err="1">
                <a:latin typeface="Andale Mono" panose="020B0509000000000004" pitchFamily="49" charset="0"/>
              </a:rPr>
              <a:t>gifted_Sutherland</a:t>
            </a:r>
            <a:endParaRPr lang="en-US" sz="1000" dirty="0">
              <a:latin typeface="Andale Mono" panose="020B0509000000000004" pitchFamily="49" charset="0"/>
            </a:endParaRPr>
          </a:p>
          <a:p>
            <a:endParaRPr lang="en-US" sz="1000" dirty="0">
              <a:latin typeface="Andale Mono" panose="020B0509000000000004" pitchFamily="49" charset="0"/>
            </a:endParaRPr>
          </a:p>
          <a:p>
            <a:r>
              <a:rPr lang="en-US" sz="1000" dirty="0">
                <a:latin typeface="Andale Mono" panose="020B0509000000000004" pitchFamily="49" charset="0"/>
              </a:rPr>
              <a:t>docker run -it --name my-</a:t>
            </a:r>
            <a:r>
              <a:rPr lang="en-US" sz="1000" dirty="0" err="1">
                <a:latin typeface="Andale Mono" panose="020B0509000000000004" pitchFamily="49" charset="0"/>
              </a:rPr>
              <a:t>linuc</a:t>
            </a:r>
            <a:r>
              <a:rPr lang="en-US" sz="1000" dirty="0">
                <a:latin typeface="Andale Mono" panose="020B0509000000000004" pitchFamily="49" charset="0"/>
              </a:rPr>
              <a:t>-container ubuntu bash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…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root@05c21049cf30:/# </a:t>
            </a:r>
          </a:p>
          <a:p>
            <a:endParaRPr lang="en-US" sz="1000" dirty="0">
              <a:latin typeface="Andale Mono" panose="020B0509000000000004" pitchFamily="49" charset="0"/>
            </a:endParaRPr>
          </a:p>
          <a:p>
            <a:r>
              <a:rPr lang="en-US" sz="1000" dirty="0">
                <a:latin typeface="Andale Mono" panose="020B0509000000000004" pitchFamily="49" charset="0"/>
              </a:rPr>
              <a:t>Try running commands on prompt:  top , </a:t>
            </a:r>
            <a:r>
              <a:rPr lang="en-US" sz="1000" dirty="0" err="1">
                <a:latin typeface="Andale Mono" panose="020B0509000000000004" pitchFamily="49" charset="0"/>
              </a:rPr>
              <a:t>pwd</a:t>
            </a:r>
            <a:r>
              <a:rPr lang="en-US" sz="1000" dirty="0">
                <a:latin typeface="Andale Mono" panose="020B0509000000000004" pitchFamily="49" charset="0"/>
              </a:rPr>
              <a:t> , ls –</a:t>
            </a:r>
            <a:r>
              <a:rPr lang="en-US" sz="1000" dirty="0" err="1">
                <a:latin typeface="Andale Mono" panose="020B0509000000000004" pitchFamily="49" charset="0"/>
              </a:rPr>
              <a:t>alF</a:t>
            </a:r>
            <a:r>
              <a:rPr lang="en-US" sz="1000" dirty="0">
                <a:latin typeface="Andale Mono" panose="020B0509000000000004" pitchFamily="49" charset="0"/>
              </a:rPr>
              <a:t> , etc., then exit</a:t>
            </a:r>
          </a:p>
          <a:p>
            <a:endParaRPr lang="en-US" sz="1000" dirty="0">
              <a:latin typeface="Andale Mono" panose="020B0509000000000004" pitchFamily="49" charset="0"/>
            </a:endParaRPr>
          </a:p>
          <a:p>
            <a:r>
              <a:rPr lang="en-US" sz="1000" dirty="0">
                <a:latin typeface="Andale Mono" panose="020B0509000000000004" pitchFamily="49" charset="0"/>
              </a:rPr>
              <a:t>docker </a:t>
            </a:r>
            <a:r>
              <a:rPr lang="en-US" sz="1000" dirty="0" err="1">
                <a:latin typeface="Andale Mono" panose="020B0509000000000004" pitchFamily="49" charset="0"/>
              </a:rPr>
              <a:t>ps</a:t>
            </a:r>
            <a:r>
              <a:rPr lang="en-US" sz="1000" dirty="0">
                <a:latin typeface="Andale Mono" panose="020B0509000000000004" pitchFamily="49" charset="0"/>
              </a:rPr>
              <a:t> –a   # now shows 3 exited containers</a:t>
            </a:r>
          </a:p>
          <a:p>
            <a:endParaRPr lang="en-US" sz="1000" dirty="0">
              <a:latin typeface="Andale Mono" panose="020B0509000000000004" pitchFamily="49" charset="0"/>
            </a:endParaRPr>
          </a:p>
          <a:p>
            <a:r>
              <a:rPr lang="en-US" sz="1000" dirty="0">
                <a:latin typeface="Andale Mono" panose="020B0509000000000004" pitchFamily="49" charset="0"/>
              </a:rPr>
              <a:t>docker run -it --name my-linuc-container-1 ubuntu bash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docker run -it --name my-linuc-container-2 ubuntu bash</a:t>
            </a:r>
          </a:p>
          <a:p>
            <a:endParaRPr lang="en-US" sz="1000" dirty="0">
              <a:latin typeface="Andale Mono" panose="020B0509000000000004" pitchFamily="49" charset="0"/>
            </a:endParaRPr>
          </a:p>
          <a:p>
            <a:r>
              <a:rPr lang="en-US" sz="1000" dirty="0">
                <a:latin typeface="Andale Mono" panose="020B0509000000000004" pitchFamily="49" charset="0"/>
              </a:rPr>
              <a:t>Make a list of IDs of all exited containers: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docker </a:t>
            </a:r>
            <a:r>
              <a:rPr lang="en-US" sz="1000" dirty="0" err="1">
                <a:latin typeface="Andale Mono" panose="020B0509000000000004" pitchFamily="49" charset="0"/>
              </a:rPr>
              <a:t>ps</a:t>
            </a:r>
            <a:r>
              <a:rPr lang="en-US" sz="1000" dirty="0">
                <a:latin typeface="Andale Mono" panose="020B0509000000000004" pitchFamily="49" charset="0"/>
              </a:rPr>
              <a:t> -a -f status=exited -q</a:t>
            </a:r>
          </a:p>
          <a:p>
            <a:endParaRPr lang="en-US" sz="1000" dirty="0">
              <a:latin typeface="Andale Mono" panose="020B0509000000000004" pitchFamily="49" charset="0"/>
            </a:endParaRPr>
          </a:p>
          <a:p>
            <a:r>
              <a:rPr lang="en-US" sz="1000" dirty="0">
                <a:latin typeface="Andale Mono" panose="020B0509000000000004" pitchFamily="49" charset="0"/>
              </a:rPr>
              <a:t>Remove them from list: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docker </a:t>
            </a:r>
            <a:r>
              <a:rPr lang="en-US" sz="1000" dirty="0" err="1">
                <a:latin typeface="Andale Mono" panose="020B0509000000000004" pitchFamily="49" charset="0"/>
              </a:rPr>
              <a:t>rm</a:t>
            </a:r>
            <a:r>
              <a:rPr lang="en-US" sz="1000" dirty="0">
                <a:latin typeface="Andale Mono" panose="020B0509000000000004" pitchFamily="49" charset="0"/>
              </a:rPr>
              <a:t> $(docker </a:t>
            </a:r>
            <a:r>
              <a:rPr lang="en-US" sz="1000" dirty="0" err="1">
                <a:latin typeface="Andale Mono" panose="020B0509000000000004" pitchFamily="49" charset="0"/>
              </a:rPr>
              <a:t>ps</a:t>
            </a:r>
            <a:r>
              <a:rPr lang="en-US" sz="1000" dirty="0">
                <a:latin typeface="Andale Mono" panose="020B0509000000000004" pitchFamily="49" charset="0"/>
              </a:rPr>
              <a:t> -a -f status=exited -q)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2FFE2D-EA3A-9C4F-9241-E7A4C683C10C}"/>
              </a:ext>
            </a:extLst>
          </p:cNvPr>
          <p:cNvSpPr txBox="1"/>
          <p:nvPr/>
        </p:nvSpPr>
        <p:spPr>
          <a:xfrm>
            <a:off x="6730584" y="149902"/>
            <a:ext cx="52965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Official docker tutorial:</a:t>
            </a:r>
          </a:p>
          <a:p>
            <a:r>
              <a:rPr lang="en-US" sz="1200" dirty="0"/>
              <a:t> - </a:t>
            </a:r>
            <a:r>
              <a:rPr lang="en-US" sz="1200" dirty="0">
                <a:hlinkClick r:id="rId5"/>
              </a:rPr>
              <a:t>https://docs.docker.com/get-started/</a:t>
            </a:r>
            <a:endParaRPr lang="en-US" sz="1200" dirty="0"/>
          </a:p>
          <a:p>
            <a:r>
              <a:rPr lang="en-US" sz="1200" dirty="0"/>
              <a:t>One more tutorial:</a:t>
            </a:r>
          </a:p>
          <a:p>
            <a:r>
              <a:rPr lang="en-US" sz="1200" dirty="0"/>
              <a:t> - </a:t>
            </a:r>
            <a:r>
              <a:rPr lang="en-US" sz="1200" dirty="0">
                <a:hlinkClick r:id="rId6"/>
              </a:rPr>
              <a:t>https://medium.com/@patrickmichelberger/getting-started-with-anaconda-docker-b50a2c482139</a:t>
            </a:r>
            <a:endParaRPr lang="en-US" sz="1200" dirty="0"/>
          </a:p>
          <a:p>
            <a:r>
              <a:rPr lang="en-US" sz="1200" dirty="0"/>
              <a:t>This tutorial:</a:t>
            </a:r>
          </a:p>
          <a:p>
            <a:r>
              <a:rPr lang="en-US" sz="1200" dirty="0"/>
              <a:t> -</a:t>
            </a:r>
            <a:r>
              <a:rPr lang="en-US" sz="1200" dirty="0">
                <a:hlinkClick r:id="rId7"/>
              </a:rPr>
              <a:t> https://jonnylangefeld.github.io/learning/Docker/How%2Bto%2BDocker.html</a:t>
            </a:r>
            <a:r>
              <a:rPr lang="en-US" sz="1200" dirty="0"/>
              <a:t> </a:t>
            </a:r>
          </a:p>
          <a:p>
            <a:r>
              <a:rPr lang="en-US" sz="1200" dirty="0"/>
              <a:t>Reference for “dicker run”:</a:t>
            </a:r>
          </a:p>
          <a:p>
            <a:r>
              <a:rPr lang="en-US" sz="1200" dirty="0"/>
              <a:t> - </a:t>
            </a:r>
            <a:r>
              <a:rPr lang="en-US" sz="1200" dirty="0">
                <a:hlinkClick r:id="rId8"/>
              </a:rPr>
              <a:t>https://docs.docker.com/engine/reference/run/</a:t>
            </a:r>
            <a:endParaRPr lang="en-US" sz="1200" dirty="0"/>
          </a:p>
          <a:p>
            <a:r>
              <a:rPr lang="en-US" sz="1200" dirty="0"/>
              <a:t>Reference for </a:t>
            </a:r>
            <a:r>
              <a:rPr lang="en-US" sz="1200" dirty="0" err="1"/>
              <a:t>Dockerfile</a:t>
            </a:r>
            <a:r>
              <a:rPr lang="en-US" sz="1200" dirty="0"/>
              <a:t>:</a:t>
            </a:r>
          </a:p>
          <a:p>
            <a:r>
              <a:rPr lang="en-US" sz="1200" dirty="0"/>
              <a:t> - </a:t>
            </a:r>
            <a:r>
              <a:rPr lang="en-US" sz="1200" dirty="0">
                <a:hlinkClick r:id="rId9"/>
              </a:rPr>
              <a:t>https://docs.docker.com/engine/reference/builder/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09166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E0800D-0545-8F4C-944B-800108629EE3}"/>
              </a:ext>
            </a:extLst>
          </p:cNvPr>
          <p:cNvSpPr txBox="1"/>
          <p:nvPr/>
        </p:nvSpPr>
        <p:spPr>
          <a:xfrm>
            <a:off x="164892" y="149902"/>
            <a:ext cx="9923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Docker container – tutorial – p2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165B1-A7F3-C847-BE32-3B5CEA20312C}"/>
              </a:ext>
            </a:extLst>
          </p:cNvPr>
          <p:cNvSpPr txBox="1"/>
          <p:nvPr/>
        </p:nvSpPr>
        <p:spPr>
          <a:xfrm>
            <a:off x="0" y="733246"/>
            <a:ext cx="12027109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ndale Mono" panose="020B0509000000000004" pitchFamily="49" charset="0"/>
              </a:rPr>
              <a:t>Continue tutorial - </a:t>
            </a:r>
            <a:r>
              <a:rPr lang="en-US" sz="1200" dirty="0">
                <a:latin typeface="Andale Mono" panose="020B0509000000000004" pitchFamily="49" charset="0"/>
                <a:hlinkClick r:id="rId3"/>
              </a:rPr>
              <a:t>https://www.youtube.com/watch?v=JprTjTViaEA</a:t>
            </a:r>
            <a:r>
              <a:rPr lang="en-US" sz="1200" dirty="0">
                <a:latin typeface="Andale Mono" panose="020B0509000000000004" pitchFamily="49" charset="0"/>
              </a:rPr>
              <a:t> </a:t>
            </a:r>
          </a:p>
          <a:p>
            <a:r>
              <a:rPr lang="en-US" sz="1200" dirty="0">
                <a:latin typeface="Andale Mono" panose="020B0509000000000004" pitchFamily="49" charset="0"/>
              </a:rPr>
              <a:t>=========================================</a:t>
            </a:r>
          </a:p>
          <a:p>
            <a:r>
              <a:rPr lang="en-US" sz="1200" dirty="0">
                <a:latin typeface="Andale Mono" panose="020B0509000000000004" pitchFamily="49" charset="0"/>
              </a:rPr>
              <a:t>Add local directory as volume into the container:</a:t>
            </a:r>
          </a:p>
          <a:p>
            <a:r>
              <a:rPr lang="en-US" sz="1200" dirty="0">
                <a:solidFill>
                  <a:srgbClr val="0070C0"/>
                </a:solidFill>
                <a:latin typeface="Andale Mono" panose="020B0509000000000004" pitchFamily="49" charset="0"/>
              </a:rPr>
              <a:t>docker run -it --name my-</a:t>
            </a:r>
            <a:r>
              <a:rPr lang="en-US" sz="1200" dirty="0" err="1">
                <a:solidFill>
                  <a:srgbClr val="0070C0"/>
                </a:solidFill>
                <a:latin typeface="Andale Mono" panose="020B0509000000000004" pitchFamily="49" charset="0"/>
              </a:rPr>
              <a:t>linux</a:t>
            </a:r>
            <a:r>
              <a:rPr lang="en-US" sz="1200" dirty="0">
                <a:solidFill>
                  <a:srgbClr val="0070C0"/>
                </a:solidFill>
                <a:latin typeface="Andale Mono" panose="020B0509000000000004" pitchFamily="49" charset="0"/>
              </a:rPr>
              <a:t>-container --</a:t>
            </a:r>
            <a:r>
              <a:rPr lang="en-US" sz="1200" dirty="0" err="1">
                <a:solidFill>
                  <a:srgbClr val="0070C0"/>
                </a:solidFill>
                <a:latin typeface="Andale Mono" panose="020B0509000000000004" pitchFamily="49" charset="0"/>
              </a:rPr>
              <a:t>rm</a:t>
            </a:r>
            <a:r>
              <a:rPr lang="en-US" sz="1200" dirty="0">
                <a:solidFill>
                  <a:srgbClr val="0070C0"/>
                </a:solidFill>
                <a:latin typeface="Andale Mono" panose="020B0509000000000004" pitchFamily="49" charset="0"/>
              </a:rPr>
              <a:t> -v $HOME/test:/my-data  ubuntu  bash</a:t>
            </a:r>
          </a:p>
          <a:p>
            <a:r>
              <a:rPr lang="en-US" sz="1200" dirty="0">
                <a:latin typeface="Andale Mono" panose="020B0509000000000004" pitchFamily="49" charset="0"/>
              </a:rPr>
              <a:t>=========================================</a:t>
            </a:r>
          </a:p>
          <a:p>
            <a:r>
              <a:rPr lang="en-US" sz="1200" dirty="0">
                <a:latin typeface="Andale Mono" panose="020B0509000000000004" pitchFamily="49" charset="0"/>
              </a:rPr>
              <a:t>Creating your own container</a:t>
            </a:r>
          </a:p>
          <a:p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vi 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Dockerfile</a:t>
            </a:r>
            <a:endParaRPr lang="en-US" sz="1000" dirty="0">
              <a:solidFill>
                <a:srgbClr val="0070C0"/>
              </a:solidFill>
              <a:latin typeface="Andale Mono" panose="020B0509000000000004" pitchFamily="49" charset="0"/>
            </a:endParaRPr>
          </a:p>
          <a:p>
            <a:endParaRPr lang="en-US" sz="1000" dirty="0">
              <a:latin typeface="Andale Mono" panose="020B0509000000000004" pitchFamily="49" charset="0"/>
            </a:endParaRPr>
          </a:p>
          <a:p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FROM ubuntu</a:t>
            </a:r>
          </a:p>
          <a:p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CMD echo "Hello Jonny" # some comment</a:t>
            </a:r>
          </a:p>
          <a:p>
            <a:endParaRPr lang="en-US" sz="1000" dirty="0">
              <a:latin typeface="Andale Mono" panose="020B0509000000000004" pitchFamily="49" charset="0"/>
            </a:endParaRPr>
          </a:p>
          <a:p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docker build -t my-ubuntu-image .</a:t>
            </a:r>
          </a:p>
          <a:p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docker images</a:t>
            </a:r>
          </a:p>
          <a:p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docker run my-ubuntu-image</a:t>
            </a:r>
            <a:endParaRPr lang="en-US" sz="1000" dirty="0">
              <a:latin typeface="Andale Mono" panose="020B0509000000000004" pitchFamily="49" charset="0"/>
            </a:endParaRPr>
          </a:p>
          <a:p>
            <a:r>
              <a:rPr lang="en-US" sz="1000" dirty="0">
                <a:latin typeface="Andale Mono" panose="020B0509000000000004" pitchFamily="49" charset="0"/>
              </a:rPr>
              <a:t>=========================================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Another example:</a:t>
            </a:r>
          </a:p>
          <a:p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FROM ubuntu</a:t>
            </a:r>
          </a:p>
          <a:p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RUN apt-get upgrade &amp;&amp; apt-get update &amp;&amp; apt-get install -y python3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=========================================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Another example – use anaconda python from </a:t>
            </a:r>
            <a:r>
              <a:rPr lang="en-US" sz="1000" dirty="0">
                <a:hlinkClick r:id="rId4"/>
              </a:rPr>
              <a:t>https://hub.docker.com/u/continuumio/</a:t>
            </a:r>
            <a:endParaRPr lang="en-US" sz="1000" dirty="0">
              <a:latin typeface="Andale Mono" panose="020B0509000000000004" pitchFamily="49" charset="0"/>
            </a:endParaRPr>
          </a:p>
          <a:p>
            <a:endParaRPr lang="en-US" sz="1000" dirty="0">
              <a:latin typeface="Andale Mono" panose="020B0509000000000004" pitchFamily="49" charset="0"/>
            </a:endParaRPr>
          </a:p>
          <a:p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docker pull 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continuumio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/anaconda3</a:t>
            </a:r>
          </a:p>
          <a:p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docker run -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i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 -t 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continuumio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/anaconda3 /bin/bash</a:t>
            </a:r>
          </a:p>
          <a:p>
            <a:endParaRPr lang="en-US" sz="1000" dirty="0">
              <a:solidFill>
                <a:srgbClr val="0070C0"/>
              </a:solidFill>
              <a:latin typeface="Andale Mono" panose="020B0509000000000004" pitchFamily="49" charset="0"/>
            </a:endParaRPr>
          </a:p>
          <a:p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docker pull 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continuumio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/miniconda3</a:t>
            </a:r>
          </a:p>
          <a:p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docker run -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i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 -t 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continuumio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/miniconda3 /bin/bash</a:t>
            </a:r>
          </a:p>
          <a:p>
            <a:endParaRPr lang="en-US" sz="1000" dirty="0">
              <a:latin typeface="Andale Mono" panose="020B0509000000000004" pitchFamily="49" charset="0"/>
            </a:endParaRPr>
          </a:p>
          <a:p>
            <a:r>
              <a:rPr lang="en-US" sz="1000" dirty="0">
                <a:latin typeface="Andale Mono" panose="020B0509000000000004" pitchFamily="49" charset="0"/>
              </a:rPr>
              <a:t>You can start a </a:t>
            </a:r>
            <a:r>
              <a:rPr lang="en-US" sz="1000" dirty="0" err="1">
                <a:latin typeface="Andale Mono" panose="020B0509000000000004" pitchFamily="49" charset="0"/>
              </a:rPr>
              <a:t>Jupyter</a:t>
            </a:r>
            <a:r>
              <a:rPr lang="en-US" sz="1000" dirty="0">
                <a:latin typeface="Andale Mono" panose="020B0509000000000004" pitchFamily="49" charset="0"/>
              </a:rPr>
              <a:t> Notebook server and interact with anaconda3 or </a:t>
            </a:r>
            <a:r>
              <a:rPr lang="en-US" sz="1000" dirty="0" err="1">
                <a:latin typeface="Andale Mono" panose="020B0509000000000004" pitchFamily="49" charset="0"/>
              </a:rPr>
              <a:t>Miniconda</a:t>
            </a:r>
            <a:r>
              <a:rPr lang="en-US" sz="1000" dirty="0">
                <a:latin typeface="Andale Mono" panose="020B0509000000000004" pitchFamily="49" charset="0"/>
              </a:rPr>
              <a:t> via your browser:</a:t>
            </a:r>
          </a:p>
          <a:p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docker run -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i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 -t -p 8888:8888 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continuumio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/miniconda3 /bin/bash -c "/opt/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conda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/bin/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conda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 install 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jupyter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 -y --quiet &amp;&amp; 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mkdir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 /opt/notebooks &amp;&amp; /opt/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conda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/bin/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jupyter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 notebook --notebook-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dir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=/opt/notebooks --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ip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='*' --port=8888 --no-browser"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You can then view the </a:t>
            </a:r>
            <a:r>
              <a:rPr lang="en-US" sz="1000" dirty="0" err="1">
                <a:latin typeface="Andale Mono" panose="020B0509000000000004" pitchFamily="49" charset="0"/>
              </a:rPr>
              <a:t>Jupyter</a:t>
            </a:r>
            <a:r>
              <a:rPr lang="en-US" sz="1000" dirty="0">
                <a:latin typeface="Andale Mono" panose="020B0509000000000004" pitchFamily="49" charset="0"/>
              </a:rPr>
              <a:t> Notebook by opening http://localhost:8888 in your browser, 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or http://&lt;docker-machine-</a:t>
            </a:r>
            <a:r>
              <a:rPr lang="en-US" sz="1000" dirty="0" err="1">
                <a:latin typeface="Andale Mono" panose="020B0509000000000004" pitchFamily="49" charset="0"/>
              </a:rPr>
              <a:t>ip</a:t>
            </a:r>
            <a:r>
              <a:rPr lang="en-US" sz="1000" dirty="0">
                <a:latin typeface="Andale Mono" panose="020B0509000000000004" pitchFamily="49" charset="0"/>
              </a:rPr>
              <a:t>&gt;:8888 if you are using a Docker Machine VM.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=========================================</a:t>
            </a:r>
          </a:p>
          <a:p>
            <a:r>
              <a:rPr lang="en-US" sz="1000" dirty="0">
                <a:latin typeface="Andale Mono" panose="020B0509000000000004" pitchFamily="49" charset="0"/>
              </a:rPr>
              <a:t>Here is how to save a docker image to a file:</a:t>
            </a:r>
          </a:p>
          <a:p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docker save –o 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myimage.tar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 myimage1 myimage2</a:t>
            </a:r>
          </a:p>
          <a:p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docker save 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myimage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 &gt; 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myimage.tar</a:t>
            </a:r>
            <a:endParaRPr lang="en-US" sz="1000" dirty="0">
              <a:solidFill>
                <a:srgbClr val="0070C0"/>
              </a:solidFill>
              <a:latin typeface="Andale Mono" panose="020B0509000000000004" pitchFamily="49" charset="0"/>
            </a:endParaRPr>
          </a:p>
          <a:p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docker save 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myimage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 | 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gzip</a:t>
            </a:r>
            <a:r>
              <a:rPr lang="en-US" sz="1000" dirty="0">
                <a:solidFill>
                  <a:srgbClr val="0070C0"/>
                </a:solidFill>
                <a:latin typeface="Andale Mono" panose="020B0509000000000004" pitchFamily="49" charset="0"/>
              </a:rPr>
              <a:t> &gt; </a:t>
            </a:r>
            <a:r>
              <a:rPr lang="en-US" sz="1000" dirty="0" err="1">
                <a:solidFill>
                  <a:srgbClr val="0070C0"/>
                </a:solidFill>
                <a:latin typeface="Andale Mono" panose="020B0509000000000004" pitchFamily="49" charset="0"/>
              </a:rPr>
              <a:t>myimage.tar.gz</a:t>
            </a:r>
            <a:endParaRPr lang="en-US" sz="1000" dirty="0">
              <a:solidFill>
                <a:srgbClr val="0070C0"/>
              </a:solidFill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130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E0800D-0545-8F4C-944B-800108629EE3}"/>
              </a:ext>
            </a:extLst>
          </p:cNvPr>
          <p:cNvSpPr txBox="1"/>
          <p:nvPr/>
        </p:nvSpPr>
        <p:spPr>
          <a:xfrm>
            <a:off x="164892" y="149902"/>
            <a:ext cx="9923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Docker container – tutorial – p3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5C08EC1-97FD-964A-9373-E8F1F9FA9C9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93888" y="2068642"/>
            <a:ext cx="7495082" cy="389744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EF1017-9AED-A04E-9EC9-7F0038A6EF18}"/>
              </a:ext>
            </a:extLst>
          </p:cNvPr>
          <p:cNvSpPr txBox="1"/>
          <p:nvPr/>
        </p:nvSpPr>
        <p:spPr>
          <a:xfrm>
            <a:off x="3665095" y="1514006"/>
            <a:ext cx="2923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Recap: Docker commands</a:t>
            </a:r>
          </a:p>
        </p:txBody>
      </p:sp>
    </p:spTree>
    <p:extLst>
      <p:ext uri="{BB962C8B-B14F-4D97-AF65-F5344CB8AC3E}">
        <p14:creationId xmlns:p14="http://schemas.microsoft.com/office/powerpoint/2010/main" val="1105923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DE8DB9-33FE-2E45-BA01-37015B9F5BCE}"/>
              </a:ext>
            </a:extLst>
          </p:cNvPr>
          <p:cNvSpPr txBox="1"/>
          <p:nvPr/>
        </p:nvSpPr>
        <p:spPr>
          <a:xfrm>
            <a:off x="194870" y="2338451"/>
            <a:ext cx="118921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Clean commands (for Linux, docker v.19.x):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remove exited containers: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--filter status=dead --filter status=exited -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aq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xargs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-r docker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rm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-v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remove unused images: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images --no-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trunc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grep '&lt;none&gt;' |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awk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'{ print $3 }' |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xargs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-r docker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rmi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remove unused volumes: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volume ls -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qf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dangling=true |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xargs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-r docker volume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rm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281D48-F8B9-ED44-8E4E-04A36D608CB8}"/>
              </a:ext>
            </a:extLst>
          </p:cNvPr>
          <p:cNvSpPr txBox="1"/>
          <p:nvPr/>
        </p:nvSpPr>
        <p:spPr>
          <a:xfrm>
            <a:off x="194871" y="4799346"/>
            <a:ext cx="1189219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Clean commands (for Mac, docker v.19.x – no “-r” option for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xargs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remove exited containers: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--filter status=dead --filter status=exited -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aq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xargs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docker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rm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-v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remove unused images: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images --no-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trunc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grep '&lt;none&gt;' |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awk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'{ print $3 }' |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xargs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docker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rmi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remove unused volumes: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volume ls -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qf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dangling=true |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xargs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docker volume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rm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51395F-6A72-0142-A435-0DB8E004C158}"/>
              </a:ext>
            </a:extLst>
          </p:cNvPr>
          <p:cNvSpPr txBox="1"/>
          <p:nvPr/>
        </p:nvSpPr>
        <p:spPr>
          <a:xfrm>
            <a:off x="194870" y="985551"/>
            <a:ext cx="102682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Docker runs in its own VM. And it stores images inside it.</a:t>
            </a:r>
          </a:p>
          <a:p>
            <a:r>
              <a:rPr lang="en-US" dirty="0"/>
              <a:t>For example, this file is approx. 64 GB on my Mac:</a:t>
            </a:r>
          </a:p>
          <a:p>
            <a:r>
              <a:rPr lang="en-US" dirty="0"/>
              <a:t>$HOME/Library/Containers/</a:t>
            </a:r>
            <a:r>
              <a:rPr lang="en-US" dirty="0" err="1"/>
              <a:t>com.docker.docker</a:t>
            </a:r>
            <a:r>
              <a:rPr lang="en-US" dirty="0"/>
              <a:t>/Data/</a:t>
            </a:r>
            <a:r>
              <a:rPr lang="en-US" dirty="0" err="1"/>
              <a:t>vms</a:t>
            </a:r>
            <a:r>
              <a:rPr lang="en-US" dirty="0"/>
              <a:t>/0/data/</a:t>
            </a:r>
            <a:r>
              <a:rPr lang="en-US" dirty="0" err="1"/>
              <a:t>Docker.raw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F0DA52-1256-5D4C-805D-B9D5EBFDDE2A}"/>
              </a:ext>
            </a:extLst>
          </p:cNvPr>
          <p:cNvSpPr txBox="1"/>
          <p:nvPr/>
        </p:nvSpPr>
        <p:spPr>
          <a:xfrm>
            <a:off x="164892" y="149902"/>
            <a:ext cx="9923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Docker container – tutorial – p4</a:t>
            </a:r>
          </a:p>
        </p:txBody>
      </p:sp>
    </p:spTree>
    <p:extLst>
      <p:ext uri="{BB962C8B-B14F-4D97-AF65-F5344CB8AC3E}">
        <p14:creationId xmlns:p14="http://schemas.microsoft.com/office/powerpoint/2010/main" val="1210490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18DC17-2048-FC44-9EA9-C11EF7500ACF}"/>
              </a:ext>
            </a:extLst>
          </p:cNvPr>
          <p:cNvSpPr txBox="1"/>
          <p:nvPr/>
        </p:nvSpPr>
        <p:spPr>
          <a:xfrm>
            <a:off x="351693" y="154745"/>
            <a:ext cx="649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Docker container – tutorial – p5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4015F-E131-E048-86B4-4F8BDDE75829}"/>
              </a:ext>
            </a:extLst>
          </p:cNvPr>
          <p:cNvSpPr txBox="1"/>
          <p:nvPr/>
        </p:nvSpPr>
        <p:spPr>
          <a:xfrm>
            <a:off x="299803" y="801076"/>
            <a:ext cx="118921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stop running containers: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Use command “docker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” to show only running containers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Add option “-q” (quiet) to only display numeric IDs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stop `docker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-q`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8758DA-F2CC-AB42-B7B5-3955F5182318}"/>
              </a:ext>
            </a:extLst>
          </p:cNvPr>
          <p:cNvSpPr txBox="1"/>
          <p:nvPr/>
        </p:nvSpPr>
        <p:spPr>
          <a:xfrm>
            <a:off x="299803" y="2166814"/>
            <a:ext cx="9442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when mapping volume or port, we use syntax:   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external:internal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run –p 5000:80 –v /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my_real_path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/:/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path_inside_docker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 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myapp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1B651F-BFAC-194E-920A-22729280CE14}"/>
              </a:ext>
            </a:extLst>
          </p:cNvPr>
          <p:cNvSpPr txBox="1"/>
          <p:nvPr/>
        </p:nvSpPr>
        <p:spPr>
          <a:xfrm>
            <a:off x="351692" y="3233614"/>
            <a:ext cx="104980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example building current directory – and running it as daemon ( -d option):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stop `docker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-q`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build . –t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myapp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&amp;&amp; docker run –v /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out_path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/:/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in_path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 –p 5000:80 –d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myapp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E20902-0405-1040-B19B-F1450127088A}"/>
              </a:ext>
            </a:extLst>
          </p:cNvPr>
          <p:cNvSpPr txBox="1"/>
          <p:nvPr/>
        </p:nvSpPr>
        <p:spPr>
          <a:xfrm>
            <a:off x="351691" y="4465823"/>
            <a:ext cx="104980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login inside a running container: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# get ID of your container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 exec –it 37701c34dfa9 /bin/bash   # login into your container</a:t>
            </a:r>
          </a:p>
        </p:txBody>
      </p:sp>
    </p:spTree>
    <p:extLst>
      <p:ext uri="{BB962C8B-B14F-4D97-AF65-F5344CB8AC3E}">
        <p14:creationId xmlns:p14="http://schemas.microsoft.com/office/powerpoint/2010/main" val="381570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18DC17-2048-FC44-9EA9-C11EF7500ACF}"/>
              </a:ext>
            </a:extLst>
          </p:cNvPr>
          <p:cNvSpPr txBox="1"/>
          <p:nvPr/>
        </p:nvSpPr>
        <p:spPr>
          <a:xfrm>
            <a:off x="351693" y="154745"/>
            <a:ext cx="649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Docker container – tutorial – p6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4015F-E131-E048-86B4-4F8BDDE75829}"/>
              </a:ext>
            </a:extLst>
          </p:cNvPr>
          <p:cNvSpPr txBox="1"/>
          <p:nvPr/>
        </p:nvSpPr>
        <p:spPr>
          <a:xfrm>
            <a:off x="299803" y="801076"/>
            <a:ext cx="118921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some common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Dockerfile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commands – see more here </a:t>
            </a:r>
            <a:r>
              <a:rPr lang="en-US" dirty="0">
                <a:hlinkClick r:id="rId2"/>
              </a:rPr>
              <a:t>https://docs.docker.com/engine/reference/builder/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Comment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 echo 'something'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 mv file1 file2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COPY file1 file2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-p /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/log/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mydir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 apt-get update &amp;&amp; apt-get install –y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ssmtp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&amp;&amp; apt-get clean</a:t>
            </a:r>
          </a:p>
          <a:p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CMD ...   # command to execute when container starts</a:t>
            </a:r>
          </a:p>
          <a:p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EXPOSE 80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EXPOSE 443</a:t>
            </a:r>
          </a:p>
        </p:txBody>
      </p:sp>
    </p:spTree>
    <p:extLst>
      <p:ext uri="{BB962C8B-B14F-4D97-AF65-F5344CB8AC3E}">
        <p14:creationId xmlns:p14="http://schemas.microsoft.com/office/powerpoint/2010/main" val="3074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18DC17-2048-FC44-9EA9-C11EF7500ACF}"/>
              </a:ext>
            </a:extLst>
          </p:cNvPr>
          <p:cNvSpPr txBox="1"/>
          <p:nvPr/>
        </p:nvSpPr>
        <p:spPr>
          <a:xfrm>
            <a:off x="0" y="0"/>
            <a:ext cx="649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Docker container – tutorial – 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4015F-E131-E048-86B4-4F8BDDE75829}"/>
              </a:ext>
            </a:extLst>
          </p:cNvPr>
          <p:cNvSpPr txBox="1"/>
          <p:nvPr/>
        </p:nvSpPr>
        <p:spPr>
          <a:xfrm>
            <a:off x="0" y="646331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Running multiple services inside one container </a:t>
            </a:r>
            <a:r>
              <a:rPr lang="en-US" sz="1600" dirty="0">
                <a:hlinkClick r:id="rId2"/>
              </a:rPr>
              <a:t>https://docs.docker.com/config/containers/multi-service_container/</a:t>
            </a:r>
            <a:endParaRPr lang="en-US" sz="1600" dirty="0"/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The simplest way to start several services inside a container is to copy them from outside – and then start with a wrapper script. The drawback of this approach is that we will need to install these services manually on the box and to know all directories to copy.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FROM 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ubuntu:latest</a:t>
            </a:r>
            <a:endParaRPr lang="en-US" sz="16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COPY /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out_path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my_services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/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in_path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my_services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...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COPY /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out_path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my_wrapper_script.sh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./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my_wrapper_script.sh</a:t>
            </a:r>
            <a:endParaRPr lang="en-US" sz="16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CMD ./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my_wrapper_script.sh</a:t>
            </a:r>
            <a:endParaRPr lang="en-US" sz="16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Another approach would be to install everything inside the container: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FROM 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continuumio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/anaconda3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RUN apt-get update &amp;&amp; apt-get install –y 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nginx</a:t>
            </a:r>
            <a:endParaRPr lang="en-US" sz="16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RUN apt-get update &amp;&amp; apt-get install –y 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gunicorn</a:t>
            </a:r>
            <a:endParaRPr lang="en-US" sz="16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COPY ...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...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CMD  ... 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Yet another approach is to use ”Docker Compose” to use multiple containers together:  </a:t>
            </a:r>
            <a:r>
              <a:rPr lang="en-US" sz="1600" dirty="0">
                <a:hlinkClick r:id="rId3"/>
              </a:rPr>
              <a:t>https://docs.docker.com/compose/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226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18DC17-2048-FC44-9EA9-C11EF7500ACF}"/>
              </a:ext>
            </a:extLst>
          </p:cNvPr>
          <p:cNvSpPr txBox="1"/>
          <p:nvPr/>
        </p:nvSpPr>
        <p:spPr>
          <a:xfrm>
            <a:off x="0" y="0"/>
            <a:ext cx="649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Docker container – tutorial – 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4015F-E131-E048-86B4-4F8BDDE75829}"/>
              </a:ext>
            </a:extLst>
          </p:cNvPr>
          <p:cNvSpPr txBox="1"/>
          <p:nvPr/>
        </p:nvSpPr>
        <p:spPr>
          <a:xfrm>
            <a:off x="0" y="646331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Using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ssh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inside container: </a:t>
            </a:r>
            <a:r>
              <a:rPr lang="en-US" sz="1600" dirty="0">
                <a:hlinkClick r:id="rId2"/>
              </a:rPr>
              <a:t>https://stackoverflow.com/questions/18136389/using-ssh-keys-inside-docker-container</a:t>
            </a:r>
            <a:r>
              <a:rPr lang="en-US" sz="1600" dirty="0"/>
              <a:t> 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=========================================================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Build Context – files and directories which docker can copy into image during the build process.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Build context is not required for for running the image.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=========================================================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A Docker image consists of read-only layers each of which represents a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Dockerfile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instruction.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The layers are stacked, and each one is a delta of the changes from the previous layer.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FROM ubuntu:18.04        # creates a layer from the ubuntu:18.04 Docker image.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COPY . /app              # adds files from your Docker client’s current directory.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RUN make /app            # builds your application with make.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CMD python /app/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app.py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# specifies what command to run within the container.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=========================================================</a:t>
            </a:r>
          </a:p>
          <a:p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setting environment </a:t>
            </a:r>
            <a:r>
              <a:rPr lang="en-US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usint</a:t>
            </a:r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“ENV” command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ENV PATH /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usr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/local/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nginx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/bin:$PATH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Each next layer inherits from previous layers – unless you unset (in the same layer):</a:t>
            </a: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FROM alpine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RUN export ADMIN_USER="mark" &amp;&amp; echo $ADMIN_USER &gt; ./mark &amp;&amp; unset ADMIN_USER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CMD 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</a:t>
            </a:r>
            <a:endParaRPr lang="en-US" sz="16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docker run --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rm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test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sh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-c 'echo $ADMIN_USER'</a:t>
            </a:r>
          </a:p>
        </p:txBody>
      </p:sp>
    </p:spTree>
    <p:extLst>
      <p:ext uri="{BB962C8B-B14F-4D97-AF65-F5344CB8AC3E}">
        <p14:creationId xmlns:p14="http://schemas.microsoft.com/office/powerpoint/2010/main" val="294781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18DC17-2048-FC44-9EA9-C11EF7500ACF}"/>
              </a:ext>
            </a:extLst>
          </p:cNvPr>
          <p:cNvSpPr txBox="1"/>
          <p:nvPr/>
        </p:nvSpPr>
        <p:spPr>
          <a:xfrm>
            <a:off x="0" y="0"/>
            <a:ext cx="649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Docker container – tutorial – 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4015F-E131-E048-86B4-4F8BDDE75829}"/>
              </a:ext>
            </a:extLst>
          </p:cNvPr>
          <p:cNvSpPr txBox="1"/>
          <p:nvPr/>
        </p:nvSpPr>
        <p:spPr>
          <a:xfrm>
            <a:off x="0" y="646331"/>
            <a:ext cx="1152939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How can Docker supply each container with a hostname and DNS configuration,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without having to build a custom image with the hostname written inside?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- </a:t>
            </a:r>
            <a:r>
              <a:rPr lang="en-US" sz="1600" dirty="0">
                <a:hlinkClick r:id="rId2"/>
              </a:rPr>
              <a:t>https://docs.docker.com/v17.09/engine/userguide/networking/default_network/configure-dns/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How to tell docker which DNS servers to use: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- </a:t>
            </a:r>
            <a:r>
              <a:rPr lang="en-US" sz="1600" dirty="0">
                <a:hlinkClick r:id="rId3"/>
              </a:rPr>
              <a:t>https://l-lin.github.io/post/2018/2018-09-03-docker_ubuntu_18_dns/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How to tell docker about external host (to make it visible inside docker):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- </a:t>
            </a:r>
            <a:r>
              <a:rPr lang="en-US" sz="1600" dirty="0">
                <a:hlinkClick r:id="rId4"/>
              </a:rPr>
              <a:t>https://blog.codeship.com/using-the-add-host-flag-for-dns-mapping-within-docker-containers/ </a:t>
            </a:r>
            <a:endParaRPr lang="en-US" sz="1600" dirty="0"/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Creating/using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nginx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docker (also how to configure)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- </a:t>
            </a:r>
            <a:r>
              <a:rPr lang="en-US" sz="1600" dirty="0">
                <a:hlinkClick r:id="rId5"/>
              </a:rPr>
              <a:t>https://docs.nginx.com/nginx/admin-guide/installing-nginx/installing-nginx-docker/ </a:t>
            </a:r>
            <a:endParaRPr lang="en-US" sz="1600" dirty="0"/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How do I combine several images into one via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Dockerfile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- </a:t>
            </a:r>
            <a:r>
              <a:rPr lang="en-US" sz="1600" dirty="0">
                <a:hlinkClick r:id="rId6"/>
              </a:rPr>
              <a:t>https://github.com/moby/moby/issues/3378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Multiple FROMs - what it means</a:t>
            </a:r>
          </a:p>
          <a:p>
            <a:r>
              <a:rPr lang="en-US" sz="1600" dirty="0">
                <a:cs typeface="Consolas" panose="020B0609020204030204" pitchFamily="49" charset="0"/>
              </a:rPr>
              <a:t> - </a:t>
            </a:r>
            <a:r>
              <a:rPr lang="en-US" sz="1600" dirty="0">
                <a:cs typeface="Consolas" panose="020B0609020204030204" pitchFamily="49" charset="0"/>
                <a:hlinkClick r:id="rId7"/>
              </a:rPr>
              <a:t>https://</a:t>
            </a:r>
            <a:r>
              <a:rPr lang="en-US" sz="1600" dirty="0" err="1">
                <a:cs typeface="Consolas" panose="020B0609020204030204" pitchFamily="49" charset="0"/>
                <a:hlinkClick r:id="rId7"/>
              </a:rPr>
              <a:t>stackoverflow.com</a:t>
            </a:r>
            <a:r>
              <a:rPr lang="en-US" sz="1600" dirty="0">
                <a:cs typeface="Consolas" panose="020B0609020204030204" pitchFamily="49" charset="0"/>
                <a:hlinkClick r:id="rId7"/>
              </a:rPr>
              <a:t>/questions/33322103/multiple-</a:t>
            </a:r>
            <a:r>
              <a:rPr lang="en-US" sz="1600" dirty="0" err="1">
                <a:cs typeface="Consolas" panose="020B0609020204030204" pitchFamily="49" charset="0"/>
                <a:hlinkClick r:id="rId7"/>
              </a:rPr>
              <a:t>froms</a:t>
            </a:r>
            <a:r>
              <a:rPr lang="en-US" sz="1600" dirty="0">
                <a:cs typeface="Consolas" panose="020B0609020204030204" pitchFamily="49" charset="0"/>
                <a:hlinkClick r:id="rId7"/>
              </a:rPr>
              <a:t>-what-it-means</a:t>
            </a:r>
            <a:endParaRPr lang="en-US" sz="1600" dirty="0">
              <a:cs typeface="Consolas" panose="020B0609020204030204" pitchFamily="49" charset="0"/>
            </a:endParaRPr>
          </a:p>
          <a:p>
            <a:r>
              <a:rPr lang="en-US" sz="1600" dirty="0">
                <a:cs typeface="Consolas" panose="020B0609020204030204" pitchFamily="49" charset="0"/>
              </a:rPr>
              <a:t> - </a:t>
            </a:r>
            <a:r>
              <a:rPr lang="en-US" sz="1600" dirty="0">
                <a:cs typeface="Consolas" panose="020B0609020204030204" pitchFamily="49" charset="0"/>
                <a:hlinkClick r:id="rId8"/>
              </a:rPr>
              <a:t>https://</a:t>
            </a:r>
            <a:r>
              <a:rPr lang="en-US" sz="1600" dirty="0" err="1">
                <a:cs typeface="Consolas" panose="020B0609020204030204" pitchFamily="49" charset="0"/>
                <a:hlinkClick r:id="rId8"/>
              </a:rPr>
              <a:t>dev.to</a:t>
            </a:r>
            <a:r>
              <a:rPr lang="en-US" sz="1600" dirty="0">
                <a:cs typeface="Consolas" panose="020B0609020204030204" pitchFamily="49" charset="0"/>
                <a:hlinkClick r:id="rId8"/>
              </a:rPr>
              <a:t>/</a:t>
            </a:r>
            <a:r>
              <a:rPr lang="en-US" sz="1600" dirty="0" err="1">
                <a:cs typeface="Consolas" panose="020B0609020204030204" pitchFamily="49" charset="0"/>
                <a:hlinkClick r:id="rId8"/>
              </a:rPr>
              <a:t>brpaz</a:t>
            </a:r>
            <a:r>
              <a:rPr lang="en-US" sz="1600" dirty="0">
                <a:cs typeface="Consolas" panose="020B0609020204030204" pitchFamily="49" charset="0"/>
                <a:hlinkClick r:id="rId8"/>
              </a:rPr>
              <a:t>/using-docker-multi-stage-builds-during-development-35bc</a:t>
            </a:r>
            <a:endParaRPr lang="en-US" sz="1600" dirty="0">
              <a:cs typeface="Consolas" panose="020B0609020204030204" pitchFamily="49" charset="0"/>
            </a:endParaRPr>
          </a:p>
          <a:p>
            <a:r>
              <a:rPr lang="en-US" sz="1600" dirty="0">
                <a:cs typeface="Consolas" panose="020B0609020204030204" pitchFamily="49" charset="0"/>
              </a:rPr>
              <a:t> - </a:t>
            </a:r>
            <a:r>
              <a:rPr lang="en-US" sz="1600" dirty="0">
                <a:cs typeface="Consolas" panose="020B0609020204030204" pitchFamily="49" charset="0"/>
                <a:hlinkClick r:id="rId9"/>
              </a:rPr>
              <a:t>https://</a:t>
            </a:r>
            <a:r>
              <a:rPr lang="en-US" sz="1600" dirty="0" err="1">
                <a:cs typeface="Consolas" panose="020B0609020204030204" pitchFamily="49" charset="0"/>
                <a:hlinkClick r:id="rId9"/>
              </a:rPr>
              <a:t>medium.com</a:t>
            </a:r>
            <a:r>
              <a:rPr lang="en-US" sz="1600" dirty="0">
                <a:cs typeface="Consolas" panose="020B0609020204030204" pitchFamily="49" charset="0"/>
                <a:hlinkClick r:id="rId9"/>
              </a:rPr>
              <a:t>/@</a:t>
            </a:r>
            <a:r>
              <a:rPr lang="en-US" sz="1600" dirty="0" err="1">
                <a:cs typeface="Consolas" panose="020B0609020204030204" pitchFamily="49" charset="0"/>
                <a:hlinkClick r:id="rId9"/>
              </a:rPr>
              <a:t>tonistiigi</a:t>
            </a:r>
            <a:r>
              <a:rPr lang="en-US" sz="1600" dirty="0">
                <a:cs typeface="Consolas" panose="020B0609020204030204" pitchFamily="49" charset="0"/>
                <a:hlinkClick r:id="rId9"/>
              </a:rPr>
              <a:t>/advanced-multi-stage-build-patterns-6f741b852fae</a:t>
            </a:r>
            <a:endParaRPr lang="en-US" sz="1600" dirty="0">
              <a:cs typeface="Consolas" panose="020B0609020204030204" pitchFamily="49" charset="0"/>
            </a:endParaRPr>
          </a:p>
          <a:p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Brief history of containers:</a:t>
            </a:r>
          </a:p>
          <a:p>
            <a:r>
              <a:rPr lang="en-US" sz="1600" dirty="0">
                <a:cs typeface="Consolas" panose="020B0609020204030204" pitchFamily="49" charset="0"/>
              </a:rPr>
              <a:t> - </a:t>
            </a:r>
            <a:r>
              <a:rPr lang="en-US" sz="1600" dirty="0">
                <a:hlinkClick r:id="rId10"/>
              </a:rPr>
              <a:t>https://blog.aquasec.com/a-brief-history-of-containers-from-1970s-chroot-to-docker-2016</a:t>
            </a:r>
            <a:r>
              <a:rPr lang="en-US" sz="1600" dirty="0"/>
              <a:t>  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442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1FE0FF-ADC0-654C-9A5C-4676F7E2BFFE}"/>
              </a:ext>
            </a:extLst>
          </p:cNvPr>
          <p:cNvSpPr txBox="1"/>
          <p:nvPr/>
        </p:nvSpPr>
        <p:spPr>
          <a:xfrm>
            <a:off x="0" y="0"/>
            <a:ext cx="649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Docker container – tutorial – 10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236A7A-7900-9F4E-A64B-BEBEFA109EF4}"/>
              </a:ext>
            </a:extLst>
          </p:cNvPr>
          <p:cNvSpPr txBox="1"/>
          <p:nvPr/>
        </p:nvSpPr>
        <p:spPr>
          <a:xfrm>
            <a:off x="0" y="646331"/>
            <a:ext cx="109860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How to schedule jobs defined in containers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Choice of schedulers: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cron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systemd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 Ofelia, etc.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- </a:t>
            </a:r>
            <a:r>
              <a:rPr lang="en-US" sz="1600" dirty="0">
                <a:hlinkClick r:id="rId2"/>
              </a:rPr>
              <a:t>https://devops.stackexchange.com/questions/4904/scheduling-a-docker-container-or-installing-scheduler-in-container</a:t>
            </a:r>
            <a:r>
              <a:rPr lang="en-US" sz="1600" dirty="0"/>
              <a:t> 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- </a:t>
            </a:r>
            <a:r>
              <a:rPr lang="en-US" sz="1600" dirty="0">
                <a:hlinkClick r:id="rId3"/>
              </a:rPr>
              <a:t>https://nickjanetakis.com/blog/docker-tip-40-running-cron-jobs-on-the-host-vs-in-a-container</a:t>
            </a:r>
            <a:endParaRPr lang="en-US" sz="1600" dirty="0"/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- </a:t>
            </a:r>
            <a:r>
              <a:rPr lang="en-US" sz="1600" dirty="0">
                <a:hlinkClick r:id="rId4"/>
              </a:rPr>
              <a:t>https://www.tddapps.com/2017/02/18/how-to-run-any-container-on-a-schedule/</a:t>
            </a:r>
            <a:endParaRPr lang="en-US" sz="1600" dirty="0"/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- </a:t>
            </a:r>
            <a:r>
              <a:rPr lang="en-US" sz="1600" dirty="0">
                <a:hlinkClick r:id="rId5"/>
              </a:rPr>
              <a:t>https://blog.trifork.com/2014/03/11/using-supervisor-with-docker-to-manage-processes-supporting-image-inheritance/</a:t>
            </a:r>
            <a:endParaRPr lang="en-US" sz="1600" dirty="0"/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- </a:t>
            </a:r>
            <a:r>
              <a:rPr lang="en-US" sz="1600" dirty="0">
                <a:hlinkClick r:id="rId6"/>
              </a:rPr>
              <a:t>https://coreos.com/os/docs/latest/scheduling-tasks-with-systemd-timers.html</a:t>
            </a:r>
            <a:endParaRPr lang="en-US" sz="1600" dirty="0"/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- </a:t>
            </a:r>
            <a:r>
              <a:rPr lang="en-US" sz="1600" dirty="0">
                <a:hlinkClick r:id="rId7"/>
              </a:rPr>
              <a:t>https://github.com/mcuadros/ofelia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72034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1928</Words>
  <Application>Microsoft Macintosh PowerPoint</Application>
  <PresentationFormat>Widescreen</PresentationFormat>
  <Paragraphs>211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Andale Mono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39</cp:revision>
  <dcterms:created xsi:type="dcterms:W3CDTF">2019-09-26T18:12:12Z</dcterms:created>
  <dcterms:modified xsi:type="dcterms:W3CDTF">2020-05-27T14:11:56Z</dcterms:modified>
</cp:coreProperties>
</file>