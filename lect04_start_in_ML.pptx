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6" r:id="rId3"/>
    <p:sldId id="311" r:id="rId4"/>
    <p:sldId id="31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502494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5024941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45024941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502494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5024941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45024941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29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502494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5024941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45024941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564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152251" y="1310212"/>
            <a:ext cx="5674500" cy="149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&amp; AI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Start</a:t>
            </a:r>
            <a:endParaRPr lang="en-US"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BAC03-8376-5844-91C5-3F339496893C}"/>
              </a:ext>
            </a:extLst>
          </p:cNvPr>
          <p:cNvSpPr txBox="1"/>
          <p:nvPr/>
        </p:nvSpPr>
        <p:spPr>
          <a:xfrm>
            <a:off x="2564523" y="3090041"/>
            <a:ext cx="6798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Are you a business owner or executive – and want to start using ML &amp; AI in your organization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77D1F-ACD0-6246-A36B-99A1947E1ACC}"/>
              </a:ext>
            </a:extLst>
          </p:cNvPr>
          <p:cNvSpPr txBox="1"/>
          <p:nvPr/>
        </p:nvSpPr>
        <p:spPr>
          <a:xfrm>
            <a:off x="2564522" y="4084402"/>
            <a:ext cx="6798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Do you want to become a Data Scientist and use existing ML technology?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6C969-CA09-1B44-9E41-8DA66DA37718}"/>
              </a:ext>
            </a:extLst>
          </p:cNvPr>
          <p:cNvSpPr txBox="1"/>
          <p:nvPr/>
        </p:nvSpPr>
        <p:spPr>
          <a:xfrm>
            <a:off x="2532992" y="5041966"/>
            <a:ext cx="6798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Are you an enthusiast who wants to develop new ML &amp; AI methods?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227950" y="338150"/>
            <a:ext cx="11284500" cy="54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If you are an Executive: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Create an AI department if you don't have one yet. Host AI conferences and training. Invite the best AI talent.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Get serious about collecting, cleaning, and labeling data.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Customize and fine-tune models instead of building "from scratch".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Use pre-trained tools.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Use multiple tools from external vendors (Google, AWS, Azure, etc.), make them work together, do not lock-in into a single vendor.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Accent on "</a:t>
            </a:r>
            <a:r>
              <a:rPr lang="en-US" sz="2400" dirty="0" err="1">
                <a:solidFill>
                  <a:schemeClr val="dk1"/>
                </a:solidFill>
              </a:rPr>
              <a:t>explainability</a:t>
            </a:r>
            <a:r>
              <a:rPr lang="en-US" sz="2400" dirty="0">
                <a:solidFill>
                  <a:schemeClr val="dk1"/>
                </a:solidFill>
              </a:rPr>
              <a:t>" of algorithms.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227950" y="338150"/>
            <a:ext cx="11284500" cy="643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dk1"/>
                </a:solidFill>
              </a:rPr>
              <a:t>If you want to study to become a Data Scientist.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chemeClr val="dk1"/>
              </a:solidFill>
            </a:endParaRPr>
          </a:p>
          <a:p>
            <a:r>
              <a:rPr lang="en-US" sz="1800" dirty="0"/>
              <a:t>.. Things change fast - you need to learn constantly. Subscriptions, YouTube, Twitter. Get YouTube Premium.</a:t>
            </a:r>
          </a:p>
          <a:p>
            <a:pPr lvl="0"/>
            <a:r>
              <a:rPr lang="en-US" sz="1800" dirty="0"/>
              <a:t>.. Start following some famous people on YouTube, Facebook, Twitter:</a:t>
            </a:r>
          </a:p>
          <a:p>
            <a:pPr lvl="0"/>
            <a:r>
              <a:rPr lang="en-US" sz="1800" dirty="0"/>
              <a:t>    (Yann </a:t>
            </a:r>
            <a:r>
              <a:rPr lang="en-US" sz="1800" dirty="0" err="1"/>
              <a:t>LeCun</a:t>
            </a:r>
            <a:r>
              <a:rPr lang="en-US" sz="1800" dirty="0"/>
              <a:t>, Geoffrey Hinton, Ian Goodfellow, </a:t>
            </a:r>
            <a:r>
              <a:rPr lang="en-US" sz="1800" dirty="0" err="1"/>
              <a:t>Yoshua</a:t>
            </a:r>
            <a:r>
              <a:rPr lang="en-US" sz="1800" dirty="0"/>
              <a:t> </a:t>
            </a:r>
            <a:r>
              <a:rPr lang="en-US" sz="1800" dirty="0" err="1"/>
              <a:t>Bengio</a:t>
            </a:r>
            <a:r>
              <a:rPr lang="en-US" sz="1800" dirty="0"/>
              <a:t>, Jürgen </a:t>
            </a:r>
            <a:r>
              <a:rPr lang="en-US" sz="1800" dirty="0" err="1"/>
              <a:t>Schmidhuber</a:t>
            </a:r>
            <a:r>
              <a:rPr lang="en-US" sz="1800" dirty="0"/>
              <a:t>, Andrew Ng, etc.)</a:t>
            </a:r>
          </a:p>
          <a:p>
            <a:r>
              <a:rPr lang="en-US" sz="1800" dirty="0"/>
              <a:t>.. Learn (</a:t>
            </a:r>
            <a:r>
              <a:rPr lang="en-US" sz="1800" dirty="0" err="1"/>
              <a:t>youtube</a:t>
            </a:r>
            <a:r>
              <a:rPr lang="en-US" sz="1800" dirty="0"/>
              <a:t>, </a:t>
            </a:r>
            <a:r>
              <a:rPr lang="en-US" sz="1800" dirty="0" err="1"/>
              <a:t>coursera</a:t>
            </a:r>
            <a:r>
              <a:rPr lang="en-US" sz="1800" dirty="0"/>
              <a:t>, …) : </a:t>
            </a:r>
          </a:p>
          <a:p>
            <a:r>
              <a:rPr lang="en-US" sz="1800" dirty="0"/>
              <a:t>      .. Python programming (also Pandas, </a:t>
            </a:r>
            <a:r>
              <a:rPr lang="en-US" sz="1800" dirty="0" err="1"/>
              <a:t>Numpy</a:t>
            </a:r>
            <a:r>
              <a:rPr lang="en-US" sz="1800" dirty="0"/>
              <a:t>, Scikit-Learn)</a:t>
            </a:r>
          </a:p>
          <a:p>
            <a:r>
              <a:rPr lang="en-US" sz="1800" dirty="0"/>
              <a:t>      .. Unix commands (Linux or Mac)</a:t>
            </a:r>
          </a:p>
          <a:p>
            <a:r>
              <a:rPr lang="en-US" sz="1800" dirty="0"/>
              <a:t>      .. SQL, Excel</a:t>
            </a:r>
          </a:p>
          <a:p>
            <a:r>
              <a:rPr lang="en-US" sz="1800" dirty="0"/>
              <a:t>      .. Some Statistics. </a:t>
            </a:r>
            <a:r>
              <a:rPr lang="en-US" sz="1800" dirty="0">
                <a:solidFill>
                  <a:schemeClr val="dk1"/>
                </a:solidFill>
              </a:rPr>
              <a:t>Not much. Find YouTube lectures. You should know about Normal distribution, CLT,</a:t>
            </a:r>
          </a:p>
          <a:p>
            <a:r>
              <a:rPr lang="en-US" sz="1800" dirty="0">
                <a:solidFill>
                  <a:schemeClr val="dk1"/>
                </a:solidFill>
              </a:rPr>
              <a:t>         Binomial Distribution, Hypothesis testing, P-value, t-test, Chi-square test, Linear Regression, </a:t>
            </a:r>
          </a:p>
          <a:p>
            <a:r>
              <a:rPr lang="en-US" sz="1800" dirty="0">
                <a:solidFill>
                  <a:schemeClr val="dk1"/>
                </a:solidFill>
              </a:rPr>
              <a:t>         Logistic Regression.</a:t>
            </a:r>
          </a:p>
          <a:p>
            <a:r>
              <a:rPr lang="en-US" sz="1800" dirty="0">
                <a:solidFill>
                  <a:schemeClr val="dk1"/>
                </a:solidFill>
              </a:rPr>
              <a:t>      .. Take Machine Learning course</a:t>
            </a:r>
          </a:p>
          <a:p>
            <a:r>
              <a:rPr lang="en-US" sz="1800" dirty="0">
                <a:solidFill>
                  <a:schemeClr val="dk1"/>
                </a:solidFill>
              </a:rPr>
              <a:t>      .. </a:t>
            </a:r>
            <a:r>
              <a:rPr lang="en-US" sz="1800" dirty="0"/>
              <a:t>Take course </a:t>
            </a:r>
            <a:r>
              <a:rPr lang="en-US" sz="1800" dirty="0" err="1"/>
              <a:t>deeplearning.ai</a:t>
            </a:r>
            <a:r>
              <a:rPr lang="en-US" sz="1800" dirty="0"/>
              <a:t> (or some other course)</a:t>
            </a:r>
          </a:p>
          <a:p>
            <a:r>
              <a:rPr lang="en-US" sz="1800" dirty="0">
                <a:solidFill>
                  <a:schemeClr val="dk1"/>
                </a:solidFill>
              </a:rPr>
              <a:t>.. </a:t>
            </a:r>
            <a:r>
              <a:rPr lang="en-US" sz="1800" dirty="0"/>
              <a:t>Listen to podcast: Sam </a:t>
            </a:r>
            <a:r>
              <a:rPr lang="en-US" sz="1800" dirty="0" err="1"/>
              <a:t>Charrington</a:t>
            </a:r>
            <a:r>
              <a:rPr lang="en-US" sz="1800" dirty="0"/>
              <a:t> – “This Week in Machine Learning &amp; AI”</a:t>
            </a:r>
          </a:p>
          <a:p>
            <a:r>
              <a:rPr lang="en-US" sz="1800" dirty="0">
                <a:solidFill>
                  <a:schemeClr val="dk1"/>
                </a:solidFill>
              </a:rPr>
              <a:t>.. Follow </a:t>
            </a:r>
            <a:r>
              <a:rPr lang="en-US" sz="1800" dirty="0"/>
              <a:t>Siraj </a:t>
            </a:r>
            <a:r>
              <a:rPr lang="en-US" sz="1800" dirty="0" err="1"/>
              <a:t>Raval</a:t>
            </a:r>
            <a:r>
              <a:rPr lang="en-US" sz="1800" dirty="0"/>
              <a:t> on </a:t>
            </a:r>
            <a:r>
              <a:rPr lang="en-US" sz="1800" dirty="0" err="1"/>
              <a:t>youtube</a:t>
            </a:r>
            <a:r>
              <a:rPr lang="en-US" sz="1800" dirty="0"/>
              <a:t>, </a:t>
            </a:r>
          </a:p>
          <a:p>
            <a:r>
              <a:rPr lang="en-US" sz="1800" dirty="0"/>
              <a:t>.. Follow Chris </a:t>
            </a:r>
            <a:r>
              <a:rPr lang="en-US" sz="1800" dirty="0" err="1"/>
              <a:t>Olah</a:t>
            </a:r>
            <a:r>
              <a:rPr lang="en-US" sz="1800" dirty="0"/>
              <a:t>: </a:t>
            </a:r>
            <a:r>
              <a:rPr lang="en-US" sz="1800" dirty="0" err="1"/>
              <a:t>colah.github.io</a:t>
            </a:r>
            <a:r>
              <a:rPr lang="en-US" sz="1800" dirty="0"/>
              <a:t> ,  distill.pub </a:t>
            </a:r>
          </a:p>
          <a:p>
            <a:r>
              <a:rPr lang="en-US" sz="1800" dirty="0">
                <a:solidFill>
                  <a:schemeClr val="dk1"/>
                </a:solidFill>
              </a:rPr>
              <a:t>.. </a:t>
            </a:r>
            <a:r>
              <a:rPr lang="en-US" sz="1800" dirty="0"/>
              <a:t>Learn terms related to training and evaluating models: error / loss function, regularization, </a:t>
            </a:r>
          </a:p>
          <a:p>
            <a:r>
              <a:rPr lang="en-US" sz="1800" dirty="0"/>
              <a:t>   cross-validation, folds, Precision and Recall, Accuracy, ROC curve, confusion matrix, etc.</a:t>
            </a:r>
          </a:p>
          <a:p>
            <a:r>
              <a:rPr lang="en-US" sz="1800" dirty="0">
                <a:solidFill>
                  <a:schemeClr val="dk1"/>
                </a:solidFill>
              </a:rPr>
              <a:t>-- Eventually you will need to memorize 100-200 terms related to Data Science, Machine Learning, and AI.</a:t>
            </a:r>
          </a:p>
          <a:p>
            <a:r>
              <a:rPr lang="en-US" sz="1800" dirty="0">
                <a:solidFill>
                  <a:schemeClr val="dk1"/>
                </a:solidFill>
              </a:rPr>
              <a:t>   Google them, make your own dictionary – and memorize.</a:t>
            </a:r>
            <a:endParaRPr lang="en-US" sz="1800" dirty="0"/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</a:rPr>
              <a:t>.. </a:t>
            </a:r>
            <a:r>
              <a:rPr lang="en-US" sz="1800" dirty="0"/>
              <a:t>Look at </a:t>
            </a:r>
            <a:r>
              <a:rPr lang="en-US" sz="1800" dirty="0" err="1"/>
              <a:t>AutoML</a:t>
            </a:r>
            <a:r>
              <a:rPr lang="en-US" sz="1800" dirty="0"/>
              <a:t> (h2o.ai, Microsoft </a:t>
            </a:r>
            <a:r>
              <a:rPr lang="en-US" sz="1800" dirty="0" err="1"/>
              <a:t>AutoML</a:t>
            </a:r>
            <a:r>
              <a:rPr lang="en-US" sz="1800" dirty="0"/>
              <a:t>, etc.)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96011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227950" y="338150"/>
            <a:ext cx="11284500" cy="54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If you want to develop new ML &amp; AI methods.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You first need to study to become a Data Scientist.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Then you need to find a place where people do what you want – and go there.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It is usually a university of one of just a handful of companies: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Google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Facebook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Open AI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Microsoft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Apple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Baidu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    etc.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34025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502</Words>
  <Application>Microsoft Macintosh PowerPoint</Application>
  <PresentationFormat>Widescreen</PresentationFormat>
  <Paragraphs>56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50</cp:revision>
  <dcterms:modified xsi:type="dcterms:W3CDTF">2021-01-14T03:47:40Z</dcterms:modified>
</cp:coreProperties>
</file>