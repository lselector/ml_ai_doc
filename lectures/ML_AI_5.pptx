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333" r:id="rId3"/>
    <p:sldId id="307" r:id="rId4"/>
    <p:sldId id="334" r:id="rId5"/>
    <p:sldId id="335" r:id="rId6"/>
    <p:sldId id="336" r:id="rId7"/>
    <p:sldId id="337" r:id="rId8"/>
    <p:sldId id="33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53"/>
    <p:restoredTop sz="96000"/>
  </p:normalViewPr>
  <p:slideViewPr>
    <p:cSldViewPr snapToGrid="0" snapToObjects="1">
      <p:cViewPr varScale="1">
        <p:scale>
          <a:sx n="114" d="100"/>
          <a:sy n="114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CE362-9556-E64A-BD8C-3AF96B4B8D4F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1690D-2392-6842-B9A3-FF055876C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09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450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1295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F3970-803E-1243-9F17-02ACD0666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3B68A-B74D-9344-8790-F41818845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FB25E-A3DF-A546-83C6-E5B86021E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F874B-95FD-4F46-BF01-DF86E449F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0764-DEDD-0242-A0D7-15EA37EDD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B627B-4304-1043-9C1F-936961F97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E25B8-CF1E-C443-AFFC-6085A948A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8E6DC-18C9-2E47-A625-B6890C8CF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79A9D-2B7E-734A-A8AC-B710B6461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F2F03-1708-3243-806A-41DAB3FE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87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3900-E1E3-BF45-8CEA-BBC7CFD2D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D6EAC-070E-0A4C-88A3-0FA0EBDE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D1894-036E-3843-A4FA-431D7811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621DF-D291-2F41-8A01-E8A93D64F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4129A-AC61-2447-B4A5-8DE7EB3BD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6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69A11-0091-2146-AA9C-3509C0DF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8A5C0-95C1-4A4B-AC34-505E2C339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D9430-903D-8444-B428-0B1CBA1EF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8FCB2-EFE8-3442-9E09-B7D9EBE5A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33519-C051-D94C-B9DB-FFE4B3BDF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69AAE-A4C7-344D-BDC7-61E0159B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6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75E58-455C-2A4E-8170-17D9809C6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5FE49-6A96-0343-AB46-53E5066B4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D2AF26-634F-1841-ADF8-899C3683A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78ABB6-7DD0-C649-8641-845FD08FD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77834F-FCC0-B240-83F4-FB93EF5AF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1CDFFE-2178-F047-9EE8-61AE5D1EE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78F541-07A4-7146-8A6D-F885BCD3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73B034-6C55-0141-B75F-45C5E3F40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46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185AD-8D07-5B4B-B219-A61B8412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6B4BC-EEB7-894D-A44D-0769DAEC5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EFFD05-FFA7-2342-A116-596D86636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C2A9CF-3CED-EF4B-B46A-682D8D69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0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3398FA-648C-4444-ADAB-D5A24369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94F20A-B63A-884D-8B74-8D203705C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5AF34-CBF2-184B-A751-CF3BACB9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137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9E46F-9F66-AA4D-B5C9-0DF0ECEA6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CD893-FB0E-BF49-8161-5C2CAB6D7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9CE10-89E9-5244-B098-931B6B551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586C4-7D98-5D4A-AFB9-096F43CFE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035E7-5E23-3443-85D5-7AFF9155C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9D520-DFA6-3A44-8F01-BA7B0F598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72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20FC6-E7F7-0F4C-BEA9-80B7EC7C4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67266B-EDEE-2A49-812C-0DB79BB82B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340CF-4D91-CB4D-AE76-A7A31BE7E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179A1-40CD-CF4C-A967-5B275A3B2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07159-F2F6-0C4D-A6A0-D97264E8A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B65A3-637E-9646-A840-611BC81D0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220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33C9D-9131-0141-9C8A-9322FB08A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73D22-9373-B74B-843C-CE2016BFF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9185C-87E1-E148-B759-2CC3FD7E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5760F-03FA-BA4B-9510-DBBD07D12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34AD-3D1E-EA4C-875D-8CACFDD1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64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ADADC2-1230-3E46-BF01-FB36EFED6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76EFC-A027-184F-8487-F21506832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DA948-DA40-3540-AEEF-472542B40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65ECB-207D-C445-895F-DDC6BD9479A1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5F49A-D1E7-D14F-A311-12311FD9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566BC-8987-4F4C-8641-33BF06692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3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713CA2-DFBA-1B41-AE80-09DF4261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2BD47-3691-174C-B43B-892DC35BE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D6C16-434D-B649-840B-4660A1F50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65ECB-207D-C445-895F-DDC6BD9479A1}" type="datetimeFigureOut">
              <a:rPr lang="en-US" smtClean="0"/>
              <a:t>11/10/18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FD1AC-1372-554A-A661-CA651C4B6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C3CD7-AD5B-4647-B0F2-C7436A66AD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86763-EF90-2141-AE98-C337E82F1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33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hyperlink" Target="https://twimlai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DC3E79-53DC-CA4C-B736-E0B6B9942321}"/>
              </a:ext>
            </a:extLst>
          </p:cNvPr>
          <p:cNvSpPr txBox="1"/>
          <p:nvPr/>
        </p:nvSpPr>
        <p:spPr>
          <a:xfrm>
            <a:off x="497541" y="215152"/>
            <a:ext cx="1137621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Today:</a:t>
            </a:r>
          </a:p>
          <a:p>
            <a:r>
              <a:rPr lang="en-US" sz="3200" dirty="0"/>
              <a:t>ROC Curve vs Precision-Recall Curve</a:t>
            </a:r>
          </a:p>
          <a:p>
            <a:endParaRPr lang="en-US" sz="3200" dirty="0"/>
          </a:p>
          <a:p>
            <a:r>
              <a:rPr lang="en-US" sz="3200" dirty="0"/>
              <a:t>Reinforcement Learning is the current frontline of AI research</a:t>
            </a:r>
          </a:p>
          <a:p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  </a:t>
            </a:r>
            <a:r>
              <a:rPr lang="en-US" sz="32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youtube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- </a:t>
            </a:r>
            <a:r>
              <a:rPr lang="en-US" sz="32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Arxiv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Insigts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(</a:t>
            </a:r>
            <a:r>
              <a:rPr lang="en-US" sz="32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Xander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Steenbrugge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)</a:t>
            </a:r>
          </a:p>
          <a:p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  </a:t>
            </a:r>
            <a:r>
              <a:rPr lang="en-US" sz="32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youtube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- Siraj </a:t>
            </a:r>
            <a:r>
              <a:rPr lang="en-US" sz="32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Raval</a:t>
            </a:r>
            <a:endParaRPr lang="en-US" sz="32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r>
              <a:rPr lang="en-US" sz="3200" dirty="0"/>
              <a:t>   amazon – many books</a:t>
            </a:r>
          </a:p>
          <a:p>
            <a:endParaRPr lang="en-US" sz="3200" dirty="0"/>
          </a:p>
          <a:p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Sam </a:t>
            </a:r>
            <a:r>
              <a:rPr lang="en-US" sz="3200" dirty="0" err="1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Charrington</a:t>
            </a:r>
            <a:r>
              <a:rPr lang="en-US" sz="32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– podcast “This Week in Machine Learning &amp; AI”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Coursera - </a:t>
            </a:r>
            <a:r>
              <a:rPr lang="en-US" sz="3200" dirty="0" err="1"/>
              <a:t>deeplearning.ai</a:t>
            </a:r>
            <a:endParaRPr lang="en-US" sz="3200" dirty="0"/>
          </a:p>
          <a:p>
            <a:r>
              <a:rPr lang="en-US" sz="3200" dirty="0"/>
              <a:t>Examples of </a:t>
            </a:r>
            <a:r>
              <a:rPr lang="en-US" sz="3200" dirty="0" err="1"/>
              <a:t>Jupyter</a:t>
            </a:r>
            <a:r>
              <a:rPr lang="en-US" sz="3200" dirty="0"/>
              <a:t> notebooks from </a:t>
            </a:r>
            <a:r>
              <a:rPr lang="en-US" sz="3200" dirty="0" err="1"/>
              <a:t>deeplearning.ai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35748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101251" y="94128"/>
            <a:ext cx="7308080" cy="6763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ROC Curve &amp; Precision-Recall Curve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Operating Characteristic (</a:t>
            </a:r>
            <a:r>
              <a:rPr lang="en-US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ROC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curves for a binary classifier: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   </a:t>
            </a:r>
            <a:r>
              <a:rPr lang="en-US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True Positive Rate (TPR)</a:t>
            </a:r>
            <a:r>
              <a:rPr lang="en-US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   vs   </a:t>
            </a:r>
            <a:r>
              <a:rPr lang="en-US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False Positive Rate (FPR)</a:t>
            </a:r>
          </a:p>
          <a:p>
            <a:pPr lvl="0"/>
            <a:r>
              <a:rPr lang="en-US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                            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at various threshold settings.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ROC curve was first developed by radar engineers during World War II </a:t>
            </a:r>
          </a:p>
          <a:p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for detecting enemy objects.</a:t>
            </a:r>
          </a:p>
          <a:p>
            <a:pPr lvl="0"/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TPR  = REC = Recall or Sensitivity = 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TP / (TP + FN) </a:t>
            </a:r>
          </a:p>
          <a:p>
            <a:pPr lvl="0"/>
            <a:r>
              <a:rPr lang="en-US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                    ( planes classified as planes / all planes' events)</a:t>
            </a:r>
          </a:p>
          <a:p>
            <a:pPr lvl="0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FPR = fall-out, probability of false 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alarm = FP / (FP + TN)</a:t>
            </a:r>
          </a:p>
          <a:p>
            <a:pPr lvl="0"/>
            <a:r>
              <a:rPr lang="en-US" sz="1800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                  ( noise classified as planes / all noise events )</a:t>
            </a:r>
          </a:p>
          <a:p>
            <a:pPr lvl="0"/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PRE = Precision = TP/(TP+FP)</a:t>
            </a:r>
          </a:p>
          <a:p>
            <a:pPr lvl="0"/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                   ( planes classified as planes / all events classified as planes)</a:t>
            </a:r>
          </a:p>
          <a:p>
            <a:pPr lvl="0"/>
            <a:r>
              <a:rPr lang="en-US" dirty="0">
                <a:solidFill>
                  <a:srgbClr val="00B050"/>
                </a:solidFill>
                <a:ea typeface="Calibri"/>
                <a:cs typeface="Calibri"/>
                <a:sym typeface="Calibri"/>
              </a:rPr>
              <a:t>-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-------------------------------------------------------------------------------</a:t>
            </a: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AUC = Area Under the Curve</a:t>
            </a:r>
            <a:endParaRPr sz="3200"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Simply the area under the ROC curve (from 0 to 1)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--------------------------------------------------------------------------------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F1 Score</a:t>
            </a: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F1 score is a single number evaluation metric: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F1 score = 2 * PRE * REC / (PRE + REC)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the </a:t>
            </a:r>
            <a:r>
              <a:rPr lang="en-US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F1 score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harmonic average of the </a:t>
            </a:r>
            <a:r>
              <a:rPr lang="en-US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14D7FC-09D8-824B-89D7-7C2020963B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2169" y="3789681"/>
            <a:ext cx="2979905" cy="28507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6C81F0-62C3-8E45-95A5-23522F707AD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4524" y="228600"/>
            <a:ext cx="5327475" cy="26894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71AF10-28D8-9F40-AE11-3D955B9498E7}"/>
              </a:ext>
            </a:extLst>
          </p:cNvPr>
          <p:cNvSpPr txBox="1"/>
          <p:nvPr/>
        </p:nvSpPr>
        <p:spPr>
          <a:xfrm>
            <a:off x="7879976" y="1089212"/>
            <a:ext cx="1089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ROC</a:t>
            </a:r>
          </a:p>
          <a:p>
            <a:r>
              <a:rPr lang="en-US" dirty="0"/>
              <a:t>Curve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274A43-2460-0F4C-AA71-4A5D0492FF28}"/>
              </a:ext>
            </a:extLst>
          </p:cNvPr>
          <p:cNvSpPr txBox="1"/>
          <p:nvPr/>
        </p:nvSpPr>
        <p:spPr>
          <a:xfrm>
            <a:off x="10170458" y="1089212"/>
            <a:ext cx="1391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Precision-Recall </a:t>
            </a:r>
          </a:p>
          <a:p>
            <a:r>
              <a:rPr lang="en-US" dirty="0"/>
              <a:t>Curve</a:t>
            </a:r>
          </a:p>
        </p:txBody>
      </p:sp>
    </p:spTree>
    <p:extLst>
      <p:ext uri="{BB962C8B-B14F-4D97-AF65-F5344CB8AC3E}">
        <p14:creationId xmlns:p14="http://schemas.microsoft.com/office/powerpoint/2010/main" val="3554548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0" y="0"/>
            <a:ext cx="7972034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Reinforcement Learning (RL) </a:t>
            </a:r>
            <a:r>
              <a:rPr lang="en-US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"Good puppy ..." learning.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 is not provided for every step, but only for final result.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– learning to win in games (Atari, Alpha Go), robotics, etc.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Policy Gradients: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earn policy map. A </a:t>
            </a:r>
            <a:r>
              <a:rPr lang="en-US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software agent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selects </a:t>
            </a:r>
            <a:r>
              <a:rPr lang="en-US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actions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a map called “</a:t>
            </a:r>
            <a:r>
              <a:rPr lang="en-US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 The </a:t>
            </a:r>
            <a:r>
              <a:rPr lang="en-US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policy map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 the probability of taking </a:t>
            </a:r>
            <a:r>
              <a:rPr lang="en-US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“a” when in a certain </a:t>
            </a:r>
            <a:r>
              <a:rPr lang="en-US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“s”.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8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lvl="0"/>
            <a:r>
              <a:rPr lang="en-US" sz="2400" b="1" dirty="0">
                <a:solidFill>
                  <a:srgbClr val="0070C0"/>
                </a:solidFill>
                <a:latin typeface="Calibri"/>
                <a:cs typeface="Calibri"/>
                <a:sym typeface="Calibri"/>
              </a:rPr>
              <a:t>Deep </a:t>
            </a:r>
            <a:r>
              <a:rPr lang="en-US" sz="2400" b="1" dirty="0">
                <a:solidFill>
                  <a:srgbClr val="0070C0"/>
                </a:solidFill>
                <a:latin typeface="Calibri"/>
                <a:cs typeface="Calibri"/>
              </a:rPr>
              <a:t>Q-Learning:</a:t>
            </a:r>
            <a:r>
              <a:rPr lang="en-US" dirty="0"/>
              <a:t> (Watkins 1989, DeepMind 2014) </a:t>
            </a:r>
          </a:p>
          <a:p>
            <a:r>
              <a:rPr lang="en-US" dirty="0"/>
              <a:t>Learn Q-function to maximize the expected value of the total reward over all successive steps. 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The </a:t>
            </a:r>
            <a:r>
              <a:rPr lang="en-US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value function 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estimates how good it is to be in a given </a:t>
            </a:r>
            <a:r>
              <a:rPr lang="en-US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state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. The goal is to find a </a:t>
            </a:r>
            <a:r>
              <a:rPr lang="en-US" b="1" dirty="0">
                <a:solidFill>
                  <a:srgbClr val="FF0000"/>
                </a:solidFill>
                <a:ea typeface="Calibri"/>
                <a:cs typeface="Calibri"/>
                <a:sym typeface="Calibri"/>
              </a:rPr>
              <a:t>policy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with </a:t>
            </a:r>
            <a:r>
              <a:rPr lang="en-US" b="1" dirty="0">
                <a:solidFill>
                  <a:srgbClr val="0070C0"/>
                </a:solidFill>
                <a:ea typeface="Calibri"/>
                <a:cs typeface="Calibri"/>
                <a:sym typeface="Calibri"/>
              </a:rPr>
              <a:t>maximum expected cumulative return</a:t>
            </a:r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.</a:t>
            </a:r>
            <a:endParaRPr lang="en-US" dirty="0"/>
          </a:p>
          <a:p>
            <a:pPr lvl="0"/>
            <a:endParaRPr lang="en-US" sz="800" dirty="0"/>
          </a:p>
          <a:p>
            <a:pPr lvl="0"/>
            <a:r>
              <a:rPr lang="en-US" sz="2400" b="1" dirty="0">
                <a:solidFill>
                  <a:srgbClr val="0070C0"/>
                </a:solidFill>
                <a:cs typeface="Calibri"/>
                <a:sym typeface="Calibri"/>
              </a:rPr>
              <a:t>Actor-Critic Architecture</a:t>
            </a:r>
            <a:r>
              <a:rPr lang="en-US" sz="2400" b="1" dirty="0">
                <a:solidFill>
                  <a:srgbClr val="0070C0"/>
                </a:solidFill>
                <a:cs typeface="Calibri"/>
              </a:rPr>
              <a:t>:</a:t>
            </a:r>
            <a:r>
              <a:rPr lang="en-US" dirty="0"/>
              <a:t> the </a:t>
            </a:r>
            <a:r>
              <a:rPr lang="en-US" b="1" dirty="0">
                <a:solidFill>
                  <a:srgbClr val="FF0000"/>
                </a:solidFill>
              </a:rPr>
              <a:t>actor</a:t>
            </a:r>
            <a:r>
              <a:rPr lang="en-US" dirty="0"/>
              <a:t> - tunes the parameter 𝜽 for the </a:t>
            </a:r>
            <a:r>
              <a:rPr lang="en-US" b="1" dirty="0">
                <a:solidFill>
                  <a:srgbClr val="0070C0"/>
                </a:solidFill>
              </a:rPr>
              <a:t>policy function</a:t>
            </a:r>
            <a:r>
              <a:rPr lang="en-US" dirty="0"/>
              <a:t> (decide the best action for a specific state). The </a:t>
            </a:r>
            <a:r>
              <a:rPr lang="en-US" b="1" dirty="0">
                <a:solidFill>
                  <a:srgbClr val="FF0000"/>
                </a:solidFill>
              </a:rPr>
              <a:t>critic</a:t>
            </a:r>
            <a:r>
              <a:rPr lang="en-US" dirty="0"/>
              <a:t> is used for evaluating the </a:t>
            </a:r>
            <a:r>
              <a:rPr lang="en-US" b="1" dirty="0">
                <a:solidFill>
                  <a:srgbClr val="0070C0"/>
                </a:solidFill>
              </a:rPr>
              <a:t>policy function</a:t>
            </a:r>
            <a:r>
              <a:rPr lang="en-US" dirty="0"/>
              <a:t> estimated by the </a:t>
            </a:r>
            <a:r>
              <a:rPr lang="en-US" b="1" dirty="0">
                <a:solidFill>
                  <a:srgbClr val="FF0000"/>
                </a:solidFill>
              </a:rPr>
              <a:t>actor</a:t>
            </a:r>
            <a:r>
              <a:rPr lang="en-US" dirty="0"/>
              <a:t> according to the temporal difference (TD) error (TD = difference between estimated reward and actual reward received).</a:t>
            </a:r>
          </a:p>
          <a:p>
            <a:pPr lvl="0"/>
            <a:endParaRPr lang="en-US" sz="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exploration vs. exploitation trade-off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Multi-armed bandit problem in finite MDPs (Markov Decision Processes). One-armed bandit - a slot machine with some probability distribution of the reward. Multi-armed bandit - several slot machines available. So you have fixed limited set of resources (your moves), and you need to allocate this resource between competing (alternative) choices (slot-machines) to increase reward.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13461" y="0"/>
            <a:ext cx="4278539" cy="1538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2034" y="4518212"/>
            <a:ext cx="4219966" cy="2339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2B797A-EB0B-CA43-88C8-27B5B330A8C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1676" y="1698133"/>
            <a:ext cx="2742108" cy="265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98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2EEE99-662E-2946-B88D-F9A13D38FE0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1872" y="900954"/>
            <a:ext cx="10047919" cy="59570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AC1084-0E90-244B-BE5D-D1F5E3EA080E}"/>
              </a:ext>
            </a:extLst>
          </p:cNvPr>
          <p:cNvSpPr txBox="1"/>
          <p:nvPr/>
        </p:nvSpPr>
        <p:spPr>
          <a:xfrm>
            <a:off x="188259" y="134471"/>
            <a:ext cx="1008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Xander</a:t>
            </a:r>
            <a:r>
              <a:rPr lang="en-US" sz="3200" b="1" dirty="0"/>
              <a:t> </a:t>
            </a:r>
            <a:r>
              <a:rPr lang="en-US" sz="3200" b="1" dirty="0" err="1"/>
              <a:t>Steenbrugge</a:t>
            </a:r>
            <a:r>
              <a:rPr lang="en-US" sz="3200" b="1" dirty="0"/>
              <a:t> (</a:t>
            </a:r>
            <a:r>
              <a:rPr lang="en-US" sz="3200" b="1" dirty="0" err="1"/>
              <a:t>Arxiv</a:t>
            </a:r>
            <a:r>
              <a:rPr lang="en-US" sz="3200" b="1" dirty="0"/>
              <a:t> Insights on </a:t>
            </a:r>
            <a:r>
              <a:rPr lang="en-US" sz="3200" b="1" dirty="0" err="1"/>
              <a:t>youtube</a:t>
            </a:r>
            <a:r>
              <a:rPr lang="en-US" sz="32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22623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35F1A-45C0-164D-ADD4-8EF19FA030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1761" y="1005840"/>
            <a:ext cx="6258758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8609A0-C4E2-1140-83B5-390BF743FC24}"/>
              </a:ext>
            </a:extLst>
          </p:cNvPr>
          <p:cNvSpPr txBox="1"/>
          <p:nvPr/>
        </p:nvSpPr>
        <p:spPr>
          <a:xfrm>
            <a:off x="188259" y="134471"/>
            <a:ext cx="10085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Siraj </a:t>
            </a:r>
            <a:r>
              <a:rPr lang="en-US" sz="3200" b="1" dirty="0" err="1"/>
              <a:t>Raval</a:t>
            </a:r>
            <a:r>
              <a:rPr lang="en-US" sz="3200" b="1" dirty="0"/>
              <a:t> on </a:t>
            </a:r>
            <a:r>
              <a:rPr lang="en-US" sz="3200" b="1" dirty="0" err="1"/>
              <a:t>youtube</a:t>
            </a:r>
            <a:r>
              <a:rPr lang="en-US" sz="3200" b="1" dirty="0"/>
              <a:t> - ~500K subscribers</a:t>
            </a:r>
          </a:p>
        </p:txBody>
      </p:sp>
    </p:spTree>
    <p:extLst>
      <p:ext uri="{BB962C8B-B14F-4D97-AF65-F5344CB8AC3E}">
        <p14:creationId xmlns:p14="http://schemas.microsoft.com/office/powerpoint/2010/main" val="637839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1803D2-69D3-674A-85CB-1467A7052E3C}"/>
              </a:ext>
            </a:extLst>
          </p:cNvPr>
          <p:cNvSpPr txBox="1"/>
          <p:nvPr/>
        </p:nvSpPr>
        <p:spPr>
          <a:xfrm>
            <a:off x="215153" y="134471"/>
            <a:ext cx="10784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Reinforcement Learning – books on Amazon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20E90B-E1B4-FC43-BD1D-DCC4A7C7608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2136" y="884815"/>
            <a:ext cx="7598846" cy="584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669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B2A097-9CD2-3B4D-AF68-4501B2880213}"/>
              </a:ext>
            </a:extLst>
          </p:cNvPr>
          <p:cNvSpPr txBox="1"/>
          <p:nvPr/>
        </p:nvSpPr>
        <p:spPr>
          <a:xfrm>
            <a:off x="98611" y="4760260"/>
            <a:ext cx="102197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This Week in Machine Learning &amp; AI   (</a:t>
            </a:r>
            <a:r>
              <a:rPr lang="en-US" sz="3200" dirty="0" err="1"/>
              <a:t>TWiML&amp;AI</a:t>
            </a:r>
            <a:r>
              <a:rPr lang="en-US" sz="3200" dirty="0"/>
              <a:t>) podcast</a:t>
            </a:r>
            <a:endParaRPr lang="en-US" sz="3200" b="0" dirty="0">
              <a:effectLst/>
            </a:endParaRPr>
          </a:p>
          <a:p>
            <a:r>
              <a:rPr lang="en-US" sz="3200" dirty="0"/>
              <a:t>- </a:t>
            </a:r>
            <a:r>
              <a:rPr lang="en-US" sz="3200" u="sng" dirty="0">
                <a:hlinkClick r:id="rId2"/>
              </a:rPr>
              <a:t>https://twimlai.com</a:t>
            </a:r>
            <a:r>
              <a:rPr lang="en-US" sz="3200" dirty="0"/>
              <a:t> - </a:t>
            </a:r>
            <a:endParaRPr lang="en-US" sz="3200" b="0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1E4535-0F18-6B44-B93E-514495EA6857}"/>
              </a:ext>
            </a:extLst>
          </p:cNvPr>
          <p:cNvSpPr txBox="1"/>
          <p:nvPr/>
        </p:nvSpPr>
        <p:spPr>
          <a:xfrm>
            <a:off x="443752" y="3671046"/>
            <a:ext cx="4210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Sam </a:t>
            </a:r>
            <a:r>
              <a:rPr lang="en-US" sz="3200" dirty="0" err="1"/>
              <a:t>Charrington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92F989-D992-C34B-8082-A5F4731B62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11" y="161364"/>
            <a:ext cx="3509682" cy="350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8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BD4D4A-5307-FB4E-A5BE-D8D0DEB8D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579" y="1439208"/>
            <a:ext cx="11595100" cy="5270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15C0CF-8D8E-744D-9C4F-3E3351193E01}"/>
              </a:ext>
            </a:extLst>
          </p:cNvPr>
          <p:cNvSpPr txBox="1"/>
          <p:nvPr/>
        </p:nvSpPr>
        <p:spPr>
          <a:xfrm>
            <a:off x="392579" y="215153"/>
            <a:ext cx="9638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DeepLearning.ai</a:t>
            </a:r>
            <a:r>
              <a:rPr lang="en-US" sz="3200" b="1" dirty="0"/>
              <a:t> – Coursera course by Andrew Ng</a:t>
            </a:r>
          </a:p>
        </p:txBody>
      </p:sp>
    </p:spTree>
    <p:extLst>
      <p:ext uri="{BB962C8B-B14F-4D97-AF65-F5344CB8AC3E}">
        <p14:creationId xmlns:p14="http://schemas.microsoft.com/office/powerpoint/2010/main" val="1079019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565</Words>
  <Application>Microsoft Macintosh PowerPoint</Application>
  <PresentationFormat>Widescreen</PresentationFormat>
  <Paragraphs>59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8</cp:revision>
  <dcterms:created xsi:type="dcterms:W3CDTF">2018-11-09T19:47:22Z</dcterms:created>
  <dcterms:modified xsi:type="dcterms:W3CDTF">2018-11-11T01:00:29Z</dcterms:modified>
</cp:coreProperties>
</file>