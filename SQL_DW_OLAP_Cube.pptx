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334" r:id="rId2"/>
    <p:sldId id="338" r:id="rId3"/>
    <p:sldId id="333" r:id="rId4"/>
    <p:sldId id="335" r:id="rId5"/>
    <p:sldId id="33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37"/>
    <p:restoredTop sz="94578"/>
  </p:normalViewPr>
  <p:slideViewPr>
    <p:cSldViewPr snapToGrid="0" snapToObjects="1">
      <p:cViewPr varScale="1">
        <p:scale>
          <a:sx n="108" d="100"/>
          <a:sy n="108" d="100"/>
        </p:scale>
        <p:origin x="114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15B94-D9E4-E149-8081-23A720D1EE5F}" type="datetimeFigureOut">
              <a:rPr lang="en-US" smtClean="0"/>
              <a:t>7/11/21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959602-CC24-7346-B914-9B1E8A8A6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789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99F67-75F2-EF4B-9DE0-21FDAEC663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E99639-B854-674D-ACBA-338D63DD4F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8E4296-DC2B-AF42-91B6-17E3997BE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7/11/21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880F47-3B0E-704C-82F4-47CA24586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139331-61D1-E44D-8C43-197AE4B19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790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B43CF-BFB5-3546-88C9-3F4ABDF5B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71888-698C-3048-9E3A-79F283DAC5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16CAAE-7E6E-094F-B838-A8D599C7A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7/11/21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236779-3E6E-F94D-A52C-89DB20E89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2DD567-48AE-8943-81DD-9156637A4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139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634C6-BE59-C74D-A804-601DBAECC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495D0D-E2F3-024E-8F35-A32E5235CA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632F36-110F-AB45-AACD-B967692D6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7/11/21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CDE42B-76C3-C74B-87BA-EC1966BCA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22EF09-A125-6A46-98CE-4F27BBF2D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91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2FF95-09A5-AD4A-BF49-549FDD4AE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BA89D-12BA-364D-9D8E-653BBF7F02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5FDF43-F591-C34C-A19D-72C756D41E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0354CF-BB33-C943-A730-FC383D9A5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7/11/21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A13A25-E3C8-964A-A037-7E3FD27AD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AB8329-5603-654D-A660-FFCA319FE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430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CAAB5-2A11-8B46-A36E-45DDB8812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641C71-F1A6-554A-BAD7-8A45038F18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67A02E-E166-EF46-9DEE-108AEC16E0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33CE42-B52C-2942-9A4A-0E4F45F1D8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58C1D2-B4E4-AD4A-B8B1-F8B44B8785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72365E-B55D-7344-998C-79153FB40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7/11/21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75CC9F-B7E5-914A-B6F0-00ADC6CAD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7BF07D-E313-CA4B-BB34-30A3407DE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940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6C080-AE3B-2D44-8F1B-F94E3E24C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FEBD38-3EC2-604B-8909-0751DE753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7/11/21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F0E821-C95F-7943-8614-AE9CB9DF3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5A9F50-050E-B643-A486-F0E340093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589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CDF785-C2CE-4F41-9244-07C54AA90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7/11/21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5C8366-9719-1346-8CA9-FA98FA13A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4423BB-263D-BA4B-8180-9360C24F3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936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9E274-4263-3C44-A67A-88743FEA2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4D437-E545-9241-9B1A-D823486254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325DD7-587D-2243-8C7B-87745F2B63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965333-9154-4F43-AB04-7653AB896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7/11/21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3DF337-B84B-0D43-B9B3-C5C52986D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3FC9BB-65AC-144D-8509-7666472A5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376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35F18-71F5-404F-976D-621F648F9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249791-DC9D-A945-8D0D-D4A9079865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5D363C-D267-8D4B-B5E3-457DC9389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9AEDA4-C4FB-564B-ADE2-E7A907511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7/11/21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C4D42D-FF74-9246-94C3-9723BF584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269DFD-0B4D-FA4F-9E71-D5181F1CB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268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491E7-7FB4-4546-8157-28938279D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29B9C2-E777-4348-BBC7-2890721ED3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87FA6D-4975-5148-9D0D-4F743D24F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7/11/21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00D166-568E-2649-9F37-88DC38AA8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45E222-16A1-C947-8B1E-3ACF3F5C5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412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FAC76A-2B25-1A44-91BB-8088E2CC1C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78DD8B-CC03-0745-B893-EEF2A385F3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1F2342-838E-764F-89C0-BB769EE41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7/11/21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EDFEC-4C70-7847-9681-6C3761311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3DA2E-AD95-AF44-A7A2-774479195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012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955CD2-8FD3-CA4C-99C9-299FEE54E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F91F3E-101C-5342-8747-F474CDCDAA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3CD303-CF65-3444-86AC-DDE065E379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D852D7-E694-214E-8A12-510E0A0329D2}" type="datetimeFigureOut">
              <a:rPr lang="en-US" smtClean="0"/>
              <a:t>7/11/21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BF9CF-381B-8F4B-B04A-1BC917405E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8A368C-50DB-5A48-AFBA-3B62FEFE95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234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holistics.io/blog/the-rise-and-fall-of-the-olap-cube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ataversity.net/a-short-history-of-data-warehousing/" TargetMode="External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hyperlink" Target="https://www.kimballgroup.com/" TargetMode="External"/><Relationship Id="rId7" Type="http://schemas.openxmlformats.org/officeDocument/2006/relationships/image" Target="../media/image11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Relationship Id="rId9" Type="http://schemas.openxmlformats.org/officeDocument/2006/relationships/image" Target="../media/image1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Third_normal_form" TargetMode="External"/><Relationship Id="rId2" Type="http://schemas.openxmlformats.org/officeDocument/2006/relationships/image" Target="../media/image14.tif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1E58F78-8F27-2D4A-BD36-154CD23B3E50}"/>
              </a:ext>
            </a:extLst>
          </p:cNvPr>
          <p:cNvSpPr txBox="1"/>
          <p:nvPr/>
        </p:nvSpPr>
        <p:spPr>
          <a:xfrm>
            <a:off x="0" y="76402"/>
            <a:ext cx="50826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OLAP Cube – Rise and Fall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CF6344-25D1-214F-A75E-373DADD0E10F}"/>
              </a:ext>
            </a:extLst>
          </p:cNvPr>
          <p:cNvSpPr txBox="1"/>
          <p:nvPr/>
        </p:nvSpPr>
        <p:spPr>
          <a:xfrm>
            <a:off x="13086608" y="654330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5EA9DD-F532-E844-9109-9810BD2F6D66}"/>
              </a:ext>
            </a:extLst>
          </p:cNvPr>
          <p:cNvSpPr txBox="1"/>
          <p:nvPr/>
        </p:nvSpPr>
        <p:spPr>
          <a:xfrm>
            <a:off x="154379" y="722733"/>
            <a:ext cx="508263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Very good article:</a:t>
            </a:r>
          </a:p>
          <a:p>
            <a:r>
              <a:rPr lang="en-US" sz="1400" dirty="0"/>
              <a:t>The Rise and Fall of the OLAP Cube - by Cedric Chin (2020)</a:t>
            </a:r>
          </a:p>
          <a:p>
            <a:r>
              <a:rPr lang="en-US" sz="1400" dirty="0">
                <a:hlinkClick r:id="rId2"/>
              </a:rPr>
              <a:t>https://www.holistics.io/blog/the-rise-and-fall-of-the-olap-cube/</a:t>
            </a:r>
            <a:r>
              <a:rPr lang="en-US" sz="1400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F64F69-1BC7-CC48-841C-6FFCC4154296}"/>
              </a:ext>
            </a:extLst>
          </p:cNvPr>
          <p:cNvSpPr txBox="1"/>
          <p:nvPr/>
        </p:nvSpPr>
        <p:spPr>
          <a:xfrm>
            <a:off x="2770249" y="1776052"/>
            <a:ext cx="665150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Old way of doing things:</a:t>
            </a:r>
          </a:p>
          <a:p>
            <a:endParaRPr lang="en-US" sz="1600" b="1" dirty="0">
              <a:solidFill>
                <a:srgbClr val="0070C0"/>
              </a:solidFill>
            </a:endParaRPr>
          </a:p>
          <a:p>
            <a:r>
              <a:rPr lang="en-US" sz="1600" b="1" dirty="0">
                <a:solidFill>
                  <a:srgbClr val="0070C0"/>
                </a:solidFill>
              </a:rPr>
              <a:t>          Data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FF0000"/>
                </a:solidFill>
              </a:rPr>
              <a:t>=&gt; ETL =&gt; Data </a:t>
            </a:r>
            <a:r>
              <a:rPr lang="en-US" sz="1600" dirty="0" err="1">
                <a:solidFill>
                  <a:srgbClr val="FF0000"/>
                </a:solidFill>
              </a:rPr>
              <a:t>WareHouse</a:t>
            </a:r>
            <a:r>
              <a:rPr lang="en-US" sz="1600" dirty="0">
                <a:solidFill>
                  <a:srgbClr val="FF0000"/>
                </a:solidFill>
              </a:rPr>
              <a:t> =&gt; ETL =&gt; OLAP Cube =&gt;</a:t>
            </a:r>
            <a:r>
              <a:rPr lang="en-US" sz="1600" dirty="0"/>
              <a:t> </a:t>
            </a:r>
            <a:r>
              <a:rPr lang="en-US" sz="1600" b="1" dirty="0">
                <a:solidFill>
                  <a:srgbClr val="0070C0"/>
                </a:solidFill>
              </a:rPr>
              <a:t>Reporting</a:t>
            </a:r>
          </a:p>
          <a:p>
            <a:endParaRPr lang="en-US" sz="1600" dirty="0"/>
          </a:p>
          <a:p>
            <a:r>
              <a:rPr lang="en-US" sz="1600" dirty="0"/>
              <a:t>The above "old way" Includes a lot of ETL, Data modeling &amp; Design: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F0000"/>
                </a:solidFill>
              </a:rPr>
              <a:t>Kimball Framework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err="1">
                <a:solidFill>
                  <a:srgbClr val="FF0000"/>
                </a:solidFill>
              </a:rPr>
              <a:t>Inmon</a:t>
            </a:r>
            <a:r>
              <a:rPr lang="en-US" sz="1600" b="1" dirty="0">
                <a:solidFill>
                  <a:srgbClr val="FF0000"/>
                </a:solidFill>
              </a:rPr>
              <a:t> Framework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Data Vault by Dan </a:t>
            </a:r>
            <a:r>
              <a:rPr lang="en-US" sz="1600" dirty="0" err="1"/>
              <a:t>Linstedt</a:t>
            </a:r>
            <a:r>
              <a:rPr lang="en-US" sz="1600" dirty="0"/>
              <a:t> (combines Kimball &amp; </a:t>
            </a:r>
            <a:r>
              <a:rPr lang="en-US" sz="1600" dirty="0" err="1"/>
              <a:t>Inmon</a:t>
            </a:r>
            <a:r>
              <a:rPr lang="en-US" sz="1600" dirty="0"/>
              <a:t>).</a:t>
            </a:r>
          </a:p>
          <a:p>
            <a:endParaRPr lang="en-US" sz="1600" dirty="0"/>
          </a:p>
          <a:p>
            <a:r>
              <a:rPr lang="en-US" sz="1600" dirty="0"/>
              <a:t>But imagine that memory and compute power have become so cheap</a:t>
            </a:r>
          </a:p>
          <a:p>
            <a:r>
              <a:rPr lang="en-US" sz="1600" dirty="0"/>
              <a:t>that your regular SQL database can run any queries very fast using in-memory columnar storage and </a:t>
            </a:r>
            <a:r>
              <a:rPr lang="en-US" sz="1600" b="1" dirty="0">
                <a:solidFill>
                  <a:srgbClr val="FF0000"/>
                </a:solidFill>
              </a:rPr>
              <a:t>MPP</a:t>
            </a:r>
            <a:r>
              <a:rPr lang="en-US" sz="1600" dirty="0"/>
              <a:t> = Massive Parallel Processing.</a:t>
            </a:r>
          </a:p>
          <a:p>
            <a:endParaRPr lang="en-US" sz="1600" dirty="0"/>
          </a:p>
          <a:p>
            <a:r>
              <a:rPr lang="en-US" sz="1600" dirty="0"/>
              <a:t>Then you don't need to hire data modelers.</a:t>
            </a:r>
          </a:p>
          <a:p>
            <a:r>
              <a:rPr lang="en-US" sz="1600" dirty="0"/>
              <a:t>You don't need all the OLAP infrastructure.</a:t>
            </a:r>
          </a:p>
          <a:p>
            <a:r>
              <a:rPr lang="en-US" sz="1600" dirty="0"/>
              <a:t>You can simply query your data as it is.</a:t>
            </a:r>
          </a:p>
          <a:p>
            <a:endParaRPr lang="en-US" sz="1600" b="1" dirty="0">
              <a:solidFill>
                <a:srgbClr val="0070C0"/>
              </a:solidFill>
            </a:endParaRPr>
          </a:p>
          <a:p>
            <a:r>
              <a:rPr lang="en-US" sz="1600" b="1" dirty="0">
                <a:solidFill>
                  <a:srgbClr val="0070C0"/>
                </a:solidFill>
              </a:rPr>
              <a:t>          Data =&gt; Reporting</a:t>
            </a:r>
          </a:p>
        </p:txBody>
      </p:sp>
    </p:spTree>
    <p:extLst>
      <p:ext uri="{BB962C8B-B14F-4D97-AF65-F5344CB8AC3E}">
        <p14:creationId xmlns:p14="http://schemas.microsoft.com/office/powerpoint/2010/main" val="4100256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634624D-E3AB-004F-AF17-C116607A727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48724" y="3186073"/>
            <a:ext cx="4513012" cy="249699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1500258-BF7E-8547-93BD-66F6BFCA5B04}"/>
              </a:ext>
            </a:extLst>
          </p:cNvPr>
          <p:cNvSpPr txBox="1"/>
          <p:nvPr/>
        </p:nvSpPr>
        <p:spPr>
          <a:xfrm>
            <a:off x="83128" y="0"/>
            <a:ext cx="49638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The Times of </a:t>
            </a:r>
            <a:r>
              <a:rPr lang="en-US" sz="2800" b="1" dirty="0" err="1"/>
              <a:t>Inmon</a:t>
            </a:r>
            <a:r>
              <a:rPr lang="en-US" sz="2800" b="1" dirty="0"/>
              <a:t> &amp; Kimball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8920D5-BC91-D94F-AA9D-A126158BCD72}"/>
              </a:ext>
            </a:extLst>
          </p:cNvPr>
          <p:cNvSpPr txBox="1"/>
          <p:nvPr/>
        </p:nvSpPr>
        <p:spPr>
          <a:xfrm>
            <a:off x="83127" y="606348"/>
            <a:ext cx="4868883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Imagine computers of 1970s.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 computer occupy the whole floor of a building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Computer have memory measured in 10s of Kilobytes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Punch cards slowly transition to magnetic tapes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IBM introduced VSAM files, relations, SQL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Usually just one computer in whole organization (IBM Mainframe or similar)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"Dumb terminals" connecting to the central computer. </a:t>
            </a:r>
            <a:br>
              <a:rPr lang="en-US" sz="1400" dirty="0"/>
            </a:br>
            <a:r>
              <a:rPr lang="en-US" sz="1400" dirty="0"/>
              <a:t>There are no personal computers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All company's information is typically stored in one central computer</a:t>
            </a:r>
          </a:p>
          <a:p>
            <a:endParaRPr lang="en-US" sz="1400" dirty="0"/>
          </a:p>
          <a:p>
            <a:r>
              <a:rPr lang="en-US" sz="1400" dirty="0"/>
              <a:t>These are times when </a:t>
            </a:r>
            <a:r>
              <a:rPr lang="en-US" sz="1400" b="1" dirty="0" err="1">
                <a:solidFill>
                  <a:srgbClr val="FF0000"/>
                </a:solidFill>
              </a:rPr>
              <a:t>Inmon</a:t>
            </a:r>
            <a:r>
              <a:rPr lang="en-US" sz="1400" b="1" dirty="0">
                <a:solidFill>
                  <a:srgbClr val="FF0000"/>
                </a:solidFill>
              </a:rPr>
              <a:t> &amp; Kimball</a:t>
            </a:r>
            <a:r>
              <a:rPr lang="en-US" sz="1400" dirty="0"/>
              <a:t> were crafting their approaches.</a:t>
            </a:r>
          </a:p>
          <a:p>
            <a:endParaRPr lang="en-US" sz="1400" dirty="0"/>
          </a:p>
          <a:p>
            <a:r>
              <a:rPr lang="en-US" sz="1400" dirty="0"/>
              <a:t>As computers have become cheaper and more powerful, organization were able to buy several computers – one per department. Then people had to decide how to structure flows of information.</a:t>
            </a:r>
          </a:p>
          <a:p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 err="1">
                <a:solidFill>
                  <a:srgbClr val="FF0000"/>
                </a:solidFill>
              </a:rPr>
              <a:t>Inmon</a:t>
            </a:r>
            <a:r>
              <a:rPr lang="en-US" sz="1400" dirty="0"/>
              <a:t>: from central main computer down to departments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Kimball</a:t>
            </a:r>
            <a:r>
              <a:rPr lang="en-US" sz="1400" dirty="0"/>
              <a:t>: from departments to central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r>
              <a:rPr lang="en-US" sz="1400" dirty="0">
                <a:solidFill>
                  <a:srgbClr val="00B050"/>
                </a:solidFill>
              </a:rPr>
              <a:t>Now 30-40 years later any smart phone is more powerful than "huge" DW systems of </a:t>
            </a:r>
            <a:r>
              <a:rPr lang="en-US" sz="1400" dirty="0" err="1">
                <a:solidFill>
                  <a:srgbClr val="00B050"/>
                </a:solidFill>
              </a:rPr>
              <a:t>Inmon</a:t>
            </a:r>
            <a:r>
              <a:rPr lang="en-US" sz="1400" dirty="0">
                <a:solidFill>
                  <a:srgbClr val="00B050"/>
                </a:solidFill>
              </a:rPr>
              <a:t> &amp; Kimball's era.</a:t>
            </a:r>
          </a:p>
          <a:p>
            <a:endParaRPr lang="en-US" sz="1400" dirty="0"/>
          </a:p>
          <a:p>
            <a:r>
              <a:rPr lang="en-US" sz="1200" dirty="0">
                <a:hlinkClick r:id="rId3"/>
              </a:rPr>
              <a:t>https://www.dataversity.net/a-short-history-of-data-warehousing/</a:t>
            </a:r>
            <a:r>
              <a:rPr lang="en-US" sz="1200" dirty="0"/>
              <a:t> </a:t>
            </a:r>
          </a:p>
        </p:txBody>
      </p:sp>
      <p:pic>
        <p:nvPicPr>
          <p:cNvPr id="1028" name="Picture 4" descr="Description about Terminals input device of computer">
            <a:extLst>
              <a:ext uri="{FF2B5EF4-FFF2-40B4-BE49-F238E27FC236}">
                <a16:creationId xmlns:a16="http://schemas.microsoft.com/office/drawing/2014/main" id="{ED1D4892-91DE-334B-B70D-37355C5D74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52010" y="2939266"/>
            <a:ext cx="2696714" cy="1771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omputer terminal - Wikipedia">
            <a:extLst>
              <a:ext uri="{FF2B5EF4-FFF2-40B4-BE49-F238E27FC236}">
                <a16:creationId xmlns:a16="http://schemas.microsoft.com/office/drawing/2014/main" id="{98EEC336-1B48-1B4E-A5A6-A15B26FEB0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624386" y="314179"/>
            <a:ext cx="2522457" cy="2238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ow big is a mainframe? - Retrocomputing Stack Exchange">
            <a:extLst>
              <a:ext uri="{FF2B5EF4-FFF2-40B4-BE49-F238E27FC236}">
                <a16:creationId xmlns:a16="http://schemas.microsoft.com/office/drawing/2014/main" id="{47352DB4-5ED2-304D-996D-C73A2897E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081238" y="134089"/>
            <a:ext cx="4127500" cy="2470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31387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1E58F78-8F27-2D4A-BD36-154CD23B3E50}"/>
              </a:ext>
            </a:extLst>
          </p:cNvPr>
          <p:cNvSpPr txBox="1"/>
          <p:nvPr/>
        </p:nvSpPr>
        <p:spPr>
          <a:xfrm>
            <a:off x="0" y="76402"/>
            <a:ext cx="50826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OLAP Cube – Complexity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56E077-CBBF-8B4A-AFD9-7FF186E983BF}"/>
              </a:ext>
            </a:extLst>
          </p:cNvPr>
          <p:cNvSpPr txBox="1"/>
          <p:nvPr/>
        </p:nvSpPr>
        <p:spPr>
          <a:xfrm>
            <a:off x="361825" y="909341"/>
            <a:ext cx="5082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Kimball vs </a:t>
            </a:r>
            <a:r>
              <a:rPr lang="en-US" dirty="0" err="1"/>
              <a:t>Inmon</a:t>
            </a:r>
            <a:r>
              <a:rPr lang="en-US" dirty="0"/>
              <a:t> vs Data Vault frameworks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1A3A473-C1E6-BB4B-B45D-0E62BB53D0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429" t="3835" r="1620" b="5740"/>
          <a:stretch/>
        </p:blipFill>
        <p:spPr bwMode="auto">
          <a:xfrm>
            <a:off x="6452919" y="720437"/>
            <a:ext cx="5628904" cy="2648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A1BB8427-CF39-2B4F-A702-0CBA2BC5A1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337" t="5906" r="5348" b="10518"/>
          <a:stretch/>
        </p:blipFill>
        <p:spPr bwMode="auto">
          <a:xfrm>
            <a:off x="6452919" y="4021776"/>
            <a:ext cx="5628904" cy="2648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015C3BA-8A84-A346-A5DE-3BBD3A6180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9880265"/>
              </p:ext>
            </p:extLst>
          </p:nvPr>
        </p:nvGraphicFramePr>
        <p:xfrm>
          <a:off x="147244" y="1752682"/>
          <a:ext cx="5511800" cy="3898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4744">
                  <a:extLst>
                    <a:ext uri="{9D8B030D-6E8A-4147-A177-3AD203B41FA5}">
                      <a16:colId xmlns:a16="http://schemas.microsoft.com/office/drawing/2014/main" val="508734602"/>
                    </a:ext>
                  </a:extLst>
                </a:gridCol>
                <a:gridCol w="2322762">
                  <a:extLst>
                    <a:ext uri="{9D8B030D-6E8A-4147-A177-3AD203B41FA5}">
                      <a16:colId xmlns:a16="http://schemas.microsoft.com/office/drawing/2014/main" val="1414177960"/>
                    </a:ext>
                  </a:extLst>
                </a:gridCol>
                <a:gridCol w="2094294">
                  <a:extLst>
                    <a:ext uri="{9D8B030D-6E8A-4147-A177-3AD203B41FA5}">
                      <a16:colId xmlns:a16="http://schemas.microsoft.com/office/drawing/2014/main" val="598691665"/>
                    </a:ext>
                  </a:extLst>
                </a:gridCol>
              </a:tblGrid>
              <a:tr h="2413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Parameters</a:t>
                      </a:r>
                      <a:endParaRPr lang="en-US" sz="1400" b="0" i="0" u="none" strike="noStrike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Kimball</a:t>
                      </a:r>
                      <a:endParaRPr lang="en-US" sz="1400" b="1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Inmon</a:t>
                      </a:r>
                      <a:endParaRPr lang="en-US" sz="1400" b="1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8788374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>
                          <a:effectLst/>
                        </a:rPr>
                        <a:t>Introduced by</a:t>
                      </a:r>
                      <a:endParaRPr lang="en-US" sz="1250" b="0" i="0" u="none" strike="noStrike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>
                          <a:effectLst/>
                        </a:rPr>
                        <a:t>Introduced by Ralph Kimball.</a:t>
                      </a:r>
                      <a:endParaRPr lang="en-US" sz="1250" b="0" i="0" u="none" strike="noStrike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>
                          <a:effectLst/>
                        </a:rPr>
                        <a:t>Introduced by Bill Inmon.</a:t>
                      </a:r>
                      <a:endParaRPr lang="en-US" sz="1250" b="0" i="0" u="none" strike="noStrike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5127004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>
                          <a:effectLst/>
                        </a:rPr>
                        <a:t>Approach</a:t>
                      </a:r>
                      <a:endParaRPr lang="en-US" sz="1250" b="0" i="0" u="none" strike="noStrike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 dirty="0">
                          <a:effectLst/>
                        </a:rPr>
                        <a:t>It has Bottom-Up Approach for implementation.</a:t>
                      </a:r>
                      <a:endParaRPr lang="en-US" sz="1250" b="0" i="0" u="none" strike="noStrike" dirty="0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 dirty="0">
                          <a:effectLst/>
                        </a:rPr>
                        <a:t>It has Top-Down Approach for implementation.</a:t>
                      </a:r>
                      <a:endParaRPr lang="en-US" sz="1250" b="0" i="0" u="none" strike="noStrike" dirty="0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9793062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>
                          <a:effectLst/>
                        </a:rPr>
                        <a:t>Data Integration</a:t>
                      </a:r>
                      <a:endParaRPr lang="en-US" sz="1250" b="0" i="0" u="none" strike="noStrike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 dirty="0">
                          <a:effectLst/>
                        </a:rPr>
                        <a:t>It focuses Individual business areas.</a:t>
                      </a:r>
                      <a:endParaRPr lang="en-US" sz="1250" b="0" i="0" u="none" strike="noStrike" dirty="0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 dirty="0">
                          <a:effectLst/>
                        </a:rPr>
                        <a:t>It focuses Enterprise-wide areas.</a:t>
                      </a:r>
                      <a:endParaRPr lang="en-US" sz="1250" b="0" i="0" u="none" strike="noStrike" dirty="0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1984952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>
                          <a:effectLst/>
                        </a:rPr>
                        <a:t>Building Time</a:t>
                      </a:r>
                      <a:endParaRPr lang="en-US" sz="1250" b="0" i="0" u="none" strike="noStrike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>
                          <a:effectLst/>
                        </a:rPr>
                        <a:t>It is efficient and takes less time.</a:t>
                      </a:r>
                      <a:endParaRPr lang="en-US" sz="1250" b="0" i="0" u="none" strike="noStrike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>
                          <a:effectLst/>
                        </a:rPr>
                        <a:t>It is complex and consumes a lot of time.</a:t>
                      </a:r>
                      <a:endParaRPr lang="en-US" sz="1250" b="0" i="0" u="none" strike="noStrike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7678964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>
                          <a:effectLst/>
                        </a:rPr>
                        <a:t>Cost</a:t>
                      </a:r>
                      <a:endParaRPr lang="en-US" sz="1250" b="0" i="0" u="none" strike="noStrike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>
                          <a:effectLst/>
                        </a:rPr>
                        <a:t>It has iterative steps and is cost effective.</a:t>
                      </a:r>
                      <a:endParaRPr lang="en-US" sz="1250" b="0" i="0" u="none" strike="noStrike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>
                          <a:effectLst/>
                        </a:rPr>
                        <a:t>Initial cost is huge and development cost is low.</a:t>
                      </a:r>
                      <a:endParaRPr lang="en-US" sz="1250" b="0" i="0" u="none" strike="noStrike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9675188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>
                          <a:effectLst/>
                        </a:rPr>
                        <a:t>Skills Required</a:t>
                      </a:r>
                      <a:endParaRPr lang="en-US" sz="1250" b="0" i="0" u="none" strike="noStrike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>
                          <a:effectLst/>
                        </a:rPr>
                        <a:t>It does not need such skills but a generic team will do job.</a:t>
                      </a:r>
                      <a:endParaRPr lang="en-US" sz="1250" b="0" i="0" u="none" strike="noStrike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>
                          <a:effectLst/>
                        </a:rPr>
                        <a:t>It needs specialized skills to make work.</a:t>
                      </a:r>
                      <a:endParaRPr lang="en-US" sz="1250" b="0" i="0" u="none" strike="noStrike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6680481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>
                          <a:effectLst/>
                        </a:rPr>
                        <a:t>Maintenance</a:t>
                      </a:r>
                      <a:endParaRPr lang="en-US" sz="1250" b="0" i="0" u="none" strike="noStrike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>
                          <a:effectLst/>
                        </a:rPr>
                        <a:t>Here maintenance is difficult.</a:t>
                      </a:r>
                      <a:endParaRPr lang="en-US" sz="1250" b="0" i="0" u="none" strike="noStrike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>
                          <a:effectLst/>
                        </a:rPr>
                        <a:t>Here maintenance is easy.</a:t>
                      </a:r>
                      <a:endParaRPr lang="en-US" sz="1250" b="0" i="0" u="none" strike="noStrike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1252239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>
                          <a:effectLst/>
                        </a:rPr>
                        <a:t>Data Model</a:t>
                      </a:r>
                      <a:endParaRPr lang="en-US" sz="1250" b="0" i="0" u="none" strike="noStrike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>
                          <a:effectLst/>
                        </a:rPr>
                        <a:t>It prefers data to be in De-normalized model.</a:t>
                      </a:r>
                      <a:endParaRPr lang="en-US" sz="1250" b="0" i="0" u="none" strike="noStrike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>
                          <a:effectLst/>
                        </a:rPr>
                        <a:t>It prefers data to be in normalized model.</a:t>
                      </a:r>
                      <a:endParaRPr lang="en-US" sz="1250" b="0" i="0" u="none" strike="noStrike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890712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>
                          <a:effectLst/>
                        </a:rPr>
                        <a:t>Data Store Systems</a:t>
                      </a:r>
                      <a:endParaRPr lang="en-US" sz="1250" b="0" i="0" u="none" strike="noStrike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>
                          <a:effectLst/>
                        </a:rPr>
                        <a:t>In this, source systems are highly stable.</a:t>
                      </a:r>
                      <a:endParaRPr lang="en-US" sz="1250" b="0" i="0" u="none" strike="noStrike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50" u="none" strike="noStrike" dirty="0">
                          <a:effectLst/>
                        </a:rPr>
                        <a:t>In this, source systems have high rate of change.</a:t>
                      </a:r>
                      <a:endParaRPr lang="en-US" sz="1250" b="0" i="0" u="none" strike="noStrike" dirty="0">
                        <a:solidFill>
                          <a:srgbClr val="40424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58233881"/>
                  </a:ext>
                </a:extLst>
              </a:tr>
            </a:tbl>
          </a:graphicData>
        </a:graphic>
      </p:graphicFrame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AF877F6-E824-1449-B84B-E5353B0E439D}"/>
              </a:ext>
            </a:extLst>
          </p:cNvPr>
          <p:cNvSpPr/>
          <p:nvPr/>
        </p:nvSpPr>
        <p:spPr>
          <a:xfrm>
            <a:off x="7533574" y="76402"/>
            <a:ext cx="3396343" cy="6693853"/>
          </a:xfrm>
          <a:prstGeom prst="round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6509B1-63CD-E745-824F-781153CCDCE7}"/>
              </a:ext>
            </a:extLst>
          </p:cNvPr>
          <p:cNvSpPr txBox="1"/>
          <p:nvPr/>
        </p:nvSpPr>
        <p:spPr>
          <a:xfrm>
            <a:off x="7975600" y="215900"/>
            <a:ext cx="248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This is no longer needed</a:t>
            </a:r>
          </a:p>
        </p:txBody>
      </p:sp>
    </p:spTree>
    <p:extLst>
      <p:ext uri="{BB962C8B-B14F-4D97-AF65-F5344CB8AC3E}">
        <p14:creationId xmlns:p14="http://schemas.microsoft.com/office/powerpoint/2010/main" val="14212585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F97A56-4D4A-3F47-9FFF-C6919AE57058}"/>
              </a:ext>
            </a:extLst>
          </p:cNvPr>
          <p:cNvSpPr txBox="1"/>
          <p:nvPr/>
        </p:nvSpPr>
        <p:spPr>
          <a:xfrm>
            <a:off x="142504" y="118753"/>
            <a:ext cx="38579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Kimball DW Framework</a:t>
            </a:r>
          </a:p>
        </p:txBody>
      </p:sp>
      <p:pic>
        <p:nvPicPr>
          <p:cNvPr id="1028" name="Picture 4" descr="Kimball Group | Dimensional Data Warehousing Experts">
            <a:extLst>
              <a:ext uri="{FF2B5EF4-FFF2-40B4-BE49-F238E27FC236}">
                <a16:creationId xmlns:a16="http://schemas.microsoft.com/office/drawing/2014/main" id="{54BE1611-AB11-B843-B335-0B1AD870C0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591645" y="781336"/>
            <a:ext cx="1720112" cy="2013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B6AC39B-5121-BE4B-B106-D28C9291FF2B}"/>
              </a:ext>
            </a:extLst>
          </p:cNvPr>
          <p:cNvSpPr txBox="1"/>
          <p:nvPr/>
        </p:nvSpPr>
        <p:spPr>
          <a:xfrm>
            <a:off x="1949557" y="2820188"/>
            <a:ext cx="29018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Kimball Group – closed in 2015</a:t>
            </a:r>
          </a:p>
          <a:p>
            <a:r>
              <a:rPr lang="en-US" sz="1600" dirty="0">
                <a:hlinkClick r:id="rId3"/>
              </a:rPr>
              <a:t>https://www.kimballgroup.com/</a:t>
            </a:r>
            <a:r>
              <a:rPr lang="en-US" sz="1600" dirty="0"/>
              <a:t> </a:t>
            </a:r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25FB8E3B-0DC1-B943-B985-7D05DDC295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42504" y="4160462"/>
            <a:ext cx="1807053" cy="2277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Kimball's Data Warehouse Toolkit Classics, 3 Volume Set">
            <a:extLst>
              <a:ext uri="{FF2B5EF4-FFF2-40B4-BE49-F238E27FC236}">
                <a16:creationId xmlns:a16="http://schemas.microsoft.com/office/drawing/2014/main" id="{E667604D-59E9-1345-9E47-35276E3959D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793999" y="4160461"/>
            <a:ext cx="1842059" cy="2277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FE68235-DA87-9642-AF27-C4835BC23BB7}"/>
              </a:ext>
            </a:extLst>
          </p:cNvPr>
          <p:cNvSpPr txBox="1"/>
          <p:nvPr/>
        </p:nvSpPr>
        <p:spPr>
          <a:xfrm>
            <a:off x="8191503" y="118753"/>
            <a:ext cx="38579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/>
              <a:t>Inmon</a:t>
            </a:r>
            <a:r>
              <a:rPr lang="en-US" sz="2800" b="1" dirty="0"/>
              <a:t> DW Framework</a:t>
            </a:r>
          </a:p>
        </p:txBody>
      </p:sp>
      <p:pic>
        <p:nvPicPr>
          <p:cNvPr id="10" name="Picture 6">
            <a:extLst>
              <a:ext uri="{FF2B5EF4-FFF2-40B4-BE49-F238E27FC236}">
                <a16:creationId xmlns:a16="http://schemas.microsoft.com/office/drawing/2014/main" id="{12840A34-CCB8-574E-9DBC-EFB4880CEA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207500" y="852270"/>
            <a:ext cx="1249610" cy="181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E04A850-E9C3-DB4B-8CFD-9FC3A00FB0FB}"/>
              </a:ext>
            </a:extLst>
          </p:cNvPr>
          <p:cNvSpPr txBox="1"/>
          <p:nvPr/>
        </p:nvSpPr>
        <p:spPr>
          <a:xfrm>
            <a:off x="8890000" y="2687467"/>
            <a:ext cx="1905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William H. </a:t>
            </a:r>
            <a:r>
              <a:rPr lang="en-US" sz="1600" dirty="0" err="1"/>
              <a:t>Inmon</a:t>
            </a:r>
            <a:endParaRPr lang="en-US" sz="1600" dirty="0"/>
          </a:p>
          <a:p>
            <a:pPr algn="ctr"/>
            <a:r>
              <a:rPr lang="en-US" sz="1600" dirty="0"/>
              <a:t>(1945 – present)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415DA38A-988E-0D40-BBF8-D685231221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964060" y="4160461"/>
            <a:ext cx="1848980" cy="2277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>
            <a:extLst>
              <a:ext uri="{FF2B5EF4-FFF2-40B4-BE49-F238E27FC236}">
                <a16:creationId xmlns:a16="http://schemas.microsoft.com/office/drawing/2014/main" id="{DA81332F-2F81-5B45-954D-22A2A17F45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169432" y="4160461"/>
            <a:ext cx="1743167" cy="2277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Ralph Kimball data warehouse architecture">
            <a:extLst>
              <a:ext uri="{FF2B5EF4-FFF2-40B4-BE49-F238E27FC236}">
                <a16:creationId xmlns:a16="http://schemas.microsoft.com/office/drawing/2014/main" id="{4B49ABE2-7BEF-644F-91D4-C8C012C6F9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42504" y="781336"/>
            <a:ext cx="1592386" cy="2070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C47885C-34DB-5E4D-BE91-505AFE558C65}"/>
              </a:ext>
            </a:extLst>
          </p:cNvPr>
          <p:cNvSpPr txBox="1"/>
          <p:nvPr/>
        </p:nvSpPr>
        <p:spPr>
          <a:xfrm>
            <a:off x="34040" y="2851438"/>
            <a:ext cx="18070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Ralph Kimball</a:t>
            </a:r>
          </a:p>
          <a:p>
            <a:pPr algn="ctr"/>
            <a:r>
              <a:rPr lang="en-US" sz="1600" dirty="0"/>
              <a:t>(1944 – present)</a:t>
            </a:r>
          </a:p>
        </p:txBody>
      </p:sp>
    </p:spTree>
    <p:extLst>
      <p:ext uri="{BB962C8B-B14F-4D97-AF65-F5344CB8AC3E}">
        <p14:creationId xmlns:p14="http://schemas.microsoft.com/office/powerpoint/2010/main" val="41901981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4626B5A-FFA5-2E46-962E-FE8D97840C1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469900"/>
            <a:ext cx="5005169" cy="59182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A9966EE-FAC1-274E-90CA-F50154FF7E2C}"/>
              </a:ext>
            </a:extLst>
          </p:cNvPr>
          <p:cNvSpPr txBox="1"/>
          <p:nvPr/>
        </p:nvSpPr>
        <p:spPr>
          <a:xfrm>
            <a:off x="83127" y="1622688"/>
            <a:ext cx="5652655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Ralph Kimball’s paradigm: 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Each department in a company has its own </a:t>
            </a:r>
            <a:r>
              <a:rPr lang="en-US" sz="1600" b="1" dirty="0">
                <a:solidFill>
                  <a:srgbClr val="FF0000"/>
                </a:solidFill>
              </a:rPr>
              <a:t>Data Mart (DM)</a:t>
            </a:r>
            <a:r>
              <a:rPr lang="en-US" sz="1600" dirty="0"/>
              <a:t>. The company's </a:t>
            </a:r>
            <a:r>
              <a:rPr lang="en-US" sz="1600" b="1" dirty="0"/>
              <a:t>DW (Data Warehouse)</a:t>
            </a:r>
            <a:r>
              <a:rPr lang="en-US" sz="1600" dirty="0"/>
              <a:t> is the conglomerate of all </a:t>
            </a:r>
            <a:r>
              <a:rPr lang="en-US" sz="1600" b="1" dirty="0">
                <a:solidFill>
                  <a:srgbClr val="FF0000"/>
                </a:solidFill>
              </a:rPr>
              <a:t>DMs</a:t>
            </a:r>
            <a:r>
              <a:rPr lang="en-US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Information is always stored in the </a:t>
            </a:r>
            <a:r>
              <a:rPr lang="en-US" sz="1600" b="1" dirty="0">
                <a:solidFill>
                  <a:srgbClr val="00B050"/>
                </a:solidFill>
              </a:rPr>
              <a:t>dimensional model</a:t>
            </a:r>
            <a:r>
              <a:rPr lang="en-US" sz="1600" dirty="0"/>
              <a:t>.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Bill </a:t>
            </a:r>
            <a:r>
              <a:rPr lang="en-US" sz="1600" dirty="0" err="1"/>
              <a:t>Inmon’s</a:t>
            </a:r>
            <a:r>
              <a:rPr lang="en-US" sz="1600" dirty="0"/>
              <a:t> paradigm: 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 company has </a:t>
            </a:r>
            <a:r>
              <a:rPr lang="en-US" sz="1600" b="1" dirty="0">
                <a:solidFill>
                  <a:srgbClr val="FF0000"/>
                </a:solidFill>
              </a:rPr>
              <a:t>one central DW</a:t>
            </a:r>
            <a:r>
              <a:rPr lang="en-US" sz="1600" dirty="0"/>
              <a:t> (Data </a:t>
            </a:r>
            <a:r>
              <a:rPr lang="en-US" sz="1600" dirty="0" err="1"/>
              <a:t>Warehous</a:t>
            </a:r>
            <a:r>
              <a:rPr lang="en-US" sz="1600" dirty="0"/>
              <a:t>). </a:t>
            </a:r>
            <a:br>
              <a:rPr lang="en-US" sz="1600" dirty="0"/>
            </a:br>
            <a:r>
              <a:rPr lang="en-US" sz="1600" dirty="0"/>
              <a:t>Data Marts (</a:t>
            </a:r>
            <a:r>
              <a:rPr lang="en-US" sz="1600" b="1" dirty="0">
                <a:solidFill>
                  <a:srgbClr val="FF0000"/>
                </a:solidFill>
              </a:rPr>
              <a:t>DMs</a:t>
            </a:r>
            <a:r>
              <a:rPr lang="en-US" sz="1600" dirty="0"/>
              <a:t>) source their data from the </a:t>
            </a:r>
            <a:r>
              <a:rPr lang="en-US" sz="1600" b="1" dirty="0">
                <a:solidFill>
                  <a:srgbClr val="FF0000"/>
                </a:solidFill>
              </a:rPr>
              <a:t>DW</a:t>
            </a:r>
            <a:r>
              <a:rPr lang="en-US" sz="1600" dirty="0"/>
              <a:t>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In the </a:t>
            </a:r>
            <a:r>
              <a:rPr lang="en-US" sz="1600" b="1" dirty="0">
                <a:solidFill>
                  <a:srgbClr val="FF0000"/>
                </a:solidFill>
              </a:rPr>
              <a:t>DW</a:t>
            </a:r>
            <a:r>
              <a:rPr lang="en-US" sz="1600" dirty="0"/>
              <a:t>, information is stored in </a:t>
            </a:r>
            <a:r>
              <a:rPr lang="en-US" sz="1600" b="1" dirty="0">
                <a:solidFill>
                  <a:srgbClr val="00B050"/>
                </a:solidFill>
              </a:rPr>
              <a:t>3rd normal form</a:t>
            </a:r>
            <a:r>
              <a:rPr lang="en-US" sz="1600" dirty="0"/>
              <a:t>.</a:t>
            </a:r>
            <a:br>
              <a:rPr lang="en-US" sz="1600" dirty="0"/>
            </a:br>
            <a:r>
              <a:rPr lang="en-US" sz="1600" dirty="0"/>
              <a:t>( </a:t>
            </a:r>
            <a:r>
              <a:rPr lang="en-US" sz="1600" dirty="0">
                <a:hlinkClick r:id="rId3"/>
              </a:rPr>
              <a:t>https://en.wikipedia.org/wiki/Third_normal_form</a:t>
            </a:r>
            <a:r>
              <a:rPr lang="en-US" sz="1600" dirty="0"/>
              <a:t> 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B93201-B580-8F45-9FB0-6ADE7776ADE3}"/>
              </a:ext>
            </a:extLst>
          </p:cNvPr>
          <p:cNvSpPr txBox="1"/>
          <p:nvPr/>
        </p:nvSpPr>
        <p:spPr>
          <a:xfrm>
            <a:off x="83127" y="0"/>
            <a:ext cx="30875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/>
              <a:t>Inmon</a:t>
            </a:r>
            <a:r>
              <a:rPr lang="en-US" sz="2800" b="1" dirty="0"/>
              <a:t> vs Kimball </a:t>
            </a:r>
          </a:p>
        </p:txBody>
      </p:sp>
    </p:spTree>
    <p:extLst>
      <p:ext uri="{BB962C8B-B14F-4D97-AF65-F5344CB8AC3E}">
        <p14:creationId xmlns:p14="http://schemas.microsoft.com/office/powerpoint/2010/main" val="37500640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1138</TotalTime>
  <Words>640</Words>
  <Application>Microsoft Macintosh PowerPoint</Application>
  <PresentationFormat>Widescreen</PresentationFormat>
  <Paragraphs>95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Lev Selector</dc:creator>
  <cp:lastModifiedBy>Lev Selector</cp:lastModifiedBy>
  <cp:revision>154</cp:revision>
  <dcterms:created xsi:type="dcterms:W3CDTF">2018-10-10T17:24:46Z</dcterms:created>
  <dcterms:modified xsi:type="dcterms:W3CDTF">2021-07-12T03:03:27Z</dcterms:modified>
</cp:coreProperties>
</file>