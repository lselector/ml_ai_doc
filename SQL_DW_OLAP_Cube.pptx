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334" r:id="rId2"/>
    <p:sldId id="333" r:id="rId3"/>
    <p:sldId id="335" r:id="rId4"/>
    <p:sldId id="337" r:id="rId5"/>
    <p:sldId id="33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37"/>
    <p:restoredTop sz="94578"/>
  </p:normalViewPr>
  <p:slideViewPr>
    <p:cSldViewPr snapToGrid="0" snapToObjects="1">
      <p:cViewPr varScale="1">
        <p:scale>
          <a:sx n="108" d="100"/>
          <a:sy n="108" d="100"/>
        </p:scale>
        <p:origin x="11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7/11/21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olistics.io/blog/the-rise-and-fall-of-the-olap-cub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hyperlink" Target="https://www.kimballgroup.com/" TargetMode="External"/><Relationship Id="rId7" Type="http://schemas.openxmlformats.org/officeDocument/2006/relationships/image" Target="../media/image7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Third_normal_form" TargetMode="External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76402"/>
            <a:ext cx="5082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OLAP Cube – Rise and Fall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086608" y="654330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EA9DD-F532-E844-9109-9810BD2F6D66}"/>
              </a:ext>
            </a:extLst>
          </p:cNvPr>
          <p:cNvSpPr txBox="1"/>
          <p:nvPr/>
        </p:nvSpPr>
        <p:spPr>
          <a:xfrm>
            <a:off x="154379" y="722733"/>
            <a:ext cx="50826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Very good article:</a:t>
            </a:r>
          </a:p>
          <a:p>
            <a:r>
              <a:rPr lang="en-US" sz="1400" dirty="0"/>
              <a:t>The Rise and Fall of the OLAP Cube - by Cedric Chin (2020)</a:t>
            </a:r>
          </a:p>
          <a:p>
            <a:r>
              <a:rPr lang="en-US" sz="1400" dirty="0">
                <a:hlinkClick r:id="rId2"/>
              </a:rPr>
              <a:t>https://www.holistics.io/blog/the-rise-and-fall-of-the-olap-cube/</a:t>
            </a:r>
            <a:r>
              <a:rPr lang="en-US" sz="14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F64F69-1BC7-CC48-841C-6FFCC4154296}"/>
              </a:ext>
            </a:extLst>
          </p:cNvPr>
          <p:cNvSpPr txBox="1"/>
          <p:nvPr/>
        </p:nvSpPr>
        <p:spPr>
          <a:xfrm>
            <a:off x="2770249" y="1776052"/>
            <a:ext cx="66515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Old way of doing things:</a:t>
            </a:r>
          </a:p>
          <a:p>
            <a:endParaRPr lang="en-US" sz="1600" b="1" dirty="0">
              <a:solidFill>
                <a:srgbClr val="0070C0"/>
              </a:solidFill>
            </a:endParaRPr>
          </a:p>
          <a:p>
            <a:r>
              <a:rPr lang="en-US" sz="1600" b="1" dirty="0">
                <a:solidFill>
                  <a:srgbClr val="0070C0"/>
                </a:solidFill>
              </a:rPr>
              <a:t>          Data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F0000"/>
                </a:solidFill>
              </a:rPr>
              <a:t>=&gt; ETL =&gt; Data </a:t>
            </a:r>
            <a:r>
              <a:rPr lang="en-US" sz="1600" dirty="0" err="1">
                <a:solidFill>
                  <a:srgbClr val="FF0000"/>
                </a:solidFill>
              </a:rPr>
              <a:t>WareHouse</a:t>
            </a:r>
            <a:r>
              <a:rPr lang="en-US" sz="1600" dirty="0">
                <a:solidFill>
                  <a:srgbClr val="FF0000"/>
                </a:solidFill>
              </a:rPr>
              <a:t> =&gt; ETL =&gt; OLAP Cube =&gt;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Reporting</a:t>
            </a:r>
          </a:p>
          <a:p>
            <a:endParaRPr lang="en-US" sz="1600" dirty="0"/>
          </a:p>
          <a:p>
            <a:r>
              <a:rPr lang="en-US" sz="1600" dirty="0"/>
              <a:t>The above "old way" Includes a lot of ETL, Data modeling &amp; 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</a:rPr>
              <a:t>Kimball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FF0000"/>
                </a:solidFill>
              </a:rPr>
              <a:t>Inmon</a:t>
            </a:r>
            <a:r>
              <a:rPr lang="en-US" sz="1600" b="1" dirty="0">
                <a:solidFill>
                  <a:srgbClr val="FF0000"/>
                </a:solidFill>
              </a:rPr>
              <a:t>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 Vault by Dan </a:t>
            </a:r>
            <a:r>
              <a:rPr lang="en-US" sz="1600" dirty="0" err="1"/>
              <a:t>Linstedt</a:t>
            </a:r>
            <a:r>
              <a:rPr lang="en-US" sz="1600" dirty="0"/>
              <a:t> (combines Kimball &amp; </a:t>
            </a:r>
            <a:r>
              <a:rPr lang="en-US" sz="1600" dirty="0" err="1"/>
              <a:t>Inmon</a:t>
            </a:r>
            <a:r>
              <a:rPr lang="en-US" sz="1600" dirty="0"/>
              <a:t>).</a:t>
            </a:r>
          </a:p>
          <a:p>
            <a:endParaRPr lang="en-US" sz="1600" dirty="0"/>
          </a:p>
          <a:p>
            <a:r>
              <a:rPr lang="en-US" sz="1600" dirty="0"/>
              <a:t>But imagine that memory and compute power have become so cheap</a:t>
            </a:r>
          </a:p>
          <a:p>
            <a:r>
              <a:rPr lang="en-US" sz="1600" dirty="0"/>
              <a:t>that your regular SQL database can run any queries very fast using in-memory columnar storage and </a:t>
            </a:r>
            <a:r>
              <a:rPr lang="en-US" sz="1600" b="1" dirty="0">
                <a:solidFill>
                  <a:srgbClr val="FF0000"/>
                </a:solidFill>
              </a:rPr>
              <a:t>MPP</a:t>
            </a:r>
            <a:r>
              <a:rPr lang="en-US" sz="1600" dirty="0"/>
              <a:t> = Massive Parallel Processing.</a:t>
            </a:r>
          </a:p>
          <a:p>
            <a:endParaRPr lang="en-US" sz="1600" dirty="0"/>
          </a:p>
          <a:p>
            <a:r>
              <a:rPr lang="en-US" sz="1600" dirty="0"/>
              <a:t>Then you don't need to hire data modelers.</a:t>
            </a:r>
          </a:p>
          <a:p>
            <a:r>
              <a:rPr lang="en-US" sz="1600" dirty="0"/>
              <a:t>You don't need all the OLAP infrastructure.</a:t>
            </a:r>
          </a:p>
          <a:p>
            <a:r>
              <a:rPr lang="en-US" sz="1600" dirty="0"/>
              <a:t>You can simply query your data as it is.</a:t>
            </a:r>
          </a:p>
          <a:p>
            <a:endParaRPr lang="en-US" sz="1600" b="1" dirty="0">
              <a:solidFill>
                <a:srgbClr val="0070C0"/>
              </a:solidFill>
            </a:endParaRPr>
          </a:p>
          <a:p>
            <a:r>
              <a:rPr lang="en-US" sz="1600" b="1" dirty="0">
                <a:solidFill>
                  <a:srgbClr val="0070C0"/>
                </a:solidFill>
              </a:rPr>
              <a:t>          Data =&gt; Reporting</a:t>
            </a:r>
          </a:p>
        </p:txBody>
      </p:sp>
    </p:spTree>
    <p:extLst>
      <p:ext uri="{BB962C8B-B14F-4D97-AF65-F5344CB8AC3E}">
        <p14:creationId xmlns:p14="http://schemas.microsoft.com/office/powerpoint/2010/main" val="41002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76402"/>
            <a:ext cx="5082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OLAP Cube – Complexity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56E077-CBBF-8B4A-AFD9-7FF186E983BF}"/>
              </a:ext>
            </a:extLst>
          </p:cNvPr>
          <p:cNvSpPr txBox="1"/>
          <p:nvPr/>
        </p:nvSpPr>
        <p:spPr>
          <a:xfrm>
            <a:off x="361825" y="909341"/>
            <a:ext cx="5082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Kimball vs </a:t>
            </a:r>
            <a:r>
              <a:rPr lang="en-US" dirty="0" err="1"/>
              <a:t>Inmon</a:t>
            </a:r>
            <a:r>
              <a:rPr lang="en-US" dirty="0"/>
              <a:t> vs Data Vault frameworks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1A3A473-C1E6-BB4B-B45D-0E62BB53D0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429" t="3835" r="1620" b="5740"/>
          <a:stretch/>
        </p:blipFill>
        <p:spPr bwMode="auto">
          <a:xfrm>
            <a:off x="6452919" y="720437"/>
            <a:ext cx="5628904" cy="2648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1BB8427-CF39-2B4F-A702-0CBA2BC5A1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37" t="5906" r="5348" b="10518"/>
          <a:stretch/>
        </p:blipFill>
        <p:spPr bwMode="auto">
          <a:xfrm>
            <a:off x="6452919" y="4021776"/>
            <a:ext cx="5628904" cy="2648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015C3BA-8A84-A346-A5DE-3BBD3A618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880265"/>
              </p:ext>
            </p:extLst>
          </p:nvPr>
        </p:nvGraphicFramePr>
        <p:xfrm>
          <a:off x="147244" y="1752682"/>
          <a:ext cx="5511800" cy="3898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4744">
                  <a:extLst>
                    <a:ext uri="{9D8B030D-6E8A-4147-A177-3AD203B41FA5}">
                      <a16:colId xmlns:a16="http://schemas.microsoft.com/office/drawing/2014/main" val="508734602"/>
                    </a:ext>
                  </a:extLst>
                </a:gridCol>
                <a:gridCol w="2322762">
                  <a:extLst>
                    <a:ext uri="{9D8B030D-6E8A-4147-A177-3AD203B41FA5}">
                      <a16:colId xmlns:a16="http://schemas.microsoft.com/office/drawing/2014/main" val="1414177960"/>
                    </a:ext>
                  </a:extLst>
                </a:gridCol>
                <a:gridCol w="2094294">
                  <a:extLst>
                    <a:ext uri="{9D8B030D-6E8A-4147-A177-3AD203B41FA5}">
                      <a16:colId xmlns:a16="http://schemas.microsoft.com/office/drawing/2014/main" val="598691665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Parameters</a:t>
                      </a:r>
                      <a:endParaRPr lang="en-US" sz="140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Kimball</a:t>
                      </a:r>
                      <a:endParaRPr lang="en-US" sz="1400" b="1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 err="1">
                          <a:solidFill>
                            <a:srgbClr val="FF0000"/>
                          </a:solidFill>
                          <a:effectLst/>
                        </a:rPr>
                        <a:t>Inmon</a:t>
                      </a:r>
                      <a:endParaRPr lang="en-US" sz="1400" b="1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78837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 Ralph Kimball.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 Bill Inmon.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127004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Approach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has Bottom-Up Approach for implementation.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has Top-Down Approach for implementation.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793062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Integration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focuses Individual business areas.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focuses Enterprise-wide areas.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198495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Building Time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is efficient and takes less time.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is complex and consumes a lot of time.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7678964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Cost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has iterative steps and is cost effective.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Initial cost is huge and development cost is low.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9675188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Skills Required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does not need such skills but a generic team will do job.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needs specialized skills to make work.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68048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Maintenance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Here maintenance is difficult.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Here maintenance is easy.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252239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Model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prefers data to be in De-normalized model.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prefers data to be in normalized model.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071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Store Systems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 this, source systems are highly stable.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In this, source systems have high rate of change.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8233881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F877F6-E824-1449-B84B-E5353B0E439D}"/>
              </a:ext>
            </a:extLst>
          </p:cNvPr>
          <p:cNvSpPr/>
          <p:nvPr/>
        </p:nvSpPr>
        <p:spPr>
          <a:xfrm>
            <a:off x="7533574" y="76402"/>
            <a:ext cx="3396343" cy="6693853"/>
          </a:xfrm>
          <a:prstGeom prst="round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6509B1-63CD-E745-824F-781153CCDCE7}"/>
              </a:ext>
            </a:extLst>
          </p:cNvPr>
          <p:cNvSpPr txBox="1"/>
          <p:nvPr/>
        </p:nvSpPr>
        <p:spPr>
          <a:xfrm>
            <a:off x="7975600" y="215900"/>
            <a:ext cx="248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no longer needed</a:t>
            </a:r>
          </a:p>
        </p:txBody>
      </p:sp>
    </p:spTree>
    <p:extLst>
      <p:ext uri="{BB962C8B-B14F-4D97-AF65-F5344CB8AC3E}">
        <p14:creationId xmlns:p14="http://schemas.microsoft.com/office/powerpoint/2010/main" val="1421258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97A56-4D4A-3F47-9FFF-C6919AE57058}"/>
              </a:ext>
            </a:extLst>
          </p:cNvPr>
          <p:cNvSpPr txBox="1"/>
          <p:nvPr/>
        </p:nvSpPr>
        <p:spPr>
          <a:xfrm>
            <a:off x="142504" y="118753"/>
            <a:ext cx="3857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Kimball DW Framework</a:t>
            </a:r>
          </a:p>
        </p:txBody>
      </p:sp>
      <p:pic>
        <p:nvPicPr>
          <p:cNvPr id="1028" name="Picture 4" descr="Kimball Group | Dimensional Data Warehousing Experts">
            <a:extLst>
              <a:ext uri="{FF2B5EF4-FFF2-40B4-BE49-F238E27FC236}">
                <a16:creationId xmlns:a16="http://schemas.microsoft.com/office/drawing/2014/main" id="{54BE1611-AB11-B843-B335-0B1AD870C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591645" y="781336"/>
            <a:ext cx="1720112" cy="2013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6AC39B-5121-BE4B-B106-D28C9291FF2B}"/>
              </a:ext>
            </a:extLst>
          </p:cNvPr>
          <p:cNvSpPr txBox="1"/>
          <p:nvPr/>
        </p:nvSpPr>
        <p:spPr>
          <a:xfrm>
            <a:off x="1949557" y="2820188"/>
            <a:ext cx="29018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Kimball Group – closed in 2015</a:t>
            </a:r>
          </a:p>
          <a:p>
            <a:r>
              <a:rPr lang="en-US" sz="1600" dirty="0">
                <a:hlinkClick r:id="rId3"/>
              </a:rPr>
              <a:t>https://www.kimballgroup.com/</a:t>
            </a:r>
            <a:r>
              <a:rPr lang="en-US" sz="1600" dirty="0"/>
              <a:t> 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25FB8E3B-0DC1-B943-B985-7D05DDC29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2504" y="4160462"/>
            <a:ext cx="1807053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Kimball's Data Warehouse Toolkit Classics, 3 Volume Set">
            <a:extLst>
              <a:ext uri="{FF2B5EF4-FFF2-40B4-BE49-F238E27FC236}">
                <a16:creationId xmlns:a16="http://schemas.microsoft.com/office/drawing/2014/main" id="{E667604D-59E9-1345-9E47-35276E3959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93999" y="4160461"/>
            <a:ext cx="1842059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FE68235-DA87-9642-AF27-C4835BC23BB7}"/>
              </a:ext>
            </a:extLst>
          </p:cNvPr>
          <p:cNvSpPr txBox="1"/>
          <p:nvPr/>
        </p:nvSpPr>
        <p:spPr>
          <a:xfrm>
            <a:off x="8191503" y="118753"/>
            <a:ext cx="3857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Inmon</a:t>
            </a:r>
            <a:r>
              <a:rPr lang="en-US" sz="2800" b="1" dirty="0"/>
              <a:t> DW Framework</a:t>
            </a: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12840A34-CCB8-574E-9DBC-EFB4880CE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7500" y="852270"/>
            <a:ext cx="1249610" cy="181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04A850-E9C3-DB4B-8CFD-9FC3A00FB0FB}"/>
              </a:ext>
            </a:extLst>
          </p:cNvPr>
          <p:cNvSpPr txBox="1"/>
          <p:nvPr/>
        </p:nvSpPr>
        <p:spPr>
          <a:xfrm>
            <a:off x="8890000" y="2687467"/>
            <a:ext cx="1905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William H. </a:t>
            </a:r>
            <a:r>
              <a:rPr lang="en-US" sz="1600" dirty="0" err="1"/>
              <a:t>Inmon</a:t>
            </a:r>
            <a:endParaRPr lang="en-US" sz="1600" dirty="0"/>
          </a:p>
          <a:p>
            <a:pPr algn="ctr"/>
            <a:r>
              <a:rPr lang="en-US" sz="1600" dirty="0"/>
              <a:t>(1945 – present)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415DA38A-988E-0D40-BBF8-D68523122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64060" y="4160461"/>
            <a:ext cx="1848980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DA81332F-2F81-5B45-954D-22A2A17F4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69432" y="4160461"/>
            <a:ext cx="1743167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Ralph Kimball data warehouse architecture">
            <a:extLst>
              <a:ext uri="{FF2B5EF4-FFF2-40B4-BE49-F238E27FC236}">
                <a16:creationId xmlns:a16="http://schemas.microsoft.com/office/drawing/2014/main" id="{4B49ABE2-7BEF-644F-91D4-C8C012C6F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2504" y="781336"/>
            <a:ext cx="1592386" cy="207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47885C-34DB-5E4D-BE91-505AFE558C65}"/>
              </a:ext>
            </a:extLst>
          </p:cNvPr>
          <p:cNvSpPr txBox="1"/>
          <p:nvPr/>
        </p:nvSpPr>
        <p:spPr>
          <a:xfrm>
            <a:off x="34040" y="2851438"/>
            <a:ext cx="18070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Ralph Kimball</a:t>
            </a:r>
          </a:p>
          <a:p>
            <a:pPr algn="ctr"/>
            <a:r>
              <a:rPr lang="en-US" sz="1600" dirty="0"/>
              <a:t>(1944 – present)</a:t>
            </a:r>
          </a:p>
        </p:txBody>
      </p:sp>
    </p:spTree>
    <p:extLst>
      <p:ext uri="{BB962C8B-B14F-4D97-AF65-F5344CB8AC3E}">
        <p14:creationId xmlns:p14="http://schemas.microsoft.com/office/powerpoint/2010/main" val="4190198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626B5A-FFA5-2E46-962E-FE8D97840C1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469900"/>
            <a:ext cx="5005169" cy="5918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9966EE-FAC1-274E-90CA-F50154FF7E2C}"/>
              </a:ext>
            </a:extLst>
          </p:cNvPr>
          <p:cNvSpPr txBox="1"/>
          <p:nvPr/>
        </p:nvSpPr>
        <p:spPr>
          <a:xfrm>
            <a:off x="83127" y="1622688"/>
            <a:ext cx="565265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Ralph Kimball’s paradigm: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Each department in a company has its own </a:t>
            </a:r>
            <a:r>
              <a:rPr lang="en-US" sz="1600" b="1" dirty="0">
                <a:solidFill>
                  <a:srgbClr val="FF0000"/>
                </a:solidFill>
              </a:rPr>
              <a:t>Data Mart (DM)</a:t>
            </a:r>
            <a:r>
              <a:rPr lang="en-US" sz="1600" dirty="0"/>
              <a:t>. The company's </a:t>
            </a:r>
            <a:r>
              <a:rPr lang="en-US" sz="1600" b="1" dirty="0"/>
              <a:t>DW (Data Warehouse)</a:t>
            </a:r>
            <a:r>
              <a:rPr lang="en-US" sz="1600" dirty="0"/>
              <a:t> is the conglomerate of all </a:t>
            </a:r>
            <a:r>
              <a:rPr lang="en-US" sz="1600" b="1" dirty="0">
                <a:solidFill>
                  <a:srgbClr val="FF0000"/>
                </a:solidFill>
              </a:rPr>
              <a:t>DMs</a:t>
            </a:r>
            <a:r>
              <a:rPr lang="en-US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Information is always stored in the </a:t>
            </a:r>
            <a:r>
              <a:rPr lang="en-US" sz="1600" b="1" dirty="0">
                <a:solidFill>
                  <a:srgbClr val="00B050"/>
                </a:solidFill>
              </a:rPr>
              <a:t>dimensional model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Bill </a:t>
            </a:r>
            <a:r>
              <a:rPr lang="en-US" sz="1600" dirty="0" err="1"/>
              <a:t>Inmon’s</a:t>
            </a:r>
            <a:r>
              <a:rPr lang="en-US" sz="1600" dirty="0"/>
              <a:t> paradigm: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 company has </a:t>
            </a:r>
            <a:r>
              <a:rPr lang="en-US" sz="1600" b="1" dirty="0">
                <a:solidFill>
                  <a:srgbClr val="FF0000"/>
                </a:solidFill>
              </a:rPr>
              <a:t>one central DW</a:t>
            </a:r>
            <a:r>
              <a:rPr lang="en-US" sz="1600" dirty="0"/>
              <a:t> (Data </a:t>
            </a:r>
            <a:r>
              <a:rPr lang="en-US" sz="1600" dirty="0" err="1"/>
              <a:t>Warehous</a:t>
            </a:r>
            <a:r>
              <a:rPr lang="en-US" sz="1600" dirty="0"/>
              <a:t>). </a:t>
            </a:r>
            <a:br>
              <a:rPr lang="en-US" sz="1600" dirty="0"/>
            </a:br>
            <a:r>
              <a:rPr lang="en-US" sz="1600" dirty="0"/>
              <a:t>Data Marts (</a:t>
            </a:r>
            <a:r>
              <a:rPr lang="en-US" sz="1600" b="1" dirty="0">
                <a:solidFill>
                  <a:srgbClr val="FF0000"/>
                </a:solidFill>
              </a:rPr>
              <a:t>DMs</a:t>
            </a:r>
            <a:r>
              <a:rPr lang="en-US" sz="1600" dirty="0"/>
              <a:t>) source their data from the </a:t>
            </a:r>
            <a:r>
              <a:rPr lang="en-US" sz="1600" b="1" dirty="0">
                <a:solidFill>
                  <a:srgbClr val="FF0000"/>
                </a:solidFill>
              </a:rPr>
              <a:t>DW</a:t>
            </a:r>
            <a:r>
              <a:rPr lang="en-US" sz="1600" dirty="0"/>
              <a:t>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the </a:t>
            </a:r>
            <a:r>
              <a:rPr lang="en-US" sz="1600" b="1" dirty="0">
                <a:solidFill>
                  <a:srgbClr val="FF0000"/>
                </a:solidFill>
              </a:rPr>
              <a:t>DW</a:t>
            </a:r>
            <a:r>
              <a:rPr lang="en-US" sz="1600" dirty="0"/>
              <a:t>, information is stored in </a:t>
            </a:r>
            <a:r>
              <a:rPr lang="en-US" sz="1600" b="1" dirty="0">
                <a:solidFill>
                  <a:srgbClr val="00B050"/>
                </a:solidFill>
              </a:rPr>
              <a:t>3rd normal form</a:t>
            </a:r>
            <a:r>
              <a:rPr lang="en-US" sz="1600" dirty="0"/>
              <a:t>.</a:t>
            </a:r>
            <a:br>
              <a:rPr lang="en-US" sz="1600" dirty="0"/>
            </a:br>
            <a:r>
              <a:rPr lang="en-US" sz="1600" dirty="0"/>
              <a:t>( </a:t>
            </a:r>
            <a:r>
              <a:rPr lang="en-US" sz="1600" dirty="0">
                <a:hlinkClick r:id="rId3"/>
              </a:rPr>
              <a:t>https://en.wikipedia.org/wiki/Third_normal_form</a:t>
            </a:r>
            <a:r>
              <a:rPr lang="en-US" sz="1600" dirty="0"/>
              <a:t>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B93201-B580-8F45-9FB0-6ADE7776ADE3}"/>
              </a:ext>
            </a:extLst>
          </p:cNvPr>
          <p:cNvSpPr txBox="1"/>
          <p:nvPr/>
        </p:nvSpPr>
        <p:spPr>
          <a:xfrm>
            <a:off x="83127" y="0"/>
            <a:ext cx="3087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Inmon</a:t>
            </a:r>
            <a:r>
              <a:rPr lang="en-US" sz="2800" b="1" dirty="0"/>
              <a:t> vs Kimball </a:t>
            </a:r>
          </a:p>
        </p:txBody>
      </p:sp>
    </p:spTree>
    <p:extLst>
      <p:ext uri="{BB962C8B-B14F-4D97-AF65-F5344CB8AC3E}">
        <p14:creationId xmlns:p14="http://schemas.microsoft.com/office/powerpoint/2010/main" val="375006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34624D-E3AB-004F-AF17-C116607A727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8724" y="3186073"/>
            <a:ext cx="4513012" cy="24969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500258-BF7E-8547-93BD-66F6BFCA5B04}"/>
              </a:ext>
            </a:extLst>
          </p:cNvPr>
          <p:cNvSpPr txBox="1"/>
          <p:nvPr/>
        </p:nvSpPr>
        <p:spPr>
          <a:xfrm>
            <a:off x="83128" y="0"/>
            <a:ext cx="49638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The Times of </a:t>
            </a:r>
            <a:r>
              <a:rPr lang="en-US" sz="2800" b="1" dirty="0" err="1"/>
              <a:t>Inmon</a:t>
            </a:r>
            <a:r>
              <a:rPr lang="en-US" sz="2800" b="1" dirty="0"/>
              <a:t> &amp; Kimball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8920D5-BC91-D94F-AA9D-A126158BCD72}"/>
              </a:ext>
            </a:extLst>
          </p:cNvPr>
          <p:cNvSpPr txBox="1"/>
          <p:nvPr/>
        </p:nvSpPr>
        <p:spPr>
          <a:xfrm>
            <a:off x="83127" y="523220"/>
            <a:ext cx="486888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Imagine computers of 1970s.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computer occupy the whole floor of a building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Computer have memory measured in 10s of Kilobytes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Punch cards slowly transition to magnetic tapes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IBM introduced VSAM files, relations, 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Usually just one computer in whole organization (IBM Mainframe or similar)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"Dumb terminals" connecting to the central computer. </a:t>
            </a:r>
            <a:br>
              <a:rPr lang="en-US" sz="1400" dirty="0"/>
            </a:br>
            <a:r>
              <a:rPr lang="en-US" sz="1400" dirty="0"/>
              <a:t>There are no personal computers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All company's information is typically stored in one central computer</a:t>
            </a:r>
          </a:p>
          <a:p>
            <a:endParaRPr lang="en-US" sz="1400" dirty="0"/>
          </a:p>
          <a:p>
            <a:r>
              <a:rPr lang="en-US" sz="1400" dirty="0"/>
              <a:t>These are times when </a:t>
            </a:r>
            <a:r>
              <a:rPr lang="en-US" sz="1400" b="1" dirty="0" err="1">
                <a:solidFill>
                  <a:srgbClr val="FF0000"/>
                </a:solidFill>
              </a:rPr>
              <a:t>Inmon</a:t>
            </a:r>
            <a:r>
              <a:rPr lang="en-US" sz="1400" b="1" dirty="0">
                <a:solidFill>
                  <a:srgbClr val="FF0000"/>
                </a:solidFill>
              </a:rPr>
              <a:t> &amp; Kimball</a:t>
            </a:r>
            <a:r>
              <a:rPr lang="en-US" sz="1400" dirty="0"/>
              <a:t> were crafting their approaches.</a:t>
            </a:r>
          </a:p>
          <a:p>
            <a:endParaRPr lang="en-US" sz="1400" dirty="0"/>
          </a:p>
          <a:p>
            <a:r>
              <a:rPr lang="en-US" sz="1400" dirty="0"/>
              <a:t>As computers have become cheaper and more powerful, organization were able to buy several computers – one per department. Then people had to decide how to structure flows of information.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Inmon</a:t>
            </a:r>
            <a:r>
              <a:rPr lang="en-US" sz="1400" dirty="0"/>
              <a:t>: from central main computer down to departments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Kimball</a:t>
            </a:r>
            <a:r>
              <a:rPr lang="en-US" sz="1400" dirty="0"/>
              <a:t>: from departments to central.</a:t>
            </a:r>
          </a:p>
        </p:txBody>
      </p:sp>
      <p:pic>
        <p:nvPicPr>
          <p:cNvPr id="1028" name="Picture 4" descr="Description about Terminals input device of computer">
            <a:extLst>
              <a:ext uri="{FF2B5EF4-FFF2-40B4-BE49-F238E27FC236}">
                <a16:creationId xmlns:a16="http://schemas.microsoft.com/office/drawing/2014/main" id="{ED1D4892-91DE-334B-B70D-37355C5D7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2010" y="2939266"/>
            <a:ext cx="2696714" cy="1771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mputer terminal - Wikipedia">
            <a:extLst>
              <a:ext uri="{FF2B5EF4-FFF2-40B4-BE49-F238E27FC236}">
                <a16:creationId xmlns:a16="http://schemas.microsoft.com/office/drawing/2014/main" id="{98EEC336-1B48-1B4E-A5A6-A15B26FEB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624386" y="314179"/>
            <a:ext cx="2522457" cy="2238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How big is a mainframe? - Retrocomputing Stack Exchange">
            <a:extLst>
              <a:ext uri="{FF2B5EF4-FFF2-40B4-BE49-F238E27FC236}">
                <a16:creationId xmlns:a16="http://schemas.microsoft.com/office/drawing/2014/main" id="{47352DB4-5ED2-304D-996D-C73A2897E5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81238" y="134089"/>
            <a:ext cx="4127500" cy="247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138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609</Words>
  <Application>Microsoft Macintosh PowerPoint</Application>
  <PresentationFormat>Widescreen</PresentationFormat>
  <Paragraphs>91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151</cp:revision>
  <dcterms:created xsi:type="dcterms:W3CDTF">2018-10-10T17:24:46Z</dcterms:created>
  <dcterms:modified xsi:type="dcterms:W3CDTF">2021-07-11T14:28:57Z</dcterms:modified>
</cp:coreProperties>
</file>