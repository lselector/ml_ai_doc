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316" r:id="rId5"/>
    <p:sldId id="317" r:id="rId6"/>
    <p:sldId id="318" r:id="rId7"/>
    <p:sldId id="315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1618C5A-BF4F-44D7-ADB2-C5301EF81F8A}">
  <a:tblStyle styleId="{B1618C5A-BF4F-44D7-ADB2-C5301EF81F8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95"/>
    <p:restoredTop sz="92278"/>
  </p:normalViewPr>
  <p:slideViewPr>
    <p:cSldViewPr snapToGrid="0" snapToObjects="1">
      <p:cViewPr varScale="1">
        <p:scale>
          <a:sx n="103" d="100"/>
          <a:sy n="103" d="100"/>
        </p:scale>
        <p:origin x="2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552bd60a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g39552bd60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552bd60a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g39552bd60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123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552bd60a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g39552bd60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5899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552bd60a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g39552bd60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059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05295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6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venturebeat.com/2020/09/29/d-wave-advantage-quantum-computing-5000-qubits-1-million-variables/" TargetMode="External"/><Relationship Id="rId3" Type="http://schemas.openxmlformats.org/officeDocument/2006/relationships/hyperlink" Target="https://medium.com/geekculture/quantum-computers-mirage-or-real-power-14241a01eb9a" TargetMode="External"/><Relationship Id="rId7" Type="http://schemas.openxmlformats.org/officeDocument/2006/relationships/hyperlink" Target="https://www.dwavesys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en.wikipedia.org/wiki/D-Wave_Systems" TargetMode="External"/><Relationship Id="rId5" Type="http://schemas.openxmlformats.org/officeDocument/2006/relationships/hyperlink" Target="https://www.scottaaronson.com/blog/?cat=4" TargetMode="External"/><Relationship Id="rId10" Type="http://schemas.openxmlformats.org/officeDocument/2006/relationships/image" Target="../media/image2.png"/><Relationship Id="rId4" Type="http://schemas.openxmlformats.org/officeDocument/2006/relationships/hyperlink" Target="http://www.theory.caltech.edu/people/preskill/" TargetMode="External"/><Relationship Id="rId9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hyperlink" Target="https://medium.com/predict/googles-quantum-computer-is-about-158-million-times-faster-than-the-world-s-fastest-supercomputer-36df56747f7f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www.scientificamerican.com/article/googles-quantum-computer-achieves-chemistry-milestone/" TargetMode="External"/><Relationship Id="rId5" Type="http://schemas.openxmlformats.org/officeDocument/2006/relationships/hyperlink" Target="https://www.osa-opn.org/home/newsroom/2020/september/under_the_hood_of_google_s_quantum_computer/" TargetMode="Externa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quantum-computing/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arxiv.org/abs/1411.4028" TargetMode="External"/><Relationship Id="rId5" Type="http://schemas.openxmlformats.org/officeDocument/2006/relationships/hyperlink" Target="https://ionq.co/" TargetMode="External"/><Relationship Id="rId4" Type="http://schemas.openxmlformats.org/officeDocument/2006/relationships/hyperlink" Target="https://quantumexperience.ng.bluemix.net/qx/experience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zure.microsoft.com/en-us/solutions/quantum-computing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.jpeg"/><Relationship Id="rId5" Type="http://schemas.openxmlformats.org/officeDocument/2006/relationships/hyperlink" Target="https://azure.microsoft.com/en-us/services/quantum/" TargetMode="External"/><Relationship Id="rId4" Type="http://schemas.openxmlformats.org/officeDocument/2006/relationships/hyperlink" Target="https://azure.microsoft.com/en-us/resources/whitepapers/search/?term=quantum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sorflow.org/quantum" TargetMode="External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.png"/><Relationship Id="rId5" Type="http://schemas.openxmlformats.org/officeDocument/2006/relationships/hyperlink" Target="https://pypi.org/project/pytorch-quantum/" TargetMode="External"/><Relationship Id="rId4" Type="http://schemas.openxmlformats.org/officeDocument/2006/relationships/hyperlink" Target="https://qiskit.org/textbook/ch-machine-learning/machine-learning-qiskit-pytorch.htm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hyperlink" Target="https://www.fujitsu.com/us/services/business-services/digital-annealer/what-is-digital-annealer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0" y="637760"/>
            <a:ext cx="7956884" cy="6210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Quantum Computing (QC) is computing using quantum-mechanical phenomena, such as superposition and entanglement. Potentially much faster than conventional computers.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QC will be able to break most common encryption schemes used today. Although this quantum supremacy has not been achieved yet. </a:t>
            </a:r>
          </a:p>
          <a:p>
            <a:pPr lvl="0"/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https://medium.com/geekculture/quantum-computers-mirage-or-real-power-14241a01eb9a</a:t>
            </a: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/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Physicist Richard Feynman has mentioned potential power of quantum computers in 1982. Physicist David Deutsch claimed that quantum computers will be able to solve problems that would take a traditional computer longer than the age of the universe.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Websites to read more: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http://www.theory.caltech.edu/people/preskill/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Prof. John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Preskill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https://www.scottaaronson.com/blog/?cat=4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The Blog of Scott Aaronson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NASA, Google, IBM, CIA, etc. are working on quantum computers. NASA’s Quantum Artificial Intelligence Laboratory (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QuAIL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 - assessing the potential quantum computers could have with regards to artificial intelligence.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/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D-Wave: D-Wave Systems (since 1999, private, Vancouver - Canada, 160+ people) – up to 5,000 qubits (as of 2020),  at costs of ~$10M - Lockheed Martin, Google, NASA, USC, USRA and Los Alamos National Laboratory.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https://en.wikipedia.org/wiki/D-Wave_Systems</a:t>
            </a:r>
            <a:endParaRPr lang="en-US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https://www.dwavesys.com</a:t>
            </a: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https://venturebeat.com/2020/09/29/d-wave-advantage-quantum-computing-5000-qubits-1-million-variables/</a:t>
            </a:r>
            <a:endParaRPr lang="en-US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/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9299969" y="3504348"/>
            <a:ext cx="22458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D-Wave 5,000  qubits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88;p13">
            <a:extLst>
              <a:ext uri="{FF2B5EF4-FFF2-40B4-BE49-F238E27FC236}">
                <a16:creationId xmlns:a16="http://schemas.microsoft.com/office/drawing/2014/main" id="{B53D6C0D-C80A-C14B-9A42-527CEAE196AC}"/>
              </a:ext>
            </a:extLst>
          </p:cNvPr>
          <p:cNvSpPr txBox="1"/>
          <p:nvPr/>
        </p:nvSpPr>
        <p:spPr>
          <a:xfrm>
            <a:off x="0" y="9370"/>
            <a:ext cx="3751044" cy="65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Quantum Computing</a:t>
            </a:r>
            <a:endParaRPr sz="2800" dirty="0"/>
          </a:p>
        </p:txBody>
      </p:sp>
      <p:pic>
        <p:nvPicPr>
          <p:cNvPr id="1026" name="Picture 2" descr="D-Wave Advantage System">
            <a:extLst>
              <a:ext uri="{FF2B5EF4-FFF2-40B4-BE49-F238E27FC236}">
                <a16:creationId xmlns:a16="http://schemas.microsoft.com/office/drawing/2014/main" id="{58B86056-1A39-1F41-8386-E27137709F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884507" y="4310449"/>
            <a:ext cx="3074355" cy="2275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-Wave Advantage chip">
            <a:extLst>
              <a:ext uri="{FF2B5EF4-FFF2-40B4-BE49-F238E27FC236}">
                <a16:creationId xmlns:a16="http://schemas.microsoft.com/office/drawing/2014/main" id="{5C883084-0939-6F41-8473-41BE61C21E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55260" y="135924"/>
            <a:ext cx="2673715" cy="3279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/>
        </p:nvSpPr>
        <p:spPr>
          <a:xfrm>
            <a:off x="176463" y="172179"/>
            <a:ext cx="11325727" cy="3077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QuBit</a:t>
            </a:r>
            <a:endParaRPr sz="3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qubit (/ˈkjuːbɪt/) or quantum bit (sometimes qbit) is a unit of quantum information—the quantum analogue of the classical binary bit.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 how quantum states are represented by Dirac—or "bra–ket"—notation.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pure qubit state is a linear superposition of the basis states |0⟩ and |1⟩.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98537" y="1498803"/>
            <a:ext cx="3225800" cy="55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/>
        </p:nvSpPr>
        <p:spPr>
          <a:xfrm>
            <a:off x="0" y="0"/>
            <a:ext cx="4621473" cy="556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Quantum Computing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15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82830" y="181897"/>
            <a:ext cx="3317377" cy="2314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 descr="Photo of Sycamore chip and diagram of architecture">
            <a:extLst>
              <a:ext uri="{FF2B5EF4-FFF2-40B4-BE49-F238E27FC236}">
                <a16:creationId xmlns:a16="http://schemas.microsoft.com/office/drawing/2014/main" id="{ABED7A40-932A-A44A-B7ED-E12C08BB6A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49786" y="3257740"/>
            <a:ext cx="2371977" cy="2899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102;p15">
            <a:extLst>
              <a:ext uri="{FF2B5EF4-FFF2-40B4-BE49-F238E27FC236}">
                <a16:creationId xmlns:a16="http://schemas.microsoft.com/office/drawing/2014/main" id="{DCD2C0B7-2B91-2546-93D0-02B6CD73A6C7}"/>
              </a:ext>
            </a:extLst>
          </p:cNvPr>
          <p:cNvSpPr txBox="1"/>
          <p:nvPr/>
        </p:nvSpPr>
        <p:spPr>
          <a:xfrm>
            <a:off x="124743" y="568582"/>
            <a:ext cx="7598230" cy="1544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Quantum AI lab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https://www.osa-opn.org/home/newsroom/2020/september/under_the_hood_of_google_s_quantum_computer/</a:t>
            </a: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Chemical Reaction Simulation - </a:t>
            </a: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https://www.scientificamerican.com/article/googles-quantum-computer-achieves-chemistry-milestone/</a:t>
            </a: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https://medium.com/predict/googles-quantum-computer-is-about-158-million-times-faster-than-the-world-s-fastest-supercomputer-36df56747f7f</a:t>
            </a: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/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633590-3867-884A-BEBE-87A8B4D00109}"/>
              </a:ext>
            </a:extLst>
          </p:cNvPr>
          <p:cNvSpPr txBox="1"/>
          <p:nvPr/>
        </p:nvSpPr>
        <p:spPr>
          <a:xfrm>
            <a:off x="9032693" y="2496709"/>
            <a:ext cx="24176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Bristlecone - 72 qubits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E25211-E6F8-AB43-8876-2CF5DCEB3CD7}"/>
              </a:ext>
            </a:extLst>
          </p:cNvPr>
          <p:cNvSpPr txBox="1"/>
          <p:nvPr/>
        </p:nvSpPr>
        <p:spPr>
          <a:xfrm>
            <a:off x="8815088" y="6134911"/>
            <a:ext cx="30011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Google Sycamore chip – 53 circuits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/>
        </p:nvSpPr>
        <p:spPr>
          <a:xfrm>
            <a:off x="0" y="0"/>
            <a:ext cx="4621473" cy="556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IBM Quantum Computing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02;p15">
            <a:extLst>
              <a:ext uri="{FF2B5EF4-FFF2-40B4-BE49-F238E27FC236}">
                <a16:creationId xmlns:a16="http://schemas.microsoft.com/office/drawing/2014/main" id="{DCD2C0B7-2B91-2546-93D0-02B6CD73A6C7}"/>
              </a:ext>
            </a:extLst>
          </p:cNvPr>
          <p:cNvSpPr txBox="1"/>
          <p:nvPr/>
        </p:nvSpPr>
        <p:spPr>
          <a:xfrm>
            <a:off x="124743" y="803360"/>
            <a:ext cx="5818858" cy="1544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IBM Quantum Experience: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https://www.ibm.com/quantum-computing/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https://quantumexperience.ng.bluemix.net/qx/experience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allows researches to run projects on Quantum </a:t>
            </a: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machne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https://ionq.co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Q.C. developers in MD.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https://arxiv.org/abs/1411.4028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paper “A Quantum Approximate Optimization Algorithm”, 2014</a:t>
            </a:r>
            <a:endParaRPr lang="en-US" dirty="0"/>
          </a:p>
        </p:txBody>
      </p:sp>
      <p:pic>
        <p:nvPicPr>
          <p:cNvPr id="3074" name="Picture 2" descr="IBM Quantum microchip illustration">
            <a:extLst>
              <a:ext uri="{FF2B5EF4-FFF2-40B4-BE49-F238E27FC236}">
                <a16:creationId xmlns:a16="http://schemas.microsoft.com/office/drawing/2014/main" id="{CBB66653-D5F7-2D41-B1A1-9CB0392D83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315841" y="407944"/>
            <a:ext cx="3603136" cy="2594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369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/>
        </p:nvSpPr>
        <p:spPr>
          <a:xfrm>
            <a:off x="0" y="0"/>
            <a:ext cx="5832389" cy="556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Microsoft Quantum Computing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02;p15">
            <a:extLst>
              <a:ext uri="{FF2B5EF4-FFF2-40B4-BE49-F238E27FC236}">
                <a16:creationId xmlns:a16="http://schemas.microsoft.com/office/drawing/2014/main" id="{DCD2C0B7-2B91-2546-93D0-02B6CD73A6C7}"/>
              </a:ext>
            </a:extLst>
          </p:cNvPr>
          <p:cNvSpPr txBox="1"/>
          <p:nvPr/>
        </p:nvSpPr>
        <p:spPr>
          <a:xfrm>
            <a:off x="124743" y="568582"/>
            <a:ext cx="7598230" cy="1544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Microsoft Quantum Computing ...</a:t>
            </a:r>
          </a:p>
          <a:p>
            <a:pPr lvl="0"/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https://azure.microsoft.com/en-us/solutions/quantum-computing/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https://azure.microsoft.com/en-us/resources/whitepapers/search/?term=quantum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https://azure.microsoft.com/en-us/services/quantum/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Azure Quantum PREVIEW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/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98" name="Picture 2" descr="Microsoft Takes Path Less Traveled to Build a Quantum Computer - Bloomberg">
            <a:extLst>
              <a:ext uri="{FF2B5EF4-FFF2-40B4-BE49-F238E27FC236}">
                <a16:creationId xmlns:a16="http://schemas.microsoft.com/office/drawing/2014/main" id="{0D2ECF7B-EE75-F24A-9C29-044EE2D041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825136" y="395416"/>
            <a:ext cx="1889069" cy="2681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1349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/>
        </p:nvSpPr>
        <p:spPr>
          <a:xfrm>
            <a:off x="0" y="0"/>
            <a:ext cx="5832389" cy="556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Quantum Computing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02;p15">
            <a:extLst>
              <a:ext uri="{FF2B5EF4-FFF2-40B4-BE49-F238E27FC236}">
                <a16:creationId xmlns:a16="http://schemas.microsoft.com/office/drawing/2014/main" id="{DCD2C0B7-2B91-2546-93D0-02B6CD73A6C7}"/>
              </a:ext>
            </a:extLst>
          </p:cNvPr>
          <p:cNvSpPr txBox="1"/>
          <p:nvPr/>
        </p:nvSpPr>
        <p:spPr>
          <a:xfrm>
            <a:off x="124743" y="568582"/>
            <a:ext cx="7598230" cy="1544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some libraries, research, and toy projects, for example:</a:t>
            </a:r>
          </a:p>
          <a:p>
            <a:pPr lvl="0"/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https://www.tensorflow.org/quantum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https://qiskit.org/textbook/ch-machine-learning/machine-learning-qiskit-pytorch.html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https://pypi.org/project/pytorch-quantum/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</a:p>
          <a:p>
            <a:pPr lvl="0"/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22" name="Picture 2" descr="TensorFlow Quantum: beauty and the beast | by Shubham Goyal | Towards Data  Science">
            <a:extLst>
              <a:ext uri="{FF2B5EF4-FFF2-40B4-BE49-F238E27FC236}">
                <a16:creationId xmlns:a16="http://schemas.microsoft.com/office/drawing/2014/main" id="{0D2110C4-6CE2-EA45-BE42-11A14702D1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736226" y="556870"/>
            <a:ext cx="2916195" cy="1229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Training quantum neural networks with PennyLane, PyTorch, and TensorFlow |  by Xanadu | XanaduAI | Medium">
            <a:extLst>
              <a:ext uri="{FF2B5EF4-FFF2-40B4-BE49-F238E27FC236}">
                <a16:creationId xmlns:a16="http://schemas.microsoft.com/office/drawing/2014/main" id="{085D9691-AB12-DC49-8DF7-314DF91F48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629380" y="2693773"/>
            <a:ext cx="5023041" cy="1013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4661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6FE612-71F8-3E41-BF92-4C497117257D}"/>
              </a:ext>
            </a:extLst>
          </p:cNvPr>
          <p:cNvSpPr txBox="1"/>
          <p:nvPr/>
        </p:nvSpPr>
        <p:spPr>
          <a:xfrm>
            <a:off x="117988" y="1688690"/>
            <a:ext cx="7595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https://www.fujitsu.com/us/services/business-services/digital-annealer/what-is-digital-annealer/</a:t>
            </a:r>
            <a:r>
              <a:rPr lang="en-US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3EB77D-5ADA-3747-9A20-DDC8B3108EF5}"/>
              </a:ext>
            </a:extLst>
          </p:cNvPr>
          <p:cNvSpPr txBox="1"/>
          <p:nvPr/>
        </p:nvSpPr>
        <p:spPr>
          <a:xfrm>
            <a:off x="117988" y="191729"/>
            <a:ext cx="48227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Fujitsu Digital Annealer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E142219-EDFD-BA46-9E36-D95899467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61377" y="191729"/>
            <a:ext cx="3012635" cy="2993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road Practical Use diagram">
            <a:extLst>
              <a:ext uri="{FF2B5EF4-FFF2-40B4-BE49-F238E27FC236}">
                <a16:creationId xmlns:a16="http://schemas.microsoft.com/office/drawing/2014/main" id="{1EF14F88-5858-8D4D-BBDB-B491D14E3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05853" y="3429000"/>
            <a:ext cx="3668159" cy="3121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A71A3A-8BC8-3347-8ADC-571301EE9C2E}"/>
              </a:ext>
            </a:extLst>
          </p:cNvPr>
          <p:cNvSpPr txBox="1"/>
          <p:nvPr/>
        </p:nvSpPr>
        <p:spPr>
          <a:xfrm>
            <a:off x="117988" y="829806"/>
            <a:ext cx="71972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specialized chip to solve massive combinatorial optimization problems.</a:t>
            </a:r>
          </a:p>
          <a:p>
            <a:r>
              <a:rPr lang="en-US" dirty="0"/>
              <a:t>Parallel, real-time optimization calculations.</a:t>
            </a:r>
          </a:p>
          <a:p>
            <a:r>
              <a:rPr lang="en-US" dirty="0"/>
              <a:t>Faster than GPUs.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28186F-6CBB-5F4F-925E-D179DA397A82}"/>
              </a:ext>
            </a:extLst>
          </p:cNvPr>
          <p:cNvSpPr txBox="1"/>
          <p:nvPr/>
        </p:nvSpPr>
        <p:spPr>
          <a:xfrm>
            <a:off x="117988" y="2264171"/>
            <a:ext cx="734469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Fujitsu developed a “digital annealing unit” (DAU), a custom CMOS chip (similar to FPGA)  with an architecture designed for efficient solving large-scale optimization problems.</a:t>
            </a:r>
          </a:p>
          <a:p>
            <a:endParaRPr lang="en-US" dirty="0"/>
          </a:p>
          <a:p>
            <a:r>
              <a:rPr lang="en-US" dirty="0"/>
              <a:t>It uses a version of classical </a:t>
            </a:r>
            <a:r>
              <a:rPr lang="en-US" b="1" dirty="0">
                <a:solidFill>
                  <a:srgbClr val="0070C0"/>
                </a:solidFill>
              </a:rPr>
              <a:t>simulated annealing</a:t>
            </a:r>
            <a:r>
              <a:rPr lang="en-US" dirty="0"/>
              <a:t> method. </a:t>
            </a:r>
          </a:p>
          <a:p>
            <a:r>
              <a:rPr lang="en-US" dirty="0"/>
              <a:t>But for marketing purposes they say that it is “quantum-inspired”, </a:t>
            </a:r>
          </a:p>
          <a:p>
            <a:r>
              <a:rPr lang="en-US" dirty="0"/>
              <a:t>because “quantum annealing” is a variant of "simulated annealing".</a:t>
            </a:r>
          </a:p>
          <a:p>
            <a:r>
              <a:rPr lang="en-US" dirty="0"/>
              <a:t>But of course DAU is not "quantum".</a:t>
            </a:r>
          </a:p>
        </p:txBody>
      </p:sp>
      <p:pic>
        <p:nvPicPr>
          <p:cNvPr id="1030" name="Picture 6" descr="Image result for fujitsu digital annealer vs gpu">
            <a:extLst>
              <a:ext uri="{FF2B5EF4-FFF2-40B4-BE49-F238E27FC236}">
                <a16:creationId xmlns:a16="http://schemas.microsoft.com/office/drawing/2014/main" id="{E7C0A5D6-4F4D-354B-A96B-5A7C0B36CB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4209" y="4085951"/>
            <a:ext cx="4926371" cy="2772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311E2F-1793-A640-87D7-C415D249E322}"/>
              </a:ext>
            </a:extLst>
          </p:cNvPr>
          <p:cNvSpPr txBox="1"/>
          <p:nvPr/>
        </p:nvSpPr>
        <p:spPr>
          <a:xfrm>
            <a:off x="6260041" y="5504974"/>
            <a:ext cx="13273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Execution</a:t>
            </a:r>
          </a:p>
          <a:p>
            <a:r>
              <a:rPr lang="en-US" dirty="0"/>
              <a:t>time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DF4D6D8C-8515-0241-8E1D-8EC7DC08D6EB}"/>
              </a:ext>
            </a:extLst>
          </p:cNvPr>
          <p:cNvSpPr/>
          <p:nvPr/>
        </p:nvSpPr>
        <p:spPr>
          <a:xfrm rot="10800000">
            <a:off x="5500580" y="5619104"/>
            <a:ext cx="595420" cy="261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114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2942</TotalTime>
  <Words>719</Words>
  <Application>Microsoft Macintosh PowerPoint</Application>
  <PresentationFormat>Widescreen</PresentationFormat>
  <Paragraphs>63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Lev Selector</cp:lastModifiedBy>
  <cp:revision>295</cp:revision>
  <cp:lastPrinted>2020-09-21T17:22:59Z</cp:lastPrinted>
  <dcterms:modified xsi:type="dcterms:W3CDTF">2021-05-06T15:45:18Z</dcterms:modified>
</cp:coreProperties>
</file>