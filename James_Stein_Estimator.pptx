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40"/>
  </p:normalViewPr>
  <p:slideViewPr>
    <p:cSldViewPr snapToGrid="0" snapToObjects="1">
      <p:cViewPr varScale="1">
        <p:scale>
          <a:sx n="87" d="100"/>
          <a:sy n="87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D85E-703D-484F-B5CF-08389937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E388E-E77A-AD4D-A236-6C8F05C9A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6583-7C22-1849-AF86-67881C0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AAF8A-871E-2548-B758-BD9FC131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95F04-38EE-9B43-A60E-60F7CB22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4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10A0-E2A4-CD4F-94E7-F4203536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E582-98B1-A044-8BD4-D86E2977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EE8F7-1669-8042-B662-EFB83007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25DA-CBF1-0943-985E-B13EB380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B802-F41F-E44B-BEBD-F95BA133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2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D37A-F6F0-3943-BFA3-CEE12079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74C30-FCAD-E14A-A50E-D982EB1C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5D03-610A-D34D-B694-9DFB9E5F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36A3-ACB2-CB4E-8DC4-71635EC0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584F0-5A3F-D048-B57D-E9AE561A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1CF5-0A8E-0B4F-BD65-FEEBC2AC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75FA3-08BE-2E45-88A2-F8EF74B78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87A48-82C6-184F-A289-8907F528F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4348E-1596-F647-8D11-84117711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24D6B-C990-2645-A859-9B1EF978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77998-1C76-5D4F-82FE-E684956F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2743-07F5-8F44-9640-5F025CAF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ACC1-FCC2-DD4D-B1F9-2B4542285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C33D7-A011-2F4F-B749-819BE7CB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4396F-658A-D740-A2ED-419ECF268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4A648-7660-004D-99CE-C73C160F1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66D9A-3B10-E545-9E2F-8BCCEF3B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8D04A-179A-1742-A2F8-A585CA21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1159A-49A4-CD4B-B282-B8732C22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7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BF6C-657A-0C40-A863-2D8F48DC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FA68B-5B43-3E4E-A1FB-14E560DB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3779E-EDDB-9844-8654-21B3E009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02C3A-EB52-D746-9BE2-25E26F45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1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CEC2D-7F9D-774C-AD54-11249205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3F158-0CD6-7640-8D0D-C5AE7984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911C1-55D3-704A-BD69-129837EC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3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360D-C827-9248-B5D0-A415B5882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6BD4C-B7F9-DB4A-8E1B-5B3E3862E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4182E-9802-3D43-ADFC-2877613B1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C853D-0FA9-5B42-B6A6-DB1963F0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F0FE7-EEDA-F14E-8E56-FA1FE49B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2A53A-6D2E-084C-BB69-AE48B7E6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9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2BE0-871A-A940-981C-F5BFD1F7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A5B23-E5EA-F741-B6F3-A9E2481F8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7C6F4-8009-3242-A374-7A6104DB4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36312-5CEF-2C4F-A783-BD9DCCBB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B08EF-7E0D-2940-A4BD-F5F910F5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D066F-BD09-B24E-BFD7-EB5DF94B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0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F843-0545-7147-9429-9EAB579F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29FB9-870E-9D46-BDBE-CCD438945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21E40-4C46-E246-A776-572BAFE6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3E12-8323-0D4B-900A-BBEE914E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D0D64-26DB-3A4F-A940-4A98DA9A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5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1B905-49C9-CC4C-BFEA-D76A4BE58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05ED7-4E1D-4A49-A2BB-360B0CBB1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CB4C8-6270-AE44-9609-CF56649C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185D-3D0B-8D4A-8E31-DD55FA91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C4427-509D-B040-9A50-6B263EF4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6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484FB-1E88-1749-BA11-DF52DF0E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0031B-8771-6B45-944D-B25130EA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85E5E-F2E0-E942-9B8A-D16447F4D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5A1C1-DAB8-144D-91BF-92D4901901FF}" type="datetimeFigureOut">
              <a:rPr lang="en-US" smtClean="0"/>
              <a:t>3/2/20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3C220-0A3A-064A-99A8-3F8002DD9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A22E-8233-D74A-BF05-7C049707B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assets.lib.berkeley.edu/math/ucb/text/math_s4_v1_article-19.pdf" TargetMode="External"/><Relationship Id="rId2" Type="http://schemas.openxmlformats.org/officeDocument/2006/relationships/hyperlink" Target="https://en.wikipedia.org/wiki/Stein%27s_exampl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hyperlink" Target="http://www.statslab.cam.ac.uk/~rjs57/SteinParadox.pd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304308/why-is-the-james-stein-estimator-called-a-shrinkage-estimator" TargetMode="External"/><Relationship Id="rId2" Type="http://schemas.openxmlformats.org/officeDocument/2006/relationships/hyperlink" Target="https://en.wikipedia.org/wiki/James%E2%80%93Stein_estimator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tatweb.stanford.edu/~ckirby/brad/other/Article1977.pdf" TargetMode="External"/><Relationship Id="rId5" Type="http://schemas.openxmlformats.org/officeDocument/2006/relationships/image" Target="../media/image2.tiff"/><Relationship Id="rId4" Type="http://schemas.openxmlformats.org/officeDocument/2006/relationships/hyperlink" Target="https://www.quora.com/Why-isnt-the-James-Stein-estimator-the-standard-method-for-linear-regression-if-it-is-strictly-better-than-OLS-when-there-are-more-than-2-covariate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tiff"/><Relationship Id="rId3" Type="http://schemas.openxmlformats.org/officeDocument/2006/relationships/image" Target="../media/image3.tiff"/><Relationship Id="rId7" Type="http://schemas.openxmlformats.org/officeDocument/2006/relationships/hyperlink" Target="https://www.naftaliharris.com/blog/ten-stat-ideas/" TargetMode="External"/><Relationship Id="rId2" Type="http://schemas.openxmlformats.org/officeDocument/2006/relationships/hyperlink" Target="https://www.naftaliharris.com/blog/steinv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ntilink.com/about/" TargetMode="External"/><Relationship Id="rId5" Type="http://schemas.openxmlformats.org/officeDocument/2006/relationships/hyperlink" Target="https://sentilink.com/" TargetMode="External"/><Relationship Id="rId4" Type="http://schemas.openxmlformats.org/officeDocument/2006/relationships/hyperlink" Target="mailto:Naftali.Harris@gmail.com" TargetMode="External"/><Relationship Id="rId9" Type="http://schemas.openxmlformats.org/officeDocument/2006/relationships/image" Target="../media/image5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1EE289-B5BD-3D4D-A72E-223588FF1497}"/>
              </a:ext>
            </a:extLst>
          </p:cNvPr>
          <p:cNvSpPr txBox="1"/>
          <p:nvPr/>
        </p:nvSpPr>
        <p:spPr>
          <a:xfrm>
            <a:off x="228599" y="823745"/>
            <a:ext cx="9461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Stein's Example (paradox, phenomenon)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https://en.wikipedia.org/wiki/Stein%27s_example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when three or more parameters are estimated simultaneously, 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there exist combined estimators more accurate on average 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than any method that handles the parameters separately. </a:t>
            </a:r>
            <a:endParaRPr lang="en-US" dirty="0"/>
          </a:p>
          <a:p>
            <a:r>
              <a:rPr lang="en-US" dirty="0"/>
              <a:t>It is named after Charles Stein of Stanford University, who discovered the phenomenon in 1955</a:t>
            </a:r>
          </a:p>
          <a:p>
            <a:r>
              <a:rPr lang="en-US" dirty="0"/>
              <a:t>and further developed with Stein's graduate student Willard James).</a:t>
            </a:r>
          </a:p>
          <a:p>
            <a:r>
              <a:rPr lang="en-US" dirty="0"/>
              <a:t>"ESTIMATION WITH QUADRATIC LOSS", 1961: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https://digitalassets.lib.berkeley.edu/math/ucb/text/math_s4_v1_article-19.pdf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http://www.statslab.cam.ac.uk/~rjs57/SteinParadox.pdf</a:t>
            </a:r>
            <a:r>
              <a:rPr lang="en-US" dirty="0"/>
              <a:t>  - nice clear explanation</a:t>
            </a:r>
          </a:p>
          <a:p>
            <a:r>
              <a:rPr lang="en-US" dirty="0"/>
              <a:t>Important Note: It doesn't work for 2 parameters, it should be 3 or more.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7D72C-A77D-8946-AA05-00B89EB02A0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4077" y="360180"/>
            <a:ext cx="1586143" cy="2125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05D215-2DF8-EC48-816F-5AB013F85FA5}"/>
              </a:ext>
            </a:extLst>
          </p:cNvPr>
          <p:cNvSpPr txBox="1"/>
          <p:nvPr/>
        </p:nvSpPr>
        <p:spPr>
          <a:xfrm>
            <a:off x="0" y="98571"/>
            <a:ext cx="3605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James-Stein Estimator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BF89F-E0CB-D04C-AA63-37BB94708B6A}"/>
              </a:ext>
            </a:extLst>
          </p:cNvPr>
          <p:cNvSpPr txBox="1"/>
          <p:nvPr/>
        </p:nvSpPr>
        <p:spPr>
          <a:xfrm>
            <a:off x="10020841" y="2485738"/>
            <a:ext cx="1961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Charles M. Stein</a:t>
            </a:r>
          </a:p>
          <a:p>
            <a:r>
              <a:rPr lang="en-US" dirty="0"/>
              <a:t>   ( 1920-2016 )</a:t>
            </a:r>
          </a:p>
          <a:p>
            <a:r>
              <a:rPr lang="en-US" dirty="0"/>
              <a:t>Statistics, Stanford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837E7-4F2E-3446-A2BC-6586544521F6}"/>
              </a:ext>
            </a:extLst>
          </p:cNvPr>
          <p:cNvSpPr txBox="1"/>
          <p:nvPr/>
        </p:nvSpPr>
        <p:spPr>
          <a:xfrm>
            <a:off x="228599" y="3995678"/>
            <a:ext cx="116438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quirky example would be estimating the three unrelated things together: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speed of light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tea consumption in Taiwan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hog weight in Montana</a:t>
            </a:r>
          </a:p>
          <a:p>
            <a:r>
              <a:rPr lang="en-US" dirty="0"/>
              <a:t>The total MSE (the sum of individual Mean Square Errors) in measuring light speed, tea consumption, and hog weight would improve by using the James–Stein estimator. </a:t>
            </a:r>
          </a:p>
          <a:p>
            <a:r>
              <a:rPr lang="en-US" dirty="0"/>
              <a:t>However, any particular component (such as the speed of light) would improve for some parameter values, and deteriorate for others. </a:t>
            </a:r>
          </a:p>
          <a:p>
            <a:r>
              <a:rPr lang="en-US" dirty="0"/>
              <a:t>Thus, although the James–Stein estimator dominates the LS estimator when three or more parameters are estimated, any single component does not dominate the respective component of the LS estimator.</a:t>
            </a:r>
          </a:p>
        </p:txBody>
      </p:sp>
    </p:spTree>
    <p:extLst>
      <p:ext uri="{BB962C8B-B14F-4D97-AF65-F5344CB8AC3E}">
        <p14:creationId xmlns:p14="http://schemas.microsoft.com/office/powerpoint/2010/main" val="143701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F35CB5-A81F-104D-90BC-318D4759688D}"/>
              </a:ext>
            </a:extLst>
          </p:cNvPr>
          <p:cNvSpPr txBox="1"/>
          <p:nvPr/>
        </p:nvSpPr>
        <p:spPr>
          <a:xfrm>
            <a:off x="0" y="656768"/>
            <a:ext cx="74331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is the James-Stein estimator called a “shrinkage” estimator?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https://en.wikipedia.org/wiki/James%E2%80%93Stein_estimator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https://stats.stackexchange.com/questions/304308/why-is-the-james-stein-estimator-called-a-shrinkage-estimator</a:t>
            </a:r>
            <a:endParaRPr lang="en-US" dirty="0"/>
          </a:p>
          <a:p>
            <a:endParaRPr lang="en-US" dirty="0"/>
          </a:p>
          <a:p>
            <a:r>
              <a:rPr lang="en-US" dirty="0"/>
              <a:t>Why isn't the James Stein estimator the standard method for linear regression if it is strictly better than OLS when there are more than 2 covariates?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https://www.quora.com/Why-isnt-the-James-Stein-estimator-the-standard-method-for-linear-regression-if-it-is-strictly-better-than-OLS-when-there-are-more-than-2-covariates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5D215-2DF8-EC48-816F-5AB013F85FA5}"/>
              </a:ext>
            </a:extLst>
          </p:cNvPr>
          <p:cNvSpPr txBox="1"/>
          <p:nvPr/>
        </p:nvSpPr>
        <p:spPr>
          <a:xfrm>
            <a:off x="0" y="60295"/>
            <a:ext cx="6452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James-Stein Estimator - continued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8B8DC1-11D8-6B42-8B2E-D5D6EC1BA5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9200" y="0"/>
            <a:ext cx="4622800" cy="3670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00125B-CDE3-1E48-A686-117C8983E172}"/>
              </a:ext>
            </a:extLst>
          </p:cNvPr>
          <p:cNvSpPr txBox="1"/>
          <p:nvPr/>
        </p:nvSpPr>
        <p:spPr>
          <a:xfrm>
            <a:off x="110611" y="3743553"/>
            <a:ext cx="118503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Stein's Paradox in Statistics – by Bradley </a:t>
            </a:r>
            <a:r>
              <a:rPr lang="en-US" dirty="0" err="1"/>
              <a:t>Efron</a:t>
            </a:r>
            <a:r>
              <a:rPr lang="en-US" dirty="0"/>
              <a:t> and Carl Morris (Scientific American, 1977)</a:t>
            </a:r>
          </a:p>
          <a:p>
            <a:r>
              <a:rPr lang="en-US" dirty="0"/>
              <a:t> - </a:t>
            </a:r>
            <a:r>
              <a:rPr lang="en-US" dirty="0">
                <a:hlinkClick r:id="rId6"/>
              </a:rPr>
              <a:t>http://statweb.stanford.edu/~ckirby/brad/other/Article1977.pdf</a:t>
            </a:r>
            <a:r>
              <a:rPr lang="en-US" dirty="0"/>
              <a:t> </a:t>
            </a:r>
          </a:p>
          <a:p>
            <a:r>
              <a:rPr lang="en-US" dirty="0"/>
              <a:t>In the Scientific American article, </a:t>
            </a:r>
            <a:r>
              <a:rPr lang="en-US" dirty="0" err="1"/>
              <a:t>Efron</a:t>
            </a:r>
            <a:r>
              <a:rPr lang="en-US" dirty="0"/>
              <a:t> explained the paradox with a baseball example: while most people would think the best prediction for the end-of-season batting averages of 10 players would be obtained by looking at each player's early average, the James-Stein theorem showed that including other players' averages leads to a better result. This is a paradox because players' individual performances shouldn't influence each other.</a:t>
            </a:r>
          </a:p>
        </p:txBody>
      </p:sp>
    </p:spTree>
    <p:extLst>
      <p:ext uri="{BB962C8B-B14F-4D97-AF65-F5344CB8AC3E}">
        <p14:creationId xmlns:p14="http://schemas.microsoft.com/office/powerpoint/2010/main" val="346890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7FEDF4-E49C-B648-8D3A-845D2817CBD2}"/>
              </a:ext>
            </a:extLst>
          </p:cNvPr>
          <p:cNvSpPr txBox="1"/>
          <p:nvPr/>
        </p:nvSpPr>
        <p:spPr>
          <a:xfrm>
            <a:off x="353962" y="1034197"/>
            <a:ext cx="461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https://www.naftaliharris.com/blog/steinviz/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23EC6-A239-BD45-BEC3-15C0BB2C92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4361" y="364994"/>
            <a:ext cx="1614129" cy="1979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A79B6-4EDE-1948-815C-FE5AE9D2591D}"/>
              </a:ext>
            </a:extLst>
          </p:cNvPr>
          <p:cNvSpPr txBox="1"/>
          <p:nvPr/>
        </p:nvSpPr>
        <p:spPr>
          <a:xfrm>
            <a:off x="9276735" y="2344992"/>
            <a:ext cx="2741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Naftali.Harris@gmail.com</a:t>
            </a:r>
            <a:endParaRPr lang="en-US" dirty="0"/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6"/>
              </a:rPr>
              <a:t>https://www.sentilink.com/about/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7"/>
              </a:rPr>
              <a:t>https://www.naftaliharris.com/blog/ten-stat-ideas/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1AAF8-4C91-0A43-B91E-D14888B94E71}"/>
              </a:ext>
            </a:extLst>
          </p:cNvPr>
          <p:cNvSpPr txBox="1"/>
          <p:nvPr/>
        </p:nvSpPr>
        <p:spPr>
          <a:xfrm>
            <a:off x="353962" y="189074"/>
            <a:ext cx="66072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Visualizing the James-Stein Estimator</a:t>
            </a:r>
          </a:p>
          <a:p>
            <a:r>
              <a:rPr lang="en-US" dirty="0"/>
              <a:t>by Naftali Harris, 2013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0216D-B1D2-2F4E-A9BD-CC54A81E322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962" y="3495990"/>
            <a:ext cx="5969000" cy="30612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9867C6-086D-E146-AF4B-8CF51307ACC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8" y="1873766"/>
            <a:ext cx="5346700" cy="105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26508C-7D8D-7049-BD7D-1485959D3611}"/>
              </a:ext>
            </a:extLst>
          </p:cNvPr>
          <p:cNvSpPr txBox="1"/>
          <p:nvPr/>
        </p:nvSpPr>
        <p:spPr>
          <a:xfrm rot="20790127">
            <a:off x="6620183" y="608028"/>
            <a:ext cx="151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this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E38CEFB-4703-D344-A5A0-4EFE1A4CD463}"/>
              </a:ext>
            </a:extLst>
          </p:cNvPr>
          <p:cNvSpPr/>
          <p:nvPr/>
        </p:nvSpPr>
        <p:spPr>
          <a:xfrm rot="10225705">
            <a:off x="5021916" y="956288"/>
            <a:ext cx="1504336" cy="324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8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528</Words>
  <Application>Microsoft Macintosh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16</cp:revision>
  <dcterms:created xsi:type="dcterms:W3CDTF">2020-02-27T19:49:03Z</dcterms:created>
  <dcterms:modified xsi:type="dcterms:W3CDTF">2020-03-02T16:36:27Z</dcterms:modified>
</cp:coreProperties>
</file>