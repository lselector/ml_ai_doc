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95"/>
    <p:restoredTop sz="93148"/>
  </p:normalViewPr>
  <p:slideViewPr>
    <p:cSldViewPr snapToGrid="0" snapToObjects="1">
      <p:cViewPr varScale="1">
        <p:scale>
          <a:sx n="107" d="100"/>
          <a:sy n="107" d="100"/>
        </p:scale>
        <p:origin x="36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1EA1-5C46-5341-8587-79D72DBEA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A7D02-E489-6247-A488-5C2C9B2AC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B3616-05FA-A84E-879E-76D70962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A61D6-F5AF-DE42-B285-D209FD8C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B590-5A43-BD4B-BCAC-54176201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6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34B24-C0A2-2747-B852-3C200C36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A51F-56D5-2141-93B4-C9877833F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70C5E-6BCA-AB4D-A7DA-404550863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F1D85-0B30-084A-A76F-AC65BC71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85FE-9E0F-FF43-A324-3928AEC0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0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0F070-1025-B740-8452-B13EF6FA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609B0-F9DB-E04B-8894-23A2775C8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880A3-7C67-794D-8335-C6ACF5F3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1430B-3416-B84F-9D3C-E56AE4AF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0CBBC-C199-374C-A3E5-4A6D3D99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08E2-5E5C-AA46-9D25-12547158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8A3AF-1EC7-6042-AD60-00F3141BF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8F69D-2157-D54C-8237-655FCADC7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C3855-ADF8-3C4C-9E02-DEBE665F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BC1FD-DAB6-064B-843F-F0FAE76A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A4D4-00AA-A842-9D86-37B01C47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81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1C42-5862-CB45-9961-011554754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EA1F4-C21B-454D-AEFC-8D7847BD2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E7EEF-28A0-F242-A756-6159642D4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23506-233C-4747-875C-D68DF2FCC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D2DD17-87F1-EC4B-BEBD-2EF63733A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1B00E-E28C-6748-9258-1B570584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8A7B1B-59C6-A243-B9DE-0860486F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5D3263-CBC9-334C-97F7-6C5EBF5F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7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05DF3-EC16-8443-8E38-32965FFD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C9E60-AB70-C14E-B480-D42E5905B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DCA95-D977-8A48-9925-DA8F850D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3EDBD-6B90-EE40-848A-7DCAB011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24C17-4633-954A-A43F-71503393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ED21A-58A6-024B-B4BB-25D521725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83179-D6BA-D347-B4BA-E168DD6B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28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F4DC4-9B41-1543-9CC8-7921F8FAC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495CF-DB4A-FF44-B246-BA79E9F69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508D9-E37D-3847-9121-00FDBD400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C11DF-FA53-0D41-85AC-D675755FE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77AF9-8D58-F248-9489-4B05E33D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30E6B-39E8-6443-803B-04D66E64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5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7D11-CD68-A048-A4EF-F60735263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F0DB1-B35B-E541-BA7E-542A126F5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48F6B-BE24-0748-9C50-5A894CE04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ACC9F-E544-CA4A-A5C1-D2AEFFF64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A2E90-E4A9-9B49-9F0F-B93E9162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EC582-89AC-2D4C-B5A7-2D44EDC5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9F641-A6DB-9141-8DAA-1495E80E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5B154-8DFD-9542-A377-26A7034D7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064F1-C219-2F4A-8637-BB542BE9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61478-8BF6-2B4B-B2CA-1EE7903A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E375F-8E41-FF41-86ED-20C01550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9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1115CE-B21F-7C4A-80AA-15E67C1DE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54A17-45FB-DE43-ACAD-D7D0A21D2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65F59-F432-FC44-A315-4E5751C9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3CB52-E8BD-734D-BD53-BA924646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25943-9291-4344-874B-E8776BFCC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4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714A17-F737-CD4F-94DA-36FA27EAA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84560-7423-CB41-AA2D-41A6409D5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6D81B-2A3A-DC45-A395-8ABC9B2C7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26A4E-7CA4-0D47-BAAE-19E050D9F531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F0C32-7E69-B74C-BA2C-E53C04D6E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8AECA-E285-B142-8BD7-D18637F15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6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B531CD-91CB-B449-AC6B-B8E8D0567AE3}"/>
              </a:ext>
            </a:extLst>
          </p:cNvPr>
          <p:cNvSpPr txBox="1"/>
          <p:nvPr/>
        </p:nvSpPr>
        <p:spPr>
          <a:xfrm>
            <a:off x="115993" y="99146"/>
            <a:ext cx="3368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Error of the mean</a:t>
            </a:r>
          </a:p>
        </p:txBody>
      </p:sp>
      <p:pic>
        <p:nvPicPr>
          <p:cNvPr id="1026" name="Picture 2" descr="Standard Error Calculator. you can use this Standard Error… | by Thelma R.  White | Medium">
            <a:extLst>
              <a:ext uri="{FF2B5EF4-FFF2-40B4-BE49-F238E27FC236}">
                <a16:creationId xmlns:a16="http://schemas.microsoft.com/office/drawing/2014/main" id="{9D7D50A9-956F-4845-8823-1033B7CB3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2682" y="1004396"/>
            <a:ext cx="3810000" cy="29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FE2259-D413-B348-98BD-F5E7DB5E4176}"/>
              </a:ext>
            </a:extLst>
          </p:cNvPr>
          <p:cNvSpPr txBox="1"/>
          <p:nvPr/>
        </p:nvSpPr>
        <p:spPr>
          <a:xfrm>
            <a:off x="115993" y="733281"/>
            <a:ext cx="481160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Suppose we have two samples A and B, </a:t>
            </a:r>
          </a:p>
          <a:p>
            <a:r>
              <a:rPr lang="en-US" sz="1400" dirty="0"/>
              <a:t>each has "n" points, where n is relatively large (100+ points), </a:t>
            </a:r>
          </a:p>
          <a:p>
            <a:r>
              <a:rPr lang="en-US" sz="1400" dirty="0"/>
              <a:t>and distributions have "normal" shape </a:t>
            </a:r>
          </a:p>
          <a:p>
            <a:r>
              <a:rPr lang="en-US" sz="1400" dirty="0"/>
              <a:t>with same sample standard deviation "s".</a:t>
            </a:r>
          </a:p>
          <a:p>
            <a:endParaRPr lang="en-US" sz="1400" dirty="0"/>
          </a:p>
          <a:p>
            <a:r>
              <a:rPr lang="en-US" sz="1400" dirty="0"/>
              <a:t>The mean values are m</a:t>
            </a:r>
            <a:r>
              <a:rPr lang="en-US" sz="1400" baseline="-25000" dirty="0"/>
              <a:t>A</a:t>
            </a:r>
            <a:r>
              <a:rPr lang="en-US" sz="1400" dirty="0"/>
              <a:t> and </a:t>
            </a:r>
            <a:r>
              <a:rPr lang="en-US" sz="1400" dirty="0" err="1"/>
              <a:t>m</a:t>
            </a:r>
            <a:r>
              <a:rPr lang="en-US" sz="1400" baseline="-25000" dirty="0" err="1"/>
              <a:t>B</a:t>
            </a:r>
            <a:endParaRPr lang="en-US" sz="1400" baseline="-25000" dirty="0"/>
          </a:p>
          <a:p>
            <a:endParaRPr lang="en-US" sz="1400" dirty="0"/>
          </a:p>
          <a:p>
            <a:r>
              <a:rPr lang="en-US" sz="1400" dirty="0"/>
              <a:t>The standard error of the mean </a:t>
            </a:r>
            <a:r>
              <a:rPr lang="en-US" sz="1400" dirty="0" err="1"/>
              <a:t>sem</a:t>
            </a:r>
            <a:r>
              <a:rPr lang="en-US" sz="1400" dirty="0"/>
              <a:t> = s/sqrt(n)</a:t>
            </a:r>
          </a:p>
          <a:p>
            <a:endParaRPr lang="en-US" sz="1400" dirty="0"/>
          </a:p>
          <a:p>
            <a:r>
              <a:rPr lang="en-US" sz="1400" dirty="0"/>
              <a:t>Question – how big should be number of points so that we</a:t>
            </a:r>
          </a:p>
          <a:p>
            <a:r>
              <a:rPr lang="en-US" sz="1400" dirty="0"/>
              <a:t>can say that the means differ?</a:t>
            </a:r>
          </a:p>
          <a:p>
            <a:endParaRPr lang="en-US" sz="1400" dirty="0"/>
          </a:p>
          <a:p>
            <a:r>
              <a:rPr lang="en-US" sz="1400" dirty="0"/>
              <a:t>We can demand that </a:t>
            </a:r>
            <a:r>
              <a:rPr lang="el-GR" sz="1400" b="1" dirty="0"/>
              <a:t>δ</a:t>
            </a:r>
            <a:r>
              <a:rPr lang="en-US" sz="1400" dirty="0"/>
              <a:t> = |m</a:t>
            </a:r>
            <a:r>
              <a:rPr lang="en-US" sz="1400" baseline="-25000" dirty="0"/>
              <a:t>A</a:t>
            </a:r>
            <a:r>
              <a:rPr lang="en-US" sz="1400" dirty="0"/>
              <a:t> - </a:t>
            </a:r>
            <a:r>
              <a:rPr lang="en-US" sz="1400" dirty="0" err="1"/>
              <a:t>m</a:t>
            </a:r>
            <a:r>
              <a:rPr lang="en-US" sz="1400" baseline="-25000" dirty="0" err="1"/>
              <a:t>B</a:t>
            </a:r>
            <a:r>
              <a:rPr lang="en-US" sz="1400" dirty="0"/>
              <a:t>| &gt;= 4*</a:t>
            </a:r>
            <a:r>
              <a:rPr lang="en-US" sz="1400" dirty="0" err="1"/>
              <a:t>sem</a:t>
            </a:r>
            <a:r>
              <a:rPr lang="en-US" sz="1400" dirty="0"/>
              <a:t> = 4s/sqrt(n)</a:t>
            </a:r>
          </a:p>
          <a:p>
            <a:r>
              <a:rPr lang="en-US" sz="1400" dirty="0"/>
              <a:t>Or</a:t>
            </a:r>
          </a:p>
          <a:p>
            <a:r>
              <a:rPr lang="en-US" sz="1400" dirty="0"/>
              <a:t>               n &gt;= 16s</a:t>
            </a:r>
            <a:r>
              <a:rPr lang="en-US" sz="1400" baseline="30000" dirty="0"/>
              <a:t>2</a:t>
            </a:r>
            <a:r>
              <a:rPr lang="en-US" sz="1400" dirty="0"/>
              <a:t>/</a:t>
            </a:r>
            <a:r>
              <a:rPr lang="el-GR" sz="1400" dirty="0"/>
              <a:t>δ</a:t>
            </a:r>
            <a:r>
              <a:rPr lang="en-US" sz="1400" baseline="30000" dirty="0"/>
              <a:t>2</a:t>
            </a:r>
            <a:endParaRPr lang="en-US" sz="1400" dirty="0"/>
          </a:p>
          <a:p>
            <a:endParaRPr lang="en-US" sz="1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F2B29D-2214-FE4C-B190-AD3AC3ACA5BC}"/>
              </a:ext>
            </a:extLst>
          </p:cNvPr>
          <p:cNvGrpSpPr/>
          <p:nvPr/>
        </p:nvGrpSpPr>
        <p:grpSpPr>
          <a:xfrm>
            <a:off x="4176829" y="3543383"/>
            <a:ext cx="2448817" cy="1458655"/>
            <a:chOff x="529389" y="4535701"/>
            <a:chExt cx="2448817" cy="145865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9894F7-85E1-FA42-989C-AB3BA9BE1FE8}"/>
                </a:ext>
              </a:extLst>
            </p:cNvPr>
            <p:cNvSpPr/>
            <p:nvPr/>
          </p:nvSpPr>
          <p:spPr>
            <a:xfrm>
              <a:off x="529389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80B9C3F-F4A9-7D4C-ADB2-9D091BB2DC2B}"/>
                </a:ext>
              </a:extLst>
            </p:cNvPr>
            <p:cNvSpPr/>
            <p:nvPr/>
          </p:nvSpPr>
          <p:spPr>
            <a:xfrm>
              <a:off x="1149406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51D2DD2-90FA-2143-BA9F-54FC5BE044BE}"/>
                </a:ext>
              </a:extLst>
            </p:cNvPr>
            <p:cNvSpPr/>
            <p:nvPr/>
          </p:nvSpPr>
          <p:spPr>
            <a:xfrm>
              <a:off x="1328104" y="4550566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D4078CB-F8B3-D540-9B24-AC87E5FD8361}"/>
                </a:ext>
              </a:extLst>
            </p:cNvPr>
            <p:cNvSpPr/>
            <p:nvPr/>
          </p:nvSpPr>
          <p:spPr>
            <a:xfrm>
              <a:off x="1937961" y="4535701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60CD50A-6481-7B45-ACBD-AA9F1714A205}"/>
              </a:ext>
            </a:extLst>
          </p:cNvPr>
          <p:cNvSpPr txBox="1"/>
          <p:nvPr/>
        </p:nvSpPr>
        <p:spPr>
          <a:xfrm>
            <a:off x="3203367" y="4740269"/>
            <a:ext cx="9494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Standard </a:t>
            </a:r>
          </a:p>
          <a:p>
            <a:pPr algn="ctr"/>
            <a:r>
              <a:rPr lang="en-US" sz="1400" dirty="0"/>
              <a:t>Deviation</a:t>
            </a:r>
          </a:p>
          <a:p>
            <a:pPr algn="ctr"/>
            <a:r>
              <a:rPr lang="en-US" sz="1400" dirty="0"/>
              <a:t>(blue)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738075-2F24-A543-967A-97BA8A260259}"/>
              </a:ext>
            </a:extLst>
          </p:cNvPr>
          <p:cNvSpPr txBox="1"/>
          <p:nvPr/>
        </p:nvSpPr>
        <p:spPr>
          <a:xfrm>
            <a:off x="4926493" y="5601499"/>
            <a:ext cx="1276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Standard Error of the Mean</a:t>
            </a:r>
          </a:p>
          <a:p>
            <a:pPr algn="ctr"/>
            <a:r>
              <a:rPr lang="en-US" sz="1400" dirty="0"/>
              <a:t>(orange)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921B67D6-B1DA-D04B-801F-0945046F59CE}"/>
              </a:ext>
            </a:extLst>
          </p:cNvPr>
          <p:cNvSpPr/>
          <p:nvPr/>
        </p:nvSpPr>
        <p:spPr>
          <a:xfrm rot="9442603">
            <a:off x="5258676" y="5118773"/>
            <a:ext cx="141171" cy="46736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FB7EE3FC-D668-8A4B-89A3-C3E87EDE8295}"/>
              </a:ext>
            </a:extLst>
          </p:cNvPr>
          <p:cNvSpPr/>
          <p:nvPr/>
        </p:nvSpPr>
        <p:spPr>
          <a:xfrm rot="11812451">
            <a:off x="5505712" y="5110103"/>
            <a:ext cx="141171" cy="46736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E44D64-A743-1048-970B-E7F5E970E491}"/>
              </a:ext>
            </a:extLst>
          </p:cNvPr>
          <p:cNvSpPr txBox="1"/>
          <p:nvPr/>
        </p:nvSpPr>
        <p:spPr>
          <a:xfrm>
            <a:off x="4837486" y="3027680"/>
            <a:ext cx="1299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A    B</a:t>
            </a:r>
          </a:p>
        </p:txBody>
      </p:sp>
    </p:spTree>
    <p:extLst>
      <p:ext uri="{BB962C8B-B14F-4D97-AF65-F5344CB8AC3E}">
        <p14:creationId xmlns:p14="http://schemas.microsoft.com/office/powerpoint/2010/main" val="24220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131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7</cp:revision>
  <dcterms:created xsi:type="dcterms:W3CDTF">2021-03-26T19:45:31Z</dcterms:created>
  <dcterms:modified xsi:type="dcterms:W3CDTF">2021-03-26T21:50:40Z</dcterms:modified>
</cp:coreProperties>
</file>