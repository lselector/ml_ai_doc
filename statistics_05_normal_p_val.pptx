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7" r:id="rId2"/>
    <p:sldId id="258" r:id="rId3"/>
    <p:sldId id="259" r:id="rId4"/>
    <p:sldId id="313" r:id="rId5"/>
    <p:sldId id="294" r:id="rId6"/>
    <p:sldId id="312" r:id="rId7"/>
    <p:sldId id="310"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8"/>
    <p:restoredTop sz="92200"/>
  </p:normalViewPr>
  <p:slideViewPr>
    <p:cSldViewPr snapToGrid="0" snapToObjects="1">
      <p:cViewPr varScale="1">
        <p:scale>
          <a:sx n="96" d="100"/>
          <a:sy n="96" d="100"/>
        </p:scale>
        <p:origin x="1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60bda0dc20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60bda0dc20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g60bda0dc20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27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1.png"/><Relationship Id="rId7" Type="http://schemas.openxmlformats.org/officeDocument/2006/relationships/image" Target="../media/image5.tif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Confidence_interva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tiff"/><Relationship Id="rId3" Type="http://schemas.openxmlformats.org/officeDocument/2006/relationships/hyperlink" Target="https://en.wikipedia.org/wiki/Checking_whether_a_coin_is_fair" TargetMode="External"/><Relationship Id="rId7" Type="http://schemas.openxmlformats.org/officeDocument/2006/relationships/image" Target="../media/image11.tif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researchgate.net/post/What_is_the_relationship_between_R-squared_and_p-value_in_a_regress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hyperlink" Target="https://towardsdatascience.com/6-ways-to-test-for-a-normal-distribution-which-one-to-use-9dcf47d8fa93" TargetMode="External"/><Relationship Id="rId1" Type="http://schemas.openxmlformats.org/officeDocument/2006/relationships/slideLayout" Target="../slideLayouts/slideLayout2.xml"/><Relationship Id="rId5" Type="http://schemas.openxmlformats.org/officeDocument/2006/relationships/image" Target="../media/image15.tiff"/><Relationship Id="rId4" Type="http://schemas.openxmlformats.org/officeDocument/2006/relationships/image" Target="../media/image14.tiff"/></Relationships>
</file>

<file path=ppt/slides/_rels/slide7.xml.rels><?xml version="1.0" encoding="UTF-8" standalone="yes"?>
<Relationships xmlns="http://schemas.openxmlformats.org/package/2006/relationships"><Relationship Id="rId2" Type="http://schemas.openxmlformats.org/officeDocument/2006/relationships/hyperlink" Target="https://stats.stackexchange.com/questions/98953/why-doesnt-random-forest-handle-missing-values-in-predicto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p:nvPr/>
        </p:nvSpPr>
        <p:spPr>
          <a:xfrm>
            <a:off x="0" y="0"/>
            <a:ext cx="5802900" cy="675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3000" b="1" dirty="0">
                <a:latin typeface="Calibri"/>
                <a:ea typeface="Calibri"/>
                <a:cs typeface="Calibri"/>
                <a:sym typeface="Calibri"/>
              </a:rPr>
              <a:t>Central Limit Theorem (CLT)</a:t>
            </a:r>
            <a:endParaRPr sz="3000" b="1"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all heard about </a:t>
            </a:r>
            <a:r>
              <a:rPr lang="en-US" sz="1800" b="1" dirty="0">
                <a:solidFill>
                  <a:srgbClr val="0070C0"/>
                </a:solidFill>
                <a:latin typeface="Calibri"/>
                <a:ea typeface="Calibri"/>
                <a:cs typeface="Calibri"/>
                <a:sym typeface="Calibri"/>
              </a:rPr>
              <a:t>Normal (Gaussian) distribution</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This distribution is very foundational in statistics. And </a:t>
            </a:r>
            <a:r>
              <a:rPr lang="en-US" b="1" dirty="0">
                <a:solidFill>
                  <a:srgbClr val="0070C0"/>
                </a:solidFill>
                <a:latin typeface="Calibri"/>
                <a:ea typeface="Calibri"/>
                <a:cs typeface="Calibri"/>
                <a:sym typeface="Calibri"/>
              </a:rPr>
              <a:t>it comes from CLT</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Classical CLT mathematically proves that if we calculate group averages in many groups, then the distribution of those averages converges to Normal distribution as long as we have large number of points in each group (30..100 or more) and large number of groups (30-100 or more).</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Specifically, suppose we have our data points sampled from a distribution with finite average and finite variance. We subdivide this data into Ng groups, each containing Ns samples:</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    [...]   [...]   [...]   [...]   [...]   [...]   [...]   [...] </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For each group we calculate average value of its Ns samples. Thus we have Ng averages values, and we plot them as a histogram.</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If Ng and Ns are big enough, the histogram will converge to a normal distribution. This holds true regardless of the shape of the original distribution of data.</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For example, suppose we have a million data points, each value is either 1 or -1 (random coin toss). We split data into Ng=10,000 groups, each sample group has Ns=10,000 data points. Then in each group we calculate the mean value (which will be close to zero). </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Now we have 10,000 of mean values - and we make a histogram of those values. According to CLT it will be bell-shaped.</a:t>
            </a:r>
            <a:endParaRPr dirty="0">
              <a:latin typeface="Calibri"/>
              <a:ea typeface="Calibri"/>
              <a:cs typeface="Calibri"/>
              <a:sym typeface="Calibri"/>
            </a:endParaRPr>
          </a:p>
        </p:txBody>
      </p:sp>
      <p:pic>
        <p:nvPicPr>
          <p:cNvPr id="96" name="Google Shape;96;p14"/>
          <p:cNvPicPr preferRelativeResize="0"/>
          <p:nvPr/>
        </p:nvPicPr>
        <p:blipFill>
          <a:blip r:embed="rId3">
            <a:alphaModFix/>
          </a:blip>
          <a:stretch>
            <a:fillRect/>
          </a:stretch>
        </p:blipFill>
        <p:spPr>
          <a:xfrm>
            <a:off x="5796830" y="190870"/>
            <a:ext cx="3333750" cy="2276475"/>
          </a:xfrm>
          <a:prstGeom prst="rect">
            <a:avLst/>
          </a:prstGeom>
          <a:noFill/>
          <a:ln>
            <a:noFill/>
          </a:ln>
        </p:spPr>
      </p:pic>
      <p:pic>
        <p:nvPicPr>
          <p:cNvPr id="97" name="Google Shape;97;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321500" y="89600"/>
            <a:ext cx="2793700" cy="2091624"/>
          </a:xfrm>
          <a:prstGeom prst="rect">
            <a:avLst/>
          </a:prstGeom>
          <a:noFill/>
          <a:ln>
            <a:noFill/>
          </a:ln>
        </p:spPr>
      </p:pic>
      <p:pic>
        <p:nvPicPr>
          <p:cNvPr id="98" name="Google Shape;98;p1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25355" y="3840507"/>
            <a:ext cx="1676700" cy="1315872"/>
          </a:xfrm>
          <a:prstGeom prst="rect">
            <a:avLst/>
          </a:prstGeom>
          <a:noFill/>
          <a:ln>
            <a:noFill/>
          </a:ln>
        </p:spPr>
      </p:pic>
      <p:pic>
        <p:nvPicPr>
          <p:cNvPr id="99" name="Google Shape;99;p1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251333" y="5412404"/>
            <a:ext cx="495688" cy="1345096"/>
          </a:xfrm>
          <a:prstGeom prst="rect">
            <a:avLst/>
          </a:prstGeom>
          <a:noFill/>
          <a:ln>
            <a:noFill/>
          </a:ln>
        </p:spPr>
      </p:pic>
      <p:cxnSp>
        <p:nvCxnSpPr>
          <p:cNvPr id="100" name="Google Shape;100;p14"/>
          <p:cNvCxnSpPr>
            <a:cxnSpLocks/>
          </p:cNvCxnSpPr>
          <p:nvPr/>
        </p:nvCxnSpPr>
        <p:spPr>
          <a:xfrm flipV="1">
            <a:off x="5897875" y="5026481"/>
            <a:ext cx="794473" cy="688519"/>
          </a:xfrm>
          <a:prstGeom prst="straightConnector1">
            <a:avLst/>
          </a:prstGeom>
          <a:noFill/>
          <a:ln w="9525" cap="flat" cmpd="sng">
            <a:solidFill>
              <a:schemeClr val="dk2"/>
            </a:solidFill>
            <a:prstDash val="solid"/>
            <a:round/>
            <a:headEnd type="none" w="med" len="med"/>
            <a:tailEnd type="triangle" w="med" len="med"/>
          </a:ln>
        </p:spPr>
      </p:cxnSp>
      <p:cxnSp>
        <p:nvCxnSpPr>
          <p:cNvPr id="101" name="Google Shape;101;p14"/>
          <p:cNvCxnSpPr>
            <a:cxnSpLocks/>
          </p:cNvCxnSpPr>
          <p:nvPr/>
        </p:nvCxnSpPr>
        <p:spPr>
          <a:xfrm flipV="1">
            <a:off x="5623550" y="6342353"/>
            <a:ext cx="1201320" cy="212522"/>
          </a:xfrm>
          <a:prstGeom prst="straightConnector1">
            <a:avLst/>
          </a:prstGeom>
          <a:noFill/>
          <a:ln w="9525" cap="flat" cmpd="sng">
            <a:solidFill>
              <a:schemeClr val="dk2"/>
            </a:solidFill>
            <a:prstDash val="solid"/>
            <a:round/>
            <a:headEnd type="none" w="med" len="med"/>
            <a:tailEnd type="triangle" w="med" len="med"/>
          </a:ln>
        </p:spPr>
      </p:cxnSp>
      <p:sp>
        <p:nvSpPr>
          <p:cNvPr id="2" name="TextBox 1">
            <a:extLst>
              <a:ext uri="{FF2B5EF4-FFF2-40B4-BE49-F238E27FC236}">
                <a16:creationId xmlns:a16="http://schemas.microsoft.com/office/drawing/2014/main" id="{0EBA51E1-6C7E-174A-993D-69ACCCAD541F}"/>
              </a:ext>
            </a:extLst>
          </p:cNvPr>
          <p:cNvSpPr txBox="1"/>
          <p:nvPr/>
        </p:nvSpPr>
        <p:spPr>
          <a:xfrm>
            <a:off x="8666923" y="2705710"/>
            <a:ext cx="2345634" cy="307777"/>
          </a:xfrm>
          <a:prstGeom prst="rect">
            <a:avLst/>
          </a:prstGeom>
          <a:noFill/>
        </p:spPr>
        <p:txBody>
          <a:bodyPr wrap="square" rtlCol="0">
            <a:spAutoFit/>
          </a:bodyPr>
          <a:lstStyle/>
          <a:p>
            <a:r>
              <a:rPr lang="en-US" dirty="0"/>
              <a:t>Expected value of abs(x) :</a:t>
            </a:r>
          </a:p>
        </p:txBody>
      </p:sp>
      <p:sp>
        <p:nvSpPr>
          <p:cNvPr id="10" name="TextBox 9">
            <a:extLst>
              <a:ext uri="{FF2B5EF4-FFF2-40B4-BE49-F238E27FC236}">
                <a16:creationId xmlns:a16="http://schemas.microsoft.com/office/drawing/2014/main" id="{90D357D6-6FAF-0646-B9E8-B60D9309DC34}"/>
              </a:ext>
            </a:extLst>
          </p:cNvPr>
          <p:cNvSpPr txBox="1"/>
          <p:nvPr/>
        </p:nvSpPr>
        <p:spPr>
          <a:xfrm>
            <a:off x="8672144" y="3653319"/>
            <a:ext cx="2605455" cy="369332"/>
          </a:xfrm>
          <a:prstGeom prst="rect">
            <a:avLst/>
          </a:prstGeom>
          <a:noFill/>
        </p:spPr>
        <p:txBody>
          <a:bodyPr wrap="square" rtlCol="0">
            <a:spAutoFit/>
          </a:bodyPr>
          <a:lstStyle/>
          <a:p>
            <a:r>
              <a:rPr lang="en-US" dirty="0"/>
              <a:t>Expected value of x</a:t>
            </a:r>
            <a:r>
              <a:rPr lang="en-US" baseline="30000" dirty="0"/>
              <a:t>2</a:t>
            </a:r>
            <a:r>
              <a:rPr lang="en-US" dirty="0"/>
              <a:t> :  </a:t>
            </a:r>
            <a:r>
              <a:rPr lang="el-GR" sz="1800" b="1" dirty="0"/>
              <a:t>σ</a:t>
            </a:r>
            <a:r>
              <a:rPr lang="en-US" sz="1800" b="1" baseline="30000" dirty="0"/>
              <a:t>2</a:t>
            </a:r>
            <a:r>
              <a:rPr lang="en-US" sz="1800" b="1" dirty="0"/>
              <a:t> </a:t>
            </a:r>
          </a:p>
        </p:txBody>
      </p:sp>
      <p:pic>
        <p:nvPicPr>
          <p:cNvPr id="3" name="Picture 2">
            <a:extLst>
              <a:ext uri="{FF2B5EF4-FFF2-40B4-BE49-F238E27FC236}">
                <a16:creationId xmlns:a16="http://schemas.microsoft.com/office/drawing/2014/main" id="{D3187F30-5E19-F349-9ECC-4F76FE84253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012557" y="2521399"/>
            <a:ext cx="696291" cy="676397"/>
          </a:xfrm>
          <a:prstGeom prst="rect">
            <a:avLst/>
          </a:prstGeom>
        </p:spPr>
      </p:pic>
      <p:pic>
        <p:nvPicPr>
          <p:cNvPr id="4" name="Picture 3">
            <a:extLst>
              <a:ext uri="{FF2B5EF4-FFF2-40B4-BE49-F238E27FC236}">
                <a16:creationId xmlns:a16="http://schemas.microsoft.com/office/drawing/2014/main" id="{0581D3FD-E3EF-264F-B21B-64BB6721FFD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660304" y="4521379"/>
            <a:ext cx="3454895" cy="505102"/>
          </a:xfrm>
          <a:prstGeom prst="rect">
            <a:avLst/>
          </a:prstGeom>
        </p:spPr>
      </p:pic>
      <p:sp>
        <p:nvSpPr>
          <p:cNvPr id="6" name="TextBox 5">
            <a:extLst>
              <a:ext uri="{FF2B5EF4-FFF2-40B4-BE49-F238E27FC236}">
                <a16:creationId xmlns:a16="http://schemas.microsoft.com/office/drawing/2014/main" id="{DAAF26B6-1DE7-5340-93B0-0F470BA7A5F4}"/>
              </a:ext>
            </a:extLst>
          </p:cNvPr>
          <p:cNvSpPr txBox="1"/>
          <p:nvPr/>
        </p:nvSpPr>
        <p:spPr>
          <a:xfrm>
            <a:off x="8666923" y="5370740"/>
            <a:ext cx="3448276" cy="954107"/>
          </a:xfrm>
          <a:prstGeom prst="rect">
            <a:avLst/>
          </a:prstGeom>
          <a:noFill/>
        </p:spPr>
        <p:txBody>
          <a:bodyPr wrap="square" rtlCol="0">
            <a:spAutoFit/>
          </a:bodyPr>
          <a:lstStyle/>
          <a:p>
            <a:r>
              <a:rPr lang="en-US" dirty="0"/>
              <a:t>Here double factorial "n!!" denotes the product of all numbers from n down to 1 that have the same parity as n.</a:t>
            </a:r>
          </a:p>
          <a:p>
            <a:r>
              <a:rPr lang="en-US" dirty="0"/>
              <a:t>E.g. 9!! = 9*7*5*3*1, 6!! = 6*4*2</a:t>
            </a:r>
          </a:p>
        </p:txBody>
      </p:sp>
      <p:cxnSp>
        <p:nvCxnSpPr>
          <p:cNvPr id="8" name="Straight Connector 7">
            <a:extLst>
              <a:ext uri="{FF2B5EF4-FFF2-40B4-BE49-F238E27FC236}">
                <a16:creationId xmlns:a16="http://schemas.microsoft.com/office/drawing/2014/main" id="{9EDC9C27-7EFC-6943-B898-CFC2A575D7CD}"/>
              </a:ext>
            </a:extLst>
          </p:cNvPr>
          <p:cNvCxnSpPr>
            <a:cxnSpLocks/>
          </p:cNvCxnSpPr>
          <p:nvPr/>
        </p:nvCxnSpPr>
        <p:spPr>
          <a:xfrm>
            <a:off x="8481391" y="2521399"/>
            <a:ext cx="0" cy="423610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75825" y="71800"/>
            <a:ext cx="6523500" cy="6786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p-value &amp; null hypothesis</a:t>
            </a:r>
            <a:endParaRPr sz="3200" b="1"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dirty="0">
                <a:solidFill>
                  <a:schemeClr val="dk1"/>
                </a:solidFill>
                <a:latin typeface="Calibri"/>
                <a:ea typeface="Calibri"/>
                <a:cs typeface="Calibri"/>
                <a:sym typeface="Calibri"/>
              </a:rPr>
              <a:t>A </a:t>
            </a:r>
            <a:r>
              <a:rPr lang="en-US" sz="1800" b="1" dirty="0">
                <a:solidFill>
                  <a:srgbClr val="0000FF"/>
                </a:solidFill>
                <a:latin typeface="Calibri"/>
                <a:ea typeface="Calibri"/>
                <a:cs typeface="Calibri"/>
                <a:sym typeface="Calibri"/>
              </a:rPr>
              <a:t>p-value</a:t>
            </a:r>
            <a:r>
              <a:rPr lang="en-US" sz="1800" dirty="0">
                <a:solidFill>
                  <a:schemeClr val="dk1"/>
                </a:solidFill>
                <a:latin typeface="Calibri"/>
                <a:ea typeface="Calibri"/>
                <a:cs typeface="Calibri"/>
                <a:sym typeface="Calibri"/>
              </a:rPr>
              <a:t> (probability value) is a probability of getting results at least as extreme as yours. If this probability is very small, this means that the result is unlikely to be explained by the null hypothesis. So we should reject the null hypothesis.</a:t>
            </a: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P-value    probability of observed</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0.05         5%</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0.01         1%</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0.001        0.1%</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a:t>
            </a:r>
            <a:endParaRPr dirty="0">
              <a:solidFill>
                <a:schemeClr val="dk1"/>
              </a:solidFill>
              <a:latin typeface="Courier New"/>
              <a:ea typeface="Courier New"/>
              <a:cs typeface="Courier New"/>
              <a:sym typeface="Courier New"/>
            </a:endParaRPr>
          </a:p>
          <a:p>
            <a:pPr marL="0" marR="0" lvl="0" indent="0" algn="l" rtl="0">
              <a:spcBef>
                <a:spcPts val="0"/>
              </a:spcBef>
              <a:spcAft>
                <a:spcPts val="0"/>
              </a:spcAft>
              <a:buSzPts val="1100"/>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dirty="0">
                <a:solidFill>
                  <a:schemeClr val="dk1"/>
                </a:solidFill>
                <a:latin typeface="Calibri"/>
                <a:ea typeface="Calibri"/>
                <a:cs typeface="Calibri"/>
                <a:sym typeface="Calibri"/>
              </a:rPr>
              <a:t>A small p-value (typically ≤ 0.05) indicates strong evidence against the null hypothesis, so you reject the null hypothesis. People say that this evidence is "statistically significant".</a:t>
            </a: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dirty="0">
                <a:solidFill>
                  <a:schemeClr val="dk1"/>
                </a:solidFill>
                <a:latin typeface="Calibri"/>
                <a:ea typeface="Calibri"/>
                <a:cs typeface="Calibri"/>
                <a:sym typeface="Calibri"/>
              </a:rPr>
              <a:t>Related term is</a:t>
            </a:r>
            <a:r>
              <a:rPr lang="en-US" sz="1800" b="1" dirty="0">
                <a:solidFill>
                  <a:srgbClr val="0000FF"/>
                </a:solidFill>
                <a:latin typeface="Calibri"/>
                <a:ea typeface="Calibri"/>
                <a:cs typeface="Calibri"/>
                <a:sym typeface="Calibri"/>
              </a:rPr>
              <a:t> Confidence Interval (CI)</a:t>
            </a:r>
            <a:r>
              <a:rPr lang="en-US" sz="1800" dirty="0">
                <a:solidFill>
                  <a:schemeClr val="dk1"/>
                </a:solidFill>
                <a:latin typeface="Calibri"/>
                <a:ea typeface="Calibri"/>
                <a:cs typeface="Calibri"/>
                <a:sym typeface="Calibri"/>
              </a:rPr>
              <a:t>. A 95% CI is the interval that you are 95% certain contains the true population value as it might be estimated from a much larger study.</a:t>
            </a:r>
          </a:p>
          <a:p>
            <a:pPr>
              <a:buSzPts val="1100"/>
            </a:pPr>
            <a:r>
              <a:rPr lang="en-US" sz="1800" dirty="0">
                <a:solidFill>
                  <a:schemeClr val="dk1"/>
                </a:solidFill>
                <a:latin typeface="Calibri"/>
                <a:ea typeface="Calibri"/>
                <a:cs typeface="Calibri"/>
                <a:sym typeface="Calibri"/>
              </a:rPr>
              <a:t> </a:t>
            </a:r>
            <a:r>
              <a:rPr lang="en-US" sz="1800" dirty="0"/>
              <a:t>- </a:t>
            </a:r>
            <a:r>
              <a:rPr lang="en-US" sz="1800" dirty="0">
                <a:hlinkClick r:id="rId3"/>
              </a:rPr>
              <a:t>https://en.wikipedia.org/wiki/Confidence_interval</a:t>
            </a:r>
            <a:r>
              <a:rPr lang="en-US" sz="1800" dirty="0"/>
              <a:t> </a:t>
            </a:r>
          </a:p>
          <a:p>
            <a:pPr marL="0" marR="0" lvl="0" indent="0" algn="l" rtl="0">
              <a:spcBef>
                <a:spcPts val="0"/>
              </a:spcBef>
              <a:spcAft>
                <a:spcPts val="0"/>
              </a:spcAft>
              <a:buSzPts val="1100"/>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b="1" dirty="0">
                <a:solidFill>
                  <a:srgbClr val="0000FF"/>
                </a:solidFill>
                <a:latin typeface="Calibri"/>
                <a:ea typeface="Calibri"/>
                <a:cs typeface="Calibri"/>
                <a:sym typeface="Calibri"/>
              </a:rPr>
              <a:t>z-score</a:t>
            </a:r>
            <a:r>
              <a:rPr lang="en-US" sz="1800" dirty="0">
                <a:solidFill>
                  <a:schemeClr val="dk1"/>
                </a:solidFill>
                <a:latin typeface="Calibri"/>
                <a:ea typeface="Calibri"/>
                <a:cs typeface="Calibri"/>
                <a:sym typeface="Calibri"/>
              </a:rPr>
              <a:t> is the distance from the mean measured in the number of standard deviations.</a:t>
            </a:r>
            <a:endParaRPr sz="1800" dirty="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404350" y="129325"/>
            <a:ext cx="4721174" cy="2382325"/>
          </a:xfrm>
          <a:prstGeom prst="rect">
            <a:avLst/>
          </a:prstGeom>
          <a:noFill/>
          <a:ln>
            <a:noFill/>
          </a:ln>
        </p:spPr>
      </p:pic>
      <p:sp>
        <p:nvSpPr>
          <p:cNvPr id="108" name="Google Shape;108;p15"/>
          <p:cNvSpPr txBox="1"/>
          <p:nvPr/>
        </p:nvSpPr>
        <p:spPr>
          <a:xfrm>
            <a:off x="6920825" y="3007950"/>
            <a:ext cx="5204700" cy="84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Type I error - false rejection of the null hypothesis</a:t>
            </a:r>
            <a:endParaRPr sz="1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Type II error - false acceptance of the null hypothesis</a:t>
            </a:r>
            <a:endParaRPr sz="1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09" name="Google Shape;109;p15"/>
          <p:cNvGraphicFramePr/>
          <p:nvPr/>
        </p:nvGraphicFramePr>
        <p:xfrm>
          <a:off x="7701913" y="4175913"/>
          <a:ext cx="4126050" cy="2382300"/>
        </p:xfrm>
        <a:graphic>
          <a:graphicData uri="http://schemas.openxmlformats.org/drawingml/2006/table">
            <a:tbl>
              <a:tblPr>
                <a:noFill/>
                <a:tableStyleId>{B1618C5A-BF4F-44D7-ADB2-C5301EF81F8A}</a:tableStyleId>
              </a:tblPr>
              <a:tblGrid>
                <a:gridCol w="1375350">
                  <a:extLst>
                    <a:ext uri="{9D8B030D-6E8A-4147-A177-3AD203B41FA5}">
                      <a16:colId xmlns:a16="http://schemas.microsoft.com/office/drawing/2014/main" val="20000"/>
                    </a:ext>
                  </a:extLst>
                </a:gridCol>
                <a:gridCol w="1375350">
                  <a:extLst>
                    <a:ext uri="{9D8B030D-6E8A-4147-A177-3AD203B41FA5}">
                      <a16:colId xmlns:a16="http://schemas.microsoft.com/office/drawing/2014/main" val="20001"/>
                    </a:ext>
                  </a:extLst>
                </a:gridCol>
                <a:gridCol w="1375350">
                  <a:extLst>
                    <a:ext uri="{9D8B030D-6E8A-4147-A177-3AD203B41FA5}">
                      <a16:colId xmlns:a16="http://schemas.microsoft.com/office/drawing/2014/main" val="20002"/>
                    </a:ext>
                  </a:extLst>
                </a:gridCol>
              </a:tblGrid>
              <a:tr h="794100">
                <a:tc>
                  <a:txBody>
                    <a:bodyPr/>
                    <a:lstStyle/>
                    <a:p>
                      <a:pPr marL="0" lvl="0" indent="0" algn="l" rtl="0">
                        <a:spcBef>
                          <a:spcPts val="0"/>
                        </a:spcBef>
                        <a:spcAft>
                          <a:spcPts val="0"/>
                        </a:spcAft>
                        <a:buNone/>
                      </a:pPr>
                      <a:r>
                        <a:rPr lang="en-US"/>
                        <a:t>        \ Decision</a:t>
                      </a:r>
                      <a:endParaRPr/>
                    </a:p>
                    <a:p>
                      <a:pPr marL="0" lvl="0" indent="0" algn="l" rtl="0">
                        <a:spcBef>
                          <a:spcPts val="0"/>
                        </a:spcBef>
                        <a:spcAft>
                          <a:spcPts val="0"/>
                        </a:spcAft>
                        <a:buNone/>
                      </a:pPr>
                      <a:r>
                        <a:rPr lang="en-US"/>
                        <a:t>Truth \ </a:t>
                      </a:r>
                      <a:endParaRPr/>
                    </a:p>
                  </a:txBody>
                  <a:tcPr marL="91425" marR="91425" marT="91425" marB="91425"/>
                </a:tc>
                <a:tc>
                  <a:txBody>
                    <a:bodyPr/>
                    <a:lstStyle/>
                    <a:p>
                      <a:pPr marL="0" lvl="0" indent="0" algn="l" rtl="0">
                        <a:spcBef>
                          <a:spcPts val="0"/>
                        </a:spcBef>
                        <a:spcAft>
                          <a:spcPts val="0"/>
                        </a:spcAft>
                        <a:buNone/>
                      </a:pPr>
                      <a:r>
                        <a:rPr lang="en-US"/>
                        <a:t>Decision to Accept Ho</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rPr>
                        <a:t>Decision to Reject Ho</a:t>
                      </a:r>
                      <a:endParaRPr/>
                    </a:p>
                  </a:txBody>
                  <a:tcPr marL="91425" marR="91425" marT="91425" marB="91425"/>
                </a:tc>
                <a:extLst>
                  <a:ext uri="{0D108BD9-81ED-4DB2-BD59-A6C34878D82A}">
                    <a16:rowId xmlns:a16="http://schemas.microsoft.com/office/drawing/2014/main" val="10000"/>
                  </a:ext>
                </a:extLst>
              </a:tr>
              <a:tr h="794100">
                <a:tc>
                  <a:txBody>
                    <a:bodyPr/>
                    <a:lstStyle/>
                    <a:p>
                      <a:pPr marL="0" lvl="0" indent="0" algn="l" rtl="0">
                        <a:spcBef>
                          <a:spcPts val="0"/>
                        </a:spcBef>
                        <a:spcAft>
                          <a:spcPts val="0"/>
                        </a:spcAft>
                        <a:buNone/>
                      </a:pPr>
                      <a:r>
                        <a:rPr lang="en-US"/>
                        <a:t>Ho is True</a:t>
                      </a:r>
                      <a:endParaRPr/>
                    </a:p>
                  </a:txBody>
                  <a:tcPr marL="91425" marR="91425" marT="91425" marB="91425"/>
                </a:tc>
                <a:tc>
                  <a:txBody>
                    <a:bodyPr/>
                    <a:lstStyle/>
                    <a:p>
                      <a:pPr marL="0" lvl="0" indent="0" algn="l" rtl="0">
                        <a:spcBef>
                          <a:spcPts val="0"/>
                        </a:spcBef>
                        <a:spcAft>
                          <a:spcPts val="0"/>
                        </a:spcAft>
                        <a:buNone/>
                      </a:pPr>
                      <a:r>
                        <a:rPr lang="en-US"/>
                        <a:t>Correct</a:t>
                      </a:r>
                      <a:br>
                        <a:rPr lang="en-US"/>
                      </a:br>
                      <a:r>
                        <a:rPr lang="en-US"/>
                        <a:t>Decision</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type I error</a:t>
                      </a:r>
                      <a:endParaRPr/>
                    </a:p>
                  </a:txBody>
                  <a:tcPr marL="91425" marR="91425" marT="91425" marB="91425"/>
                </a:tc>
                <a:extLst>
                  <a:ext uri="{0D108BD9-81ED-4DB2-BD59-A6C34878D82A}">
                    <a16:rowId xmlns:a16="http://schemas.microsoft.com/office/drawing/2014/main" val="10001"/>
                  </a:ext>
                </a:extLst>
              </a:tr>
              <a:tr h="794100">
                <a:tc>
                  <a:txBody>
                    <a:bodyPr/>
                    <a:lstStyle/>
                    <a:p>
                      <a:pPr marL="0" lvl="0" indent="0" algn="l" rtl="0">
                        <a:spcBef>
                          <a:spcPts val="0"/>
                        </a:spcBef>
                        <a:spcAft>
                          <a:spcPts val="0"/>
                        </a:spcAft>
                        <a:buNone/>
                      </a:pPr>
                      <a:r>
                        <a:rPr lang="en-US"/>
                        <a:t>Ho is False</a:t>
                      </a:r>
                      <a:endParaRPr/>
                    </a:p>
                  </a:txBody>
                  <a:tcPr marL="91425" marR="91425" marT="91425" marB="91425"/>
                </a:tc>
                <a:tc>
                  <a:txBody>
                    <a:bodyPr/>
                    <a:lstStyle/>
                    <a:p>
                      <a:pPr marL="0" lvl="0" indent="0" algn="l" rtl="0">
                        <a:spcBef>
                          <a:spcPts val="0"/>
                        </a:spcBef>
                        <a:spcAft>
                          <a:spcPts val="0"/>
                        </a:spcAft>
                        <a:buNone/>
                      </a:pPr>
                      <a:r>
                        <a:rPr lang="en-US"/>
                        <a:t>type II error</a:t>
                      </a:r>
                      <a:endParaRPr/>
                    </a:p>
                  </a:txBody>
                  <a:tcPr marL="91425" marR="91425" marT="91425" marB="91425"/>
                </a:tc>
                <a:tc>
                  <a:txBody>
                    <a:bodyPr/>
                    <a:lstStyle/>
                    <a:p>
                      <a:pPr marL="0" lvl="0" indent="0" algn="l" rtl="0">
                        <a:spcBef>
                          <a:spcPts val="0"/>
                        </a:spcBef>
                        <a:spcAft>
                          <a:spcPts val="0"/>
                        </a:spcAft>
                        <a:buNone/>
                      </a:pPr>
                      <a:r>
                        <a:rPr lang="en-US"/>
                        <a:t>Correct </a:t>
                      </a:r>
                      <a:br>
                        <a:rPr lang="en-US"/>
                      </a:br>
                      <a:r>
                        <a:rPr lang="en-US"/>
                        <a:t>Decision</a:t>
                      </a:r>
                      <a:endParaRPr/>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Google Shape;114;p16">
            <a:extLst>
              <a:ext uri="{FF2B5EF4-FFF2-40B4-BE49-F238E27FC236}">
                <a16:creationId xmlns:a16="http://schemas.microsoft.com/office/drawing/2014/main" id="{2852508B-C5FD-2C4A-AFD6-7CEC0F45E3A7}"/>
              </a:ext>
            </a:extLst>
          </p:cNvPr>
          <p:cNvSpPr txBox="1"/>
          <p:nvPr/>
        </p:nvSpPr>
        <p:spPr>
          <a:xfrm>
            <a:off x="1" y="728871"/>
            <a:ext cx="5367130" cy="30492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Null Hypothesis (H0) :  the coin is fair (flips heads/tails evenly).</a:t>
            </a:r>
          </a:p>
          <a:p>
            <a:pPr marL="0" lvl="0" indent="0" algn="l" rtl="0">
              <a:spcBef>
                <a:spcPts val="0"/>
              </a:spcBef>
              <a:spcAft>
                <a:spcPts val="0"/>
              </a:spcAft>
              <a:buNone/>
            </a:pPr>
            <a:endParaRPr lang="en-US"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Alternative (H1): the coin flips heads/tails unevenly with </a:t>
            </a:r>
          </a:p>
          <a:p>
            <a:pPr marL="0" lvl="0" indent="0" algn="l" rtl="0">
              <a:spcBef>
                <a:spcPts val="0"/>
              </a:spcBef>
              <a:spcAft>
                <a:spcPts val="0"/>
              </a:spcAft>
              <a:buNone/>
            </a:pPr>
            <a:r>
              <a:rPr lang="en-US" dirty="0">
                <a:latin typeface="Calibri"/>
                <a:ea typeface="Calibri"/>
                <a:cs typeface="Calibri"/>
                <a:sym typeface="Calibri"/>
              </a:rPr>
              <a:t>error </a:t>
            </a:r>
            <a:r>
              <a:rPr lang="en-US" b="1" dirty="0">
                <a:solidFill>
                  <a:srgbClr val="0070C0"/>
                </a:solidFill>
                <a:latin typeface="Calibri"/>
                <a:ea typeface="Calibri"/>
                <a:cs typeface="Calibri"/>
                <a:sym typeface="Calibri"/>
              </a:rPr>
              <a:t>E = |P</a:t>
            </a:r>
            <a:r>
              <a:rPr lang="en-US" b="1" baseline="-25000" dirty="0">
                <a:solidFill>
                  <a:srgbClr val="0070C0"/>
                </a:solidFill>
                <a:latin typeface="Calibri"/>
                <a:ea typeface="Calibri"/>
                <a:cs typeface="Calibri"/>
                <a:sym typeface="Calibri"/>
              </a:rPr>
              <a:t>h</a:t>
            </a:r>
            <a:r>
              <a:rPr lang="en-US" b="1" dirty="0">
                <a:solidFill>
                  <a:srgbClr val="0070C0"/>
                </a:solidFill>
                <a:latin typeface="Calibri"/>
                <a:ea typeface="Calibri"/>
                <a:cs typeface="Calibri"/>
                <a:sym typeface="Calibri"/>
              </a:rPr>
              <a:t>-0.5|</a:t>
            </a:r>
            <a:r>
              <a:rPr lang="en-US" dirty="0">
                <a:latin typeface="Calibri"/>
                <a:ea typeface="Calibri"/>
                <a:cs typeface="Calibri"/>
                <a:sym typeface="Calibri"/>
              </a:rPr>
              <a:t>, where P</a:t>
            </a:r>
            <a:r>
              <a:rPr lang="en-US" baseline="-25000" dirty="0">
                <a:latin typeface="Calibri"/>
                <a:ea typeface="Calibri"/>
                <a:cs typeface="Calibri"/>
                <a:sym typeface="Calibri"/>
              </a:rPr>
              <a:t>h</a:t>
            </a:r>
            <a:r>
              <a:rPr lang="en-US" dirty="0">
                <a:latin typeface="Calibri"/>
                <a:ea typeface="Calibri"/>
                <a:cs typeface="Calibri"/>
                <a:sym typeface="Calibri"/>
              </a:rPr>
              <a:t> is the probability of heads.</a:t>
            </a: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sz="1800" b="1" dirty="0">
                <a:solidFill>
                  <a:srgbClr val="FF0000"/>
                </a:solidFill>
                <a:latin typeface="Calibri"/>
                <a:ea typeface="Calibri"/>
                <a:cs typeface="Calibri"/>
                <a:sym typeface="Calibri"/>
              </a:rPr>
              <a:t>Problem 1</a:t>
            </a:r>
          </a:p>
          <a:p>
            <a:pPr marL="0" lvl="0" indent="0" algn="l" rtl="0">
              <a:spcBef>
                <a:spcPts val="0"/>
              </a:spcBef>
              <a:spcAft>
                <a:spcPts val="0"/>
              </a:spcAft>
              <a:buNone/>
            </a:pPr>
            <a:r>
              <a:rPr lang="en-US" b="1" dirty="0">
                <a:solidFill>
                  <a:srgbClr val="0070C0"/>
                </a:solidFill>
                <a:latin typeface="Calibri"/>
                <a:ea typeface="Calibri"/>
                <a:cs typeface="Calibri"/>
                <a:sym typeface="Calibri"/>
              </a:rPr>
              <a:t>We tossed a coin 10 times and got 8 heads. Compute p-value.</a:t>
            </a:r>
          </a:p>
          <a:p>
            <a:pPr lvl="0"/>
            <a:endParaRPr lang="en-US" dirty="0">
              <a:latin typeface="Calibri"/>
              <a:ea typeface="Calibri"/>
              <a:cs typeface="Calibri"/>
              <a:sym typeface="Calibri"/>
            </a:endParaRPr>
          </a:p>
          <a:p>
            <a:pPr lvl="0"/>
            <a:r>
              <a:rPr lang="en-US" dirty="0">
                <a:latin typeface="Calibri"/>
                <a:ea typeface="Calibri"/>
                <a:cs typeface="Calibri"/>
                <a:sym typeface="Calibri"/>
              </a:rPr>
              <a:t>We just need compute the probability of 8 or more heads in 10 tosses (assuming the coin is fair).</a:t>
            </a:r>
          </a:p>
          <a:p>
            <a:pPr lvl="0"/>
            <a:r>
              <a:rPr lang="en-US" dirty="0">
                <a:latin typeface="Calibri"/>
                <a:ea typeface="Calibri"/>
                <a:cs typeface="Calibri"/>
                <a:sym typeface="Calibri"/>
              </a:rPr>
              <a:t>Note that the number of heads follows a binomial distribution </a:t>
            </a:r>
          </a:p>
          <a:p>
            <a:pPr lvl="0"/>
            <a:r>
              <a:rPr lang="en-US" dirty="0">
                <a:latin typeface="Calibri"/>
                <a:ea typeface="Calibri"/>
                <a:cs typeface="Calibri"/>
                <a:sym typeface="Calibri"/>
              </a:rPr>
              <a:t>with n=10 and p=0.5.</a:t>
            </a:r>
          </a:p>
          <a:p>
            <a:pPr lvl="0"/>
            <a:r>
              <a:rPr lang="en-US" dirty="0">
                <a:latin typeface="Calibri"/>
                <a:ea typeface="Calibri"/>
                <a:cs typeface="Calibri"/>
                <a:sym typeface="Calibri"/>
              </a:rPr>
              <a:t>So the p-value = P[8] + P[9] + P[10] = .044 + .01 + .001 = 0.055.</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5" name="Google Shape;114;p16">
            <a:extLst>
              <a:ext uri="{FF2B5EF4-FFF2-40B4-BE49-F238E27FC236}">
                <a16:creationId xmlns:a16="http://schemas.microsoft.com/office/drawing/2014/main" id="{1A2BC264-BF2C-904D-AAF6-592DE154D8FE}"/>
              </a:ext>
            </a:extLst>
          </p:cNvPr>
          <p:cNvSpPr txBox="1"/>
          <p:nvPr/>
        </p:nvSpPr>
        <p:spPr>
          <a:xfrm>
            <a:off x="0" y="0"/>
            <a:ext cx="6056582" cy="84813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Calibri"/>
                <a:ea typeface="Calibri"/>
                <a:cs typeface="Calibri"/>
                <a:sym typeface="Calibri"/>
              </a:rPr>
              <a:t>Checking whether a coin is fair</a:t>
            </a:r>
            <a:endParaRPr sz="2400" b="1" dirty="0">
              <a:latin typeface="Calibri"/>
              <a:ea typeface="Calibri"/>
              <a:cs typeface="Calibri"/>
              <a:sym typeface="Calibri"/>
            </a:endParaRPr>
          </a:p>
          <a:p>
            <a:pPr marL="0" lvl="0" indent="0" algn="l" rtl="0">
              <a:spcBef>
                <a:spcPts val="0"/>
              </a:spcBef>
              <a:spcAft>
                <a:spcPts val="0"/>
              </a:spcAft>
              <a:buNone/>
            </a:pPr>
            <a:endParaRPr sz="800" dirty="0">
              <a:latin typeface="Calibri"/>
              <a:ea typeface="Calibri"/>
              <a:cs typeface="Calibri"/>
              <a:sym typeface="Calibri"/>
            </a:endParaRPr>
          </a:p>
          <a:p>
            <a:pPr lvl="0"/>
            <a:r>
              <a:rPr lang="en-US" dirty="0">
                <a:latin typeface="Calibri"/>
                <a:ea typeface="Calibri"/>
                <a:cs typeface="Calibri"/>
                <a:sym typeface="Calibri"/>
                <a:hlinkClick r:id="rId3"/>
              </a:rPr>
              <a:t>https://en.wikipedia.org/wiki/Checking_whether_a_coin_is_fair</a:t>
            </a:r>
            <a:r>
              <a:rPr lang="en-US" dirty="0">
                <a:latin typeface="Calibri"/>
                <a:ea typeface="Calibri"/>
                <a:cs typeface="Calibri"/>
                <a:sym typeface="Calibri"/>
              </a:rPr>
              <a:t> </a:t>
            </a:r>
          </a:p>
        </p:txBody>
      </p:sp>
      <p:pic>
        <p:nvPicPr>
          <p:cNvPr id="2" name="Picture 1">
            <a:extLst>
              <a:ext uri="{FF2B5EF4-FFF2-40B4-BE49-F238E27FC236}">
                <a16:creationId xmlns:a16="http://schemas.microsoft.com/office/drawing/2014/main" id="{9C3F7295-12F5-4F43-9EB1-ECBFAD4AE198}"/>
              </a:ext>
            </a:extLst>
          </p:cNvPr>
          <p:cNvPicPr>
            <a:picLocks noChangeAspect="1"/>
          </p:cNvPicPr>
          <p:nvPr/>
        </p:nvPicPr>
        <p:blipFill>
          <a:blip r:embed="rId4"/>
          <a:stretch>
            <a:fillRect/>
          </a:stretch>
        </p:blipFill>
        <p:spPr>
          <a:xfrm>
            <a:off x="10670547" y="3041496"/>
            <a:ext cx="711200" cy="736600"/>
          </a:xfrm>
          <a:prstGeom prst="rect">
            <a:avLst/>
          </a:prstGeom>
        </p:spPr>
      </p:pic>
      <p:pic>
        <p:nvPicPr>
          <p:cNvPr id="7" name="Picture 6">
            <a:extLst>
              <a:ext uri="{FF2B5EF4-FFF2-40B4-BE49-F238E27FC236}">
                <a16:creationId xmlns:a16="http://schemas.microsoft.com/office/drawing/2014/main" id="{A7C773EC-98DC-EB45-9CD6-4ACB52A409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50767" y="1868560"/>
            <a:ext cx="5039256" cy="772060"/>
          </a:xfrm>
          <a:prstGeom prst="rect">
            <a:avLst/>
          </a:prstGeom>
        </p:spPr>
      </p:pic>
      <p:sp>
        <p:nvSpPr>
          <p:cNvPr id="8" name="Google Shape;114;p16">
            <a:extLst>
              <a:ext uri="{FF2B5EF4-FFF2-40B4-BE49-F238E27FC236}">
                <a16:creationId xmlns:a16="http://schemas.microsoft.com/office/drawing/2014/main" id="{3ABF9FFE-6500-4147-9C1B-BC0CFD06A921}"/>
              </a:ext>
            </a:extLst>
          </p:cNvPr>
          <p:cNvSpPr txBox="1"/>
          <p:nvPr/>
        </p:nvSpPr>
        <p:spPr>
          <a:xfrm>
            <a:off x="6685723" y="205411"/>
            <a:ext cx="5367130" cy="1928189"/>
          </a:xfrm>
          <a:prstGeom prst="rect">
            <a:avLst/>
          </a:prstGeom>
          <a:noFill/>
          <a:ln>
            <a:noFill/>
          </a:ln>
        </p:spPr>
        <p:txBody>
          <a:bodyPr spcFirstLastPara="1" wrap="square" lIns="91425" tIns="91425" rIns="91425" bIns="91425" anchor="t" anchorCtr="0">
            <a:noAutofit/>
          </a:bodyPr>
          <a:lstStyle/>
          <a:p>
            <a:pPr lvl="0"/>
            <a:r>
              <a:rPr lang="en-US" sz="1800" b="1" dirty="0">
                <a:solidFill>
                  <a:srgbClr val="FF0000"/>
                </a:solidFill>
                <a:latin typeface="Calibri"/>
                <a:cs typeface="Calibri"/>
                <a:sym typeface="Calibri"/>
              </a:rPr>
              <a:t>Problem 2</a:t>
            </a:r>
          </a:p>
          <a:p>
            <a:pPr lvl="0"/>
            <a:r>
              <a:rPr lang="en-US" b="1" dirty="0">
                <a:solidFill>
                  <a:srgbClr val="0070C0"/>
                </a:solidFill>
                <a:latin typeface="Calibri"/>
                <a:ea typeface="Calibri"/>
                <a:cs typeface="Calibri"/>
                <a:sym typeface="Calibri"/>
              </a:rPr>
              <a:t>How many times should we flip a coin to test the null hypothesis.</a:t>
            </a:r>
          </a:p>
          <a:p>
            <a:pPr lvl="0"/>
            <a:endParaRPr lang="en-US" dirty="0">
              <a:latin typeface="Calibri"/>
              <a:ea typeface="Calibri"/>
              <a:cs typeface="Calibri"/>
              <a:sym typeface="Calibri"/>
            </a:endParaRPr>
          </a:p>
          <a:p>
            <a:pPr lvl="0"/>
            <a:r>
              <a:rPr lang="en-US" dirty="0">
                <a:latin typeface="Calibri"/>
                <a:ea typeface="Calibri"/>
                <a:cs typeface="Calibri"/>
                <a:sym typeface="Calibri"/>
              </a:rPr>
              <a:t>Suppose we flipped "n" times and got "x" heads.</a:t>
            </a:r>
          </a:p>
          <a:p>
            <a:pPr lvl="0"/>
            <a:r>
              <a:rPr lang="en-US" dirty="0">
                <a:latin typeface="Calibri"/>
                <a:ea typeface="Calibri"/>
                <a:cs typeface="Calibri"/>
                <a:sym typeface="Calibri"/>
              </a:rPr>
              <a:t>The estimate of the probability of heads P</a:t>
            </a:r>
            <a:r>
              <a:rPr lang="en-US" baseline="-25000" dirty="0">
                <a:latin typeface="Calibri"/>
                <a:ea typeface="Calibri"/>
                <a:cs typeface="Calibri"/>
                <a:sym typeface="Calibri"/>
              </a:rPr>
              <a:t>h</a:t>
            </a:r>
            <a:r>
              <a:rPr lang="en-US" dirty="0">
                <a:latin typeface="Calibri"/>
                <a:ea typeface="Calibri"/>
                <a:cs typeface="Calibri"/>
                <a:sym typeface="Calibri"/>
              </a:rPr>
              <a:t> = x/n.</a:t>
            </a:r>
          </a:p>
          <a:p>
            <a:pPr lvl="0"/>
            <a:r>
              <a:rPr lang="en-US" dirty="0">
                <a:latin typeface="Calibri"/>
                <a:ea typeface="Calibri"/>
                <a:cs typeface="Calibri"/>
                <a:sym typeface="Calibri"/>
              </a:rPr>
              <a:t>Suppose "x" follows binomial distribution with probability "p" of heads.</a:t>
            </a:r>
          </a:p>
          <a:p>
            <a:pPr lvl="0"/>
            <a:r>
              <a:rPr lang="en-US" dirty="0">
                <a:latin typeface="Calibri"/>
                <a:ea typeface="Calibri"/>
                <a:cs typeface="Calibri"/>
                <a:sym typeface="Calibri"/>
              </a:rPr>
              <a:t>At large "n" is is approximated with normal distribution.</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9" name="Google Shape;114;p16">
            <a:extLst>
              <a:ext uri="{FF2B5EF4-FFF2-40B4-BE49-F238E27FC236}">
                <a16:creationId xmlns:a16="http://schemas.microsoft.com/office/drawing/2014/main" id="{38871C2A-D7DF-804C-B877-B6E6E95240DB}"/>
              </a:ext>
            </a:extLst>
          </p:cNvPr>
          <p:cNvSpPr txBox="1"/>
          <p:nvPr/>
        </p:nvSpPr>
        <p:spPr>
          <a:xfrm>
            <a:off x="6685723" y="2640620"/>
            <a:ext cx="5367130" cy="801753"/>
          </a:xfrm>
          <a:prstGeom prst="rect">
            <a:avLst/>
          </a:prstGeom>
          <a:noFill/>
          <a:ln>
            <a:noFill/>
          </a:ln>
        </p:spPr>
        <p:txBody>
          <a:bodyPr spcFirstLastPara="1" wrap="square" lIns="91425" tIns="91425" rIns="91425" bIns="91425" anchor="t" anchorCtr="0">
            <a:noAutofit/>
          </a:bodyPr>
          <a:lstStyle/>
          <a:p>
            <a:pPr lvl="0"/>
            <a:r>
              <a:rPr lang="en-US" dirty="0">
                <a:latin typeface="Calibri"/>
                <a:ea typeface="Calibri"/>
                <a:cs typeface="Calibri"/>
                <a:sym typeface="Calibri"/>
              </a:rPr>
              <a:t>So the standard error of estimating x will be sqrt(np(1-p)).</a:t>
            </a:r>
          </a:p>
          <a:p>
            <a:pPr lvl="0"/>
            <a:r>
              <a:rPr lang="en-US" dirty="0">
                <a:latin typeface="Calibri"/>
                <a:ea typeface="Calibri"/>
                <a:cs typeface="Calibri"/>
                <a:sym typeface="Calibri"/>
              </a:rPr>
              <a:t>Note that it has max value when p=0.5.</a:t>
            </a:r>
          </a:p>
          <a:p>
            <a:pPr lvl="0"/>
            <a:r>
              <a:rPr lang="en-US" dirty="0">
                <a:latin typeface="Calibri"/>
                <a:ea typeface="Calibri"/>
                <a:cs typeface="Calibri"/>
                <a:sym typeface="Calibri"/>
              </a:rPr>
              <a:t>So lets use the upper estimate of error of (x/n) as:</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3" name="TextBox 2">
            <a:extLst>
              <a:ext uri="{FF2B5EF4-FFF2-40B4-BE49-F238E27FC236}">
                <a16:creationId xmlns:a16="http://schemas.microsoft.com/office/drawing/2014/main" id="{75B5C5ED-1366-1245-9C4A-37065BB20DC4}"/>
              </a:ext>
            </a:extLst>
          </p:cNvPr>
          <p:cNvSpPr txBox="1"/>
          <p:nvPr/>
        </p:nvSpPr>
        <p:spPr>
          <a:xfrm>
            <a:off x="298343" y="4555555"/>
            <a:ext cx="3491779" cy="2123658"/>
          </a:xfrm>
          <a:prstGeom prst="rect">
            <a:avLst/>
          </a:prstGeom>
          <a:noFill/>
        </p:spPr>
        <p:txBody>
          <a:bodyPr wrap="square" rtlCol="0">
            <a:spAutoFit/>
          </a:bodyPr>
          <a:lstStyle/>
          <a:p>
            <a:r>
              <a:rPr lang="en-US" sz="1100" dirty="0">
                <a:solidFill>
                  <a:srgbClr val="0070C0"/>
                </a:solidFill>
                <a:latin typeface="Consolas" panose="020B0609020204030204" pitchFamily="49" charset="0"/>
                <a:cs typeface="Consolas" panose="020B0609020204030204" pitchFamily="49" charset="0"/>
              </a:rPr>
              <a:t>Z value | Confidence level | Comment     </a:t>
            </a:r>
          </a:p>
          <a:p>
            <a:r>
              <a:rPr lang="en-US" sz="1100" dirty="0">
                <a:solidFill>
                  <a:srgbClr val="0070C0"/>
                </a:solidFill>
                <a:latin typeface="Consolas" panose="020B0609020204030204" pitchFamily="49" charset="0"/>
                <a:cs typeface="Consolas" panose="020B0609020204030204" pitchFamily="49" charset="0"/>
              </a:rPr>
              <a:t>0.6745  |  50.000%         | Half        </a:t>
            </a:r>
          </a:p>
          <a:p>
            <a:r>
              <a:rPr lang="en-US" sz="1100" dirty="0">
                <a:solidFill>
                  <a:srgbClr val="0070C0"/>
                </a:solidFill>
                <a:latin typeface="Consolas" panose="020B0609020204030204" pitchFamily="49" charset="0"/>
                <a:cs typeface="Consolas" panose="020B0609020204030204" pitchFamily="49" charset="0"/>
              </a:rPr>
              <a:t>1.0000  |  68.269%         | One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1.6449  |  90.000%         | "One nine"  </a:t>
            </a:r>
          </a:p>
          <a:p>
            <a:r>
              <a:rPr lang="en-US" sz="1100" dirty="0">
                <a:solidFill>
                  <a:srgbClr val="0070C0"/>
                </a:solidFill>
                <a:latin typeface="Consolas" panose="020B0609020204030204" pitchFamily="49" charset="0"/>
                <a:cs typeface="Consolas" panose="020B0609020204030204" pitchFamily="49" charset="0"/>
              </a:rPr>
              <a:t>1.9599  |  95.000%         | 95 percent  </a:t>
            </a:r>
          </a:p>
          <a:p>
            <a:r>
              <a:rPr lang="en-US" sz="1100" dirty="0">
                <a:solidFill>
                  <a:srgbClr val="0070C0"/>
                </a:solidFill>
                <a:latin typeface="Consolas" panose="020B0609020204030204" pitchFamily="49" charset="0"/>
                <a:cs typeface="Consolas" panose="020B0609020204030204" pitchFamily="49" charset="0"/>
              </a:rPr>
              <a:t>2.0000  |  95.450%         | Two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2.5759  |  99.000%         | "Two nines" </a:t>
            </a:r>
          </a:p>
          <a:p>
            <a:r>
              <a:rPr lang="en-US" sz="1100" dirty="0">
                <a:solidFill>
                  <a:srgbClr val="0070C0"/>
                </a:solidFill>
                <a:latin typeface="Consolas" panose="020B0609020204030204" pitchFamily="49" charset="0"/>
                <a:cs typeface="Consolas" panose="020B0609020204030204" pitchFamily="49" charset="0"/>
              </a:rPr>
              <a:t>3.0000  |  99.730%         | Three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3.2905  |  99.900%         | "Three nines</a:t>
            </a:r>
          </a:p>
          <a:p>
            <a:r>
              <a:rPr lang="en-US" sz="1100" dirty="0">
                <a:solidFill>
                  <a:srgbClr val="0070C0"/>
                </a:solidFill>
                <a:latin typeface="Consolas" panose="020B0609020204030204" pitchFamily="49" charset="0"/>
                <a:cs typeface="Consolas" panose="020B0609020204030204" pitchFamily="49" charset="0"/>
              </a:rPr>
              <a:t>3.8906  |  99.990%         | "Four nines"</a:t>
            </a:r>
          </a:p>
          <a:p>
            <a:r>
              <a:rPr lang="en-US" sz="1100" dirty="0">
                <a:solidFill>
                  <a:srgbClr val="0070C0"/>
                </a:solidFill>
                <a:latin typeface="Consolas" panose="020B0609020204030204" pitchFamily="49" charset="0"/>
                <a:cs typeface="Consolas" panose="020B0609020204030204" pitchFamily="49" charset="0"/>
              </a:rPr>
              <a:t>4.0000  |  99.993%         | Four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4.4172  |  99.999%         | "Five nines"</a:t>
            </a:r>
          </a:p>
        </p:txBody>
      </p:sp>
      <p:sp>
        <p:nvSpPr>
          <p:cNvPr id="6" name="TextBox 5">
            <a:extLst>
              <a:ext uri="{FF2B5EF4-FFF2-40B4-BE49-F238E27FC236}">
                <a16:creationId xmlns:a16="http://schemas.microsoft.com/office/drawing/2014/main" id="{A678E832-6A66-A34B-8638-25385B81C915}"/>
              </a:ext>
            </a:extLst>
          </p:cNvPr>
          <p:cNvSpPr txBox="1"/>
          <p:nvPr/>
        </p:nvSpPr>
        <p:spPr>
          <a:xfrm>
            <a:off x="1" y="3897364"/>
            <a:ext cx="4108174" cy="600164"/>
          </a:xfrm>
          <a:prstGeom prst="rect">
            <a:avLst/>
          </a:prstGeom>
          <a:noFill/>
        </p:spPr>
        <p:txBody>
          <a:bodyPr wrap="square" rtlCol="0">
            <a:spAutoFit/>
          </a:bodyPr>
          <a:lstStyle/>
          <a:p>
            <a:r>
              <a:rPr lang="en-US" sz="1100" dirty="0">
                <a:solidFill>
                  <a:srgbClr val="0070C0"/>
                </a:solidFill>
              </a:rPr>
              <a:t>Coin flipping leads to binomial distribution, </a:t>
            </a:r>
          </a:p>
          <a:p>
            <a:r>
              <a:rPr lang="en-US" sz="1100" dirty="0">
                <a:solidFill>
                  <a:srgbClr val="0070C0"/>
                </a:solidFill>
              </a:rPr>
              <a:t>which can be approximated with normal Gaussian distribution.</a:t>
            </a:r>
          </a:p>
          <a:p>
            <a:r>
              <a:rPr lang="en-US" sz="1100" dirty="0">
                <a:solidFill>
                  <a:srgbClr val="0070C0"/>
                </a:solidFill>
              </a:rPr>
              <a:t>Here are confidence levels for Z (standard normal distribution):</a:t>
            </a:r>
          </a:p>
        </p:txBody>
      </p:sp>
      <p:sp>
        <p:nvSpPr>
          <p:cNvPr id="10" name="TextBox 9">
            <a:extLst>
              <a:ext uri="{FF2B5EF4-FFF2-40B4-BE49-F238E27FC236}">
                <a16:creationId xmlns:a16="http://schemas.microsoft.com/office/drawing/2014/main" id="{BEDE31FC-9B6C-CA4C-86AA-399D73F20ABC}"/>
              </a:ext>
            </a:extLst>
          </p:cNvPr>
          <p:cNvSpPr txBox="1"/>
          <p:nvPr/>
        </p:nvSpPr>
        <p:spPr>
          <a:xfrm>
            <a:off x="6685723" y="3778096"/>
            <a:ext cx="4167807" cy="307777"/>
          </a:xfrm>
          <a:prstGeom prst="rect">
            <a:avLst/>
          </a:prstGeom>
          <a:noFill/>
        </p:spPr>
        <p:txBody>
          <a:bodyPr wrap="square" rtlCol="0">
            <a:spAutoFit/>
          </a:bodyPr>
          <a:lstStyle/>
          <a:p>
            <a:r>
              <a:rPr lang="en-US" dirty="0">
                <a:latin typeface="Calibri"/>
                <a:cs typeface="Calibri"/>
              </a:rPr>
              <a:t>And hence the value of maximum error (E) is given by:</a:t>
            </a:r>
          </a:p>
        </p:txBody>
      </p:sp>
      <p:pic>
        <p:nvPicPr>
          <p:cNvPr id="11" name="Picture 10">
            <a:extLst>
              <a:ext uri="{FF2B5EF4-FFF2-40B4-BE49-F238E27FC236}">
                <a16:creationId xmlns:a16="http://schemas.microsoft.com/office/drawing/2014/main" id="{72637CC1-BEE4-154D-98AD-65986D051565}"/>
              </a:ext>
            </a:extLst>
          </p:cNvPr>
          <p:cNvPicPr>
            <a:picLocks noChangeAspect="1"/>
          </p:cNvPicPr>
          <p:nvPr/>
        </p:nvPicPr>
        <p:blipFill>
          <a:blip r:embed="rId6"/>
          <a:stretch>
            <a:fillRect/>
          </a:stretch>
        </p:blipFill>
        <p:spPr>
          <a:xfrm>
            <a:off x="7798076" y="4074337"/>
            <a:ext cx="1943100" cy="723900"/>
          </a:xfrm>
          <a:prstGeom prst="rect">
            <a:avLst/>
          </a:prstGeom>
        </p:spPr>
      </p:pic>
      <p:sp>
        <p:nvSpPr>
          <p:cNvPr id="14" name="TextBox 13">
            <a:extLst>
              <a:ext uri="{FF2B5EF4-FFF2-40B4-BE49-F238E27FC236}">
                <a16:creationId xmlns:a16="http://schemas.microsoft.com/office/drawing/2014/main" id="{638FBC29-A8F9-284A-A1BF-DA59A1CFE356}"/>
              </a:ext>
            </a:extLst>
          </p:cNvPr>
          <p:cNvSpPr txBox="1"/>
          <p:nvPr/>
        </p:nvSpPr>
        <p:spPr>
          <a:xfrm>
            <a:off x="6685722" y="4749764"/>
            <a:ext cx="430695" cy="307777"/>
          </a:xfrm>
          <a:prstGeom prst="rect">
            <a:avLst/>
          </a:prstGeom>
          <a:noFill/>
        </p:spPr>
        <p:txBody>
          <a:bodyPr wrap="square" rtlCol="0">
            <a:spAutoFit/>
          </a:bodyPr>
          <a:lstStyle/>
          <a:p>
            <a:r>
              <a:rPr lang="en-US" dirty="0">
                <a:latin typeface="Calibri"/>
                <a:cs typeface="Calibri"/>
              </a:rPr>
              <a:t>Or:</a:t>
            </a:r>
          </a:p>
        </p:txBody>
      </p:sp>
      <p:pic>
        <p:nvPicPr>
          <p:cNvPr id="12" name="Picture 11">
            <a:extLst>
              <a:ext uri="{FF2B5EF4-FFF2-40B4-BE49-F238E27FC236}">
                <a16:creationId xmlns:a16="http://schemas.microsoft.com/office/drawing/2014/main" id="{4BC789A4-98D4-F041-9CDE-34D490398ACE}"/>
              </a:ext>
            </a:extLst>
          </p:cNvPr>
          <p:cNvPicPr>
            <a:picLocks noChangeAspect="1"/>
          </p:cNvPicPr>
          <p:nvPr/>
        </p:nvPicPr>
        <p:blipFill>
          <a:blip r:embed="rId7"/>
          <a:stretch>
            <a:fillRect/>
          </a:stretch>
        </p:blipFill>
        <p:spPr>
          <a:xfrm>
            <a:off x="7756936" y="4784985"/>
            <a:ext cx="1155700" cy="723900"/>
          </a:xfrm>
          <a:prstGeom prst="rect">
            <a:avLst/>
          </a:prstGeom>
        </p:spPr>
      </p:pic>
      <p:sp>
        <p:nvSpPr>
          <p:cNvPr id="16" name="TextBox 15">
            <a:extLst>
              <a:ext uri="{FF2B5EF4-FFF2-40B4-BE49-F238E27FC236}">
                <a16:creationId xmlns:a16="http://schemas.microsoft.com/office/drawing/2014/main" id="{E141235E-B306-274B-AF92-68211AC9662B}"/>
              </a:ext>
            </a:extLst>
          </p:cNvPr>
          <p:cNvSpPr txBox="1"/>
          <p:nvPr/>
        </p:nvSpPr>
        <p:spPr>
          <a:xfrm>
            <a:off x="6685722" y="5516224"/>
            <a:ext cx="5082208" cy="738664"/>
          </a:xfrm>
          <a:prstGeom prst="rect">
            <a:avLst/>
          </a:prstGeom>
          <a:noFill/>
        </p:spPr>
        <p:txBody>
          <a:bodyPr wrap="square" rtlCol="0">
            <a:spAutoFit/>
          </a:bodyPr>
          <a:lstStyle/>
          <a:p>
            <a:r>
              <a:rPr lang="en-US" dirty="0">
                <a:latin typeface="Calibri"/>
                <a:cs typeface="Calibri"/>
              </a:rPr>
              <a:t>For example, if we want confidence 95% (Z=1.9599), then </a:t>
            </a:r>
          </a:p>
          <a:p>
            <a:pPr marL="285750" indent="-285750">
              <a:buFont typeface="Arial" panose="020B0604020202020204" pitchFamily="34" charset="0"/>
              <a:buChar char="•"/>
            </a:pPr>
            <a:r>
              <a:rPr lang="en-US" dirty="0">
                <a:latin typeface="Calibri"/>
                <a:cs typeface="Calibri"/>
              </a:rPr>
              <a:t>for E=0.25 we need n = (1.9599)**2 / (4*0.25**2) = 16 flips  </a:t>
            </a:r>
          </a:p>
          <a:p>
            <a:pPr marL="285750" indent="-285750">
              <a:buFont typeface="Arial" panose="020B0604020202020204" pitchFamily="34" charset="0"/>
              <a:buChar char="•"/>
            </a:pPr>
            <a:r>
              <a:rPr lang="en-US" dirty="0">
                <a:latin typeface="Calibri"/>
                <a:cs typeface="Calibri"/>
              </a:rPr>
              <a:t>for E=0.01, we need n = (1.9599)**2 /(4*0.01**2) = 9,603 flips</a:t>
            </a:r>
          </a:p>
        </p:txBody>
      </p:sp>
      <p:pic>
        <p:nvPicPr>
          <p:cNvPr id="17" name="Picture 16">
            <a:extLst>
              <a:ext uri="{FF2B5EF4-FFF2-40B4-BE49-F238E27FC236}">
                <a16:creationId xmlns:a16="http://schemas.microsoft.com/office/drawing/2014/main" id="{FDA8289B-60D2-814C-8237-AC0CE17777E4}"/>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l="1792" r="8013"/>
          <a:stretch/>
        </p:blipFill>
        <p:spPr>
          <a:xfrm>
            <a:off x="3847264" y="4563788"/>
            <a:ext cx="2437946" cy="16041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383974" y="715279"/>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Problem1: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Given: women's heights are normally distributed with the mean 65″ and standard deviation of 3.5″</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Question: What is the probability of finding a random sample of 50 women with a mean height of 70″.</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To answer, let's estimate the </a:t>
            </a:r>
            <a:r>
              <a:rPr lang="en-US" b="1" dirty="0">
                <a:solidFill>
                  <a:srgbClr val="0000FF"/>
                </a:solidFill>
                <a:latin typeface="Calibri"/>
                <a:ea typeface="Calibri"/>
                <a:cs typeface="Calibri"/>
                <a:sym typeface="Calibri"/>
              </a:rPr>
              <a:t>z-score</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z = (x – </a:t>
            </a:r>
            <a:r>
              <a:rPr lang="en-US" dirty="0" err="1">
                <a:latin typeface="Calibri"/>
                <a:ea typeface="Calibri"/>
                <a:cs typeface="Calibri"/>
                <a:sym typeface="Calibri"/>
              </a:rPr>
              <a:t>μ</a:t>
            </a:r>
            <a:r>
              <a:rPr lang="en-US" dirty="0">
                <a:latin typeface="Calibri"/>
                <a:ea typeface="Calibri"/>
                <a:cs typeface="Calibri"/>
                <a:sym typeface="Calibri"/>
              </a:rPr>
              <a:t>) / (</a:t>
            </a:r>
            <a:r>
              <a:rPr lang="en-US" dirty="0" err="1">
                <a:latin typeface="Calibri"/>
                <a:ea typeface="Calibri"/>
                <a:cs typeface="Calibri"/>
                <a:sym typeface="Calibri"/>
              </a:rPr>
              <a:t>σ</a:t>
            </a:r>
            <a:r>
              <a:rPr lang="en-US" dirty="0">
                <a:latin typeface="Calibri"/>
                <a:ea typeface="Calibri"/>
                <a:cs typeface="Calibri"/>
                <a:sym typeface="Calibri"/>
              </a:rPr>
              <a:t> / √n) = (70 – 65) / (3.5/√50) = 5 / 0.495 = 10.1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know that 99% of values fall within 3</a:t>
            </a:r>
            <a:r>
              <a:rPr lang="en-US" dirty="0">
                <a:solidFill>
                  <a:schemeClr val="dk1"/>
                </a:solidFill>
                <a:latin typeface="Calibri"/>
                <a:ea typeface="Calibri"/>
                <a:cs typeface="Calibri"/>
                <a:sym typeface="Calibri"/>
              </a:rPr>
              <a:t>σ</a:t>
            </a:r>
            <a:r>
              <a:rPr lang="en-US" dirty="0">
                <a:latin typeface="Calibri"/>
                <a:ea typeface="Calibri"/>
                <a:cs typeface="Calibri"/>
                <a:sym typeface="Calibri"/>
              </a:rPr>
              <a:t> (68,  95,  99.7 rule).</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z-score = 10, which is much more than 3.</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So the probability </a:t>
            </a:r>
            <a:r>
              <a:rPr lang="en-US" dirty="0">
                <a:solidFill>
                  <a:schemeClr val="dk1"/>
                </a:solidFill>
                <a:latin typeface="Calibri"/>
                <a:ea typeface="Calibri"/>
                <a:cs typeface="Calibri"/>
                <a:sym typeface="Calibri"/>
              </a:rPr>
              <a:t>that any sample of 50 women will have a mean height of 70″ will be much-much less than 1%.</a:t>
            </a:r>
            <a:endParaRPr dirty="0">
              <a:latin typeface="Calibri"/>
              <a:ea typeface="Calibri"/>
              <a:cs typeface="Calibri"/>
              <a:sym typeface="Calibri"/>
            </a:endParaRPr>
          </a:p>
        </p:txBody>
      </p:sp>
      <p:sp>
        <p:nvSpPr>
          <p:cNvPr id="115" name="Google Shape;115;p16"/>
          <p:cNvSpPr txBox="1"/>
          <p:nvPr/>
        </p:nvSpPr>
        <p:spPr>
          <a:xfrm>
            <a:off x="6067250" y="715279"/>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7D2AE4FC-9024-9547-829E-724CC7A63A22}"/>
              </a:ext>
            </a:extLst>
          </p:cNvPr>
          <p:cNvSpPr txBox="1"/>
          <p:nvPr/>
        </p:nvSpPr>
        <p:spPr>
          <a:xfrm>
            <a:off x="92765" y="106017"/>
            <a:ext cx="2637183" cy="400110"/>
          </a:xfrm>
          <a:prstGeom prst="rect">
            <a:avLst/>
          </a:prstGeom>
          <a:noFill/>
        </p:spPr>
        <p:txBody>
          <a:bodyPr wrap="square" rtlCol="0">
            <a:spAutoFit/>
          </a:bodyPr>
          <a:lstStyle/>
          <a:p>
            <a:r>
              <a:rPr lang="en-US" sz="2000" b="1" dirty="0"/>
              <a:t>Hypothesis Testing</a:t>
            </a:r>
          </a:p>
        </p:txBody>
      </p:sp>
    </p:spTree>
    <p:extLst>
      <p:ext uri="{BB962C8B-B14F-4D97-AF65-F5344CB8AC3E}">
        <p14:creationId xmlns:p14="http://schemas.microsoft.com/office/powerpoint/2010/main" val="3916857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D7F6D-CF60-394D-8EB7-E0C54261DB23}"/>
              </a:ext>
            </a:extLst>
          </p:cNvPr>
          <p:cNvSpPr txBox="1"/>
          <p:nvPr/>
        </p:nvSpPr>
        <p:spPr>
          <a:xfrm>
            <a:off x="1431236" y="516838"/>
            <a:ext cx="9488556" cy="5909310"/>
          </a:xfrm>
          <a:prstGeom prst="rect">
            <a:avLst/>
          </a:prstGeom>
          <a:noFill/>
        </p:spPr>
        <p:txBody>
          <a:bodyPr wrap="square" rtlCol="0">
            <a:spAutoFit/>
          </a:bodyPr>
          <a:lstStyle/>
          <a:p>
            <a:r>
              <a:rPr lang="en-US" sz="2400" b="1" dirty="0"/>
              <a:t>The dichotomous use of p-value in statistical inference </a:t>
            </a:r>
          </a:p>
          <a:p>
            <a:r>
              <a:rPr lang="en-US" sz="2400" b="1" dirty="0"/>
              <a:t>is worse than useless. </a:t>
            </a:r>
          </a:p>
          <a:p>
            <a:endParaRPr lang="en-US" dirty="0"/>
          </a:p>
          <a:p>
            <a:pPr marL="342900" indent="-342900">
              <a:buFont typeface="+mj-lt"/>
              <a:buAutoNum type="arabicPeriod"/>
            </a:pPr>
            <a:r>
              <a:rPr lang="en-US" sz="1600" dirty="0"/>
              <a:t>p-value is a conditional probability, i.e., </a:t>
            </a:r>
            <a:r>
              <a:rPr lang="en-US" sz="1600" b="1" dirty="0" err="1">
                <a:solidFill>
                  <a:srgbClr val="0070C0"/>
                </a:solidFill>
              </a:rPr>
              <a:t>Pr</a:t>
            </a:r>
            <a:r>
              <a:rPr lang="en-US" sz="1600" b="1" dirty="0">
                <a:solidFill>
                  <a:srgbClr val="0070C0"/>
                </a:solidFill>
              </a:rPr>
              <a:t>( Data | H0 is true) </a:t>
            </a:r>
            <a:br>
              <a:rPr lang="en-US" sz="1600" dirty="0"/>
            </a:br>
            <a:r>
              <a:rPr lang="en-US" sz="1600" dirty="0"/>
              <a:t>but what we want to know is </a:t>
            </a:r>
            <a:r>
              <a:rPr lang="en-US" sz="1600" b="1" dirty="0" err="1">
                <a:solidFill>
                  <a:srgbClr val="0070C0"/>
                </a:solidFill>
              </a:rPr>
              <a:t>Pr</a:t>
            </a:r>
            <a:r>
              <a:rPr lang="en-US" sz="1600" b="1" dirty="0">
                <a:solidFill>
                  <a:srgbClr val="0070C0"/>
                </a:solidFill>
              </a:rPr>
              <a:t>(H0 is true | Data)</a:t>
            </a:r>
          </a:p>
          <a:p>
            <a:pPr marL="342900" indent="-342900">
              <a:buFont typeface="+mj-lt"/>
              <a:buAutoNum type="arabicPeriod"/>
            </a:pPr>
            <a:r>
              <a:rPr lang="en-US" sz="1600" dirty="0"/>
              <a:t>the calculation of p-value depends on at least three things: </a:t>
            </a:r>
            <a:br>
              <a:rPr lang="en-US" sz="1600" dirty="0"/>
            </a:br>
            <a:r>
              <a:rPr lang="en-US" sz="1600" dirty="0"/>
              <a:t> - the effect size (e.g., difference of two means due to two treatment, odds ratio, etc.), </a:t>
            </a:r>
            <a:br>
              <a:rPr lang="en-US" sz="1600" dirty="0"/>
            </a:br>
            <a:r>
              <a:rPr lang="en-US" sz="1600" dirty="0"/>
              <a:t> - the uncertainty level of the point estimate (e.g., standard deviation), </a:t>
            </a:r>
            <a:br>
              <a:rPr lang="en-US" sz="1600" dirty="0"/>
            </a:br>
            <a:r>
              <a:rPr lang="en-US" sz="1600" dirty="0"/>
              <a:t> - and sample size</a:t>
            </a:r>
          </a:p>
          <a:p>
            <a:pPr marL="342900" indent="-342900">
              <a:buFont typeface="+mj-lt"/>
              <a:buAutoNum type="arabicPeriod"/>
            </a:pPr>
            <a:r>
              <a:rPr lang="en-US" sz="1600" dirty="0"/>
              <a:t>it is a standard result in statistics theory that, based on one set of sample data we cannot tell the observed effect </a:t>
            </a:r>
            <a:r>
              <a:rPr lang="en-US" sz="1600" b="1" dirty="0">
                <a:solidFill>
                  <a:srgbClr val="0070C0"/>
                </a:solidFill>
              </a:rPr>
              <a:t>size is due to treatment or due to random variation </a:t>
            </a:r>
            <a:r>
              <a:rPr lang="en-US" sz="1600" dirty="0"/>
              <a:t>(i.e., sampling distribution requires we repeat the same experiment many times before any confirmatory conclusion can be made)</a:t>
            </a:r>
          </a:p>
          <a:p>
            <a:pPr marL="342900" indent="-342900">
              <a:buFont typeface="+mj-lt"/>
              <a:buAutoNum type="arabicPeriod"/>
            </a:pPr>
            <a:r>
              <a:rPr lang="en-US" sz="1600" dirty="0"/>
              <a:t>if by nature the H0 is false (in the majority cases of real life data / research questions), p-value =0.</a:t>
            </a:r>
          </a:p>
          <a:p>
            <a:pPr marL="342900" indent="-342900">
              <a:buFont typeface="+mj-lt"/>
              <a:buAutoNum type="arabicPeriod"/>
            </a:pPr>
            <a:endParaRPr lang="en-US" sz="1600" dirty="0"/>
          </a:p>
          <a:p>
            <a:r>
              <a:rPr lang="en-US" sz="1600" b="1" dirty="0">
                <a:solidFill>
                  <a:srgbClr val="0070C0"/>
                </a:solidFill>
              </a:rPr>
              <a:t>In summary, P-value based Null Hypothesis Significance Test (NHST) </a:t>
            </a:r>
          </a:p>
          <a:p>
            <a:r>
              <a:rPr lang="en-US" sz="1600" b="1" dirty="0">
                <a:solidFill>
                  <a:srgbClr val="0070C0"/>
                </a:solidFill>
              </a:rPr>
              <a:t>is logically not defensible, technically flawed and practically damaging</a:t>
            </a:r>
          </a:p>
          <a:p>
            <a:endParaRPr lang="en-US" sz="1600" dirty="0"/>
          </a:p>
          <a:p>
            <a:r>
              <a:rPr lang="en-US" sz="1600" dirty="0"/>
              <a:t>Gang (John) </a:t>
            </a:r>
            <a:r>
              <a:rPr lang="en-US" sz="1600" dirty="0" err="1"/>
              <a:t>Xie</a:t>
            </a:r>
            <a:r>
              <a:rPr lang="en-US" sz="1600" dirty="0"/>
              <a:t>, </a:t>
            </a:r>
          </a:p>
          <a:p>
            <a:r>
              <a:rPr lang="en-US" sz="1600" dirty="0"/>
              <a:t>Ph.D. in Statistics, </a:t>
            </a:r>
          </a:p>
          <a:p>
            <a:r>
              <a:rPr lang="en-US" sz="1600" dirty="0"/>
              <a:t>Quantitative Consulting Unit in Research Office</a:t>
            </a:r>
          </a:p>
          <a:p>
            <a:endParaRPr lang="en-US" dirty="0"/>
          </a:p>
          <a:p>
            <a:r>
              <a:rPr lang="en-US" dirty="0">
                <a:hlinkClick r:id="rId2"/>
              </a:rPr>
              <a:t>https://</a:t>
            </a:r>
            <a:r>
              <a:rPr lang="en-US" dirty="0" err="1">
                <a:hlinkClick r:id="rId2"/>
              </a:rPr>
              <a:t>www.researchgate.net</a:t>
            </a:r>
            <a:r>
              <a:rPr lang="en-US" dirty="0">
                <a:hlinkClick r:id="rId2"/>
              </a:rPr>
              <a:t>/post/What_is_the_relationship_between_R-squared_and_p-value_in_a_regression</a:t>
            </a:r>
            <a:endParaRPr lang="en-US" dirty="0"/>
          </a:p>
        </p:txBody>
      </p:sp>
    </p:spTree>
    <p:extLst>
      <p:ext uri="{BB962C8B-B14F-4D97-AF65-F5344CB8AC3E}">
        <p14:creationId xmlns:p14="http://schemas.microsoft.com/office/powerpoint/2010/main" val="2666971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FA66E8-8AE6-DC48-B710-1CADE228F1B4}"/>
              </a:ext>
            </a:extLst>
          </p:cNvPr>
          <p:cNvSpPr txBox="1"/>
          <p:nvPr/>
        </p:nvSpPr>
        <p:spPr>
          <a:xfrm>
            <a:off x="-1" y="3767"/>
            <a:ext cx="7052441" cy="523220"/>
          </a:xfrm>
          <a:prstGeom prst="rect">
            <a:avLst/>
          </a:prstGeom>
          <a:noFill/>
        </p:spPr>
        <p:txBody>
          <a:bodyPr wrap="square" rtlCol="0">
            <a:spAutoFit/>
          </a:bodyPr>
          <a:lstStyle/>
          <a:p>
            <a:r>
              <a:rPr lang="en-US" sz="2800" b="1" dirty="0"/>
              <a:t>How To Test if Distribution is Normal.</a:t>
            </a:r>
          </a:p>
        </p:txBody>
      </p:sp>
      <p:sp>
        <p:nvSpPr>
          <p:cNvPr id="5" name="TextBox 4">
            <a:extLst>
              <a:ext uri="{FF2B5EF4-FFF2-40B4-BE49-F238E27FC236}">
                <a16:creationId xmlns:a16="http://schemas.microsoft.com/office/drawing/2014/main" id="{6CF84D66-15EE-8F46-90CC-104C6EE09994}"/>
              </a:ext>
            </a:extLst>
          </p:cNvPr>
          <p:cNvSpPr txBox="1"/>
          <p:nvPr/>
        </p:nvSpPr>
        <p:spPr>
          <a:xfrm>
            <a:off x="141891" y="599083"/>
            <a:ext cx="7299434" cy="283779"/>
          </a:xfrm>
          <a:prstGeom prst="rect">
            <a:avLst/>
          </a:prstGeom>
          <a:noFill/>
        </p:spPr>
        <p:txBody>
          <a:bodyPr wrap="square" rtlCol="0">
            <a:spAutoFit/>
          </a:bodyPr>
          <a:lstStyle/>
          <a:p>
            <a:r>
              <a:rPr lang="en-US" sz="1200" dirty="0">
                <a:hlinkClick r:id="rId2"/>
              </a:rPr>
              <a:t>https://towardsdatascience.com/6-ways-to-test-for-a-normal-distribution-which-one-to-use-9dcf47d8fa93</a:t>
            </a:r>
            <a:r>
              <a:rPr lang="en-US" sz="1200" dirty="0"/>
              <a:t> </a:t>
            </a:r>
          </a:p>
        </p:txBody>
      </p:sp>
      <p:sp>
        <p:nvSpPr>
          <p:cNvPr id="6" name="TextBox 5">
            <a:extLst>
              <a:ext uri="{FF2B5EF4-FFF2-40B4-BE49-F238E27FC236}">
                <a16:creationId xmlns:a16="http://schemas.microsoft.com/office/drawing/2014/main" id="{36F53E40-604B-9045-8818-7524B2DB57F1}"/>
              </a:ext>
            </a:extLst>
          </p:cNvPr>
          <p:cNvSpPr txBox="1"/>
          <p:nvPr/>
        </p:nvSpPr>
        <p:spPr>
          <a:xfrm>
            <a:off x="47294" y="882862"/>
            <a:ext cx="5281448" cy="4278094"/>
          </a:xfrm>
          <a:prstGeom prst="rect">
            <a:avLst/>
          </a:prstGeom>
          <a:noFill/>
        </p:spPr>
        <p:txBody>
          <a:bodyPr wrap="square" rtlCol="0">
            <a:spAutoFit/>
          </a:bodyPr>
          <a:lstStyle/>
          <a:p>
            <a:r>
              <a:rPr lang="en-US" dirty="0"/>
              <a:t>1. </a:t>
            </a:r>
            <a:r>
              <a:rPr lang="en-US" sz="1600" b="1" dirty="0">
                <a:solidFill>
                  <a:srgbClr val="0070C0"/>
                </a:solidFill>
              </a:rPr>
              <a:t>Histogram</a:t>
            </a:r>
            <a:r>
              <a:rPr lang="en-US" dirty="0"/>
              <a:t> (for a single variable).</a:t>
            </a:r>
          </a:p>
          <a:p>
            <a:pPr lvl="1"/>
            <a:r>
              <a:rPr lang="en-US" dirty="0"/>
              <a:t>       </a:t>
            </a:r>
            <a:r>
              <a:rPr lang="en-US" sz="1200" b="1" dirty="0" err="1">
                <a:solidFill>
                  <a:srgbClr val="0070C0"/>
                </a:solidFill>
                <a:latin typeface="Consolas" panose="020B0609020204030204" pitchFamily="49" charset="0"/>
                <a:cs typeface="Consolas" panose="020B0609020204030204" pitchFamily="49" charset="0"/>
              </a:rPr>
              <a:t>pdseries.hist</a:t>
            </a:r>
            <a:r>
              <a:rPr lang="en-US" sz="1200" b="1" dirty="0">
                <a:solidFill>
                  <a:srgbClr val="0070C0"/>
                </a:solidFill>
                <a:latin typeface="Consolas" panose="020B0609020204030204" pitchFamily="49" charset="0"/>
                <a:cs typeface="Consolas" panose="020B0609020204030204" pitchFamily="49" charset="0"/>
              </a:rPr>
              <a:t>()</a:t>
            </a:r>
          </a:p>
          <a:p>
            <a:endParaRPr lang="en-US" dirty="0"/>
          </a:p>
          <a:p>
            <a:endParaRPr lang="en-US" dirty="0"/>
          </a:p>
          <a:p>
            <a:endParaRPr lang="en-US" dirty="0"/>
          </a:p>
          <a:p>
            <a:r>
              <a:rPr lang="en-US" dirty="0"/>
              <a:t>2. </a:t>
            </a:r>
            <a:r>
              <a:rPr lang="en-US" sz="1600" b="1" dirty="0">
                <a:solidFill>
                  <a:srgbClr val="0070C0"/>
                </a:solidFill>
              </a:rPr>
              <a:t>Box Plot</a:t>
            </a:r>
            <a:r>
              <a:rPr lang="en-US" dirty="0"/>
              <a:t> (multiple variables), a </a:t>
            </a:r>
          </a:p>
          <a:p>
            <a:r>
              <a:rPr lang="en-US" dirty="0"/>
              <a:t>     5-number summary of a variable: </a:t>
            </a:r>
          </a:p>
          <a:p>
            <a:r>
              <a:rPr lang="en-US" dirty="0"/>
              <a:t>     min, first quartile, median, third quartile, max.</a:t>
            </a:r>
          </a:p>
          <a:p>
            <a:r>
              <a:rPr lang="en-US" dirty="0"/>
              <a:t>       </a:t>
            </a:r>
            <a:r>
              <a:rPr lang="en-US" sz="1200" b="1" dirty="0" err="1">
                <a:solidFill>
                  <a:srgbClr val="0070C0"/>
                </a:solidFill>
                <a:latin typeface="Consolas" panose="020B0609020204030204" pitchFamily="49" charset="0"/>
                <a:cs typeface="Consolas" panose="020B0609020204030204" pitchFamily="49" charset="0"/>
              </a:rPr>
              <a:t>pdseries.plot</a:t>
            </a:r>
            <a:r>
              <a:rPr lang="en-US" sz="1200" b="1" dirty="0">
                <a:solidFill>
                  <a:srgbClr val="0070C0"/>
                </a:solidFill>
                <a:latin typeface="Consolas" panose="020B0609020204030204" pitchFamily="49" charset="0"/>
                <a:cs typeface="Consolas" panose="020B0609020204030204" pitchFamily="49" charset="0"/>
              </a:rPr>
              <a:t>(kind = 'box')</a:t>
            </a:r>
          </a:p>
          <a:p>
            <a:endParaRPr lang="en-US" dirty="0"/>
          </a:p>
          <a:p>
            <a:endParaRPr lang="en-US" dirty="0"/>
          </a:p>
          <a:p>
            <a:r>
              <a:rPr lang="en-US" dirty="0"/>
              <a:t>3. </a:t>
            </a:r>
            <a:r>
              <a:rPr lang="en-US" sz="1600" b="1" dirty="0">
                <a:solidFill>
                  <a:srgbClr val="0070C0"/>
                </a:solidFill>
              </a:rPr>
              <a:t>QQ Plot </a:t>
            </a:r>
            <a:r>
              <a:rPr lang="en-US" dirty="0"/>
              <a:t>(Quantile vs Quantile) – plots theoretical </a:t>
            </a:r>
            <a:br>
              <a:rPr lang="en-US" dirty="0"/>
            </a:br>
            <a:r>
              <a:rPr lang="en-US" dirty="0"/>
              <a:t>quantiles against the actual quantiles of our variable.</a:t>
            </a:r>
          </a:p>
          <a:p>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statsmodels.api</a:t>
            </a:r>
            <a:r>
              <a:rPr lang="en-US" sz="1200" b="1" dirty="0">
                <a:solidFill>
                  <a:srgbClr val="0070C0"/>
                </a:solidFill>
                <a:latin typeface="Consolas" panose="020B0609020204030204" pitchFamily="49" charset="0"/>
                <a:cs typeface="Consolas" panose="020B0609020204030204" pitchFamily="49" charset="0"/>
              </a:rPr>
              <a:t> as </a:t>
            </a:r>
            <a:r>
              <a:rPr lang="en-US" sz="1200" b="1" dirty="0" err="1">
                <a:solidFill>
                  <a:srgbClr val="0070C0"/>
                </a:solidFill>
                <a:latin typeface="Consolas" panose="020B0609020204030204" pitchFamily="49" charset="0"/>
                <a:cs typeface="Consolas" panose="020B0609020204030204" pitchFamily="49" charset="0"/>
              </a:rPr>
              <a:t>sm</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norm</a:t>
            </a:r>
          </a:p>
          <a:p>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pylab</a:t>
            </a:r>
            <a:endParaRPr lang="en-US" sz="1200" b="1" dirty="0">
              <a:solidFill>
                <a:srgbClr val="0070C0"/>
              </a:solidFill>
              <a:latin typeface="Consolas" panose="020B0609020204030204" pitchFamily="49" charset="0"/>
              <a:cs typeface="Consolas" panose="020B0609020204030204" pitchFamily="49" charset="0"/>
            </a:endParaRPr>
          </a:p>
          <a:p>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norm.rvs</a:t>
            </a:r>
            <a:r>
              <a:rPr lang="en-US" sz="1200" b="1" dirty="0">
                <a:solidFill>
                  <a:srgbClr val="0070C0"/>
                </a:solidFill>
                <a:latin typeface="Consolas" panose="020B0609020204030204" pitchFamily="49" charset="0"/>
                <a:cs typeface="Consolas" panose="020B0609020204030204" pitchFamily="49" charset="0"/>
              </a:rPr>
              <a:t>(size=1000)</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sm.qqplot</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line='45')</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pylab.show</a:t>
            </a:r>
            <a:r>
              <a:rPr lang="en-US" sz="1200" b="1" dirty="0">
                <a:solidFill>
                  <a:srgbClr val="0070C0"/>
                </a:solidFill>
                <a:latin typeface="Consolas" panose="020B0609020204030204" pitchFamily="49" charset="0"/>
                <a:cs typeface="Consolas" panose="020B0609020204030204" pitchFamily="49" charset="0"/>
              </a:rPr>
              <a:t>()</a:t>
            </a:r>
            <a:endParaRPr lang="en-US" sz="1200" b="1" dirty="0"/>
          </a:p>
        </p:txBody>
      </p:sp>
      <p:pic>
        <p:nvPicPr>
          <p:cNvPr id="7" name="Picture 6">
            <a:extLst>
              <a:ext uri="{FF2B5EF4-FFF2-40B4-BE49-F238E27FC236}">
                <a16:creationId xmlns:a16="http://schemas.microsoft.com/office/drawing/2014/main" id="{FD165D38-0760-EC41-9619-D81C6F1A86D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46905" y="1027054"/>
            <a:ext cx="1834538" cy="941729"/>
          </a:xfrm>
          <a:prstGeom prst="rect">
            <a:avLst/>
          </a:prstGeom>
        </p:spPr>
      </p:pic>
      <p:pic>
        <p:nvPicPr>
          <p:cNvPr id="8" name="Picture 7">
            <a:extLst>
              <a:ext uri="{FF2B5EF4-FFF2-40B4-BE49-F238E27FC236}">
                <a16:creationId xmlns:a16="http://schemas.microsoft.com/office/drawing/2014/main" id="{DEB33379-5E0F-324E-8464-ABAFEB2DB23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32577" y="2101528"/>
            <a:ext cx="3322193" cy="1187936"/>
          </a:xfrm>
          <a:prstGeom prst="rect">
            <a:avLst/>
          </a:prstGeom>
        </p:spPr>
      </p:pic>
      <p:pic>
        <p:nvPicPr>
          <p:cNvPr id="9" name="Picture 8">
            <a:extLst>
              <a:ext uri="{FF2B5EF4-FFF2-40B4-BE49-F238E27FC236}">
                <a16:creationId xmlns:a16="http://schemas.microsoft.com/office/drawing/2014/main" id="{F2DB3D09-0820-CF48-A15B-C3CDD90876F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30858" y="5094629"/>
            <a:ext cx="6242116" cy="1744122"/>
          </a:xfrm>
          <a:prstGeom prst="rect">
            <a:avLst/>
          </a:prstGeom>
        </p:spPr>
      </p:pic>
      <p:sp>
        <p:nvSpPr>
          <p:cNvPr id="11" name="TextBox 10">
            <a:extLst>
              <a:ext uri="{FF2B5EF4-FFF2-40B4-BE49-F238E27FC236}">
                <a16:creationId xmlns:a16="http://schemas.microsoft.com/office/drawing/2014/main" id="{25C1F6C7-AC2B-8849-BD49-00F8812B77CF}"/>
              </a:ext>
            </a:extLst>
          </p:cNvPr>
          <p:cNvSpPr txBox="1"/>
          <p:nvPr/>
        </p:nvSpPr>
        <p:spPr>
          <a:xfrm>
            <a:off x="7377917" y="370246"/>
            <a:ext cx="4814083" cy="5878532"/>
          </a:xfrm>
          <a:prstGeom prst="rect">
            <a:avLst/>
          </a:prstGeom>
          <a:noFill/>
        </p:spPr>
        <p:txBody>
          <a:bodyPr wrap="square" rtlCol="0">
            <a:spAutoFit/>
          </a:bodyPr>
          <a:lstStyle/>
          <a:p>
            <a:r>
              <a:rPr lang="en-US" dirty="0"/>
              <a:t>4. </a:t>
            </a:r>
            <a:r>
              <a:rPr lang="en-US" sz="1800" b="1" dirty="0">
                <a:solidFill>
                  <a:srgbClr val="0070C0"/>
                </a:solidFill>
              </a:rPr>
              <a:t>Kolmogorov Smirnov Test </a:t>
            </a:r>
            <a:r>
              <a:rPr lang="en-US" dirty="0"/>
              <a:t>(KS Test) – not very good.</a:t>
            </a: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kstest</a:t>
            </a:r>
            <a:r>
              <a:rPr lang="en-US" sz="1200" b="1" dirty="0">
                <a:solidFill>
                  <a:srgbClr val="0070C0"/>
                </a:solidFill>
                <a:latin typeface="Consolas" panose="020B0609020204030204" pitchFamily="49" charset="0"/>
                <a:cs typeface="Consolas" panose="020B0609020204030204" pitchFamily="49" charset="0"/>
              </a:rPr>
              <a:t>, norm</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norm.rvs</a:t>
            </a:r>
            <a:r>
              <a:rPr lang="en-US" sz="1200" b="1" dirty="0">
                <a:solidFill>
                  <a:srgbClr val="0070C0"/>
                </a:solidFill>
                <a:latin typeface="Consolas" panose="020B0609020204030204" pitchFamily="49" charset="0"/>
                <a:cs typeface="Consolas" panose="020B0609020204030204" pitchFamily="49" charset="0"/>
              </a:rPr>
              <a:t>(size=1000)</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ks_statistic</a:t>
            </a:r>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p_value</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kstest</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'norm')</a:t>
            </a:r>
          </a:p>
          <a:p>
            <a:r>
              <a:rPr lang="en-US" sz="1200" b="1" dirty="0">
                <a:solidFill>
                  <a:srgbClr val="0070C0"/>
                </a:solidFill>
                <a:latin typeface="Consolas" panose="020B0609020204030204" pitchFamily="49" charset="0"/>
                <a:cs typeface="Consolas" panose="020B0609020204030204" pitchFamily="49" charset="0"/>
              </a:rPr>
              <a:t>    print(</a:t>
            </a:r>
            <a:r>
              <a:rPr lang="en-US" sz="1200" b="1" dirty="0" err="1">
                <a:solidFill>
                  <a:srgbClr val="0070C0"/>
                </a:solidFill>
                <a:latin typeface="Consolas" panose="020B0609020204030204" pitchFamily="49" charset="0"/>
                <a:cs typeface="Consolas" panose="020B0609020204030204" pitchFamily="49" charset="0"/>
              </a:rPr>
              <a:t>ks_statistic</a:t>
            </a:r>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p_value</a:t>
            </a:r>
            <a:r>
              <a:rPr lang="en-US" sz="1200" b="1" dirty="0">
                <a:solidFill>
                  <a:srgbClr val="0070C0"/>
                </a:solidFill>
                <a:latin typeface="Consolas" panose="020B0609020204030204" pitchFamily="49" charset="0"/>
                <a:cs typeface="Consolas" panose="020B0609020204030204" pitchFamily="49" charset="0"/>
              </a:rPr>
              <a:t>)</a:t>
            </a:r>
          </a:p>
          <a:p>
            <a:endParaRPr lang="en-US" dirty="0"/>
          </a:p>
          <a:p>
            <a:endParaRPr lang="en-US" dirty="0"/>
          </a:p>
          <a:p>
            <a:endParaRPr lang="en-US" dirty="0"/>
          </a:p>
          <a:p>
            <a:r>
              <a:rPr lang="en-US" dirty="0"/>
              <a:t>5. </a:t>
            </a:r>
            <a:r>
              <a:rPr lang="en-US" sz="1600" b="1" dirty="0">
                <a:solidFill>
                  <a:srgbClr val="0070C0"/>
                </a:solidFill>
              </a:rPr>
              <a:t>Lilliefors test </a:t>
            </a:r>
            <a:r>
              <a:rPr lang="en-US" dirty="0"/>
              <a:t>- like KS test, but the mean and variance are estimated rather than pre-specified by user.</a:t>
            </a:r>
          </a:p>
          <a:p>
            <a:r>
              <a:rPr lang="en-US" dirty="0"/>
              <a:t>Not very good test.</a:t>
            </a: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norm</a:t>
            </a: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statsmodels.stats.diagnostic</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lilliefors</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norm.rvs</a:t>
            </a:r>
            <a:r>
              <a:rPr lang="en-US" sz="1200" b="1" dirty="0">
                <a:solidFill>
                  <a:srgbClr val="0070C0"/>
                </a:solidFill>
                <a:latin typeface="Consolas" panose="020B0609020204030204" pitchFamily="49" charset="0"/>
                <a:cs typeface="Consolas" panose="020B0609020204030204" pitchFamily="49" charset="0"/>
              </a:rPr>
              <a:t>(size=500)</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lilliefors</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a:t>
            </a:r>
          </a:p>
          <a:p>
            <a:endParaRPr lang="en-US" dirty="0"/>
          </a:p>
          <a:p>
            <a:endParaRPr lang="en-US" dirty="0"/>
          </a:p>
          <a:p>
            <a:endParaRPr lang="en-US" dirty="0"/>
          </a:p>
          <a:p>
            <a:r>
              <a:rPr lang="en-US" dirty="0"/>
              <a:t>6. </a:t>
            </a:r>
            <a:r>
              <a:rPr lang="en-US" sz="1600" b="1" dirty="0">
                <a:solidFill>
                  <a:srgbClr val="0070C0"/>
                </a:solidFill>
              </a:rPr>
              <a:t>Shapiro Wilk test </a:t>
            </a:r>
            <a:r>
              <a:rPr lang="en-US" dirty="0"/>
              <a:t>- the most powerful test when testing for a normal distribution. </a:t>
            </a:r>
          </a:p>
          <a:p>
            <a:r>
              <a:rPr lang="en-US" dirty="0"/>
              <a:t>If the P-Value of the Shapiro Wilk Test is larger than 0.05, we assume a normal distribution.</a:t>
            </a: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norm</a:t>
            </a:r>
          </a:p>
          <a:p>
            <a:r>
              <a:rPr lang="en-US" sz="1200" b="1" dirty="0">
                <a:solidFill>
                  <a:srgbClr val="0070C0"/>
                </a:solidFill>
                <a:latin typeface="Consolas" panose="020B0609020204030204" pitchFamily="49" charset="0"/>
                <a:cs typeface="Consolas" panose="020B0609020204030204" pitchFamily="49" charset="0"/>
              </a:rPr>
              <a:t>    from </a:t>
            </a:r>
            <a:r>
              <a:rPr lang="en-US" sz="1200" b="1" dirty="0" err="1">
                <a:solidFill>
                  <a:srgbClr val="0070C0"/>
                </a:solidFill>
                <a:latin typeface="Consolas" panose="020B0609020204030204" pitchFamily="49" charset="0"/>
                <a:cs typeface="Consolas" panose="020B0609020204030204" pitchFamily="49" charset="0"/>
              </a:rPr>
              <a:t>statsmodels.stats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shapiro</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norm.rvs</a:t>
            </a:r>
            <a:r>
              <a:rPr lang="en-US" sz="1200" b="1" dirty="0">
                <a:solidFill>
                  <a:srgbClr val="0070C0"/>
                </a:solidFill>
                <a:latin typeface="Consolas" panose="020B0609020204030204" pitchFamily="49" charset="0"/>
                <a:cs typeface="Consolas" panose="020B0609020204030204" pitchFamily="49" charset="0"/>
              </a:rPr>
              <a:t>(size=500)</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shapiro</a:t>
            </a:r>
            <a:r>
              <a:rPr lang="en-US" sz="1200" b="1" dirty="0">
                <a:solidFill>
                  <a:srgbClr val="0070C0"/>
                </a:solidFill>
                <a:latin typeface="Consolas" panose="020B0609020204030204" pitchFamily="49" charset="0"/>
                <a:cs typeface="Consolas" panose="020B0609020204030204" pitchFamily="49" charset="0"/>
              </a:rPr>
              <a:t>(</a:t>
            </a:r>
            <a:r>
              <a:rPr lang="en-US" sz="1200" b="1" dirty="0" err="1">
                <a:solidFill>
                  <a:srgbClr val="0070C0"/>
                </a:solidFill>
                <a:latin typeface="Consolas" panose="020B0609020204030204" pitchFamily="49" charset="0"/>
                <a:cs typeface="Consolas" panose="020B0609020204030204" pitchFamily="49" charset="0"/>
              </a:rPr>
              <a:t>my_data</a:t>
            </a:r>
            <a:r>
              <a:rPr lang="en-US" sz="1200" b="1" dirty="0">
                <a:solidFill>
                  <a:srgbClr val="0070C0"/>
                </a:solidFill>
                <a:latin typeface="Consolas" panose="020B0609020204030204" pitchFamily="49" charset="0"/>
                <a:cs typeface="Consolas" panose="020B0609020204030204" pitchFamily="49" charset="0"/>
              </a:rPr>
              <a:t>)</a:t>
            </a:r>
          </a:p>
          <a:p>
            <a:endParaRPr lang="en-US" dirty="0"/>
          </a:p>
        </p:txBody>
      </p:sp>
      <p:cxnSp>
        <p:nvCxnSpPr>
          <p:cNvPr id="13" name="Straight Connector 12">
            <a:extLst>
              <a:ext uri="{FF2B5EF4-FFF2-40B4-BE49-F238E27FC236}">
                <a16:creationId xmlns:a16="http://schemas.microsoft.com/office/drawing/2014/main" id="{A79F2BCF-3544-DD4B-BAA6-FA8439BEEC8E}"/>
              </a:ext>
            </a:extLst>
          </p:cNvPr>
          <p:cNvCxnSpPr/>
          <p:nvPr/>
        </p:nvCxnSpPr>
        <p:spPr>
          <a:xfrm flipV="1">
            <a:off x="7362485" y="308903"/>
            <a:ext cx="0" cy="62653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18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522214-AFB0-564D-BD12-807FFF240F75}"/>
              </a:ext>
            </a:extLst>
          </p:cNvPr>
          <p:cNvSpPr txBox="1"/>
          <p:nvPr/>
        </p:nvSpPr>
        <p:spPr>
          <a:xfrm>
            <a:off x="0" y="0"/>
            <a:ext cx="2479729" cy="523220"/>
          </a:xfrm>
          <a:prstGeom prst="rect">
            <a:avLst/>
          </a:prstGeom>
          <a:noFill/>
        </p:spPr>
        <p:txBody>
          <a:bodyPr wrap="square" rtlCol="0">
            <a:spAutoFit/>
          </a:bodyPr>
          <a:lstStyle/>
          <a:p>
            <a:r>
              <a:rPr lang="en-US" sz="2800" b="1" dirty="0"/>
              <a:t>Missing Data</a:t>
            </a:r>
          </a:p>
        </p:txBody>
      </p:sp>
      <p:sp>
        <p:nvSpPr>
          <p:cNvPr id="5" name="TextBox 4">
            <a:extLst>
              <a:ext uri="{FF2B5EF4-FFF2-40B4-BE49-F238E27FC236}">
                <a16:creationId xmlns:a16="http://schemas.microsoft.com/office/drawing/2014/main" id="{27AD4B69-569A-F246-A34E-1020E0FF5EF7}"/>
              </a:ext>
            </a:extLst>
          </p:cNvPr>
          <p:cNvSpPr txBox="1"/>
          <p:nvPr/>
        </p:nvSpPr>
        <p:spPr>
          <a:xfrm>
            <a:off x="0" y="523220"/>
            <a:ext cx="6435524" cy="5201424"/>
          </a:xfrm>
          <a:prstGeom prst="rect">
            <a:avLst/>
          </a:prstGeom>
          <a:noFill/>
        </p:spPr>
        <p:txBody>
          <a:bodyPr wrap="square" rtlCol="0">
            <a:spAutoFit/>
          </a:bodyPr>
          <a:lstStyle/>
          <a:p>
            <a:r>
              <a:rPr lang="en-US" dirty="0"/>
              <a:t>How you train a model if some data is missing (Linear Regression, Logistic Regression, Random Forest, </a:t>
            </a:r>
            <a:r>
              <a:rPr lang="en-US" dirty="0" err="1"/>
              <a:t>XGBoost</a:t>
            </a:r>
            <a:r>
              <a:rPr lang="en-US" dirty="0"/>
              <a:t>, etc.) ?</a:t>
            </a:r>
          </a:p>
          <a:p>
            <a:endParaRPr lang="en-US" dirty="0"/>
          </a:p>
          <a:p>
            <a:r>
              <a:rPr lang="en-US" dirty="0"/>
              <a:t>Three types of missing data:</a:t>
            </a:r>
          </a:p>
          <a:p>
            <a:pPr marL="285750" indent="-285750">
              <a:buFont typeface="Arial" panose="020B0604020202020204" pitchFamily="34" charset="0"/>
              <a:buChar char="•"/>
            </a:pPr>
            <a:r>
              <a:rPr lang="en-US" dirty="0"/>
              <a:t>Missing Completely at Random, no pattern.</a:t>
            </a:r>
          </a:p>
          <a:p>
            <a:pPr marL="285750" indent="-285750">
              <a:buFont typeface="Arial" panose="020B0604020202020204" pitchFamily="34" charset="0"/>
              <a:buChar char="•"/>
            </a:pPr>
            <a:r>
              <a:rPr lang="en-US" dirty="0"/>
              <a:t>Missing at Random, there is a pattern in the missing data but not on your primary dependent variables.</a:t>
            </a:r>
          </a:p>
          <a:p>
            <a:pPr marL="285750" indent="-285750">
              <a:buFont typeface="Arial" panose="020B0604020202020204" pitchFamily="34" charset="0"/>
              <a:buChar char="•"/>
            </a:pPr>
            <a:r>
              <a:rPr lang="en-US" dirty="0"/>
              <a:t>Missing Not at Random - there is a pattern in the missing data that affect your primary dependent variables. </a:t>
            </a:r>
            <a:r>
              <a:rPr lang="en-US" b="1" dirty="0">
                <a:solidFill>
                  <a:srgbClr val="FF0000"/>
                </a:solidFill>
              </a:rPr>
              <a:t>Example – survivorship bias</a:t>
            </a:r>
            <a:r>
              <a:rPr lang="en-US" dirty="0"/>
              <a:t>. </a:t>
            </a:r>
            <a:r>
              <a:rPr lang="en-US" dirty="0">
                <a:solidFill>
                  <a:srgbClr val="0070C0"/>
                </a:solidFill>
              </a:rPr>
              <a:t>Another example (similar) - lower-income participants are less likely to respond and thus affect your conclusions about income and likelihood to recommend.</a:t>
            </a:r>
          </a:p>
          <a:p>
            <a:endParaRPr lang="en-US" dirty="0"/>
          </a:p>
          <a:p>
            <a:r>
              <a:rPr lang="en-US" sz="2400" b="1" dirty="0"/>
              <a:t>Seven things you can do:</a:t>
            </a:r>
          </a:p>
          <a:p>
            <a:endParaRPr lang="en-US" dirty="0"/>
          </a:p>
          <a:p>
            <a:pPr marL="342900" indent="-342900">
              <a:buFont typeface="+mj-lt"/>
              <a:buAutoNum type="arabicPeriod"/>
            </a:pPr>
            <a:r>
              <a:rPr lang="en-US" dirty="0"/>
              <a:t>Remove rows with missing data – and check how this will change the model. </a:t>
            </a:r>
          </a:p>
          <a:p>
            <a:pPr marL="342900" indent="-342900">
              <a:buFont typeface="+mj-lt"/>
              <a:buAutoNum type="arabicPeriod"/>
            </a:pPr>
            <a:r>
              <a:rPr lang="en-US" dirty="0"/>
              <a:t>Recover the values (contact participants again, ... )</a:t>
            </a:r>
          </a:p>
          <a:p>
            <a:pPr marL="342900" indent="-342900">
              <a:buFont typeface="+mj-lt"/>
              <a:buAutoNum type="arabicPeriod"/>
            </a:pPr>
            <a:r>
              <a:rPr lang="en-US" dirty="0"/>
              <a:t>Educated guess – infer the value</a:t>
            </a:r>
          </a:p>
          <a:p>
            <a:pPr marL="342900" indent="-342900">
              <a:buFont typeface="+mj-lt"/>
              <a:buAutoNum type="arabicPeriod"/>
            </a:pPr>
            <a:r>
              <a:rPr lang="en-US" dirty="0"/>
              <a:t>Substitute with the average value</a:t>
            </a:r>
          </a:p>
          <a:p>
            <a:pPr marL="342900" indent="-342900">
              <a:buFont typeface="+mj-lt"/>
              <a:buAutoNum type="arabicPeriod"/>
            </a:pPr>
            <a:r>
              <a:rPr lang="en-US" dirty="0"/>
              <a:t>Substitute by a mid-point or by most-frequent value</a:t>
            </a:r>
          </a:p>
          <a:p>
            <a:pPr marL="342900" indent="-342900">
              <a:buFont typeface="+mj-lt"/>
              <a:buAutoNum type="arabicPeriod"/>
            </a:pPr>
            <a:r>
              <a:rPr lang="en-US" dirty="0"/>
              <a:t>Regression substitution - predicts the missing value from the other values.</a:t>
            </a:r>
          </a:p>
          <a:p>
            <a:pPr marL="342900" indent="-342900">
              <a:buFont typeface="+mj-lt"/>
              <a:buAutoNum type="arabicPeriod"/>
            </a:pPr>
            <a:r>
              <a:rPr lang="en-US" dirty="0"/>
              <a:t>Multiple Imputation – uses correlations, creates multiple simulated datasets (by adding random noise) – and then averages these datasets.</a:t>
            </a:r>
          </a:p>
        </p:txBody>
      </p:sp>
      <p:sp>
        <p:nvSpPr>
          <p:cNvPr id="6" name="TextBox 5">
            <a:extLst>
              <a:ext uri="{FF2B5EF4-FFF2-40B4-BE49-F238E27FC236}">
                <a16:creationId xmlns:a16="http://schemas.microsoft.com/office/drawing/2014/main" id="{ABE17008-BD35-1640-83F5-BAFC8DF372A6}"/>
              </a:ext>
            </a:extLst>
          </p:cNvPr>
          <p:cNvSpPr txBox="1"/>
          <p:nvPr/>
        </p:nvSpPr>
        <p:spPr>
          <a:xfrm>
            <a:off x="6551269" y="276316"/>
            <a:ext cx="5521124" cy="6340197"/>
          </a:xfrm>
          <a:prstGeom prst="rect">
            <a:avLst/>
          </a:prstGeom>
          <a:noFill/>
        </p:spPr>
        <p:txBody>
          <a:bodyPr wrap="square" rtlCol="0">
            <a:spAutoFit/>
          </a:bodyPr>
          <a:lstStyle/>
          <a:p>
            <a:r>
              <a:rPr lang="en-US" dirty="0"/>
              <a:t>How Ensemble Tree Algorithms handle missing data?</a:t>
            </a:r>
          </a:p>
          <a:p>
            <a:endParaRPr lang="en-US" dirty="0"/>
          </a:p>
          <a:p>
            <a:r>
              <a:rPr lang="en-US" dirty="0"/>
              <a:t>Here is a great discussion:</a:t>
            </a:r>
          </a:p>
          <a:p>
            <a:r>
              <a:rPr lang="en-US" dirty="0">
                <a:hlinkClick r:id="rId2"/>
              </a:rPr>
              <a:t>https://stats.stackexchange.com/questions/98953/why-doesnt-random-forest-handle-missing-values-in-predictors</a:t>
            </a:r>
            <a:r>
              <a:rPr lang="en-US" dirty="0"/>
              <a:t> </a:t>
            </a:r>
          </a:p>
          <a:p>
            <a:endParaRPr lang="en-US" dirty="0"/>
          </a:p>
          <a:p>
            <a:r>
              <a:rPr lang="en-US" dirty="0"/>
              <a:t>Both Random Forests (RF) and Gradient Boosting Trees (GB) may use CART trees. RF trees may handle missing values in two ways.</a:t>
            </a:r>
          </a:p>
          <a:p>
            <a:endParaRPr lang="en-US" dirty="0"/>
          </a:p>
          <a:p>
            <a:pPr marL="342900" indent="-342900">
              <a:buFont typeface="+mj-lt"/>
              <a:buAutoNum type="arabicPeriod"/>
            </a:pPr>
            <a:r>
              <a:rPr lang="en-US" dirty="0"/>
              <a:t>Quick and dirty: it just fills in the median value for continuous variables, or the most common non-missing value by class.</a:t>
            </a:r>
          </a:p>
          <a:p>
            <a:pPr marL="342900" indent="-342900">
              <a:buFont typeface="+mj-lt"/>
              <a:buAutoNum type="arabicPeriod"/>
            </a:pPr>
            <a:r>
              <a:rPr lang="en-US" dirty="0"/>
              <a:t>The second method fills in missing values, then runs RF, then for missing continuous values, RF computes the proximity-weighted average of the missing values. Then this process is repeated several times. Then the model is trained a final time using the RF-imputed data set.</a:t>
            </a:r>
          </a:p>
          <a:p>
            <a:endParaRPr lang="en-US" dirty="0"/>
          </a:p>
          <a:p>
            <a:r>
              <a:rPr lang="en-US" dirty="0"/>
              <a:t>Trees can be built using using C4.5 (Quinlan) instead of CART. </a:t>
            </a:r>
          </a:p>
          <a:p>
            <a:r>
              <a:rPr lang="en-US" dirty="0"/>
              <a:t>In C4.5 the missing values are not replaced on data set. Instead, the impurity function computed takes into account the missing values by penalizing the impurity score with the ration of missing values. On test set the evaluation in a node which has a test with missing value, the prediction is built for each child node and aggregated later (by weighting).</a:t>
            </a:r>
          </a:p>
          <a:p>
            <a:endParaRPr lang="en-US" dirty="0"/>
          </a:p>
          <a:p>
            <a:r>
              <a:rPr lang="en-US" dirty="0"/>
              <a:t>Recursive partitioning uses surrogate splits based on non-missing predictors that are correlated with the predictor possessing the missing value for an observation. It would seem possible in theory for RFs to be implemented that use the same idea.</a:t>
            </a:r>
          </a:p>
        </p:txBody>
      </p:sp>
      <p:cxnSp>
        <p:nvCxnSpPr>
          <p:cNvPr id="9" name="Straight Connector 8">
            <a:extLst>
              <a:ext uri="{FF2B5EF4-FFF2-40B4-BE49-F238E27FC236}">
                <a16:creationId xmlns:a16="http://schemas.microsoft.com/office/drawing/2014/main" id="{F2B7B4E4-167E-6C4C-838E-CDBD1E4B3DCD}"/>
              </a:ext>
            </a:extLst>
          </p:cNvPr>
          <p:cNvCxnSpPr>
            <a:cxnSpLocks/>
          </p:cNvCxnSpPr>
          <p:nvPr/>
        </p:nvCxnSpPr>
        <p:spPr>
          <a:xfrm flipV="1">
            <a:off x="6470246" y="243071"/>
            <a:ext cx="0" cy="641237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1281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2849</TotalTime>
  <Words>2429</Words>
  <Application>Microsoft Macintosh PowerPoint</Application>
  <PresentationFormat>Widescreen</PresentationFormat>
  <Paragraphs>225</Paragraphs>
  <Slides>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279</cp:revision>
  <cp:lastPrinted>2020-09-21T17:22:59Z</cp:lastPrinted>
  <dcterms:modified xsi:type="dcterms:W3CDTF">2020-10-16T22:33:13Z</dcterms:modified>
</cp:coreProperties>
</file>