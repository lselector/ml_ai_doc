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316" r:id="rId2"/>
    <p:sldId id="258" r:id="rId3"/>
    <p:sldId id="259" r:id="rId4"/>
    <p:sldId id="314" r:id="rId5"/>
    <p:sldId id="315" r:id="rId6"/>
    <p:sldId id="313" r:id="rId7"/>
    <p:sldId id="294"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43"/>
    <p:restoredTop sz="92200"/>
  </p:normalViewPr>
  <p:slideViewPr>
    <p:cSldViewPr snapToGrid="0" snapToObjects="1">
      <p:cViewPr varScale="1">
        <p:scale>
          <a:sx n="84" d="100"/>
          <a:sy n="84" d="100"/>
        </p:scale>
        <p:origin x="216"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5.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tiff"/><Relationship Id="rId4" Type="http://schemas.openxmlformats.org/officeDocument/2006/relationships/image" Target="../media/image2.tiff"/></Relationships>
</file>

<file path=ppt/slides/_rels/slide4.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2.xml"/><Relationship Id="rId6" Type="http://schemas.openxmlformats.org/officeDocument/2006/relationships/image" Target="../media/image13.tiff"/><Relationship Id="rId5" Type="http://schemas.openxmlformats.org/officeDocument/2006/relationships/image" Target="../media/image12.tiff"/><Relationship Id="rId4" Type="http://schemas.openxmlformats.org/officeDocument/2006/relationships/image" Target="../media/image11.tif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0" y="523220"/>
            <a:ext cx="5791201" cy="4185761"/>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Step1: Formulate hypotheses – usually at least two - the main one (usually called "Null Hypothesis") and an alternative. </a:t>
            </a:r>
          </a:p>
          <a:p>
            <a:endParaRPr lang="en-US" dirty="0"/>
          </a:p>
          <a:p>
            <a:r>
              <a:rPr lang="en-US" dirty="0"/>
              <a:t>Step2: 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Make a decision.</a:t>
            </a: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1"/>
            <a:ext cx="6523500" cy="55868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1" y="728871"/>
            <a:ext cx="5367130" cy="304922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endParaRPr lang="en-US"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in 10 tosses (assuming the coin is fair).</a:t>
            </a:r>
          </a:p>
          <a:p>
            <a:pPr lvl="0"/>
            <a:r>
              <a:rPr lang="en-US" dirty="0">
                <a:latin typeface="Calibri"/>
                <a:ea typeface="Calibri"/>
                <a:cs typeface="Calibri"/>
                <a:sym typeface="Calibri"/>
              </a:rPr>
              <a:t>Note that the number of heads follows a binomial distribution </a:t>
            </a:r>
          </a:p>
          <a:p>
            <a:pPr lvl="0"/>
            <a:r>
              <a:rPr lang="en-US" dirty="0">
                <a:latin typeface="Calibri"/>
                <a:ea typeface="Calibri"/>
                <a:cs typeface="Calibri"/>
                <a:sym typeface="Calibri"/>
              </a:rPr>
              <a:t>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670547" y="3041496"/>
            <a:ext cx="711200" cy="736600"/>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50767" y="1868560"/>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685723" y="205411"/>
            <a:ext cx="5367130" cy="1928189"/>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p>
          <a:p>
            <a:pPr lvl="0"/>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685723" y="2640620"/>
            <a:ext cx="5367130" cy="801753"/>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So the standard error of estimating x will be sqrt(np(1-p)).</a:t>
            </a:r>
          </a:p>
          <a:p>
            <a:pPr lvl="0"/>
            <a:r>
              <a:rPr lang="en-US" dirty="0">
                <a:latin typeface="Calibri"/>
                <a:ea typeface="Calibri"/>
                <a:cs typeface="Calibri"/>
                <a:sym typeface="Calibri"/>
              </a:rPr>
              <a:t>Note that it has max value when p=0.5.</a:t>
            </a:r>
          </a:p>
          <a:p>
            <a:pPr lvl="0"/>
            <a:r>
              <a:rPr lang="en-US" dirty="0">
                <a:latin typeface="Calibri"/>
                <a:ea typeface="Calibri"/>
                <a:cs typeface="Calibri"/>
                <a:sym typeface="Calibri"/>
              </a:rPr>
              <a:t>So lets use the upper estimate of error of (x/n) as:</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685723" y="3778096"/>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798076" y="4074337"/>
            <a:ext cx="1943100" cy="723900"/>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685722" y="4749764"/>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756936" y="4784985"/>
            <a:ext cx="1155700" cy="723900"/>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516224"/>
            <a:ext cx="5082208" cy="738664"/>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9"/>
            <a:ext cx="6172200" cy="4866862"/>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3"/>
            <a:ext cx="5913120" cy="4810539"/>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S = sqrt(0.9696) = 0.9847</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t-statistics = (0.2– 0) / (0.9847 / 10) = 2.031</a:t>
            </a:r>
          </a:p>
          <a:p>
            <a:pPr lvl="0"/>
            <a:endParaRPr lang="en-US" sz="1300" dirty="0">
              <a:latin typeface="Calibri"/>
              <a:ea typeface="Calibri"/>
              <a:cs typeface="Calibri"/>
              <a:sym typeface="Calibri"/>
            </a:endParaRPr>
          </a:p>
          <a:p>
            <a:pPr lvl="0"/>
            <a:r>
              <a:rPr lang="en-US" sz="1300" b="1" dirty="0">
                <a:solidFill>
                  <a:srgbClr val="FF0000"/>
                </a:solidFill>
                <a:latin typeface="Calibri"/>
                <a:ea typeface="Calibri"/>
                <a:cs typeface="Calibri"/>
                <a:sym typeface="Calibri"/>
              </a:rPr>
              <a:t>????    compare with </a:t>
            </a:r>
            <a:r>
              <a:rPr lang="en-US" b="1" i="1" dirty="0">
                <a:solidFill>
                  <a:srgbClr val="FF0000"/>
                </a:solidFill>
                <a:highlight>
                  <a:srgbClr val="FFFFFF"/>
                </a:highlight>
                <a:latin typeface="Times New Roman"/>
                <a:ea typeface="Times New Roman"/>
                <a:cs typeface="Times New Roman"/>
                <a:sym typeface="Times New Roman"/>
              </a:rPr>
              <a:t>χ</a:t>
            </a:r>
            <a:r>
              <a:rPr lang="en-US" b="1" baseline="30000" dirty="0">
                <a:solidFill>
                  <a:srgbClr val="FF0000"/>
                </a:solidFill>
                <a:highlight>
                  <a:srgbClr val="FFFFFF"/>
                </a:highlight>
                <a:latin typeface="Times New Roman"/>
                <a:ea typeface="Times New Roman"/>
                <a:cs typeface="Times New Roman"/>
                <a:sym typeface="Times New Roman"/>
              </a:rPr>
              <a:t>2  </a:t>
            </a:r>
            <a:r>
              <a:rPr lang="en-US" b="1" dirty="0">
                <a:solidFill>
                  <a:srgbClr val="FF0000"/>
                </a:solidFill>
                <a:highlight>
                  <a:srgbClr val="FFFFFF"/>
                </a:highlight>
                <a:latin typeface="Times New Roman"/>
                <a:ea typeface="Times New Roman"/>
                <a:cs typeface="Times New Roman"/>
                <a:sym typeface="Times New Roman"/>
              </a:rPr>
              <a:t>and with binomial approaches ???</a:t>
            </a:r>
            <a:endParaRPr lang="en-US" sz="1300" b="1" dirty="0">
              <a:solidFill>
                <a:srgbClr val="FF0000"/>
              </a:solidFill>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77350" y="1714708"/>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77350" y="2367149"/>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93295" y="3221133"/>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93295" y="4077841"/>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827520" y="456245"/>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635550" y="1857495"/>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635550" y="2462653"/>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99436" y="3370681"/>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99437" y="4186526"/>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25429" y="5343165"/>
            <a:ext cx="5384771" cy="1408156"/>
          </a:xfrm>
          <a:prstGeom prst="rect">
            <a:avLst/>
          </a:prstGeom>
        </p:spPr>
      </p:pic>
    </p:spTree>
    <p:extLst>
      <p:ext uri="{BB962C8B-B14F-4D97-AF65-F5344CB8AC3E}">
        <p14:creationId xmlns:p14="http://schemas.microsoft.com/office/powerpoint/2010/main" val="588195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715279"/>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715279"/>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3001</TotalTime>
  <Words>1956</Words>
  <Application>Microsoft Macintosh PowerPoint</Application>
  <PresentationFormat>Widescreen</PresentationFormat>
  <Paragraphs>192</Paragraphs>
  <Slides>7</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294</cp:revision>
  <cp:lastPrinted>2020-09-21T17:22:59Z</cp:lastPrinted>
  <dcterms:modified xsi:type="dcterms:W3CDTF">2020-10-17T17:45:33Z</dcterms:modified>
</cp:coreProperties>
</file>