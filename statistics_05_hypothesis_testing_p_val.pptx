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316" r:id="rId2"/>
    <p:sldId id="258" r:id="rId3"/>
    <p:sldId id="259" r:id="rId4"/>
    <p:sldId id="317" r:id="rId5"/>
    <p:sldId id="318" r:id="rId6"/>
    <p:sldId id="314" r:id="rId7"/>
    <p:sldId id="315" r:id="rId8"/>
    <p:sldId id="313" r:id="rId9"/>
    <p:sldId id="294"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754"/>
    <p:restoredTop sz="95567"/>
  </p:normalViewPr>
  <p:slideViewPr>
    <p:cSldViewPr snapToGrid="0" snapToObjects="1">
      <p:cViewPr varScale="1">
        <p:scale>
          <a:sx n="115" d="100"/>
          <a:sy n="115" d="100"/>
        </p:scale>
        <p:origin x="27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7.tiff"/><Relationship Id="rId3" Type="http://schemas.openxmlformats.org/officeDocument/2006/relationships/hyperlink" Target="https://en.wikipedia.org/wiki/Checking_whether_a_coin_is_fair" TargetMode="External"/><Relationship Id="rId7" Type="http://schemas.openxmlformats.org/officeDocument/2006/relationships/image" Target="../media/image6.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image" Target="../media/image3.tiff"/></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tiff"/><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tiff"/><Relationship Id="rId2" Type="http://schemas.openxmlformats.org/officeDocument/2006/relationships/image" Target="../media/image13.tif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tiff"/><Relationship Id="rId1" Type="http://schemas.openxmlformats.org/officeDocument/2006/relationships/slideLayout" Target="../slideLayouts/slideLayout2.xml"/><Relationship Id="rId6" Type="http://schemas.openxmlformats.org/officeDocument/2006/relationships/image" Target="../media/image19.tiff"/><Relationship Id="rId5" Type="http://schemas.openxmlformats.org/officeDocument/2006/relationships/image" Target="../media/image18.tiff"/><Relationship Id="rId4" Type="http://schemas.openxmlformats.org/officeDocument/2006/relationships/image" Target="../media/image17.tif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a:t>
            </a:r>
            <a:br>
              <a:rPr lang="en-US" dirty="0"/>
            </a:br>
            <a:r>
              <a:rPr lang="en-US" dirty="0"/>
              <a:t>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591869" y="1064526"/>
            <a:ext cx="5199797" cy="3425588"/>
          </a:xfrm>
          <a:prstGeom prst="rect">
            <a:avLst/>
          </a:prstGeom>
        </p:spPr>
      </p:pic>
      <p:sp>
        <p:nvSpPr>
          <p:cNvPr id="6" name="Google Shape;108;p15">
            <a:extLst>
              <a:ext uri="{FF2B5EF4-FFF2-40B4-BE49-F238E27FC236}">
                <a16:creationId xmlns:a16="http://schemas.microsoft.com/office/drawing/2014/main" id="{76B7BDFB-13D9-7047-B830-394DFFB32328}"/>
              </a:ext>
            </a:extLst>
          </p:cNvPr>
          <p:cNvSpPr txBox="1"/>
          <p:nvPr/>
        </p:nvSpPr>
        <p:spPr>
          <a:xfrm>
            <a:off x="7008565" y="4692162"/>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1"/>
            <a:ext cx="6523500" cy="55868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7404350" y="2822419"/>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81889" y="906295"/>
            <a:ext cx="4790363" cy="28195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a:t>
            </a:r>
          </a:p>
          <a:p>
            <a:pPr lvl="0"/>
            <a:r>
              <a:rPr lang="en-US" dirty="0">
                <a:latin typeface="Calibri"/>
                <a:ea typeface="Calibri"/>
                <a:cs typeface="Calibri"/>
                <a:sym typeface="Calibri"/>
              </a:rPr>
              <a:t>in 10 tosses (assuming the coin is fair).</a:t>
            </a:r>
          </a:p>
          <a:p>
            <a:pPr lvl="0"/>
            <a:r>
              <a:rPr lang="en-US" dirty="0">
                <a:latin typeface="Calibri"/>
                <a:ea typeface="Calibri"/>
                <a:cs typeface="Calibri"/>
                <a:sym typeface="Calibri"/>
              </a:rPr>
              <a:t>Note that the number of heads follows a binomial </a:t>
            </a:r>
          </a:p>
          <a:p>
            <a:pPr lvl="0"/>
            <a:r>
              <a:rPr lang="en-US" dirty="0">
                <a:latin typeface="Calibri"/>
                <a:ea typeface="Calibri"/>
                <a:cs typeface="Calibri"/>
                <a:sym typeface="Calibri"/>
              </a:rPr>
              <a:t>distribution 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442586" y="3445039"/>
            <a:ext cx="489437" cy="506917"/>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25873" y="1390308"/>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749240" y="3218"/>
            <a:ext cx="5400832" cy="1423564"/>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749240" y="2090673"/>
            <a:ext cx="5049668" cy="1635169"/>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We use character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to denote the standard error of estimating x:</a:t>
            </a:r>
            <a:br>
              <a:rPr lang="en-US" dirty="0">
                <a:latin typeface="Calibri"/>
                <a:ea typeface="Calibri"/>
                <a:cs typeface="Calibri"/>
                <a:sym typeface="Calibri"/>
              </a:rPr>
            </a:br>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 </a:t>
            </a:r>
            <a:r>
              <a:rPr lang="en-US" b="1" dirty="0" err="1">
                <a:solidFill>
                  <a:srgbClr val="0070C0"/>
                </a:solidFill>
                <a:latin typeface="Calibri"/>
                <a:ea typeface="Calibri"/>
                <a:cs typeface="Calibri"/>
                <a:sym typeface="Calibri"/>
              </a:rPr>
              <a:t>npq</a:t>
            </a:r>
            <a:endParaRPr lang="en-US" b="1" dirty="0">
              <a:solidFill>
                <a:srgbClr val="0070C0"/>
              </a:solidFill>
              <a:latin typeface="Calibri"/>
              <a:ea typeface="Calibri"/>
              <a:cs typeface="Calibri"/>
              <a:sym typeface="Calibri"/>
            </a:endParaRPr>
          </a:p>
          <a:p>
            <a:pPr lvl="0"/>
            <a:r>
              <a:rPr lang="en-US" dirty="0">
                <a:latin typeface="Calibri"/>
                <a:ea typeface="Calibri"/>
                <a:cs typeface="Calibri"/>
                <a:sym typeface="Calibri"/>
              </a:rPr>
              <a:t>Note that it has max value when p = q = 0.5, so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n/4</a:t>
            </a:r>
          </a:p>
          <a:p>
            <a:pPr lvl="0"/>
            <a:r>
              <a:rPr lang="en-US" dirty="0">
                <a:latin typeface="Calibri"/>
                <a:ea typeface="Calibri"/>
                <a:cs typeface="Calibri"/>
                <a:sym typeface="Calibri"/>
              </a:rPr>
              <a:t>So we can estimate the error for 2</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 95% confidence) as:</a:t>
            </a:r>
          </a:p>
          <a:p>
            <a:pPr lvl="0"/>
            <a:r>
              <a:rPr lang="en-US" dirty="0">
                <a:latin typeface="Calibri"/>
                <a:ea typeface="Calibri"/>
                <a:cs typeface="Calibri"/>
                <a:sym typeface="Calibri"/>
              </a:rPr>
              <a:t>          </a:t>
            </a:r>
            <a:r>
              <a:rPr lang="en-US" b="1" dirty="0">
                <a:solidFill>
                  <a:srgbClr val="0070C0"/>
                </a:solidFill>
                <a:latin typeface="Calibri"/>
                <a:ea typeface="Calibri"/>
                <a:cs typeface="Calibri"/>
                <a:sym typeface="Calibri"/>
              </a:rPr>
              <a:t>2</a:t>
            </a:r>
            <a:r>
              <a:rPr lang="el-GR" b="1" dirty="0">
                <a:solidFill>
                  <a:srgbClr val="0070C0"/>
                </a:solidFill>
                <a:latin typeface="Calibri"/>
                <a:ea typeface="Calibri"/>
                <a:cs typeface="Calibri"/>
                <a:sym typeface="Calibri"/>
              </a:rPr>
              <a:t>σ</a:t>
            </a:r>
            <a:r>
              <a:rPr lang="en-US" b="1" dirty="0">
                <a:solidFill>
                  <a:srgbClr val="0070C0"/>
                </a:solidFill>
                <a:latin typeface="Calibri"/>
                <a:ea typeface="Calibri"/>
                <a:cs typeface="Calibri"/>
                <a:sym typeface="Calibri"/>
              </a:rPr>
              <a:t> ~ √n </a:t>
            </a:r>
          </a:p>
          <a:p>
            <a:pPr lvl="0"/>
            <a:r>
              <a:rPr lang="en-US" dirty="0">
                <a:solidFill>
                  <a:schemeClr val="tx1"/>
                </a:solidFill>
                <a:latin typeface="Calibri"/>
                <a:ea typeface="Calibri"/>
                <a:cs typeface="Calibri"/>
                <a:sym typeface="Calibri"/>
              </a:rPr>
              <a:t>This is very easy to remember – error grows as square root of n.</a:t>
            </a:r>
          </a:p>
          <a:p>
            <a:pPr lvl="0"/>
            <a:r>
              <a:rPr lang="en-US" dirty="0">
                <a:solidFill>
                  <a:schemeClr val="tx1"/>
                </a:solidFill>
                <a:latin typeface="Calibri"/>
                <a:ea typeface="Calibri"/>
                <a:cs typeface="Calibri"/>
                <a:sym typeface="Calibri"/>
              </a:rPr>
              <a:t>If we estimate error for ratio "x/n", it will be then:</a:t>
            </a: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749240" y="4080567"/>
            <a:ext cx="4167807" cy="307777"/>
          </a:xfrm>
          <a:prstGeom prst="rect">
            <a:avLst/>
          </a:prstGeom>
          <a:noFill/>
        </p:spPr>
        <p:txBody>
          <a:bodyPr wrap="square" rtlCol="0">
            <a:spAutoFit/>
          </a:bodyPr>
          <a:lstStyle/>
          <a:p>
            <a:r>
              <a:rPr lang="en-US" dirty="0">
                <a:latin typeface="Calibri"/>
                <a:cs typeface="Calibri"/>
              </a:rPr>
              <a:t>And hence the value of maximum error (E) is given by:</a:t>
            </a:r>
          </a:p>
        </p:txBody>
      </p:sp>
      <p:pic>
        <p:nvPicPr>
          <p:cNvPr id="11" name="Picture 10">
            <a:extLst>
              <a:ext uri="{FF2B5EF4-FFF2-40B4-BE49-F238E27FC236}">
                <a16:creationId xmlns:a16="http://schemas.microsoft.com/office/drawing/2014/main" id="{72637CC1-BEE4-154D-98AD-65986D05156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43965" y="4336930"/>
            <a:ext cx="1427265" cy="531726"/>
          </a:xfrm>
          <a:prstGeom prst="rect">
            <a:avLst/>
          </a:prstGeom>
        </p:spPr>
      </p:pic>
      <p:sp>
        <p:nvSpPr>
          <p:cNvPr id="14" name="TextBox 13">
            <a:extLst>
              <a:ext uri="{FF2B5EF4-FFF2-40B4-BE49-F238E27FC236}">
                <a16:creationId xmlns:a16="http://schemas.microsoft.com/office/drawing/2014/main" id="{638FBC29-A8F9-284A-A1BF-DA59A1CFE356}"/>
              </a:ext>
            </a:extLst>
          </p:cNvPr>
          <p:cNvSpPr txBox="1"/>
          <p:nvPr/>
        </p:nvSpPr>
        <p:spPr>
          <a:xfrm>
            <a:off x="6749240" y="4786008"/>
            <a:ext cx="430695" cy="307777"/>
          </a:xfrm>
          <a:prstGeom prst="rect">
            <a:avLst/>
          </a:prstGeom>
          <a:noFill/>
        </p:spPr>
        <p:txBody>
          <a:bodyPr wrap="square" rtlCol="0">
            <a:spAutoFit/>
          </a:bodyPr>
          <a:lstStyle/>
          <a:p>
            <a:r>
              <a:rPr lang="en-US" dirty="0">
                <a:latin typeface="Calibri"/>
                <a:cs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644289" y="5035673"/>
            <a:ext cx="928696" cy="581711"/>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685722" y="5884718"/>
            <a:ext cx="5082208" cy="954107"/>
          </a:xfrm>
          <a:prstGeom prst="rect">
            <a:avLst/>
          </a:prstGeom>
          <a:noFill/>
        </p:spPr>
        <p:txBody>
          <a:bodyPr wrap="square" rtlCol="0">
            <a:spAutoFit/>
          </a:bodyPr>
          <a:lstStyle/>
          <a:p>
            <a:r>
              <a:rPr lang="en-US" dirty="0">
                <a:latin typeface="Calibri"/>
                <a:cs typeface="Calibri"/>
              </a:rPr>
              <a:t>For example, if we want confidence 95% (Z=1.9599), then </a:t>
            </a:r>
          </a:p>
          <a:p>
            <a:pPr marL="285750" indent="-285750">
              <a:buFont typeface="Arial" panose="020B0604020202020204" pitchFamily="34" charset="0"/>
              <a:buChar char="•"/>
            </a:pPr>
            <a:r>
              <a:rPr lang="en-US" dirty="0">
                <a:latin typeface="Calibri"/>
                <a:cs typeface="Calibri"/>
              </a:rPr>
              <a:t>for E=0.5   we need n = (1.9599)**2 / (4*0.5**2)   = 4 flips  </a:t>
            </a:r>
          </a:p>
          <a:p>
            <a:pPr marL="285750" indent="-285750">
              <a:buFont typeface="Arial" panose="020B0604020202020204" pitchFamily="34" charset="0"/>
              <a:buChar char="•"/>
            </a:pPr>
            <a:r>
              <a:rPr lang="en-US" dirty="0">
                <a:latin typeface="Calibri"/>
                <a:cs typeface="Calibri"/>
              </a:rPr>
              <a:t>for E=0.25 we need n = (1.9599)**2 / (4*0.25**2) = 16 flips  </a:t>
            </a:r>
          </a:p>
          <a:p>
            <a:pPr marL="285750" indent="-285750">
              <a:buFont typeface="Arial" panose="020B0604020202020204" pitchFamily="34" charset="0"/>
              <a:buChar char="•"/>
            </a:pPr>
            <a:r>
              <a:rPr lang="en-US" dirty="0">
                <a:latin typeface="Calibri"/>
                <a:cs typeface="Calibri"/>
              </a:rPr>
              <a:t>for E=0.01, we need n = (1.9599)**2 /(4*0.01**2)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88C8BE5-9D37-DF42-81EF-135B3A27BAE7}"/>
              </a:ext>
            </a:extLst>
          </p:cNvPr>
          <p:cNvSpPr txBox="1"/>
          <p:nvPr/>
        </p:nvSpPr>
        <p:spPr>
          <a:xfrm>
            <a:off x="6128885" y="2886495"/>
            <a:ext cx="5885365" cy="1015663"/>
          </a:xfrm>
          <a:prstGeom prst="rect">
            <a:avLst/>
          </a:prstGeom>
          <a:noFill/>
        </p:spPr>
        <p:txBody>
          <a:bodyPr wrap="square" rtlCol="0">
            <a:spAutoFit/>
          </a:bodyPr>
          <a:lstStyle/>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(x=0,   n=1000, p=1/2, alternative='less')  </a:t>
            </a:r>
            <a:r>
              <a:rPr lang="en-US" sz="1200" b="1" dirty="0">
                <a:solidFill>
                  <a:srgbClr val="00B050"/>
                </a:solidFill>
                <a:latin typeface="Consolas" panose="020B0609020204030204" pitchFamily="49" charset="0"/>
                <a:cs typeface="Consolas" panose="020B0609020204030204" pitchFamily="49" charset="0"/>
              </a:rPr>
              <a:t># 0</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(x=470, n=1000, p=1/2, alternative='less')  </a:t>
            </a:r>
            <a:r>
              <a:rPr lang="en-US" sz="1200" b="1" dirty="0">
                <a:solidFill>
                  <a:srgbClr val="00B050"/>
                </a:solidFill>
                <a:latin typeface="Consolas" panose="020B0609020204030204" pitchFamily="49" charset="0"/>
                <a:cs typeface="Consolas" panose="020B0609020204030204" pitchFamily="49" charset="0"/>
              </a:rPr>
              <a:t># 0.031</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(x=500, n=1000, p=1/2, alternative='less')  </a:t>
            </a:r>
            <a:r>
              <a:rPr lang="en-US" sz="1200" b="1" dirty="0">
                <a:solidFill>
                  <a:srgbClr val="00B050"/>
                </a:solidFill>
                <a:latin typeface="Consolas" panose="020B0609020204030204" pitchFamily="49" charset="0"/>
                <a:cs typeface="Consolas" panose="020B0609020204030204" pitchFamily="49" charset="0"/>
              </a:rPr>
              <a:t># 0.5</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(x=530, n=1000, p=1/2, alternative='less')  </a:t>
            </a:r>
            <a:r>
              <a:rPr lang="en-US" sz="1200" b="1" dirty="0">
                <a:solidFill>
                  <a:srgbClr val="00B050"/>
                </a:solidFill>
                <a:latin typeface="Consolas" panose="020B0609020204030204" pitchFamily="49" charset="0"/>
                <a:cs typeface="Consolas" panose="020B0609020204030204" pitchFamily="49" charset="0"/>
              </a:rPr>
              <a:t># 0.973</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(x=999, n=1000, p=1/2, alternative='less')  </a:t>
            </a:r>
            <a:r>
              <a:rPr lang="en-US" sz="1200" b="1" dirty="0">
                <a:solidFill>
                  <a:srgbClr val="00B050"/>
                </a:solidFill>
                <a:latin typeface="Consolas" panose="020B0609020204030204" pitchFamily="49" charset="0"/>
                <a:cs typeface="Consolas" panose="020B0609020204030204" pitchFamily="49" charset="0"/>
              </a:rPr>
              <a:t># 1</a:t>
            </a:r>
          </a:p>
        </p:txBody>
      </p:sp>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55090" y="507831"/>
            <a:ext cx="3871452" cy="1384995"/>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p>
          <a:p>
            <a:endParaRPr lang="en-US" b="1" dirty="0">
              <a:solidFill>
                <a:srgbClr val="00B050"/>
              </a:solidFill>
              <a:latin typeface="Consolas" panose="020B0609020204030204" pitchFamily="49" charset="0"/>
              <a:cs typeface="Consolas" panose="020B0609020204030204" pitchFamily="49" charset="0"/>
            </a:endParaRPr>
          </a:p>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b="1" dirty="0">
              <a:solidFill>
                <a:srgbClr val="00B050"/>
              </a:solidFill>
              <a:latin typeface="Consolas" panose="020B0609020204030204" pitchFamily="49" charset="0"/>
              <a:cs typeface="Consolas" panose="020B0609020204030204" pitchFamily="49" charset="0"/>
            </a:endParaRP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64141" y="1752488"/>
            <a:ext cx="2260600" cy="647700"/>
          </a:xfrm>
          <a:prstGeom prst="rect">
            <a:avLst/>
          </a:prstGeom>
        </p:spPr>
      </p:pic>
      <p:sp>
        <p:nvSpPr>
          <p:cNvPr id="11" name="TextBox 10">
            <a:extLst>
              <a:ext uri="{FF2B5EF4-FFF2-40B4-BE49-F238E27FC236}">
                <a16:creationId xmlns:a16="http://schemas.microsoft.com/office/drawing/2014/main" id="{6711EA37-ED1E-A141-9FE5-CBEDD2E74AE6}"/>
              </a:ext>
            </a:extLst>
          </p:cNvPr>
          <p:cNvSpPr txBox="1"/>
          <p:nvPr/>
        </p:nvSpPr>
        <p:spPr>
          <a:xfrm>
            <a:off x="0" y="1940107"/>
            <a:ext cx="1462340" cy="307777"/>
          </a:xfrm>
          <a:prstGeom prst="rect">
            <a:avLst/>
          </a:prstGeom>
          <a:noFill/>
        </p:spPr>
        <p:txBody>
          <a:bodyPr wrap="square" rtlCol="0">
            <a:spAutoFit/>
          </a:bodyPr>
          <a:lstStyle/>
          <a:p>
            <a:r>
              <a:rPr lang="en-US" dirty="0"/>
              <a:t>Binomial PMF :</a:t>
            </a:r>
          </a:p>
        </p:txBody>
      </p:sp>
      <p:pic>
        <p:nvPicPr>
          <p:cNvPr id="3" name="Picture 2">
            <a:extLst>
              <a:ext uri="{FF2B5EF4-FFF2-40B4-BE49-F238E27FC236}">
                <a16:creationId xmlns:a16="http://schemas.microsoft.com/office/drawing/2014/main" id="{8A7A16D1-6A82-EE42-84CE-7A1B0E0722C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107674" y="2786705"/>
            <a:ext cx="1955444" cy="1303629"/>
          </a:xfrm>
          <a:prstGeom prst="rect">
            <a:avLst/>
          </a:prstGeom>
        </p:spPr>
      </p:pic>
      <p:sp>
        <p:nvSpPr>
          <p:cNvPr id="13" name="TextBox 12">
            <a:extLst>
              <a:ext uri="{FF2B5EF4-FFF2-40B4-BE49-F238E27FC236}">
                <a16:creationId xmlns:a16="http://schemas.microsoft.com/office/drawing/2014/main" id="{7A8963DC-8A72-D44C-ABD9-A5F73EA7B869}"/>
              </a:ext>
            </a:extLst>
          </p:cNvPr>
          <p:cNvSpPr txBox="1"/>
          <p:nvPr/>
        </p:nvSpPr>
        <p:spPr>
          <a:xfrm>
            <a:off x="4082134" y="5491884"/>
            <a:ext cx="5884256" cy="1015663"/>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sz="1200" b="1" dirty="0">
                <a:solidFill>
                  <a:srgbClr val="00B050"/>
                </a:solidFill>
                <a:latin typeface="Consolas" panose="020B0609020204030204" pitchFamily="49" charset="0"/>
                <a:cs typeface="Consolas" panose="020B0609020204030204" pitchFamily="49" charset="0"/>
              </a:rPr>
              <a:t># Perform a binomial test to determine if the coin is biased.</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(x=8, n=10, p=1/2, alternative='greater') </a:t>
            </a:r>
            <a:r>
              <a:rPr lang="en-US" sz="1200" b="1" dirty="0">
                <a:solidFill>
                  <a:srgbClr val="00B050"/>
                </a:solidFill>
                <a:latin typeface="Consolas" panose="020B0609020204030204" pitchFamily="49" charset="0"/>
                <a:cs typeface="Consolas" panose="020B0609020204030204" pitchFamily="49" charset="0"/>
              </a:rPr>
              <a:t># P = 0.0546875</a:t>
            </a:r>
          </a:p>
          <a:p>
            <a:r>
              <a:rPr lang="en-US" sz="1200"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sz="1200" b="1" dirty="0">
                <a:solidFill>
                  <a:srgbClr val="00B050"/>
                </a:solidFill>
                <a:latin typeface="Consolas" panose="020B0609020204030204" pitchFamily="49" charset="0"/>
                <a:cs typeface="Consolas" panose="020B0609020204030204" pitchFamily="49" charset="0"/>
              </a:rPr>
              <a:t># we accept the null hypothesis.</a:t>
            </a:r>
          </a:p>
        </p:txBody>
      </p:sp>
      <p:cxnSp>
        <p:nvCxnSpPr>
          <p:cNvPr id="7" name="Straight Connector 6">
            <a:extLst>
              <a:ext uri="{FF2B5EF4-FFF2-40B4-BE49-F238E27FC236}">
                <a16:creationId xmlns:a16="http://schemas.microsoft.com/office/drawing/2014/main" id="{CC869036-FE0F-1E47-8797-6B95E97124CA}"/>
              </a:ext>
            </a:extLst>
          </p:cNvPr>
          <p:cNvCxnSpPr/>
          <p:nvPr/>
        </p:nvCxnSpPr>
        <p:spPr>
          <a:xfrm>
            <a:off x="3953437" y="246221"/>
            <a:ext cx="0" cy="6369732"/>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E734F07-84EA-3747-B35F-8BE91031CC62}"/>
              </a:ext>
            </a:extLst>
          </p:cNvPr>
          <p:cNvSpPr txBox="1"/>
          <p:nvPr/>
        </p:nvSpPr>
        <p:spPr>
          <a:xfrm>
            <a:off x="6128888" y="4149859"/>
            <a:ext cx="5885361" cy="1015663"/>
          </a:xfrm>
          <a:prstGeom prst="rect">
            <a:avLst/>
          </a:prstGeom>
          <a:noFill/>
        </p:spPr>
        <p:txBody>
          <a:bodyPr wrap="square" rtlCol="0">
            <a:spAutoFit/>
          </a:bodyPr>
          <a:lstStyle/>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(x=0,   n=1000, p=1/2, alternative='two-sided')  </a:t>
            </a:r>
            <a:r>
              <a:rPr lang="en-US" sz="1200" b="1" dirty="0">
                <a:solidFill>
                  <a:srgbClr val="00B050"/>
                </a:solidFill>
                <a:latin typeface="Consolas" panose="020B0609020204030204" pitchFamily="49" charset="0"/>
                <a:cs typeface="Consolas" panose="020B0609020204030204" pitchFamily="49" charset="0"/>
              </a:rPr>
              <a:t># 0</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(x=470, n=1000, p=1/2, alternative='two-sided')  </a:t>
            </a:r>
            <a:r>
              <a:rPr lang="en-US" sz="1200" b="1" dirty="0">
                <a:solidFill>
                  <a:srgbClr val="00B050"/>
                </a:solidFill>
                <a:latin typeface="Consolas" panose="020B0609020204030204" pitchFamily="49" charset="0"/>
                <a:cs typeface="Consolas" panose="020B0609020204030204" pitchFamily="49" charset="0"/>
              </a:rPr>
              <a:t># 0.062</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(x=500, n=1000, p=1/2, alternative='two-sided')  </a:t>
            </a:r>
            <a:r>
              <a:rPr lang="en-US" sz="1200" b="1" dirty="0">
                <a:solidFill>
                  <a:srgbClr val="00B050"/>
                </a:solidFill>
                <a:latin typeface="Consolas" panose="020B0609020204030204" pitchFamily="49" charset="0"/>
                <a:cs typeface="Consolas" panose="020B0609020204030204" pitchFamily="49" charset="0"/>
              </a:rPr>
              <a:t># 1.0</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(x=530, n=1000, p=1/2, alternative='two-sided')  </a:t>
            </a:r>
            <a:r>
              <a:rPr lang="en-US" sz="1200" b="1" dirty="0">
                <a:solidFill>
                  <a:srgbClr val="00B050"/>
                </a:solidFill>
                <a:latin typeface="Consolas" panose="020B0609020204030204" pitchFamily="49" charset="0"/>
                <a:cs typeface="Consolas" panose="020B0609020204030204" pitchFamily="49" charset="0"/>
              </a:rPr>
              <a:t># 0.062</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(x=999, n=1000, p=1/2, alternative='two-sided')  </a:t>
            </a:r>
            <a:r>
              <a:rPr lang="en-US" sz="1200" b="1" dirty="0">
                <a:solidFill>
                  <a:srgbClr val="00B050"/>
                </a:solidFill>
                <a:latin typeface="Consolas" panose="020B0609020204030204" pitchFamily="49" charset="0"/>
                <a:cs typeface="Consolas" panose="020B0609020204030204" pitchFamily="49" charset="0"/>
              </a:rPr>
              <a:t># 0</a:t>
            </a:r>
          </a:p>
        </p:txBody>
      </p:sp>
      <p:pic>
        <p:nvPicPr>
          <p:cNvPr id="15" name="Picture 14">
            <a:extLst>
              <a:ext uri="{FF2B5EF4-FFF2-40B4-BE49-F238E27FC236}">
                <a16:creationId xmlns:a16="http://schemas.microsoft.com/office/drawing/2014/main" id="{86071A22-B3DB-A94F-8B3F-C3E70C2146C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7674" y="4052375"/>
            <a:ext cx="1955444" cy="1303629"/>
          </a:xfrm>
          <a:prstGeom prst="rect">
            <a:avLst/>
          </a:prstGeom>
        </p:spPr>
      </p:pic>
      <p:sp>
        <p:nvSpPr>
          <p:cNvPr id="16" name="TextBox 15">
            <a:extLst>
              <a:ext uri="{FF2B5EF4-FFF2-40B4-BE49-F238E27FC236}">
                <a16:creationId xmlns:a16="http://schemas.microsoft.com/office/drawing/2014/main" id="{D511F09B-6968-D94E-AA08-C85D9DF4BB1F}"/>
              </a:ext>
            </a:extLst>
          </p:cNvPr>
          <p:cNvSpPr txBox="1"/>
          <p:nvPr/>
        </p:nvSpPr>
        <p:spPr>
          <a:xfrm>
            <a:off x="55090" y="2538720"/>
            <a:ext cx="3871452" cy="3970318"/>
          </a:xfrm>
          <a:prstGeom prst="rect">
            <a:avLst/>
          </a:prstGeom>
          <a:noFill/>
        </p:spPr>
        <p:txBody>
          <a:bodyPr wrap="square" rtlCol="0">
            <a:spAutoFit/>
          </a:bodyPr>
          <a:lstStyle/>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 0.000977</a:t>
            </a:r>
          </a:p>
          <a:p>
            <a:r>
              <a:rPr lang="en-US" dirty="0">
                <a:solidFill>
                  <a:srgbClr val="0070C0"/>
                </a:solidFill>
                <a:latin typeface="Consolas" panose="020B0609020204030204" pitchFamily="49" charset="0"/>
                <a:cs typeface="Consolas" panose="020B0609020204030204" pitchFamily="49" charset="0"/>
              </a:rPr>
              <a:t>                # sum: 0.054688</a:t>
            </a:r>
          </a:p>
        </p:txBody>
      </p:sp>
      <p:sp>
        <p:nvSpPr>
          <p:cNvPr id="17" name="TextBox 16">
            <a:extLst>
              <a:ext uri="{FF2B5EF4-FFF2-40B4-BE49-F238E27FC236}">
                <a16:creationId xmlns:a16="http://schemas.microsoft.com/office/drawing/2014/main" id="{3AB7D7A0-D8BB-7D4C-9883-4005944A1DA6}"/>
              </a:ext>
            </a:extLst>
          </p:cNvPr>
          <p:cNvSpPr txBox="1"/>
          <p:nvPr/>
        </p:nvSpPr>
        <p:spPr>
          <a:xfrm>
            <a:off x="4107674" y="131094"/>
            <a:ext cx="7578799" cy="1200329"/>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N=1000 times.</a:t>
            </a:r>
          </a:p>
          <a:p>
            <a:r>
              <a:rPr lang="en-US" sz="1200" b="1" dirty="0">
                <a:solidFill>
                  <a:srgbClr val="00B050"/>
                </a:solidFill>
                <a:latin typeface="Consolas" panose="020B0609020204030204" pitchFamily="49" charset="0"/>
                <a:cs typeface="Consolas" panose="020B0609020204030204" pitchFamily="49" charset="0"/>
              </a:rPr>
              <a:t># If x is number of heads, it has binomial distribution with sigma = sqrt(N)/2 = 15.81</a:t>
            </a:r>
          </a:p>
          <a:p>
            <a:r>
              <a:rPr lang="en-US" sz="1200" b="1" dirty="0">
                <a:solidFill>
                  <a:srgbClr val="00B050"/>
                </a:solidFill>
                <a:latin typeface="Consolas" panose="020B0609020204030204" pitchFamily="49" charset="0"/>
                <a:cs typeface="Consolas" panose="020B0609020204030204" pitchFamily="49" charset="0"/>
              </a:rPr>
              <a:t># If it lands on heads 531 times, it is within 2*sigma. </a:t>
            </a:r>
          </a:p>
          <a:p>
            <a:r>
              <a:rPr lang="en-US" sz="1200" b="1" dirty="0">
                <a:solidFill>
                  <a:srgbClr val="00B050"/>
                </a:solidFill>
                <a:latin typeface="Consolas" panose="020B0609020204030204" pitchFamily="49" charset="0"/>
                <a:cs typeface="Consolas" panose="020B0609020204030204" pitchFamily="49" charset="0"/>
              </a:rPr>
              <a:t># But let's perform a binomial test for null hypothesis that coin is fair:</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(x=531, n=1000, p=1/2, alternative='greater') </a:t>
            </a:r>
            <a:r>
              <a:rPr lang="en-US" sz="1200" b="1" dirty="0">
                <a:solidFill>
                  <a:srgbClr val="00B050"/>
                </a:solidFill>
                <a:latin typeface="Consolas" panose="020B0609020204030204" pitchFamily="49" charset="0"/>
                <a:cs typeface="Consolas" panose="020B0609020204030204" pitchFamily="49" charset="0"/>
              </a:rPr>
              <a:t># P = 0.0268</a:t>
            </a:r>
          </a:p>
          <a:p>
            <a:r>
              <a:rPr lang="en-US" sz="1200" b="1" dirty="0">
                <a:solidFill>
                  <a:srgbClr val="00B050"/>
                </a:solidFill>
                <a:latin typeface="Consolas" panose="020B0609020204030204" pitchFamily="49" charset="0"/>
                <a:cs typeface="Consolas" panose="020B0609020204030204" pitchFamily="49" charset="0"/>
              </a:rPr>
              <a:t># Because this p-value (0.0268) is less than 0.05, we reject the null hypothesis.</a:t>
            </a:r>
          </a:p>
        </p:txBody>
      </p:sp>
      <p:pic>
        <p:nvPicPr>
          <p:cNvPr id="18" name="Picture 17">
            <a:extLst>
              <a:ext uri="{FF2B5EF4-FFF2-40B4-BE49-F238E27FC236}">
                <a16:creationId xmlns:a16="http://schemas.microsoft.com/office/drawing/2014/main" id="{F0E66C0F-DB7B-5248-ABF5-B1AD675C2E7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7674" y="1489196"/>
            <a:ext cx="1955442" cy="1303628"/>
          </a:xfrm>
          <a:prstGeom prst="rect">
            <a:avLst/>
          </a:prstGeom>
        </p:spPr>
      </p:pic>
      <p:sp>
        <p:nvSpPr>
          <p:cNvPr id="19" name="TextBox 18">
            <a:extLst>
              <a:ext uri="{FF2B5EF4-FFF2-40B4-BE49-F238E27FC236}">
                <a16:creationId xmlns:a16="http://schemas.microsoft.com/office/drawing/2014/main" id="{23B13AD1-74A9-4B45-9F1F-80C123028C44}"/>
              </a:ext>
            </a:extLst>
          </p:cNvPr>
          <p:cNvSpPr txBox="1"/>
          <p:nvPr/>
        </p:nvSpPr>
        <p:spPr>
          <a:xfrm>
            <a:off x="6128884" y="1282539"/>
            <a:ext cx="5885365" cy="1384995"/>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B050"/>
                </a:solidFill>
                <a:latin typeface="Consolas" panose="020B0609020204030204" pitchFamily="49" charset="0"/>
                <a:cs typeface="Consolas" panose="020B0609020204030204" pitchFamily="49" charset="0"/>
              </a:rPr>
              <a:t>  # returns p-value of test</a:t>
            </a:r>
          </a:p>
          <a:p>
            <a:endParaRPr lang="en-US" sz="1200" b="1" dirty="0">
              <a:solidFill>
                <a:srgbClr val="0070C0"/>
              </a:solidFill>
              <a:latin typeface="Consolas" panose="020B0609020204030204" pitchFamily="49" charset="0"/>
              <a:cs typeface="Consolas" panose="020B0609020204030204" pitchFamily="49" charset="0"/>
            </a:endParaRP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(x=0,   n=1000, p=1/2, alternative='less')  </a:t>
            </a:r>
            <a:r>
              <a:rPr lang="en-US" sz="1200" b="1" dirty="0">
                <a:solidFill>
                  <a:srgbClr val="00B050"/>
                </a:solidFill>
                <a:latin typeface="Consolas" panose="020B0609020204030204" pitchFamily="49" charset="0"/>
                <a:cs typeface="Consolas" panose="020B0609020204030204" pitchFamily="49" charset="0"/>
              </a:rPr>
              <a:t># 1</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(x=470, n=1000, p=1/2, alternative='less')  </a:t>
            </a:r>
            <a:r>
              <a:rPr lang="en-US" sz="1200" b="1" dirty="0">
                <a:solidFill>
                  <a:srgbClr val="00B050"/>
                </a:solidFill>
                <a:latin typeface="Consolas" panose="020B0609020204030204" pitchFamily="49" charset="0"/>
                <a:cs typeface="Consolas" panose="020B0609020204030204" pitchFamily="49" charset="0"/>
              </a:rPr>
              <a:t># 0.973</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(x=500, n=1000, p=1/2, alternative='less')  </a:t>
            </a:r>
            <a:r>
              <a:rPr lang="en-US" sz="1200" b="1" dirty="0">
                <a:solidFill>
                  <a:srgbClr val="00B050"/>
                </a:solidFill>
                <a:latin typeface="Consolas" panose="020B0609020204030204" pitchFamily="49" charset="0"/>
                <a:cs typeface="Consolas" panose="020B0609020204030204" pitchFamily="49" charset="0"/>
              </a:rPr>
              <a:t># 0.5</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(x=530, n=1000, p=1/2, alternative='less')  </a:t>
            </a:r>
            <a:r>
              <a:rPr lang="en-US" sz="1200" b="1" dirty="0">
                <a:solidFill>
                  <a:srgbClr val="00B050"/>
                </a:solidFill>
                <a:latin typeface="Consolas" panose="020B0609020204030204" pitchFamily="49" charset="0"/>
                <a:cs typeface="Consolas" panose="020B0609020204030204" pitchFamily="49" charset="0"/>
              </a:rPr>
              <a:t># 0.031</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(x=999, n=1000, p=1/2, alternative='less')  </a:t>
            </a:r>
            <a:r>
              <a:rPr lang="en-US" sz="1200" b="1" dirty="0">
                <a:solidFill>
                  <a:srgbClr val="00B050"/>
                </a:solidFill>
                <a:latin typeface="Consolas" panose="020B0609020204030204" pitchFamily="49" charset="0"/>
                <a:cs typeface="Consolas" panose="020B0609020204030204" pitchFamily="49" charset="0"/>
              </a:rPr>
              <a:t># 0</a:t>
            </a:r>
          </a:p>
        </p:txBody>
      </p:sp>
    </p:spTree>
    <p:extLst>
      <p:ext uri="{BB962C8B-B14F-4D97-AF65-F5344CB8AC3E}">
        <p14:creationId xmlns:p14="http://schemas.microsoft.com/office/powerpoint/2010/main" val="2977782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4E77F6-2D57-344D-957A-D121D2D97481}"/>
              </a:ext>
            </a:extLst>
          </p:cNvPr>
          <p:cNvSpPr txBox="1"/>
          <p:nvPr/>
        </p:nvSpPr>
        <p:spPr>
          <a:xfrm>
            <a:off x="345688" y="1186087"/>
            <a:ext cx="3869473" cy="3970318"/>
          </a:xfrm>
          <a:prstGeom prst="rect">
            <a:avLst/>
          </a:prstGeom>
          <a:noFill/>
        </p:spPr>
        <p:txBody>
          <a:bodyPr wrap="square" rtlCol="0">
            <a:spAutoFit/>
          </a:bodyPr>
          <a:lstStyle/>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sys, math</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scipy.stats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binom_test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matplotlib.pyplot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  =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yy2 = []</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sigma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math.sqrt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(5000)/2.0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v1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v2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print(v1,v2)    </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2464.64, 2535.36</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 (2300, 2700):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binom.pmf</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(ii,5000,0.5))</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if v1 &lt;= ii &lt;= v2: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0.01</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yy2.append(</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(xx,yy2) # show sigma range</a:t>
            </a:r>
          </a:p>
        </p:txBody>
      </p:sp>
      <p:pic>
        <p:nvPicPr>
          <p:cNvPr id="5" name="Picture 4">
            <a:extLst>
              <a:ext uri="{FF2B5EF4-FFF2-40B4-BE49-F238E27FC236}">
                <a16:creationId xmlns:a16="http://schemas.microsoft.com/office/drawing/2014/main" id="{2946C5B3-4D05-D54B-8D93-DB43DC8E13DE}"/>
              </a:ext>
            </a:extLst>
          </p:cNvPr>
          <p:cNvPicPr>
            <a:picLocks noChangeAspect="1"/>
          </p:cNvPicPr>
          <p:nvPr/>
        </p:nvPicPr>
        <p:blipFill>
          <a:blip r:embed="rId2"/>
          <a:stretch>
            <a:fillRect/>
          </a:stretch>
        </p:blipFill>
        <p:spPr>
          <a:xfrm>
            <a:off x="4805626" y="1593590"/>
            <a:ext cx="4876800" cy="3149600"/>
          </a:xfrm>
          <a:prstGeom prst="rect">
            <a:avLst/>
          </a:prstGeom>
        </p:spPr>
      </p:pic>
      <p:sp>
        <p:nvSpPr>
          <p:cNvPr id="6" name="TextBox 5">
            <a:extLst>
              <a:ext uri="{FF2B5EF4-FFF2-40B4-BE49-F238E27FC236}">
                <a16:creationId xmlns:a16="http://schemas.microsoft.com/office/drawing/2014/main" id="{6180DDB0-6998-994F-8A7D-E2271187FE2C}"/>
              </a:ext>
            </a:extLst>
          </p:cNvPr>
          <p:cNvSpPr txBox="1"/>
          <p:nvPr/>
        </p:nvSpPr>
        <p:spPr>
          <a:xfrm>
            <a:off x="345688" y="156117"/>
            <a:ext cx="6400800" cy="523220"/>
          </a:xfrm>
          <a:prstGeom prst="rect">
            <a:avLst/>
          </a:prstGeom>
          <a:noFill/>
        </p:spPr>
        <p:txBody>
          <a:bodyPr wrap="square" rtlCol="0">
            <a:spAutoFit/>
          </a:bodyPr>
          <a:lstStyle/>
          <a:p>
            <a:r>
              <a:rPr lang="en-US" sz="2800" b="1" dirty="0"/>
              <a:t>Binomial Distribution – Plot, Sigma</a:t>
            </a:r>
          </a:p>
        </p:txBody>
      </p:sp>
    </p:spTree>
    <p:extLst>
      <p:ext uri="{BB962C8B-B14F-4D97-AF65-F5344CB8AC3E}">
        <p14:creationId xmlns:p14="http://schemas.microsoft.com/office/powerpoint/2010/main" val="180183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4"/>
            <a:ext cx="5913120" cy="5606438"/>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18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13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1300" dirty="0">
              <a:latin typeface="Calibri"/>
              <a:cs typeface="Calibri"/>
              <a:sym typeface="Calibri"/>
            </a:endParaRPr>
          </a:p>
          <a:p>
            <a:r>
              <a:rPr lang="en-US" sz="1300" dirty="0">
                <a:latin typeface="Calibri"/>
                <a:cs typeface="Calibri"/>
                <a:sym typeface="Calibri"/>
              </a:rPr>
              <a:t>But here is formal application of t-test:</a:t>
            </a:r>
          </a:p>
          <a:p>
            <a:endParaRPr lang="en-US" sz="13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8195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551503"/>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551503"/>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4108174" cy="400110"/>
          </a:xfrm>
          <a:prstGeom prst="rect">
            <a:avLst/>
          </a:prstGeom>
          <a:noFill/>
        </p:spPr>
        <p:txBody>
          <a:bodyPr wrap="square" rtlCol="0">
            <a:spAutoFit/>
          </a:bodyPr>
          <a:lstStyle/>
          <a:p>
            <a:r>
              <a:rPr lang="en-US" sz="2000" b="1" dirty="0"/>
              <a:t>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3331</TotalTime>
  <Words>2908</Words>
  <Application>Microsoft Macintosh PowerPoint</Application>
  <PresentationFormat>Widescreen</PresentationFormat>
  <Paragraphs>270</Paragraphs>
  <Slides>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Consolas</vt:lpstr>
      <vt:lpstr>Courier New</vt:lpstr>
      <vt:lpstr>Menlo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321</cp:revision>
  <cp:lastPrinted>2020-09-21T17:22:59Z</cp:lastPrinted>
  <dcterms:modified xsi:type="dcterms:W3CDTF">2021-01-08T03:34:15Z</dcterms:modified>
</cp:coreProperties>
</file>