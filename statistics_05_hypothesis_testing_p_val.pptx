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3"/>
  </p:notesMasterIdLst>
  <p:sldIdLst>
    <p:sldId id="316" r:id="rId2"/>
    <p:sldId id="258" r:id="rId3"/>
    <p:sldId id="323" r:id="rId4"/>
    <p:sldId id="320" r:id="rId5"/>
    <p:sldId id="319" r:id="rId6"/>
    <p:sldId id="317" r:id="rId7"/>
    <p:sldId id="318" r:id="rId8"/>
    <p:sldId id="314" r:id="rId9"/>
    <p:sldId id="321" r:id="rId10"/>
    <p:sldId id="313" r:id="rId11"/>
    <p:sldId id="294" r:id="rId1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14"/>
    <p:restoredTop sz="95567"/>
  </p:normalViewPr>
  <p:slideViewPr>
    <p:cSldViewPr snapToGrid="0" snapToObjects="1">
      <p:cViewPr varScale="1">
        <p:scale>
          <a:sx n="108" d="100"/>
          <a:sy n="108" d="100"/>
        </p:scale>
        <p:origin x="216"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86301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7"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www.dummies.com/education/math/statistics/how-sample-size-affects-the-margin-of-error/" TargetMode="External"/><Relationship Id="rId5" Type="http://schemas.openxmlformats.org/officeDocument/2006/relationships/hyperlink" Target="https://www.surveymonkey.com/mp/margin-of-error-calculator/" TargetMode="External"/><Relationship Id="rId4" Type="http://schemas.openxmlformats.org/officeDocument/2006/relationships/hyperlink" Target="https://en.wikipedia.org/wiki/Margin_of_error"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en.wikipedia.org/wiki/Checking_whether_a_coin_is_fair" TargetMode="External"/><Relationship Id="rId7" Type="http://schemas.openxmlformats.org/officeDocument/2006/relationships/image" Target="../media/image8.tiff"/><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tiff"/><Relationship Id="rId5" Type="http://schemas.openxmlformats.org/officeDocument/2006/relationships/image" Target="../media/image6.tiff"/><Relationship Id="rId4" Type="http://schemas.openxmlformats.org/officeDocument/2006/relationships/image" Target="../media/image5.tiff"/></Relationships>
</file>

<file path=ppt/slides/_rels/slide5.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image" Target="../media/image9.tiff"/><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image" Target="../media/image11.tiff"/></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tiff"/><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image" Target="../media/image18.tif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image" Target="../media/image20.tiff"/><Relationship Id="rId1" Type="http://schemas.openxmlformats.org/officeDocument/2006/relationships/slideLayout" Target="../slideLayouts/slideLayout2.xml"/><Relationship Id="rId6" Type="http://schemas.openxmlformats.org/officeDocument/2006/relationships/image" Target="../media/image24.tiff"/><Relationship Id="rId5" Type="http://schemas.openxmlformats.org/officeDocument/2006/relationships/image" Target="../media/image23.tiff"/><Relationship Id="rId4" Type="http://schemas.openxmlformats.org/officeDocument/2006/relationships/image" Target="../media/image22.tif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177421" y="850765"/>
            <a:ext cx="5791201" cy="5262979"/>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Four steps:</a:t>
            </a:r>
          </a:p>
          <a:p>
            <a:endParaRPr lang="en-US" dirty="0"/>
          </a:p>
          <a:p>
            <a:r>
              <a:rPr lang="en-US" dirty="0"/>
              <a:t>Step1: </a:t>
            </a:r>
            <a:br>
              <a:rPr lang="en-US" dirty="0"/>
            </a:br>
            <a:r>
              <a:rPr lang="en-US" dirty="0"/>
              <a:t>Formulate hypotheses – usually at least two - the main one (usually called "Null Hypothesis") and an alternative. </a:t>
            </a:r>
          </a:p>
          <a:p>
            <a:endParaRPr lang="en-US" dirty="0"/>
          </a:p>
          <a:p>
            <a:r>
              <a:rPr lang="en-US" dirty="0"/>
              <a:t>Step2: </a:t>
            </a:r>
            <a:br>
              <a:rPr lang="en-US" dirty="0"/>
            </a:br>
            <a:r>
              <a:rPr lang="en-US" dirty="0"/>
              <a:t>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Most common choice for the value of alpha is 0.05 (5%).</a:t>
            </a:r>
          </a:p>
          <a:p>
            <a:endParaRPr lang="en-US" dirty="0"/>
          </a:p>
          <a:p>
            <a:r>
              <a:rPr lang="en-US" dirty="0"/>
              <a:t>Step3: </a:t>
            </a:r>
            <a:br>
              <a:rPr lang="en-US" dirty="0"/>
            </a:br>
            <a:r>
              <a:rPr lang="en-US" dirty="0"/>
              <a:t>Select the test type and compute the test statistic. There are many different types of tests in statistics like t-test, z-</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a:t>
            </a:r>
            <a:br>
              <a:rPr lang="en-US" dirty="0"/>
            </a:br>
            <a:r>
              <a:rPr lang="en-US" dirty="0"/>
              <a:t>Make a decision.</a:t>
            </a:r>
          </a:p>
        </p:txBody>
      </p:sp>
      <p:pic>
        <p:nvPicPr>
          <p:cNvPr id="2" name="Picture 1">
            <a:extLst>
              <a:ext uri="{FF2B5EF4-FFF2-40B4-BE49-F238E27FC236}">
                <a16:creationId xmlns:a16="http://schemas.microsoft.com/office/drawing/2014/main" id="{B0831C98-2BFB-4940-A61B-D8BB77BC209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897907" y="77448"/>
            <a:ext cx="5199797" cy="3425588"/>
          </a:xfrm>
          <a:prstGeom prst="rect">
            <a:avLst/>
          </a:prstGeom>
        </p:spPr>
      </p:pic>
      <p:sp>
        <p:nvSpPr>
          <p:cNvPr id="7" name="Google Shape;108;p15">
            <a:extLst>
              <a:ext uri="{FF2B5EF4-FFF2-40B4-BE49-F238E27FC236}">
                <a16:creationId xmlns:a16="http://schemas.microsoft.com/office/drawing/2014/main" id="{FB73B722-BA02-8744-ADB4-189F6123868C}"/>
              </a:ext>
            </a:extLst>
          </p:cNvPr>
          <p:cNvSpPr txBox="1"/>
          <p:nvPr/>
        </p:nvSpPr>
        <p:spPr>
          <a:xfrm>
            <a:off x="7148945" y="3631172"/>
            <a:ext cx="4865634" cy="118863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b="1" dirty="0">
                <a:solidFill>
                  <a:schemeClr val="dk1"/>
                </a:solidFill>
                <a:latin typeface="Calibri"/>
                <a:ea typeface="Calibri"/>
                <a:cs typeface="Calibri"/>
                <a:sym typeface="Calibri"/>
              </a:rPr>
              <a:t>Two types of Errors:</a:t>
            </a:r>
          </a:p>
          <a:p>
            <a:pPr marL="285750" marR="0" lvl="0" indent="-285750" algn="l" rtl="0">
              <a:lnSpc>
                <a:spcPct val="100000"/>
              </a:lnSpc>
              <a:spcBef>
                <a:spcPts val="0"/>
              </a:spcBef>
              <a:spcAft>
                <a:spcPts val="0"/>
              </a:spcAft>
              <a:buFont typeface="Arial" panose="020B0604020202020204" pitchFamily="34" charset="0"/>
              <a:buChar char="•"/>
            </a:pPr>
            <a:r>
              <a:rPr lang="en-US" b="1" dirty="0">
                <a:solidFill>
                  <a:srgbClr val="FF0000"/>
                </a:solidFill>
                <a:latin typeface="Calibri"/>
                <a:ea typeface="Calibri"/>
                <a:cs typeface="Calibri"/>
                <a:sym typeface="Calibri"/>
              </a:rPr>
              <a:t>Type I error</a:t>
            </a:r>
            <a:r>
              <a:rPr lang="en-US" dirty="0">
                <a:solidFill>
                  <a:schemeClr val="dk1"/>
                </a:solidFill>
                <a:latin typeface="Calibri"/>
                <a:ea typeface="Calibri"/>
                <a:cs typeface="Calibri"/>
                <a:sym typeface="Calibri"/>
              </a:rPr>
              <a:t> - false rejection of the null hypothesis ("false-positive" conclusion, innocent person convicted)</a:t>
            </a:r>
            <a:endParaRPr dirty="0">
              <a:solidFill>
                <a:schemeClr val="dk1"/>
              </a:solidFill>
              <a:latin typeface="Calibri"/>
              <a:ea typeface="Calibri"/>
              <a:cs typeface="Calibri"/>
              <a:sym typeface="Calibri"/>
            </a:endParaRPr>
          </a:p>
          <a:p>
            <a:pPr marL="285750" lvl="0" indent="-285750">
              <a:buFont typeface="Arial" panose="020B0604020202020204" pitchFamily="34" charset="0"/>
              <a:buChar char="•"/>
            </a:pPr>
            <a:r>
              <a:rPr lang="en-US" b="1" dirty="0">
                <a:solidFill>
                  <a:srgbClr val="FF0000"/>
                </a:solidFill>
                <a:latin typeface="Calibri"/>
                <a:ea typeface="Calibri"/>
                <a:cs typeface="Calibri"/>
                <a:sym typeface="Calibri"/>
              </a:rPr>
              <a:t>Type II error</a:t>
            </a:r>
            <a:r>
              <a:rPr lang="en-US" dirty="0">
                <a:solidFill>
                  <a:schemeClr val="dk1"/>
                </a:solidFill>
                <a:latin typeface="Calibri"/>
                <a:ea typeface="Calibri"/>
                <a:cs typeface="Calibri"/>
                <a:sym typeface="Calibri"/>
              </a:rPr>
              <a:t> - false acceptance of the null hypothesis ("false negative" conclusion, guilty person not convicted)</a:t>
            </a:r>
            <a:endParaRPr dirty="0">
              <a:solidFill>
                <a:schemeClr val="dk1"/>
              </a:solidFill>
              <a:latin typeface="Calibri"/>
              <a:ea typeface="Calibri"/>
              <a:cs typeface="Calibri"/>
              <a:sym typeface="Calibri"/>
            </a:endParaRPr>
          </a:p>
        </p:txBody>
      </p:sp>
      <p:graphicFrame>
        <p:nvGraphicFramePr>
          <p:cNvPr id="8" name="Google Shape;109;p15">
            <a:extLst>
              <a:ext uri="{FF2B5EF4-FFF2-40B4-BE49-F238E27FC236}">
                <a16:creationId xmlns:a16="http://schemas.microsoft.com/office/drawing/2014/main" id="{7F724635-B194-9243-8576-8553DA3EE5A4}"/>
              </a:ext>
            </a:extLst>
          </p:cNvPr>
          <p:cNvGraphicFramePr/>
          <p:nvPr>
            <p:extLst>
              <p:ext uri="{D42A27DB-BD31-4B8C-83A1-F6EECF244321}">
                <p14:modId xmlns:p14="http://schemas.microsoft.com/office/powerpoint/2010/main" val="494948554"/>
              </p:ext>
            </p:extLst>
          </p:nvPr>
        </p:nvGraphicFramePr>
        <p:xfrm>
          <a:off x="7475157" y="5201223"/>
          <a:ext cx="4213209" cy="1188630"/>
        </p:xfrm>
        <a:graphic>
          <a:graphicData uri="http://schemas.openxmlformats.org/drawingml/2006/table">
            <a:tbl>
              <a:tblPr>
                <a:noFill/>
                <a:tableStyleId>{B1618C5A-BF4F-44D7-ADB2-C5301EF81F8A}</a:tableStyleId>
              </a:tblPr>
              <a:tblGrid>
                <a:gridCol w="1404403">
                  <a:extLst>
                    <a:ext uri="{9D8B030D-6E8A-4147-A177-3AD203B41FA5}">
                      <a16:colId xmlns:a16="http://schemas.microsoft.com/office/drawing/2014/main" val="20000"/>
                    </a:ext>
                  </a:extLst>
                </a:gridCol>
                <a:gridCol w="1404403">
                  <a:extLst>
                    <a:ext uri="{9D8B030D-6E8A-4147-A177-3AD203B41FA5}">
                      <a16:colId xmlns:a16="http://schemas.microsoft.com/office/drawing/2014/main" val="20001"/>
                    </a:ext>
                  </a:extLst>
                </a:gridCol>
                <a:gridCol w="1404403">
                  <a:extLst>
                    <a:ext uri="{9D8B030D-6E8A-4147-A177-3AD203B41FA5}">
                      <a16:colId xmlns:a16="http://schemas.microsoft.com/office/drawing/2014/main" val="20002"/>
                    </a:ext>
                  </a:extLst>
                </a:gridCol>
              </a:tblGrid>
              <a:tr h="340128">
                <a:tc>
                  <a:txBody>
                    <a:bodyPr/>
                    <a:lstStyle/>
                    <a:p>
                      <a:pPr marL="0" lvl="0" indent="0" algn="l" rtl="0">
                        <a:spcBef>
                          <a:spcPts val="0"/>
                        </a:spcBef>
                        <a:spcAft>
                          <a:spcPts val="0"/>
                        </a:spcAft>
                        <a:buNone/>
                      </a:pPr>
                      <a:endParaRPr sz="1400" dirty="0"/>
                    </a:p>
                  </a:txBody>
                  <a:tcPr marL="91425" marR="91425" marT="91425" marB="91425">
                    <a:solidFill>
                      <a:schemeClr val="accent6">
                        <a:lumMod val="20000"/>
                        <a:lumOff val="80000"/>
                      </a:schemeClr>
                    </a:solidFill>
                  </a:tcPr>
                </a:tc>
                <a:tc>
                  <a:txBody>
                    <a:bodyPr/>
                    <a:lstStyle/>
                    <a:p>
                      <a:pPr marL="0" lvl="0" indent="0" algn="l" rtl="0">
                        <a:spcBef>
                          <a:spcPts val="0"/>
                        </a:spcBef>
                        <a:spcAft>
                          <a:spcPts val="0"/>
                        </a:spcAft>
                        <a:buNone/>
                      </a:pPr>
                      <a:r>
                        <a:rPr lang="en-US" sz="1400" dirty="0"/>
                        <a:t>Accept H</a:t>
                      </a:r>
                      <a:r>
                        <a:rPr lang="en-US" sz="1400" baseline="-25000" dirty="0"/>
                        <a:t>0</a:t>
                      </a:r>
                      <a:endParaRPr sz="1400" dirty="0"/>
                    </a:p>
                  </a:txBody>
                  <a:tcPr marL="91425" marR="91425" marT="91425" marB="91425">
                    <a:solidFill>
                      <a:schemeClr val="accent6">
                        <a:lumMod val="20000"/>
                        <a:lumOff val="80000"/>
                      </a:schemeClr>
                    </a:solidFill>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Reject </a:t>
                      </a:r>
                      <a:r>
                        <a:rPr lang="en-US" sz="1400" dirty="0"/>
                        <a:t>H</a:t>
                      </a:r>
                      <a:r>
                        <a:rPr lang="en-US" sz="1400" baseline="-25000" dirty="0"/>
                        <a:t>0</a:t>
                      </a:r>
                      <a:endParaRPr sz="1400" dirty="0"/>
                    </a:p>
                  </a:txBody>
                  <a:tcPr marL="91425" marR="91425" marT="91425" marB="91425">
                    <a:solidFill>
                      <a:schemeClr val="accent6">
                        <a:lumMod val="20000"/>
                        <a:lumOff val="80000"/>
                      </a:schemeClr>
                    </a:solidFill>
                  </a:tcPr>
                </a:tc>
                <a:extLst>
                  <a:ext uri="{0D108BD9-81ED-4DB2-BD59-A6C34878D82A}">
                    <a16:rowId xmlns:a16="http://schemas.microsoft.com/office/drawing/2014/main" val="10000"/>
                  </a:ext>
                </a:extLst>
              </a:tr>
              <a:tr h="346597">
                <a:tc>
                  <a:txBody>
                    <a:bodyPr/>
                    <a:lstStyle/>
                    <a:p>
                      <a:pPr marL="0" lvl="0" indent="0" algn="l" rtl="0">
                        <a:spcBef>
                          <a:spcPts val="0"/>
                        </a:spcBef>
                        <a:spcAft>
                          <a:spcPts val="0"/>
                        </a:spcAft>
                        <a:buNone/>
                      </a:pPr>
                      <a:r>
                        <a:rPr lang="en-US" sz="1400" dirty="0"/>
                        <a:t>H</a:t>
                      </a:r>
                      <a:r>
                        <a:rPr lang="en-US" sz="1400" baseline="-25000" dirty="0"/>
                        <a:t>0</a:t>
                      </a:r>
                      <a:r>
                        <a:rPr lang="en-US" sz="1400" dirty="0"/>
                        <a:t> is True</a:t>
                      </a:r>
                      <a:endParaRPr sz="1400" dirty="0"/>
                    </a:p>
                  </a:txBody>
                  <a:tcPr marL="91425" marR="91425" marT="91425" marB="91425">
                    <a:solidFill>
                      <a:schemeClr val="accent6">
                        <a:lumMod val="20000"/>
                        <a:lumOff val="80000"/>
                      </a:schemeClr>
                    </a:solidFill>
                  </a:tcPr>
                </a:tc>
                <a:tc>
                  <a:txBody>
                    <a:bodyPr/>
                    <a:lstStyle/>
                    <a:p>
                      <a:pPr marL="0" lvl="0" indent="0" algn="l" rtl="0">
                        <a:spcBef>
                          <a:spcPts val="0"/>
                        </a:spcBef>
                        <a:spcAft>
                          <a:spcPts val="0"/>
                        </a:spcAft>
                        <a:buNone/>
                      </a:pPr>
                      <a:r>
                        <a:rPr lang="en-US" sz="1400" dirty="0"/>
                        <a:t>Correct</a:t>
                      </a:r>
                      <a:endParaRPr sz="1400" dirty="0"/>
                    </a:p>
                  </a:txBody>
                  <a:tcPr marL="91425" marR="91425" marT="91425" marB="91425">
                    <a:solidFill>
                      <a:srgbClr val="C9DAF8"/>
                    </a:solidFill>
                  </a:tcPr>
                </a:tc>
                <a:tc>
                  <a:txBody>
                    <a:bodyPr/>
                    <a:lstStyle/>
                    <a:p>
                      <a:pPr marL="0" lvl="0" indent="0" algn="l" rtl="0">
                        <a:spcBef>
                          <a:spcPts val="0"/>
                        </a:spcBef>
                        <a:spcAft>
                          <a:spcPts val="0"/>
                        </a:spcAft>
                        <a:buNone/>
                      </a:pPr>
                      <a:r>
                        <a:rPr lang="en-US" sz="1400" b="1" dirty="0">
                          <a:solidFill>
                            <a:srgbClr val="FF0000"/>
                          </a:solidFill>
                        </a:rPr>
                        <a:t>type I error</a:t>
                      </a:r>
                      <a:endParaRPr sz="1400" b="1" dirty="0">
                        <a:solidFill>
                          <a:srgbClr val="FF0000"/>
                        </a:solidFill>
                      </a:endParaRPr>
                    </a:p>
                  </a:txBody>
                  <a:tcPr marL="91425" marR="91425" marT="91425" marB="91425"/>
                </a:tc>
                <a:extLst>
                  <a:ext uri="{0D108BD9-81ED-4DB2-BD59-A6C34878D82A}">
                    <a16:rowId xmlns:a16="http://schemas.microsoft.com/office/drawing/2014/main" val="10001"/>
                  </a:ext>
                </a:extLst>
              </a:tr>
              <a:tr h="346597">
                <a:tc>
                  <a:txBody>
                    <a:bodyPr/>
                    <a:lstStyle/>
                    <a:p>
                      <a:pPr marL="0" lvl="0" indent="0" algn="l" rtl="0">
                        <a:spcBef>
                          <a:spcPts val="0"/>
                        </a:spcBef>
                        <a:spcAft>
                          <a:spcPts val="0"/>
                        </a:spcAft>
                        <a:buNone/>
                      </a:pPr>
                      <a:r>
                        <a:rPr lang="en-US" sz="1400" dirty="0"/>
                        <a:t>H</a:t>
                      </a:r>
                      <a:r>
                        <a:rPr lang="en-US" sz="1400" baseline="-25000" dirty="0"/>
                        <a:t>0</a:t>
                      </a:r>
                      <a:r>
                        <a:rPr lang="en-US" sz="1400" dirty="0"/>
                        <a:t> is False</a:t>
                      </a:r>
                      <a:endParaRPr sz="1400" dirty="0"/>
                    </a:p>
                  </a:txBody>
                  <a:tcPr marL="91425" marR="91425" marT="91425" marB="91425">
                    <a:solidFill>
                      <a:schemeClr val="accent6">
                        <a:lumMod val="20000"/>
                        <a:lumOff val="80000"/>
                      </a:schemeClr>
                    </a:solidFill>
                  </a:tcPr>
                </a:tc>
                <a:tc>
                  <a:txBody>
                    <a:bodyPr/>
                    <a:lstStyle/>
                    <a:p>
                      <a:pPr marL="0" lvl="0" indent="0" algn="l" rtl="0">
                        <a:spcBef>
                          <a:spcPts val="0"/>
                        </a:spcBef>
                        <a:spcAft>
                          <a:spcPts val="0"/>
                        </a:spcAft>
                        <a:buNone/>
                      </a:pPr>
                      <a:r>
                        <a:rPr lang="en-US" sz="1400" b="1" dirty="0">
                          <a:solidFill>
                            <a:srgbClr val="FF0000"/>
                          </a:solidFill>
                        </a:rPr>
                        <a:t>type II error</a:t>
                      </a:r>
                      <a:endParaRPr sz="1400" b="1" dirty="0">
                        <a:solidFill>
                          <a:srgbClr val="FF0000"/>
                        </a:solidFill>
                      </a:endParaRPr>
                    </a:p>
                  </a:txBody>
                  <a:tcPr marL="91425" marR="91425" marT="91425" marB="91425"/>
                </a:tc>
                <a:tc>
                  <a:txBody>
                    <a:bodyPr/>
                    <a:lstStyle/>
                    <a:p>
                      <a:pPr marL="0" lvl="0" indent="0" algn="l" rtl="0">
                        <a:spcBef>
                          <a:spcPts val="0"/>
                        </a:spcBef>
                        <a:spcAft>
                          <a:spcPts val="0"/>
                        </a:spcAft>
                        <a:buNone/>
                      </a:pPr>
                      <a:r>
                        <a:rPr lang="en-US" sz="1400" dirty="0"/>
                        <a:t>Correct </a:t>
                      </a:r>
                      <a:endParaRPr sz="1400" dirty="0"/>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1" y="0"/>
            <a:ext cx="4263242" cy="48612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p-value &amp; null hypothesis</a:t>
            </a:r>
            <a:endParaRPr sz="2800" b="1" dirty="0">
              <a:solidFill>
                <a:schemeClr val="dk1"/>
              </a:solidFill>
              <a:latin typeface="Calibri"/>
              <a:ea typeface="Calibri"/>
              <a:cs typeface="Calibri"/>
              <a:sym typeface="Calibri"/>
            </a:endParaRPr>
          </a:p>
          <a:p>
            <a:pPr lvl="0">
              <a:buSzPts val="1100"/>
            </a:pP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085329" y="3040632"/>
            <a:ext cx="4011671" cy="1803299"/>
          </a:xfrm>
          <a:prstGeom prst="rect">
            <a:avLst/>
          </a:prstGeom>
          <a:noFill/>
          <a:ln>
            <a:noFill/>
          </a:ln>
        </p:spPr>
      </p:pic>
      <p:pic>
        <p:nvPicPr>
          <p:cNvPr id="6" name="Picture 4" descr="t-test">
            <a:extLst>
              <a:ext uri="{FF2B5EF4-FFF2-40B4-BE49-F238E27FC236}">
                <a16:creationId xmlns:a16="http://schemas.microsoft.com/office/drawing/2014/main" id="{7E958396-6F7B-D340-AA10-24FB8F70B9D9}"/>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8027719" y="486121"/>
            <a:ext cx="3906187" cy="1409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0594850-71C2-C441-B6EC-51C01281A53B}"/>
              </a:ext>
            </a:extLst>
          </p:cNvPr>
          <p:cNvSpPr txBox="1"/>
          <p:nvPr/>
        </p:nvSpPr>
        <p:spPr>
          <a:xfrm>
            <a:off x="8763988" y="1998434"/>
            <a:ext cx="1365662" cy="461665"/>
          </a:xfrm>
          <a:prstGeom prst="rect">
            <a:avLst/>
          </a:prstGeom>
          <a:noFill/>
        </p:spPr>
        <p:txBody>
          <a:bodyPr wrap="square" rtlCol="0">
            <a:spAutoFit/>
          </a:bodyPr>
          <a:lstStyle/>
          <a:p>
            <a:pPr algn="ctr"/>
            <a:r>
              <a:rPr lang="en-US" sz="1200" dirty="0"/>
              <a:t>reference value</a:t>
            </a:r>
          </a:p>
          <a:p>
            <a:pPr algn="ctr"/>
            <a:r>
              <a:rPr lang="en-US" sz="1200" dirty="0"/>
              <a:t>(Null Hypothesis)</a:t>
            </a:r>
          </a:p>
        </p:txBody>
      </p:sp>
      <p:sp>
        <p:nvSpPr>
          <p:cNvPr id="8" name="TextBox 7">
            <a:extLst>
              <a:ext uri="{FF2B5EF4-FFF2-40B4-BE49-F238E27FC236}">
                <a16:creationId xmlns:a16="http://schemas.microsoft.com/office/drawing/2014/main" id="{28796D1A-93C2-EC49-99D3-79EDEEBF5566}"/>
              </a:ext>
            </a:extLst>
          </p:cNvPr>
          <p:cNvSpPr txBox="1"/>
          <p:nvPr/>
        </p:nvSpPr>
        <p:spPr>
          <a:xfrm>
            <a:off x="10028312" y="2002733"/>
            <a:ext cx="1068780" cy="461665"/>
          </a:xfrm>
          <a:prstGeom prst="rect">
            <a:avLst/>
          </a:prstGeom>
          <a:noFill/>
        </p:spPr>
        <p:txBody>
          <a:bodyPr wrap="square" rtlCol="0">
            <a:spAutoFit/>
          </a:bodyPr>
          <a:lstStyle/>
          <a:p>
            <a:pPr algn="ctr"/>
            <a:r>
              <a:rPr lang="en-US" sz="1200" dirty="0"/>
              <a:t>observed value</a:t>
            </a:r>
          </a:p>
        </p:txBody>
      </p:sp>
      <p:sp>
        <p:nvSpPr>
          <p:cNvPr id="9" name="TextBox 8">
            <a:extLst>
              <a:ext uri="{FF2B5EF4-FFF2-40B4-BE49-F238E27FC236}">
                <a16:creationId xmlns:a16="http://schemas.microsoft.com/office/drawing/2014/main" id="{5BDCC29F-9F5C-1440-873D-5D8FB15EF8EF}"/>
              </a:ext>
            </a:extLst>
          </p:cNvPr>
          <p:cNvSpPr txBox="1"/>
          <p:nvPr/>
        </p:nvSpPr>
        <p:spPr>
          <a:xfrm>
            <a:off x="7871569" y="822622"/>
            <a:ext cx="1068780" cy="461665"/>
          </a:xfrm>
          <a:prstGeom prst="rect">
            <a:avLst/>
          </a:prstGeom>
          <a:noFill/>
        </p:spPr>
        <p:txBody>
          <a:bodyPr wrap="square" rtlCol="0">
            <a:spAutoFit/>
          </a:bodyPr>
          <a:lstStyle/>
          <a:p>
            <a:pPr algn="ctr"/>
            <a:r>
              <a:rPr lang="en-US" sz="1200" dirty="0"/>
              <a:t>reference distribution</a:t>
            </a:r>
          </a:p>
        </p:txBody>
      </p:sp>
      <p:sp>
        <p:nvSpPr>
          <p:cNvPr id="10" name="TextBox 9">
            <a:extLst>
              <a:ext uri="{FF2B5EF4-FFF2-40B4-BE49-F238E27FC236}">
                <a16:creationId xmlns:a16="http://schemas.microsoft.com/office/drawing/2014/main" id="{06E408CC-8C53-F245-90B4-0270DB483613}"/>
              </a:ext>
            </a:extLst>
          </p:cNvPr>
          <p:cNvSpPr txBox="1"/>
          <p:nvPr/>
        </p:nvSpPr>
        <p:spPr>
          <a:xfrm>
            <a:off x="11028220" y="822622"/>
            <a:ext cx="1068780" cy="461665"/>
          </a:xfrm>
          <a:prstGeom prst="rect">
            <a:avLst/>
          </a:prstGeom>
          <a:noFill/>
        </p:spPr>
        <p:txBody>
          <a:bodyPr wrap="square" rtlCol="0">
            <a:spAutoFit/>
          </a:bodyPr>
          <a:lstStyle/>
          <a:p>
            <a:pPr algn="ctr"/>
            <a:r>
              <a:rPr lang="en-US" sz="1200" dirty="0"/>
              <a:t>observed distribution</a:t>
            </a:r>
          </a:p>
        </p:txBody>
      </p:sp>
      <p:sp>
        <p:nvSpPr>
          <p:cNvPr id="3" name="TextBox 2">
            <a:extLst>
              <a:ext uri="{FF2B5EF4-FFF2-40B4-BE49-F238E27FC236}">
                <a16:creationId xmlns:a16="http://schemas.microsoft.com/office/drawing/2014/main" id="{54CC6AAC-BE48-F24F-B50C-6FBC87FD3E60}"/>
              </a:ext>
            </a:extLst>
          </p:cNvPr>
          <p:cNvSpPr txBox="1"/>
          <p:nvPr/>
        </p:nvSpPr>
        <p:spPr>
          <a:xfrm>
            <a:off x="8027719" y="4999512"/>
            <a:ext cx="4069281" cy="1600438"/>
          </a:xfrm>
          <a:prstGeom prst="rect">
            <a:avLst/>
          </a:prstGeom>
          <a:noFill/>
        </p:spPr>
        <p:txBody>
          <a:bodyPr wrap="square" rtlCol="0">
            <a:spAutoFit/>
          </a:bodyPr>
          <a:lstStyle/>
          <a:p>
            <a:pPr lvl="0">
              <a:buSzPts val="1100"/>
            </a:pPr>
            <a:r>
              <a:rPr lang="en-US" b="1" dirty="0">
                <a:solidFill>
                  <a:srgbClr val="0070C0"/>
                </a:solidFill>
                <a:latin typeface="Calibri"/>
                <a:ea typeface="Calibri"/>
                <a:cs typeface="Calibri"/>
                <a:sym typeface="Calibri"/>
              </a:rPr>
              <a:t>P-Value:</a:t>
            </a:r>
          </a:p>
          <a:p>
            <a:pPr lvl="0">
              <a:buSzPts val="1100"/>
            </a:pPr>
            <a:r>
              <a:rPr lang="en-US" dirty="0">
                <a:solidFill>
                  <a:schemeClr val="dk1"/>
                </a:solidFill>
                <a:latin typeface="Calibri"/>
                <a:ea typeface="Calibri"/>
                <a:cs typeface="Calibri"/>
                <a:sym typeface="Calibri"/>
              </a:rPr>
              <a:t>Given</a:t>
            </a:r>
          </a:p>
          <a:p>
            <a:pPr marL="285750" lvl="0" indent="-285750">
              <a:buSzPts val="1100"/>
              <a:buFont typeface="Arial" panose="020B0604020202020204" pitchFamily="34" charset="0"/>
              <a:buChar char="•"/>
            </a:pPr>
            <a:r>
              <a:rPr lang="en-US" dirty="0">
                <a:solidFill>
                  <a:schemeClr val="dk1"/>
                </a:solidFill>
                <a:latin typeface="Calibri"/>
                <a:ea typeface="Calibri"/>
                <a:cs typeface="Calibri"/>
                <a:sym typeface="Calibri"/>
              </a:rPr>
              <a:t>null-hypothesis (value) </a:t>
            </a:r>
          </a:p>
          <a:p>
            <a:pPr marL="285750" lvl="0" indent="-285750">
              <a:buSzPts val="1100"/>
              <a:buFont typeface="Arial" panose="020B0604020202020204" pitchFamily="34" charset="0"/>
              <a:buChar char="•"/>
            </a:pPr>
            <a:r>
              <a:rPr lang="en-US" dirty="0">
                <a:solidFill>
                  <a:schemeClr val="dk1"/>
                </a:solidFill>
                <a:latin typeface="Calibri"/>
                <a:ea typeface="Calibri"/>
                <a:cs typeface="Calibri"/>
                <a:sym typeface="Calibri"/>
              </a:rPr>
              <a:t>distribution</a:t>
            </a:r>
          </a:p>
          <a:p>
            <a:pPr marL="285750" lvl="0" indent="-285750">
              <a:buSzPts val="1100"/>
              <a:buFont typeface="Arial" panose="020B0604020202020204" pitchFamily="34" charset="0"/>
              <a:buChar char="•"/>
            </a:pPr>
            <a:r>
              <a:rPr lang="en-US" dirty="0">
                <a:solidFill>
                  <a:schemeClr val="dk1"/>
                </a:solidFill>
                <a:latin typeface="Calibri"/>
                <a:ea typeface="Calibri"/>
                <a:cs typeface="Calibri"/>
                <a:sym typeface="Calibri"/>
              </a:rPr>
              <a:t>observed value</a:t>
            </a:r>
          </a:p>
          <a:p>
            <a:pPr lvl="0">
              <a:buSzPts val="1100"/>
            </a:pPr>
            <a:r>
              <a:rPr lang="en-US" dirty="0">
                <a:solidFill>
                  <a:schemeClr val="dk1"/>
                </a:solidFill>
                <a:latin typeface="Calibri"/>
                <a:ea typeface="Calibri"/>
                <a:cs typeface="Calibri"/>
                <a:sym typeface="Calibri"/>
              </a:rPr>
              <a:t>Calculate the probability of getting the result "at least as extreme as observed". </a:t>
            </a:r>
            <a:endParaRPr lang="en-US" dirty="0"/>
          </a:p>
        </p:txBody>
      </p:sp>
      <p:sp>
        <p:nvSpPr>
          <p:cNvPr id="12" name="Google Shape;106;p15">
            <a:extLst>
              <a:ext uri="{FF2B5EF4-FFF2-40B4-BE49-F238E27FC236}">
                <a16:creationId xmlns:a16="http://schemas.microsoft.com/office/drawing/2014/main" id="{2CE1448C-D3B8-B642-A081-FF386148205D}"/>
              </a:ext>
            </a:extLst>
          </p:cNvPr>
          <p:cNvSpPr txBox="1"/>
          <p:nvPr/>
        </p:nvSpPr>
        <p:spPr>
          <a:xfrm>
            <a:off x="275109" y="754595"/>
            <a:ext cx="6964298" cy="584535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of getting results at least as extreme as observed. </a:t>
            </a:r>
          </a:p>
          <a:p>
            <a:pPr marL="0" marR="0" lvl="0" indent="0" algn="l" rtl="0">
              <a:spcBef>
                <a:spcPts val="0"/>
              </a:spcBef>
              <a:spcAft>
                <a:spcPts val="0"/>
              </a:spcAft>
              <a:buSzPts val="1100"/>
              <a:buNone/>
            </a:pPr>
            <a:br>
              <a:rPr lang="en-US" dirty="0">
                <a:solidFill>
                  <a:schemeClr val="dk1"/>
                </a:solidFill>
                <a:latin typeface="Calibri"/>
                <a:ea typeface="Calibri"/>
                <a:cs typeface="Calibri"/>
                <a:sym typeface="Calibri"/>
              </a:rPr>
            </a:br>
            <a:r>
              <a:rPr lang="en-US" dirty="0">
                <a:solidFill>
                  <a:srgbClr val="00B050"/>
                </a:solidFill>
                <a:latin typeface="Calibri"/>
                <a:ea typeface="Calibri"/>
                <a:cs typeface="Calibri"/>
                <a:sym typeface="Calibri"/>
              </a:rPr>
              <a:t>We are given:</a:t>
            </a:r>
          </a:p>
          <a:p>
            <a:pPr marL="0" marR="0" lvl="0" indent="0" algn="l" rtl="0">
              <a:spcBef>
                <a:spcPts val="0"/>
              </a:spcBef>
              <a:spcAft>
                <a:spcPts val="0"/>
              </a:spcAft>
              <a:buSzPts val="1100"/>
              <a:buNone/>
            </a:pPr>
            <a:r>
              <a:rPr lang="en-US" dirty="0">
                <a:solidFill>
                  <a:srgbClr val="00B050"/>
                </a:solidFill>
                <a:latin typeface="Calibri"/>
                <a:ea typeface="Calibri"/>
                <a:cs typeface="Calibri"/>
                <a:sym typeface="Calibri"/>
              </a:rPr>
              <a:t>        1. A null-hypothesis (</a:t>
            </a:r>
            <a:r>
              <a:rPr lang="en-US" b="1" dirty="0">
                <a:solidFill>
                  <a:srgbClr val="00B050"/>
                </a:solidFill>
                <a:latin typeface="Calibri"/>
                <a:ea typeface="Calibri"/>
                <a:cs typeface="Calibri"/>
                <a:sym typeface="Calibri"/>
              </a:rPr>
              <a:t>value</a:t>
            </a:r>
            <a:r>
              <a:rPr lang="en-US" dirty="0">
                <a:solidFill>
                  <a:srgbClr val="00B050"/>
                </a:solidFill>
                <a:latin typeface="Calibri"/>
                <a:ea typeface="Calibri"/>
                <a:cs typeface="Calibri"/>
                <a:sym typeface="Calibri"/>
              </a:rPr>
              <a:t>)</a:t>
            </a:r>
          </a:p>
          <a:p>
            <a:pPr lvl="0">
              <a:buSzPts val="1100"/>
            </a:pPr>
            <a:r>
              <a:rPr lang="en-US" dirty="0">
                <a:solidFill>
                  <a:srgbClr val="00B050"/>
                </a:solidFill>
                <a:latin typeface="Calibri"/>
                <a:ea typeface="Calibri"/>
                <a:cs typeface="Calibri"/>
                <a:sym typeface="Calibri"/>
              </a:rPr>
              <a:t>        2. A distribution: explicit or theoretical (</a:t>
            </a:r>
            <a:r>
              <a:rPr lang="en-US" b="1" u="sng" dirty="0">
                <a:solidFill>
                  <a:srgbClr val="00B050"/>
                </a:solidFill>
                <a:latin typeface="Calibri"/>
                <a:ea typeface="Calibri"/>
                <a:cs typeface="Calibri"/>
                <a:sym typeface="Calibri"/>
              </a:rPr>
              <a:t>reference</a:t>
            </a:r>
            <a:r>
              <a:rPr lang="en-US" dirty="0">
                <a:solidFill>
                  <a:srgbClr val="00B050"/>
                </a:solidFill>
                <a:latin typeface="Calibri"/>
                <a:ea typeface="Calibri"/>
                <a:cs typeface="Calibri"/>
                <a:sym typeface="Calibri"/>
              </a:rPr>
              <a:t>), or sample distribution (</a:t>
            </a:r>
            <a:r>
              <a:rPr lang="en-US" b="1" u="sng" dirty="0">
                <a:solidFill>
                  <a:srgbClr val="00B050"/>
                </a:solidFill>
                <a:latin typeface="Calibri"/>
                <a:ea typeface="Calibri"/>
                <a:cs typeface="Calibri"/>
                <a:sym typeface="Calibri"/>
              </a:rPr>
              <a:t>observed</a:t>
            </a:r>
            <a:r>
              <a:rPr lang="en-US" dirty="0">
                <a:solidFill>
                  <a:srgbClr val="00B050"/>
                </a:solidFill>
                <a:latin typeface="Calibri"/>
                <a:ea typeface="Calibri"/>
                <a:cs typeface="Calibri"/>
                <a:sym typeface="Calibri"/>
              </a:rPr>
              <a:t>).</a:t>
            </a:r>
            <a:br>
              <a:rPr lang="en-US" dirty="0">
                <a:solidFill>
                  <a:srgbClr val="00B050"/>
                </a:solidFill>
                <a:latin typeface="Calibri"/>
                <a:ea typeface="Calibri"/>
                <a:cs typeface="Calibri"/>
                <a:sym typeface="Calibri"/>
              </a:rPr>
            </a:br>
            <a:r>
              <a:rPr lang="en-US" dirty="0">
                <a:solidFill>
                  <a:srgbClr val="00B050"/>
                </a:solidFill>
                <a:latin typeface="Calibri"/>
                <a:ea typeface="Calibri"/>
                <a:cs typeface="Calibri"/>
                <a:sym typeface="Calibri"/>
              </a:rPr>
              <a:t>             Most common distributions - Gaussian, t-Student, Chi-squared, F-, etc.</a:t>
            </a:r>
          </a:p>
          <a:p>
            <a:pPr lvl="0">
              <a:buSzPts val="1100"/>
            </a:pPr>
            <a:r>
              <a:rPr lang="en-US" dirty="0">
                <a:solidFill>
                  <a:srgbClr val="00B050"/>
                </a:solidFill>
                <a:latin typeface="Calibri"/>
                <a:ea typeface="Calibri"/>
                <a:cs typeface="Calibri"/>
                <a:sym typeface="Calibri"/>
              </a:rPr>
              <a:t>        3. Observed </a:t>
            </a:r>
            <a:r>
              <a:rPr lang="en-US" b="1" dirty="0">
                <a:solidFill>
                  <a:srgbClr val="00B050"/>
                </a:solidFill>
                <a:latin typeface="Calibri"/>
                <a:ea typeface="Calibri"/>
                <a:cs typeface="Calibri"/>
                <a:sym typeface="Calibri"/>
              </a:rPr>
              <a:t>value</a:t>
            </a:r>
          </a:p>
          <a:p>
            <a:pPr lvl="0">
              <a:buSzPts val="1100"/>
            </a:pPr>
            <a:endParaRPr lang="en-US" dirty="0">
              <a:solidFill>
                <a:srgbClr val="00B050"/>
              </a:solidFill>
              <a:latin typeface="Calibri"/>
              <a:ea typeface="Calibri"/>
              <a:cs typeface="Calibri"/>
              <a:sym typeface="Calibri"/>
            </a:endParaRPr>
          </a:p>
          <a:p>
            <a:pPr lvl="0">
              <a:buSzPts val="1100"/>
            </a:pPr>
            <a:r>
              <a:rPr lang="en-US" dirty="0">
                <a:solidFill>
                  <a:srgbClr val="00B050"/>
                </a:solidFill>
                <a:latin typeface="Calibri"/>
                <a:ea typeface="Calibri"/>
                <a:cs typeface="Calibri"/>
                <a:sym typeface="Calibri"/>
              </a:rPr>
              <a:t>From that we calculate the probability of getting a result "at least as extreme as observed" ?</a:t>
            </a:r>
          </a:p>
          <a:p>
            <a:pPr marL="0" marR="0" lvl="0" indent="0" algn="l" rtl="0">
              <a:spcBef>
                <a:spcPts val="0"/>
              </a:spcBef>
              <a:spcAft>
                <a:spcPts val="0"/>
              </a:spcAft>
              <a:buSzPts val="1100"/>
              <a:buNone/>
            </a:pPr>
            <a:endParaRPr lang="en-US"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If this probability is very small, this means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that the result is unlikely to be explained by the null hypothesis.</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So we reject the null hypothesis.</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lvl="0">
              <a:buSzPts val="1100"/>
            </a:pPr>
            <a:r>
              <a:rPr lang="en-US" sz="1200" b="1" dirty="0">
                <a:solidFill>
                  <a:srgbClr val="0070C0"/>
                </a:solidFill>
                <a:latin typeface="Courier New"/>
                <a:ea typeface="Courier New"/>
                <a:cs typeface="Courier New"/>
                <a:sym typeface="Courier New"/>
              </a:rPr>
              <a:t>            P-value    probability of observed</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P &lt; 0.05         5%</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P &lt; 0.01         1%</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p &lt; 0.001        0.1%</a:t>
            </a:r>
            <a:endParaRPr sz="1200" b="1" dirty="0">
              <a:solidFill>
                <a:srgbClr val="0070C0"/>
              </a:solidFill>
              <a:latin typeface="Courier New"/>
              <a:ea typeface="Courier New"/>
              <a:cs typeface="Courier New"/>
              <a:sym typeface="Courier New"/>
            </a:endParaRPr>
          </a:p>
          <a:p>
            <a:pPr lvl="0">
              <a:buSzPts val="1100"/>
            </a:pPr>
            <a:r>
              <a:rPr lang="en-US" sz="1200" b="1" dirty="0">
                <a:solidFill>
                  <a:srgbClr val="0070C0"/>
                </a:solidFill>
                <a:latin typeface="Courier New"/>
                <a:ea typeface="Courier New"/>
                <a:cs typeface="Courier New"/>
                <a:sym typeface="Courier New"/>
              </a:rPr>
              <a:t>            -------------------------------</a:t>
            </a:r>
            <a:endParaRPr sz="1200" dirty="0">
              <a:solidFill>
                <a:schemeClr val="dk1"/>
              </a:solidFill>
              <a:latin typeface="Calibri"/>
              <a:ea typeface="Calibri"/>
              <a:cs typeface="Calibri"/>
              <a:sym typeface="Calibri"/>
            </a:endParaRPr>
          </a:p>
          <a:p>
            <a:pPr lvl="0">
              <a:buSzPts val="1100"/>
            </a:pPr>
            <a:endParaRPr lang="en-US" dirty="0">
              <a:solidFill>
                <a:schemeClr val="dk1"/>
              </a:solidFill>
              <a:latin typeface="Calibri"/>
              <a:ea typeface="Calibri"/>
              <a:cs typeface="Calibri"/>
              <a:sym typeface="Calibri"/>
            </a:endParaRPr>
          </a:p>
          <a:p>
            <a:pPr lvl="0">
              <a:buSzPts val="1100"/>
            </a:pPr>
            <a:r>
              <a:rPr lang="en-US" dirty="0">
                <a:solidFill>
                  <a:schemeClr val="dk1"/>
                </a:solidFill>
                <a:latin typeface="Calibri"/>
                <a:ea typeface="Calibri"/>
                <a:cs typeface="Calibri"/>
                <a:sym typeface="Calibri"/>
              </a:rPr>
              <a:t>A small p-value (typically ≤ 0.05) indicates strong </a:t>
            </a:r>
          </a:p>
          <a:p>
            <a:pPr lvl="0">
              <a:buSzPts val="1100"/>
            </a:pPr>
            <a:r>
              <a:rPr lang="en-US" dirty="0">
                <a:solidFill>
                  <a:schemeClr val="dk1"/>
                </a:solidFill>
                <a:latin typeface="Calibri"/>
                <a:ea typeface="Calibri"/>
                <a:cs typeface="Calibri"/>
                <a:sym typeface="Calibri"/>
              </a:rPr>
              <a:t>evidence </a:t>
            </a:r>
            <a:r>
              <a:rPr lang="en-US" b="1" dirty="0">
                <a:solidFill>
                  <a:srgbClr val="FF0000"/>
                </a:solidFill>
                <a:latin typeface="Calibri"/>
                <a:ea typeface="Calibri"/>
                <a:cs typeface="Calibri"/>
                <a:sym typeface="Calibri"/>
              </a:rPr>
              <a:t>against</a:t>
            </a:r>
            <a:r>
              <a:rPr lang="en-US" dirty="0">
                <a:solidFill>
                  <a:schemeClr val="dk1"/>
                </a:solidFill>
                <a:latin typeface="Calibri"/>
                <a:ea typeface="Calibri"/>
                <a:cs typeface="Calibri"/>
                <a:sym typeface="Calibri"/>
              </a:rPr>
              <a:t> the null hypothesis, </a:t>
            </a:r>
          </a:p>
          <a:p>
            <a:pPr lvl="0">
              <a:buSzPts val="1100"/>
            </a:pPr>
            <a:r>
              <a:rPr lang="en-US" dirty="0">
                <a:solidFill>
                  <a:schemeClr val="dk1"/>
                </a:solidFill>
                <a:latin typeface="Calibri"/>
                <a:ea typeface="Calibri"/>
                <a:cs typeface="Calibri"/>
                <a:sym typeface="Calibri"/>
              </a:rPr>
              <a:t>so you reject the null hypothesis. </a:t>
            </a:r>
          </a:p>
          <a:p>
            <a:pPr lvl="0">
              <a:buSzPts val="1100"/>
            </a:pPr>
            <a:r>
              <a:rPr lang="en-US" dirty="0">
                <a:solidFill>
                  <a:schemeClr val="dk1"/>
                </a:solidFill>
                <a:latin typeface="Calibri"/>
                <a:ea typeface="Calibri"/>
                <a:cs typeface="Calibri"/>
                <a:sym typeface="Calibri"/>
              </a:rPr>
              <a:t>People say that this evidence is "</a:t>
            </a:r>
            <a:r>
              <a:rPr lang="en-US" b="1" dirty="0">
                <a:solidFill>
                  <a:srgbClr val="FF0000"/>
                </a:solidFill>
                <a:latin typeface="Calibri"/>
                <a:ea typeface="Calibri"/>
                <a:cs typeface="Calibri"/>
                <a:sym typeface="Calibri"/>
              </a:rPr>
              <a:t>statistically significant</a:t>
            </a:r>
            <a:r>
              <a:rPr lang="en-US" dirty="0">
                <a:solidFill>
                  <a:schemeClr val="dk1"/>
                </a:solidFill>
                <a:latin typeface="Calibri"/>
                <a:ea typeface="Calibri"/>
                <a:cs typeface="Calibri"/>
                <a:sym typeface="Calibri"/>
              </a:rPr>
              <a:t>".</a:t>
            </a: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lvl="0">
              <a:buSzPts val="1100"/>
            </a:pPr>
            <a:endParaRPr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202957" y="1394749"/>
            <a:ext cx="6934114" cy="4068501"/>
          </a:xfrm>
          <a:prstGeom prst="rect">
            <a:avLst/>
          </a:prstGeom>
          <a:noFill/>
          <a:ln>
            <a:noFill/>
          </a:ln>
        </p:spPr>
        <p:txBody>
          <a:bodyPr spcFirstLastPara="1" wrap="square" lIns="91425" tIns="45700" rIns="91425" bIns="45700" anchor="t" anchorCtr="0">
            <a:noAutofit/>
          </a:bodyPr>
          <a:lstStyle/>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a:t>
            </a:r>
          </a:p>
          <a:p>
            <a:pPr lvl="0">
              <a:buSzPts val="1100"/>
            </a:pPr>
            <a:r>
              <a:rPr lang="en-US" dirty="0">
                <a:solidFill>
                  <a:schemeClr val="tx1"/>
                </a:solidFill>
                <a:latin typeface="Calibri"/>
                <a:cs typeface="Calibri"/>
              </a:rPr>
              <a:t>probability that the event could have occurred by chance. </a:t>
            </a:r>
          </a:p>
          <a:p>
            <a:pPr lvl="0">
              <a:buSzPts val="1100"/>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you are 95% certain contains the true population value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lang="en-US"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sym typeface="Calibri"/>
              </a:rPr>
              <a:t>Critical Value</a:t>
            </a:r>
            <a:r>
              <a:rPr lang="en-US" dirty="0">
                <a:solidFill>
                  <a:schemeClr val="dk1"/>
                </a:solidFill>
                <a:latin typeface="Calibri"/>
                <a:cs typeface="Calibri"/>
                <a:sym typeface="Calibri"/>
              </a:rPr>
              <a:t> - point on the distribution at which </a:t>
            </a:r>
          </a:p>
          <a:p>
            <a:pPr lvl="0">
              <a:buSzPts val="1100"/>
            </a:pPr>
            <a:r>
              <a:rPr lang="en-US" dirty="0">
                <a:solidFill>
                  <a:schemeClr val="dk1"/>
                </a:solidFill>
                <a:latin typeface="Calibri"/>
                <a:cs typeface="Calibri"/>
                <a:sym typeface="Calibri"/>
              </a:rPr>
              <a:t>we shift from "Fail to reject" to "Reject".</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a:t>
            </a: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measured in the number of standard deviations.</a:t>
            </a:r>
          </a:p>
          <a:p>
            <a:pPr marL="0" marR="0" lvl="0" indent="0" algn="l" rtl="0">
              <a:spcBef>
                <a:spcPts val="0"/>
              </a:spcBef>
              <a:spcAft>
                <a:spcPts val="0"/>
              </a:spcAft>
              <a:buSzPts val="1100"/>
              <a:buNone/>
            </a:pPr>
            <a:endParaRPr lang="en-US"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sym typeface="Calibri"/>
              </a:rPr>
              <a:t>Margin of Error </a:t>
            </a:r>
            <a:r>
              <a:rPr lang="en-US" dirty="0">
                <a:solidFill>
                  <a:schemeClr val="dk1"/>
                </a:solidFill>
                <a:latin typeface="Calibri"/>
                <a:ea typeface="Calibri"/>
                <a:cs typeface="Calibri"/>
                <a:sym typeface="Calibri"/>
              </a:rPr>
              <a:t>– amount of random sampling error in the results</a:t>
            </a:r>
          </a:p>
          <a:p>
            <a:pPr marL="0" marR="0" lvl="0" indent="0" algn="l" rtl="0">
              <a:spcBef>
                <a:spcPts val="0"/>
              </a:spcBef>
              <a:spcAft>
                <a:spcPts val="0"/>
              </a:spcAft>
              <a:buSzPts val="1100"/>
              <a:buNone/>
            </a:pPr>
            <a:r>
              <a:rPr lang="en-US" sz="1200" dirty="0">
                <a:solidFill>
                  <a:schemeClr val="dk1"/>
                </a:solidFill>
                <a:latin typeface="Calibri"/>
                <a:ea typeface="Calibri"/>
                <a:cs typeface="Calibri"/>
                <a:sym typeface="Calibri"/>
              </a:rPr>
              <a:t> - </a:t>
            </a:r>
            <a:r>
              <a:rPr lang="en-US" sz="1200" dirty="0">
                <a:solidFill>
                  <a:schemeClr val="dk1"/>
                </a:solidFill>
                <a:latin typeface="Calibri"/>
                <a:ea typeface="Calibri"/>
                <a:cs typeface="Calibri"/>
                <a:sym typeface="Calibri"/>
                <a:hlinkClick r:id="rId4"/>
              </a:rPr>
              <a:t>https://en.wikipedia.org/wiki/Margin_of_error</a:t>
            </a:r>
            <a:endParaRPr lang="en-US" sz="1200" dirty="0">
              <a:solidFill>
                <a:schemeClr val="dk1"/>
              </a:solidFill>
              <a:latin typeface="Calibri"/>
              <a:ea typeface="Calibri"/>
              <a:cs typeface="Calibri"/>
              <a:sym typeface="Calibri"/>
            </a:endParaRPr>
          </a:p>
          <a:p>
            <a:pPr lvl="0">
              <a:buSzPts val="1100"/>
            </a:pPr>
            <a:r>
              <a:rPr lang="en-US" sz="1200" dirty="0">
                <a:solidFill>
                  <a:schemeClr val="dk1"/>
                </a:solidFill>
                <a:latin typeface="Calibri"/>
                <a:ea typeface="Calibri"/>
                <a:cs typeface="Calibri"/>
                <a:sym typeface="Calibri"/>
              </a:rPr>
              <a:t> - </a:t>
            </a:r>
            <a:r>
              <a:rPr lang="en-US" sz="1200" dirty="0">
                <a:solidFill>
                  <a:schemeClr val="dk1"/>
                </a:solidFill>
                <a:latin typeface="Calibri"/>
                <a:ea typeface="Calibri"/>
                <a:cs typeface="Calibri"/>
                <a:sym typeface="Calibri"/>
                <a:hlinkClick r:id="rId5"/>
              </a:rPr>
              <a:t>https://www.surveymonkey.com/mp/margin-of-error-calculator/</a:t>
            </a:r>
            <a:r>
              <a:rPr lang="en-US" sz="1200" dirty="0">
                <a:solidFill>
                  <a:schemeClr val="dk1"/>
                </a:solidFill>
                <a:latin typeface="Calibri"/>
                <a:ea typeface="Calibri"/>
                <a:cs typeface="Calibri"/>
                <a:sym typeface="Calibri"/>
              </a:rPr>
              <a:t> </a:t>
            </a:r>
          </a:p>
          <a:p>
            <a:pPr lvl="0">
              <a:buSzPts val="1100"/>
            </a:pPr>
            <a:r>
              <a:rPr lang="en-US" sz="1200" dirty="0">
                <a:solidFill>
                  <a:schemeClr val="dk1"/>
                </a:solidFill>
                <a:latin typeface="Calibri"/>
                <a:ea typeface="Calibri"/>
                <a:cs typeface="Calibri"/>
                <a:sym typeface="Calibri"/>
              </a:rPr>
              <a:t> - </a:t>
            </a:r>
            <a:r>
              <a:rPr lang="en-US" sz="1200" dirty="0">
                <a:solidFill>
                  <a:schemeClr val="dk1"/>
                </a:solidFill>
                <a:latin typeface="Calibri"/>
                <a:ea typeface="Calibri"/>
                <a:cs typeface="Calibri"/>
                <a:sym typeface="Calibri"/>
                <a:hlinkClick r:id="rId6"/>
              </a:rPr>
              <a:t>https://www.dummies.com/education/math/statistics/how-sample-size-affects-the-margin-of-error/</a:t>
            </a:r>
            <a:r>
              <a:rPr lang="en-US" sz="1200" dirty="0">
                <a:solidFill>
                  <a:schemeClr val="dk1"/>
                </a:solidFill>
                <a:latin typeface="Calibri"/>
                <a:ea typeface="Calibri"/>
                <a:cs typeface="Calibri"/>
                <a:sym typeface="Calibri"/>
              </a:rPr>
              <a:t> </a:t>
            </a:r>
          </a:p>
          <a:p>
            <a:pPr lvl="0">
              <a:buSzPts val="1100"/>
            </a:pPr>
            <a:endParaRPr dirty="0">
              <a:solidFill>
                <a:schemeClr val="dk1"/>
              </a:solidFill>
              <a:latin typeface="Calibri"/>
              <a:ea typeface="Calibri"/>
              <a:cs typeface="Calibri"/>
              <a:sym typeface="Calibri"/>
            </a:endParaRPr>
          </a:p>
        </p:txBody>
      </p:sp>
      <p:sp>
        <p:nvSpPr>
          <p:cNvPr id="11" name="Google Shape;106;p15">
            <a:extLst>
              <a:ext uri="{FF2B5EF4-FFF2-40B4-BE49-F238E27FC236}">
                <a16:creationId xmlns:a16="http://schemas.microsoft.com/office/drawing/2014/main" id="{42C5FB0F-C4C7-4240-9D50-49391168D970}"/>
              </a:ext>
            </a:extLst>
          </p:cNvPr>
          <p:cNvSpPr txBox="1"/>
          <p:nvPr/>
        </p:nvSpPr>
        <p:spPr>
          <a:xfrm>
            <a:off x="0" y="0"/>
            <a:ext cx="5893043" cy="48612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p-value &amp; null hypothesis - continued</a:t>
            </a:r>
            <a:endParaRPr sz="2800" b="1" dirty="0">
              <a:solidFill>
                <a:schemeClr val="dk1"/>
              </a:solidFill>
              <a:latin typeface="Calibri"/>
              <a:ea typeface="Calibri"/>
              <a:cs typeface="Calibri"/>
              <a:sym typeface="Calibri"/>
            </a:endParaRPr>
          </a:p>
          <a:p>
            <a:pPr lvl="0">
              <a:buSzPts val="1100"/>
            </a:pPr>
            <a:endParaRPr dirty="0">
              <a:solidFill>
                <a:schemeClr val="dk1"/>
              </a:solidFill>
              <a:latin typeface="Calibri"/>
              <a:ea typeface="Calibri"/>
              <a:cs typeface="Calibri"/>
              <a:sym typeface="Calibri"/>
            </a:endParaRPr>
          </a:p>
        </p:txBody>
      </p:sp>
      <p:pic>
        <p:nvPicPr>
          <p:cNvPr id="1028" name="Picture 4">
            <a:extLst>
              <a:ext uri="{FF2B5EF4-FFF2-40B4-BE49-F238E27FC236}">
                <a16:creationId xmlns:a16="http://schemas.microsoft.com/office/drawing/2014/main" id="{B897F46F-4E04-0A40-B03C-D20DF5E3E1D2}"/>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7311589" y="1572879"/>
            <a:ext cx="4880411" cy="34860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9134AC6-C3A4-CC44-90D3-E9F229529F13}"/>
              </a:ext>
            </a:extLst>
          </p:cNvPr>
          <p:cNvSpPr txBox="1"/>
          <p:nvPr/>
        </p:nvSpPr>
        <p:spPr>
          <a:xfrm>
            <a:off x="9294592" y="4990310"/>
            <a:ext cx="985653" cy="461665"/>
          </a:xfrm>
          <a:prstGeom prst="rect">
            <a:avLst/>
          </a:prstGeom>
          <a:noFill/>
        </p:spPr>
        <p:txBody>
          <a:bodyPr wrap="square" rtlCol="0">
            <a:spAutoFit/>
          </a:bodyPr>
          <a:lstStyle/>
          <a:p>
            <a:pPr algn="ctr"/>
            <a:r>
              <a:rPr lang="en-US" sz="1200" dirty="0">
                <a:solidFill>
                  <a:srgbClr val="0070C0"/>
                </a:solidFill>
              </a:rPr>
              <a:t>Confidence Interval</a:t>
            </a:r>
          </a:p>
        </p:txBody>
      </p:sp>
      <p:sp>
        <p:nvSpPr>
          <p:cNvPr id="15" name="TextBox 14">
            <a:extLst>
              <a:ext uri="{FF2B5EF4-FFF2-40B4-BE49-F238E27FC236}">
                <a16:creationId xmlns:a16="http://schemas.microsoft.com/office/drawing/2014/main" id="{918A6FD3-4C88-3242-83A2-D7AEFF1E9705}"/>
              </a:ext>
            </a:extLst>
          </p:cNvPr>
          <p:cNvSpPr txBox="1"/>
          <p:nvPr/>
        </p:nvSpPr>
        <p:spPr>
          <a:xfrm>
            <a:off x="10903614" y="4990309"/>
            <a:ext cx="665016" cy="461665"/>
          </a:xfrm>
          <a:prstGeom prst="rect">
            <a:avLst/>
          </a:prstGeom>
          <a:noFill/>
        </p:spPr>
        <p:txBody>
          <a:bodyPr wrap="square" rtlCol="0">
            <a:spAutoFit/>
          </a:bodyPr>
          <a:lstStyle/>
          <a:p>
            <a:pPr algn="ctr"/>
            <a:r>
              <a:rPr lang="en-US" sz="1200" dirty="0">
                <a:solidFill>
                  <a:srgbClr val="0070C0"/>
                </a:solidFill>
              </a:rPr>
              <a:t>Critical Region</a:t>
            </a:r>
          </a:p>
        </p:txBody>
      </p:sp>
      <p:sp>
        <p:nvSpPr>
          <p:cNvPr id="16" name="TextBox 15">
            <a:extLst>
              <a:ext uri="{FF2B5EF4-FFF2-40B4-BE49-F238E27FC236}">
                <a16:creationId xmlns:a16="http://schemas.microsoft.com/office/drawing/2014/main" id="{4AD1A45B-315F-6045-AC9A-784CD060989C}"/>
              </a:ext>
            </a:extLst>
          </p:cNvPr>
          <p:cNvSpPr txBox="1"/>
          <p:nvPr/>
        </p:nvSpPr>
        <p:spPr>
          <a:xfrm>
            <a:off x="8061800" y="4990309"/>
            <a:ext cx="665016" cy="461665"/>
          </a:xfrm>
          <a:prstGeom prst="rect">
            <a:avLst/>
          </a:prstGeom>
          <a:noFill/>
        </p:spPr>
        <p:txBody>
          <a:bodyPr wrap="square" rtlCol="0">
            <a:spAutoFit/>
          </a:bodyPr>
          <a:lstStyle/>
          <a:p>
            <a:pPr algn="ctr"/>
            <a:r>
              <a:rPr lang="en-US" sz="1200" dirty="0">
                <a:solidFill>
                  <a:srgbClr val="0070C0"/>
                </a:solidFill>
              </a:rPr>
              <a:t>Critical Region</a:t>
            </a:r>
          </a:p>
        </p:txBody>
      </p:sp>
    </p:spTree>
    <p:extLst>
      <p:ext uri="{BB962C8B-B14F-4D97-AF65-F5344CB8AC3E}">
        <p14:creationId xmlns:p14="http://schemas.microsoft.com/office/powerpoint/2010/main" val="12434229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81889" y="906295"/>
            <a:ext cx="4790363" cy="281954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a:t>
            </a:r>
          </a:p>
          <a:p>
            <a:pPr lvl="0"/>
            <a:r>
              <a:rPr lang="en-US" dirty="0">
                <a:latin typeface="Calibri"/>
                <a:ea typeface="Calibri"/>
                <a:cs typeface="Calibri"/>
                <a:sym typeface="Calibri"/>
              </a:rPr>
              <a:t>in 10 tosses (assuming the coin is fair).</a:t>
            </a:r>
          </a:p>
          <a:p>
            <a:pPr lvl="0"/>
            <a:r>
              <a:rPr lang="en-US" dirty="0">
                <a:latin typeface="Calibri"/>
                <a:ea typeface="Calibri"/>
                <a:cs typeface="Calibri"/>
                <a:sym typeface="Calibri"/>
              </a:rPr>
              <a:t>Note that the number of heads follows a binomial </a:t>
            </a:r>
          </a:p>
          <a:p>
            <a:pPr lvl="0"/>
            <a:r>
              <a:rPr lang="en-US" dirty="0">
                <a:latin typeface="Calibri"/>
                <a:ea typeface="Calibri"/>
                <a:cs typeface="Calibri"/>
                <a:sym typeface="Calibri"/>
              </a:rPr>
              <a:t>distribution 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578510" y="3472383"/>
            <a:ext cx="489437" cy="506917"/>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25873" y="1390308"/>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749240" y="3218"/>
            <a:ext cx="5400832" cy="1423564"/>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749240" y="2090673"/>
            <a:ext cx="5049668" cy="1635169"/>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We use character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to denote the standard error of estimating x:</a:t>
            </a:r>
            <a:br>
              <a:rPr lang="en-US" dirty="0">
                <a:latin typeface="Calibri"/>
                <a:ea typeface="Calibri"/>
                <a:cs typeface="Calibri"/>
                <a:sym typeface="Calibri"/>
              </a:rPr>
            </a:br>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 </a:t>
            </a:r>
            <a:r>
              <a:rPr lang="en-US" b="1" dirty="0" err="1">
                <a:solidFill>
                  <a:srgbClr val="0070C0"/>
                </a:solidFill>
                <a:latin typeface="Calibri"/>
                <a:ea typeface="Calibri"/>
                <a:cs typeface="Calibri"/>
                <a:sym typeface="Calibri"/>
              </a:rPr>
              <a:t>npq</a:t>
            </a:r>
            <a:endParaRPr lang="en-US" b="1" dirty="0">
              <a:solidFill>
                <a:srgbClr val="0070C0"/>
              </a:solidFill>
              <a:latin typeface="Calibri"/>
              <a:ea typeface="Calibri"/>
              <a:cs typeface="Calibri"/>
              <a:sym typeface="Calibri"/>
            </a:endParaRPr>
          </a:p>
          <a:p>
            <a:pPr lvl="0"/>
            <a:r>
              <a:rPr lang="en-US" dirty="0">
                <a:latin typeface="Calibri"/>
                <a:ea typeface="Calibri"/>
                <a:cs typeface="Calibri"/>
                <a:sym typeface="Calibri"/>
              </a:rPr>
              <a:t>Note that it has max value when p = q = 0.5, so </a:t>
            </a:r>
            <a:r>
              <a:rPr lang="el-GR" b="1" dirty="0">
                <a:solidFill>
                  <a:srgbClr val="0070C0"/>
                </a:solidFill>
                <a:latin typeface="Calibri"/>
                <a:ea typeface="Calibri"/>
                <a:cs typeface="Calibri"/>
                <a:sym typeface="Calibri"/>
              </a:rPr>
              <a:t>σ</a:t>
            </a:r>
            <a:r>
              <a:rPr lang="en-US" b="1" baseline="30000" dirty="0">
                <a:solidFill>
                  <a:srgbClr val="0070C0"/>
                </a:solidFill>
                <a:latin typeface="Calibri"/>
                <a:ea typeface="Calibri"/>
                <a:cs typeface="Calibri"/>
                <a:sym typeface="Calibri"/>
              </a:rPr>
              <a:t>2</a:t>
            </a:r>
            <a:r>
              <a:rPr lang="en-US" b="1" dirty="0">
                <a:solidFill>
                  <a:srgbClr val="0070C0"/>
                </a:solidFill>
                <a:latin typeface="Calibri"/>
                <a:ea typeface="Calibri"/>
                <a:cs typeface="Calibri"/>
                <a:sym typeface="Calibri"/>
              </a:rPr>
              <a:t>= n/4</a:t>
            </a:r>
          </a:p>
          <a:p>
            <a:pPr lvl="0"/>
            <a:r>
              <a:rPr lang="en-US" dirty="0">
                <a:latin typeface="Calibri"/>
                <a:ea typeface="Calibri"/>
                <a:cs typeface="Calibri"/>
                <a:sym typeface="Calibri"/>
              </a:rPr>
              <a:t>So we can estimate the error </a:t>
            </a:r>
            <a:r>
              <a:rPr lang="el-GR" b="1" dirty="0">
                <a:solidFill>
                  <a:srgbClr val="0070C0"/>
                </a:solidFill>
                <a:latin typeface="Calibri"/>
                <a:ea typeface="Calibri"/>
                <a:cs typeface="Calibri"/>
                <a:sym typeface="Calibri"/>
              </a:rPr>
              <a:t>σ</a:t>
            </a:r>
            <a:r>
              <a:rPr lang="en-US" dirty="0">
                <a:latin typeface="Calibri"/>
                <a:ea typeface="Calibri"/>
                <a:cs typeface="Calibri"/>
                <a:sym typeface="Calibri"/>
              </a:rPr>
              <a:t> as:</a:t>
            </a:r>
          </a:p>
          <a:p>
            <a:pPr lvl="0"/>
            <a:r>
              <a:rPr lang="en-US" dirty="0">
                <a:latin typeface="Calibri"/>
                <a:ea typeface="Calibri"/>
                <a:cs typeface="Calibri"/>
                <a:sym typeface="Calibri"/>
              </a:rPr>
              <a:t>          </a:t>
            </a:r>
            <a:r>
              <a:rPr lang="el-GR" b="1" dirty="0">
                <a:solidFill>
                  <a:srgbClr val="0070C0"/>
                </a:solidFill>
                <a:latin typeface="Calibri"/>
                <a:ea typeface="Calibri"/>
                <a:cs typeface="Calibri"/>
                <a:sym typeface="Calibri"/>
              </a:rPr>
              <a:t>σ</a:t>
            </a:r>
            <a:r>
              <a:rPr lang="en-US" b="1" dirty="0">
                <a:solidFill>
                  <a:srgbClr val="0070C0"/>
                </a:solidFill>
                <a:latin typeface="Calibri"/>
                <a:ea typeface="Calibri"/>
                <a:cs typeface="Calibri"/>
                <a:sym typeface="Calibri"/>
              </a:rPr>
              <a:t> ~ √n/2 </a:t>
            </a:r>
          </a:p>
          <a:p>
            <a:pPr lvl="0"/>
            <a:r>
              <a:rPr lang="en-US" dirty="0">
                <a:solidFill>
                  <a:schemeClr val="tx1"/>
                </a:solidFill>
                <a:latin typeface="Calibri"/>
                <a:ea typeface="Calibri"/>
                <a:cs typeface="Calibri"/>
                <a:sym typeface="Calibri"/>
              </a:rPr>
              <a:t>This is very easy to remember – error grows as square root of n.</a:t>
            </a:r>
          </a:p>
          <a:p>
            <a:pPr lvl="0"/>
            <a:r>
              <a:rPr lang="en-US" dirty="0">
                <a:solidFill>
                  <a:schemeClr val="tx1"/>
                </a:solidFill>
                <a:latin typeface="Calibri"/>
                <a:ea typeface="Calibri"/>
                <a:cs typeface="Calibri"/>
                <a:sym typeface="Calibri"/>
              </a:rPr>
              <a:t>If we estimate error for ratio "x/n", we divide by n:</a:t>
            </a: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808873" y="4080567"/>
            <a:ext cx="4108174" cy="738664"/>
          </a:xfrm>
          <a:prstGeom prst="rect">
            <a:avLst/>
          </a:prstGeom>
          <a:noFill/>
        </p:spPr>
        <p:txBody>
          <a:bodyPr wrap="square" rtlCol="0">
            <a:spAutoFit/>
          </a:bodyPr>
          <a:lstStyle/>
          <a:p>
            <a:r>
              <a:rPr lang="en-US" dirty="0">
                <a:latin typeface="Calibri"/>
                <a:cs typeface="Calibri"/>
              </a:rPr>
              <a:t>We express error E in terms of Z (number of </a:t>
            </a:r>
            <a:r>
              <a:rPr lang="en-US" dirty="0" err="1">
                <a:latin typeface="Calibri"/>
                <a:cs typeface="Calibri"/>
              </a:rPr>
              <a:t>sigmas</a:t>
            </a:r>
            <a:r>
              <a:rPr lang="en-US" dirty="0">
                <a:latin typeface="Calibri"/>
                <a:cs typeface="Calibri"/>
              </a:rPr>
              <a:t>): </a:t>
            </a:r>
          </a:p>
          <a:p>
            <a:r>
              <a:rPr lang="en-US" dirty="0">
                <a:latin typeface="Calibri"/>
                <a:cs typeface="Calibri"/>
              </a:rPr>
              <a:t>            E = Z</a:t>
            </a:r>
            <a:r>
              <a:rPr lang="el-GR" dirty="0">
                <a:latin typeface="Calibri"/>
                <a:cs typeface="Calibri"/>
                <a:sym typeface="Calibri"/>
              </a:rPr>
              <a:t>σ</a:t>
            </a:r>
            <a:r>
              <a:rPr lang="en-US" dirty="0">
                <a:latin typeface="Calibri"/>
                <a:cs typeface="Calibri"/>
                <a:sym typeface="Calibri"/>
              </a:rPr>
              <a:t> = Z/2√n</a:t>
            </a:r>
          </a:p>
          <a:p>
            <a:r>
              <a:rPr lang="en-US" dirty="0">
                <a:solidFill>
                  <a:schemeClr val="tx1"/>
                </a:solidFill>
                <a:latin typeface="Calibri"/>
                <a:cs typeface="Calibri"/>
                <a:sym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294195" y="4641154"/>
            <a:ext cx="928696" cy="581711"/>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811449" y="5470732"/>
            <a:ext cx="5082208" cy="1169551"/>
          </a:xfrm>
          <a:prstGeom prst="rect">
            <a:avLst/>
          </a:prstGeom>
          <a:noFill/>
        </p:spPr>
        <p:txBody>
          <a:bodyPr wrap="square" rtlCol="0">
            <a:spAutoFit/>
          </a:bodyPr>
          <a:lstStyle/>
          <a:p>
            <a:r>
              <a:rPr lang="en-US" dirty="0">
                <a:latin typeface="Calibri"/>
                <a:cs typeface="Calibri"/>
              </a:rPr>
              <a:t>For example, if we want confidence 95% (Z=1.9599), then</a:t>
            </a:r>
          </a:p>
          <a:p>
            <a:r>
              <a:rPr lang="en-US" dirty="0">
                <a:latin typeface="Calibri"/>
                <a:cs typeface="Calibri"/>
              </a:rPr>
              <a:t>Z</a:t>
            </a:r>
            <a:r>
              <a:rPr lang="en-US" baseline="30000" dirty="0">
                <a:latin typeface="Calibri"/>
                <a:cs typeface="Calibri"/>
              </a:rPr>
              <a:t>2</a:t>
            </a:r>
            <a:r>
              <a:rPr lang="en-US" dirty="0">
                <a:latin typeface="Calibri"/>
                <a:cs typeface="Calibri"/>
              </a:rPr>
              <a:t>/4 = (1.9599)</a:t>
            </a:r>
            <a:r>
              <a:rPr lang="en-US" baseline="30000" dirty="0">
                <a:latin typeface="Calibri"/>
                <a:cs typeface="Calibri"/>
              </a:rPr>
              <a:t>2</a:t>
            </a:r>
            <a:r>
              <a:rPr lang="en-US" dirty="0">
                <a:latin typeface="Calibri"/>
                <a:cs typeface="Calibri"/>
              </a:rPr>
              <a:t> / 4 = 1 </a:t>
            </a:r>
          </a:p>
          <a:p>
            <a:pPr marL="285750" indent="-285750">
              <a:buFont typeface="Arial" panose="020B0604020202020204" pitchFamily="34" charset="0"/>
              <a:buChar char="•"/>
            </a:pPr>
            <a:r>
              <a:rPr lang="en-US" dirty="0">
                <a:latin typeface="Calibri"/>
                <a:cs typeface="Calibri"/>
              </a:rPr>
              <a:t>for E=0.5   we need n = 1 / 0.5</a:t>
            </a:r>
            <a:r>
              <a:rPr lang="en-US" baseline="30000" dirty="0">
                <a:latin typeface="Calibri"/>
                <a:cs typeface="Calibri"/>
              </a:rPr>
              <a:t>2</a:t>
            </a:r>
            <a:r>
              <a:rPr lang="en-US" dirty="0">
                <a:latin typeface="Calibri"/>
                <a:cs typeface="Calibri"/>
              </a:rPr>
              <a:t>  = 4 flips  </a:t>
            </a:r>
          </a:p>
          <a:p>
            <a:pPr marL="285750" indent="-285750">
              <a:buFont typeface="Arial" panose="020B0604020202020204" pitchFamily="34" charset="0"/>
              <a:buChar char="•"/>
            </a:pPr>
            <a:r>
              <a:rPr lang="en-US" dirty="0">
                <a:latin typeface="Calibri"/>
                <a:cs typeface="Calibri"/>
              </a:rPr>
              <a:t>for E=0.25 we need n = 1 / 0.25</a:t>
            </a:r>
            <a:r>
              <a:rPr lang="en-US" baseline="30000" dirty="0">
                <a:latin typeface="Calibri"/>
                <a:cs typeface="Calibri"/>
              </a:rPr>
              <a:t>2</a:t>
            </a:r>
            <a:r>
              <a:rPr lang="en-US" dirty="0">
                <a:latin typeface="Calibri"/>
                <a:cs typeface="Calibri"/>
              </a:rPr>
              <a:t> = 16 flips  </a:t>
            </a:r>
          </a:p>
          <a:p>
            <a:pPr marL="285750" indent="-285750">
              <a:buFont typeface="Arial" panose="020B0604020202020204" pitchFamily="34" charset="0"/>
              <a:buChar char="•"/>
            </a:pPr>
            <a:r>
              <a:rPr lang="en-US" dirty="0">
                <a:latin typeface="Calibri"/>
                <a:cs typeface="Calibri"/>
              </a:rPr>
              <a:t>for E=0.01 we need n = 1 / 0.01</a:t>
            </a:r>
            <a:r>
              <a:rPr lang="en-US" baseline="30000" dirty="0">
                <a:latin typeface="Calibri"/>
                <a:cs typeface="Calibri"/>
              </a:rPr>
              <a:t>2</a:t>
            </a:r>
            <a:r>
              <a:rPr lang="en-US" dirty="0">
                <a:latin typeface="Calibri"/>
                <a:cs typeface="Calibri"/>
              </a:rPr>
              <a:t>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7"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57461BF-3772-4D42-8663-515C48A8AE0D}"/>
              </a:ext>
            </a:extLst>
          </p:cNvPr>
          <p:cNvSpPr/>
          <p:nvPr/>
        </p:nvSpPr>
        <p:spPr>
          <a:xfrm>
            <a:off x="0" y="0"/>
            <a:ext cx="6763390" cy="523220"/>
          </a:xfrm>
          <a:prstGeom prst="rect">
            <a:avLst/>
          </a:prstGeom>
        </p:spPr>
        <p:txBody>
          <a:bodyPr wrap="none">
            <a:spAutoFit/>
          </a:bodyPr>
          <a:lstStyle/>
          <a:p>
            <a:r>
              <a:rPr lang="en-US" sz="2800" b="1" dirty="0">
                <a:solidFill>
                  <a:schemeClr val="dk1"/>
                </a:solidFill>
                <a:latin typeface="Calibri"/>
                <a:ea typeface="Calibri"/>
                <a:cs typeface="Calibri"/>
                <a:sym typeface="Calibri"/>
              </a:rPr>
              <a:t>More examples of p-value &amp; null hypothesis</a:t>
            </a:r>
            <a:endParaRPr lang="en-US" sz="2800" dirty="0"/>
          </a:p>
        </p:txBody>
      </p:sp>
      <p:sp>
        <p:nvSpPr>
          <p:cNvPr id="3" name="TextBox 2">
            <a:extLst>
              <a:ext uri="{FF2B5EF4-FFF2-40B4-BE49-F238E27FC236}">
                <a16:creationId xmlns:a16="http://schemas.microsoft.com/office/drawing/2014/main" id="{8AE09831-DEFD-754A-BFDE-A062EDF7C962}"/>
              </a:ext>
            </a:extLst>
          </p:cNvPr>
          <p:cNvSpPr txBox="1"/>
          <p:nvPr/>
        </p:nvSpPr>
        <p:spPr>
          <a:xfrm>
            <a:off x="1553710" y="1076298"/>
            <a:ext cx="6861086" cy="2431435"/>
          </a:xfrm>
          <a:prstGeom prst="rect">
            <a:avLst/>
          </a:prstGeom>
          <a:noFill/>
        </p:spPr>
        <p:txBody>
          <a:bodyPr wrap="square" rtlCol="0">
            <a:spAutoFit/>
          </a:bodyPr>
          <a:lstStyle/>
          <a:p>
            <a:r>
              <a:rPr lang="en-US" sz="2000" b="1" dirty="0">
                <a:solidFill>
                  <a:srgbClr val="FF0000"/>
                </a:solidFill>
              </a:rPr>
              <a:t>t-test:</a:t>
            </a:r>
          </a:p>
          <a:p>
            <a:r>
              <a:rPr lang="en-US" dirty="0">
                <a:solidFill>
                  <a:schemeClr val="tx1"/>
                </a:solidFill>
              </a:rPr>
              <a:t>We compare sample mean with theoretical value or with some other sample mean.</a:t>
            </a:r>
          </a:p>
          <a:p>
            <a:r>
              <a:rPr lang="en-US" dirty="0">
                <a:solidFill>
                  <a:schemeClr val="tx1"/>
                </a:solidFill>
              </a:rPr>
              <a:t>We use sample variance</a:t>
            </a:r>
          </a:p>
          <a:p>
            <a:r>
              <a:rPr lang="en-US" dirty="0">
                <a:solidFill>
                  <a:schemeClr val="tx1"/>
                </a:solidFill>
              </a:rPr>
              <a:t>We use t-distribution to calculate p-value  (bigger t -&gt; smaller p-value -&gt; reject)</a:t>
            </a:r>
          </a:p>
          <a:p>
            <a:endParaRPr lang="en-US" dirty="0"/>
          </a:p>
          <a:p>
            <a:r>
              <a:rPr lang="en-US" sz="2000" b="1" dirty="0">
                <a:solidFill>
                  <a:srgbClr val="FF0000"/>
                </a:solidFill>
              </a:rPr>
              <a:t>Three types of t-tests:</a:t>
            </a:r>
          </a:p>
          <a:p>
            <a:pPr marL="285750" indent="-285750">
              <a:buFont typeface="Arial" panose="020B0604020202020204" pitchFamily="34" charset="0"/>
              <a:buChar char="•"/>
            </a:pPr>
            <a:r>
              <a:rPr lang="en-US" b="1" dirty="0">
                <a:solidFill>
                  <a:srgbClr val="FF0000"/>
                </a:solidFill>
              </a:rPr>
              <a:t>one-sample t-test</a:t>
            </a:r>
            <a:r>
              <a:rPr lang="en-US" dirty="0"/>
              <a:t> - compare sample mean with given value</a:t>
            </a:r>
          </a:p>
          <a:p>
            <a:pPr marL="285750" indent="-285750">
              <a:buFont typeface="Arial" panose="020B0604020202020204" pitchFamily="34" charset="0"/>
              <a:buChar char="•"/>
            </a:pPr>
            <a:r>
              <a:rPr lang="en-US" b="1" dirty="0">
                <a:solidFill>
                  <a:srgbClr val="FF0000"/>
                </a:solidFill>
              </a:rPr>
              <a:t>two-sample t-test</a:t>
            </a:r>
            <a:r>
              <a:rPr lang="en-US" dirty="0"/>
              <a:t> (a.k.a. Independent Samples t Test) compares </a:t>
            </a:r>
            <a:br>
              <a:rPr lang="en-US" dirty="0"/>
            </a:br>
            <a:r>
              <a:rPr lang="en-US" dirty="0"/>
              <a:t>the means of two independent groups</a:t>
            </a:r>
          </a:p>
          <a:p>
            <a:pPr marL="285750" indent="-285750">
              <a:buFont typeface="Arial" panose="020B0604020202020204" pitchFamily="34" charset="0"/>
              <a:buChar char="•"/>
            </a:pPr>
            <a:r>
              <a:rPr lang="en-US" b="1" dirty="0">
                <a:solidFill>
                  <a:srgbClr val="FF0000"/>
                </a:solidFill>
              </a:rPr>
              <a:t>paired t-test</a:t>
            </a:r>
            <a:r>
              <a:rPr lang="en-US" dirty="0"/>
              <a:t> (for dependent samples - before/after treatment)</a:t>
            </a:r>
          </a:p>
        </p:txBody>
      </p:sp>
      <p:pic>
        <p:nvPicPr>
          <p:cNvPr id="4" name="Picture 3">
            <a:extLst>
              <a:ext uri="{FF2B5EF4-FFF2-40B4-BE49-F238E27FC236}">
                <a16:creationId xmlns:a16="http://schemas.microsoft.com/office/drawing/2014/main" id="{DBAFCCE4-9CBE-0B45-9209-550454F17A9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61549" y="1375920"/>
            <a:ext cx="1149092" cy="808373"/>
          </a:xfrm>
          <a:prstGeom prst="rect">
            <a:avLst/>
          </a:prstGeom>
        </p:spPr>
      </p:pic>
      <p:sp>
        <p:nvSpPr>
          <p:cNvPr id="5" name="Google Shape;121;p17">
            <a:extLst>
              <a:ext uri="{FF2B5EF4-FFF2-40B4-BE49-F238E27FC236}">
                <a16:creationId xmlns:a16="http://schemas.microsoft.com/office/drawing/2014/main" id="{4A7EA9C4-15AA-0B42-A068-425F2634EFA2}"/>
              </a:ext>
            </a:extLst>
          </p:cNvPr>
          <p:cNvSpPr txBox="1"/>
          <p:nvPr/>
        </p:nvSpPr>
        <p:spPr>
          <a:xfrm>
            <a:off x="2140225" y="3845367"/>
            <a:ext cx="6020184" cy="2069296"/>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FF0000"/>
                </a:solidFill>
                <a:sym typeface="Calibri"/>
              </a:rPr>
              <a:t>Chi-Square  </a:t>
            </a:r>
            <a:r>
              <a:rPr lang="en-US" sz="2000" b="1" dirty="0">
                <a:solidFill>
                  <a:srgbClr val="FF0000"/>
                </a:solidFill>
                <a:sym typeface="Times New Roman"/>
              </a:rPr>
              <a:t>χ2</a:t>
            </a:r>
            <a:r>
              <a:rPr lang="en-US" sz="2000" b="1" dirty="0">
                <a:solidFill>
                  <a:srgbClr val="FF0000"/>
                </a:solidFill>
                <a:sym typeface="Calibri"/>
              </a:rPr>
              <a:t>  Goodness of Fit Test</a:t>
            </a:r>
            <a:endParaRPr sz="2000" b="1" dirty="0">
              <a:solidFill>
                <a:srgbClr val="FF0000"/>
              </a:solidFill>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Suppose we have N observations of k mutually-exclusive classes</a:t>
            </a:r>
            <a:endParaRPr dirty="0">
              <a:latin typeface="Calibri"/>
              <a:ea typeface="Calibri"/>
              <a:cs typeface="Calibri"/>
              <a:sym typeface="Calibri"/>
            </a:endParaRPr>
          </a:p>
          <a:p>
            <a:pPr lvl="0">
              <a:buClr>
                <a:schemeClr val="dk1"/>
              </a:buClr>
              <a:buSzPts val="1100"/>
            </a:pP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 - number of observations for each class (</a:t>
            </a:r>
            <a:r>
              <a:rPr lang="en-US" dirty="0" err="1">
                <a:latin typeface="Calibri"/>
                <a:ea typeface="Calibri"/>
                <a:cs typeface="Calibri"/>
                <a:sym typeface="Calibri"/>
              </a:rPr>
              <a:t>i</a:t>
            </a:r>
            <a:r>
              <a:rPr lang="en-US" dirty="0">
                <a:latin typeface="Calibri"/>
                <a:ea typeface="Calibri"/>
                <a:cs typeface="Calibri"/>
                <a:sym typeface="Calibri"/>
              </a:rPr>
              <a:t>=1,2,...k) </a:t>
            </a:r>
            <a:endParaRPr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m</a:t>
            </a:r>
            <a:r>
              <a:rPr lang="en-US" baseline="-25000" dirty="0">
                <a:latin typeface="Calibri"/>
                <a:ea typeface="Calibri"/>
                <a:cs typeface="Calibri"/>
                <a:sym typeface="Calibri"/>
              </a:rPr>
              <a:t>i </a:t>
            </a:r>
            <a:r>
              <a:rPr lang="en-US" dirty="0">
                <a:latin typeface="Calibri"/>
                <a:ea typeface="Calibri"/>
                <a:cs typeface="Calibri"/>
                <a:sym typeface="Calibri"/>
              </a:rPr>
              <a:t>- expected number of observations for each class</a:t>
            </a:r>
          </a:p>
          <a:p>
            <a:pPr lvl="0">
              <a:buClr>
                <a:schemeClr val="dk1"/>
              </a:buClr>
              <a:buSzPts val="1100"/>
            </a:pPr>
            <a:r>
              <a:rPr lang="en-US" dirty="0">
                <a:latin typeface="Calibri"/>
                <a:ea typeface="Calibri"/>
                <a:cs typeface="Calibri"/>
                <a:sym typeface="Calibri"/>
              </a:rPr>
              <a:t>Calculate </a:t>
            </a: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 = sum((</a:t>
            </a:r>
            <a:r>
              <a:rPr lang="en-US" b="1" dirty="0" err="1">
                <a:solidFill>
                  <a:srgbClr val="FF0000"/>
                </a:solidFill>
                <a:latin typeface="Calibri"/>
                <a:ea typeface="Calibri"/>
                <a:cs typeface="Calibri"/>
                <a:sym typeface="Calibri"/>
              </a:rPr>
              <a:t>n</a:t>
            </a:r>
            <a:r>
              <a:rPr lang="en-US" b="1" baseline="-25000" dirty="0" err="1">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 </a:t>
            </a:r>
            <a:endParaRPr lang="en-US" dirty="0">
              <a:latin typeface="Calibri"/>
              <a:ea typeface="Calibri"/>
              <a:cs typeface="Calibri"/>
              <a:sym typeface="Calibri"/>
            </a:endParaRPr>
          </a:p>
          <a:p>
            <a:pPr lvl="0">
              <a:buClr>
                <a:schemeClr val="dk1"/>
              </a:buClr>
              <a:buSzPts val="1100"/>
            </a:pPr>
            <a:r>
              <a:rPr lang="en-US" dirty="0">
                <a:solidFill>
                  <a:schemeClr val="tx1"/>
                </a:solidFill>
                <a:latin typeface="Calibri"/>
                <a:ea typeface="Calibri"/>
                <a:cs typeface="Calibri"/>
                <a:sym typeface="Calibri"/>
              </a:rPr>
              <a:t>Approximate it with </a:t>
            </a:r>
            <a:r>
              <a:rPr lang="en-US" b="1" i="1" dirty="0">
                <a:solidFill>
                  <a:srgbClr val="FF0000"/>
                </a:solidFill>
                <a:highlight>
                  <a:srgbClr val="FFFFFF"/>
                </a:highlight>
                <a:latin typeface="Times New Roman"/>
                <a:ea typeface="Times New Roman"/>
                <a:cs typeface="Times New Roman"/>
                <a:sym typeface="Times New Roman"/>
              </a:rPr>
              <a:t>χ</a:t>
            </a:r>
            <a:r>
              <a:rPr lang="en-US" b="1" baseline="30000" dirty="0">
                <a:solidFill>
                  <a:srgbClr val="FF0000"/>
                </a:solidFill>
                <a:highlight>
                  <a:srgbClr val="FFFFFF"/>
                </a:highlight>
                <a:latin typeface="Times New Roman"/>
                <a:ea typeface="Times New Roman"/>
                <a:cs typeface="Times New Roman"/>
                <a:sym typeface="Times New Roman"/>
              </a:rPr>
              <a:t>2</a:t>
            </a:r>
            <a:r>
              <a:rPr lang="en-US" dirty="0">
                <a:solidFill>
                  <a:schemeClr val="tx1"/>
                </a:solidFill>
                <a:latin typeface="Calibri"/>
                <a:ea typeface="Calibri"/>
                <a:cs typeface="Calibri"/>
                <a:sym typeface="Calibri"/>
              </a:rPr>
              <a:t> distribution with (k − 1) degrees of freedom.</a:t>
            </a:r>
          </a:p>
          <a:p>
            <a:pPr lvl="0">
              <a:buClr>
                <a:schemeClr val="dk1"/>
              </a:buClr>
              <a:buSzPts val="1100"/>
            </a:pPr>
            <a:r>
              <a:rPr lang="en-US" dirty="0">
                <a:solidFill>
                  <a:schemeClr val="tx1"/>
                </a:solidFill>
                <a:latin typeface="Calibri"/>
                <a:ea typeface="Calibri"/>
                <a:cs typeface="Calibri"/>
                <a:sym typeface="Calibri"/>
              </a:rPr>
              <a:t>The P-value is the probability that a chi-square statistic having (k-1) degrees of freedom is more extreme than </a:t>
            </a: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dirty="0">
                <a:solidFill>
                  <a:schemeClr val="tx1"/>
                </a:solidFill>
                <a:latin typeface="Calibri"/>
                <a:ea typeface="Calibri"/>
                <a:cs typeface="Calibri"/>
                <a:sym typeface="Calibri"/>
              </a:rPr>
              <a:t>.</a:t>
            </a:r>
          </a:p>
          <a:p>
            <a:pPr lvl="0">
              <a:buClr>
                <a:schemeClr val="dk1"/>
              </a:buClr>
              <a:buSzPts val="1100"/>
            </a:pPr>
            <a:endParaRPr lang="en-US" dirty="0">
              <a:solidFill>
                <a:schemeClr val="tx1"/>
              </a:solidFill>
              <a:latin typeface="Calibri"/>
              <a:ea typeface="Calibri"/>
              <a:cs typeface="Calibri"/>
              <a:sym typeface="Calibri"/>
            </a:endParaRPr>
          </a:p>
          <a:p>
            <a:pPr lvl="0">
              <a:buClr>
                <a:schemeClr val="dk1"/>
              </a:buClr>
              <a:buSzPts val="1100"/>
            </a:pPr>
            <a:endParaRPr lang="en-US" dirty="0">
              <a:solidFill>
                <a:schemeClr val="tx1"/>
              </a:solidFill>
              <a:latin typeface="Calibri"/>
              <a:ea typeface="Calibri"/>
              <a:cs typeface="Calibri"/>
              <a:sym typeface="Calibri"/>
            </a:endParaRPr>
          </a:p>
        </p:txBody>
      </p:sp>
      <p:pic>
        <p:nvPicPr>
          <p:cNvPr id="6" name="Picture 5">
            <a:extLst>
              <a:ext uri="{FF2B5EF4-FFF2-40B4-BE49-F238E27FC236}">
                <a16:creationId xmlns:a16="http://schemas.microsoft.com/office/drawing/2014/main" id="{B3BAEE09-F65D-1041-8799-3A9172D2EDF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1549" y="4144989"/>
            <a:ext cx="1778000" cy="736600"/>
          </a:xfrm>
          <a:prstGeom prst="rect">
            <a:avLst/>
          </a:prstGeom>
        </p:spPr>
      </p:pic>
      <p:pic>
        <p:nvPicPr>
          <p:cNvPr id="7" name="Picture 6">
            <a:extLst>
              <a:ext uri="{FF2B5EF4-FFF2-40B4-BE49-F238E27FC236}">
                <a16:creationId xmlns:a16="http://schemas.microsoft.com/office/drawing/2014/main" id="{DF13BB26-4763-1A4F-B97B-5199EC4D2646}"/>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9427800" y="4372442"/>
            <a:ext cx="2170032" cy="1409260"/>
          </a:xfrm>
          <a:prstGeom prst="rect">
            <a:avLst/>
          </a:prstGeom>
        </p:spPr>
      </p:pic>
      <p:pic>
        <p:nvPicPr>
          <p:cNvPr id="1026" name="Picture 2" descr="1.6 - Hypothesis Testing | STAT 462">
            <a:extLst>
              <a:ext uri="{FF2B5EF4-FFF2-40B4-BE49-F238E27FC236}">
                <a16:creationId xmlns:a16="http://schemas.microsoft.com/office/drawing/2014/main" id="{1B2A0F67-1909-EB43-885B-368BD5BEBA56}"/>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9754092" y="523220"/>
            <a:ext cx="1768396" cy="154734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test">
            <a:extLst>
              <a:ext uri="{FF2B5EF4-FFF2-40B4-BE49-F238E27FC236}">
                <a16:creationId xmlns:a16="http://schemas.microsoft.com/office/drawing/2014/main" id="{5AF12945-FA0D-A34F-BAC0-A70D6B5C88FA}"/>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9565140" y="2184293"/>
            <a:ext cx="2146300" cy="1409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37085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EC7EE05-91A5-E543-BE7D-332DF5260DF7}"/>
              </a:ext>
            </a:extLst>
          </p:cNvPr>
          <p:cNvSpPr txBox="1"/>
          <p:nvPr/>
        </p:nvSpPr>
        <p:spPr>
          <a:xfrm>
            <a:off x="0" y="0"/>
            <a:ext cx="3357349" cy="400110"/>
          </a:xfrm>
          <a:prstGeom prst="rect">
            <a:avLst/>
          </a:prstGeom>
          <a:noFill/>
        </p:spPr>
        <p:txBody>
          <a:bodyPr wrap="square" rtlCol="0">
            <a:spAutoFit/>
          </a:bodyPr>
          <a:lstStyle/>
          <a:p>
            <a:r>
              <a:rPr lang="en-US" sz="2000" b="1" dirty="0"/>
              <a:t>Binomial Test in Python</a:t>
            </a:r>
          </a:p>
        </p:txBody>
      </p:sp>
      <p:sp>
        <p:nvSpPr>
          <p:cNvPr id="8" name="TextBox 7">
            <a:extLst>
              <a:ext uri="{FF2B5EF4-FFF2-40B4-BE49-F238E27FC236}">
                <a16:creationId xmlns:a16="http://schemas.microsoft.com/office/drawing/2014/main" id="{67E0F2BD-74F5-4345-BD31-1FBC2B73E1BA}"/>
              </a:ext>
            </a:extLst>
          </p:cNvPr>
          <p:cNvSpPr txBox="1"/>
          <p:nvPr/>
        </p:nvSpPr>
        <p:spPr>
          <a:xfrm>
            <a:off x="55090" y="507831"/>
            <a:ext cx="3871452" cy="1384995"/>
          </a:xfrm>
          <a:prstGeom prst="rect">
            <a:avLst/>
          </a:prstGeom>
          <a:noFill/>
        </p:spPr>
        <p:txBody>
          <a:bodyPr wrap="square" rtlCol="0">
            <a:spAutoFit/>
          </a:bodyPr>
          <a:lstStyle/>
          <a:p>
            <a:r>
              <a:rPr lang="en-US" b="1" dirty="0">
                <a:solidFill>
                  <a:srgbClr val="00B050"/>
                </a:solidFill>
                <a:latin typeface="Consolas" panose="020B0609020204030204" pitchFamily="49" charset="0"/>
                <a:cs typeface="Consolas" panose="020B0609020204030204" pitchFamily="49" charset="0"/>
              </a:rPr>
              <a:t># binomial distribution</a:t>
            </a:r>
          </a:p>
          <a:p>
            <a:endParaRPr lang="en-US" b="1" dirty="0">
              <a:solidFill>
                <a:srgbClr val="00B050"/>
              </a:solidFill>
              <a:latin typeface="Consolas" panose="020B0609020204030204" pitchFamily="49" charset="0"/>
              <a:cs typeface="Consolas" panose="020B0609020204030204" pitchFamily="49" charset="0"/>
            </a:endParaRPr>
          </a:p>
          <a:p>
            <a:r>
              <a:rPr lang="en-US" b="1" dirty="0" err="1">
                <a:solidFill>
                  <a:srgbClr val="FF0000"/>
                </a:solidFill>
                <a:latin typeface="Consolas" panose="020B0609020204030204" pitchFamily="49" charset="0"/>
                <a:cs typeface="Consolas" panose="020B0609020204030204" pitchFamily="49" charset="0"/>
              </a:rPr>
              <a:t>pmf</a:t>
            </a:r>
            <a:r>
              <a:rPr lang="en-US" dirty="0">
                <a:solidFill>
                  <a:schemeClr val="tx1"/>
                </a:solidFill>
                <a:latin typeface="Consolas" panose="020B0609020204030204" pitchFamily="49" charset="0"/>
                <a:cs typeface="Consolas" panose="020B0609020204030204" pitchFamily="49" charset="0"/>
              </a:rPr>
              <a:t> = </a:t>
            </a:r>
            <a:r>
              <a:rPr lang="en-US" b="1" dirty="0">
                <a:solidFill>
                  <a:srgbClr val="0070C0"/>
                </a:solidFill>
                <a:latin typeface="Consolas" panose="020B0609020204030204" pitchFamily="49" charset="0"/>
                <a:cs typeface="Consolas" panose="020B0609020204030204" pitchFamily="49" charset="0"/>
              </a:rPr>
              <a:t>probability mass function </a:t>
            </a:r>
            <a:r>
              <a:rPr lang="en-US" dirty="0">
                <a:solidFill>
                  <a:schemeClr val="tx1"/>
                </a:solidFill>
                <a:latin typeface="Consolas" panose="020B0609020204030204" pitchFamily="49" charset="0"/>
                <a:cs typeface="Consolas" panose="020B0609020204030204" pitchFamily="49" charset="0"/>
              </a:rPr>
              <a:t>- gives the probability that a discrete random variable is exactly equal to some value</a:t>
            </a:r>
            <a:endParaRPr lang="en-US" b="1" dirty="0">
              <a:solidFill>
                <a:srgbClr val="00B050"/>
              </a:solidFill>
              <a:latin typeface="Consolas" panose="020B0609020204030204" pitchFamily="49" charset="0"/>
              <a:cs typeface="Consolas" panose="020B0609020204030204" pitchFamily="49" charset="0"/>
            </a:endParaRPr>
          </a:p>
        </p:txBody>
      </p:sp>
      <p:pic>
        <p:nvPicPr>
          <p:cNvPr id="9" name="Picture 8">
            <a:extLst>
              <a:ext uri="{FF2B5EF4-FFF2-40B4-BE49-F238E27FC236}">
                <a16:creationId xmlns:a16="http://schemas.microsoft.com/office/drawing/2014/main" id="{4527922F-8D38-BD4E-A8D7-5C774E16BA5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64141" y="1752488"/>
            <a:ext cx="2260600" cy="647700"/>
          </a:xfrm>
          <a:prstGeom prst="rect">
            <a:avLst/>
          </a:prstGeom>
        </p:spPr>
      </p:pic>
      <p:sp>
        <p:nvSpPr>
          <p:cNvPr id="11" name="TextBox 10">
            <a:extLst>
              <a:ext uri="{FF2B5EF4-FFF2-40B4-BE49-F238E27FC236}">
                <a16:creationId xmlns:a16="http://schemas.microsoft.com/office/drawing/2014/main" id="{6711EA37-ED1E-A141-9FE5-CBEDD2E74AE6}"/>
              </a:ext>
            </a:extLst>
          </p:cNvPr>
          <p:cNvSpPr txBox="1"/>
          <p:nvPr/>
        </p:nvSpPr>
        <p:spPr>
          <a:xfrm>
            <a:off x="0" y="1940107"/>
            <a:ext cx="1462340" cy="307777"/>
          </a:xfrm>
          <a:prstGeom prst="rect">
            <a:avLst/>
          </a:prstGeom>
          <a:noFill/>
        </p:spPr>
        <p:txBody>
          <a:bodyPr wrap="square" rtlCol="0">
            <a:spAutoFit/>
          </a:bodyPr>
          <a:lstStyle/>
          <a:p>
            <a:r>
              <a:rPr lang="en-US" dirty="0"/>
              <a:t>Binomial PMF :</a:t>
            </a:r>
          </a:p>
        </p:txBody>
      </p:sp>
      <p:pic>
        <p:nvPicPr>
          <p:cNvPr id="3" name="Picture 2">
            <a:extLst>
              <a:ext uri="{FF2B5EF4-FFF2-40B4-BE49-F238E27FC236}">
                <a16:creationId xmlns:a16="http://schemas.microsoft.com/office/drawing/2014/main" id="{8A7A16D1-6A82-EE42-84CE-7A1B0E0722C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107674" y="2969585"/>
            <a:ext cx="1955444" cy="1303629"/>
          </a:xfrm>
          <a:prstGeom prst="rect">
            <a:avLst/>
          </a:prstGeom>
        </p:spPr>
      </p:pic>
      <p:sp>
        <p:nvSpPr>
          <p:cNvPr id="13" name="TextBox 12">
            <a:extLst>
              <a:ext uri="{FF2B5EF4-FFF2-40B4-BE49-F238E27FC236}">
                <a16:creationId xmlns:a16="http://schemas.microsoft.com/office/drawing/2014/main" id="{7A8963DC-8A72-D44C-ABD9-A5F73EA7B869}"/>
              </a:ext>
            </a:extLst>
          </p:cNvPr>
          <p:cNvSpPr txBox="1"/>
          <p:nvPr/>
        </p:nvSpPr>
        <p:spPr>
          <a:xfrm>
            <a:off x="4082134" y="5663334"/>
            <a:ext cx="5884256" cy="1015663"/>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10 times and it lands on heads 8 times. </a:t>
            </a:r>
          </a:p>
          <a:p>
            <a:r>
              <a:rPr lang="en-US" sz="1200" b="1" dirty="0">
                <a:solidFill>
                  <a:srgbClr val="00B050"/>
                </a:solidFill>
                <a:latin typeface="Consolas" panose="020B0609020204030204" pitchFamily="49" charset="0"/>
                <a:cs typeface="Consolas" panose="020B0609020204030204" pitchFamily="49" charset="0"/>
              </a:rPr>
              <a:t># Perform a binomial test to determine if the coin is biased.</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(x=8, n=10, p=1/2, alternative='greater') </a:t>
            </a:r>
            <a:r>
              <a:rPr lang="en-US" sz="1200" b="1" dirty="0">
                <a:solidFill>
                  <a:srgbClr val="00B050"/>
                </a:solidFill>
                <a:latin typeface="Consolas" panose="020B0609020204030204" pitchFamily="49" charset="0"/>
                <a:cs typeface="Consolas" panose="020B0609020204030204" pitchFamily="49" charset="0"/>
              </a:rPr>
              <a:t># P = 0.0546875</a:t>
            </a:r>
          </a:p>
          <a:p>
            <a:r>
              <a:rPr lang="en-US" sz="1200" b="1" dirty="0">
                <a:solidFill>
                  <a:srgbClr val="00B050"/>
                </a:solidFill>
                <a:latin typeface="Consolas" panose="020B0609020204030204" pitchFamily="49" charset="0"/>
                <a:cs typeface="Consolas" panose="020B0609020204030204" pitchFamily="49" charset="0"/>
              </a:rPr>
              <a:t># Because this p-value (0.0546875) is not less than 0.05, </a:t>
            </a:r>
          </a:p>
          <a:p>
            <a:r>
              <a:rPr lang="en-US" sz="1200" b="1" dirty="0">
                <a:solidFill>
                  <a:srgbClr val="00B050"/>
                </a:solidFill>
                <a:latin typeface="Consolas" panose="020B0609020204030204" pitchFamily="49" charset="0"/>
                <a:cs typeface="Consolas" panose="020B0609020204030204" pitchFamily="49" charset="0"/>
              </a:rPr>
              <a:t># we accept the null hypothesis.</a:t>
            </a:r>
          </a:p>
        </p:txBody>
      </p:sp>
      <p:cxnSp>
        <p:nvCxnSpPr>
          <p:cNvPr id="7" name="Straight Connector 6">
            <a:extLst>
              <a:ext uri="{FF2B5EF4-FFF2-40B4-BE49-F238E27FC236}">
                <a16:creationId xmlns:a16="http://schemas.microsoft.com/office/drawing/2014/main" id="{CC869036-FE0F-1E47-8797-6B95E97124CA}"/>
              </a:ext>
            </a:extLst>
          </p:cNvPr>
          <p:cNvCxnSpPr/>
          <p:nvPr/>
        </p:nvCxnSpPr>
        <p:spPr>
          <a:xfrm>
            <a:off x="3953437" y="246221"/>
            <a:ext cx="0" cy="6369732"/>
          </a:xfrm>
          <a:prstGeom prst="line">
            <a:avLst/>
          </a:prstGeom>
          <a:ln w="63500"/>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6071A22-B3DB-A94F-8B3F-C3E70C2146C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7674" y="4235255"/>
            <a:ext cx="1955444" cy="1303629"/>
          </a:xfrm>
          <a:prstGeom prst="rect">
            <a:avLst/>
          </a:prstGeom>
        </p:spPr>
      </p:pic>
      <p:sp>
        <p:nvSpPr>
          <p:cNvPr id="16" name="TextBox 15">
            <a:extLst>
              <a:ext uri="{FF2B5EF4-FFF2-40B4-BE49-F238E27FC236}">
                <a16:creationId xmlns:a16="http://schemas.microsoft.com/office/drawing/2014/main" id="{D511F09B-6968-D94E-AA08-C85D9DF4BB1F}"/>
              </a:ext>
            </a:extLst>
          </p:cNvPr>
          <p:cNvSpPr txBox="1"/>
          <p:nvPr/>
        </p:nvSpPr>
        <p:spPr>
          <a:xfrm>
            <a:off x="55090" y="2538720"/>
            <a:ext cx="3871452" cy="3970318"/>
          </a:xfrm>
          <a:prstGeom prst="rect">
            <a:avLst/>
          </a:prstGeom>
          <a:noFill/>
        </p:spPr>
        <p:txBody>
          <a:bodyPr wrap="square" rtlCol="0">
            <a:spAutoFit/>
          </a:bodyPr>
          <a:lstStyle/>
          <a:p>
            <a:r>
              <a:rPr lang="en-US" dirty="0">
                <a:solidFill>
                  <a:srgbClr val="0070C0"/>
                </a:solidFill>
                <a:latin typeface="Consolas" panose="020B0609020204030204" pitchFamily="49" charset="0"/>
                <a:cs typeface="Consolas" panose="020B0609020204030204" pitchFamily="49" charset="0"/>
              </a:rPr>
              <a:t>from </a:t>
            </a:r>
            <a:r>
              <a:rPr lang="en-US" dirty="0" err="1">
                <a:solidFill>
                  <a:srgbClr val="0070C0"/>
                </a:solidFill>
                <a:latin typeface="Consolas" panose="020B0609020204030204" pitchFamily="49" charset="0"/>
                <a:cs typeface="Consolas" panose="020B0609020204030204" pitchFamily="49" charset="0"/>
              </a:rPr>
              <a:t>scipy.stats</a:t>
            </a:r>
            <a:r>
              <a:rPr lang="en-US" dirty="0">
                <a:solidFill>
                  <a:srgbClr val="0070C0"/>
                </a:solidFill>
                <a:latin typeface="Consolas" panose="020B0609020204030204" pitchFamily="49" charset="0"/>
                <a:cs typeface="Consolas" panose="020B0609020204030204" pitchFamily="49" charset="0"/>
              </a:rPr>
              <a:t> import </a:t>
            </a:r>
            <a:r>
              <a:rPr lang="en-US" dirty="0" err="1">
                <a:solidFill>
                  <a:srgbClr val="0070C0"/>
                </a:solidFill>
                <a:latin typeface="Consolas" panose="020B0609020204030204" pitchFamily="49" charset="0"/>
                <a:cs typeface="Consolas" panose="020B0609020204030204" pitchFamily="49" charset="0"/>
              </a:rPr>
              <a:t>binom</a:t>
            </a:r>
            <a:r>
              <a:rPr lang="en-US" dirty="0">
                <a:solidFill>
                  <a:srgbClr val="0070C0"/>
                </a:solidFill>
                <a:latin typeface="Consolas" panose="020B0609020204030204" pitchFamily="49" charset="0"/>
                <a:cs typeface="Consolas" panose="020B0609020204030204" pitchFamily="49" charset="0"/>
              </a:rPr>
              <a:t> </a:t>
            </a:r>
          </a:p>
          <a:p>
            <a:endParaRPr lang="en-US" b="1" dirty="0">
              <a:solidFill>
                <a:srgbClr val="00B050"/>
              </a:solidFill>
              <a:latin typeface="Consolas" panose="020B0609020204030204" pitchFamily="49" charset="0"/>
              <a:cs typeface="Consolas" panose="020B0609020204030204" pitchFamily="49" charset="0"/>
            </a:endParaRP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(0,2,0.5) </a:t>
            </a:r>
            <a:r>
              <a:rPr lang="en-US" b="1" dirty="0">
                <a:solidFill>
                  <a:srgbClr val="00B050"/>
                </a:solidFill>
                <a:latin typeface="Consolas" panose="020B0609020204030204" pitchFamily="49" charset="0"/>
                <a:cs typeface="Consolas" panose="020B0609020204030204" pitchFamily="49" charset="0"/>
              </a:rPr>
              <a:t># 0.25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(1,2,0.5) </a:t>
            </a:r>
            <a:r>
              <a:rPr lang="en-US" b="1" dirty="0">
                <a:solidFill>
                  <a:srgbClr val="00B050"/>
                </a:solidFill>
                <a:latin typeface="Consolas" panose="020B0609020204030204" pitchFamily="49" charset="0"/>
                <a:cs typeface="Consolas" panose="020B0609020204030204" pitchFamily="49" charset="0"/>
              </a:rPr>
              <a:t># 0.5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(2,2,0.5) </a:t>
            </a:r>
            <a:r>
              <a:rPr lang="en-US" b="1" dirty="0">
                <a:solidFill>
                  <a:srgbClr val="00B050"/>
                </a:solidFill>
                <a:latin typeface="Consolas" panose="020B0609020204030204" pitchFamily="49" charset="0"/>
                <a:cs typeface="Consolas" panose="020B0609020204030204" pitchFamily="49" charset="0"/>
              </a:rPr>
              <a:t># 0.25</a:t>
            </a:r>
          </a:p>
          <a:p>
            <a:endParaRPr lang="en-US" b="1" dirty="0">
              <a:solidFill>
                <a:srgbClr val="00B05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n=10</a:t>
            </a:r>
          </a:p>
          <a:p>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 = []</a:t>
            </a:r>
          </a:p>
          <a:p>
            <a:r>
              <a:rPr lang="en-US" dirty="0">
                <a:solidFill>
                  <a:srgbClr val="0070C0"/>
                </a:solidFill>
                <a:latin typeface="Consolas" panose="020B0609020204030204" pitchFamily="49" charset="0"/>
                <a:cs typeface="Consolas" panose="020B0609020204030204" pitchFamily="49" charset="0"/>
              </a:rPr>
              <a:t>for ii in range(n+1):</a:t>
            </a:r>
          </a:p>
          <a:p>
            <a:r>
              <a:rPr lang="en-US" dirty="0">
                <a:solidFill>
                  <a:srgbClr val="0070C0"/>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arr.append</a:t>
            </a:r>
            <a:r>
              <a:rPr lang="en-US" dirty="0">
                <a:solidFill>
                  <a:srgbClr val="0070C0"/>
                </a:solidFill>
                <a:latin typeface="Consolas" panose="020B0609020204030204" pitchFamily="49" charset="0"/>
                <a:cs typeface="Consolas" panose="020B0609020204030204" pitchFamily="49" charset="0"/>
              </a:rPr>
              <a:t>(</a:t>
            </a:r>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(ii, n, 0.5))</a:t>
            </a:r>
          </a:p>
          <a:p>
            <a:r>
              <a:rPr lang="en-US" dirty="0">
                <a:solidFill>
                  <a:srgbClr val="0070C0"/>
                </a:solidFill>
                <a:latin typeface="Consolas" panose="020B0609020204030204" pitchFamily="49" charset="0"/>
                <a:cs typeface="Consolas" panose="020B0609020204030204" pitchFamily="49" charset="0"/>
              </a:rPr>
              <a:t>print(sum(</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r>
              <a:rPr lang="en-US" b="1" dirty="0">
                <a:solidFill>
                  <a:srgbClr val="00B050"/>
                </a:solidFill>
                <a:latin typeface="Consolas" panose="020B0609020204030204" pitchFamily="49" charset="0"/>
                <a:cs typeface="Consolas" panose="020B0609020204030204" pitchFamily="49" charset="0"/>
              </a:rPr>
              <a:t>  # 1</a:t>
            </a:r>
          </a:p>
          <a:p>
            <a:r>
              <a:rPr lang="en-US" dirty="0">
                <a:solidFill>
                  <a:srgbClr val="0070C0"/>
                </a:solidFill>
                <a:latin typeface="Consolas" panose="020B0609020204030204" pitchFamily="49" charset="0"/>
                <a:cs typeface="Consolas" panose="020B0609020204030204" pitchFamily="49" charset="0"/>
              </a:rPr>
              <a:t>print(</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8, 9, 10 heads out of 10 trials:</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(8,10,0.5)  </a:t>
            </a:r>
            <a:r>
              <a:rPr lang="en-US" dirty="0">
                <a:solidFill>
                  <a:srgbClr val="00B050"/>
                </a:solidFill>
                <a:latin typeface="Consolas" panose="020B0609020204030204" pitchFamily="49" charset="0"/>
                <a:cs typeface="Consolas" panose="020B0609020204030204" pitchFamily="49" charset="0"/>
              </a:rPr>
              <a:t># 0.043945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(9,10,0.5)  </a:t>
            </a:r>
            <a:r>
              <a:rPr lang="en-US" dirty="0">
                <a:solidFill>
                  <a:srgbClr val="00B050"/>
                </a:solidFill>
                <a:latin typeface="Consolas" panose="020B0609020204030204" pitchFamily="49" charset="0"/>
                <a:cs typeface="Consolas" panose="020B0609020204030204" pitchFamily="49" charset="0"/>
              </a:rPr>
              <a:t># 0.009766</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(10,10,0.5) </a:t>
            </a:r>
            <a:r>
              <a:rPr lang="en-US" dirty="0">
                <a:solidFill>
                  <a:srgbClr val="00B050"/>
                </a:solidFill>
                <a:latin typeface="Consolas" panose="020B0609020204030204" pitchFamily="49" charset="0"/>
                <a:cs typeface="Consolas" panose="020B0609020204030204" pitchFamily="49" charset="0"/>
              </a:rPr>
              <a:t># 0.000977</a:t>
            </a:r>
          </a:p>
          <a:p>
            <a:r>
              <a:rPr lang="en-US" dirty="0">
                <a:solidFill>
                  <a:srgbClr val="0070C0"/>
                </a:solidFill>
                <a:latin typeface="Consolas" panose="020B0609020204030204" pitchFamily="49" charset="0"/>
                <a:cs typeface="Consolas" panose="020B0609020204030204" pitchFamily="49" charset="0"/>
              </a:rPr>
              <a:t>                </a:t>
            </a:r>
            <a:r>
              <a:rPr lang="en-US" dirty="0">
                <a:solidFill>
                  <a:srgbClr val="00B050"/>
                </a:solidFill>
                <a:latin typeface="Consolas" panose="020B0609020204030204" pitchFamily="49" charset="0"/>
                <a:cs typeface="Consolas" panose="020B0609020204030204" pitchFamily="49" charset="0"/>
              </a:rPr>
              <a:t># sum: 0.054688</a:t>
            </a:r>
          </a:p>
        </p:txBody>
      </p:sp>
      <p:sp>
        <p:nvSpPr>
          <p:cNvPr id="17" name="TextBox 16">
            <a:extLst>
              <a:ext uri="{FF2B5EF4-FFF2-40B4-BE49-F238E27FC236}">
                <a16:creationId xmlns:a16="http://schemas.microsoft.com/office/drawing/2014/main" id="{3AB7D7A0-D8BB-7D4C-9883-4005944A1DA6}"/>
              </a:ext>
            </a:extLst>
          </p:cNvPr>
          <p:cNvSpPr txBox="1"/>
          <p:nvPr/>
        </p:nvSpPr>
        <p:spPr>
          <a:xfrm>
            <a:off x="4107674" y="131094"/>
            <a:ext cx="7578799" cy="1200329"/>
          </a:xfrm>
          <a:prstGeom prst="rect">
            <a:avLst/>
          </a:prstGeom>
          <a:noFill/>
        </p:spPr>
        <p:txBody>
          <a:bodyPr wrap="square" rtlCol="0">
            <a:spAutoFit/>
          </a:bodyPr>
          <a:lstStyle/>
          <a:p>
            <a:r>
              <a:rPr lang="en-US" sz="1200" b="1" dirty="0">
                <a:solidFill>
                  <a:srgbClr val="00B050"/>
                </a:solidFill>
                <a:latin typeface="Consolas" panose="020B0609020204030204" pitchFamily="49" charset="0"/>
                <a:cs typeface="Consolas" panose="020B0609020204030204" pitchFamily="49" charset="0"/>
              </a:rPr>
              <a:t># We flip a coin N=1000 times.</a:t>
            </a:r>
          </a:p>
          <a:p>
            <a:r>
              <a:rPr lang="en-US" sz="1200" b="1" dirty="0">
                <a:solidFill>
                  <a:srgbClr val="00B050"/>
                </a:solidFill>
                <a:latin typeface="Consolas" panose="020B0609020204030204" pitchFamily="49" charset="0"/>
                <a:cs typeface="Consolas" panose="020B0609020204030204" pitchFamily="49" charset="0"/>
              </a:rPr>
              <a:t># If x is number of heads, it has binomial distribution with sigma = sqrt(N)/2 = 15.81</a:t>
            </a:r>
          </a:p>
          <a:p>
            <a:r>
              <a:rPr lang="en-US" sz="1200" b="1" dirty="0">
                <a:solidFill>
                  <a:srgbClr val="00B050"/>
                </a:solidFill>
                <a:latin typeface="Consolas" panose="020B0609020204030204" pitchFamily="49" charset="0"/>
                <a:cs typeface="Consolas" panose="020B0609020204030204" pitchFamily="49" charset="0"/>
              </a:rPr>
              <a:t># If it lands on heads 531 times, it is within 2*sigma. </a:t>
            </a:r>
          </a:p>
          <a:p>
            <a:r>
              <a:rPr lang="en-US" sz="1200" b="1" dirty="0">
                <a:solidFill>
                  <a:srgbClr val="00B050"/>
                </a:solidFill>
                <a:latin typeface="Consolas" panose="020B0609020204030204" pitchFamily="49" charset="0"/>
                <a:cs typeface="Consolas" panose="020B0609020204030204" pitchFamily="49" charset="0"/>
              </a:rPr>
              <a:t># But let's perform a binomial test for null hypothesis that coin is fair:</a:t>
            </a:r>
          </a:p>
          <a:p>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(x=531, n=1000, p=1/2, alternative='greater') </a:t>
            </a:r>
            <a:r>
              <a:rPr lang="en-US" sz="1200" b="1" dirty="0">
                <a:solidFill>
                  <a:srgbClr val="00B050"/>
                </a:solidFill>
                <a:latin typeface="Consolas" panose="020B0609020204030204" pitchFamily="49" charset="0"/>
                <a:cs typeface="Consolas" panose="020B0609020204030204" pitchFamily="49" charset="0"/>
              </a:rPr>
              <a:t># P = 0.0268</a:t>
            </a:r>
          </a:p>
          <a:p>
            <a:r>
              <a:rPr lang="en-US" sz="1200" b="1" dirty="0">
                <a:solidFill>
                  <a:srgbClr val="00B050"/>
                </a:solidFill>
                <a:latin typeface="Consolas" panose="020B0609020204030204" pitchFamily="49" charset="0"/>
                <a:cs typeface="Consolas" panose="020B0609020204030204" pitchFamily="49" charset="0"/>
              </a:rPr>
              <a:t># Because this p-value (0.0268) is less than 0.05, we reject the null hypothesis.</a:t>
            </a:r>
          </a:p>
        </p:txBody>
      </p:sp>
      <p:pic>
        <p:nvPicPr>
          <p:cNvPr id="18" name="Picture 17">
            <a:extLst>
              <a:ext uri="{FF2B5EF4-FFF2-40B4-BE49-F238E27FC236}">
                <a16:creationId xmlns:a16="http://schemas.microsoft.com/office/drawing/2014/main" id="{F0E66C0F-DB7B-5248-ABF5-B1AD675C2E7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7674" y="1672076"/>
            <a:ext cx="1955442" cy="1303628"/>
          </a:xfrm>
          <a:prstGeom prst="rect">
            <a:avLst/>
          </a:prstGeom>
        </p:spPr>
      </p:pic>
      <p:sp>
        <p:nvSpPr>
          <p:cNvPr id="19" name="TextBox 18">
            <a:extLst>
              <a:ext uri="{FF2B5EF4-FFF2-40B4-BE49-F238E27FC236}">
                <a16:creationId xmlns:a16="http://schemas.microsoft.com/office/drawing/2014/main" id="{23B13AD1-74A9-4B45-9F1F-80C123028C44}"/>
              </a:ext>
            </a:extLst>
          </p:cNvPr>
          <p:cNvSpPr txBox="1"/>
          <p:nvPr/>
        </p:nvSpPr>
        <p:spPr>
          <a:xfrm>
            <a:off x="6128884" y="1465419"/>
            <a:ext cx="5885365" cy="1384995"/>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from </a:t>
            </a:r>
            <a:r>
              <a:rPr lang="en-US" sz="1200" b="1" dirty="0" err="1">
                <a:solidFill>
                  <a:srgbClr val="0070C0"/>
                </a:solidFill>
                <a:latin typeface="Consolas" panose="020B0609020204030204" pitchFamily="49" charset="0"/>
                <a:cs typeface="Consolas" panose="020B0609020204030204" pitchFamily="49" charset="0"/>
              </a:rPr>
              <a:t>scipy.stats</a:t>
            </a:r>
            <a:r>
              <a:rPr lang="en-US" sz="1200" b="1" dirty="0">
                <a:solidFill>
                  <a:srgbClr val="0070C0"/>
                </a:solidFill>
                <a:latin typeface="Consolas" panose="020B0609020204030204" pitchFamily="49" charset="0"/>
                <a:cs typeface="Consolas" panose="020B0609020204030204" pitchFamily="49" charset="0"/>
              </a:rPr>
              <a:t> import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B050"/>
                </a:solidFill>
                <a:latin typeface="Consolas" panose="020B0609020204030204" pitchFamily="49" charset="0"/>
                <a:cs typeface="Consolas" panose="020B0609020204030204" pitchFamily="49" charset="0"/>
              </a:rPr>
              <a:t>  # returns p-value of test</a:t>
            </a:r>
            <a:endParaRPr lang="en-US" sz="1200" b="1" dirty="0">
              <a:solidFill>
                <a:srgbClr val="0070C0"/>
              </a:solidFill>
              <a:latin typeface="Consolas" panose="020B0609020204030204" pitchFamily="49" charset="0"/>
              <a:cs typeface="Consolas" panose="020B0609020204030204" pitchFamily="49" charset="0"/>
            </a:endParaRPr>
          </a:p>
          <a:p>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 = [0,470,500,530,999]</a:t>
            </a:r>
          </a:p>
          <a:p>
            <a:endParaRPr lang="en-US" sz="1200" b="1" dirty="0">
              <a:solidFill>
                <a:srgbClr val="0070C0"/>
              </a:solidFill>
              <a:latin typeface="Consolas" panose="020B0609020204030204" pitchFamily="49" charset="0"/>
              <a:cs typeface="Consolas" panose="020B0609020204030204" pitchFamily="49" charset="0"/>
            </a:endParaRPr>
          </a:p>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greater</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  </a:t>
            </a:r>
          </a:p>
          <a:p>
            <a:r>
              <a:rPr lang="en-US" sz="1200" b="1" dirty="0">
                <a:solidFill>
                  <a:srgbClr val="00B050"/>
                </a:solidFill>
                <a:latin typeface="Consolas" panose="020B0609020204030204" pitchFamily="49" charset="0"/>
                <a:cs typeface="Consolas" panose="020B0609020204030204" pitchFamily="49" charset="0"/>
              </a:rPr>
              <a:t># [1, 0.973, 0.5, 0.031, 0]</a:t>
            </a:r>
          </a:p>
        </p:txBody>
      </p:sp>
      <p:sp>
        <p:nvSpPr>
          <p:cNvPr id="20" name="TextBox 19">
            <a:extLst>
              <a:ext uri="{FF2B5EF4-FFF2-40B4-BE49-F238E27FC236}">
                <a16:creationId xmlns:a16="http://schemas.microsoft.com/office/drawing/2014/main" id="{AF338543-3670-DC4B-8757-2A6B8ABF849E}"/>
              </a:ext>
            </a:extLst>
          </p:cNvPr>
          <p:cNvSpPr txBox="1"/>
          <p:nvPr/>
        </p:nvSpPr>
        <p:spPr>
          <a:xfrm>
            <a:off x="6128884" y="3242595"/>
            <a:ext cx="5885365" cy="830997"/>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less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a:t>
            </a:r>
          </a:p>
          <a:p>
            <a:r>
              <a:rPr lang="en-US" sz="1200" b="1" dirty="0">
                <a:solidFill>
                  <a:srgbClr val="00B050"/>
                </a:solidFill>
                <a:latin typeface="Consolas" panose="020B0609020204030204" pitchFamily="49" charset="0"/>
                <a:cs typeface="Consolas" panose="020B0609020204030204" pitchFamily="49" charset="0"/>
              </a:rPr>
              <a:t># [0, 0.031, 0.5, 0.973, 1]</a:t>
            </a:r>
          </a:p>
        </p:txBody>
      </p:sp>
      <p:sp>
        <p:nvSpPr>
          <p:cNvPr id="21" name="TextBox 20">
            <a:extLst>
              <a:ext uri="{FF2B5EF4-FFF2-40B4-BE49-F238E27FC236}">
                <a16:creationId xmlns:a16="http://schemas.microsoft.com/office/drawing/2014/main" id="{22578DB8-3D7C-4A46-9833-B1F5343919F1}"/>
              </a:ext>
            </a:extLst>
          </p:cNvPr>
          <p:cNvSpPr txBox="1"/>
          <p:nvPr/>
        </p:nvSpPr>
        <p:spPr>
          <a:xfrm>
            <a:off x="6128884" y="4477302"/>
            <a:ext cx="5885365" cy="830997"/>
          </a:xfrm>
          <a:prstGeom prst="rect">
            <a:avLst/>
          </a:prstGeom>
          <a:noFill/>
        </p:spPr>
        <p:txBody>
          <a:bodyPr wrap="square" rtlCol="0">
            <a:spAutoFit/>
          </a:bodyPr>
          <a:lstStyle/>
          <a:p>
            <a:r>
              <a:rPr lang="en-US" sz="1200" b="1" dirty="0">
                <a:solidFill>
                  <a:srgbClr val="0070C0"/>
                </a:solidFill>
                <a:latin typeface="Consolas" panose="020B0609020204030204" pitchFamily="49" charset="0"/>
                <a:cs typeface="Consolas" panose="020B0609020204030204" pitchFamily="49" charset="0"/>
              </a:rPr>
              <a:t>for x in </a:t>
            </a:r>
            <a:r>
              <a:rPr lang="en-US" sz="1200" b="1" dirty="0" err="1">
                <a:solidFill>
                  <a:srgbClr val="0070C0"/>
                </a:solidFill>
                <a:latin typeface="Consolas" panose="020B0609020204030204" pitchFamily="49" charset="0"/>
                <a:cs typeface="Consolas" panose="020B0609020204030204" pitchFamily="49" charset="0"/>
              </a:rPr>
              <a:t>xvals</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myval</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binom_test</a:t>
            </a:r>
            <a:r>
              <a:rPr lang="en-US" sz="1200" b="1" dirty="0">
                <a:solidFill>
                  <a:srgbClr val="0070C0"/>
                </a:solidFill>
                <a:latin typeface="Consolas" panose="020B0609020204030204" pitchFamily="49" charset="0"/>
                <a:cs typeface="Consolas" panose="020B0609020204030204" pitchFamily="49" charset="0"/>
              </a:rPr>
              <a:t>(x=x, n=1000, p=1/2, alternative='</a:t>
            </a:r>
            <a:r>
              <a:rPr lang="en-US" sz="1200" b="1" dirty="0">
                <a:solidFill>
                  <a:srgbClr val="00B050"/>
                </a:solidFill>
                <a:latin typeface="Consolas" panose="020B0609020204030204" pitchFamily="49" charset="0"/>
                <a:cs typeface="Consolas" panose="020B0609020204030204" pitchFamily="49" charset="0"/>
              </a:rPr>
              <a:t>two-sided</a:t>
            </a:r>
            <a:r>
              <a:rPr lang="en-US" sz="1200" b="1" dirty="0">
                <a:solidFill>
                  <a:srgbClr val="0070C0"/>
                </a:solidFill>
                <a:latin typeface="Consolas" panose="020B0609020204030204" pitchFamily="49" charset="0"/>
                <a:cs typeface="Consolas" panose="020B0609020204030204" pitchFamily="49" charset="0"/>
              </a:rPr>
              <a:t>')</a:t>
            </a:r>
          </a:p>
          <a:p>
            <a:r>
              <a:rPr lang="en-US" sz="1200" b="1" dirty="0">
                <a:solidFill>
                  <a:srgbClr val="0070C0"/>
                </a:solidFill>
                <a:latin typeface="Consolas" panose="020B0609020204030204" pitchFamily="49" charset="0"/>
                <a:cs typeface="Consolas" panose="020B0609020204030204" pitchFamily="49" charset="0"/>
              </a:rPr>
              <a:t>    print(f"{myval:.3f}")</a:t>
            </a:r>
          </a:p>
          <a:p>
            <a:r>
              <a:rPr lang="en-US" sz="1200" b="1" dirty="0">
                <a:solidFill>
                  <a:srgbClr val="00B050"/>
                </a:solidFill>
                <a:latin typeface="Consolas" panose="020B0609020204030204" pitchFamily="49" charset="0"/>
                <a:cs typeface="Consolas" panose="020B0609020204030204" pitchFamily="49" charset="0"/>
              </a:rPr>
              <a:t># [0, 0.062, 1, 0.062, 0]</a:t>
            </a:r>
          </a:p>
        </p:txBody>
      </p:sp>
    </p:spTree>
    <p:extLst>
      <p:ext uri="{BB962C8B-B14F-4D97-AF65-F5344CB8AC3E}">
        <p14:creationId xmlns:p14="http://schemas.microsoft.com/office/powerpoint/2010/main" val="29777826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4E77F6-2D57-344D-957A-D121D2D97481}"/>
              </a:ext>
            </a:extLst>
          </p:cNvPr>
          <p:cNvSpPr txBox="1"/>
          <p:nvPr/>
        </p:nvSpPr>
        <p:spPr>
          <a:xfrm>
            <a:off x="345688" y="1186087"/>
            <a:ext cx="3869473" cy="3970318"/>
          </a:xfrm>
          <a:prstGeom prst="rect">
            <a:avLst/>
          </a:prstGeom>
          <a:noFill/>
        </p:spPr>
        <p:txBody>
          <a:bodyPr wrap="square" rtlCol="0">
            <a:spAutoFit/>
          </a:bodyPr>
          <a:lstStyle/>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os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sys, math</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scipy.stats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binom_test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matplotlib.pyplot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as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a:t>
            </a:r>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  = []</a:t>
            </a: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yy2 = []</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sigma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math.sqrt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(5000)/2.0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v1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v2 = 2500+sigma</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print(v1,v2)    </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2464.64, 2535.36</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 (2300, 2700):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yy.append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binom.pmf</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(ii,5000,0.5))</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if v1 &lt;= ii &lt;= v2:</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0.01</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yy2.append(</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val</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xx,yy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_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plt.plot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(xx,yy2) # show sigma range</a:t>
            </a:r>
          </a:p>
        </p:txBody>
      </p:sp>
      <p:pic>
        <p:nvPicPr>
          <p:cNvPr id="5" name="Picture 4">
            <a:extLst>
              <a:ext uri="{FF2B5EF4-FFF2-40B4-BE49-F238E27FC236}">
                <a16:creationId xmlns:a16="http://schemas.microsoft.com/office/drawing/2014/main" id="{2946C5B3-4D05-D54B-8D93-DB43DC8E13DE}"/>
              </a:ext>
            </a:extLst>
          </p:cNvPr>
          <p:cNvPicPr>
            <a:picLocks noChangeAspect="1"/>
          </p:cNvPicPr>
          <p:nvPr/>
        </p:nvPicPr>
        <p:blipFill>
          <a:blip r:embed="rId2"/>
          <a:stretch>
            <a:fillRect/>
          </a:stretch>
        </p:blipFill>
        <p:spPr>
          <a:xfrm>
            <a:off x="4805626" y="1593590"/>
            <a:ext cx="4876800" cy="3149600"/>
          </a:xfrm>
          <a:prstGeom prst="rect">
            <a:avLst/>
          </a:prstGeom>
        </p:spPr>
      </p:pic>
      <p:sp>
        <p:nvSpPr>
          <p:cNvPr id="6" name="TextBox 5">
            <a:extLst>
              <a:ext uri="{FF2B5EF4-FFF2-40B4-BE49-F238E27FC236}">
                <a16:creationId xmlns:a16="http://schemas.microsoft.com/office/drawing/2014/main" id="{6180DDB0-6998-994F-8A7D-E2271187FE2C}"/>
              </a:ext>
            </a:extLst>
          </p:cNvPr>
          <p:cNvSpPr txBox="1"/>
          <p:nvPr/>
        </p:nvSpPr>
        <p:spPr>
          <a:xfrm>
            <a:off x="345688" y="156117"/>
            <a:ext cx="6400800" cy="523220"/>
          </a:xfrm>
          <a:prstGeom prst="rect">
            <a:avLst/>
          </a:prstGeom>
          <a:noFill/>
        </p:spPr>
        <p:txBody>
          <a:bodyPr wrap="square" rtlCol="0">
            <a:spAutoFit/>
          </a:bodyPr>
          <a:lstStyle/>
          <a:p>
            <a:r>
              <a:rPr lang="en-US" sz="2800" b="1" dirty="0"/>
              <a:t>Binomial Distribution – Plot, Sigma</a:t>
            </a:r>
          </a:p>
        </p:txBody>
      </p:sp>
    </p:spTree>
    <p:extLst>
      <p:ext uri="{BB962C8B-B14F-4D97-AF65-F5344CB8AC3E}">
        <p14:creationId xmlns:p14="http://schemas.microsoft.com/office/powerpoint/2010/main" val="180183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8"/>
            <a:ext cx="6172200" cy="5179771"/>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Using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a:t>
            </a:r>
            <a:r>
              <a:rPr lang="en-US" sz="1300" dirty="0">
                <a:latin typeface="Calibri"/>
                <a:cs typeface="Calibri"/>
                <a:sym typeface="Calibri"/>
              </a:rPr>
              <a:t>goodness of fit test</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a:p>
            <a:pPr>
              <a:buClr>
                <a:schemeClr val="dk1"/>
              </a:buClr>
              <a:buSzPts val="1100"/>
            </a:pPr>
            <a:endParaRPr lang="en-US" sz="1300" dirty="0">
              <a:latin typeface="Calibri"/>
              <a:ea typeface="Calibri"/>
              <a:cs typeface="Calibri"/>
              <a:sym typeface="Calibri"/>
            </a:endParaRPr>
          </a:p>
          <a:p>
            <a:pPr>
              <a:buClr>
                <a:schemeClr val="dk1"/>
              </a:buClr>
              <a:buSzPts val="1100"/>
            </a:pPr>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3"/>
            <a:ext cx="5913120" cy="6800617"/>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endParaRPr lang="en-US" sz="900" dirty="0">
              <a:latin typeface="Calibri"/>
              <a:ea typeface="Calibri"/>
              <a:cs typeface="Calibri"/>
              <a:sym typeface="Calibri"/>
            </a:endParaRPr>
          </a:p>
          <a:p>
            <a:r>
              <a:rPr lang="en-US" sz="1300" dirty="0">
                <a:latin typeface="Calibri"/>
                <a:cs typeface="Calibri"/>
                <a:sym typeface="Calibri"/>
              </a:rPr>
              <a:t>I am not sure if the t-test can be used for coin flipping hypothesis testing.</a:t>
            </a:r>
          </a:p>
          <a:p>
            <a:endParaRPr lang="en-US" sz="800" dirty="0">
              <a:latin typeface="Calibri"/>
              <a:cs typeface="Calibri"/>
              <a:sym typeface="Calibri"/>
            </a:endParaRPr>
          </a:p>
          <a:p>
            <a:r>
              <a:rPr lang="en-US" sz="1300" dirty="0">
                <a:latin typeface="Calibri"/>
                <a:cs typeface="Calibri"/>
                <a:sym typeface="Calibri"/>
              </a:rPr>
              <a:t>t-test is used for data which is presumed to have normal distribution, and only for small samples of data ( &lt; 30 points).</a:t>
            </a:r>
          </a:p>
          <a:p>
            <a:endParaRPr lang="en-US" sz="800" dirty="0">
              <a:latin typeface="Calibri"/>
              <a:cs typeface="Calibri"/>
              <a:sym typeface="Calibri"/>
            </a:endParaRPr>
          </a:p>
          <a:p>
            <a:r>
              <a:rPr lang="en-US" sz="1300" dirty="0">
                <a:latin typeface="Calibri"/>
                <a:cs typeface="Calibri"/>
                <a:sym typeface="Calibri"/>
              </a:rPr>
              <a:t>But here is formal application of t-test:</a:t>
            </a:r>
          </a:p>
          <a:p>
            <a:endParaRPr lang="en-US" sz="800" dirty="0">
              <a:latin typeface="Calibri"/>
              <a:cs typeface="Calibri"/>
              <a:sym typeface="Calibri"/>
            </a:endParaRPr>
          </a:p>
          <a:p>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8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Degrees of Freedom = N-1 = 99</a:t>
            </a:r>
          </a:p>
          <a:p>
            <a:pPr marL="0" lvl="0" indent="0" algn="l" rtl="0">
              <a:spcBef>
                <a:spcPts val="0"/>
              </a:spcBef>
              <a:spcAft>
                <a:spcPts val="0"/>
              </a:spcAft>
              <a:buNone/>
            </a:pPr>
            <a:r>
              <a:rPr lang="en-US" sz="1300" dirty="0">
                <a:latin typeface="Calibri"/>
                <a:ea typeface="Calibri"/>
                <a:cs typeface="Calibri"/>
                <a:sym typeface="Calibri"/>
              </a:rPr>
              <a:t>   Sample Variance:</a:t>
            </a: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r>
              <a:rPr lang="en-US" sz="1300" dirty="0">
                <a:latin typeface="Calibri"/>
                <a:ea typeface="Calibri"/>
                <a:cs typeface="Calibri"/>
                <a:sym typeface="Calibri"/>
              </a:rPr>
              <a:t>   Sample Standard Deviation:</a:t>
            </a:r>
          </a:p>
          <a:p>
            <a:pPr lvl="0"/>
            <a:r>
              <a:rPr lang="en-US" sz="1300" dirty="0">
                <a:latin typeface="Calibri"/>
                <a:ea typeface="Calibri"/>
                <a:cs typeface="Calibri"/>
                <a:sym typeface="Calibri"/>
              </a:rPr>
              <a:t>        S = sqrt(0.9696) = 0.9847</a:t>
            </a:r>
          </a:p>
          <a:p>
            <a:pPr lvl="0"/>
            <a:r>
              <a:rPr lang="en-US" sz="1300" dirty="0">
                <a:latin typeface="Calibri"/>
                <a:ea typeface="Calibri"/>
                <a:cs typeface="Calibri"/>
                <a:sym typeface="Calibri"/>
              </a:rPr>
              <a:t>   t-statistics:</a:t>
            </a:r>
          </a:p>
          <a:p>
            <a:pPr lvl="0"/>
            <a:r>
              <a:rPr lang="en-US" sz="1300" dirty="0">
                <a:latin typeface="Calibri"/>
                <a:ea typeface="Calibri"/>
                <a:cs typeface="Calibri"/>
                <a:sym typeface="Calibri"/>
              </a:rPr>
              <a:t>        (0.2– 0) / (0.9847 / 10) = 2.031</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Note: for two-sided t-test with 100 degrees of freedom and P-value 0.05</a:t>
            </a:r>
          </a:p>
          <a:p>
            <a:pPr lvl="0"/>
            <a:r>
              <a:rPr lang="en-US" sz="1300" dirty="0">
                <a:latin typeface="Calibri"/>
                <a:ea typeface="Calibri"/>
                <a:cs typeface="Calibri"/>
                <a:sym typeface="Calibri"/>
              </a:rPr>
              <a:t>we have (from t-test table): 1.984</a:t>
            </a:r>
          </a:p>
          <a:p>
            <a:pPr lvl="0"/>
            <a:r>
              <a:rPr lang="en-US" sz="1300" dirty="0">
                <a:latin typeface="Calibri"/>
                <a:ea typeface="Calibri"/>
                <a:cs typeface="Calibri"/>
                <a:sym typeface="Calibri"/>
              </a:rPr>
              <a:t>Our t-statistics is 2.031, it is more extreme, so we reject the null hypothesis</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In Python:</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from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sym typeface="Calibri"/>
              </a:rPr>
              <a:t>scipy</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import stats</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sym typeface="Calibri"/>
              </a:rPr>
              <a:t>stats.t.cdf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(2.031,df=99)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sym typeface="Calibri"/>
              </a:rPr>
              <a:t># 0.9775 , more extreme than 0.95</a:t>
            </a: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22758" y="1496340"/>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22758" y="2148781"/>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38703" y="3002765"/>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38703" y="3859473"/>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772928" y="237877"/>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580958" y="1639127"/>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580958" y="2244285"/>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44844" y="3152313"/>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44845" y="3968158"/>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6584085" y="5246893"/>
            <a:ext cx="5384771" cy="1408156"/>
          </a:xfrm>
          <a:prstGeom prst="rect">
            <a:avLst/>
          </a:prstGeom>
        </p:spPr>
      </p:pic>
      <p:cxnSp>
        <p:nvCxnSpPr>
          <p:cNvPr id="3" name="Straight Connector 2">
            <a:extLst>
              <a:ext uri="{FF2B5EF4-FFF2-40B4-BE49-F238E27FC236}">
                <a16:creationId xmlns:a16="http://schemas.microsoft.com/office/drawing/2014/main" id="{D1C0BEE1-1D4E-454C-B8BD-7721E20060BB}"/>
              </a:ext>
            </a:extLst>
          </p:cNvPr>
          <p:cNvCxnSpPr/>
          <p:nvPr/>
        </p:nvCxnSpPr>
        <p:spPr>
          <a:xfrm>
            <a:off x="6291620" y="237877"/>
            <a:ext cx="0" cy="64631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9995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551503"/>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551503"/>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5416784" cy="400110"/>
          </a:xfrm>
          <a:prstGeom prst="rect">
            <a:avLst/>
          </a:prstGeom>
          <a:noFill/>
        </p:spPr>
        <p:txBody>
          <a:bodyPr wrap="square" rtlCol="0">
            <a:spAutoFit/>
          </a:bodyPr>
          <a:lstStyle/>
          <a:p>
            <a:r>
              <a:rPr lang="en-US" sz="2000" b="1" dirty="0"/>
              <a:t>More 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3517</TotalTime>
  <Words>3169</Words>
  <Application>Microsoft Macintosh PowerPoint</Application>
  <PresentationFormat>Widescreen</PresentationFormat>
  <Paragraphs>336</Paragraphs>
  <Slides>11</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Calibri</vt:lpstr>
      <vt:lpstr>Consolas</vt:lpstr>
      <vt:lpstr>Courier New</vt:lpstr>
      <vt:lpstr>Menlo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340</cp:revision>
  <cp:lastPrinted>2020-09-21T17:22:59Z</cp:lastPrinted>
  <dcterms:modified xsi:type="dcterms:W3CDTF">2021-04-16T14:33:38Z</dcterms:modified>
</cp:coreProperties>
</file>