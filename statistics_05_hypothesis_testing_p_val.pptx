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316" r:id="rId2"/>
    <p:sldId id="258" r:id="rId3"/>
    <p:sldId id="259" r:id="rId4"/>
    <p:sldId id="317" r:id="rId5"/>
    <p:sldId id="318" r:id="rId6"/>
    <p:sldId id="314" r:id="rId7"/>
    <p:sldId id="315" r:id="rId8"/>
    <p:sldId id="313" r:id="rId9"/>
    <p:sldId id="29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53"/>
    <p:restoredTop sz="95567"/>
  </p:normalViewPr>
  <p:slideViewPr>
    <p:cSldViewPr snapToGrid="0" snapToObjects="1">
      <p:cViewPr varScale="1">
        <p:scale>
          <a:sx n="115" d="100"/>
          <a:sy n="115" d="100"/>
        </p:scale>
        <p:origin x="21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27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en.wikipedia.org/wiki/Statistical_hypothesis_test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Confidence_interval"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dummies.com/education/math/statistics/how-sample-size-affects-the-margin-of-error/" TargetMode="External"/><Relationship Id="rId5" Type="http://schemas.openxmlformats.org/officeDocument/2006/relationships/hyperlink" Target="https://www.surveymonkey.com/mp/margin-of-error-calculator/" TargetMode="External"/><Relationship Id="rId4" Type="http://schemas.openxmlformats.org/officeDocument/2006/relationships/hyperlink" Target="https://en.wikipedia.org/wiki/Margin_of_error"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7.tiff"/><Relationship Id="rId3" Type="http://schemas.openxmlformats.org/officeDocument/2006/relationships/hyperlink" Target="https://en.wikipedia.org/wiki/Checking_whether_a_coin_is_fair" TargetMode="External"/><Relationship Id="rId7" Type="http://schemas.openxmlformats.org/officeDocument/2006/relationships/image" Target="../media/image6.tif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tiff"/><Relationship Id="rId5" Type="http://schemas.openxmlformats.org/officeDocument/2006/relationships/image" Target="../media/image4.tiff"/><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tiff"/><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image" Target="../media/image15.tiff"/><Relationship Id="rId1" Type="http://schemas.openxmlformats.org/officeDocument/2006/relationships/slideLayout" Target="../slideLayouts/slideLayout2.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researchgate.net/post/What_is_the_relationship_between_R-squared_and_p-value_in_a_regress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1248F-EA51-434B-AACB-ECE0F18B19E9}"/>
              </a:ext>
            </a:extLst>
          </p:cNvPr>
          <p:cNvSpPr txBox="1"/>
          <p:nvPr/>
        </p:nvSpPr>
        <p:spPr>
          <a:xfrm>
            <a:off x="0" y="0"/>
            <a:ext cx="3644348" cy="523220"/>
          </a:xfrm>
          <a:prstGeom prst="rect">
            <a:avLst/>
          </a:prstGeom>
          <a:noFill/>
        </p:spPr>
        <p:txBody>
          <a:bodyPr wrap="square" rtlCol="0">
            <a:spAutoFit/>
          </a:bodyPr>
          <a:lstStyle/>
          <a:p>
            <a:r>
              <a:rPr lang="en-US" sz="2800" b="1" dirty="0"/>
              <a:t>Hypothesis Testing</a:t>
            </a:r>
          </a:p>
        </p:txBody>
      </p:sp>
      <p:sp>
        <p:nvSpPr>
          <p:cNvPr id="5" name="TextBox 4">
            <a:extLst>
              <a:ext uri="{FF2B5EF4-FFF2-40B4-BE49-F238E27FC236}">
                <a16:creationId xmlns:a16="http://schemas.microsoft.com/office/drawing/2014/main" id="{2C3EC991-6D8C-BC48-9912-245B595525E1}"/>
              </a:ext>
            </a:extLst>
          </p:cNvPr>
          <p:cNvSpPr txBox="1"/>
          <p:nvPr/>
        </p:nvSpPr>
        <p:spPr>
          <a:xfrm>
            <a:off x="177421" y="850765"/>
            <a:ext cx="5791201" cy="5262979"/>
          </a:xfrm>
          <a:prstGeom prst="rect">
            <a:avLst/>
          </a:prstGeom>
          <a:noFill/>
        </p:spPr>
        <p:txBody>
          <a:bodyPr wrap="square" rtlCol="0">
            <a:spAutoFit/>
          </a:bodyPr>
          <a:lstStyle/>
          <a:p>
            <a:r>
              <a:rPr lang="en-US" dirty="0">
                <a:hlinkClick r:id="rId2"/>
              </a:rPr>
              <a:t>https://en.wikipedia.org/wiki/Statistical_hypothesis_testing</a:t>
            </a:r>
            <a:r>
              <a:rPr lang="en-US" dirty="0"/>
              <a:t> </a:t>
            </a:r>
          </a:p>
          <a:p>
            <a:endParaRPr lang="en-US" dirty="0"/>
          </a:p>
          <a:p>
            <a:r>
              <a:rPr lang="en-US" dirty="0"/>
              <a:t>Purpose of hypothesis testing is to determine whether there is enough statistical evidence in favor of a certain belief/hypothesis about a parameter value or a distribution.</a:t>
            </a:r>
          </a:p>
          <a:p>
            <a:endParaRPr lang="en-US" dirty="0"/>
          </a:p>
          <a:p>
            <a:r>
              <a:rPr lang="en-US" dirty="0"/>
              <a:t>Four steps:</a:t>
            </a:r>
          </a:p>
          <a:p>
            <a:endParaRPr lang="en-US" dirty="0"/>
          </a:p>
          <a:p>
            <a:r>
              <a:rPr lang="en-US" dirty="0"/>
              <a:t>Step1: </a:t>
            </a:r>
            <a:br>
              <a:rPr lang="en-US" dirty="0"/>
            </a:br>
            <a:r>
              <a:rPr lang="en-US" dirty="0"/>
              <a:t>Formulate hypotheses – usually at least two - the main one (usually called "Null Hypothesis") and an alternative. </a:t>
            </a:r>
          </a:p>
          <a:p>
            <a:endParaRPr lang="en-US" dirty="0"/>
          </a:p>
          <a:p>
            <a:r>
              <a:rPr lang="en-US" dirty="0"/>
              <a:t>Step2: </a:t>
            </a:r>
            <a:br>
              <a:rPr lang="en-US" dirty="0"/>
            </a:br>
            <a:r>
              <a:rPr lang="en-US" dirty="0"/>
              <a:t>Decide which level of significance we need. It is usually denoted as </a:t>
            </a:r>
            <a:r>
              <a:rPr lang="en-US" b="1" dirty="0">
                <a:solidFill>
                  <a:srgbClr val="FF0000"/>
                </a:solidFill>
              </a:rPr>
              <a:t>alpha</a:t>
            </a:r>
            <a:r>
              <a:rPr lang="en-US" dirty="0"/>
              <a:t> or </a:t>
            </a:r>
            <a:r>
              <a:rPr lang="el-GR" b="1" dirty="0">
                <a:solidFill>
                  <a:srgbClr val="FF0000"/>
                </a:solidFill>
              </a:rPr>
              <a:t>α</a:t>
            </a:r>
            <a:r>
              <a:rPr lang="el-GR" dirty="0"/>
              <a:t>, </a:t>
            </a:r>
            <a:r>
              <a:rPr lang="en-US" dirty="0"/>
              <a:t>and means the probability of rejecting the null hypothesis when it is true. Most common choice for the value of alpha is 0.05.</a:t>
            </a:r>
          </a:p>
          <a:p>
            <a:endParaRPr lang="en-US" dirty="0"/>
          </a:p>
          <a:p>
            <a:r>
              <a:rPr lang="en-US" dirty="0"/>
              <a:t>Step3: </a:t>
            </a:r>
            <a:br>
              <a:rPr lang="en-US" dirty="0"/>
            </a:br>
            <a:r>
              <a:rPr lang="en-US" dirty="0"/>
              <a:t>Select the test type and compute the test statistic. There are many different types of tests in statistics like t-</a:t>
            </a:r>
            <a:r>
              <a:rPr lang="en-US" dirty="0" err="1"/>
              <a:t>test,Z</a:t>
            </a:r>
            <a:r>
              <a:rPr lang="en-US" dirty="0"/>
              <a:t>-</a:t>
            </a:r>
            <a:r>
              <a:rPr lang="en-US" dirty="0" err="1"/>
              <a:t>test,chi</a:t>
            </a:r>
            <a:r>
              <a:rPr lang="en-US" dirty="0"/>
              <a:t>-square test, </a:t>
            </a:r>
            <a:r>
              <a:rPr lang="en-US" dirty="0" err="1"/>
              <a:t>anova</a:t>
            </a:r>
            <a:r>
              <a:rPr lang="en-US" dirty="0"/>
              <a:t> test ,binomial test, one sample median test, etc. </a:t>
            </a:r>
          </a:p>
          <a:p>
            <a:endParaRPr lang="en-US" dirty="0"/>
          </a:p>
          <a:p>
            <a:r>
              <a:rPr lang="en-US" dirty="0"/>
              <a:t>Step 4: </a:t>
            </a:r>
            <a:br>
              <a:rPr lang="en-US" dirty="0"/>
            </a:br>
            <a:r>
              <a:rPr lang="en-US" dirty="0"/>
              <a:t>Make a decision.</a:t>
            </a:r>
          </a:p>
        </p:txBody>
      </p:sp>
      <p:pic>
        <p:nvPicPr>
          <p:cNvPr id="2" name="Picture 1">
            <a:extLst>
              <a:ext uri="{FF2B5EF4-FFF2-40B4-BE49-F238E27FC236}">
                <a16:creationId xmlns:a16="http://schemas.microsoft.com/office/drawing/2014/main" id="{B0831C98-2BFB-4940-A61B-D8BB77BC209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591869" y="1064526"/>
            <a:ext cx="5199797" cy="3425588"/>
          </a:xfrm>
          <a:prstGeom prst="rect">
            <a:avLst/>
          </a:prstGeom>
        </p:spPr>
      </p:pic>
      <p:sp>
        <p:nvSpPr>
          <p:cNvPr id="6" name="Google Shape;108;p15">
            <a:extLst>
              <a:ext uri="{FF2B5EF4-FFF2-40B4-BE49-F238E27FC236}">
                <a16:creationId xmlns:a16="http://schemas.microsoft.com/office/drawing/2014/main" id="{76B7BDFB-13D9-7047-B830-394DFFB32328}"/>
              </a:ext>
            </a:extLst>
          </p:cNvPr>
          <p:cNvSpPr txBox="1"/>
          <p:nvPr/>
        </p:nvSpPr>
        <p:spPr>
          <a:xfrm>
            <a:off x="7008565" y="4692162"/>
            <a:ext cx="4582062" cy="74241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Type I error - false rejection of the null hypothesis</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Type II error - false acceptance of the null hypothesis</a:t>
            </a:r>
            <a:endParaRPr sz="1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13374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75825" y="71800"/>
            <a:ext cx="6523500" cy="66746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p-value &amp; null hypothesis</a:t>
            </a:r>
            <a:endParaRPr sz="3200" b="1"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 </a:t>
            </a:r>
            <a:r>
              <a:rPr lang="en-US" b="1" dirty="0">
                <a:solidFill>
                  <a:srgbClr val="0000FF"/>
                </a:solidFill>
                <a:latin typeface="Calibri"/>
                <a:ea typeface="Calibri"/>
                <a:cs typeface="Calibri"/>
                <a:sym typeface="Calibri"/>
              </a:rPr>
              <a:t>p-value</a:t>
            </a:r>
            <a:r>
              <a:rPr lang="en-US" dirty="0">
                <a:solidFill>
                  <a:schemeClr val="dk1"/>
                </a:solidFill>
                <a:latin typeface="Calibri"/>
                <a:ea typeface="Calibri"/>
                <a:cs typeface="Calibri"/>
                <a:sym typeface="Calibri"/>
              </a:rPr>
              <a:t> (probability value) is a probability of getting results at least as extreme as yours. If this probability is very small, this means that the result is unlikely to be explained by the null hypothesis. So we should reject the null hypothesis.</a:t>
            </a: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P-value    probability of observed</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0.05         5%</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0.01         1%</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p &lt; 0.001        0.1%</a:t>
            </a:r>
            <a:endParaRPr dirty="0">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dirty="0">
                <a:solidFill>
                  <a:schemeClr val="dk1"/>
                </a:solidFill>
                <a:latin typeface="Courier New"/>
                <a:ea typeface="Courier New"/>
                <a:cs typeface="Courier New"/>
                <a:sym typeface="Courier New"/>
              </a:rPr>
              <a:t>-------------------------------</a:t>
            </a:r>
            <a:endParaRPr dirty="0">
              <a:solidFill>
                <a:schemeClr val="dk1"/>
              </a:solidFill>
              <a:latin typeface="Courier New"/>
              <a:ea typeface="Courier New"/>
              <a:cs typeface="Courier New"/>
              <a:sym typeface="Courier New"/>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 small p-value (typically ≤ 0.05) indicates strong evidence against the null hypothesis, so you reject the null hypothesis. People say that this evidence is "statistically significant".</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rPr>
              <a:t>Level of significance</a:t>
            </a:r>
            <a:r>
              <a:rPr lang="en-US" dirty="0">
                <a:solidFill>
                  <a:schemeClr val="tx1"/>
                </a:solidFill>
                <a:latin typeface="Calibri"/>
                <a:cs typeface="Calibri"/>
              </a:rPr>
              <a:t> (</a:t>
            </a:r>
            <a:r>
              <a:rPr lang="en-US" b="1" dirty="0">
                <a:solidFill>
                  <a:srgbClr val="FF0000"/>
                </a:solidFill>
                <a:latin typeface="Calibri"/>
                <a:cs typeface="Calibri"/>
              </a:rPr>
              <a:t>alpha</a:t>
            </a:r>
            <a:r>
              <a:rPr lang="en-US" dirty="0">
                <a:solidFill>
                  <a:schemeClr val="tx1"/>
                </a:solidFill>
                <a:latin typeface="Calibri"/>
                <a:cs typeface="Calibri"/>
              </a:rPr>
              <a:t> or </a:t>
            </a:r>
            <a:r>
              <a:rPr lang="el-GR" b="1" dirty="0">
                <a:solidFill>
                  <a:srgbClr val="FF0000"/>
                </a:solidFill>
                <a:latin typeface="Calibri"/>
                <a:cs typeface="Calibri"/>
              </a:rPr>
              <a:t>α</a:t>
            </a:r>
            <a:r>
              <a:rPr lang="en-US" dirty="0">
                <a:solidFill>
                  <a:schemeClr val="tx1"/>
                </a:solidFill>
                <a:latin typeface="Calibri"/>
                <a:cs typeface="Calibri"/>
              </a:rPr>
              <a:t>, typically 0.05) - probability that the event could have occurred by chance. </a:t>
            </a:r>
          </a:p>
          <a:p>
            <a:pPr lvl="0">
              <a:buSzPts val="1100"/>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Confidence Interval (CI)</a:t>
            </a:r>
            <a:r>
              <a:rPr lang="en-US" dirty="0">
                <a:solidFill>
                  <a:schemeClr val="dk1"/>
                </a:solidFill>
                <a:latin typeface="Calibri"/>
                <a:ea typeface="Calibri"/>
                <a:cs typeface="Calibri"/>
                <a:sym typeface="Calibri"/>
              </a:rPr>
              <a:t>. A 95% CI is the interval that you are 95% certain contains the true population value as it might be estimated from a much larger study.</a:t>
            </a:r>
          </a:p>
          <a:p>
            <a:pPr>
              <a:buSzPts val="1100"/>
            </a:pPr>
            <a:r>
              <a:rPr lang="en-US" dirty="0">
                <a:solidFill>
                  <a:schemeClr val="dk1"/>
                </a:solidFill>
                <a:latin typeface="Calibri"/>
                <a:ea typeface="Calibri"/>
                <a:cs typeface="Calibri"/>
                <a:sym typeface="Calibri"/>
              </a:rPr>
              <a:t> </a:t>
            </a:r>
            <a:r>
              <a:rPr lang="en-US" dirty="0"/>
              <a:t>- </a:t>
            </a:r>
            <a:r>
              <a:rPr lang="en-US" dirty="0">
                <a:hlinkClick r:id="rId3"/>
              </a:rPr>
              <a:t>https://en.wikipedia.org/wiki/Confidence_interval</a:t>
            </a:r>
            <a:r>
              <a:rPr lang="en-US" dirty="0"/>
              <a:t> </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z-score</a:t>
            </a:r>
            <a:r>
              <a:rPr lang="en-US" dirty="0">
                <a:solidFill>
                  <a:schemeClr val="dk1"/>
                </a:solidFill>
                <a:latin typeface="Calibri"/>
                <a:ea typeface="Calibri"/>
                <a:cs typeface="Calibri"/>
                <a:sym typeface="Calibri"/>
              </a:rPr>
              <a:t> is the distance from the mean measured in the number of standard deviations.</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Margin of Error – XXXXXX</a:t>
            </a:r>
          </a:p>
          <a:p>
            <a:pPr marL="0" marR="0" lvl="0" indent="0" algn="l" rtl="0">
              <a:spcBef>
                <a:spcPts val="0"/>
              </a:spcBef>
              <a:spcAft>
                <a:spcPts val="0"/>
              </a:spcAft>
              <a:buSzPts val="1100"/>
              <a:buNone/>
            </a:pPr>
            <a:r>
              <a:rPr lang="en-US" sz="1000" dirty="0">
                <a:solidFill>
                  <a:schemeClr val="dk1"/>
                </a:solidFill>
                <a:latin typeface="Calibri"/>
                <a:ea typeface="Calibri"/>
                <a:cs typeface="Calibri"/>
                <a:sym typeface="Calibri"/>
              </a:rPr>
              <a:t> - </a:t>
            </a:r>
            <a:r>
              <a:rPr lang="en-US" sz="1000" dirty="0">
                <a:solidFill>
                  <a:schemeClr val="dk1"/>
                </a:solidFill>
                <a:latin typeface="Calibri"/>
                <a:ea typeface="Calibri"/>
                <a:cs typeface="Calibri"/>
                <a:sym typeface="Calibri"/>
                <a:hlinkClick r:id="rId4"/>
              </a:rPr>
              <a:t>https://en.wikipedia.org/wiki/Margin_of_error</a:t>
            </a:r>
            <a:endParaRPr lang="en-US" sz="1000" dirty="0">
              <a:solidFill>
                <a:schemeClr val="dk1"/>
              </a:solidFill>
              <a:latin typeface="Calibri"/>
              <a:ea typeface="Calibri"/>
              <a:cs typeface="Calibri"/>
              <a:sym typeface="Calibri"/>
            </a:endParaRPr>
          </a:p>
          <a:p>
            <a:pPr lvl="0">
              <a:buSzPts val="1100"/>
            </a:pPr>
            <a:r>
              <a:rPr lang="en-US" sz="1000" dirty="0">
                <a:solidFill>
                  <a:schemeClr val="dk1"/>
                </a:solidFill>
                <a:latin typeface="Calibri"/>
                <a:ea typeface="Calibri"/>
                <a:cs typeface="Calibri"/>
                <a:sym typeface="Calibri"/>
              </a:rPr>
              <a:t> - </a:t>
            </a:r>
            <a:r>
              <a:rPr lang="en-US" sz="1000" dirty="0">
                <a:solidFill>
                  <a:schemeClr val="dk1"/>
                </a:solidFill>
                <a:latin typeface="Calibri"/>
                <a:ea typeface="Calibri"/>
                <a:cs typeface="Calibri"/>
                <a:sym typeface="Calibri"/>
                <a:hlinkClick r:id="rId5"/>
              </a:rPr>
              <a:t>https://www.surveymonkey.com/mp/margin-of-error-calculator/</a:t>
            </a:r>
            <a:r>
              <a:rPr lang="en-US" sz="1000" dirty="0">
                <a:solidFill>
                  <a:schemeClr val="dk1"/>
                </a:solidFill>
                <a:latin typeface="Calibri"/>
                <a:ea typeface="Calibri"/>
                <a:cs typeface="Calibri"/>
                <a:sym typeface="Calibri"/>
              </a:rPr>
              <a:t> </a:t>
            </a:r>
          </a:p>
          <a:p>
            <a:pPr lvl="0">
              <a:buSzPts val="1100"/>
            </a:pPr>
            <a:r>
              <a:rPr lang="en-US" sz="1000" dirty="0">
                <a:solidFill>
                  <a:schemeClr val="dk1"/>
                </a:solidFill>
                <a:latin typeface="Calibri"/>
                <a:ea typeface="Calibri"/>
                <a:cs typeface="Calibri"/>
                <a:sym typeface="Calibri"/>
              </a:rPr>
              <a:t> - </a:t>
            </a:r>
            <a:r>
              <a:rPr lang="en-US" sz="1000" dirty="0">
                <a:solidFill>
                  <a:schemeClr val="dk1"/>
                </a:solidFill>
                <a:latin typeface="Calibri"/>
                <a:ea typeface="Calibri"/>
                <a:cs typeface="Calibri"/>
                <a:sym typeface="Calibri"/>
                <a:hlinkClick r:id="rId6"/>
              </a:rPr>
              <a:t>https://www.dummies.com/education/math/statistics/how-sample-size-affects-the-margin-of-error/</a:t>
            </a:r>
            <a:r>
              <a:rPr lang="en-US" sz="1000" dirty="0">
                <a:solidFill>
                  <a:schemeClr val="dk1"/>
                </a:solidFill>
                <a:latin typeface="Calibri"/>
                <a:ea typeface="Calibri"/>
                <a:cs typeface="Calibri"/>
                <a:sym typeface="Calibri"/>
              </a:rPr>
              <a:t> </a:t>
            </a:r>
          </a:p>
          <a:p>
            <a:pPr lvl="0">
              <a:buSzPts val="1100"/>
            </a:pPr>
            <a:endParaRPr dirty="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7404350" y="129325"/>
            <a:ext cx="4721174" cy="2382325"/>
          </a:xfrm>
          <a:prstGeom prst="rect">
            <a:avLst/>
          </a:prstGeom>
          <a:noFill/>
          <a:ln>
            <a:noFill/>
          </a:ln>
        </p:spPr>
      </p:pic>
      <p:sp>
        <p:nvSpPr>
          <p:cNvPr id="108" name="Google Shape;108;p15"/>
          <p:cNvSpPr txBox="1"/>
          <p:nvPr/>
        </p:nvSpPr>
        <p:spPr>
          <a:xfrm>
            <a:off x="7404350" y="2822419"/>
            <a:ext cx="4582062" cy="74241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Type I error - false rejection of the null hypothesis</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Type II error - false acceptance of the null hypothesis</a:t>
            </a:r>
            <a:endParaRPr sz="1600" dirty="0">
              <a:solidFill>
                <a:schemeClr val="dk1"/>
              </a:solidFill>
              <a:latin typeface="Calibri"/>
              <a:ea typeface="Calibri"/>
              <a:cs typeface="Calibri"/>
              <a:sym typeface="Calibri"/>
            </a:endParaRPr>
          </a:p>
        </p:txBody>
      </p:sp>
      <p:graphicFrame>
        <p:nvGraphicFramePr>
          <p:cNvPr id="109" name="Google Shape;109;p15"/>
          <p:cNvGraphicFramePr/>
          <p:nvPr/>
        </p:nvGraphicFramePr>
        <p:xfrm>
          <a:off x="7701913" y="4175913"/>
          <a:ext cx="4126050" cy="2382300"/>
        </p:xfrm>
        <a:graphic>
          <a:graphicData uri="http://schemas.openxmlformats.org/drawingml/2006/table">
            <a:tbl>
              <a:tblPr>
                <a:noFill/>
                <a:tableStyleId>{B1618C5A-BF4F-44D7-ADB2-C5301EF81F8A}</a:tableStyleId>
              </a:tblPr>
              <a:tblGrid>
                <a:gridCol w="1375350">
                  <a:extLst>
                    <a:ext uri="{9D8B030D-6E8A-4147-A177-3AD203B41FA5}">
                      <a16:colId xmlns:a16="http://schemas.microsoft.com/office/drawing/2014/main" val="20000"/>
                    </a:ext>
                  </a:extLst>
                </a:gridCol>
                <a:gridCol w="1375350">
                  <a:extLst>
                    <a:ext uri="{9D8B030D-6E8A-4147-A177-3AD203B41FA5}">
                      <a16:colId xmlns:a16="http://schemas.microsoft.com/office/drawing/2014/main" val="20001"/>
                    </a:ext>
                  </a:extLst>
                </a:gridCol>
                <a:gridCol w="1375350">
                  <a:extLst>
                    <a:ext uri="{9D8B030D-6E8A-4147-A177-3AD203B41FA5}">
                      <a16:colId xmlns:a16="http://schemas.microsoft.com/office/drawing/2014/main" val="20002"/>
                    </a:ext>
                  </a:extLst>
                </a:gridCol>
              </a:tblGrid>
              <a:tr h="794100">
                <a:tc>
                  <a:txBody>
                    <a:bodyPr/>
                    <a:lstStyle/>
                    <a:p>
                      <a:pPr marL="0" lvl="0" indent="0" algn="l" rtl="0">
                        <a:spcBef>
                          <a:spcPts val="0"/>
                        </a:spcBef>
                        <a:spcAft>
                          <a:spcPts val="0"/>
                        </a:spcAft>
                        <a:buNone/>
                      </a:pPr>
                      <a:r>
                        <a:rPr lang="en-US"/>
                        <a:t>        \ Decision</a:t>
                      </a:r>
                      <a:endParaRPr/>
                    </a:p>
                    <a:p>
                      <a:pPr marL="0" lvl="0" indent="0" algn="l" rtl="0">
                        <a:spcBef>
                          <a:spcPts val="0"/>
                        </a:spcBef>
                        <a:spcAft>
                          <a:spcPts val="0"/>
                        </a:spcAft>
                        <a:buNone/>
                      </a:pPr>
                      <a:r>
                        <a:rPr lang="en-US"/>
                        <a:t>Truth \ </a:t>
                      </a:r>
                      <a:endParaRPr/>
                    </a:p>
                  </a:txBody>
                  <a:tcPr marL="91425" marR="91425" marT="91425" marB="91425"/>
                </a:tc>
                <a:tc>
                  <a:txBody>
                    <a:bodyPr/>
                    <a:lstStyle/>
                    <a:p>
                      <a:pPr marL="0" lvl="0" indent="0" algn="l" rtl="0">
                        <a:spcBef>
                          <a:spcPts val="0"/>
                        </a:spcBef>
                        <a:spcAft>
                          <a:spcPts val="0"/>
                        </a:spcAft>
                        <a:buNone/>
                      </a:pPr>
                      <a:r>
                        <a:rPr lang="en-US"/>
                        <a:t>Decision to Accept Ho</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rPr>
                        <a:t>Decision to Reject Ho</a:t>
                      </a:r>
                      <a:endParaRPr/>
                    </a:p>
                  </a:txBody>
                  <a:tcPr marL="91425" marR="91425" marT="91425" marB="91425"/>
                </a:tc>
                <a:extLst>
                  <a:ext uri="{0D108BD9-81ED-4DB2-BD59-A6C34878D82A}">
                    <a16:rowId xmlns:a16="http://schemas.microsoft.com/office/drawing/2014/main" val="10000"/>
                  </a:ext>
                </a:extLst>
              </a:tr>
              <a:tr h="794100">
                <a:tc>
                  <a:txBody>
                    <a:bodyPr/>
                    <a:lstStyle/>
                    <a:p>
                      <a:pPr marL="0" lvl="0" indent="0" algn="l" rtl="0">
                        <a:spcBef>
                          <a:spcPts val="0"/>
                        </a:spcBef>
                        <a:spcAft>
                          <a:spcPts val="0"/>
                        </a:spcAft>
                        <a:buNone/>
                      </a:pPr>
                      <a:r>
                        <a:rPr lang="en-US"/>
                        <a:t>Ho is True</a:t>
                      </a:r>
                      <a:endParaRPr/>
                    </a:p>
                  </a:txBody>
                  <a:tcPr marL="91425" marR="91425" marT="91425" marB="91425"/>
                </a:tc>
                <a:tc>
                  <a:txBody>
                    <a:bodyPr/>
                    <a:lstStyle/>
                    <a:p>
                      <a:pPr marL="0" lvl="0" indent="0" algn="l" rtl="0">
                        <a:spcBef>
                          <a:spcPts val="0"/>
                        </a:spcBef>
                        <a:spcAft>
                          <a:spcPts val="0"/>
                        </a:spcAft>
                        <a:buNone/>
                      </a:pPr>
                      <a:r>
                        <a:rPr lang="en-US"/>
                        <a:t>Correct</a:t>
                      </a:r>
                      <a:br>
                        <a:rPr lang="en-US"/>
                      </a:br>
                      <a:r>
                        <a:rPr lang="en-US"/>
                        <a:t>Decision</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type I error</a:t>
                      </a:r>
                      <a:endParaRPr/>
                    </a:p>
                  </a:txBody>
                  <a:tcPr marL="91425" marR="91425" marT="91425" marB="91425"/>
                </a:tc>
                <a:extLst>
                  <a:ext uri="{0D108BD9-81ED-4DB2-BD59-A6C34878D82A}">
                    <a16:rowId xmlns:a16="http://schemas.microsoft.com/office/drawing/2014/main" val="10001"/>
                  </a:ext>
                </a:extLst>
              </a:tr>
              <a:tr h="794100">
                <a:tc>
                  <a:txBody>
                    <a:bodyPr/>
                    <a:lstStyle/>
                    <a:p>
                      <a:pPr marL="0" lvl="0" indent="0" algn="l" rtl="0">
                        <a:spcBef>
                          <a:spcPts val="0"/>
                        </a:spcBef>
                        <a:spcAft>
                          <a:spcPts val="0"/>
                        </a:spcAft>
                        <a:buNone/>
                      </a:pPr>
                      <a:r>
                        <a:rPr lang="en-US"/>
                        <a:t>Ho is False</a:t>
                      </a:r>
                      <a:endParaRPr/>
                    </a:p>
                  </a:txBody>
                  <a:tcPr marL="91425" marR="91425" marT="91425" marB="91425"/>
                </a:tc>
                <a:tc>
                  <a:txBody>
                    <a:bodyPr/>
                    <a:lstStyle/>
                    <a:p>
                      <a:pPr marL="0" lvl="0" indent="0" algn="l" rtl="0">
                        <a:spcBef>
                          <a:spcPts val="0"/>
                        </a:spcBef>
                        <a:spcAft>
                          <a:spcPts val="0"/>
                        </a:spcAft>
                        <a:buNone/>
                      </a:pPr>
                      <a:r>
                        <a:rPr lang="en-US"/>
                        <a:t>type II error</a:t>
                      </a:r>
                      <a:endParaRPr/>
                    </a:p>
                  </a:txBody>
                  <a:tcPr marL="91425" marR="91425" marT="91425" marB="91425"/>
                </a:tc>
                <a:tc>
                  <a:txBody>
                    <a:bodyPr/>
                    <a:lstStyle/>
                    <a:p>
                      <a:pPr marL="0" lvl="0" indent="0" algn="l" rtl="0">
                        <a:spcBef>
                          <a:spcPts val="0"/>
                        </a:spcBef>
                        <a:spcAft>
                          <a:spcPts val="0"/>
                        </a:spcAft>
                        <a:buNone/>
                      </a:pPr>
                      <a:r>
                        <a:rPr lang="en-US"/>
                        <a:t>Correct </a:t>
                      </a:r>
                      <a:br>
                        <a:rPr lang="en-US"/>
                      </a:br>
                      <a:r>
                        <a:rPr lang="en-US"/>
                        <a:t>Decision</a:t>
                      </a:r>
                      <a:endParaRPr/>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Google Shape;114;p16">
            <a:extLst>
              <a:ext uri="{FF2B5EF4-FFF2-40B4-BE49-F238E27FC236}">
                <a16:creationId xmlns:a16="http://schemas.microsoft.com/office/drawing/2014/main" id="{2852508B-C5FD-2C4A-AFD6-7CEC0F45E3A7}"/>
              </a:ext>
            </a:extLst>
          </p:cNvPr>
          <p:cNvSpPr txBox="1"/>
          <p:nvPr/>
        </p:nvSpPr>
        <p:spPr>
          <a:xfrm>
            <a:off x="81889" y="906295"/>
            <a:ext cx="4790363" cy="28195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Null Hypothesis (H0) :  the coin is fair (flips heads/tails evenly).</a:t>
            </a:r>
          </a:p>
          <a:p>
            <a:pPr marL="0" lvl="0" indent="0" algn="l" rtl="0">
              <a:spcBef>
                <a:spcPts val="0"/>
              </a:spcBef>
              <a:spcAft>
                <a:spcPts val="0"/>
              </a:spcAft>
              <a:buNone/>
            </a:pPr>
            <a:r>
              <a:rPr lang="en-US" dirty="0">
                <a:latin typeface="Calibri"/>
                <a:ea typeface="Calibri"/>
                <a:cs typeface="Calibri"/>
                <a:sym typeface="Calibri"/>
              </a:rPr>
              <a:t>Alternative (H1): the coin flips heads/tails unevenly with </a:t>
            </a:r>
          </a:p>
          <a:p>
            <a:pPr marL="0" lvl="0" indent="0" algn="l" rtl="0">
              <a:spcBef>
                <a:spcPts val="0"/>
              </a:spcBef>
              <a:spcAft>
                <a:spcPts val="0"/>
              </a:spcAft>
              <a:buNone/>
            </a:pPr>
            <a:r>
              <a:rPr lang="en-US" dirty="0">
                <a:latin typeface="Calibri"/>
                <a:ea typeface="Calibri"/>
                <a:cs typeface="Calibri"/>
                <a:sym typeface="Calibri"/>
              </a:rPr>
              <a:t>error </a:t>
            </a:r>
            <a:r>
              <a:rPr lang="en-US" b="1" dirty="0">
                <a:solidFill>
                  <a:srgbClr val="0070C0"/>
                </a:solidFill>
                <a:latin typeface="Calibri"/>
                <a:ea typeface="Calibri"/>
                <a:cs typeface="Calibri"/>
                <a:sym typeface="Calibri"/>
              </a:rPr>
              <a:t>E = |P</a:t>
            </a:r>
            <a:r>
              <a:rPr lang="en-US" b="1" baseline="-25000" dirty="0">
                <a:solidFill>
                  <a:srgbClr val="0070C0"/>
                </a:solidFill>
                <a:latin typeface="Calibri"/>
                <a:ea typeface="Calibri"/>
                <a:cs typeface="Calibri"/>
                <a:sym typeface="Calibri"/>
              </a:rPr>
              <a:t>h</a:t>
            </a:r>
            <a:r>
              <a:rPr lang="en-US" b="1" dirty="0">
                <a:solidFill>
                  <a:srgbClr val="0070C0"/>
                </a:solidFill>
                <a:latin typeface="Calibri"/>
                <a:ea typeface="Calibri"/>
                <a:cs typeface="Calibri"/>
                <a:sym typeface="Calibri"/>
              </a:rPr>
              <a:t>-0.5|</a:t>
            </a:r>
            <a:r>
              <a:rPr lang="en-US" dirty="0">
                <a:latin typeface="Calibri"/>
                <a:ea typeface="Calibri"/>
                <a:cs typeface="Calibri"/>
                <a:sym typeface="Calibri"/>
              </a:rPr>
              <a:t>, where P</a:t>
            </a:r>
            <a:r>
              <a:rPr lang="en-US" baseline="-25000" dirty="0">
                <a:latin typeface="Calibri"/>
                <a:ea typeface="Calibri"/>
                <a:cs typeface="Calibri"/>
                <a:sym typeface="Calibri"/>
              </a:rPr>
              <a:t>h</a:t>
            </a:r>
            <a:r>
              <a:rPr lang="en-US" dirty="0">
                <a:latin typeface="Calibri"/>
                <a:ea typeface="Calibri"/>
                <a:cs typeface="Calibri"/>
                <a:sym typeface="Calibri"/>
              </a:rPr>
              <a:t> is the probability of heads.</a:t>
            </a: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sz="1800" b="1" dirty="0">
                <a:solidFill>
                  <a:srgbClr val="FF0000"/>
                </a:solidFill>
                <a:latin typeface="Calibri"/>
                <a:ea typeface="Calibri"/>
                <a:cs typeface="Calibri"/>
                <a:sym typeface="Calibri"/>
              </a:rPr>
              <a:t>Problem 1</a:t>
            </a:r>
          </a:p>
          <a:p>
            <a:pPr marL="0" lvl="0" indent="0" algn="l" rtl="0">
              <a:spcBef>
                <a:spcPts val="0"/>
              </a:spcBef>
              <a:spcAft>
                <a:spcPts val="0"/>
              </a:spcAft>
              <a:buNone/>
            </a:pPr>
            <a:r>
              <a:rPr lang="en-US" b="1" dirty="0">
                <a:solidFill>
                  <a:srgbClr val="0070C0"/>
                </a:solidFill>
                <a:latin typeface="Calibri"/>
                <a:ea typeface="Calibri"/>
                <a:cs typeface="Calibri"/>
                <a:sym typeface="Calibri"/>
              </a:rPr>
              <a:t>We tossed a coin 10 times and got 8 heads. Compute p-value.</a:t>
            </a:r>
          </a:p>
          <a:p>
            <a:pPr lvl="0"/>
            <a:endParaRPr lang="en-US" dirty="0">
              <a:latin typeface="Calibri"/>
              <a:ea typeface="Calibri"/>
              <a:cs typeface="Calibri"/>
              <a:sym typeface="Calibri"/>
            </a:endParaRPr>
          </a:p>
          <a:p>
            <a:pPr lvl="0"/>
            <a:r>
              <a:rPr lang="en-US" dirty="0">
                <a:latin typeface="Calibri"/>
                <a:ea typeface="Calibri"/>
                <a:cs typeface="Calibri"/>
                <a:sym typeface="Calibri"/>
              </a:rPr>
              <a:t>We just need compute the probability of 8 or more heads </a:t>
            </a:r>
          </a:p>
          <a:p>
            <a:pPr lvl="0"/>
            <a:r>
              <a:rPr lang="en-US" dirty="0">
                <a:latin typeface="Calibri"/>
                <a:ea typeface="Calibri"/>
                <a:cs typeface="Calibri"/>
                <a:sym typeface="Calibri"/>
              </a:rPr>
              <a:t>in 10 tosses (assuming the coin is fair).</a:t>
            </a:r>
          </a:p>
          <a:p>
            <a:pPr lvl="0"/>
            <a:r>
              <a:rPr lang="en-US" dirty="0">
                <a:latin typeface="Calibri"/>
                <a:ea typeface="Calibri"/>
                <a:cs typeface="Calibri"/>
                <a:sym typeface="Calibri"/>
              </a:rPr>
              <a:t>Note that the number of heads follows a binomial </a:t>
            </a:r>
          </a:p>
          <a:p>
            <a:pPr lvl="0"/>
            <a:r>
              <a:rPr lang="en-US" dirty="0">
                <a:latin typeface="Calibri"/>
                <a:ea typeface="Calibri"/>
                <a:cs typeface="Calibri"/>
                <a:sym typeface="Calibri"/>
              </a:rPr>
              <a:t>distribution with n=10 and p=0.5.</a:t>
            </a:r>
          </a:p>
          <a:p>
            <a:pPr lvl="0"/>
            <a:r>
              <a:rPr lang="en-US" dirty="0">
                <a:latin typeface="Calibri"/>
                <a:ea typeface="Calibri"/>
                <a:cs typeface="Calibri"/>
                <a:sym typeface="Calibri"/>
              </a:rPr>
              <a:t>So the p-value = P[8] + P[9] + P[10] = .044 + .01 + .001 = 0.055.</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5" name="Google Shape;114;p16">
            <a:extLst>
              <a:ext uri="{FF2B5EF4-FFF2-40B4-BE49-F238E27FC236}">
                <a16:creationId xmlns:a16="http://schemas.microsoft.com/office/drawing/2014/main" id="{1A2BC264-BF2C-904D-AAF6-592DE154D8FE}"/>
              </a:ext>
            </a:extLst>
          </p:cNvPr>
          <p:cNvSpPr txBox="1"/>
          <p:nvPr/>
        </p:nvSpPr>
        <p:spPr>
          <a:xfrm>
            <a:off x="0" y="0"/>
            <a:ext cx="6056582" cy="84813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Calibri"/>
                <a:ea typeface="Calibri"/>
                <a:cs typeface="Calibri"/>
                <a:sym typeface="Calibri"/>
              </a:rPr>
              <a:t>Checking whether a coin is fair</a:t>
            </a:r>
            <a:endParaRPr sz="2400" b="1" dirty="0">
              <a:latin typeface="Calibri"/>
              <a:ea typeface="Calibri"/>
              <a:cs typeface="Calibri"/>
              <a:sym typeface="Calibri"/>
            </a:endParaRPr>
          </a:p>
          <a:p>
            <a:pPr marL="0" lvl="0" indent="0" algn="l" rtl="0">
              <a:spcBef>
                <a:spcPts val="0"/>
              </a:spcBef>
              <a:spcAft>
                <a:spcPts val="0"/>
              </a:spcAft>
              <a:buNone/>
            </a:pPr>
            <a:endParaRPr sz="800" dirty="0">
              <a:latin typeface="Calibri"/>
              <a:ea typeface="Calibri"/>
              <a:cs typeface="Calibri"/>
              <a:sym typeface="Calibri"/>
            </a:endParaRPr>
          </a:p>
          <a:p>
            <a:pPr lvl="0"/>
            <a:r>
              <a:rPr lang="en-US" dirty="0">
                <a:latin typeface="Calibri"/>
                <a:ea typeface="Calibri"/>
                <a:cs typeface="Calibri"/>
                <a:sym typeface="Calibri"/>
                <a:hlinkClick r:id="rId3"/>
              </a:rPr>
              <a:t>https://en.wikipedia.org/wiki/Checking_whether_a_coin_is_fair</a:t>
            </a:r>
            <a:r>
              <a:rPr lang="en-US" dirty="0">
                <a:latin typeface="Calibri"/>
                <a:ea typeface="Calibri"/>
                <a:cs typeface="Calibri"/>
                <a:sym typeface="Calibri"/>
              </a:rPr>
              <a:t> </a:t>
            </a:r>
          </a:p>
        </p:txBody>
      </p:sp>
      <p:pic>
        <p:nvPicPr>
          <p:cNvPr id="2" name="Picture 1">
            <a:extLst>
              <a:ext uri="{FF2B5EF4-FFF2-40B4-BE49-F238E27FC236}">
                <a16:creationId xmlns:a16="http://schemas.microsoft.com/office/drawing/2014/main" id="{9C3F7295-12F5-4F43-9EB1-ECBFAD4AE19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442586" y="3445039"/>
            <a:ext cx="489437" cy="506917"/>
          </a:xfrm>
          <a:prstGeom prst="rect">
            <a:avLst/>
          </a:prstGeom>
        </p:spPr>
      </p:pic>
      <p:pic>
        <p:nvPicPr>
          <p:cNvPr id="7" name="Picture 6">
            <a:extLst>
              <a:ext uri="{FF2B5EF4-FFF2-40B4-BE49-F238E27FC236}">
                <a16:creationId xmlns:a16="http://schemas.microsoft.com/office/drawing/2014/main" id="{A7C773EC-98DC-EB45-9CD6-4ACB52A409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25873" y="1390308"/>
            <a:ext cx="5039256" cy="772060"/>
          </a:xfrm>
          <a:prstGeom prst="rect">
            <a:avLst/>
          </a:prstGeom>
        </p:spPr>
      </p:pic>
      <p:sp>
        <p:nvSpPr>
          <p:cNvPr id="8" name="Google Shape;114;p16">
            <a:extLst>
              <a:ext uri="{FF2B5EF4-FFF2-40B4-BE49-F238E27FC236}">
                <a16:creationId xmlns:a16="http://schemas.microsoft.com/office/drawing/2014/main" id="{3ABF9FFE-6500-4147-9C1B-BC0CFD06A921}"/>
              </a:ext>
            </a:extLst>
          </p:cNvPr>
          <p:cNvSpPr txBox="1"/>
          <p:nvPr/>
        </p:nvSpPr>
        <p:spPr>
          <a:xfrm>
            <a:off x="6749240" y="3218"/>
            <a:ext cx="5400832" cy="1423564"/>
          </a:xfrm>
          <a:prstGeom prst="rect">
            <a:avLst/>
          </a:prstGeom>
          <a:noFill/>
          <a:ln>
            <a:noFill/>
          </a:ln>
        </p:spPr>
        <p:txBody>
          <a:bodyPr spcFirstLastPara="1" wrap="square" lIns="91425" tIns="91425" rIns="91425" bIns="91425" anchor="t" anchorCtr="0">
            <a:noAutofit/>
          </a:bodyPr>
          <a:lstStyle/>
          <a:p>
            <a:pPr lvl="0"/>
            <a:r>
              <a:rPr lang="en-US" sz="1800" b="1" dirty="0">
                <a:solidFill>
                  <a:srgbClr val="FF0000"/>
                </a:solidFill>
                <a:latin typeface="Calibri"/>
                <a:cs typeface="Calibri"/>
                <a:sym typeface="Calibri"/>
              </a:rPr>
              <a:t>Problem 2</a:t>
            </a:r>
          </a:p>
          <a:p>
            <a:pPr lvl="0"/>
            <a:r>
              <a:rPr lang="en-US" b="1" dirty="0">
                <a:solidFill>
                  <a:srgbClr val="0070C0"/>
                </a:solidFill>
                <a:latin typeface="Calibri"/>
                <a:ea typeface="Calibri"/>
                <a:cs typeface="Calibri"/>
                <a:sym typeface="Calibri"/>
              </a:rPr>
              <a:t>How many times should we flip a coin to test the null hypothesis.</a:t>
            </a:r>
            <a:endParaRPr lang="en-US" dirty="0">
              <a:latin typeface="Calibri"/>
              <a:ea typeface="Calibri"/>
              <a:cs typeface="Calibri"/>
              <a:sym typeface="Calibri"/>
            </a:endParaRPr>
          </a:p>
          <a:p>
            <a:pPr lvl="0"/>
            <a:r>
              <a:rPr lang="en-US" dirty="0">
                <a:latin typeface="Calibri"/>
                <a:ea typeface="Calibri"/>
                <a:cs typeface="Calibri"/>
                <a:sym typeface="Calibri"/>
              </a:rPr>
              <a:t>Suppose we flipped "n" times and got "x" heads.</a:t>
            </a:r>
          </a:p>
          <a:p>
            <a:pPr lvl="0"/>
            <a:r>
              <a:rPr lang="en-US" dirty="0">
                <a:latin typeface="Calibri"/>
                <a:ea typeface="Calibri"/>
                <a:cs typeface="Calibri"/>
                <a:sym typeface="Calibri"/>
              </a:rPr>
              <a:t>The estimate of the probability of heads P</a:t>
            </a:r>
            <a:r>
              <a:rPr lang="en-US" baseline="-25000" dirty="0">
                <a:latin typeface="Calibri"/>
                <a:ea typeface="Calibri"/>
                <a:cs typeface="Calibri"/>
                <a:sym typeface="Calibri"/>
              </a:rPr>
              <a:t>h</a:t>
            </a:r>
            <a:r>
              <a:rPr lang="en-US" dirty="0">
                <a:latin typeface="Calibri"/>
                <a:ea typeface="Calibri"/>
                <a:cs typeface="Calibri"/>
                <a:sym typeface="Calibri"/>
              </a:rPr>
              <a:t> = x/n.</a:t>
            </a:r>
          </a:p>
          <a:p>
            <a:pPr lvl="0"/>
            <a:r>
              <a:rPr lang="en-US" dirty="0">
                <a:latin typeface="Calibri"/>
                <a:ea typeface="Calibri"/>
                <a:cs typeface="Calibri"/>
                <a:sym typeface="Calibri"/>
              </a:rPr>
              <a:t>Suppose "x" follows binomial distribution with probability "p" of heads.</a:t>
            </a:r>
          </a:p>
          <a:p>
            <a:pPr lvl="0"/>
            <a:r>
              <a:rPr lang="en-US" dirty="0">
                <a:latin typeface="Calibri"/>
                <a:ea typeface="Calibri"/>
                <a:cs typeface="Calibri"/>
                <a:sym typeface="Calibri"/>
              </a:rPr>
              <a:t>At large "n" is is approximated with normal distribution.</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9" name="Google Shape;114;p16">
            <a:extLst>
              <a:ext uri="{FF2B5EF4-FFF2-40B4-BE49-F238E27FC236}">
                <a16:creationId xmlns:a16="http://schemas.microsoft.com/office/drawing/2014/main" id="{38871C2A-D7DF-804C-B877-B6E6E95240DB}"/>
              </a:ext>
            </a:extLst>
          </p:cNvPr>
          <p:cNvSpPr txBox="1"/>
          <p:nvPr/>
        </p:nvSpPr>
        <p:spPr>
          <a:xfrm>
            <a:off x="6749240" y="2090673"/>
            <a:ext cx="5049668" cy="1635169"/>
          </a:xfrm>
          <a:prstGeom prst="rect">
            <a:avLst/>
          </a:prstGeom>
          <a:noFill/>
          <a:ln>
            <a:noFill/>
          </a:ln>
        </p:spPr>
        <p:txBody>
          <a:bodyPr spcFirstLastPara="1" wrap="square" lIns="91425" tIns="91425" rIns="91425" bIns="91425" anchor="t" anchorCtr="0">
            <a:noAutofit/>
          </a:bodyPr>
          <a:lstStyle/>
          <a:p>
            <a:pPr lvl="0"/>
            <a:r>
              <a:rPr lang="en-US" dirty="0">
                <a:latin typeface="Calibri"/>
                <a:ea typeface="Calibri"/>
                <a:cs typeface="Calibri"/>
                <a:sym typeface="Calibri"/>
              </a:rPr>
              <a:t>We use character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to denote the standard error of estimating x:</a:t>
            </a:r>
            <a:br>
              <a:rPr lang="en-US" dirty="0">
                <a:latin typeface="Calibri"/>
                <a:ea typeface="Calibri"/>
                <a:cs typeface="Calibri"/>
                <a:sym typeface="Calibri"/>
              </a:rPr>
            </a:br>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 </a:t>
            </a:r>
            <a:r>
              <a:rPr lang="en-US" b="1" dirty="0" err="1">
                <a:solidFill>
                  <a:srgbClr val="0070C0"/>
                </a:solidFill>
                <a:latin typeface="Calibri"/>
                <a:ea typeface="Calibri"/>
                <a:cs typeface="Calibri"/>
                <a:sym typeface="Calibri"/>
              </a:rPr>
              <a:t>npq</a:t>
            </a:r>
            <a:endParaRPr lang="en-US" b="1" dirty="0">
              <a:solidFill>
                <a:srgbClr val="0070C0"/>
              </a:solidFill>
              <a:latin typeface="Calibri"/>
              <a:ea typeface="Calibri"/>
              <a:cs typeface="Calibri"/>
              <a:sym typeface="Calibri"/>
            </a:endParaRPr>
          </a:p>
          <a:p>
            <a:pPr lvl="0"/>
            <a:r>
              <a:rPr lang="en-US" dirty="0">
                <a:latin typeface="Calibri"/>
                <a:ea typeface="Calibri"/>
                <a:cs typeface="Calibri"/>
                <a:sym typeface="Calibri"/>
              </a:rPr>
              <a:t>Note that it has max value when p = q = 0.5, so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n/4</a:t>
            </a:r>
          </a:p>
          <a:p>
            <a:pPr lvl="0"/>
            <a:r>
              <a:rPr lang="en-US" dirty="0">
                <a:latin typeface="Calibri"/>
                <a:ea typeface="Calibri"/>
                <a:cs typeface="Calibri"/>
                <a:sym typeface="Calibri"/>
              </a:rPr>
              <a:t>So we can estimate the error for 2</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 95% confidence) as:</a:t>
            </a:r>
          </a:p>
          <a:p>
            <a:pPr lvl="0"/>
            <a:r>
              <a:rPr lang="en-US" dirty="0">
                <a:latin typeface="Calibri"/>
                <a:ea typeface="Calibri"/>
                <a:cs typeface="Calibri"/>
                <a:sym typeface="Calibri"/>
              </a:rPr>
              <a:t>          </a:t>
            </a:r>
            <a:r>
              <a:rPr lang="en-US" b="1" dirty="0">
                <a:solidFill>
                  <a:srgbClr val="0070C0"/>
                </a:solidFill>
                <a:latin typeface="Calibri"/>
                <a:ea typeface="Calibri"/>
                <a:cs typeface="Calibri"/>
                <a:sym typeface="Calibri"/>
              </a:rPr>
              <a:t>2</a:t>
            </a:r>
            <a:r>
              <a:rPr lang="el-GR" b="1" dirty="0">
                <a:solidFill>
                  <a:srgbClr val="0070C0"/>
                </a:solidFill>
                <a:latin typeface="Calibri"/>
                <a:ea typeface="Calibri"/>
                <a:cs typeface="Calibri"/>
                <a:sym typeface="Calibri"/>
              </a:rPr>
              <a:t>σ</a:t>
            </a:r>
            <a:r>
              <a:rPr lang="en-US" b="1" dirty="0">
                <a:solidFill>
                  <a:srgbClr val="0070C0"/>
                </a:solidFill>
                <a:latin typeface="Calibri"/>
                <a:ea typeface="Calibri"/>
                <a:cs typeface="Calibri"/>
                <a:sym typeface="Calibri"/>
              </a:rPr>
              <a:t> ~ √n </a:t>
            </a:r>
          </a:p>
          <a:p>
            <a:pPr lvl="0"/>
            <a:r>
              <a:rPr lang="en-US" dirty="0">
                <a:solidFill>
                  <a:schemeClr val="tx1"/>
                </a:solidFill>
                <a:latin typeface="Calibri"/>
                <a:ea typeface="Calibri"/>
                <a:cs typeface="Calibri"/>
                <a:sym typeface="Calibri"/>
              </a:rPr>
              <a:t>This is very easy to remember – error grows as square root of n.</a:t>
            </a:r>
          </a:p>
          <a:p>
            <a:pPr lvl="0"/>
            <a:r>
              <a:rPr lang="en-US" dirty="0">
                <a:solidFill>
                  <a:schemeClr val="tx1"/>
                </a:solidFill>
                <a:latin typeface="Calibri"/>
                <a:ea typeface="Calibri"/>
                <a:cs typeface="Calibri"/>
                <a:sym typeface="Calibri"/>
              </a:rPr>
              <a:t>If we estimate error for ratio "x/n", it will be then:</a:t>
            </a:r>
          </a:p>
        </p:txBody>
      </p:sp>
      <p:sp>
        <p:nvSpPr>
          <p:cNvPr id="3" name="TextBox 2">
            <a:extLst>
              <a:ext uri="{FF2B5EF4-FFF2-40B4-BE49-F238E27FC236}">
                <a16:creationId xmlns:a16="http://schemas.microsoft.com/office/drawing/2014/main" id="{75B5C5ED-1366-1245-9C4A-37065BB20DC4}"/>
              </a:ext>
            </a:extLst>
          </p:cNvPr>
          <p:cNvSpPr txBox="1"/>
          <p:nvPr/>
        </p:nvSpPr>
        <p:spPr>
          <a:xfrm>
            <a:off x="298343" y="4555555"/>
            <a:ext cx="3491779" cy="2123658"/>
          </a:xfrm>
          <a:prstGeom prst="rect">
            <a:avLst/>
          </a:prstGeom>
          <a:noFill/>
        </p:spPr>
        <p:txBody>
          <a:bodyPr wrap="square" rtlCol="0">
            <a:spAutoFit/>
          </a:bodyPr>
          <a:lstStyle/>
          <a:p>
            <a:r>
              <a:rPr lang="en-US" sz="1100" dirty="0">
                <a:solidFill>
                  <a:srgbClr val="0070C0"/>
                </a:solidFill>
                <a:latin typeface="Consolas" panose="020B0609020204030204" pitchFamily="49" charset="0"/>
                <a:cs typeface="Consolas" panose="020B0609020204030204" pitchFamily="49" charset="0"/>
              </a:rPr>
              <a:t>Z value | Confidence level | Comment     </a:t>
            </a:r>
          </a:p>
          <a:p>
            <a:r>
              <a:rPr lang="en-US" sz="1100" dirty="0">
                <a:solidFill>
                  <a:srgbClr val="0070C0"/>
                </a:solidFill>
                <a:latin typeface="Consolas" panose="020B0609020204030204" pitchFamily="49" charset="0"/>
                <a:cs typeface="Consolas" panose="020B0609020204030204" pitchFamily="49" charset="0"/>
              </a:rPr>
              <a:t>0.6745  |  50.000%         | Half        </a:t>
            </a:r>
          </a:p>
          <a:p>
            <a:r>
              <a:rPr lang="en-US" sz="1100" dirty="0">
                <a:solidFill>
                  <a:srgbClr val="0070C0"/>
                </a:solidFill>
                <a:latin typeface="Consolas" panose="020B0609020204030204" pitchFamily="49" charset="0"/>
                <a:cs typeface="Consolas" panose="020B0609020204030204" pitchFamily="49" charset="0"/>
              </a:rPr>
              <a:t>1.0000  |  68.269%         | One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1.6449  |  90.000%         | "One nine"  </a:t>
            </a:r>
          </a:p>
          <a:p>
            <a:r>
              <a:rPr lang="en-US" sz="1100" dirty="0">
                <a:solidFill>
                  <a:srgbClr val="0070C0"/>
                </a:solidFill>
                <a:latin typeface="Consolas" panose="020B0609020204030204" pitchFamily="49" charset="0"/>
                <a:cs typeface="Consolas" panose="020B0609020204030204" pitchFamily="49" charset="0"/>
              </a:rPr>
              <a:t>1.9599  |  95.000%         | 95 percent  </a:t>
            </a:r>
          </a:p>
          <a:p>
            <a:r>
              <a:rPr lang="en-US" sz="1100" dirty="0">
                <a:solidFill>
                  <a:srgbClr val="0070C0"/>
                </a:solidFill>
                <a:latin typeface="Consolas" panose="020B0609020204030204" pitchFamily="49" charset="0"/>
                <a:cs typeface="Consolas" panose="020B0609020204030204" pitchFamily="49" charset="0"/>
              </a:rPr>
              <a:t>2.0000  |  95.450%         | Two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2.5759  |  99.000%         | "Two nines" </a:t>
            </a:r>
          </a:p>
          <a:p>
            <a:r>
              <a:rPr lang="en-US" sz="1100" dirty="0">
                <a:solidFill>
                  <a:srgbClr val="0070C0"/>
                </a:solidFill>
                <a:latin typeface="Consolas" panose="020B0609020204030204" pitchFamily="49" charset="0"/>
                <a:cs typeface="Consolas" panose="020B0609020204030204" pitchFamily="49" charset="0"/>
              </a:rPr>
              <a:t>3.0000  |  99.730%         | Three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3.2905  |  99.900%         | "Three nines</a:t>
            </a:r>
          </a:p>
          <a:p>
            <a:r>
              <a:rPr lang="en-US" sz="1100" dirty="0">
                <a:solidFill>
                  <a:srgbClr val="0070C0"/>
                </a:solidFill>
                <a:latin typeface="Consolas" panose="020B0609020204030204" pitchFamily="49" charset="0"/>
                <a:cs typeface="Consolas" panose="020B0609020204030204" pitchFamily="49" charset="0"/>
              </a:rPr>
              <a:t>3.8906  |  99.990%         | "Four nines"</a:t>
            </a:r>
          </a:p>
          <a:p>
            <a:r>
              <a:rPr lang="en-US" sz="1100" dirty="0">
                <a:solidFill>
                  <a:srgbClr val="0070C0"/>
                </a:solidFill>
                <a:latin typeface="Consolas" panose="020B0609020204030204" pitchFamily="49" charset="0"/>
                <a:cs typeface="Consolas" panose="020B0609020204030204" pitchFamily="49" charset="0"/>
              </a:rPr>
              <a:t>4.0000  |  99.993%         | Four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4.4172  |  99.999%         | "Five nines"</a:t>
            </a:r>
          </a:p>
        </p:txBody>
      </p:sp>
      <p:sp>
        <p:nvSpPr>
          <p:cNvPr id="6" name="TextBox 5">
            <a:extLst>
              <a:ext uri="{FF2B5EF4-FFF2-40B4-BE49-F238E27FC236}">
                <a16:creationId xmlns:a16="http://schemas.microsoft.com/office/drawing/2014/main" id="{A678E832-6A66-A34B-8638-25385B81C915}"/>
              </a:ext>
            </a:extLst>
          </p:cNvPr>
          <p:cNvSpPr txBox="1"/>
          <p:nvPr/>
        </p:nvSpPr>
        <p:spPr>
          <a:xfrm>
            <a:off x="1" y="3897364"/>
            <a:ext cx="4108174" cy="600164"/>
          </a:xfrm>
          <a:prstGeom prst="rect">
            <a:avLst/>
          </a:prstGeom>
          <a:noFill/>
        </p:spPr>
        <p:txBody>
          <a:bodyPr wrap="square" rtlCol="0">
            <a:spAutoFit/>
          </a:bodyPr>
          <a:lstStyle/>
          <a:p>
            <a:r>
              <a:rPr lang="en-US" sz="1100" dirty="0">
                <a:solidFill>
                  <a:srgbClr val="0070C0"/>
                </a:solidFill>
              </a:rPr>
              <a:t>Coin flipping leads to binomial distribution, </a:t>
            </a:r>
          </a:p>
          <a:p>
            <a:r>
              <a:rPr lang="en-US" sz="1100" dirty="0">
                <a:solidFill>
                  <a:srgbClr val="0070C0"/>
                </a:solidFill>
              </a:rPr>
              <a:t>which can be approximated with normal Gaussian distribution.</a:t>
            </a:r>
          </a:p>
          <a:p>
            <a:r>
              <a:rPr lang="en-US" sz="1100" dirty="0">
                <a:solidFill>
                  <a:srgbClr val="0070C0"/>
                </a:solidFill>
              </a:rPr>
              <a:t>Here are confidence levels for Z (standard normal distribution):</a:t>
            </a:r>
          </a:p>
        </p:txBody>
      </p:sp>
      <p:sp>
        <p:nvSpPr>
          <p:cNvPr id="10" name="TextBox 9">
            <a:extLst>
              <a:ext uri="{FF2B5EF4-FFF2-40B4-BE49-F238E27FC236}">
                <a16:creationId xmlns:a16="http://schemas.microsoft.com/office/drawing/2014/main" id="{BEDE31FC-9B6C-CA4C-86AA-399D73F20ABC}"/>
              </a:ext>
            </a:extLst>
          </p:cNvPr>
          <p:cNvSpPr txBox="1"/>
          <p:nvPr/>
        </p:nvSpPr>
        <p:spPr>
          <a:xfrm>
            <a:off x="6749240" y="4080567"/>
            <a:ext cx="4167807" cy="307777"/>
          </a:xfrm>
          <a:prstGeom prst="rect">
            <a:avLst/>
          </a:prstGeom>
          <a:noFill/>
        </p:spPr>
        <p:txBody>
          <a:bodyPr wrap="square" rtlCol="0">
            <a:spAutoFit/>
          </a:bodyPr>
          <a:lstStyle/>
          <a:p>
            <a:r>
              <a:rPr lang="en-US" dirty="0">
                <a:latin typeface="Calibri"/>
                <a:cs typeface="Calibri"/>
              </a:rPr>
              <a:t>And hence the value of maximum error (E) is given by:</a:t>
            </a:r>
          </a:p>
        </p:txBody>
      </p:sp>
      <p:pic>
        <p:nvPicPr>
          <p:cNvPr id="11" name="Picture 10">
            <a:extLst>
              <a:ext uri="{FF2B5EF4-FFF2-40B4-BE49-F238E27FC236}">
                <a16:creationId xmlns:a16="http://schemas.microsoft.com/office/drawing/2014/main" id="{72637CC1-BEE4-154D-98AD-65986D05156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643965" y="4336930"/>
            <a:ext cx="1427265" cy="531726"/>
          </a:xfrm>
          <a:prstGeom prst="rect">
            <a:avLst/>
          </a:prstGeom>
        </p:spPr>
      </p:pic>
      <p:sp>
        <p:nvSpPr>
          <p:cNvPr id="14" name="TextBox 13">
            <a:extLst>
              <a:ext uri="{FF2B5EF4-FFF2-40B4-BE49-F238E27FC236}">
                <a16:creationId xmlns:a16="http://schemas.microsoft.com/office/drawing/2014/main" id="{638FBC29-A8F9-284A-A1BF-DA59A1CFE356}"/>
              </a:ext>
            </a:extLst>
          </p:cNvPr>
          <p:cNvSpPr txBox="1"/>
          <p:nvPr/>
        </p:nvSpPr>
        <p:spPr>
          <a:xfrm>
            <a:off x="6749240" y="4786008"/>
            <a:ext cx="430695" cy="307777"/>
          </a:xfrm>
          <a:prstGeom prst="rect">
            <a:avLst/>
          </a:prstGeom>
          <a:noFill/>
        </p:spPr>
        <p:txBody>
          <a:bodyPr wrap="square" rtlCol="0">
            <a:spAutoFit/>
          </a:bodyPr>
          <a:lstStyle/>
          <a:p>
            <a:r>
              <a:rPr lang="en-US" dirty="0">
                <a:latin typeface="Calibri"/>
                <a:cs typeface="Calibri"/>
              </a:rPr>
              <a:t>Or:</a:t>
            </a:r>
          </a:p>
        </p:txBody>
      </p:sp>
      <p:pic>
        <p:nvPicPr>
          <p:cNvPr id="12" name="Picture 11">
            <a:extLst>
              <a:ext uri="{FF2B5EF4-FFF2-40B4-BE49-F238E27FC236}">
                <a16:creationId xmlns:a16="http://schemas.microsoft.com/office/drawing/2014/main" id="{4BC789A4-98D4-F041-9CDE-34D490398AC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644289" y="5035673"/>
            <a:ext cx="928696" cy="581711"/>
          </a:xfrm>
          <a:prstGeom prst="rect">
            <a:avLst/>
          </a:prstGeom>
        </p:spPr>
      </p:pic>
      <p:sp>
        <p:nvSpPr>
          <p:cNvPr id="16" name="TextBox 15">
            <a:extLst>
              <a:ext uri="{FF2B5EF4-FFF2-40B4-BE49-F238E27FC236}">
                <a16:creationId xmlns:a16="http://schemas.microsoft.com/office/drawing/2014/main" id="{E141235E-B306-274B-AF92-68211AC9662B}"/>
              </a:ext>
            </a:extLst>
          </p:cNvPr>
          <p:cNvSpPr txBox="1"/>
          <p:nvPr/>
        </p:nvSpPr>
        <p:spPr>
          <a:xfrm>
            <a:off x="6685722" y="5884718"/>
            <a:ext cx="5082208" cy="954107"/>
          </a:xfrm>
          <a:prstGeom prst="rect">
            <a:avLst/>
          </a:prstGeom>
          <a:noFill/>
        </p:spPr>
        <p:txBody>
          <a:bodyPr wrap="square" rtlCol="0">
            <a:spAutoFit/>
          </a:bodyPr>
          <a:lstStyle/>
          <a:p>
            <a:r>
              <a:rPr lang="en-US" dirty="0">
                <a:latin typeface="Calibri"/>
                <a:cs typeface="Calibri"/>
              </a:rPr>
              <a:t>For example, if we want confidence 95% (Z=1.9599), then </a:t>
            </a:r>
          </a:p>
          <a:p>
            <a:pPr marL="285750" indent="-285750">
              <a:buFont typeface="Arial" panose="020B0604020202020204" pitchFamily="34" charset="0"/>
              <a:buChar char="•"/>
            </a:pPr>
            <a:r>
              <a:rPr lang="en-US" dirty="0">
                <a:latin typeface="Calibri"/>
                <a:cs typeface="Calibri"/>
              </a:rPr>
              <a:t>for E=0.5   we need n = (1.9599)**2 / (4*0.5**2)   = 4 flips  </a:t>
            </a:r>
          </a:p>
          <a:p>
            <a:pPr marL="285750" indent="-285750">
              <a:buFont typeface="Arial" panose="020B0604020202020204" pitchFamily="34" charset="0"/>
              <a:buChar char="•"/>
            </a:pPr>
            <a:r>
              <a:rPr lang="en-US" dirty="0">
                <a:latin typeface="Calibri"/>
                <a:cs typeface="Calibri"/>
              </a:rPr>
              <a:t>for E=0.25 we need n = (1.9599)**2 / (4*0.25**2) = 16 flips  </a:t>
            </a:r>
          </a:p>
          <a:p>
            <a:pPr marL="285750" indent="-285750">
              <a:buFont typeface="Arial" panose="020B0604020202020204" pitchFamily="34" charset="0"/>
              <a:buChar char="•"/>
            </a:pPr>
            <a:r>
              <a:rPr lang="en-US" dirty="0">
                <a:latin typeface="Calibri"/>
                <a:cs typeface="Calibri"/>
              </a:rPr>
              <a:t>for E=0.01, we need n = (1.9599)**2 /(4*0.01**2) = 9,603 flips</a:t>
            </a:r>
          </a:p>
        </p:txBody>
      </p:sp>
      <p:pic>
        <p:nvPicPr>
          <p:cNvPr id="17" name="Picture 16">
            <a:extLst>
              <a:ext uri="{FF2B5EF4-FFF2-40B4-BE49-F238E27FC236}">
                <a16:creationId xmlns:a16="http://schemas.microsoft.com/office/drawing/2014/main" id="{FDA8289B-60D2-814C-8237-AC0CE17777E4}"/>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3847264" y="4563788"/>
            <a:ext cx="2437946" cy="16041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8C8BE5-9D37-DF42-81EF-135B3A27BAE7}"/>
              </a:ext>
            </a:extLst>
          </p:cNvPr>
          <p:cNvSpPr txBox="1"/>
          <p:nvPr/>
        </p:nvSpPr>
        <p:spPr>
          <a:xfrm>
            <a:off x="6128885" y="2886495"/>
            <a:ext cx="5885365" cy="1015663"/>
          </a:xfrm>
          <a:prstGeom prst="rect">
            <a:avLst/>
          </a:prstGeom>
          <a:noFill/>
        </p:spPr>
        <p:txBody>
          <a:bodyPr wrap="square" rtlCol="0">
            <a:spAutoFit/>
          </a:bodyPr>
          <a:lstStyle/>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(x=0,   n=1000, p=1/2, alternative='less')  </a:t>
            </a:r>
            <a:r>
              <a:rPr lang="en-US" sz="1200" b="1" dirty="0">
                <a:solidFill>
                  <a:srgbClr val="00B050"/>
                </a:solidFill>
                <a:latin typeface="Consolas" panose="020B0609020204030204" pitchFamily="49" charset="0"/>
                <a:cs typeface="Consolas" panose="020B0609020204030204" pitchFamily="49" charset="0"/>
              </a:rPr>
              <a:t># 0</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(x=470, n=1000, p=1/2, alternative='less')  </a:t>
            </a:r>
            <a:r>
              <a:rPr lang="en-US" sz="1200" b="1" dirty="0">
                <a:solidFill>
                  <a:srgbClr val="00B050"/>
                </a:solidFill>
                <a:latin typeface="Consolas" panose="020B0609020204030204" pitchFamily="49" charset="0"/>
                <a:cs typeface="Consolas" panose="020B0609020204030204" pitchFamily="49" charset="0"/>
              </a:rPr>
              <a:t># 0.031</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(x=500, n=1000, p=1/2, alternative='less')  </a:t>
            </a:r>
            <a:r>
              <a:rPr lang="en-US" sz="1200" b="1" dirty="0">
                <a:solidFill>
                  <a:srgbClr val="00B050"/>
                </a:solidFill>
                <a:latin typeface="Consolas" panose="020B0609020204030204" pitchFamily="49" charset="0"/>
                <a:cs typeface="Consolas" panose="020B0609020204030204" pitchFamily="49" charset="0"/>
              </a:rPr>
              <a:t># 0.5</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(x=530, n=1000, p=1/2, alternative='less')  </a:t>
            </a:r>
            <a:r>
              <a:rPr lang="en-US" sz="1200" b="1" dirty="0">
                <a:solidFill>
                  <a:srgbClr val="00B050"/>
                </a:solidFill>
                <a:latin typeface="Consolas" panose="020B0609020204030204" pitchFamily="49" charset="0"/>
                <a:cs typeface="Consolas" panose="020B0609020204030204" pitchFamily="49" charset="0"/>
              </a:rPr>
              <a:t># 0.973</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(x=999, n=1000, p=1/2, alternative='less')  </a:t>
            </a:r>
            <a:r>
              <a:rPr lang="en-US" sz="1200" b="1" dirty="0">
                <a:solidFill>
                  <a:srgbClr val="00B050"/>
                </a:solidFill>
                <a:latin typeface="Consolas" panose="020B0609020204030204" pitchFamily="49" charset="0"/>
                <a:cs typeface="Consolas" panose="020B0609020204030204" pitchFamily="49" charset="0"/>
              </a:rPr>
              <a:t># 1</a:t>
            </a:r>
          </a:p>
        </p:txBody>
      </p:sp>
      <p:sp>
        <p:nvSpPr>
          <p:cNvPr id="5" name="TextBox 4">
            <a:extLst>
              <a:ext uri="{FF2B5EF4-FFF2-40B4-BE49-F238E27FC236}">
                <a16:creationId xmlns:a16="http://schemas.microsoft.com/office/drawing/2014/main" id="{AEC7EE05-91A5-E543-BE7D-332DF5260DF7}"/>
              </a:ext>
            </a:extLst>
          </p:cNvPr>
          <p:cNvSpPr txBox="1"/>
          <p:nvPr/>
        </p:nvSpPr>
        <p:spPr>
          <a:xfrm>
            <a:off x="0" y="0"/>
            <a:ext cx="3357349" cy="400110"/>
          </a:xfrm>
          <a:prstGeom prst="rect">
            <a:avLst/>
          </a:prstGeom>
          <a:noFill/>
        </p:spPr>
        <p:txBody>
          <a:bodyPr wrap="square" rtlCol="0">
            <a:spAutoFit/>
          </a:bodyPr>
          <a:lstStyle/>
          <a:p>
            <a:r>
              <a:rPr lang="en-US" sz="2000" b="1" dirty="0"/>
              <a:t>Binomial Test in Python</a:t>
            </a:r>
          </a:p>
        </p:txBody>
      </p:sp>
      <p:sp>
        <p:nvSpPr>
          <p:cNvPr id="8" name="TextBox 7">
            <a:extLst>
              <a:ext uri="{FF2B5EF4-FFF2-40B4-BE49-F238E27FC236}">
                <a16:creationId xmlns:a16="http://schemas.microsoft.com/office/drawing/2014/main" id="{67E0F2BD-74F5-4345-BD31-1FBC2B73E1BA}"/>
              </a:ext>
            </a:extLst>
          </p:cNvPr>
          <p:cNvSpPr txBox="1"/>
          <p:nvPr/>
        </p:nvSpPr>
        <p:spPr>
          <a:xfrm>
            <a:off x="55090" y="507831"/>
            <a:ext cx="3871452" cy="1384995"/>
          </a:xfrm>
          <a:prstGeom prst="rect">
            <a:avLst/>
          </a:prstGeom>
          <a:noFill/>
        </p:spPr>
        <p:txBody>
          <a:bodyPr wrap="square" rtlCol="0">
            <a:spAutoFit/>
          </a:bodyPr>
          <a:lstStyle/>
          <a:p>
            <a:r>
              <a:rPr lang="en-US" b="1" dirty="0">
                <a:solidFill>
                  <a:srgbClr val="00B050"/>
                </a:solidFill>
                <a:latin typeface="Consolas" panose="020B0609020204030204" pitchFamily="49" charset="0"/>
                <a:cs typeface="Consolas" panose="020B0609020204030204" pitchFamily="49" charset="0"/>
              </a:rPr>
              <a:t># binomial distribution</a:t>
            </a:r>
          </a:p>
          <a:p>
            <a:endParaRPr lang="en-US" b="1" dirty="0">
              <a:solidFill>
                <a:srgbClr val="00B050"/>
              </a:solidFill>
              <a:latin typeface="Consolas" panose="020B0609020204030204" pitchFamily="49" charset="0"/>
              <a:cs typeface="Consolas" panose="020B0609020204030204" pitchFamily="49" charset="0"/>
            </a:endParaRPr>
          </a:p>
          <a:p>
            <a:r>
              <a:rPr lang="en-US" b="1" dirty="0" err="1">
                <a:solidFill>
                  <a:srgbClr val="FF0000"/>
                </a:solidFill>
                <a:latin typeface="Consolas" panose="020B0609020204030204" pitchFamily="49" charset="0"/>
                <a:cs typeface="Consolas" panose="020B0609020204030204" pitchFamily="49" charset="0"/>
              </a:rPr>
              <a:t>pmf</a:t>
            </a:r>
            <a:r>
              <a:rPr lang="en-US" dirty="0">
                <a:solidFill>
                  <a:schemeClr val="tx1"/>
                </a:solidFill>
                <a:latin typeface="Consolas" panose="020B0609020204030204" pitchFamily="49" charset="0"/>
                <a:cs typeface="Consolas" panose="020B0609020204030204" pitchFamily="49" charset="0"/>
              </a:rPr>
              <a:t> = </a:t>
            </a:r>
            <a:r>
              <a:rPr lang="en-US" b="1" dirty="0">
                <a:solidFill>
                  <a:srgbClr val="0070C0"/>
                </a:solidFill>
                <a:latin typeface="Consolas" panose="020B0609020204030204" pitchFamily="49" charset="0"/>
                <a:cs typeface="Consolas" panose="020B0609020204030204" pitchFamily="49" charset="0"/>
              </a:rPr>
              <a:t>probability mass function </a:t>
            </a:r>
            <a:r>
              <a:rPr lang="en-US" dirty="0">
                <a:solidFill>
                  <a:schemeClr val="tx1"/>
                </a:solidFill>
                <a:latin typeface="Consolas" panose="020B0609020204030204" pitchFamily="49" charset="0"/>
                <a:cs typeface="Consolas" panose="020B0609020204030204" pitchFamily="49" charset="0"/>
              </a:rPr>
              <a:t>- gives the probability that a discrete random variable is exactly equal to some value</a:t>
            </a:r>
            <a:endParaRPr lang="en-US" b="1" dirty="0">
              <a:solidFill>
                <a:srgbClr val="00B050"/>
              </a:solidFill>
              <a:latin typeface="Consolas" panose="020B0609020204030204" pitchFamily="49" charset="0"/>
              <a:cs typeface="Consolas" panose="020B0609020204030204" pitchFamily="49" charset="0"/>
            </a:endParaRPr>
          </a:p>
        </p:txBody>
      </p:sp>
      <p:pic>
        <p:nvPicPr>
          <p:cNvPr id="9" name="Picture 8">
            <a:extLst>
              <a:ext uri="{FF2B5EF4-FFF2-40B4-BE49-F238E27FC236}">
                <a16:creationId xmlns:a16="http://schemas.microsoft.com/office/drawing/2014/main" id="{4527922F-8D38-BD4E-A8D7-5C774E16BA5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4141" y="1752488"/>
            <a:ext cx="2260600" cy="647700"/>
          </a:xfrm>
          <a:prstGeom prst="rect">
            <a:avLst/>
          </a:prstGeom>
        </p:spPr>
      </p:pic>
      <p:sp>
        <p:nvSpPr>
          <p:cNvPr id="11" name="TextBox 10">
            <a:extLst>
              <a:ext uri="{FF2B5EF4-FFF2-40B4-BE49-F238E27FC236}">
                <a16:creationId xmlns:a16="http://schemas.microsoft.com/office/drawing/2014/main" id="{6711EA37-ED1E-A141-9FE5-CBEDD2E74AE6}"/>
              </a:ext>
            </a:extLst>
          </p:cNvPr>
          <p:cNvSpPr txBox="1"/>
          <p:nvPr/>
        </p:nvSpPr>
        <p:spPr>
          <a:xfrm>
            <a:off x="0" y="1940107"/>
            <a:ext cx="1462340" cy="307777"/>
          </a:xfrm>
          <a:prstGeom prst="rect">
            <a:avLst/>
          </a:prstGeom>
          <a:noFill/>
        </p:spPr>
        <p:txBody>
          <a:bodyPr wrap="square" rtlCol="0">
            <a:spAutoFit/>
          </a:bodyPr>
          <a:lstStyle/>
          <a:p>
            <a:r>
              <a:rPr lang="en-US" dirty="0"/>
              <a:t>Binomial PMF :</a:t>
            </a:r>
          </a:p>
        </p:txBody>
      </p:sp>
      <p:pic>
        <p:nvPicPr>
          <p:cNvPr id="3" name="Picture 2">
            <a:extLst>
              <a:ext uri="{FF2B5EF4-FFF2-40B4-BE49-F238E27FC236}">
                <a16:creationId xmlns:a16="http://schemas.microsoft.com/office/drawing/2014/main" id="{8A7A16D1-6A82-EE42-84CE-7A1B0E0722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07674" y="2786705"/>
            <a:ext cx="1955444" cy="1303629"/>
          </a:xfrm>
          <a:prstGeom prst="rect">
            <a:avLst/>
          </a:prstGeom>
        </p:spPr>
      </p:pic>
      <p:sp>
        <p:nvSpPr>
          <p:cNvPr id="13" name="TextBox 12">
            <a:extLst>
              <a:ext uri="{FF2B5EF4-FFF2-40B4-BE49-F238E27FC236}">
                <a16:creationId xmlns:a16="http://schemas.microsoft.com/office/drawing/2014/main" id="{7A8963DC-8A72-D44C-ABD9-A5F73EA7B869}"/>
              </a:ext>
            </a:extLst>
          </p:cNvPr>
          <p:cNvSpPr txBox="1"/>
          <p:nvPr/>
        </p:nvSpPr>
        <p:spPr>
          <a:xfrm>
            <a:off x="4082134" y="5491884"/>
            <a:ext cx="5884256" cy="1015663"/>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10 times and it lands on heads 8 times. </a:t>
            </a:r>
          </a:p>
          <a:p>
            <a:r>
              <a:rPr lang="en-US" sz="1200" b="1" dirty="0">
                <a:solidFill>
                  <a:srgbClr val="00B050"/>
                </a:solidFill>
                <a:latin typeface="Consolas" panose="020B0609020204030204" pitchFamily="49" charset="0"/>
                <a:cs typeface="Consolas" panose="020B0609020204030204" pitchFamily="49" charset="0"/>
              </a:rPr>
              <a:t># Perform a binomial test to determine if the coin is biased.</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(x=8, n=10, p=1/2, alternative='greater') </a:t>
            </a:r>
            <a:r>
              <a:rPr lang="en-US" sz="1200" b="1" dirty="0">
                <a:solidFill>
                  <a:srgbClr val="00B050"/>
                </a:solidFill>
                <a:latin typeface="Consolas" panose="020B0609020204030204" pitchFamily="49" charset="0"/>
                <a:cs typeface="Consolas" panose="020B0609020204030204" pitchFamily="49" charset="0"/>
              </a:rPr>
              <a:t># P = 0.0546875</a:t>
            </a:r>
          </a:p>
          <a:p>
            <a:r>
              <a:rPr lang="en-US" sz="1200" b="1" dirty="0">
                <a:solidFill>
                  <a:srgbClr val="00B050"/>
                </a:solidFill>
                <a:latin typeface="Consolas" panose="020B0609020204030204" pitchFamily="49" charset="0"/>
                <a:cs typeface="Consolas" panose="020B0609020204030204" pitchFamily="49" charset="0"/>
              </a:rPr>
              <a:t># Because this p-value (0.0546875) is not less than 0.05, </a:t>
            </a:r>
          </a:p>
          <a:p>
            <a:r>
              <a:rPr lang="en-US" sz="1200" b="1" dirty="0">
                <a:solidFill>
                  <a:srgbClr val="00B050"/>
                </a:solidFill>
                <a:latin typeface="Consolas" panose="020B0609020204030204" pitchFamily="49" charset="0"/>
                <a:cs typeface="Consolas" panose="020B0609020204030204" pitchFamily="49" charset="0"/>
              </a:rPr>
              <a:t># we accept the null hypothesis.</a:t>
            </a:r>
          </a:p>
        </p:txBody>
      </p:sp>
      <p:cxnSp>
        <p:nvCxnSpPr>
          <p:cNvPr id="7" name="Straight Connector 6">
            <a:extLst>
              <a:ext uri="{FF2B5EF4-FFF2-40B4-BE49-F238E27FC236}">
                <a16:creationId xmlns:a16="http://schemas.microsoft.com/office/drawing/2014/main" id="{CC869036-FE0F-1E47-8797-6B95E97124CA}"/>
              </a:ext>
            </a:extLst>
          </p:cNvPr>
          <p:cNvCxnSpPr/>
          <p:nvPr/>
        </p:nvCxnSpPr>
        <p:spPr>
          <a:xfrm>
            <a:off x="3953437" y="246221"/>
            <a:ext cx="0" cy="6369732"/>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E734F07-84EA-3747-B35F-8BE91031CC62}"/>
              </a:ext>
            </a:extLst>
          </p:cNvPr>
          <p:cNvSpPr txBox="1"/>
          <p:nvPr/>
        </p:nvSpPr>
        <p:spPr>
          <a:xfrm>
            <a:off x="6128888" y="4149859"/>
            <a:ext cx="5885361" cy="1015663"/>
          </a:xfrm>
          <a:prstGeom prst="rect">
            <a:avLst/>
          </a:prstGeom>
          <a:noFill/>
        </p:spPr>
        <p:txBody>
          <a:bodyPr wrap="square" rtlCol="0">
            <a:spAutoFit/>
          </a:bodyPr>
          <a:lstStyle/>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(x=0,   n=1000, p=1/2, alternative='two-sided')  </a:t>
            </a:r>
            <a:r>
              <a:rPr lang="en-US" sz="1200" b="1" dirty="0">
                <a:solidFill>
                  <a:srgbClr val="00B050"/>
                </a:solidFill>
                <a:latin typeface="Consolas" panose="020B0609020204030204" pitchFamily="49" charset="0"/>
                <a:cs typeface="Consolas" panose="020B0609020204030204" pitchFamily="49" charset="0"/>
              </a:rPr>
              <a:t># 0</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(x=470, n=1000, p=1/2, alternative='two-sided')  </a:t>
            </a:r>
            <a:r>
              <a:rPr lang="en-US" sz="1200" b="1" dirty="0">
                <a:solidFill>
                  <a:srgbClr val="00B050"/>
                </a:solidFill>
                <a:latin typeface="Consolas" panose="020B0609020204030204" pitchFamily="49" charset="0"/>
                <a:cs typeface="Consolas" panose="020B0609020204030204" pitchFamily="49" charset="0"/>
              </a:rPr>
              <a:t># 0.062</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(x=500, n=1000, p=1/2, alternative='two-sided')  </a:t>
            </a:r>
            <a:r>
              <a:rPr lang="en-US" sz="1200" b="1" dirty="0">
                <a:solidFill>
                  <a:srgbClr val="00B050"/>
                </a:solidFill>
                <a:latin typeface="Consolas" panose="020B0609020204030204" pitchFamily="49" charset="0"/>
                <a:cs typeface="Consolas" panose="020B0609020204030204" pitchFamily="49" charset="0"/>
              </a:rPr>
              <a:t># 1.0</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(x=530, n=1000, p=1/2, alternative='two-sided')  </a:t>
            </a:r>
            <a:r>
              <a:rPr lang="en-US" sz="1200" b="1" dirty="0">
                <a:solidFill>
                  <a:srgbClr val="00B050"/>
                </a:solidFill>
                <a:latin typeface="Consolas" panose="020B0609020204030204" pitchFamily="49" charset="0"/>
                <a:cs typeface="Consolas" panose="020B0609020204030204" pitchFamily="49" charset="0"/>
              </a:rPr>
              <a:t># 0.062</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(x=999, n=1000, p=1/2, alternative='two-sided')  </a:t>
            </a:r>
            <a:r>
              <a:rPr lang="en-US" sz="1200" b="1" dirty="0">
                <a:solidFill>
                  <a:srgbClr val="00B050"/>
                </a:solidFill>
                <a:latin typeface="Consolas" panose="020B0609020204030204" pitchFamily="49" charset="0"/>
                <a:cs typeface="Consolas" panose="020B0609020204030204" pitchFamily="49" charset="0"/>
              </a:rPr>
              <a:t># 0</a:t>
            </a:r>
          </a:p>
        </p:txBody>
      </p:sp>
      <p:pic>
        <p:nvPicPr>
          <p:cNvPr id="15" name="Picture 14">
            <a:extLst>
              <a:ext uri="{FF2B5EF4-FFF2-40B4-BE49-F238E27FC236}">
                <a16:creationId xmlns:a16="http://schemas.microsoft.com/office/drawing/2014/main" id="{86071A22-B3DB-A94F-8B3F-C3E70C2146C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7674" y="4052375"/>
            <a:ext cx="1955444" cy="1303629"/>
          </a:xfrm>
          <a:prstGeom prst="rect">
            <a:avLst/>
          </a:prstGeom>
        </p:spPr>
      </p:pic>
      <p:sp>
        <p:nvSpPr>
          <p:cNvPr id="16" name="TextBox 15">
            <a:extLst>
              <a:ext uri="{FF2B5EF4-FFF2-40B4-BE49-F238E27FC236}">
                <a16:creationId xmlns:a16="http://schemas.microsoft.com/office/drawing/2014/main" id="{D511F09B-6968-D94E-AA08-C85D9DF4BB1F}"/>
              </a:ext>
            </a:extLst>
          </p:cNvPr>
          <p:cNvSpPr txBox="1"/>
          <p:nvPr/>
        </p:nvSpPr>
        <p:spPr>
          <a:xfrm>
            <a:off x="55090" y="2538720"/>
            <a:ext cx="3871452" cy="3970318"/>
          </a:xfrm>
          <a:prstGeom prst="rect">
            <a:avLst/>
          </a:prstGeom>
          <a:noFill/>
        </p:spPr>
        <p:txBody>
          <a:bodyPr wrap="square" rtlCol="0">
            <a:spAutoFit/>
          </a:bodyPr>
          <a:lstStyle/>
          <a:p>
            <a:r>
              <a:rPr lang="en-US" dirty="0">
                <a:solidFill>
                  <a:srgbClr val="0070C0"/>
                </a:solidFill>
                <a:latin typeface="Consolas" panose="020B0609020204030204" pitchFamily="49" charset="0"/>
                <a:cs typeface="Consolas" panose="020B0609020204030204" pitchFamily="49" charset="0"/>
              </a:rPr>
              <a:t>from </a:t>
            </a:r>
            <a:r>
              <a:rPr lang="en-US" dirty="0" err="1">
                <a:solidFill>
                  <a:srgbClr val="0070C0"/>
                </a:solidFill>
                <a:latin typeface="Consolas" panose="020B0609020204030204" pitchFamily="49" charset="0"/>
                <a:cs typeface="Consolas" panose="020B0609020204030204" pitchFamily="49" charset="0"/>
              </a:rPr>
              <a:t>scipy.stats</a:t>
            </a:r>
            <a:r>
              <a:rPr lang="en-US" dirty="0">
                <a:solidFill>
                  <a:srgbClr val="0070C0"/>
                </a:solidFill>
                <a:latin typeface="Consolas" panose="020B0609020204030204" pitchFamily="49" charset="0"/>
                <a:cs typeface="Consolas" panose="020B0609020204030204" pitchFamily="49" charset="0"/>
              </a:rPr>
              <a:t> import </a:t>
            </a:r>
            <a:r>
              <a:rPr lang="en-US" dirty="0" err="1">
                <a:solidFill>
                  <a:srgbClr val="0070C0"/>
                </a:solidFill>
                <a:latin typeface="Consolas" panose="020B0609020204030204" pitchFamily="49" charset="0"/>
                <a:cs typeface="Consolas" panose="020B0609020204030204" pitchFamily="49" charset="0"/>
              </a:rPr>
              <a:t>binom</a:t>
            </a:r>
            <a:r>
              <a:rPr lang="en-US" dirty="0">
                <a:solidFill>
                  <a:srgbClr val="0070C0"/>
                </a:solidFill>
                <a:latin typeface="Consolas" panose="020B0609020204030204" pitchFamily="49" charset="0"/>
                <a:cs typeface="Consolas" panose="020B0609020204030204" pitchFamily="49" charset="0"/>
              </a:rPr>
              <a:t> </a:t>
            </a:r>
          </a:p>
          <a:p>
            <a:endParaRPr lang="en-US" b="1" dirty="0">
              <a:solidFill>
                <a:srgbClr val="00B050"/>
              </a:solidFill>
              <a:latin typeface="Consolas" panose="020B0609020204030204" pitchFamily="49" charset="0"/>
              <a:cs typeface="Consolas" panose="020B0609020204030204" pitchFamily="49" charset="0"/>
            </a:endParaRP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(0,2,0.5) </a:t>
            </a:r>
            <a:r>
              <a:rPr lang="en-US" b="1" dirty="0">
                <a:solidFill>
                  <a:srgbClr val="00B050"/>
                </a:solidFill>
                <a:latin typeface="Consolas" panose="020B0609020204030204" pitchFamily="49" charset="0"/>
                <a:cs typeface="Consolas" panose="020B0609020204030204" pitchFamily="49" charset="0"/>
              </a:rPr>
              <a:t># 0.25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(1,2,0.5) </a:t>
            </a:r>
            <a:r>
              <a:rPr lang="en-US" b="1" dirty="0">
                <a:solidFill>
                  <a:srgbClr val="00B050"/>
                </a:solidFill>
                <a:latin typeface="Consolas" panose="020B0609020204030204" pitchFamily="49" charset="0"/>
                <a:cs typeface="Consolas" panose="020B0609020204030204" pitchFamily="49" charset="0"/>
              </a:rPr>
              <a:t># 0.5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(2,2,0.5) </a:t>
            </a:r>
            <a:r>
              <a:rPr lang="en-US" b="1" dirty="0">
                <a:solidFill>
                  <a:srgbClr val="00B050"/>
                </a:solidFill>
                <a:latin typeface="Consolas" panose="020B0609020204030204" pitchFamily="49" charset="0"/>
                <a:cs typeface="Consolas" panose="020B0609020204030204" pitchFamily="49" charset="0"/>
              </a:rPr>
              <a:t># 0.25</a:t>
            </a:r>
          </a:p>
          <a:p>
            <a:endParaRPr lang="en-US" b="1" dirty="0">
              <a:solidFill>
                <a:srgbClr val="00B05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n=10</a:t>
            </a:r>
          </a:p>
          <a:p>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 = []</a:t>
            </a:r>
          </a:p>
          <a:p>
            <a:r>
              <a:rPr lang="en-US" dirty="0">
                <a:solidFill>
                  <a:srgbClr val="0070C0"/>
                </a:solidFill>
                <a:latin typeface="Consolas" panose="020B0609020204030204" pitchFamily="49" charset="0"/>
                <a:cs typeface="Consolas" panose="020B0609020204030204" pitchFamily="49" charset="0"/>
              </a:rPr>
              <a:t>for ii in range(n+1):</a:t>
            </a:r>
          </a:p>
          <a:p>
            <a:r>
              <a:rPr lang="en-US" dirty="0">
                <a:solidFill>
                  <a:srgbClr val="0070C0"/>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arr.append</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(ii, n, 0.5))</a:t>
            </a:r>
          </a:p>
          <a:p>
            <a:r>
              <a:rPr lang="en-US" dirty="0">
                <a:solidFill>
                  <a:srgbClr val="0070C0"/>
                </a:solidFill>
                <a:latin typeface="Consolas" panose="020B0609020204030204" pitchFamily="49" charset="0"/>
                <a:cs typeface="Consolas" panose="020B0609020204030204" pitchFamily="49" charset="0"/>
              </a:rPr>
              <a:t>print(sum(</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r>
              <a:rPr lang="en-US" b="1" dirty="0">
                <a:solidFill>
                  <a:srgbClr val="00B050"/>
                </a:solidFill>
                <a:latin typeface="Consolas" panose="020B0609020204030204" pitchFamily="49" charset="0"/>
                <a:cs typeface="Consolas" panose="020B0609020204030204" pitchFamily="49" charset="0"/>
              </a:rPr>
              <a:t>  # 1</a:t>
            </a:r>
          </a:p>
          <a:p>
            <a:r>
              <a:rPr lang="en-US" dirty="0">
                <a:solidFill>
                  <a:srgbClr val="0070C0"/>
                </a:solidFill>
                <a:latin typeface="Consolas" panose="020B0609020204030204" pitchFamily="49" charset="0"/>
                <a:cs typeface="Consolas" panose="020B0609020204030204" pitchFamily="49" charset="0"/>
              </a:rPr>
              <a:t>print(</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p>
          <a:p>
            <a:endParaRPr lang="en-US" b="1" dirty="0">
              <a:solidFill>
                <a:srgbClr val="00B050"/>
              </a:solidFill>
              <a:latin typeface="Consolas" panose="020B0609020204030204" pitchFamily="49" charset="0"/>
              <a:cs typeface="Consolas" panose="020B0609020204030204" pitchFamily="49" charset="0"/>
            </a:endParaRPr>
          </a:p>
          <a:p>
            <a:r>
              <a:rPr lang="en-US" b="1" dirty="0">
                <a:solidFill>
                  <a:srgbClr val="00B050"/>
                </a:solidFill>
                <a:latin typeface="Consolas" panose="020B0609020204030204" pitchFamily="49" charset="0"/>
                <a:cs typeface="Consolas" panose="020B0609020204030204" pitchFamily="49" charset="0"/>
              </a:rPr>
              <a:t># 8, 9, 10 heads out of 10 trials:</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(8,10,0.5)  # 0.043945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(9,10,0.5)  # 0.009766</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(10,10,0.5) # 0.000977</a:t>
            </a:r>
          </a:p>
          <a:p>
            <a:r>
              <a:rPr lang="en-US" dirty="0">
                <a:solidFill>
                  <a:srgbClr val="0070C0"/>
                </a:solidFill>
                <a:latin typeface="Consolas" panose="020B0609020204030204" pitchFamily="49" charset="0"/>
                <a:cs typeface="Consolas" panose="020B0609020204030204" pitchFamily="49" charset="0"/>
              </a:rPr>
              <a:t>                # sum: 0.054688</a:t>
            </a:r>
          </a:p>
        </p:txBody>
      </p:sp>
      <p:sp>
        <p:nvSpPr>
          <p:cNvPr id="17" name="TextBox 16">
            <a:extLst>
              <a:ext uri="{FF2B5EF4-FFF2-40B4-BE49-F238E27FC236}">
                <a16:creationId xmlns:a16="http://schemas.microsoft.com/office/drawing/2014/main" id="{3AB7D7A0-D8BB-7D4C-9883-4005944A1DA6}"/>
              </a:ext>
            </a:extLst>
          </p:cNvPr>
          <p:cNvSpPr txBox="1"/>
          <p:nvPr/>
        </p:nvSpPr>
        <p:spPr>
          <a:xfrm>
            <a:off x="4107674" y="131094"/>
            <a:ext cx="7578799" cy="1200329"/>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N=1000 times.</a:t>
            </a:r>
          </a:p>
          <a:p>
            <a:r>
              <a:rPr lang="en-US" sz="1200" b="1" dirty="0">
                <a:solidFill>
                  <a:srgbClr val="00B050"/>
                </a:solidFill>
                <a:latin typeface="Consolas" panose="020B0609020204030204" pitchFamily="49" charset="0"/>
                <a:cs typeface="Consolas" panose="020B0609020204030204" pitchFamily="49" charset="0"/>
              </a:rPr>
              <a:t># If x is number of heads, it has binomial distribution with sigma = sqrt(N)/2 = 15.81</a:t>
            </a:r>
          </a:p>
          <a:p>
            <a:r>
              <a:rPr lang="en-US" sz="1200" b="1" dirty="0">
                <a:solidFill>
                  <a:srgbClr val="00B050"/>
                </a:solidFill>
                <a:latin typeface="Consolas" panose="020B0609020204030204" pitchFamily="49" charset="0"/>
                <a:cs typeface="Consolas" panose="020B0609020204030204" pitchFamily="49" charset="0"/>
              </a:rPr>
              <a:t># If it lands on heads 531 times, it is within 2*sigma. </a:t>
            </a:r>
          </a:p>
          <a:p>
            <a:r>
              <a:rPr lang="en-US" sz="1200" b="1" dirty="0">
                <a:solidFill>
                  <a:srgbClr val="00B050"/>
                </a:solidFill>
                <a:latin typeface="Consolas" panose="020B0609020204030204" pitchFamily="49" charset="0"/>
                <a:cs typeface="Consolas" panose="020B0609020204030204" pitchFamily="49" charset="0"/>
              </a:rPr>
              <a:t># But let's perform a binomial test for null hypothesis that coin is fair:</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(x=531, n=1000, p=1/2, alternative='greater') </a:t>
            </a:r>
            <a:r>
              <a:rPr lang="en-US" sz="1200" b="1" dirty="0">
                <a:solidFill>
                  <a:srgbClr val="00B050"/>
                </a:solidFill>
                <a:latin typeface="Consolas" panose="020B0609020204030204" pitchFamily="49" charset="0"/>
                <a:cs typeface="Consolas" panose="020B0609020204030204" pitchFamily="49" charset="0"/>
              </a:rPr>
              <a:t># P = 0.0268</a:t>
            </a:r>
          </a:p>
          <a:p>
            <a:r>
              <a:rPr lang="en-US" sz="1200" b="1" dirty="0">
                <a:solidFill>
                  <a:srgbClr val="00B050"/>
                </a:solidFill>
                <a:latin typeface="Consolas" panose="020B0609020204030204" pitchFamily="49" charset="0"/>
                <a:cs typeface="Consolas" panose="020B0609020204030204" pitchFamily="49" charset="0"/>
              </a:rPr>
              <a:t># Because this p-value (0.0268) is less than 0.05, we reject the null hypothesis.</a:t>
            </a:r>
          </a:p>
        </p:txBody>
      </p:sp>
      <p:pic>
        <p:nvPicPr>
          <p:cNvPr id="18" name="Picture 17">
            <a:extLst>
              <a:ext uri="{FF2B5EF4-FFF2-40B4-BE49-F238E27FC236}">
                <a16:creationId xmlns:a16="http://schemas.microsoft.com/office/drawing/2014/main" id="{F0E66C0F-DB7B-5248-ABF5-B1AD675C2E7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7674" y="1489196"/>
            <a:ext cx="1955442" cy="1303628"/>
          </a:xfrm>
          <a:prstGeom prst="rect">
            <a:avLst/>
          </a:prstGeom>
        </p:spPr>
      </p:pic>
      <p:sp>
        <p:nvSpPr>
          <p:cNvPr id="19" name="TextBox 18">
            <a:extLst>
              <a:ext uri="{FF2B5EF4-FFF2-40B4-BE49-F238E27FC236}">
                <a16:creationId xmlns:a16="http://schemas.microsoft.com/office/drawing/2014/main" id="{23B13AD1-74A9-4B45-9F1F-80C123028C44}"/>
              </a:ext>
            </a:extLst>
          </p:cNvPr>
          <p:cNvSpPr txBox="1"/>
          <p:nvPr/>
        </p:nvSpPr>
        <p:spPr>
          <a:xfrm>
            <a:off x="6128884" y="1282539"/>
            <a:ext cx="5885365" cy="1384995"/>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B050"/>
                </a:solidFill>
                <a:latin typeface="Consolas" panose="020B0609020204030204" pitchFamily="49" charset="0"/>
                <a:cs typeface="Consolas" panose="020B0609020204030204" pitchFamily="49" charset="0"/>
              </a:rPr>
              <a:t>  # returns p-value of test</a:t>
            </a:r>
          </a:p>
          <a:p>
            <a:endParaRPr lang="en-US" sz="1200" b="1" dirty="0">
              <a:solidFill>
                <a:srgbClr val="0070C0"/>
              </a:solidFill>
              <a:latin typeface="Consolas" panose="020B0609020204030204" pitchFamily="49" charset="0"/>
              <a:cs typeface="Consolas" panose="020B0609020204030204" pitchFamily="49" charset="0"/>
            </a:endParaRP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(x=0,   n=1000, p=1/2, alternative='less')  </a:t>
            </a:r>
            <a:r>
              <a:rPr lang="en-US" sz="1200" b="1" dirty="0">
                <a:solidFill>
                  <a:srgbClr val="00B050"/>
                </a:solidFill>
                <a:latin typeface="Consolas" panose="020B0609020204030204" pitchFamily="49" charset="0"/>
                <a:cs typeface="Consolas" panose="020B0609020204030204" pitchFamily="49" charset="0"/>
              </a:rPr>
              <a:t># 1</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(x=470, n=1000, p=1/2, alternative='less')  </a:t>
            </a:r>
            <a:r>
              <a:rPr lang="en-US" sz="1200" b="1" dirty="0">
                <a:solidFill>
                  <a:srgbClr val="00B050"/>
                </a:solidFill>
                <a:latin typeface="Consolas" panose="020B0609020204030204" pitchFamily="49" charset="0"/>
                <a:cs typeface="Consolas" panose="020B0609020204030204" pitchFamily="49" charset="0"/>
              </a:rPr>
              <a:t># 0.973</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(x=500, n=1000, p=1/2, alternative='less')  </a:t>
            </a:r>
            <a:r>
              <a:rPr lang="en-US" sz="1200" b="1" dirty="0">
                <a:solidFill>
                  <a:srgbClr val="00B050"/>
                </a:solidFill>
                <a:latin typeface="Consolas" panose="020B0609020204030204" pitchFamily="49" charset="0"/>
                <a:cs typeface="Consolas" panose="020B0609020204030204" pitchFamily="49" charset="0"/>
              </a:rPr>
              <a:t># 0.5</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(x=530, n=1000, p=1/2, alternative='less')  </a:t>
            </a:r>
            <a:r>
              <a:rPr lang="en-US" sz="1200" b="1" dirty="0">
                <a:solidFill>
                  <a:srgbClr val="00B050"/>
                </a:solidFill>
                <a:latin typeface="Consolas" panose="020B0609020204030204" pitchFamily="49" charset="0"/>
                <a:cs typeface="Consolas" panose="020B0609020204030204" pitchFamily="49" charset="0"/>
              </a:rPr>
              <a:t># 0.031</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(x=999, n=1000, p=1/2, alternative='less')  </a:t>
            </a:r>
            <a:r>
              <a:rPr lang="en-US" sz="1200" b="1" dirty="0">
                <a:solidFill>
                  <a:srgbClr val="00B050"/>
                </a:solidFill>
                <a:latin typeface="Consolas" panose="020B0609020204030204" pitchFamily="49" charset="0"/>
                <a:cs typeface="Consolas" panose="020B0609020204030204" pitchFamily="49" charset="0"/>
              </a:rPr>
              <a:t># 0</a:t>
            </a:r>
          </a:p>
        </p:txBody>
      </p:sp>
    </p:spTree>
    <p:extLst>
      <p:ext uri="{BB962C8B-B14F-4D97-AF65-F5344CB8AC3E}">
        <p14:creationId xmlns:p14="http://schemas.microsoft.com/office/powerpoint/2010/main" val="2977782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4E77F6-2D57-344D-957A-D121D2D97481}"/>
              </a:ext>
            </a:extLst>
          </p:cNvPr>
          <p:cNvSpPr txBox="1"/>
          <p:nvPr/>
        </p:nvSpPr>
        <p:spPr>
          <a:xfrm>
            <a:off x="345688" y="1186087"/>
            <a:ext cx="3869473" cy="3970318"/>
          </a:xfrm>
          <a:prstGeom prst="rect">
            <a:avLst/>
          </a:prstGeom>
          <a:noFill/>
        </p:spPr>
        <p:txBody>
          <a:bodyPr wrap="square" rtlCol="0">
            <a:spAutoFit/>
          </a:bodyPr>
          <a:lstStyle/>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sys, math</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scipy.stats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binom_test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matplotlib.pyplot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  =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yy2 = []</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sigma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math.sqrt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(5000)/2.0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v1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v2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print(v1,v2)    </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2464.64, 2535.36</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 (2300, 2700):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binom.pmf</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(ii,5000,0.5))</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if v1 &lt;= ii &lt;= v2: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0.01</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yy2.append(</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(xx,yy2) # show sigma range</a:t>
            </a:r>
          </a:p>
        </p:txBody>
      </p:sp>
      <p:pic>
        <p:nvPicPr>
          <p:cNvPr id="5" name="Picture 4">
            <a:extLst>
              <a:ext uri="{FF2B5EF4-FFF2-40B4-BE49-F238E27FC236}">
                <a16:creationId xmlns:a16="http://schemas.microsoft.com/office/drawing/2014/main" id="{2946C5B3-4D05-D54B-8D93-DB43DC8E13DE}"/>
              </a:ext>
            </a:extLst>
          </p:cNvPr>
          <p:cNvPicPr>
            <a:picLocks noChangeAspect="1"/>
          </p:cNvPicPr>
          <p:nvPr/>
        </p:nvPicPr>
        <p:blipFill>
          <a:blip r:embed="rId2"/>
          <a:stretch>
            <a:fillRect/>
          </a:stretch>
        </p:blipFill>
        <p:spPr>
          <a:xfrm>
            <a:off x="4805626" y="1593590"/>
            <a:ext cx="4876800" cy="3149600"/>
          </a:xfrm>
          <a:prstGeom prst="rect">
            <a:avLst/>
          </a:prstGeom>
        </p:spPr>
      </p:pic>
      <p:sp>
        <p:nvSpPr>
          <p:cNvPr id="6" name="TextBox 5">
            <a:extLst>
              <a:ext uri="{FF2B5EF4-FFF2-40B4-BE49-F238E27FC236}">
                <a16:creationId xmlns:a16="http://schemas.microsoft.com/office/drawing/2014/main" id="{6180DDB0-6998-994F-8A7D-E2271187FE2C}"/>
              </a:ext>
            </a:extLst>
          </p:cNvPr>
          <p:cNvSpPr txBox="1"/>
          <p:nvPr/>
        </p:nvSpPr>
        <p:spPr>
          <a:xfrm>
            <a:off x="345688" y="156117"/>
            <a:ext cx="6400800" cy="523220"/>
          </a:xfrm>
          <a:prstGeom prst="rect">
            <a:avLst/>
          </a:prstGeom>
          <a:noFill/>
        </p:spPr>
        <p:txBody>
          <a:bodyPr wrap="square" rtlCol="0">
            <a:spAutoFit/>
          </a:bodyPr>
          <a:lstStyle/>
          <a:p>
            <a:r>
              <a:rPr lang="en-US" sz="2800" b="1" dirty="0"/>
              <a:t>Binomial Distribution – Plot, Sigma</a:t>
            </a:r>
          </a:p>
        </p:txBody>
      </p:sp>
    </p:spTree>
    <p:extLst>
      <p:ext uri="{BB962C8B-B14F-4D97-AF65-F5344CB8AC3E}">
        <p14:creationId xmlns:p14="http://schemas.microsoft.com/office/powerpoint/2010/main" val="18018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122583" y="129208"/>
            <a:ext cx="6172200" cy="5179771"/>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a:t>
            </a:r>
            <a:r>
              <a:rPr lang="en-US" sz="2800" b="1" i="1" dirty="0">
                <a:solidFill>
                  <a:srgbClr val="222222"/>
                </a:solidFill>
                <a:highlight>
                  <a:srgbClr val="FFFFFF"/>
                </a:highlight>
                <a:latin typeface="Times New Roman"/>
                <a:ea typeface="Times New Roman"/>
                <a:cs typeface="Times New Roman"/>
                <a:sym typeface="Times New Roman"/>
              </a:rPr>
              <a:t>χ</a:t>
            </a:r>
            <a:r>
              <a:rPr lang="en-US" sz="2800" b="1" baseline="30000" dirty="0">
                <a:solidFill>
                  <a:srgbClr val="222222"/>
                </a:solidFill>
                <a:highlight>
                  <a:srgbClr val="FFFFFF"/>
                </a:highlight>
                <a:latin typeface="Times New Roman"/>
                <a:ea typeface="Times New Roman"/>
                <a:cs typeface="Times New Roman"/>
                <a:sym typeface="Times New Roman"/>
              </a:rPr>
              <a:t>2</a:t>
            </a:r>
            <a:r>
              <a:rPr lang="en-US" sz="2800" b="1" dirty="0">
                <a:latin typeface="Calibri"/>
                <a:ea typeface="Calibri"/>
                <a:cs typeface="Calibri"/>
                <a:sym typeface="Calibri"/>
              </a:rPr>
              <a:t> test</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marL="0" lvl="0" indent="0" algn="l" rtl="0">
              <a:spcBef>
                <a:spcPts val="0"/>
              </a:spcBef>
              <a:spcAft>
                <a:spcPts val="0"/>
              </a:spcAft>
              <a:buNone/>
            </a:pPr>
            <a:endParaRPr lang="en-US" sz="1300" dirty="0">
              <a:latin typeface="Calibri"/>
              <a:ea typeface="Calibri"/>
              <a:cs typeface="Calibri"/>
              <a:sym typeface="Calibri"/>
            </a:endParaRPr>
          </a:p>
          <a:p>
            <a:pPr lvl="0"/>
            <a:r>
              <a:rPr lang="en-US" sz="1300" dirty="0">
                <a:latin typeface="Calibri"/>
                <a:ea typeface="Calibri"/>
                <a:cs typeface="Calibri"/>
                <a:sym typeface="Calibri"/>
              </a:rPr>
              <a:t>Using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a:t>
            </a:r>
            <a:r>
              <a:rPr lang="en-US" sz="1300" dirty="0">
                <a:latin typeface="Calibri"/>
                <a:cs typeface="Calibri"/>
                <a:sym typeface="Calibri"/>
              </a:rPr>
              <a:t>goodness of fit test</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one degree of freedom is more extreme than that value.</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 example: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       N=100, H=60, T=40</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 (60–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 (40 –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2+2 = 4</a:t>
            </a:r>
          </a:p>
          <a:p>
            <a:pPr>
              <a:buClr>
                <a:schemeClr val="dk1"/>
              </a:buClr>
              <a:buSzPts val="1100"/>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distribution for 1 degree of freedom gives 3.84 for P-value P=0.05.</a:t>
            </a:r>
          </a:p>
          <a:p>
            <a:pPr>
              <a:buClr>
                <a:schemeClr val="dk1"/>
              </a:buClr>
              <a:buSzPts val="1100"/>
            </a:pPr>
            <a:r>
              <a:rPr lang="en-US" sz="1300" dirty="0">
                <a:latin typeface="Calibri"/>
                <a:ea typeface="Calibri"/>
                <a:cs typeface="Calibri"/>
                <a:sym typeface="Calibri"/>
              </a:rPr>
              <a:t>We have 4, which is more extreme. </a:t>
            </a:r>
          </a:p>
          <a:p>
            <a:pPr>
              <a:buClr>
                <a:schemeClr val="dk1"/>
              </a:buClr>
              <a:buSzPts val="1100"/>
            </a:pPr>
            <a:r>
              <a:rPr lang="en-US" sz="1300" dirty="0">
                <a:latin typeface="Calibri"/>
                <a:ea typeface="Calibri"/>
                <a:cs typeface="Calibri"/>
                <a:sym typeface="Calibri"/>
              </a:rPr>
              <a:t>So we reject the null hypothesis (that the coin is fair).</a:t>
            </a:r>
          </a:p>
        </p:txBody>
      </p:sp>
      <p:pic>
        <p:nvPicPr>
          <p:cNvPr id="5" name="Picture 4">
            <a:extLst>
              <a:ext uri="{FF2B5EF4-FFF2-40B4-BE49-F238E27FC236}">
                <a16:creationId xmlns:a16="http://schemas.microsoft.com/office/drawing/2014/main" id="{FC02FCE1-51F8-CF47-AD22-F756CF53965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56584" y="662608"/>
            <a:ext cx="4049486" cy="3180523"/>
          </a:xfrm>
          <a:prstGeom prst="rect">
            <a:avLst/>
          </a:prstGeom>
        </p:spPr>
      </p:pic>
      <p:sp>
        <p:nvSpPr>
          <p:cNvPr id="6" name="TextBox 5">
            <a:extLst>
              <a:ext uri="{FF2B5EF4-FFF2-40B4-BE49-F238E27FC236}">
                <a16:creationId xmlns:a16="http://schemas.microsoft.com/office/drawing/2014/main" id="{F9CD06EB-7D73-6747-8B8D-655F4F207CAE}"/>
              </a:ext>
            </a:extLst>
          </p:cNvPr>
          <p:cNvSpPr txBox="1"/>
          <p:nvPr/>
        </p:nvSpPr>
        <p:spPr>
          <a:xfrm>
            <a:off x="10486259" y="755596"/>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7" name="Oval 6">
            <a:extLst>
              <a:ext uri="{FF2B5EF4-FFF2-40B4-BE49-F238E27FC236}">
                <a16:creationId xmlns:a16="http://schemas.microsoft.com/office/drawing/2014/main" id="{A138FD90-7D86-7947-B9C9-3970A771F11A}"/>
              </a:ext>
            </a:extLst>
          </p:cNvPr>
          <p:cNvSpPr/>
          <p:nvPr/>
        </p:nvSpPr>
        <p:spPr>
          <a:xfrm>
            <a:off x="10137913" y="662608"/>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A25444D-FF1F-1B4F-9E2D-91F9E45E1FC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06703" y="4865204"/>
            <a:ext cx="2616200" cy="838200"/>
          </a:xfrm>
          <a:prstGeom prst="rect">
            <a:avLst/>
          </a:prstGeom>
        </p:spPr>
      </p:pic>
    </p:spTree>
    <p:extLst>
      <p:ext uri="{BB962C8B-B14F-4D97-AF65-F5344CB8AC3E}">
        <p14:creationId xmlns:p14="http://schemas.microsoft.com/office/powerpoint/2010/main" val="364448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0" y="57384"/>
            <a:ext cx="5913120" cy="5606438"/>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t-test</a:t>
            </a:r>
            <a:br>
              <a:rPr lang="en-US" sz="1800" dirty="0">
                <a:latin typeface="Calibri"/>
                <a:ea typeface="Calibri"/>
                <a:cs typeface="Calibri"/>
                <a:sym typeface="Calibri"/>
              </a:rPr>
            </a:br>
            <a:endParaRPr lang="en-US" sz="1800" dirty="0">
              <a:latin typeface="Calibri"/>
              <a:ea typeface="Calibri"/>
              <a:cs typeface="Calibri"/>
              <a:sym typeface="Calibri"/>
            </a:endParaRPr>
          </a:p>
          <a:p>
            <a:r>
              <a:rPr lang="en-US" sz="1300" dirty="0">
                <a:latin typeface="Calibri"/>
                <a:cs typeface="Calibri"/>
                <a:sym typeface="Calibri"/>
              </a:rPr>
              <a:t>I am not sure if the t-test can be used for coin flipping hypothesis testing.</a:t>
            </a:r>
          </a:p>
          <a:p>
            <a:endParaRPr lang="en-US" sz="1300" dirty="0">
              <a:latin typeface="Calibri"/>
              <a:cs typeface="Calibri"/>
              <a:sym typeface="Calibri"/>
            </a:endParaRPr>
          </a:p>
          <a:p>
            <a:r>
              <a:rPr lang="en-US" sz="1300" dirty="0">
                <a:latin typeface="Calibri"/>
                <a:cs typeface="Calibri"/>
                <a:sym typeface="Calibri"/>
              </a:rPr>
              <a:t>t-test is used for data which is presumed to have normal distribution, and only for small samples of data ( &lt; 30 points).</a:t>
            </a:r>
          </a:p>
          <a:p>
            <a:endParaRPr lang="en-US" sz="1300" dirty="0">
              <a:latin typeface="Calibri"/>
              <a:cs typeface="Calibri"/>
              <a:sym typeface="Calibri"/>
            </a:endParaRPr>
          </a:p>
          <a:p>
            <a:r>
              <a:rPr lang="en-US" sz="1300" dirty="0">
                <a:latin typeface="Calibri"/>
                <a:cs typeface="Calibri"/>
                <a:sym typeface="Calibri"/>
              </a:rPr>
              <a:t>But here is formal application of t-test:</a:t>
            </a:r>
          </a:p>
          <a:p>
            <a:endParaRPr lang="en-US" sz="1300" dirty="0">
              <a:latin typeface="Calibri"/>
              <a:cs typeface="Calibri"/>
              <a:sym typeface="Calibri"/>
            </a:endParaRPr>
          </a:p>
          <a:p>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r>
              <a:rPr lang="en-US" sz="1300" dirty="0">
                <a:latin typeface="Calibri"/>
                <a:ea typeface="Calibri"/>
                <a:cs typeface="Calibri"/>
                <a:sym typeface="Calibri"/>
              </a:rPr>
              <a:t>Expected numbers are N/2 for heads and for tails.</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To calculate t-test we assume values 1 for heads and -1 for tails.</a:t>
            </a:r>
          </a:p>
          <a:p>
            <a:pPr lvl="0"/>
            <a:r>
              <a:rPr lang="en-US" sz="1300" dirty="0">
                <a:latin typeface="Calibri"/>
                <a:ea typeface="Calibri"/>
                <a:cs typeface="Calibri"/>
                <a:sym typeface="Calibri"/>
              </a:rPr>
              <a:t>Then suppose N=100, H=60, T=40</a:t>
            </a:r>
          </a:p>
          <a:p>
            <a:pPr marL="0" lvl="0" indent="0" algn="l" rtl="0">
              <a:spcBef>
                <a:spcPts val="0"/>
              </a:spcBef>
              <a:spcAft>
                <a:spcPts val="0"/>
              </a:spcAft>
              <a:buNone/>
            </a:pPr>
            <a:r>
              <a:rPr lang="en-US" sz="1300" dirty="0">
                <a:latin typeface="Calibri"/>
                <a:ea typeface="Calibri"/>
                <a:cs typeface="Calibri"/>
                <a:sym typeface="Calibri"/>
              </a:rPr>
              <a:t>   Sample Mean X = (H – T)/100 = 20/100 = 0.2</a:t>
            </a:r>
          </a:p>
          <a:p>
            <a:pPr marL="0" lvl="0" indent="0" algn="l" rtl="0">
              <a:spcBef>
                <a:spcPts val="0"/>
              </a:spcBef>
              <a:spcAft>
                <a:spcPts val="0"/>
              </a:spcAft>
              <a:buNone/>
            </a:pPr>
            <a:r>
              <a:rPr lang="en-US" sz="1300" dirty="0">
                <a:latin typeface="Calibri"/>
                <a:ea typeface="Calibri"/>
                <a:cs typeface="Calibri"/>
                <a:sym typeface="Calibri"/>
              </a:rPr>
              <a:t>   Expected mean = N/2 – N/2 = 0</a:t>
            </a:r>
          </a:p>
          <a:p>
            <a:pPr marL="0" lvl="0" indent="0" algn="l" rtl="0">
              <a:spcBef>
                <a:spcPts val="0"/>
              </a:spcBef>
              <a:spcAft>
                <a:spcPts val="0"/>
              </a:spcAft>
              <a:buNone/>
            </a:pPr>
            <a:r>
              <a:rPr lang="en-US" sz="1300" dirty="0">
                <a:latin typeface="Calibri"/>
                <a:ea typeface="Calibri"/>
                <a:cs typeface="Calibri"/>
                <a:sym typeface="Calibri"/>
              </a:rPr>
              <a:t>   Sample Variance:</a:t>
            </a:r>
          </a:p>
          <a:p>
            <a:pPr lvl="0"/>
            <a:r>
              <a:rPr lang="en-US" sz="1300" dirty="0">
                <a:latin typeface="Calibri"/>
                <a:ea typeface="Calibri"/>
                <a:cs typeface="Calibri"/>
                <a:sym typeface="Calibri"/>
              </a:rPr>
              <a:t>         S</a:t>
            </a:r>
            <a:r>
              <a:rPr lang="en-US" sz="1300" baseline="30000" dirty="0">
                <a:latin typeface="Calibri"/>
                <a:ea typeface="Calibri"/>
                <a:cs typeface="Calibri"/>
                <a:sym typeface="Calibri"/>
              </a:rPr>
              <a:t>2</a:t>
            </a:r>
            <a:r>
              <a:rPr lang="en-US" sz="1300" dirty="0">
                <a:latin typeface="Calibri"/>
                <a:ea typeface="Calibri"/>
                <a:cs typeface="Calibri"/>
                <a:sym typeface="Calibri"/>
              </a:rPr>
              <a:t> = (1/99) *  ( 60*(1-0.2)</a:t>
            </a:r>
            <a:r>
              <a:rPr lang="en-US" sz="1300" baseline="30000" dirty="0">
                <a:latin typeface="Calibri"/>
                <a:ea typeface="Calibri"/>
                <a:cs typeface="Calibri"/>
                <a:sym typeface="Calibri"/>
              </a:rPr>
              <a:t>2</a:t>
            </a:r>
            <a:r>
              <a:rPr lang="en-US" sz="1300" dirty="0">
                <a:latin typeface="Calibri"/>
                <a:ea typeface="Calibri"/>
                <a:cs typeface="Calibri"/>
                <a:sym typeface="Calibri"/>
              </a:rPr>
              <a:t> + 40*(-1-0.2)</a:t>
            </a:r>
            <a:r>
              <a:rPr lang="en-US" sz="1300" baseline="30000" dirty="0">
                <a:latin typeface="Calibri"/>
                <a:ea typeface="Calibri"/>
                <a:cs typeface="Calibri"/>
                <a:sym typeface="Calibri"/>
              </a:rPr>
              <a:t>2</a:t>
            </a:r>
            <a:r>
              <a:rPr lang="en-US" sz="1300" dirty="0">
                <a:latin typeface="Calibri"/>
                <a:ea typeface="Calibri"/>
                <a:cs typeface="Calibri"/>
                <a:sym typeface="Calibri"/>
              </a:rPr>
              <a:t> )  = 0.969</a:t>
            </a:r>
          </a:p>
          <a:p>
            <a:pPr lvl="0"/>
            <a:r>
              <a:rPr lang="en-US" sz="1300" dirty="0">
                <a:latin typeface="Calibri"/>
                <a:ea typeface="Calibri"/>
                <a:cs typeface="Calibri"/>
                <a:sym typeface="Calibri"/>
              </a:rPr>
              <a:t>   Sample Standard Deviation:</a:t>
            </a:r>
          </a:p>
          <a:p>
            <a:pPr lvl="0"/>
            <a:r>
              <a:rPr lang="en-US" sz="1300" dirty="0">
                <a:latin typeface="Calibri"/>
                <a:ea typeface="Calibri"/>
                <a:cs typeface="Calibri"/>
                <a:sym typeface="Calibri"/>
              </a:rPr>
              <a:t>        S = sqrt(0.9696) = 0.9847</a:t>
            </a:r>
          </a:p>
          <a:p>
            <a:pPr lvl="0"/>
            <a:r>
              <a:rPr lang="en-US" sz="1300" dirty="0">
                <a:latin typeface="Calibri"/>
                <a:ea typeface="Calibri"/>
                <a:cs typeface="Calibri"/>
                <a:sym typeface="Calibri"/>
              </a:rPr>
              <a:t>   t-statistics:</a:t>
            </a:r>
          </a:p>
          <a:p>
            <a:pPr lvl="0"/>
            <a:r>
              <a:rPr lang="en-US" sz="1300" dirty="0">
                <a:latin typeface="Calibri"/>
                <a:ea typeface="Calibri"/>
                <a:cs typeface="Calibri"/>
                <a:sym typeface="Calibri"/>
              </a:rPr>
              <a:t>        (0.2– 0) / (0.9847 / 10) = 2.031</a:t>
            </a: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9CC5F72C-4AE0-DE4C-A88E-C5CDCB8F2F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22758" y="1496340"/>
            <a:ext cx="1331161" cy="612140"/>
          </a:xfrm>
          <a:prstGeom prst="rect">
            <a:avLst/>
          </a:prstGeom>
        </p:spPr>
      </p:pic>
      <p:pic>
        <p:nvPicPr>
          <p:cNvPr id="6" name="Picture 5">
            <a:extLst>
              <a:ext uri="{FF2B5EF4-FFF2-40B4-BE49-F238E27FC236}">
                <a16:creationId xmlns:a16="http://schemas.microsoft.com/office/drawing/2014/main" id="{98E620A2-33F1-234A-BB97-467B69CD23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22758" y="2148781"/>
            <a:ext cx="2377908" cy="613968"/>
          </a:xfrm>
          <a:prstGeom prst="rect">
            <a:avLst/>
          </a:prstGeom>
        </p:spPr>
      </p:pic>
      <p:pic>
        <p:nvPicPr>
          <p:cNvPr id="7" name="Picture 6">
            <a:extLst>
              <a:ext uri="{FF2B5EF4-FFF2-40B4-BE49-F238E27FC236}">
                <a16:creationId xmlns:a16="http://schemas.microsoft.com/office/drawing/2014/main" id="{699F40AF-8B1F-4B4C-AB25-DBEF1CC15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38703" y="3002765"/>
            <a:ext cx="702080" cy="616692"/>
          </a:xfrm>
          <a:prstGeom prst="rect">
            <a:avLst/>
          </a:prstGeom>
        </p:spPr>
      </p:pic>
      <p:pic>
        <p:nvPicPr>
          <p:cNvPr id="8" name="Picture 7">
            <a:extLst>
              <a:ext uri="{FF2B5EF4-FFF2-40B4-BE49-F238E27FC236}">
                <a16:creationId xmlns:a16="http://schemas.microsoft.com/office/drawing/2014/main" id="{C8597561-A772-964F-AE93-9F1DCADF39F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038703" y="3859473"/>
            <a:ext cx="582886" cy="565991"/>
          </a:xfrm>
          <a:prstGeom prst="rect">
            <a:avLst/>
          </a:prstGeom>
        </p:spPr>
      </p:pic>
      <p:sp>
        <p:nvSpPr>
          <p:cNvPr id="9" name="TextBox 8">
            <a:extLst>
              <a:ext uri="{FF2B5EF4-FFF2-40B4-BE49-F238E27FC236}">
                <a16:creationId xmlns:a16="http://schemas.microsoft.com/office/drawing/2014/main" id="{FE5ECE04-FB56-A541-ADF8-EC1AB9C8DCDC}"/>
              </a:ext>
            </a:extLst>
          </p:cNvPr>
          <p:cNvSpPr txBox="1"/>
          <p:nvPr/>
        </p:nvSpPr>
        <p:spPr>
          <a:xfrm>
            <a:off x="6772928" y="237877"/>
            <a:ext cx="5318760" cy="1046440"/>
          </a:xfrm>
          <a:prstGeom prst="rect">
            <a:avLst/>
          </a:prstGeom>
          <a:noFill/>
        </p:spPr>
        <p:txBody>
          <a:bodyPr wrap="square" rtlCol="0">
            <a:spAutoFit/>
          </a:bodyPr>
          <a:lstStyle/>
          <a:p>
            <a:r>
              <a:rPr lang="en-US" sz="2000" b="1" dirty="0"/>
              <a:t>Student t-test</a:t>
            </a:r>
          </a:p>
          <a:p>
            <a:endParaRPr lang="en-US" dirty="0"/>
          </a:p>
          <a:p>
            <a:r>
              <a:rPr lang="en-US" dirty="0"/>
              <a:t>Let X</a:t>
            </a:r>
            <a:r>
              <a:rPr lang="en-US" baseline="-25000" dirty="0"/>
              <a:t>i</a:t>
            </a:r>
            <a:r>
              <a:rPr lang="en-US" dirty="0"/>
              <a:t>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0" name="TextBox 9">
            <a:extLst>
              <a:ext uri="{FF2B5EF4-FFF2-40B4-BE49-F238E27FC236}">
                <a16:creationId xmlns:a16="http://schemas.microsoft.com/office/drawing/2014/main" id="{C2DB4341-286D-CD45-99E7-42A3FF1B137F}"/>
              </a:ext>
            </a:extLst>
          </p:cNvPr>
          <p:cNvSpPr txBox="1"/>
          <p:nvPr/>
        </p:nvSpPr>
        <p:spPr>
          <a:xfrm>
            <a:off x="9580958" y="1639127"/>
            <a:ext cx="1214439" cy="523220"/>
          </a:xfrm>
          <a:prstGeom prst="rect">
            <a:avLst/>
          </a:prstGeom>
          <a:noFill/>
        </p:spPr>
        <p:txBody>
          <a:bodyPr wrap="square" rtlCol="0">
            <a:spAutoFit/>
          </a:bodyPr>
          <a:lstStyle/>
          <a:p>
            <a:r>
              <a:rPr lang="en-US" dirty="0"/>
              <a:t>----- Sample </a:t>
            </a:r>
          </a:p>
          <a:p>
            <a:r>
              <a:rPr lang="en-US" dirty="0"/>
              <a:t>       mean</a:t>
            </a:r>
          </a:p>
        </p:txBody>
      </p:sp>
      <p:sp>
        <p:nvSpPr>
          <p:cNvPr id="11" name="TextBox 10">
            <a:extLst>
              <a:ext uri="{FF2B5EF4-FFF2-40B4-BE49-F238E27FC236}">
                <a16:creationId xmlns:a16="http://schemas.microsoft.com/office/drawing/2014/main" id="{8A5616D2-AC16-E540-AFEE-40C460596FA8}"/>
              </a:ext>
            </a:extLst>
          </p:cNvPr>
          <p:cNvSpPr txBox="1"/>
          <p:nvPr/>
        </p:nvSpPr>
        <p:spPr>
          <a:xfrm>
            <a:off x="9580958" y="2244285"/>
            <a:ext cx="1406529" cy="523220"/>
          </a:xfrm>
          <a:prstGeom prst="rect">
            <a:avLst/>
          </a:prstGeom>
          <a:noFill/>
        </p:spPr>
        <p:txBody>
          <a:bodyPr wrap="square" rtlCol="0">
            <a:spAutoFit/>
          </a:bodyPr>
          <a:lstStyle/>
          <a:p>
            <a:r>
              <a:rPr lang="en-US" dirty="0"/>
              <a:t>----- Sample </a:t>
            </a:r>
          </a:p>
          <a:p>
            <a:r>
              <a:rPr lang="en-US" dirty="0"/>
              <a:t>       variance</a:t>
            </a:r>
          </a:p>
        </p:txBody>
      </p:sp>
      <p:sp>
        <p:nvSpPr>
          <p:cNvPr id="12" name="TextBox 11">
            <a:extLst>
              <a:ext uri="{FF2B5EF4-FFF2-40B4-BE49-F238E27FC236}">
                <a16:creationId xmlns:a16="http://schemas.microsoft.com/office/drawing/2014/main" id="{9545AB33-AA63-984A-9B99-9845844D5CB7}"/>
              </a:ext>
            </a:extLst>
          </p:cNvPr>
          <p:cNvSpPr txBox="1"/>
          <p:nvPr/>
        </p:nvSpPr>
        <p:spPr>
          <a:xfrm>
            <a:off x="8044844" y="3152313"/>
            <a:ext cx="2143280" cy="523220"/>
          </a:xfrm>
          <a:prstGeom prst="rect">
            <a:avLst/>
          </a:prstGeom>
          <a:noFill/>
        </p:spPr>
        <p:txBody>
          <a:bodyPr wrap="square" rtlCol="0">
            <a:spAutoFit/>
          </a:bodyPr>
          <a:lstStyle/>
          <a:p>
            <a:r>
              <a:rPr lang="en-US" dirty="0"/>
              <a:t>Random variable, </a:t>
            </a:r>
          </a:p>
          <a:p>
            <a:r>
              <a:rPr lang="en-US" dirty="0"/>
              <a:t>Normal distribution</a:t>
            </a:r>
          </a:p>
        </p:txBody>
      </p:sp>
      <p:sp>
        <p:nvSpPr>
          <p:cNvPr id="13" name="TextBox 12">
            <a:extLst>
              <a:ext uri="{FF2B5EF4-FFF2-40B4-BE49-F238E27FC236}">
                <a16:creationId xmlns:a16="http://schemas.microsoft.com/office/drawing/2014/main" id="{734ABCDE-E2E0-1C44-A086-B8E907EF2E67}"/>
              </a:ext>
            </a:extLst>
          </p:cNvPr>
          <p:cNvSpPr txBox="1"/>
          <p:nvPr/>
        </p:nvSpPr>
        <p:spPr>
          <a:xfrm>
            <a:off x="8044845" y="3968158"/>
            <a:ext cx="3757284" cy="1169551"/>
          </a:xfrm>
          <a:prstGeom prst="rect">
            <a:avLst/>
          </a:prstGeom>
          <a:noFill/>
        </p:spPr>
        <p:txBody>
          <a:bodyPr wrap="square" rtlCol="0">
            <a:spAutoFit/>
          </a:bodyPr>
          <a:lstStyle/>
          <a:p>
            <a:r>
              <a:rPr lang="en-US" dirty="0"/>
              <a:t>Random variable, </a:t>
            </a:r>
            <a:r>
              <a:rPr lang="en-US" b="1" dirty="0">
                <a:solidFill>
                  <a:srgbClr val="0070C0"/>
                </a:solidFill>
              </a:rPr>
              <a:t>t-distribution</a:t>
            </a:r>
            <a:r>
              <a:rPr lang="en-US" dirty="0"/>
              <a:t>. </a:t>
            </a:r>
          </a:p>
          <a:p>
            <a:r>
              <a:rPr lang="en-US" dirty="0"/>
              <a:t>It uses S = sqrt(sample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pic>
        <p:nvPicPr>
          <p:cNvPr id="16" name="Picture 15">
            <a:extLst>
              <a:ext uri="{FF2B5EF4-FFF2-40B4-BE49-F238E27FC236}">
                <a16:creationId xmlns:a16="http://schemas.microsoft.com/office/drawing/2014/main" id="{731C3EEC-3D2B-4D4C-B8D3-B3908EED7EA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584085" y="5246893"/>
            <a:ext cx="5384771" cy="1408156"/>
          </a:xfrm>
          <a:prstGeom prst="rect">
            <a:avLst/>
          </a:prstGeom>
        </p:spPr>
      </p:pic>
      <p:cxnSp>
        <p:nvCxnSpPr>
          <p:cNvPr id="3" name="Straight Connector 2">
            <a:extLst>
              <a:ext uri="{FF2B5EF4-FFF2-40B4-BE49-F238E27FC236}">
                <a16:creationId xmlns:a16="http://schemas.microsoft.com/office/drawing/2014/main" id="{D1C0BEE1-1D4E-454C-B8BD-7721E20060BB}"/>
              </a:ext>
            </a:extLst>
          </p:cNvPr>
          <p:cNvCxnSpPr/>
          <p:nvPr/>
        </p:nvCxnSpPr>
        <p:spPr>
          <a:xfrm>
            <a:off x="6291620" y="237877"/>
            <a:ext cx="0" cy="6463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19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383974" y="551503"/>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Problem1: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Given: women's heights are normally distributed with the mean 65″ and standard deviation of 3.5″</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Question: What is the probability of finding a random sample of 50 women with a mean height of 70″.</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To answer, let's estimate the </a:t>
            </a:r>
            <a:r>
              <a:rPr lang="en-US" b="1" dirty="0">
                <a:solidFill>
                  <a:srgbClr val="0000FF"/>
                </a:solidFill>
                <a:latin typeface="Calibri"/>
                <a:ea typeface="Calibri"/>
                <a:cs typeface="Calibri"/>
                <a:sym typeface="Calibri"/>
              </a:rPr>
              <a:t>z-score</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z = (x – </a:t>
            </a:r>
            <a:r>
              <a:rPr lang="en-US" dirty="0" err="1">
                <a:latin typeface="Calibri"/>
                <a:ea typeface="Calibri"/>
                <a:cs typeface="Calibri"/>
                <a:sym typeface="Calibri"/>
              </a:rPr>
              <a:t>μ</a:t>
            </a:r>
            <a:r>
              <a:rPr lang="en-US" dirty="0">
                <a:latin typeface="Calibri"/>
                <a:ea typeface="Calibri"/>
                <a:cs typeface="Calibri"/>
                <a:sym typeface="Calibri"/>
              </a:rPr>
              <a:t>) / (</a:t>
            </a:r>
            <a:r>
              <a:rPr lang="en-US" dirty="0" err="1">
                <a:latin typeface="Calibri"/>
                <a:ea typeface="Calibri"/>
                <a:cs typeface="Calibri"/>
                <a:sym typeface="Calibri"/>
              </a:rPr>
              <a:t>σ</a:t>
            </a:r>
            <a:r>
              <a:rPr lang="en-US" dirty="0">
                <a:latin typeface="Calibri"/>
                <a:ea typeface="Calibri"/>
                <a:cs typeface="Calibri"/>
                <a:sym typeface="Calibri"/>
              </a:rPr>
              <a:t> / √n) = (70 – 65) / (3.5/√50) = 5 / 0.495 = 10.1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know that 99% of values fall within 3</a:t>
            </a:r>
            <a:r>
              <a:rPr lang="en-US" dirty="0">
                <a:solidFill>
                  <a:schemeClr val="dk1"/>
                </a:solidFill>
                <a:latin typeface="Calibri"/>
                <a:ea typeface="Calibri"/>
                <a:cs typeface="Calibri"/>
                <a:sym typeface="Calibri"/>
              </a:rPr>
              <a:t>σ</a:t>
            </a:r>
            <a:r>
              <a:rPr lang="en-US" dirty="0">
                <a:latin typeface="Calibri"/>
                <a:ea typeface="Calibri"/>
                <a:cs typeface="Calibri"/>
                <a:sym typeface="Calibri"/>
              </a:rPr>
              <a:t> (68,  95,  99.7 rule).</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z-score = 10, which is much more than 3.</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So the probability </a:t>
            </a:r>
            <a:r>
              <a:rPr lang="en-US" dirty="0">
                <a:solidFill>
                  <a:schemeClr val="dk1"/>
                </a:solidFill>
                <a:latin typeface="Calibri"/>
                <a:ea typeface="Calibri"/>
                <a:cs typeface="Calibri"/>
                <a:sym typeface="Calibri"/>
              </a:rPr>
              <a:t>that any sample of 50 women will have a mean height of 70″ will be much-much less than 1%.</a:t>
            </a:r>
            <a:endParaRPr dirty="0">
              <a:latin typeface="Calibri"/>
              <a:ea typeface="Calibri"/>
              <a:cs typeface="Calibri"/>
              <a:sym typeface="Calibri"/>
            </a:endParaRPr>
          </a:p>
        </p:txBody>
      </p:sp>
      <p:sp>
        <p:nvSpPr>
          <p:cNvPr id="115" name="Google Shape;115;p16"/>
          <p:cNvSpPr txBox="1"/>
          <p:nvPr/>
        </p:nvSpPr>
        <p:spPr>
          <a:xfrm>
            <a:off x="6067250" y="551503"/>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7D2AE4FC-9024-9547-829E-724CC7A63A22}"/>
              </a:ext>
            </a:extLst>
          </p:cNvPr>
          <p:cNvSpPr txBox="1"/>
          <p:nvPr/>
        </p:nvSpPr>
        <p:spPr>
          <a:xfrm>
            <a:off x="92765" y="106017"/>
            <a:ext cx="4108174" cy="400110"/>
          </a:xfrm>
          <a:prstGeom prst="rect">
            <a:avLst/>
          </a:prstGeom>
          <a:noFill/>
        </p:spPr>
        <p:txBody>
          <a:bodyPr wrap="square" rtlCol="0">
            <a:spAutoFit/>
          </a:bodyPr>
          <a:lstStyle/>
          <a:p>
            <a:r>
              <a:rPr lang="en-US" sz="2000" b="1" dirty="0"/>
              <a:t>Hypothesis Testing Examples</a:t>
            </a:r>
          </a:p>
        </p:txBody>
      </p:sp>
    </p:spTree>
    <p:extLst>
      <p:ext uri="{BB962C8B-B14F-4D97-AF65-F5344CB8AC3E}">
        <p14:creationId xmlns:p14="http://schemas.microsoft.com/office/powerpoint/2010/main" val="3916857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D7F6D-CF60-394D-8EB7-E0C54261DB23}"/>
              </a:ext>
            </a:extLst>
          </p:cNvPr>
          <p:cNvSpPr txBox="1"/>
          <p:nvPr/>
        </p:nvSpPr>
        <p:spPr>
          <a:xfrm>
            <a:off x="1431236" y="516838"/>
            <a:ext cx="9488556" cy="5909310"/>
          </a:xfrm>
          <a:prstGeom prst="rect">
            <a:avLst/>
          </a:prstGeom>
          <a:noFill/>
        </p:spPr>
        <p:txBody>
          <a:bodyPr wrap="square" rtlCol="0">
            <a:spAutoFit/>
          </a:bodyPr>
          <a:lstStyle/>
          <a:p>
            <a:r>
              <a:rPr lang="en-US" sz="2400" b="1" dirty="0"/>
              <a:t>The dichotomous use of p-value in statistical inference </a:t>
            </a:r>
          </a:p>
          <a:p>
            <a:r>
              <a:rPr lang="en-US" sz="2400" b="1" dirty="0"/>
              <a:t>is worse than useless. </a:t>
            </a:r>
          </a:p>
          <a:p>
            <a:endParaRPr lang="en-US" dirty="0"/>
          </a:p>
          <a:p>
            <a:pPr marL="342900" indent="-342900">
              <a:buFont typeface="+mj-lt"/>
              <a:buAutoNum type="arabicPeriod"/>
            </a:pPr>
            <a:r>
              <a:rPr lang="en-US" sz="1600" dirty="0"/>
              <a:t>p-value is a conditional probability, i.e., </a:t>
            </a:r>
            <a:r>
              <a:rPr lang="en-US" sz="1600" b="1" dirty="0" err="1">
                <a:solidFill>
                  <a:srgbClr val="0070C0"/>
                </a:solidFill>
              </a:rPr>
              <a:t>Pr</a:t>
            </a:r>
            <a:r>
              <a:rPr lang="en-US" sz="1600" b="1" dirty="0">
                <a:solidFill>
                  <a:srgbClr val="0070C0"/>
                </a:solidFill>
              </a:rPr>
              <a:t>( Data | H0 is true) </a:t>
            </a:r>
            <a:br>
              <a:rPr lang="en-US" sz="1600" dirty="0"/>
            </a:br>
            <a:r>
              <a:rPr lang="en-US" sz="1600" dirty="0"/>
              <a:t>but what we want to know is </a:t>
            </a:r>
            <a:r>
              <a:rPr lang="en-US" sz="1600" b="1" dirty="0" err="1">
                <a:solidFill>
                  <a:srgbClr val="0070C0"/>
                </a:solidFill>
              </a:rPr>
              <a:t>Pr</a:t>
            </a:r>
            <a:r>
              <a:rPr lang="en-US" sz="1600" b="1" dirty="0">
                <a:solidFill>
                  <a:srgbClr val="0070C0"/>
                </a:solidFill>
              </a:rPr>
              <a:t>(H0 is true | Data)</a:t>
            </a:r>
          </a:p>
          <a:p>
            <a:pPr marL="342900" indent="-342900">
              <a:buFont typeface="+mj-lt"/>
              <a:buAutoNum type="arabicPeriod"/>
            </a:pPr>
            <a:r>
              <a:rPr lang="en-US" sz="1600" dirty="0"/>
              <a:t>the calculation of p-value depends on at least three things: </a:t>
            </a:r>
            <a:br>
              <a:rPr lang="en-US" sz="1600" dirty="0"/>
            </a:br>
            <a:r>
              <a:rPr lang="en-US" sz="1600" dirty="0"/>
              <a:t> - the effect size (e.g., difference of two means due to two treatment, odds ratio, etc.), </a:t>
            </a:r>
            <a:br>
              <a:rPr lang="en-US" sz="1600" dirty="0"/>
            </a:br>
            <a:r>
              <a:rPr lang="en-US" sz="1600" dirty="0"/>
              <a:t> - the uncertainty level of the point estimate (e.g., standard deviation), </a:t>
            </a:r>
            <a:br>
              <a:rPr lang="en-US" sz="1600" dirty="0"/>
            </a:br>
            <a:r>
              <a:rPr lang="en-US" sz="1600" dirty="0"/>
              <a:t> - and sample size</a:t>
            </a:r>
          </a:p>
          <a:p>
            <a:pPr marL="342900" indent="-342900">
              <a:buFont typeface="+mj-lt"/>
              <a:buAutoNum type="arabicPeriod"/>
            </a:pPr>
            <a:r>
              <a:rPr lang="en-US" sz="1600" dirty="0"/>
              <a:t>it is a standard result in statistics theory that, based on one set of sample data we cannot tell the observed effect </a:t>
            </a:r>
            <a:r>
              <a:rPr lang="en-US" sz="1600" b="1" dirty="0">
                <a:solidFill>
                  <a:srgbClr val="0070C0"/>
                </a:solidFill>
              </a:rPr>
              <a:t>size is due to treatment or due to random variation </a:t>
            </a:r>
            <a:r>
              <a:rPr lang="en-US" sz="1600" dirty="0"/>
              <a:t>(i.e., sampling distribution requires we repeat the same experiment many times before any confirmatory conclusion can be made)</a:t>
            </a:r>
          </a:p>
          <a:p>
            <a:pPr marL="342900" indent="-342900">
              <a:buFont typeface="+mj-lt"/>
              <a:buAutoNum type="arabicPeriod"/>
            </a:pPr>
            <a:r>
              <a:rPr lang="en-US" sz="1600" dirty="0"/>
              <a:t>if by nature the H0 is false (in the majority cases of real life data / research questions), p-value =0.</a:t>
            </a:r>
          </a:p>
          <a:p>
            <a:pPr marL="342900" indent="-342900">
              <a:buFont typeface="+mj-lt"/>
              <a:buAutoNum type="arabicPeriod"/>
            </a:pPr>
            <a:endParaRPr lang="en-US" sz="1600" dirty="0"/>
          </a:p>
          <a:p>
            <a:r>
              <a:rPr lang="en-US" sz="1600" b="1" dirty="0">
                <a:solidFill>
                  <a:srgbClr val="0070C0"/>
                </a:solidFill>
              </a:rPr>
              <a:t>In summary, P-value based Null Hypothesis Significance Test (NHST) </a:t>
            </a:r>
          </a:p>
          <a:p>
            <a:r>
              <a:rPr lang="en-US" sz="1600" b="1" dirty="0">
                <a:solidFill>
                  <a:srgbClr val="0070C0"/>
                </a:solidFill>
              </a:rPr>
              <a:t>is logically not defensible, technically flawed and practically damaging</a:t>
            </a:r>
          </a:p>
          <a:p>
            <a:endParaRPr lang="en-US" sz="1600" dirty="0"/>
          </a:p>
          <a:p>
            <a:r>
              <a:rPr lang="en-US" sz="1600" dirty="0"/>
              <a:t>Gang (John) </a:t>
            </a:r>
            <a:r>
              <a:rPr lang="en-US" sz="1600" dirty="0" err="1"/>
              <a:t>Xie</a:t>
            </a:r>
            <a:r>
              <a:rPr lang="en-US" sz="1600" dirty="0"/>
              <a:t>, </a:t>
            </a:r>
          </a:p>
          <a:p>
            <a:r>
              <a:rPr lang="en-US" sz="1600" dirty="0"/>
              <a:t>Ph.D. in Statistics, </a:t>
            </a:r>
          </a:p>
          <a:p>
            <a:r>
              <a:rPr lang="en-US" sz="1600" dirty="0"/>
              <a:t>Quantitative Consulting Unit in Research Office</a:t>
            </a:r>
          </a:p>
          <a:p>
            <a:endParaRPr lang="en-US" dirty="0"/>
          </a:p>
          <a:p>
            <a:r>
              <a:rPr lang="en-US" dirty="0">
                <a:hlinkClick r:id="rId2"/>
              </a:rPr>
              <a:t>https://</a:t>
            </a:r>
            <a:r>
              <a:rPr lang="en-US" dirty="0" err="1">
                <a:hlinkClick r:id="rId2"/>
              </a:rPr>
              <a:t>www.researchgate.net</a:t>
            </a:r>
            <a:r>
              <a:rPr lang="en-US" dirty="0">
                <a:hlinkClick r:id="rId2"/>
              </a:rPr>
              <a:t>/post/What_is_the_relationship_between_R-squared_and_p-value_in_a_regression</a:t>
            </a:r>
            <a:endParaRPr lang="en-US" dirty="0"/>
          </a:p>
        </p:txBody>
      </p:sp>
    </p:spTree>
    <p:extLst>
      <p:ext uri="{BB962C8B-B14F-4D97-AF65-F5344CB8AC3E}">
        <p14:creationId xmlns:p14="http://schemas.microsoft.com/office/powerpoint/2010/main" val="26669710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3406</TotalTime>
  <Words>2962</Words>
  <Application>Microsoft Macintosh PowerPoint</Application>
  <PresentationFormat>Widescreen</PresentationFormat>
  <Paragraphs>275</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Consolas</vt:lpstr>
      <vt:lpstr>Courier New</vt:lpstr>
      <vt:lpstr>Menlo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325</cp:revision>
  <cp:lastPrinted>2020-09-21T17:22:59Z</cp:lastPrinted>
  <dcterms:modified xsi:type="dcterms:W3CDTF">2021-02-22T04:06:17Z</dcterms:modified>
</cp:coreProperties>
</file>