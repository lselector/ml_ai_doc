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9" r:id="rId3"/>
    <p:sldId id="344" r:id="rId4"/>
    <p:sldId id="260" r:id="rId5"/>
    <p:sldId id="345" r:id="rId6"/>
    <p:sldId id="267" r:id="rId7"/>
    <p:sldId id="261" r:id="rId8"/>
    <p:sldId id="262" r:id="rId9"/>
    <p:sldId id="333" r:id="rId10"/>
    <p:sldId id="342" r:id="rId11"/>
    <p:sldId id="34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B671A7-AB64-3F42-BFAD-CBF7E2144A91}" v="1" dt="2019-08-05T17:46:29.8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55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9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v Selector" userId="314cf8c1-d356-4160-b242-72dee3bb7a46" providerId="ADAL" clId="{AD5117C4-3700-D344-BEDB-D666EE3EEA04}"/>
    <pc:docChg chg="custSel addSld delSld modSld sldOrd">
      <pc:chgData name="Lev Selector" userId="314cf8c1-d356-4160-b242-72dee3bb7a46" providerId="ADAL" clId="{AD5117C4-3700-D344-BEDB-D666EE3EEA04}" dt="2019-05-16T17:09:06.905" v="675" actId="1076"/>
      <pc:docMkLst>
        <pc:docMk/>
      </pc:docMkLst>
      <pc:sldChg chg="modSp">
        <pc:chgData name="Lev Selector" userId="314cf8c1-d356-4160-b242-72dee3bb7a46" providerId="ADAL" clId="{AD5117C4-3700-D344-BEDB-D666EE3EEA04}" dt="2019-05-16T17:00:30.792" v="674" actId="20577"/>
        <pc:sldMkLst>
          <pc:docMk/>
          <pc:sldMk cId="3215079199" sldId="256"/>
        </pc:sldMkLst>
        <pc:spChg chg="mod">
          <ac:chgData name="Lev Selector" userId="314cf8c1-d356-4160-b242-72dee3bb7a46" providerId="ADAL" clId="{AD5117C4-3700-D344-BEDB-D666EE3EEA04}" dt="2019-05-16T17:00:30.792" v="674" actId="20577"/>
          <ac:spMkLst>
            <pc:docMk/>
            <pc:sldMk cId="3215079199" sldId="256"/>
            <ac:spMk id="4" creationId="{7D6CA09A-64B9-4246-8A56-14D41E4BDF82}"/>
          </ac:spMkLst>
        </pc:spChg>
      </pc:sldChg>
      <pc:sldChg chg="addSp modSp ord">
        <pc:chgData name="Lev Selector" userId="314cf8c1-d356-4160-b242-72dee3bb7a46" providerId="ADAL" clId="{AD5117C4-3700-D344-BEDB-D666EE3EEA04}" dt="2019-05-16T16:58:33.334" v="612"/>
        <pc:sldMkLst>
          <pc:docMk/>
          <pc:sldMk cId="2633559576" sldId="259"/>
        </pc:sldMkLst>
        <pc:spChg chg="mod">
          <ac:chgData name="Lev Selector" userId="314cf8c1-d356-4160-b242-72dee3bb7a46" providerId="ADAL" clId="{AD5117C4-3700-D344-BEDB-D666EE3EEA04}" dt="2019-05-16T16:56:06.256" v="522" actId="14100"/>
          <ac:spMkLst>
            <pc:docMk/>
            <pc:sldMk cId="2633559576" sldId="259"/>
            <ac:spMk id="92" creationId="{00000000-0000-0000-0000-000000000000}"/>
          </ac:spMkLst>
        </pc:spChg>
        <pc:picChg chg="add mod">
          <ac:chgData name="Lev Selector" userId="314cf8c1-d356-4160-b242-72dee3bb7a46" providerId="ADAL" clId="{AD5117C4-3700-D344-BEDB-D666EE3EEA04}" dt="2019-05-16T16:56:09.546" v="523" actId="1076"/>
          <ac:picMkLst>
            <pc:docMk/>
            <pc:sldMk cId="2633559576" sldId="259"/>
            <ac:picMk id="2" creationId="{E31BC2EB-377E-0749-800E-DA80C1E10456}"/>
          </ac:picMkLst>
        </pc:picChg>
        <pc:picChg chg="mod">
          <ac:chgData name="Lev Selector" userId="314cf8c1-d356-4160-b242-72dee3bb7a46" providerId="ADAL" clId="{AD5117C4-3700-D344-BEDB-D666EE3EEA04}" dt="2019-05-16T16:56:24.352" v="524" actId="1076"/>
          <ac:picMkLst>
            <pc:docMk/>
            <pc:sldMk cId="2633559576" sldId="259"/>
            <ac:picMk id="93" creationId="{00000000-0000-0000-0000-000000000000}"/>
          </ac:picMkLst>
        </pc:picChg>
      </pc:sldChg>
      <pc:sldChg chg="add">
        <pc:chgData name="Lev Selector" userId="314cf8c1-d356-4160-b242-72dee3bb7a46" providerId="ADAL" clId="{AD5117C4-3700-D344-BEDB-D666EE3EEA04}" dt="2019-05-16T16:47:41.961" v="429"/>
        <pc:sldMkLst>
          <pc:docMk/>
          <pc:sldMk cId="2424661570" sldId="260"/>
        </pc:sldMkLst>
      </pc:sldChg>
      <pc:sldChg chg="modSp add">
        <pc:chgData name="Lev Selector" userId="314cf8c1-d356-4160-b242-72dee3bb7a46" providerId="ADAL" clId="{AD5117C4-3700-D344-BEDB-D666EE3EEA04}" dt="2019-05-16T16:59:25.463" v="642" actId="20577"/>
        <pc:sldMkLst>
          <pc:docMk/>
          <pc:sldMk cId="986722743" sldId="263"/>
        </pc:sldMkLst>
        <pc:spChg chg="mod">
          <ac:chgData name="Lev Selector" userId="314cf8c1-d356-4160-b242-72dee3bb7a46" providerId="ADAL" clId="{AD5117C4-3700-D344-BEDB-D666EE3EEA04}" dt="2019-05-16T16:59:25.463" v="642" actId="20577"/>
          <ac:spMkLst>
            <pc:docMk/>
            <pc:sldMk cId="986722743" sldId="263"/>
            <ac:spMk id="128" creationId="{00000000-0000-0000-0000-000000000000}"/>
          </ac:spMkLst>
        </pc:spChg>
      </pc:sldChg>
      <pc:sldChg chg="modSp">
        <pc:chgData name="Lev Selector" userId="314cf8c1-d356-4160-b242-72dee3bb7a46" providerId="ADAL" clId="{AD5117C4-3700-D344-BEDB-D666EE3EEA04}" dt="2019-05-16T17:09:06.905" v="675" actId="1076"/>
        <pc:sldMkLst>
          <pc:docMk/>
          <pc:sldMk cId="3126123204" sldId="333"/>
        </pc:sldMkLst>
        <pc:picChg chg="mod">
          <ac:chgData name="Lev Selector" userId="314cf8c1-d356-4160-b242-72dee3bb7a46" providerId="ADAL" clId="{AD5117C4-3700-D344-BEDB-D666EE3EEA04}" dt="2019-05-16T17:09:06.905" v="675" actId="1076"/>
          <ac:picMkLst>
            <pc:docMk/>
            <pc:sldMk cId="3126123204" sldId="333"/>
            <ac:picMk id="3" creationId="{BB6C81F0-62C3-8E45-95A5-23522F707AD7}"/>
          </ac:picMkLst>
        </pc:picChg>
      </pc:sldChg>
      <pc:sldChg chg="addSp delSp modSp add">
        <pc:chgData name="Lev Selector" userId="314cf8c1-d356-4160-b242-72dee3bb7a46" providerId="ADAL" clId="{AD5117C4-3700-D344-BEDB-D666EE3EEA04}" dt="2019-05-16T16:53:32.562" v="497" actId="14100"/>
        <pc:sldMkLst>
          <pc:docMk/>
          <pc:sldMk cId="3316590128" sldId="344"/>
        </pc:sldMkLst>
        <pc:spChg chg="mod">
          <ac:chgData name="Lev Selector" userId="314cf8c1-d356-4160-b242-72dee3bb7a46" providerId="ADAL" clId="{AD5117C4-3700-D344-BEDB-D666EE3EEA04}" dt="2019-05-16T16:53:32.562" v="497" actId="14100"/>
          <ac:spMkLst>
            <pc:docMk/>
            <pc:sldMk cId="3316590128" sldId="344"/>
            <ac:spMk id="4" creationId="{7D6CA09A-64B9-4246-8A56-14D41E4BDF82}"/>
          </ac:spMkLst>
        </pc:spChg>
        <pc:spChg chg="add mod">
          <ac:chgData name="Lev Selector" userId="314cf8c1-d356-4160-b242-72dee3bb7a46" providerId="ADAL" clId="{AD5117C4-3700-D344-BEDB-D666EE3EEA04}" dt="2019-05-16T16:52:59.480" v="492" actId="1076"/>
          <ac:spMkLst>
            <pc:docMk/>
            <pc:sldMk cId="3316590128" sldId="344"/>
            <ac:spMk id="8" creationId="{D19023E1-DA79-C845-8158-F49F7F941BF8}"/>
          </ac:spMkLst>
        </pc:spChg>
        <pc:spChg chg="add mod">
          <ac:chgData name="Lev Selector" userId="314cf8c1-d356-4160-b242-72dee3bb7a46" providerId="ADAL" clId="{AD5117C4-3700-D344-BEDB-D666EE3EEA04}" dt="2019-05-16T16:52:59.480" v="492" actId="1076"/>
          <ac:spMkLst>
            <pc:docMk/>
            <pc:sldMk cId="3316590128" sldId="344"/>
            <ac:spMk id="9" creationId="{C2DB68F7-8961-034C-BC31-DA863C6801E2}"/>
          </ac:spMkLst>
        </pc:spChg>
        <pc:picChg chg="add mod">
          <ac:chgData name="Lev Selector" userId="314cf8c1-d356-4160-b242-72dee3bb7a46" providerId="ADAL" clId="{AD5117C4-3700-D344-BEDB-D666EE3EEA04}" dt="2019-05-16T16:52:59.480" v="492" actId="1076"/>
          <ac:picMkLst>
            <pc:docMk/>
            <pc:sldMk cId="3316590128" sldId="344"/>
            <ac:picMk id="3" creationId="{FCD32C4D-D8DF-DB42-B975-BA6B3FA1632F}"/>
          </ac:picMkLst>
        </pc:picChg>
        <pc:picChg chg="add mod">
          <ac:chgData name="Lev Selector" userId="314cf8c1-d356-4160-b242-72dee3bb7a46" providerId="ADAL" clId="{AD5117C4-3700-D344-BEDB-D666EE3EEA04}" dt="2019-05-16T16:52:59.480" v="492" actId="1076"/>
          <ac:picMkLst>
            <pc:docMk/>
            <pc:sldMk cId="3316590128" sldId="344"/>
            <ac:picMk id="6" creationId="{10865783-B99F-6E48-A740-B541FEAA544F}"/>
          </ac:picMkLst>
        </pc:picChg>
        <pc:picChg chg="add mod">
          <ac:chgData name="Lev Selector" userId="314cf8c1-d356-4160-b242-72dee3bb7a46" providerId="ADAL" clId="{AD5117C4-3700-D344-BEDB-D666EE3EEA04}" dt="2019-05-16T16:52:59.480" v="492" actId="1076"/>
          <ac:picMkLst>
            <pc:docMk/>
            <pc:sldMk cId="3316590128" sldId="344"/>
            <ac:picMk id="7" creationId="{1043B6E2-EBBF-9340-84F3-CAB14AEE9196}"/>
          </ac:picMkLst>
        </pc:picChg>
        <pc:picChg chg="add del mod">
          <ac:chgData name="Lev Selector" userId="314cf8c1-d356-4160-b242-72dee3bb7a46" providerId="ADAL" clId="{AD5117C4-3700-D344-BEDB-D666EE3EEA04}" dt="2019-05-16T16:52:41.177" v="488" actId="478"/>
          <ac:picMkLst>
            <pc:docMk/>
            <pc:sldMk cId="3316590128" sldId="344"/>
            <ac:picMk id="10" creationId="{BF00C6FE-5AA6-AD48-84E3-BEC402917E18}"/>
          </ac:picMkLst>
        </pc:picChg>
        <pc:picChg chg="add mod">
          <ac:chgData name="Lev Selector" userId="314cf8c1-d356-4160-b242-72dee3bb7a46" providerId="ADAL" clId="{AD5117C4-3700-D344-BEDB-D666EE3EEA04}" dt="2019-05-16T16:53:27.010" v="496" actId="1076"/>
          <ac:picMkLst>
            <pc:docMk/>
            <pc:sldMk cId="3316590128" sldId="344"/>
            <ac:picMk id="11" creationId="{2C20400F-F7E7-6140-8DED-4C486AC7DB8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D9749C-2D9B-954A-94CA-5C7085E505E4}" type="datetimeFigureOut">
              <a:rPr lang="en-US" smtClean="0"/>
              <a:t>1/8/20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740A98-A9CB-BD43-86A4-196CCB0B07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2953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85026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99648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1618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94084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511496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594605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111721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39807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D1833-D4C1-7247-9BA9-EAC3C872B2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7C1433-ED03-B244-88F8-E84484F3FC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591C3A-4DC3-AD44-AF06-9A2B4A2C3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1/8/20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A4D7B7-6A70-1D4F-8E7D-D77B16FB8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80CD6-7618-2246-BC3B-1C606E7ED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3382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0E998-045B-5248-951E-E6F0F8CE5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4F41E5-1873-DF44-8597-39422E500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B784E-B17A-074E-9976-173FD3710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1/8/20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262A25-0494-6347-9F94-D9A6C5DAF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90C176-D3D6-EF48-88E7-56BCDEA9F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109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9935B-C654-6E4C-A556-1B6AEE117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BF62FD-A68F-D54A-895F-474B481A8E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3065B4-CF69-2847-8398-32ECEFC3F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1/8/20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EA8547-38F3-4444-BA27-F7B3C8B6C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C0919-FCD8-D048-99B1-E7A0EE403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900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27959-008D-5241-91C5-870E08459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FD00A-B0B7-9547-BFE8-153DF1F544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678CE5-E579-9649-B74C-11814919A3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0C9D-D459-2C40-8A7C-9B8C656BF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1/8/20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88527C-48FD-A84B-8E19-1A12526FF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C1AC09-B4E9-1744-AB50-8C50D96B1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752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1A6BB-02BF-5248-B694-2020D8124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1301E-844D-E544-8342-ECD43A0FB8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54273A-B2CB-2341-AA81-7781C40909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0D8910-CF30-3345-8BE7-C4B07E9AD1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AFD651-4855-6A43-8C80-7B3BF0ADA5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724B8E-2946-6143-B9E2-B4662F10B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1/8/20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B09CF9-00A8-0A4A-96A9-95AF954B1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956706-E94C-084B-9AA5-295AAEF32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14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60BB2-67F3-A148-9177-0FFBF268F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D8A2FE-A85A-D44A-BD12-5CA3B42C3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1/8/20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F12BBB-ACDE-8849-A093-33A44A118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4432EF-A920-FE44-8FE6-3CF6A878F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740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D10F34-0A97-3544-AA09-3CC10A8FD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1/8/20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FFDA58-C42B-1244-B10E-0426211E2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F119B-EDF3-6E4C-B73C-20F050E18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126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11ABD-3F81-1649-ACBD-7BF95DFD9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34303-F5A1-2645-82F1-FF78D69EB7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51A117-115A-8A49-B2E3-8742CD1A53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366A1A-FB5D-6C49-9717-4D23EC1F6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1/8/20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3CC743-6FFE-AE4E-B766-607D1D39A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EA843A-FBA9-B046-BE5F-C147DA0C6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822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7F6DD-A63F-B94D-8252-C1946C70D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DAFEFF-4D74-8B4B-AC06-7635397E2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4C852C-4F77-C54A-9402-CB199DFF70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8FA595-C0FE-3F40-8891-C5DBF01A6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1/8/20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DD6F2A-6813-E34F-AF6D-31C2A8AD3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BE79F8-89B9-9843-B44D-60D3FF9AB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5032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82DE2-040E-EE4E-9E8B-1AEB6A7B7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F5931D-75F1-1249-AEAE-3F608EED03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2B4533-5868-7E48-A1BE-4488A0FBA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1/8/20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AC3D8A-1296-1B4F-87F8-ED3F60EA1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9567E6-95E9-614A-9D03-6269151E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772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F009C8-BF83-FC4F-AB93-D89BA7C4FB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9EFA90-9108-0046-8459-601579A0E6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28505B-03E7-C745-A326-FA6861800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42DAA-FFA8-C840-B5B2-5C2E91E85358}" type="datetimeFigureOut">
              <a:rPr lang="en-US" smtClean="0"/>
              <a:t>1/8/20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16022-E11E-E243-A4CD-D6199F0F9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A4EF55-B5FF-F544-B999-B3BB4D6BB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268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98F456-F8B8-0440-AD97-1FE84E543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9459F8-6A14-5540-B86C-0729E05988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50169-F190-D540-9902-7BCF532ACB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942DAA-FFA8-C840-B5B2-5C2E91E85358}" type="datetimeFigureOut">
              <a:rPr lang="en-US" smtClean="0"/>
              <a:t>1/8/20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E0C4BA-8EA3-0F46-A12A-15D0AE9F3C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A59D92-6A53-6C4D-86B2-8EC2B2C1F1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C566F2-C2CA-1642-A384-55392CE14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886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modules/model_evaluation.html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tiff"/><Relationship Id="rId3" Type="http://schemas.openxmlformats.org/officeDocument/2006/relationships/image" Target="../media/image1.png"/><Relationship Id="rId7" Type="http://schemas.openxmlformats.org/officeDocument/2006/relationships/image" Target="../media/image5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tif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hyperlink" Target="https://en.wikipedia.org/wiki/Richard_Leibler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Solomon_Kullback" TargetMode="External"/><Relationship Id="rId5" Type="http://schemas.openxmlformats.org/officeDocument/2006/relationships/hyperlink" Target="https://en.wikipedia.org/wiki/Kullback%E2%80%93Leibler_divergence" TargetMode="External"/><Relationship Id="rId4" Type="http://schemas.openxmlformats.org/officeDocument/2006/relationships/image" Target="../media/image24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jamesmccaffrey.wordpress.com/2013/11/05/why-you-should-use-cross-entropy-error-instead-of-classification-error-or-mean-squared-error-for-neural-network-classifier-training/" TargetMode="External"/><Relationship Id="rId3" Type="http://schemas.openxmlformats.org/officeDocument/2006/relationships/image" Target="../media/image25.png"/><Relationship Id="rId7" Type="http://schemas.openxmlformats.org/officeDocument/2006/relationships/hyperlink" Target="https://www.reddit.com/r/MachineLearning/comments/3klqdh/q_whats_the_difference_between_crossentropy_and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stats.stackexchange.com/questions/31985/definition-and-origin-of-cross-entropy" TargetMode="External"/><Relationship Id="rId5" Type="http://schemas.openxmlformats.org/officeDocument/2006/relationships/hyperlink" Target="https://en.wikipedia.org/wiki/Cross_entropy" TargetMode="External"/><Relationship Id="rId4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tif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D6CA09A-64B9-4246-8A56-14D41E4BDF82}"/>
              </a:ext>
            </a:extLst>
          </p:cNvPr>
          <p:cNvSpPr txBox="1"/>
          <p:nvPr/>
        </p:nvSpPr>
        <p:spPr>
          <a:xfrm>
            <a:off x="1484219" y="465700"/>
            <a:ext cx="8866208" cy="62786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Evaluation</a:t>
            </a:r>
          </a:p>
          <a:p>
            <a:endParaRPr lang="en-US" dirty="0"/>
          </a:p>
          <a:p>
            <a:r>
              <a:rPr lang="en-US" dirty="0">
                <a:hlinkClick r:id="rId2"/>
              </a:rPr>
              <a:t>https://</a:t>
            </a:r>
            <a:r>
              <a:rPr lang="en-US" dirty="0" err="1">
                <a:hlinkClick r:id="rId2"/>
              </a:rPr>
              <a:t>scikit-learn.org</a:t>
            </a:r>
            <a:r>
              <a:rPr lang="en-US" dirty="0">
                <a:hlinkClick r:id="rId2"/>
              </a:rPr>
              <a:t>/stable/modules/</a:t>
            </a:r>
            <a:r>
              <a:rPr lang="en-US" dirty="0" err="1">
                <a:hlinkClick r:id="rId2"/>
              </a:rPr>
              <a:t>model_evaluation.html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Regression:</a:t>
            </a:r>
          </a:p>
          <a:p>
            <a:r>
              <a:rPr lang="en-US" dirty="0"/>
              <a:t>  - R</a:t>
            </a:r>
            <a:r>
              <a:rPr lang="en-US" baseline="30000" dirty="0"/>
              <a:t>2</a:t>
            </a:r>
            <a:r>
              <a:rPr lang="en-US" dirty="0"/>
              <a:t> Score</a:t>
            </a:r>
          </a:p>
          <a:p>
            <a:r>
              <a:rPr lang="en-US" dirty="0"/>
              <a:t>  - L1 vs L2:     |a-b| vs  (a-b)</a:t>
            </a:r>
            <a:r>
              <a:rPr lang="en-US" baseline="30000" dirty="0"/>
              <a:t>2</a:t>
            </a:r>
            <a:r>
              <a:rPr lang="en-US" dirty="0"/>
              <a:t>,    Absolute Error     vs  Mean Squared Error </a:t>
            </a:r>
          </a:p>
          <a:p>
            <a:endParaRPr lang="en-US" dirty="0"/>
          </a:p>
          <a:p>
            <a:r>
              <a:rPr lang="en-US" dirty="0"/>
              <a:t>Classification Error:</a:t>
            </a:r>
          </a:p>
          <a:p>
            <a:r>
              <a:rPr lang="en-US" dirty="0"/>
              <a:t>  - Log Loss</a:t>
            </a:r>
          </a:p>
          <a:p>
            <a:r>
              <a:rPr lang="en-US" dirty="0"/>
              <a:t>  - Cross-Entropy</a:t>
            </a:r>
          </a:p>
          <a:p>
            <a:endParaRPr lang="en-US" dirty="0"/>
          </a:p>
          <a:p>
            <a:r>
              <a:rPr lang="en-US" dirty="0"/>
              <a:t>Classification:</a:t>
            </a:r>
          </a:p>
          <a:p>
            <a:r>
              <a:rPr lang="en-US" dirty="0"/>
              <a:t>   - Confusion Matrix – True Positives, True Negatives, False Positives, False Negatives</a:t>
            </a:r>
          </a:p>
          <a:p>
            <a:r>
              <a:rPr lang="en-US" dirty="0"/>
              <a:t>   - Precision (PRE = sniper)</a:t>
            </a:r>
          </a:p>
          <a:p>
            <a:r>
              <a:rPr lang="en-US" dirty="0"/>
              <a:t>   - Recall (REC = Nuclear bomb)</a:t>
            </a:r>
          </a:p>
          <a:p>
            <a:r>
              <a:rPr lang="en-US" dirty="0"/>
              <a:t>   - Accuracy : (TP + TN) / (TP+TN+FP+FN)</a:t>
            </a:r>
          </a:p>
          <a:p>
            <a:r>
              <a:rPr lang="en-US" dirty="0"/>
              <a:t>   - 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F1 = 2 * PRE * REC / (PRE + REC)</a:t>
            </a:r>
            <a:endParaRPr lang="en-US" dirty="0"/>
          </a:p>
          <a:p>
            <a:r>
              <a:rPr lang="en-US" dirty="0"/>
              <a:t>   - ROC Curve</a:t>
            </a:r>
          </a:p>
          <a:p>
            <a:r>
              <a:rPr lang="en-US" dirty="0"/>
              <a:t>   - AUC Score</a:t>
            </a:r>
          </a:p>
          <a:p>
            <a:endParaRPr lang="en-US" dirty="0"/>
          </a:p>
          <a:p>
            <a:r>
              <a:rPr lang="en-US" dirty="0"/>
              <a:t>Overfitting and Regularization</a:t>
            </a:r>
          </a:p>
        </p:txBody>
      </p:sp>
    </p:spTree>
    <p:extLst>
      <p:ext uri="{BB962C8B-B14F-4D97-AF65-F5344CB8AC3E}">
        <p14:creationId xmlns:p14="http://schemas.microsoft.com/office/powerpoint/2010/main" val="32150791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80215" y="96255"/>
            <a:ext cx="5582648" cy="1908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Linear Regression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simplest case - draw a straight line through data points.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is given as tuples (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x,y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want to draw line y = f(x) = ax + b,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a &amp; b are numbers (a - slope, b – intercept).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more general case, “x” and “a” are vectors. </a:t>
            </a:r>
            <a:endParaRPr dirty="0"/>
          </a:p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14667" y="96255"/>
            <a:ext cx="4125866" cy="1799780"/>
          </a:xfrm>
          <a:prstGeom prst="rect">
            <a:avLst/>
          </a:prstGeom>
          <a:noFill/>
          <a:ln w="317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0" name="Google Shape;90;p13"/>
          <p:cNvSpPr txBox="1"/>
          <p:nvPr/>
        </p:nvSpPr>
        <p:spPr>
          <a:xfrm>
            <a:off x="0" y="2498057"/>
            <a:ext cx="6557880" cy="1323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Calculations for simple case: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 1 – in Excel, pandas, and many libraries – use OLS functions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(OLS = Ordinary Least Squares).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 2 – do calculations yourself:</a:t>
            </a:r>
            <a:endParaRPr/>
          </a:p>
        </p:txBody>
      </p:sp>
      <p:pic>
        <p:nvPicPr>
          <p:cNvPr id="91" name="Google Shape;91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027935" y="3917025"/>
            <a:ext cx="4279900" cy="10414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3"/>
          <p:cNvSpPr txBox="1"/>
          <p:nvPr/>
        </p:nvSpPr>
        <p:spPr>
          <a:xfrm>
            <a:off x="30418" y="5190772"/>
            <a:ext cx="5632446" cy="872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more complex case you can find the minimum by iteratively using gradient descent. Or find “slope” by using inverse matrix (see Moore–Penrose pseudoinverse matrix):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" name="Google Shape;93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08635" y="6140097"/>
            <a:ext cx="2019300" cy="52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969203" y="4262049"/>
            <a:ext cx="2082133" cy="71359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3"/>
          <p:cNvSpPr txBox="1"/>
          <p:nvPr/>
        </p:nvSpPr>
        <p:spPr>
          <a:xfrm>
            <a:off x="8373973" y="2245659"/>
            <a:ext cx="3272595" cy="1765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Always make sure that variation of (y-f) is much less than total variation of y. It is called  coefficient of determination R</a:t>
            </a:r>
            <a:r>
              <a:rPr lang="en-US" sz="18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("R squared”) and it should be close to 1 :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3220C98-1839-184D-B206-27B7827780CC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600" y="1050362"/>
            <a:ext cx="2414182" cy="15973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351C350-0C02-A949-B84B-7C48AB2D541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0633" y="4128009"/>
            <a:ext cx="2514600" cy="6223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31BC2EB-377E-0749-800E-DA80C1E10456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81566" y="5320553"/>
            <a:ext cx="4483088" cy="147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559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D6CA09A-64B9-4246-8A56-14D41E4BDF82}"/>
              </a:ext>
            </a:extLst>
          </p:cNvPr>
          <p:cNvSpPr txBox="1"/>
          <p:nvPr/>
        </p:nvSpPr>
        <p:spPr>
          <a:xfrm>
            <a:off x="138896" y="136850"/>
            <a:ext cx="17844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</a:t>
            </a:r>
            <a:r>
              <a:rPr lang="en-US" sz="2400" baseline="-25000" dirty="0"/>
              <a:t>1</a:t>
            </a:r>
            <a:r>
              <a:rPr lang="en-US" sz="2400" dirty="0"/>
              <a:t> vs L</a:t>
            </a:r>
            <a:r>
              <a:rPr lang="en-US" sz="2400" baseline="-25000" dirty="0"/>
              <a:t>2</a:t>
            </a:r>
            <a:r>
              <a:rPr lang="en-US" sz="2400" dirty="0"/>
              <a:t> Loss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D32C4D-D8DF-DB42-B975-BA6B3FA16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130" y="3424447"/>
            <a:ext cx="3238500" cy="129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0865783-B99F-6E48-A740-B541FEAA5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262" y="3424447"/>
            <a:ext cx="3238500" cy="1295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43B6E2-EBBF-9340-84F3-CAB14AEE919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52497" y="926116"/>
            <a:ext cx="8061434" cy="25028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9023E1-DA79-C845-8158-F49F7F941BF8}"/>
              </a:ext>
            </a:extLst>
          </p:cNvPr>
          <p:cNvSpPr txBox="1"/>
          <p:nvPr/>
        </p:nvSpPr>
        <p:spPr>
          <a:xfrm>
            <a:off x="5466511" y="-54676"/>
            <a:ext cx="7597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L</a:t>
            </a:r>
            <a:r>
              <a:rPr lang="en-US" sz="4800" b="1" baseline="-25000" dirty="0"/>
              <a:t>1</a:t>
            </a:r>
            <a:endParaRPr lang="en-US" sz="48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DB68F7-8961-034C-BC31-DA863C6801E2}"/>
              </a:ext>
            </a:extLst>
          </p:cNvPr>
          <p:cNvSpPr txBox="1"/>
          <p:nvPr/>
        </p:nvSpPr>
        <p:spPr>
          <a:xfrm>
            <a:off x="9379643" y="-54676"/>
            <a:ext cx="7597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L</a:t>
            </a:r>
            <a:r>
              <a:rPr lang="en-US" sz="4800" b="1" baseline="-25000" dirty="0"/>
              <a:t>2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20400F-F7E7-6140-8DED-4C486AC7DB8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917" y="4287794"/>
            <a:ext cx="3479580" cy="2570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5901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03195" y="225773"/>
            <a:ext cx="4049443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Logistic Regression</a:t>
            </a:r>
            <a:endParaRPr sz="28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191337" y="4409917"/>
            <a:ext cx="6221700" cy="24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Logistic Regression we model log-likelihood </a:t>
            </a:r>
            <a:endParaRPr sz="1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a </a:t>
            </a:r>
            <a:r>
              <a:rPr lang="en-US" sz="14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linear combination </a:t>
            </a: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of some predictors: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logit(p) = l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og(p/(1-p))  = </a:t>
            </a: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b0 + b1*x1 + b2*x2 + . . . + </a:t>
            </a:r>
            <a:r>
              <a:rPr lang="en-US" sz="14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bN</a:t>
            </a: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</a:t>
            </a:r>
            <a:r>
              <a:rPr lang="en-US" sz="14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xN</a:t>
            </a:r>
            <a:endParaRPr sz="1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Term: “p” - probability of success (then (1-p) is the probability of failure).</a:t>
            </a:r>
            <a:endParaRPr sz="1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Term: </a:t>
            </a:r>
            <a:r>
              <a:rPr lang="en-US" sz="14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Odds</a:t>
            </a:r>
            <a:r>
              <a:rPr lang="en-US" sz="14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(a.k.a. </a:t>
            </a:r>
            <a:r>
              <a:rPr lang="en-US" sz="14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likelihood</a:t>
            </a: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of success is the ratio   p/(1-p)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Term: </a:t>
            </a:r>
            <a:r>
              <a:rPr lang="en-US" sz="14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Log-likelihood</a:t>
            </a: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log(likelihood) = log(p/(1-p))</a:t>
            </a:r>
            <a:endParaRPr sz="1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Term: </a:t>
            </a:r>
            <a:r>
              <a:rPr lang="en-US" sz="14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Logit function  </a:t>
            </a: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logit(p) = log(p/(1-p))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Term: Logistic function </a:t>
            </a:r>
            <a:r>
              <a:rPr lang="en-US" sz="1400" b="1" dirty="0" err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sz="14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(t) = 1/(1+exp(-t))  # inverse of logit </a:t>
            </a:r>
            <a:endParaRPr sz="1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1" name="Google Shape;91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60765" y="4733496"/>
            <a:ext cx="2314784" cy="1815241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61976" y="3688246"/>
            <a:ext cx="2573811" cy="704277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3"/>
          <p:cNvSpPr txBox="1"/>
          <p:nvPr/>
        </p:nvSpPr>
        <p:spPr>
          <a:xfrm>
            <a:off x="8196159" y="2715553"/>
            <a:ext cx="295747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Logistic Function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sigma function </a:t>
            </a:r>
            <a:r>
              <a:rPr lang="en-US" sz="1600" b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σ(t) 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b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squeeze values into interval (0,1)</a:t>
            </a:r>
            <a:endParaRPr/>
          </a:p>
        </p:txBody>
      </p:sp>
      <p:pic>
        <p:nvPicPr>
          <p:cNvPr id="94" name="Google Shape;94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23309" y="262233"/>
            <a:ext cx="4532427" cy="1867179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4A4C02-3CEF-4644-A975-A6070ADC9F5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94083" y="262233"/>
            <a:ext cx="3071957" cy="244041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C66F9B3-F084-C643-94FF-615E4DB4E6B5}"/>
              </a:ext>
            </a:extLst>
          </p:cNvPr>
          <p:cNvCxnSpPr/>
          <p:nvPr/>
        </p:nvCxnSpPr>
        <p:spPr>
          <a:xfrm>
            <a:off x="7005917" y="67235"/>
            <a:ext cx="0" cy="669663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723E4D8-E0EE-DF45-AC10-7925661889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3195" y="2722777"/>
            <a:ext cx="3797300" cy="157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661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69365" y="4919667"/>
            <a:ext cx="4513817" cy="44731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7"/>
          <p:cNvSpPr txBox="1"/>
          <p:nvPr/>
        </p:nvSpPr>
        <p:spPr>
          <a:xfrm>
            <a:off x="6962272" y="3882185"/>
            <a:ext cx="5213684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“q” is model prediction, and “p” is probability of actual label, then similarity between q &amp; p can be expressed as </a:t>
            </a:r>
            <a:r>
              <a:rPr lang="en-US" sz="1800" b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cross-entropy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H(p,q):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7"/>
          <p:cNvSpPr txBox="1"/>
          <p:nvPr/>
        </p:nvSpPr>
        <p:spPr>
          <a:xfrm>
            <a:off x="7089465" y="5509602"/>
            <a:ext cx="446887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 the </a:t>
            </a:r>
            <a:r>
              <a:rPr lang="en-US" sz="1800" b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loss function 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be written like this: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7" name="Google Shape;127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555387" y="6131440"/>
            <a:ext cx="5571108" cy="630308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7"/>
          <p:cNvSpPr txBox="1"/>
          <p:nvPr/>
        </p:nvSpPr>
        <p:spPr>
          <a:xfrm>
            <a:off x="0" y="-44923"/>
            <a:ext cx="6908966" cy="2739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Logistic Regression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- find parameters of a (function or network) to split data into categories (two or more categories).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can find parameters either analytically (sometimes), or via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gradient descent.  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For GD we define cost function so that it strongly penalize for wrong categorization (cost J(</a:t>
            </a:r>
            <a:r>
              <a:rPr lang="en-US" sz="1800" b="1" dirty="0" err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θ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) grows to infinity).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Consider simple case of 2 categories (y = 0 or y=1). ”h” is the prediction of the model, “y” is the label (0 or 1). Then we can represent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Cost function like cross-entropy between “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lang="en-US" sz="1800" baseline="-25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θ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 and “y”: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9" name="Google Shape;129;p1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8751" y="4042611"/>
            <a:ext cx="5010877" cy="28153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7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8751" y="2981170"/>
            <a:ext cx="6990715" cy="820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CD50082-63F2-2041-97F7-981BBB4B7163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67717" y="652363"/>
            <a:ext cx="3822632" cy="27392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6379A6-D0F0-1048-970D-47400CD24B22}"/>
              </a:ext>
            </a:extLst>
          </p:cNvPr>
          <p:cNvSpPr txBox="1"/>
          <p:nvPr/>
        </p:nvSpPr>
        <p:spPr>
          <a:xfrm>
            <a:off x="8050924" y="178676"/>
            <a:ext cx="3507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Log-Loss error function is better: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671B4982-3239-D746-9B9F-FBACD7DB2D04}"/>
              </a:ext>
            </a:extLst>
          </p:cNvPr>
          <p:cNvSpPr/>
          <p:nvPr/>
        </p:nvSpPr>
        <p:spPr>
          <a:xfrm>
            <a:off x="6800194" y="1324682"/>
            <a:ext cx="935420" cy="35735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702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681D6A5-BDB4-7445-87DB-CED703377663}"/>
              </a:ext>
            </a:extLst>
          </p:cNvPr>
          <p:cNvSpPr txBox="1"/>
          <p:nvPr/>
        </p:nvSpPr>
        <p:spPr>
          <a:xfrm>
            <a:off x="633507" y="97528"/>
            <a:ext cx="24397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Soft-Max </a:t>
            </a:r>
          </a:p>
          <a:p>
            <a:r>
              <a:rPr lang="en-US" sz="2800" b="1" dirty="0"/>
              <a:t>Normalization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77835ED-BA5F-B44A-8329-4DC900BDE519}"/>
              </a:ext>
            </a:extLst>
          </p:cNvPr>
          <p:cNvSpPr/>
          <p:nvPr/>
        </p:nvSpPr>
        <p:spPr>
          <a:xfrm>
            <a:off x="176567" y="1075765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9791A64-672E-2848-9C26-FABF42BE6653}"/>
              </a:ext>
            </a:extLst>
          </p:cNvPr>
          <p:cNvSpPr/>
          <p:nvPr/>
        </p:nvSpPr>
        <p:spPr>
          <a:xfrm>
            <a:off x="176567" y="2497064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6CC11C2-5662-8D44-BCF9-18EAFA5131A3}"/>
              </a:ext>
            </a:extLst>
          </p:cNvPr>
          <p:cNvSpPr/>
          <p:nvPr/>
        </p:nvSpPr>
        <p:spPr>
          <a:xfrm>
            <a:off x="176567" y="3918362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A4BC66-7069-BD41-856E-C6B5E6E96EED}"/>
              </a:ext>
            </a:extLst>
          </p:cNvPr>
          <p:cNvSpPr txBox="1"/>
          <p:nvPr/>
        </p:nvSpPr>
        <p:spPr>
          <a:xfrm>
            <a:off x="454086" y="1288492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F84625-EFED-1C42-A856-D36563E48CFC}"/>
              </a:ext>
            </a:extLst>
          </p:cNvPr>
          <p:cNvSpPr txBox="1"/>
          <p:nvPr/>
        </p:nvSpPr>
        <p:spPr>
          <a:xfrm>
            <a:off x="445549" y="26965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729D8B-721D-1A44-99DB-3ADC42290299}"/>
              </a:ext>
            </a:extLst>
          </p:cNvPr>
          <p:cNvSpPr txBox="1"/>
          <p:nvPr/>
        </p:nvSpPr>
        <p:spPr>
          <a:xfrm>
            <a:off x="436793" y="411783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7AC8B7D-B519-1841-94D8-2B42B22D2E7B}"/>
              </a:ext>
            </a:extLst>
          </p:cNvPr>
          <p:cNvSpPr/>
          <p:nvPr/>
        </p:nvSpPr>
        <p:spPr>
          <a:xfrm>
            <a:off x="3072172" y="1089019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0711F19-0329-3E4B-B534-8CA925EAC2B7}"/>
              </a:ext>
            </a:extLst>
          </p:cNvPr>
          <p:cNvSpPr/>
          <p:nvPr/>
        </p:nvSpPr>
        <p:spPr>
          <a:xfrm>
            <a:off x="3072172" y="2510318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25A9E8-6D76-A440-98F5-2F7A805EDFB6}"/>
              </a:ext>
            </a:extLst>
          </p:cNvPr>
          <p:cNvSpPr/>
          <p:nvPr/>
        </p:nvSpPr>
        <p:spPr>
          <a:xfrm>
            <a:off x="3072172" y="3931616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BEDE3A-44A6-4745-A64B-2ED0CC5CFA4D}"/>
              </a:ext>
            </a:extLst>
          </p:cNvPr>
          <p:cNvSpPr txBox="1"/>
          <p:nvPr/>
        </p:nvSpPr>
        <p:spPr>
          <a:xfrm>
            <a:off x="3058285" y="1295043"/>
            <a:ext cx="888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0.946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570683-5B8C-EC41-A1E3-779AE183D6EE}"/>
              </a:ext>
            </a:extLst>
          </p:cNvPr>
          <p:cNvSpPr txBox="1"/>
          <p:nvPr/>
        </p:nvSpPr>
        <p:spPr>
          <a:xfrm>
            <a:off x="3071732" y="2723045"/>
            <a:ext cx="888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0.047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0EF98C-5F59-BA47-B41D-C7491FAB2F37}"/>
              </a:ext>
            </a:extLst>
          </p:cNvPr>
          <p:cNvSpPr txBox="1"/>
          <p:nvPr/>
        </p:nvSpPr>
        <p:spPr>
          <a:xfrm>
            <a:off x="3070439" y="4131089"/>
            <a:ext cx="888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0.006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8F0694E8-6C55-FA47-B812-C1C2FB4EE257}"/>
              </a:ext>
            </a:extLst>
          </p:cNvPr>
          <p:cNvSpPr/>
          <p:nvPr/>
        </p:nvSpPr>
        <p:spPr>
          <a:xfrm>
            <a:off x="1351723" y="1334048"/>
            <a:ext cx="1451113" cy="31981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2DA7DAE-6A4B-0C47-A8E7-57F78B6B74C6}"/>
              </a:ext>
            </a:extLst>
          </p:cNvPr>
          <p:cNvSpPr/>
          <p:nvPr/>
        </p:nvSpPr>
        <p:spPr>
          <a:xfrm>
            <a:off x="4775097" y="1102273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10EC053-2148-5B43-AD14-9D5959F64522}"/>
              </a:ext>
            </a:extLst>
          </p:cNvPr>
          <p:cNvSpPr/>
          <p:nvPr/>
        </p:nvSpPr>
        <p:spPr>
          <a:xfrm>
            <a:off x="4775097" y="2523572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ADF6BC5-8DD7-024B-B98A-96DA493E8ECE}"/>
              </a:ext>
            </a:extLst>
          </p:cNvPr>
          <p:cNvSpPr/>
          <p:nvPr/>
        </p:nvSpPr>
        <p:spPr>
          <a:xfrm>
            <a:off x="4775097" y="3944870"/>
            <a:ext cx="860612" cy="860612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3DC90C-CAFE-F443-9C3D-9436DD339FB4}"/>
              </a:ext>
            </a:extLst>
          </p:cNvPr>
          <p:cNvSpPr txBox="1"/>
          <p:nvPr/>
        </p:nvSpPr>
        <p:spPr>
          <a:xfrm>
            <a:off x="5056968" y="1347302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D1B869-47C4-7647-8B28-6DA136174916}"/>
              </a:ext>
            </a:extLst>
          </p:cNvPr>
          <p:cNvSpPr txBox="1"/>
          <p:nvPr/>
        </p:nvSpPr>
        <p:spPr>
          <a:xfrm>
            <a:off x="5044079" y="272304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385BBB-ADF0-2E47-A95D-E782138546AF}"/>
              </a:ext>
            </a:extLst>
          </p:cNvPr>
          <p:cNvSpPr txBox="1"/>
          <p:nvPr/>
        </p:nvSpPr>
        <p:spPr>
          <a:xfrm>
            <a:off x="5055201" y="414434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FD61FB-8E0A-8341-86B5-1B105703A51C}"/>
              </a:ext>
            </a:extLst>
          </p:cNvPr>
          <p:cNvSpPr txBox="1"/>
          <p:nvPr/>
        </p:nvSpPr>
        <p:spPr>
          <a:xfrm>
            <a:off x="4145346" y="90904"/>
            <a:ext cx="24397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Target /Label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67B7FB-7E65-0F42-8EA6-2A9DC9ECEDBE}"/>
              </a:ext>
            </a:extLst>
          </p:cNvPr>
          <p:cNvSpPr txBox="1"/>
          <p:nvPr/>
        </p:nvSpPr>
        <p:spPr>
          <a:xfrm>
            <a:off x="7025575" y="45040"/>
            <a:ext cx="47821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Cross-Entropy (log loss) Error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94724B5-DB60-2848-B0AB-C3DD4E7A06CC}"/>
              </a:ext>
            </a:extLst>
          </p:cNvPr>
          <p:cNvSpPr txBox="1"/>
          <p:nvPr/>
        </p:nvSpPr>
        <p:spPr>
          <a:xfrm>
            <a:off x="7314982" y="5230383"/>
            <a:ext cx="330832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60"/>
                </a:solidFill>
              </a:rPr>
              <a:t>def </a:t>
            </a:r>
            <a:r>
              <a:rPr lang="en-US" sz="2400" b="1" dirty="0" err="1">
                <a:solidFill>
                  <a:srgbClr val="002060"/>
                </a:solidFill>
              </a:rPr>
              <a:t>CrossEntropy</a:t>
            </a:r>
            <a:r>
              <a:rPr lang="en-US" sz="2400" b="1" dirty="0">
                <a:solidFill>
                  <a:srgbClr val="002060"/>
                </a:solidFill>
              </a:rPr>
              <a:t>(</a:t>
            </a:r>
            <a:r>
              <a:rPr lang="en-US" sz="2400" b="1" dirty="0" err="1">
                <a:solidFill>
                  <a:srgbClr val="002060"/>
                </a:solidFill>
              </a:rPr>
              <a:t>Yt</a:t>
            </a:r>
            <a:r>
              <a:rPr lang="en-US" sz="2400" b="1" dirty="0">
                <a:solidFill>
                  <a:srgbClr val="002060"/>
                </a:solidFill>
              </a:rPr>
              <a:t>, y):</a:t>
            </a:r>
          </a:p>
          <a:p>
            <a:r>
              <a:rPr lang="en-US" sz="2400" b="1" dirty="0">
                <a:solidFill>
                  <a:srgbClr val="002060"/>
                </a:solidFill>
              </a:rPr>
              <a:t>    if </a:t>
            </a:r>
            <a:r>
              <a:rPr lang="en-US" sz="2400" b="1" dirty="0" err="1">
                <a:solidFill>
                  <a:srgbClr val="002060"/>
                </a:solidFill>
              </a:rPr>
              <a:t>Yt</a:t>
            </a:r>
            <a:r>
              <a:rPr lang="en-US" sz="2400" b="1" dirty="0">
                <a:solidFill>
                  <a:srgbClr val="002060"/>
                </a:solidFill>
              </a:rPr>
              <a:t> == 1:</a:t>
            </a:r>
          </a:p>
          <a:p>
            <a:r>
              <a:rPr lang="en-US" sz="2400" b="1" dirty="0">
                <a:solidFill>
                  <a:srgbClr val="002060"/>
                </a:solidFill>
              </a:rPr>
              <a:t>        return -log(y)      </a:t>
            </a:r>
          </a:p>
          <a:p>
            <a:r>
              <a:rPr lang="en-US" sz="2400" b="1" dirty="0">
                <a:solidFill>
                  <a:srgbClr val="002060"/>
                </a:solidFill>
              </a:rPr>
              <a:t>    return -log(1 - y)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714616-CB8F-4644-BFC2-84E2F157C8EA}"/>
              </a:ext>
            </a:extLst>
          </p:cNvPr>
          <p:cNvSpPr txBox="1"/>
          <p:nvPr/>
        </p:nvSpPr>
        <p:spPr>
          <a:xfrm>
            <a:off x="3342607" y="515396"/>
            <a:ext cx="671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7ADE104-25FB-2949-819E-F709AED7F472}"/>
              </a:ext>
            </a:extLst>
          </p:cNvPr>
          <p:cNvSpPr txBox="1"/>
          <p:nvPr/>
        </p:nvSpPr>
        <p:spPr>
          <a:xfrm>
            <a:off x="5005765" y="528650"/>
            <a:ext cx="671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solidFill>
                  <a:srgbClr val="FF0000"/>
                </a:solidFill>
              </a:rPr>
              <a:t>Y</a:t>
            </a:r>
            <a:r>
              <a:rPr lang="en-US" sz="3200" b="1" baseline="-25000" dirty="0" err="1">
                <a:solidFill>
                  <a:srgbClr val="FF0000"/>
                </a:solidFill>
              </a:rPr>
              <a:t>t</a:t>
            </a:r>
            <a:endParaRPr lang="en-US" sz="3200" b="1" baseline="-25000" dirty="0">
              <a:solidFill>
                <a:srgbClr val="FF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AFE6E8-8EE7-104A-A775-40D61506CF9E}"/>
              </a:ext>
            </a:extLst>
          </p:cNvPr>
          <p:cNvSpPr txBox="1"/>
          <p:nvPr/>
        </p:nvSpPr>
        <p:spPr>
          <a:xfrm>
            <a:off x="6305923" y="1075934"/>
            <a:ext cx="43173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70C0"/>
                </a:solidFill>
              </a:rPr>
              <a:t>-ln(0.946)       = ~  0.055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682C63-01AC-8245-8A6E-0F2538E98809}"/>
              </a:ext>
            </a:extLst>
          </p:cNvPr>
          <p:cNvSpPr txBox="1"/>
          <p:nvPr/>
        </p:nvSpPr>
        <p:spPr>
          <a:xfrm>
            <a:off x="6319177" y="2599935"/>
            <a:ext cx="42098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70C0"/>
                </a:solidFill>
              </a:rPr>
              <a:t>-ln(1-0.047)   = ~ 0.048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739CF6E-2833-624C-AB80-525AD5874DA4}"/>
              </a:ext>
            </a:extLst>
          </p:cNvPr>
          <p:cNvSpPr txBox="1"/>
          <p:nvPr/>
        </p:nvSpPr>
        <p:spPr>
          <a:xfrm>
            <a:off x="6312553" y="4084182"/>
            <a:ext cx="42164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70C0"/>
                </a:solidFill>
              </a:rPr>
              <a:t>-ln(1-0.006)   = ~  0.006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C0AA19-455F-4E4D-87D4-B438DAFED263}"/>
              </a:ext>
            </a:extLst>
          </p:cNvPr>
          <p:cNvSpPr txBox="1"/>
          <p:nvPr/>
        </p:nvSpPr>
        <p:spPr>
          <a:xfrm>
            <a:off x="6975497" y="1830666"/>
            <a:ext cx="4896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F836E1-656C-BE4B-83BB-05DCFAAA2581}"/>
              </a:ext>
            </a:extLst>
          </p:cNvPr>
          <p:cNvSpPr txBox="1"/>
          <p:nvPr/>
        </p:nvSpPr>
        <p:spPr>
          <a:xfrm>
            <a:off x="6975496" y="3414303"/>
            <a:ext cx="4896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70C0"/>
                </a:solidFill>
              </a:rPr>
              <a:t>+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ED9E992D-129E-0440-8E67-528B9ECCE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048" y="5092929"/>
            <a:ext cx="3200930" cy="148843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E9BCD3F-7661-D64B-AB55-BD69C04AF447}"/>
              </a:ext>
            </a:extLst>
          </p:cNvPr>
          <p:cNvSpPr txBox="1"/>
          <p:nvPr/>
        </p:nvSpPr>
        <p:spPr>
          <a:xfrm>
            <a:off x="10933042" y="2723045"/>
            <a:ext cx="12589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3200">
                <a:solidFill>
                  <a:srgbClr val="0070C0"/>
                </a:solidFill>
              </a:defRPr>
            </a:lvl1pPr>
          </a:lstStyle>
          <a:p>
            <a:r>
              <a:rPr lang="en-US" dirty="0"/>
              <a:t>0.109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336AF2D-B1B2-6544-ABEF-2EA49F573A86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10623309" y="1368322"/>
            <a:ext cx="309733" cy="1231613"/>
          </a:xfrm>
          <a:prstGeom prst="straightConnector1">
            <a:avLst/>
          </a:prstGeom>
          <a:ln w="508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8800054-1A52-BF42-9249-30EBC5E7B87C}"/>
              </a:ext>
            </a:extLst>
          </p:cNvPr>
          <p:cNvCxnSpPr>
            <a:cxnSpLocks/>
            <a:stCxn id="32" idx="3"/>
          </p:cNvCxnSpPr>
          <p:nvPr/>
        </p:nvCxnSpPr>
        <p:spPr>
          <a:xfrm flipV="1">
            <a:off x="10529047" y="3414308"/>
            <a:ext cx="435996" cy="962262"/>
          </a:xfrm>
          <a:prstGeom prst="straightConnector1">
            <a:avLst/>
          </a:prstGeom>
          <a:ln w="508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3FDA84-5E1A-CD40-8455-AA8614A3EF96}"/>
              </a:ext>
            </a:extLst>
          </p:cNvPr>
          <p:cNvCxnSpPr>
            <a:cxnSpLocks/>
            <a:stCxn id="31" idx="3"/>
            <a:endCxn id="36" idx="1"/>
          </p:cNvCxnSpPr>
          <p:nvPr/>
        </p:nvCxnSpPr>
        <p:spPr>
          <a:xfrm>
            <a:off x="10529047" y="2892323"/>
            <a:ext cx="403995" cy="123110"/>
          </a:xfrm>
          <a:prstGeom prst="straightConnector1">
            <a:avLst/>
          </a:prstGeom>
          <a:ln w="508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D0387C-0708-4142-8234-E159A9AE347E}"/>
              </a:ext>
            </a:extLst>
          </p:cNvPr>
          <p:cNvSpPr txBox="1"/>
          <p:nvPr/>
        </p:nvSpPr>
        <p:spPr>
          <a:xfrm>
            <a:off x="4572565" y="5231857"/>
            <a:ext cx="16826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One-hot</a:t>
            </a:r>
          </a:p>
          <a:p>
            <a:r>
              <a:rPr lang="en-US" sz="2400" b="1" dirty="0"/>
              <a:t>encoding</a:t>
            </a:r>
          </a:p>
        </p:txBody>
      </p:sp>
    </p:spTree>
    <p:extLst>
      <p:ext uri="{BB962C8B-B14F-4D97-AF65-F5344CB8AC3E}">
        <p14:creationId xmlns:p14="http://schemas.microsoft.com/office/powerpoint/2010/main" val="31946231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7"/>
          <p:cNvSpPr txBox="1"/>
          <p:nvPr/>
        </p:nvSpPr>
        <p:spPr>
          <a:xfrm>
            <a:off x="4677088" y="173237"/>
            <a:ext cx="4560425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Kullback</a:t>
            </a:r>
            <a:r>
              <a:rPr lang="en-US" sz="2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2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Leibler</a:t>
            </a:r>
            <a:r>
              <a:rPr lang="en-US" sz="2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divergence </a:t>
            </a:r>
            <a:endParaRPr sz="28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 txBox="1"/>
          <p:nvPr/>
        </p:nvSpPr>
        <p:spPr>
          <a:xfrm>
            <a:off x="0" y="2645874"/>
            <a:ext cx="12192000" cy="371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Example:</a:t>
            </a:r>
          </a:p>
          <a:p>
            <a:pPr lvl="0"/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report weather in S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ahara desert it is optimal to use short encoding for sunny days, because they are most frequent.</a:t>
            </a:r>
          </a:p>
          <a:p>
            <a:pPr lvl="0"/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To report weather in Seattle it is optimal to use shorter messages for rainy days.</a:t>
            </a:r>
          </a:p>
          <a:p>
            <a:endParaRPr lang="en-US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If we would use the message encoding scheme optimized for Sahara to encode messages for Seattle, we would end up with messages which are longer than needed.</a:t>
            </a:r>
          </a:p>
          <a:p>
            <a:endParaRPr lang="en-US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precisely: if your data really comes from probability distribution 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but you use a compression scheme optimized for 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Q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divergence 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D(P||Q)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number of extra bits you'll require to store a record of each sample from P.</a:t>
            </a:r>
            <a:b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US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D(Q||P) ≥ 0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because by definition it's the number of bits required compared to the best possible. </a:t>
            </a:r>
            <a:b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US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generally there's no reason to expect D(P||Q) to equal D(Q||P) .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11083" y="1863524"/>
            <a:ext cx="1890292" cy="661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Solomon </a:t>
            </a:r>
            <a:r>
              <a:rPr lang="en-US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Kullback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(1907-1994)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7"/>
          <p:cNvSpPr txBox="1"/>
          <p:nvPr/>
        </p:nvSpPr>
        <p:spPr>
          <a:xfrm>
            <a:off x="2304335" y="1863524"/>
            <a:ext cx="164522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Richard </a:t>
            </a:r>
            <a:r>
              <a:rPr lang="en-US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Leibler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(1914-2003)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3" name="Google Shape;133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00457" cy="17527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43627" y="7957"/>
            <a:ext cx="1766637" cy="174482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/>
          <p:cNvSpPr txBox="1"/>
          <p:nvPr/>
        </p:nvSpPr>
        <p:spPr>
          <a:xfrm>
            <a:off x="4677088" y="696456"/>
            <a:ext cx="7349008" cy="1678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KL-divergence is the penalty (in bits) you'll have to pay if you try to compress data from one distribution using a scheme optimized for another.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6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https://en.wikipedia.org/wiki/Kullback–Leibler_divergence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6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https://en.wikipedia.org/wiki/Solomon_Kullback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b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6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https://en.wikipedia.org/wiki/Richard_Leibler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968005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8"/>
          <p:cNvSpPr txBox="1"/>
          <p:nvPr/>
        </p:nvSpPr>
        <p:spPr>
          <a:xfrm>
            <a:off x="0" y="-47953"/>
            <a:ext cx="8727313" cy="3139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Cross Entropy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entropy H(p) of a distribution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measures </a:t>
            </a:r>
            <a:r>
              <a:rPr lang="en-US" sz="1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many bits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you need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 average to encode data from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with the code that is optimal for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cross-entropy of a distribution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with respect to a distribution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measures </a:t>
            </a:r>
            <a:r>
              <a:rPr lang="en-US" sz="1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many bits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you need on average to encode data from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 </a:t>
            </a:r>
            <a:b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 the code that is optimal for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cross entropy for the distributions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8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over a given set is defined as follows:</a:t>
            </a:r>
            <a:endParaRPr/>
          </a:p>
        </p:txBody>
      </p:sp>
      <p:pic>
        <p:nvPicPr>
          <p:cNvPr id="141" name="Google Shape;141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80171" y="3003703"/>
            <a:ext cx="5867400" cy="736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8"/>
          <p:cNvSpPr txBox="1"/>
          <p:nvPr/>
        </p:nvSpPr>
        <p:spPr>
          <a:xfrm>
            <a:off x="3831221" y="3875385"/>
            <a:ext cx="216446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H(p) – entropy of p</a:t>
            </a:r>
            <a:endParaRPr/>
          </a:p>
        </p:txBody>
      </p:sp>
      <p:sp>
        <p:nvSpPr>
          <p:cNvPr id="143" name="Google Shape;143;p18"/>
          <p:cNvSpPr txBox="1"/>
          <p:nvPr/>
        </p:nvSpPr>
        <p:spPr>
          <a:xfrm>
            <a:off x="6460604" y="3875385"/>
            <a:ext cx="4512196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Kullback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Leibler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divergence of q from p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D(p||q) &gt;= 0 , because it represents additional bits needed to encode data with distribution p using encoding optimal for distribution q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4" name="Google Shape;144;p18"/>
          <p:cNvCxnSpPr/>
          <p:nvPr/>
        </p:nvCxnSpPr>
        <p:spPr>
          <a:xfrm rot="10800000" flipH="1">
            <a:off x="5197034" y="3495539"/>
            <a:ext cx="208345" cy="379846"/>
          </a:xfrm>
          <a:prstGeom prst="straightConnector1">
            <a:avLst/>
          </a:prstGeom>
          <a:noFill/>
          <a:ln w="2222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145" name="Google Shape;145;p18"/>
          <p:cNvCxnSpPr/>
          <p:nvPr/>
        </p:nvCxnSpPr>
        <p:spPr>
          <a:xfrm rot="10800000">
            <a:off x="6864513" y="3601017"/>
            <a:ext cx="337355" cy="295399"/>
          </a:xfrm>
          <a:prstGeom prst="straightConnector1">
            <a:avLst/>
          </a:prstGeom>
          <a:noFill/>
          <a:ln w="2222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146" name="Google Shape;146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80171" y="4858457"/>
            <a:ext cx="41021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8"/>
          <p:cNvSpPr txBox="1"/>
          <p:nvPr/>
        </p:nvSpPr>
        <p:spPr>
          <a:xfrm>
            <a:off x="0" y="4491790"/>
            <a:ext cx="72018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discrete p &amp; q:</a:t>
            </a:r>
            <a:endParaRPr/>
          </a:p>
        </p:txBody>
      </p:sp>
      <p:sp>
        <p:nvSpPr>
          <p:cNvPr id="148" name="Google Shape;148;p18"/>
          <p:cNvSpPr txBox="1"/>
          <p:nvPr/>
        </p:nvSpPr>
        <p:spPr>
          <a:xfrm>
            <a:off x="72263" y="5986105"/>
            <a:ext cx="11620015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https://en.wikipedia.org/wiki/Cross_entropy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http://stats.stackexchange.com/questions/31985/definition-and-origin-of-cross-entropy</a:t>
            </a: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https://www.reddit.com/r/MachineLearning/comments/3klqdh/q_whats_the_difference_between_crossentropy_and/</a:t>
            </a: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https://jamesmccaffrey.wordpress.com/2013/11/05/why-you-should-use-cross-entropy-error-instead-of-classification-error-or-mean-squared-error-for-neural-network-classifier-training/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" name="Google Shape;149;p18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360352" y="1070494"/>
            <a:ext cx="2667638" cy="625427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8"/>
          <p:cNvSpPr txBox="1"/>
          <p:nvPr/>
        </p:nvSpPr>
        <p:spPr>
          <a:xfrm>
            <a:off x="6740323" y="74345"/>
            <a:ext cx="5451677" cy="23083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… the output vector represents a probability distribution, and cross-entropy indicates the distance between what the network believes this distribution should be, and what the teacher says it should be …</a:t>
            </a:r>
            <a:endParaRPr sz="160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… You should use the cost function that matches your output units and your probabilistic modeling assumptions. For a multi-class classification, that means a softmax + cross entropy. For regression (assuming a Gaussian distribution) - squared error…</a:t>
            </a:r>
            <a:endParaRPr sz="160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8"/>
          <p:cNvSpPr txBox="1"/>
          <p:nvPr/>
        </p:nvSpPr>
        <p:spPr>
          <a:xfrm>
            <a:off x="947798" y="3895306"/>
            <a:ext cx="216446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Cross-entropy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" name="Google Shape;152;p18"/>
          <p:cNvCxnSpPr/>
          <p:nvPr/>
        </p:nvCxnSpPr>
        <p:spPr>
          <a:xfrm rot="10800000" flipH="1">
            <a:off x="1758387" y="3569408"/>
            <a:ext cx="208345" cy="379846"/>
          </a:xfrm>
          <a:prstGeom prst="straightConnector1">
            <a:avLst/>
          </a:prstGeom>
          <a:noFill/>
          <a:ln w="2222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153" name="Google Shape;153;p18"/>
          <p:cNvSpPr txBox="1"/>
          <p:nvPr/>
        </p:nvSpPr>
        <p:spPr>
          <a:xfrm>
            <a:off x="6459880" y="4746750"/>
            <a:ext cx="5732119" cy="1514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Cross-Entropy is always greater than Entropy,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because D(p||q) &gt;= 0</a:t>
            </a:r>
          </a:p>
          <a:p>
            <a:pPr lvl="0"/>
            <a:endParaRPr lang="en-US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Jensen–Shannon Divergence – symmetrical version of D():</a:t>
            </a:r>
          </a:p>
          <a:p>
            <a:pPr lvl="0"/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JSD(p||q) = (D(p||m) + D(q||m)) / 2, where m = (</a:t>
            </a:r>
            <a:r>
              <a:rPr lang="en-US" dirty="0" err="1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p+q</a:t>
            </a:r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) / 2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97689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101251" y="94128"/>
            <a:ext cx="7308080" cy="6763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ROC Curve &amp; Precision-Recall Curve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Receiver Operating Characteristic (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ROC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curves for a binary classifier: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True Positive Rate (TPR)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  vs   </a:t>
            </a:r>
            <a:r>
              <a:rPr lang="en-US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False Positive Rate (FPR)</a:t>
            </a:r>
          </a:p>
          <a:p>
            <a:pPr lvl="0"/>
            <a:r>
              <a:rPr lang="en-US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                            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at various threshold settings.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ROC curve was first used during World War II for detecting </a:t>
            </a:r>
          </a:p>
          <a:p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enemy airplanes with radar.</a:t>
            </a:r>
          </a:p>
          <a:p>
            <a:pPr lvl="0"/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TPR  = REC = Recall or Sensitivity = 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TP / (TP + FN) </a:t>
            </a:r>
          </a:p>
          <a:p>
            <a:pPr lvl="0"/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 ( planes classified as planes / all planes' events)</a:t>
            </a:r>
          </a:p>
          <a:p>
            <a:pPr lvl="0"/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FPR = fall-out, probability of false 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alarm = FP / (FP + TN)</a:t>
            </a:r>
          </a:p>
          <a:p>
            <a:pPr lvl="0"/>
            <a:r>
              <a:rPr lang="en-US" sz="180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                    ( noise classified as planes / all noise events )</a:t>
            </a:r>
          </a:p>
          <a:p>
            <a:pPr lvl="0"/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PRE = Precision = TP/(TP+FP)</a:t>
            </a:r>
          </a:p>
          <a:p>
            <a:pPr lvl="0"/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</a:t>
            </a:r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( planes classified as planes / all events classified as planes)</a:t>
            </a:r>
          </a:p>
          <a:p>
            <a:pPr lvl="0"/>
            <a:r>
              <a:rPr lang="en-US" dirty="0">
                <a:ea typeface="Calibri"/>
                <a:cs typeface="Calibri"/>
                <a:sym typeface="Calibri"/>
              </a:rPr>
              <a:t>    SPE = Specificity = TN/(TN+FP)</a:t>
            </a:r>
          </a:p>
          <a:p>
            <a:pPr lvl="0"/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 ( noise classified as noise / all noise events )</a:t>
            </a:r>
          </a:p>
          <a:p>
            <a:pPr lvl="0"/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-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-------------------------------------------------------------------------------</a:t>
            </a:r>
            <a:endParaRPr lang="en-US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/>
              <a:t>AUC = Area Under the (ROC) Curve 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(from 0 to 1)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--------------------------------------------------------------------------------</a:t>
            </a:r>
            <a:endParaRPr dirty="0"/>
          </a:p>
          <a:p>
            <a:r>
              <a:rPr lang="en-US" sz="32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F1 Score = 2 * PRE * REC / (PRE + REC)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 the 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F1 score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harmonic average of the 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8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recall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14D7FC-09D8-824B-89D7-7C2020963B5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82169" y="3789681"/>
            <a:ext cx="2979905" cy="285077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6C81F0-62C3-8E45-95A5-23522F707AD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64525" y="217543"/>
            <a:ext cx="5327475" cy="26894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71AF10-28D8-9F40-AE11-3D955B9498E7}"/>
              </a:ext>
            </a:extLst>
          </p:cNvPr>
          <p:cNvSpPr txBox="1"/>
          <p:nvPr/>
        </p:nvSpPr>
        <p:spPr>
          <a:xfrm>
            <a:off x="7879976" y="1089212"/>
            <a:ext cx="1089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ROC</a:t>
            </a:r>
          </a:p>
          <a:p>
            <a:r>
              <a:rPr lang="en-US" dirty="0"/>
              <a:t>Curve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274A43-2460-0F4C-AA71-4A5D0492FF28}"/>
              </a:ext>
            </a:extLst>
          </p:cNvPr>
          <p:cNvSpPr txBox="1"/>
          <p:nvPr/>
        </p:nvSpPr>
        <p:spPr>
          <a:xfrm>
            <a:off x="10170458" y="1089212"/>
            <a:ext cx="13916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Precision-Recall </a:t>
            </a:r>
          </a:p>
          <a:p>
            <a:r>
              <a:rPr lang="en-US" dirty="0"/>
              <a:t>Curve</a:t>
            </a:r>
          </a:p>
        </p:txBody>
      </p:sp>
    </p:spTree>
    <p:extLst>
      <p:ext uri="{BB962C8B-B14F-4D97-AF65-F5344CB8AC3E}">
        <p14:creationId xmlns:p14="http://schemas.microsoft.com/office/powerpoint/2010/main" val="3126123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49168" y="238705"/>
            <a:ext cx="4564879" cy="59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7140" y="0"/>
            <a:ext cx="3248213" cy="28177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4BAF2C-0C1A-F448-A098-8A465864D8D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5600" y="3012140"/>
            <a:ext cx="5486400" cy="365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76A3DB-E3D6-044A-B6B6-0333CC961AFA}"/>
              </a:ext>
            </a:extLst>
          </p:cNvPr>
          <p:cNvSpPr txBox="1"/>
          <p:nvPr/>
        </p:nvSpPr>
        <p:spPr>
          <a:xfrm>
            <a:off x="114696" y="3845859"/>
            <a:ext cx="741565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sklearn</a:t>
            </a:r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metrics</a:t>
            </a:r>
          </a:p>
          <a:p>
            <a:endParaRPr lang="en-US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expected = target</a:t>
            </a:r>
          </a:p>
          <a:p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predicted = </a:t>
            </a:r>
            <a:r>
              <a:rPr lang="en-US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model.predict</a:t>
            </a:r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(data)</a:t>
            </a:r>
          </a:p>
          <a:p>
            <a:endParaRPr lang="en-US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confusion = </a:t>
            </a:r>
            <a:r>
              <a:rPr lang="en-US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metrics.confusion_matrix</a:t>
            </a:r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endParaRPr lang="en-US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[[194156   4864]</a:t>
            </a:r>
          </a:p>
          <a:p>
            <a:r>
              <a:rPr lang="en-US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[    23    321]]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5B8119-CB34-004A-8BAF-2F2E2895F4D1}"/>
              </a:ext>
            </a:extLst>
          </p:cNvPr>
          <p:cNvSpPr txBox="1"/>
          <p:nvPr/>
        </p:nvSpPr>
        <p:spPr>
          <a:xfrm>
            <a:off x="249168" y="1169894"/>
            <a:ext cx="553306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 confusion matrix is commonly used to visualize performance of a classifier.</a:t>
            </a:r>
          </a:p>
          <a:p>
            <a:r>
              <a:rPr lang="en-US" sz="2000" dirty="0"/>
              <a:t>For a simple binary classifier we are predicting one of two possibilities (Yes/No, Positive/Negative).</a:t>
            </a:r>
          </a:p>
          <a:p>
            <a:r>
              <a:rPr lang="en-US" sz="2000" dirty="0"/>
              <a:t>So we construct a 2x2 matrix to visualize True &amp; False Positives and Negatives.</a:t>
            </a:r>
          </a:p>
        </p:txBody>
      </p:sp>
    </p:spTree>
    <p:extLst>
      <p:ext uri="{BB962C8B-B14F-4D97-AF65-F5344CB8AC3E}">
        <p14:creationId xmlns:p14="http://schemas.microsoft.com/office/powerpoint/2010/main" val="16998142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49168" y="238705"/>
            <a:ext cx="7139604" cy="59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Why good ROC curve is above diagonal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7140" y="0"/>
            <a:ext cx="3248213" cy="28177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4BAF2C-0C1A-F448-A098-8A465864D8D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5600" y="3012140"/>
            <a:ext cx="5486400" cy="3657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65B8119-CB34-004A-8BAF-2F2E2895F4D1}"/>
              </a:ext>
            </a:extLst>
          </p:cNvPr>
          <p:cNvSpPr txBox="1"/>
          <p:nvPr/>
        </p:nvSpPr>
        <p:spPr>
          <a:xfrm>
            <a:off x="249168" y="4680303"/>
            <a:ext cx="553306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ROC curve:</a:t>
            </a:r>
          </a:p>
          <a:p>
            <a:r>
              <a:rPr lang="en-US" sz="2000" dirty="0"/>
              <a:t>   vertical – True Positives / All Actual Positives</a:t>
            </a:r>
          </a:p>
          <a:p>
            <a:r>
              <a:rPr lang="en-US" sz="2000" dirty="0"/>
              <a:t>   horizontal – False Positives / All Actual Negatives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09B122-E45E-DD45-B6AE-9B4303E6D32E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9702" y="1034861"/>
            <a:ext cx="3289300" cy="337820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8B5384-7E58-794C-911E-C5BECF2C3B67}"/>
              </a:ext>
            </a:extLst>
          </p:cNvPr>
          <p:cNvCxnSpPr/>
          <p:nvPr/>
        </p:nvCxnSpPr>
        <p:spPr>
          <a:xfrm flipV="1">
            <a:off x="1843790" y="1199213"/>
            <a:ext cx="2547976" cy="260828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7801341-8B40-FA47-AEDF-6262500C235D}"/>
              </a:ext>
            </a:extLst>
          </p:cNvPr>
          <p:cNvSpPr txBox="1"/>
          <p:nvPr/>
        </p:nvSpPr>
        <p:spPr>
          <a:xfrm>
            <a:off x="670560" y="1148746"/>
            <a:ext cx="73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TP/AP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165A45-F59A-E448-95C9-C37920B2F5EA}"/>
              </a:ext>
            </a:extLst>
          </p:cNvPr>
          <p:cNvSpPr txBox="1"/>
          <p:nvPr/>
        </p:nvSpPr>
        <p:spPr>
          <a:xfrm>
            <a:off x="4272174" y="4074744"/>
            <a:ext cx="960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FP/AN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B24DAC1B-FBF6-0943-BEA2-5008D7750A17}"/>
              </a:ext>
            </a:extLst>
          </p:cNvPr>
          <p:cNvSpPr/>
          <p:nvPr/>
        </p:nvSpPr>
        <p:spPr>
          <a:xfrm>
            <a:off x="9495693" y="1635308"/>
            <a:ext cx="2603380" cy="47792"/>
          </a:xfrm>
          <a:custGeom>
            <a:avLst/>
            <a:gdLst>
              <a:gd name="connsiteX0" fmla="*/ 0 w 2501462"/>
              <a:gd name="connsiteY0" fmla="*/ 157675 h 157675"/>
              <a:gd name="connsiteX1" fmla="*/ 262759 w 2501462"/>
              <a:gd name="connsiteY1" fmla="*/ 52571 h 157675"/>
              <a:gd name="connsiteX2" fmla="*/ 536028 w 2501462"/>
              <a:gd name="connsiteY2" fmla="*/ 147164 h 157675"/>
              <a:gd name="connsiteX3" fmla="*/ 767256 w 2501462"/>
              <a:gd name="connsiteY3" fmla="*/ 42061 h 157675"/>
              <a:gd name="connsiteX4" fmla="*/ 1166649 w 2501462"/>
              <a:gd name="connsiteY4" fmla="*/ 115633 h 157675"/>
              <a:gd name="connsiteX5" fmla="*/ 1534511 w 2501462"/>
              <a:gd name="connsiteY5" fmla="*/ 20 h 157675"/>
              <a:gd name="connsiteX6" fmla="*/ 1828800 w 2501462"/>
              <a:gd name="connsiteY6" fmla="*/ 126144 h 157675"/>
              <a:gd name="connsiteX7" fmla="*/ 2154621 w 2501462"/>
              <a:gd name="connsiteY7" fmla="*/ 42061 h 157675"/>
              <a:gd name="connsiteX8" fmla="*/ 2501462 w 2501462"/>
              <a:gd name="connsiteY8" fmla="*/ 136654 h 157675"/>
              <a:gd name="connsiteX9" fmla="*/ 2501462 w 2501462"/>
              <a:gd name="connsiteY9" fmla="*/ 136654 h 157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01462" h="157675">
                <a:moveTo>
                  <a:pt x="0" y="157675"/>
                </a:moveTo>
                <a:cubicBezTo>
                  <a:pt x="86710" y="105999"/>
                  <a:pt x="173421" y="54323"/>
                  <a:pt x="262759" y="52571"/>
                </a:cubicBezTo>
                <a:cubicBezTo>
                  <a:pt x="352097" y="50819"/>
                  <a:pt x="451945" y="148916"/>
                  <a:pt x="536028" y="147164"/>
                </a:cubicBezTo>
                <a:cubicBezTo>
                  <a:pt x="620111" y="145412"/>
                  <a:pt x="662153" y="47316"/>
                  <a:pt x="767256" y="42061"/>
                </a:cubicBezTo>
                <a:cubicBezTo>
                  <a:pt x="872359" y="36806"/>
                  <a:pt x="1038773" y="122640"/>
                  <a:pt x="1166649" y="115633"/>
                </a:cubicBezTo>
                <a:cubicBezTo>
                  <a:pt x="1294525" y="108626"/>
                  <a:pt x="1424153" y="-1732"/>
                  <a:pt x="1534511" y="20"/>
                </a:cubicBezTo>
                <a:cubicBezTo>
                  <a:pt x="1644869" y="1772"/>
                  <a:pt x="1725448" y="119137"/>
                  <a:pt x="1828800" y="126144"/>
                </a:cubicBezTo>
                <a:cubicBezTo>
                  <a:pt x="1932152" y="133151"/>
                  <a:pt x="2042511" y="40309"/>
                  <a:pt x="2154621" y="42061"/>
                </a:cubicBezTo>
                <a:cubicBezTo>
                  <a:pt x="2266731" y="43813"/>
                  <a:pt x="2501462" y="136654"/>
                  <a:pt x="2501462" y="136654"/>
                </a:cubicBezTo>
                <a:lnTo>
                  <a:pt x="2501462" y="136654"/>
                </a:lnTo>
              </a:path>
            </a:pathLst>
          </a:cu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E750A36C-A42B-9646-91FF-B37D28203DE5}"/>
              </a:ext>
            </a:extLst>
          </p:cNvPr>
          <p:cNvSpPr/>
          <p:nvPr/>
        </p:nvSpPr>
        <p:spPr>
          <a:xfrm rot="18803495" flipV="1">
            <a:off x="7109791" y="4617011"/>
            <a:ext cx="5123828" cy="126586"/>
          </a:xfrm>
          <a:custGeom>
            <a:avLst/>
            <a:gdLst>
              <a:gd name="connsiteX0" fmla="*/ 0 w 2501462"/>
              <a:gd name="connsiteY0" fmla="*/ 157675 h 157675"/>
              <a:gd name="connsiteX1" fmla="*/ 262759 w 2501462"/>
              <a:gd name="connsiteY1" fmla="*/ 52571 h 157675"/>
              <a:gd name="connsiteX2" fmla="*/ 536028 w 2501462"/>
              <a:gd name="connsiteY2" fmla="*/ 147164 h 157675"/>
              <a:gd name="connsiteX3" fmla="*/ 767256 w 2501462"/>
              <a:gd name="connsiteY3" fmla="*/ 42061 h 157675"/>
              <a:gd name="connsiteX4" fmla="*/ 1166649 w 2501462"/>
              <a:gd name="connsiteY4" fmla="*/ 115633 h 157675"/>
              <a:gd name="connsiteX5" fmla="*/ 1534511 w 2501462"/>
              <a:gd name="connsiteY5" fmla="*/ 20 h 157675"/>
              <a:gd name="connsiteX6" fmla="*/ 1828800 w 2501462"/>
              <a:gd name="connsiteY6" fmla="*/ 126144 h 157675"/>
              <a:gd name="connsiteX7" fmla="*/ 2154621 w 2501462"/>
              <a:gd name="connsiteY7" fmla="*/ 42061 h 157675"/>
              <a:gd name="connsiteX8" fmla="*/ 2501462 w 2501462"/>
              <a:gd name="connsiteY8" fmla="*/ 136654 h 157675"/>
              <a:gd name="connsiteX9" fmla="*/ 2501462 w 2501462"/>
              <a:gd name="connsiteY9" fmla="*/ 136654 h 157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01462" h="157675">
                <a:moveTo>
                  <a:pt x="0" y="157675"/>
                </a:moveTo>
                <a:cubicBezTo>
                  <a:pt x="86710" y="105999"/>
                  <a:pt x="173421" y="54323"/>
                  <a:pt x="262759" y="52571"/>
                </a:cubicBezTo>
                <a:cubicBezTo>
                  <a:pt x="352097" y="50819"/>
                  <a:pt x="451945" y="148916"/>
                  <a:pt x="536028" y="147164"/>
                </a:cubicBezTo>
                <a:cubicBezTo>
                  <a:pt x="620111" y="145412"/>
                  <a:pt x="662153" y="47316"/>
                  <a:pt x="767256" y="42061"/>
                </a:cubicBezTo>
                <a:cubicBezTo>
                  <a:pt x="872359" y="36806"/>
                  <a:pt x="1038773" y="122640"/>
                  <a:pt x="1166649" y="115633"/>
                </a:cubicBezTo>
                <a:cubicBezTo>
                  <a:pt x="1294525" y="108626"/>
                  <a:pt x="1424153" y="-1732"/>
                  <a:pt x="1534511" y="20"/>
                </a:cubicBezTo>
                <a:cubicBezTo>
                  <a:pt x="1644869" y="1772"/>
                  <a:pt x="1725448" y="119137"/>
                  <a:pt x="1828800" y="126144"/>
                </a:cubicBezTo>
                <a:cubicBezTo>
                  <a:pt x="1932152" y="133151"/>
                  <a:pt x="2042511" y="40309"/>
                  <a:pt x="2154621" y="42061"/>
                </a:cubicBezTo>
                <a:cubicBezTo>
                  <a:pt x="2266731" y="43813"/>
                  <a:pt x="2501462" y="136654"/>
                  <a:pt x="2501462" y="136654"/>
                </a:cubicBezTo>
                <a:lnTo>
                  <a:pt x="2501462" y="136654"/>
                </a:lnTo>
              </a:path>
            </a:pathLst>
          </a:cu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0514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ED96F6-B9F8-BF4C-B20A-A39A351EF207}"/>
              </a:ext>
            </a:extLst>
          </p:cNvPr>
          <p:cNvSpPr txBox="1"/>
          <p:nvPr/>
        </p:nvSpPr>
        <p:spPr>
          <a:xfrm>
            <a:off x="0" y="0"/>
            <a:ext cx="55523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Overfitting and Regularization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55188E-F5B6-4F4A-8515-FFE012123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287" y="820270"/>
            <a:ext cx="6275536" cy="50075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8F7B91-9715-794E-9CC4-684BD2488D5D}"/>
              </a:ext>
            </a:extLst>
          </p:cNvPr>
          <p:cNvSpPr txBox="1"/>
          <p:nvPr/>
        </p:nvSpPr>
        <p:spPr>
          <a:xfrm>
            <a:off x="147052" y="584775"/>
            <a:ext cx="5405304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Goal of training is to fit/learn a "regularity" in the data, and to avoid fitting noise (avoid overfitting).</a:t>
            </a:r>
          </a:p>
          <a:p>
            <a:endParaRPr lang="en-US" sz="900" dirty="0"/>
          </a:p>
          <a:p>
            <a:r>
              <a:rPr lang="en-US" sz="2000" dirty="0"/>
              <a:t>How do we know that we are overfitting?</a:t>
            </a:r>
          </a:p>
          <a:p>
            <a:endParaRPr lang="en-US" sz="900" dirty="0"/>
          </a:p>
          <a:p>
            <a:r>
              <a:rPr lang="en-US" sz="2000" dirty="0"/>
              <a:t>Let's split data into two sets: </a:t>
            </a:r>
          </a:p>
          <a:p>
            <a:r>
              <a:rPr lang="en-US" sz="2000" dirty="0"/>
              <a:t>    - training</a:t>
            </a:r>
          </a:p>
          <a:p>
            <a:r>
              <a:rPr lang="en-US" sz="2000" dirty="0"/>
              <a:t>    - testing</a:t>
            </a:r>
          </a:p>
          <a:p>
            <a:endParaRPr lang="en-US" sz="900" dirty="0"/>
          </a:p>
          <a:p>
            <a:r>
              <a:rPr lang="en-US" sz="2000" dirty="0"/>
              <a:t>If we </a:t>
            </a:r>
            <a:r>
              <a:rPr lang="en-US" sz="2000" b="1" dirty="0">
                <a:solidFill>
                  <a:srgbClr val="FF0000"/>
                </a:solidFill>
              </a:rPr>
              <a:t>overfit</a:t>
            </a:r>
            <a:r>
              <a:rPr lang="en-US" sz="2000" dirty="0"/>
              <a:t> on the training data (learn regularity and some noise specific to the training data), then accuracy measured on the test data may be bad</a:t>
            </a:r>
          </a:p>
          <a:p>
            <a:r>
              <a:rPr lang="en-US" sz="2000" dirty="0"/>
              <a:t>(model doesn't generalize well).</a:t>
            </a:r>
          </a:p>
          <a:p>
            <a:endParaRPr lang="en-US" sz="2000" dirty="0"/>
          </a:p>
          <a:p>
            <a:r>
              <a:rPr lang="en-US" sz="2000" dirty="0"/>
              <a:t>Solution – try to find a more "regular" solution (less noise, less overfitting). </a:t>
            </a:r>
          </a:p>
        </p:txBody>
      </p:sp>
    </p:spTree>
    <p:extLst>
      <p:ext uri="{BB962C8B-B14F-4D97-AF65-F5344CB8AC3E}">
        <p14:creationId xmlns:p14="http://schemas.microsoft.com/office/powerpoint/2010/main" val="38080284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1750</Words>
  <Application>Microsoft Macintosh PowerPoint</Application>
  <PresentationFormat>Widescreen</PresentationFormat>
  <Paragraphs>188</Paragraphs>
  <Slides>12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Selector, Lev</cp:lastModifiedBy>
  <cp:revision>12</cp:revision>
  <dcterms:created xsi:type="dcterms:W3CDTF">2019-01-10T18:41:16Z</dcterms:created>
  <dcterms:modified xsi:type="dcterms:W3CDTF">2020-01-08T22:10:55Z</dcterms:modified>
</cp:coreProperties>
</file>