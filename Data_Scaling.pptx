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34" r:id="rId2"/>
    <p:sldId id="33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37"/>
    <p:restoredTop sz="94578"/>
  </p:normalViewPr>
  <p:slideViewPr>
    <p:cSldViewPr snapToGrid="0" snapToObjects="1">
      <p:cViewPr varScale="1">
        <p:scale>
          <a:sx n="108" d="100"/>
          <a:sy n="108" d="100"/>
        </p:scale>
        <p:origin x="1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3/24/21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://ritvikmath.com/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www.youtube.com/watch?v=n9KeJLGwW0U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www.linkedin.com/in/ritvik-kharkar/" TargetMode="External"/><Relationship Id="rId4" Type="http://schemas.openxmlformats.org/officeDocument/2006/relationships/hyperlink" Target="https://github.com/ritvikmath" TargetMode="External"/><Relationship Id="rId9" Type="http://schemas.openxmlformats.org/officeDocument/2006/relationships/image" Target="../media/image4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76402"/>
            <a:ext cx="6651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Do you need to Scale your Data?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F6344-25D1-214F-A75E-373DADD0E10F}"/>
              </a:ext>
            </a:extLst>
          </p:cNvPr>
          <p:cNvSpPr txBox="1"/>
          <p:nvPr/>
        </p:nvSpPr>
        <p:spPr>
          <a:xfrm>
            <a:off x="13846629" y="66739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EA9DD-F532-E844-9109-9810BD2F6D66}"/>
              </a:ext>
            </a:extLst>
          </p:cNvPr>
          <p:cNvSpPr txBox="1"/>
          <p:nvPr/>
        </p:nvSpPr>
        <p:spPr>
          <a:xfrm>
            <a:off x="190665" y="722733"/>
            <a:ext cx="43457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Very good short video:</a:t>
            </a:r>
          </a:p>
          <a:p>
            <a:r>
              <a:rPr lang="en-US" sz="1400" dirty="0"/>
              <a:t>Should You Scale Your Data ??? : Data Science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2"/>
              </a:rPr>
              <a:t>https://www.youtube.com/watch?v=n9KeJLGwW0U</a:t>
            </a:r>
            <a:endParaRPr lang="en-US" sz="1400" dirty="0"/>
          </a:p>
          <a:p>
            <a:r>
              <a:rPr lang="en-US" sz="1400" dirty="0"/>
              <a:t>by </a:t>
            </a:r>
            <a:r>
              <a:rPr lang="en-US" sz="1400" dirty="0" err="1"/>
              <a:t>ritvikmath</a:t>
            </a:r>
            <a:r>
              <a:rPr lang="en-US" sz="1400" dirty="0"/>
              <a:t> ( </a:t>
            </a:r>
            <a:r>
              <a:rPr lang="en-US" sz="1400" dirty="0" err="1"/>
              <a:t>Ritvik</a:t>
            </a:r>
            <a:r>
              <a:rPr lang="en-US" sz="1400" dirty="0"/>
              <a:t> </a:t>
            </a:r>
            <a:r>
              <a:rPr lang="en-US" sz="1400" dirty="0" err="1"/>
              <a:t>Kharkar</a:t>
            </a:r>
            <a:r>
              <a:rPr lang="en-US" sz="1400" dirty="0"/>
              <a:t>, California)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http://ritvikmath.com/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https://github.com/ritvikmath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5"/>
              </a:rPr>
              <a:t>https://www.linkedin.com/in/ritvik-kharkar/</a:t>
            </a:r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64F69-1BC7-CC48-841C-6FFCC4154296}"/>
              </a:ext>
            </a:extLst>
          </p:cNvPr>
          <p:cNvSpPr txBox="1"/>
          <p:nvPr/>
        </p:nvSpPr>
        <p:spPr>
          <a:xfrm>
            <a:off x="190666" y="2622122"/>
            <a:ext cx="66515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KNN</a:t>
            </a:r>
            <a:r>
              <a:rPr lang="en-US" sz="1400" dirty="0"/>
              <a:t> in 2-dim (x1,x2) will work differently if x1 in meters, and x2 in centimeters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Decision Tree</a:t>
            </a:r>
            <a:r>
              <a:rPr lang="en-US" sz="1400" dirty="0"/>
              <a:t> – each column is split the same regardless of the scale (m or cm)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Linear Regression</a:t>
            </a:r>
            <a:r>
              <a:rPr lang="en-US" sz="1400" dirty="0"/>
              <a:t> – will work the same, but if you analyze feature sensitivity – it is easier to have all predictors having same scale.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Regularization term</a:t>
            </a:r>
            <a:r>
              <a:rPr lang="en-US" sz="1400" dirty="0"/>
              <a:t> – need same (or similar)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Gradient descent</a:t>
            </a:r>
            <a:r>
              <a:rPr lang="en-US" sz="1400" dirty="0"/>
              <a:t> – works better with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Generally, need scaling when features interact in same formula or being compared.</a:t>
            </a:r>
          </a:p>
        </p:txBody>
      </p:sp>
      <p:pic>
        <p:nvPicPr>
          <p:cNvPr id="1026" name="Picture 2" descr="Regularization in simple math explained - Data Science Stack Exchange">
            <a:extLst>
              <a:ext uri="{FF2B5EF4-FFF2-40B4-BE49-F238E27FC236}">
                <a16:creationId xmlns:a16="http://schemas.microsoft.com/office/drawing/2014/main" id="{2A5976A6-4B31-7F46-8326-82D3FE52FD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400637" y="3682933"/>
            <a:ext cx="2600697" cy="669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eature Scaling :- Normalization, Standardization and Scaling ! | by  Nishant Kumar | Analytics Vidhya | Medium">
            <a:extLst>
              <a:ext uri="{FF2B5EF4-FFF2-40B4-BE49-F238E27FC236}">
                <a16:creationId xmlns:a16="http://schemas.microsoft.com/office/drawing/2014/main" id="{BD9CEB27-36F8-A041-867F-FFC085A5E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6183" y="4825649"/>
            <a:ext cx="3203205" cy="203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EDCE42-CA4E-4744-ABD5-CD68B5D84BD2}"/>
              </a:ext>
            </a:extLst>
          </p:cNvPr>
          <p:cNvSpPr txBox="1"/>
          <p:nvPr/>
        </p:nvSpPr>
        <p:spPr>
          <a:xfrm>
            <a:off x="7352803" y="3926589"/>
            <a:ext cx="1295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Regularization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8B250-8C11-1549-8547-3518578F46F7}"/>
              </a:ext>
            </a:extLst>
          </p:cNvPr>
          <p:cNvSpPr txBox="1"/>
          <p:nvPr/>
        </p:nvSpPr>
        <p:spPr>
          <a:xfrm>
            <a:off x="7352803" y="5841824"/>
            <a:ext cx="1578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Gradient Descent</a:t>
            </a:r>
          </a:p>
        </p:txBody>
      </p:sp>
      <p:pic>
        <p:nvPicPr>
          <p:cNvPr id="1030" name="Picture 6" descr="Robust Scaling on Toy Data — scikit-learn 0.18.2 documentation">
            <a:extLst>
              <a:ext uri="{FF2B5EF4-FFF2-40B4-BE49-F238E27FC236}">
                <a16:creationId xmlns:a16="http://schemas.microsoft.com/office/drawing/2014/main" id="{5A686BF7-C7A3-C64F-BC2A-9AD693DBE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28364" y="1096332"/>
            <a:ext cx="3463636" cy="115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262798-937F-9244-8242-AFE582F35701}"/>
              </a:ext>
            </a:extLst>
          </p:cNvPr>
          <p:cNvSpPr txBox="1"/>
          <p:nvPr/>
        </p:nvSpPr>
        <p:spPr>
          <a:xfrm>
            <a:off x="7352803" y="1652343"/>
            <a:ext cx="1120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KNN Scaling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F828E3-5BD8-384E-8FA0-DECEC314DAE9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6183" y="2716105"/>
            <a:ext cx="3102022" cy="4281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126BC1-1E10-8444-8FF2-9C99352A4BBC}"/>
              </a:ext>
            </a:extLst>
          </p:cNvPr>
          <p:cNvSpPr txBox="1"/>
          <p:nvPr/>
        </p:nvSpPr>
        <p:spPr>
          <a:xfrm>
            <a:off x="7352803" y="2791932"/>
            <a:ext cx="1482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41002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76402"/>
            <a:ext cx="5082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OLAP Cube – Complexity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56E077-CBBF-8B4A-AFD9-7FF186E983BF}"/>
              </a:ext>
            </a:extLst>
          </p:cNvPr>
          <p:cNvSpPr txBox="1"/>
          <p:nvPr/>
        </p:nvSpPr>
        <p:spPr>
          <a:xfrm>
            <a:off x="361825" y="909341"/>
            <a:ext cx="5082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Kimball vs </a:t>
            </a:r>
            <a:r>
              <a:rPr lang="en-US" dirty="0" err="1"/>
              <a:t>Inmon</a:t>
            </a:r>
            <a:r>
              <a:rPr lang="en-US" dirty="0"/>
              <a:t> vs Data Vault frameworks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A3A473-C1E6-BB4B-B45D-0E62BB53D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" t="3835" r="1620" b="5740"/>
          <a:stretch/>
        </p:blipFill>
        <p:spPr bwMode="auto">
          <a:xfrm>
            <a:off x="6452919" y="720437"/>
            <a:ext cx="5628904" cy="264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1BB8427-CF39-2B4F-A702-0CBA2BC5A1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37" t="5906" r="5348" b="10518"/>
          <a:stretch/>
        </p:blipFill>
        <p:spPr bwMode="auto">
          <a:xfrm>
            <a:off x="6452919" y="4021776"/>
            <a:ext cx="5628904" cy="264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15C3BA-8A84-A346-A5DE-3BBD3A618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880265"/>
              </p:ext>
            </p:extLst>
          </p:nvPr>
        </p:nvGraphicFramePr>
        <p:xfrm>
          <a:off x="147244" y="1752682"/>
          <a:ext cx="5511800" cy="3898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744">
                  <a:extLst>
                    <a:ext uri="{9D8B030D-6E8A-4147-A177-3AD203B41FA5}">
                      <a16:colId xmlns:a16="http://schemas.microsoft.com/office/drawing/2014/main" val="508734602"/>
                    </a:ext>
                  </a:extLst>
                </a:gridCol>
                <a:gridCol w="2322762">
                  <a:extLst>
                    <a:ext uri="{9D8B030D-6E8A-4147-A177-3AD203B41FA5}">
                      <a16:colId xmlns:a16="http://schemas.microsoft.com/office/drawing/2014/main" val="1414177960"/>
                    </a:ext>
                  </a:extLst>
                </a:gridCol>
                <a:gridCol w="2094294">
                  <a:extLst>
                    <a:ext uri="{9D8B030D-6E8A-4147-A177-3AD203B41FA5}">
                      <a16:colId xmlns:a16="http://schemas.microsoft.com/office/drawing/2014/main" val="59869166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Parameters</a:t>
                      </a:r>
                      <a:endParaRPr lang="en-US" sz="140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Kimball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Inmon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788374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 Ralph Kimball.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 Bill Inmon.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12700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Approach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has Bottom-Up Approach for implementation.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has Top-Down Approach for implementation.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793062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Integration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focuses Individual business areas.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focuses Enterprise-wide areas.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98495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Building Time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is efficient and takes less time.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is complex and consumes a lot of time.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67896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Cost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has iterative steps and is cost effective.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Initial cost is huge and development cost is low.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6751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Skills Required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does not need such skills but a generic team will do job.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needs specialized skills to make work.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68048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Maintenance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Here maintenance is difficult.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Here maintenance is easy.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25223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Model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prefers data to be in De-normalized model.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prefers data to be in normalized model.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89071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Store Systems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 this, source systems are highly stable.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In this, source systems have high rate of change.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8233881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F877F6-E824-1449-B84B-E5353B0E439D}"/>
              </a:ext>
            </a:extLst>
          </p:cNvPr>
          <p:cNvSpPr/>
          <p:nvPr/>
        </p:nvSpPr>
        <p:spPr>
          <a:xfrm>
            <a:off x="7533574" y="76402"/>
            <a:ext cx="3396343" cy="6693853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509B1-63CD-E745-824F-781153CCDCE7}"/>
              </a:ext>
            </a:extLst>
          </p:cNvPr>
          <p:cNvSpPr txBox="1"/>
          <p:nvPr/>
        </p:nvSpPr>
        <p:spPr>
          <a:xfrm>
            <a:off x="7975600" y="215900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is no longer needed</a:t>
            </a:r>
          </a:p>
        </p:txBody>
      </p:sp>
    </p:spTree>
    <p:extLst>
      <p:ext uri="{BB962C8B-B14F-4D97-AF65-F5344CB8AC3E}">
        <p14:creationId xmlns:p14="http://schemas.microsoft.com/office/powerpoint/2010/main" val="1421258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348</Words>
  <Application>Microsoft Macintosh PowerPoint</Application>
  <PresentationFormat>Widescreen</PresentationFormat>
  <Paragraphs>53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147</cp:revision>
  <dcterms:created xsi:type="dcterms:W3CDTF">2018-10-10T17:24:46Z</dcterms:created>
  <dcterms:modified xsi:type="dcterms:W3CDTF">2021-03-24T17:05:43Z</dcterms:modified>
</cp:coreProperties>
</file>