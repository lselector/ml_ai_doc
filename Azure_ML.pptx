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saveSubsetFonts="1" autoCompressPictures="0">
  <p:sldMasterIdLst>
    <p:sldMasterId id="2147483659" r:id="rId1"/>
  </p:sldMasterIdLst>
  <p:notesMasterIdLst>
    <p:notesMasterId r:id="rId12"/>
  </p:notesMasterIdLst>
  <p:sldIdLst>
    <p:sldId id="313" r:id="rId2"/>
    <p:sldId id="320" r:id="rId3"/>
    <p:sldId id="321" r:id="rId4"/>
    <p:sldId id="322" r:id="rId5"/>
    <p:sldId id="314" r:id="rId6"/>
    <p:sldId id="319" r:id="rId7"/>
    <p:sldId id="317" r:id="rId8"/>
    <p:sldId id="318" r:id="rId9"/>
    <p:sldId id="315" r:id="rId10"/>
    <p:sldId id="316" r:id="rId11"/>
  </p:sldIdLst>
  <p:sldSz cx="12192000" cy="6858000"/>
  <p:notesSz cx="6858000" cy="9144000"/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B1618C5A-BF4F-44D7-ADB2-C5301EF81F8A}">
  <a:tblStyle styleId="{B1618C5A-BF4F-44D7-ADB2-C5301EF81F8A}" styleName="Table_0">
    <a:wholeTbl>
      <a:tcTxStyle>
        <a:font>
          <a:latin typeface="Arial"/>
          <a:ea typeface="Arial"/>
          <a:cs typeface="Arial"/>
        </a:font>
        <a:srgbClr val="000000"/>
      </a:tcTxStyle>
      <a:tcStyle>
        <a:tcBdr>
          <a:left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left>
          <a:right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right>
          <a:top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top>
          <a:bottom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bottom>
          <a:insideH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insideH>
          <a:insideV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insideV>
        </a:tcBdr>
      </a:tcStyle>
    </a:wholeTbl>
    <a:band1H>
      <a:tcTxStyle/>
      <a:tcStyle>
        <a:tcBdr/>
      </a:tcStyle>
    </a:band1H>
    <a:band2H>
      <a:tcTxStyle/>
      <a:tcStyle>
        <a:tcBdr/>
      </a:tcStyle>
    </a:band2H>
    <a:band1V>
      <a:tcTxStyle/>
      <a:tcStyle>
        <a:tcBdr/>
      </a:tcStyle>
    </a:band1V>
    <a:band2V>
      <a:tcTxStyle/>
      <a:tcStyle>
        <a:tcBdr/>
      </a:tcStyle>
    </a:band2V>
    <a:lastCol>
      <a:tcTxStyle/>
      <a:tcStyle>
        <a:tcBdr/>
      </a:tcStyle>
    </a:lastCol>
    <a:firstCol>
      <a:tcTxStyle/>
      <a:tcStyle>
        <a:tcBdr/>
      </a:tcStyle>
    </a:firstCol>
    <a:lastRow>
      <a:tcTxStyle/>
      <a:tcStyle>
        <a:tcBdr/>
      </a:tcStyle>
    </a:lastRow>
    <a:seCell>
      <a:tcTxStyle/>
      <a:tcStyle>
        <a:tcBdr/>
      </a:tcStyle>
    </a:seCell>
    <a:swCell>
      <a:tcTxStyle/>
      <a:tcStyle>
        <a:tcBdr/>
      </a:tcStyle>
    </a:swCell>
    <a:firstRow>
      <a:tcTxStyle/>
      <a:tcStyle>
        <a:tcBdr/>
      </a:tcStyle>
    </a:firstRow>
    <a:neCell>
      <a:tcTxStyle/>
      <a:tcStyle>
        <a:tcBdr/>
      </a:tcStyle>
    </a:neCell>
    <a:nwCell>
      <a:tcTxStyle/>
      <a:tcStyle>
        <a:tcBdr/>
      </a:tcStyle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4321"/>
    <p:restoredTop sz="92276"/>
  </p:normalViewPr>
  <p:slideViewPr>
    <p:cSldViewPr snapToGrid="0" snapToObjects="1">
      <p:cViewPr varScale="1">
        <p:scale>
          <a:sx n="92" d="100"/>
          <a:sy n="92" d="100"/>
        </p:scale>
        <p:origin x="208" y="24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heme" Target="theme/theme1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viewProps" Target="viewProps.xml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75F7D068-C429-406A-A4E3-0166C86D186E}" type="doc">
      <dgm:prSet loTypeId="urn:microsoft.com/office/officeart/2005/8/layout/cycle4" loCatId="matrix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en-US"/>
        </a:p>
      </dgm:t>
    </dgm:pt>
    <dgm:pt modelId="{0EC6C918-B1DA-4CD4-B815-E1F9B4727F8F}">
      <dgm:prSet phldrT="[Text]"/>
      <dgm:spPr>
        <a:solidFill>
          <a:schemeClr val="bg2">
            <a:lumMod val="75000"/>
          </a:schemeClr>
        </a:solidFill>
        <a:ln>
          <a:solidFill>
            <a:schemeClr val="bg2">
              <a:lumMod val="75000"/>
            </a:schemeClr>
          </a:solidFill>
        </a:ln>
      </dgm:spPr>
      <dgm:t>
        <a:bodyPr/>
        <a:lstStyle/>
        <a:p>
          <a:r>
            <a:rPr lang="en-US"/>
            <a:t>Prepare Data</a:t>
          </a:r>
        </a:p>
      </dgm:t>
    </dgm:pt>
    <dgm:pt modelId="{0C0E213D-F8AC-4FB7-86EA-D76ABAC4D290}" type="parTrans" cxnId="{354D96A8-74E3-426C-80BE-9565EFA7EA6F}">
      <dgm:prSet/>
      <dgm:spPr/>
      <dgm:t>
        <a:bodyPr/>
        <a:lstStyle/>
        <a:p>
          <a:endParaRPr lang="en-US"/>
        </a:p>
      </dgm:t>
    </dgm:pt>
    <dgm:pt modelId="{981B7A97-5FAA-431C-92A0-962FF7117A76}" type="sibTrans" cxnId="{354D96A8-74E3-426C-80BE-9565EFA7EA6F}">
      <dgm:prSet/>
      <dgm:spPr/>
      <dgm:t>
        <a:bodyPr/>
        <a:lstStyle/>
        <a:p>
          <a:endParaRPr lang="en-US"/>
        </a:p>
      </dgm:t>
    </dgm:pt>
    <dgm:pt modelId="{ACA0318A-9782-46B3-A472-08AB3CDE3AD8}">
      <dgm:prSet phldrT="[Text]" custT="1"/>
      <dgm:spPr/>
      <dgm:t>
        <a:bodyPr/>
        <a:lstStyle/>
        <a:p>
          <a:r>
            <a:rPr lang="en-US" sz="1400" dirty="0">
              <a:solidFill>
                <a:schemeClr val="tx1"/>
              </a:solidFill>
              <a:ea typeface="Segoe UI" pitchFamily="34" charset="0"/>
              <a:cs typeface="Segoe UI" pitchFamily="34" charset="0"/>
            </a:rPr>
            <a:t>Find, Select and/or Create Data</a:t>
          </a:r>
          <a:endParaRPr lang="en-US" sz="1400" dirty="0"/>
        </a:p>
      </dgm:t>
    </dgm:pt>
    <dgm:pt modelId="{EDE58447-6458-4058-B2C8-07F11058F026}" type="parTrans" cxnId="{7F77E358-AAC7-4A86-A295-D691859F3BA7}">
      <dgm:prSet/>
      <dgm:spPr/>
      <dgm:t>
        <a:bodyPr/>
        <a:lstStyle/>
        <a:p>
          <a:endParaRPr lang="en-US"/>
        </a:p>
      </dgm:t>
    </dgm:pt>
    <dgm:pt modelId="{3CBEBB76-7EAC-4F97-AA42-409F30A81C25}" type="sibTrans" cxnId="{7F77E358-AAC7-4A86-A295-D691859F3BA7}">
      <dgm:prSet/>
      <dgm:spPr/>
      <dgm:t>
        <a:bodyPr/>
        <a:lstStyle/>
        <a:p>
          <a:endParaRPr lang="en-US"/>
        </a:p>
      </dgm:t>
    </dgm:pt>
    <dgm:pt modelId="{E55E2E71-FC4E-456B-BE21-945131F34030}">
      <dgm:prSet phldrT="[Text]"/>
      <dgm:spPr>
        <a:solidFill>
          <a:schemeClr val="bg2">
            <a:lumMod val="75000"/>
          </a:schemeClr>
        </a:solidFill>
        <a:ln>
          <a:solidFill>
            <a:schemeClr val="bg2">
              <a:lumMod val="75000"/>
            </a:schemeClr>
          </a:solidFill>
        </a:ln>
      </dgm:spPr>
      <dgm:t>
        <a:bodyPr/>
        <a:lstStyle/>
        <a:p>
          <a:r>
            <a:rPr lang="en-US"/>
            <a:t>Train Model</a:t>
          </a:r>
        </a:p>
      </dgm:t>
    </dgm:pt>
    <dgm:pt modelId="{5748B2BB-1E70-4943-A6D5-C231AEA69CA8}" type="parTrans" cxnId="{579AFFF7-9AA4-468A-A424-BEEF7B2F614B}">
      <dgm:prSet/>
      <dgm:spPr/>
      <dgm:t>
        <a:bodyPr/>
        <a:lstStyle/>
        <a:p>
          <a:endParaRPr lang="en-US"/>
        </a:p>
      </dgm:t>
    </dgm:pt>
    <dgm:pt modelId="{9A646C52-E2CE-4E33-ACE0-C94D05D1BCE4}" type="sibTrans" cxnId="{579AFFF7-9AA4-468A-A424-BEEF7B2F614B}">
      <dgm:prSet/>
      <dgm:spPr/>
      <dgm:t>
        <a:bodyPr/>
        <a:lstStyle/>
        <a:p>
          <a:endParaRPr lang="en-US"/>
        </a:p>
      </dgm:t>
    </dgm:pt>
    <dgm:pt modelId="{1E9CD4DC-743F-4B9D-8D89-1F427D554487}">
      <dgm:prSet phldrT="[Text]" custT="1"/>
      <dgm:spPr/>
      <dgm:t>
        <a:bodyPr/>
        <a:lstStyle/>
        <a:p>
          <a:r>
            <a:rPr lang="en-US" sz="1400">
              <a:solidFill>
                <a:schemeClr val="tx1"/>
              </a:solidFill>
              <a:ea typeface="Segoe UI" pitchFamily="34" charset="0"/>
              <a:cs typeface="Segoe UI" pitchFamily="34" charset="0"/>
            </a:rPr>
            <a:t>Apply learning algorithm</a:t>
          </a:r>
          <a:endParaRPr lang="en-US" sz="1400"/>
        </a:p>
      </dgm:t>
    </dgm:pt>
    <dgm:pt modelId="{88E47B0D-F1B8-444F-95CC-01C145723F0F}" type="parTrans" cxnId="{3A4D73CD-BBE2-4302-A903-133A10DB336D}">
      <dgm:prSet/>
      <dgm:spPr/>
      <dgm:t>
        <a:bodyPr/>
        <a:lstStyle/>
        <a:p>
          <a:endParaRPr lang="en-US"/>
        </a:p>
      </dgm:t>
    </dgm:pt>
    <dgm:pt modelId="{F0DCA57D-F214-40CB-9F11-6D9DDCB0CB5D}" type="sibTrans" cxnId="{3A4D73CD-BBE2-4302-A903-133A10DB336D}">
      <dgm:prSet/>
      <dgm:spPr/>
      <dgm:t>
        <a:bodyPr/>
        <a:lstStyle/>
        <a:p>
          <a:endParaRPr lang="en-US"/>
        </a:p>
      </dgm:t>
    </dgm:pt>
    <dgm:pt modelId="{5DA9CFC3-A0B7-4851-AADC-A360D403E162}">
      <dgm:prSet phldrT="[Text]"/>
      <dgm:spPr/>
      <dgm:t>
        <a:bodyPr/>
        <a:lstStyle/>
        <a:p>
          <a:r>
            <a:rPr lang="en-US"/>
            <a:t>Test Model</a:t>
          </a:r>
        </a:p>
      </dgm:t>
    </dgm:pt>
    <dgm:pt modelId="{7263FD18-ED1A-482A-867F-2B47516B9737}" type="parTrans" cxnId="{C9A5C2E4-8D22-4D3A-B9EC-55A2BB7EF4E4}">
      <dgm:prSet/>
      <dgm:spPr/>
      <dgm:t>
        <a:bodyPr/>
        <a:lstStyle/>
        <a:p>
          <a:endParaRPr lang="en-US"/>
        </a:p>
      </dgm:t>
    </dgm:pt>
    <dgm:pt modelId="{AFB27FB3-DD51-4370-BA3A-A0692DECF9B0}" type="sibTrans" cxnId="{C9A5C2E4-8D22-4D3A-B9EC-55A2BB7EF4E4}">
      <dgm:prSet/>
      <dgm:spPr/>
      <dgm:t>
        <a:bodyPr/>
        <a:lstStyle/>
        <a:p>
          <a:endParaRPr lang="en-US"/>
        </a:p>
      </dgm:t>
    </dgm:pt>
    <dgm:pt modelId="{C7F508A9-3E4C-4BA3-B36E-AE072692A689}">
      <dgm:prSet phldrT="[Text]" custT="1"/>
      <dgm:spPr/>
      <dgm:t>
        <a:bodyPr/>
        <a:lstStyle/>
        <a:p>
          <a:r>
            <a:rPr lang="en-US" sz="1400">
              <a:solidFill>
                <a:schemeClr val="tx1"/>
              </a:solidFill>
              <a:ea typeface="Segoe UI" pitchFamily="34" charset="0"/>
              <a:cs typeface="Segoe UI" pitchFamily="34" charset="0"/>
            </a:rPr>
            <a:t>Test Candidate Model with unseen data</a:t>
          </a:r>
          <a:endParaRPr lang="en-US" sz="1400"/>
        </a:p>
      </dgm:t>
    </dgm:pt>
    <dgm:pt modelId="{E23841EC-F8C3-4DAA-8706-03D13F18E3C9}" type="parTrans" cxnId="{A8D30EEC-BD0F-431B-9F75-2D5F06337481}">
      <dgm:prSet/>
      <dgm:spPr/>
      <dgm:t>
        <a:bodyPr/>
        <a:lstStyle/>
        <a:p>
          <a:endParaRPr lang="en-US"/>
        </a:p>
      </dgm:t>
    </dgm:pt>
    <dgm:pt modelId="{F2283369-1B4D-4696-937A-ED144E1007AC}" type="sibTrans" cxnId="{A8D30EEC-BD0F-431B-9F75-2D5F06337481}">
      <dgm:prSet/>
      <dgm:spPr/>
      <dgm:t>
        <a:bodyPr/>
        <a:lstStyle/>
        <a:p>
          <a:endParaRPr lang="en-US"/>
        </a:p>
      </dgm:t>
    </dgm:pt>
    <dgm:pt modelId="{49CB4A35-FC75-4864-A956-87C3A6776E00}">
      <dgm:prSet phldrT="[Text]"/>
      <dgm:spPr/>
      <dgm:t>
        <a:bodyPr/>
        <a:lstStyle/>
        <a:p>
          <a:r>
            <a:rPr lang="en-US"/>
            <a:t>Deploy Model</a:t>
          </a:r>
        </a:p>
      </dgm:t>
    </dgm:pt>
    <dgm:pt modelId="{0FAE57A4-53BA-46CC-8051-86021201237D}" type="parTrans" cxnId="{02E93C4E-5EA9-40E3-9421-4CE94E4CB17D}">
      <dgm:prSet/>
      <dgm:spPr/>
      <dgm:t>
        <a:bodyPr/>
        <a:lstStyle/>
        <a:p>
          <a:endParaRPr lang="en-US"/>
        </a:p>
      </dgm:t>
    </dgm:pt>
    <dgm:pt modelId="{383233A6-41F7-425B-9E38-97D61467155B}" type="sibTrans" cxnId="{02E93C4E-5EA9-40E3-9421-4CE94E4CB17D}">
      <dgm:prSet/>
      <dgm:spPr/>
      <dgm:t>
        <a:bodyPr/>
        <a:lstStyle/>
        <a:p>
          <a:endParaRPr lang="en-US"/>
        </a:p>
      </dgm:t>
    </dgm:pt>
    <dgm:pt modelId="{93A73235-452D-4755-9167-21C6DC05BD96}">
      <dgm:prSet phldrT="[Text]" custT="1"/>
      <dgm:spPr/>
      <dgm:t>
        <a:bodyPr/>
        <a:lstStyle/>
        <a:p>
          <a:r>
            <a:rPr lang="en-US" sz="1400">
              <a:solidFill>
                <a:schemeClr val="tx1"/>
              </a:solidFill>
              <a:ea typeface="Segoe UI" pitchFamily="34" charset="0"/>
              <a:cs typeface="Segoe UI" pitchFamily="34" charset="0"/>
            </a:rPr>
            <a:t>Deploy Chosen Model</a:t>
          </a:r>
          <a:endParaRPr lang="en-US" sz="1400"/>
        </a:p>
      </dgm:t>
    </dgm:pt>
    <dgm:pt modelId="{6FD1930D-FCBE-4E51-8992-22D8C2281C9C}" type="parTrans" cxnId="{E874C4A7-C0DD-47AC-BD74-5D3988D3161B}">
      <dgm:prSet/>
      <dgm:spPr/>
      <dgm:t>
        <a:bodyPr/>
        <a:lstStyle/>
        <a:p>
          <a:endParaRPr lang="en-US"/>
        </a:p>
      </dgm:t>
    </dgm:pt>
    <dgm:pt modelId="{79AB05BB-CB69-4A1D-A9AA-6B0F9175D510}" type="sibTrans" cxnId="{E874C4A7-C0DD-47AC-BD74-5D3988D3161B}">
      <dgm:prSet/>
      <dgm:spPr/>
      <dgm:t>
        <a:bodyPr/>
        <a:lstStyle/>
        <a:p>
          <a:endParaRPr lang="en-US"/>
        </a:p>
      </dgm:t>
    </dgm:pt>
    <dgm:pt modelId="{6BA2BC78-9853-4614-8D1C-5FC8359B044E}">
      <dgm:prSet custT="1"/>
      <dgm:spPr/>
      <dgm:t>
        <a:bodyPr/>
        <a:lstStyle/>
        <a:p>
          <a:r>
            <a:rPr lang="en-US" sz="1400">
              <a:solidFill>
                <a:schemeClr val="tx1"/>
              </a:solidFill>
              <a:ea typeface="Segoe UI" pitchFamily="34" charset="0"/>
              <a:cs typeface="Segoe UI" pitchFamily="34" charset="0"/>
            </a:rPr>
            <a:t>Apply preprocessing</a:t>
          </a:r>
        </a:p>
      </dgm:t>
    </dgm:pt>
    <dgm:pt modelId="{3F07CED8-E68D-4008-B031-D886204D8913}" type="parTrans" cxnId="{84E08C76-6CC2-4F83-B2E2-4F9B2F628945}">
      <dgm:prSet/>
      <dgm:spPr/>
      <dgm:t>
        <a:bodyPr/>
        <a:lstStyle/>
        <a:p>
          <a:endParaRPr lang="en-US"/>
        </a:p>
      </dgm:t>
    </dgm:pt>
    <dgm:pt modelId="{ABADD4C4-7430-4F3D-8324-19ED0FF421D5}" type="sibTrans" cxnId="{84E08C76-6CC2-4F83-B2E2-4F9B2F628945}">
      <dgm:prSet/>
      <dgm:spPr/>
      <dgm:t>
        <a:bodyPr/>
        <a:lstStyle/>
        <a:p>
          <a:endParaRPr lang="en-US"/>
        </a:p>
      </dgm:t>
    </dgm:pt>
    <dgm:pt modelId="{E683A72E-7508-4D3C-8D21-5E09E70F75D1}">
      <dgm:prSet custT="1"/>
      <dgm:spPr/>
      <dgm:t>
        <a:bodyPr/>
        <a:lstStyle/>
        <a:p>
          <a:r>
            <a:rPr lang="en-US" sz="1400">
              <a:solidFill>
                <a:schemeClr val="tx1"/>
              </a:solidFill>
              <a:ea typeface="Segoe UI" pitchFamily="34" charset="0"/>
              <a:cs typeface="Segoe UI" pitchFamily="34" charset="0"/>
            </a:rPr>
            <a:t>Select Candidate model</a:t>
          </a:r>
        </a:p>
      </dgm:t>
    </dgm:pt>
    <dgm:pt modelId="{02C080B4-800E-417A-96E8-2D94393DC1E7}" type="parTrans" cxnId="{4EF9A1E3-EB9E-40D7-9C84-E8DADE2EB4A0}">
      <dgm:prSet/>
      <dgm:spPr/>
      <dgm:t>
        <a:bodyPr/>
        <a:lstStyle/>
        <a:p>
          <a:endParaRPr lang="en-US"/>
        </a:p>
      </dgm:t>
    </dgm:pt>
    <dgm:pt modelId="{3219B3CB-E31E-457C-A2E4-F2C00852B7A5}" type="sibTrans" cxnId="{4EF9A1E3-EB9E-40D7-9C84-E8DADE2EB4A0}">
      <dgm:prSet/>
      <dgm:spPr/>
      <dgm:t>
        <a:bodyPr/>
        <a:lstStyle/>
        <a:p>
          <a:endParaRPr lang="en-US"/>
        </a:p>
      </dgm:t>
    </dgm:pt>
    <dgm:pt modelId="{4F24CB7D-F323-47C2-94C3-91CBF39CF6D6}">
      <dgm:prSet custT="1"/>
      <dgm:spPr/>
      <dgm:t>
        <a:bodyPr/>
        <a:lstStyle/>
        <a:p>
          <a:r>
            <a:rPr lang="en-US" sz="1400">
              <a:solidFill>
                <a:schemeClr val="tx1"/>
              </a:solidFill>
              <a:ea typeface="Segoe UI" pitchFamily="34" charset="0"/>
              <a:cs typeface="Segoe UI" pitchFamily="34" charset="0"/>
            </a:rPr>
            <a:t>Select </a:t>
          </a:r>
          <a:r>
            <a:rPr lang="en-US" sz="1400" i="1">
              <a:solidFill>
                <a:schemeClr val="tx1"/>
              </a:solidFill>
              <a:ea typeface="Segoe UI" pitchFamily="34" charset="0"/>
              <a:cs typeface="Segoe UI" pitchFamily="34" charset="0"/>
            </a:rPr>
            <a:t>good enough </a:t>
          </a:r>
          <a:r>
            <a:rPr lang="en-US" sz="1400">
              <a:solidFill>
                <a:schemeClr val="tx1"/>
              </a:solidFill>
              <a:ea typeface="Segoe UI" pitchFamily="34" charset="0"/>
              <a:cs typeface="Segoe UI" pitchFamily="34" charset="0"/>
            </a:rPr>
            <a:t>model</a:t>
          </a:r>
        </a:p>
      </dgm:t>
    </dgm:pt>
    <dgm:pt modelId="{B31360F8-1556-4AC5-A1D9-AB01A0C629D5}" type="parTrans" cxnId="{6A500C32-A666-43A9-B133-0C3F76B9AAF7}">
      <dgm:prSet/>
      <dgm:spPr/>
      <dgm:t>
        <a:bodyPr/>
        <a:lstStyle/>
        <a:p>
          <a:endParaRPr lang="en-US"/>
        </a:p>
      </dgm:t>
    </dgm:pt>
    <dgm:pt modelId="{5BEB2981-6B94-493A-AC83-2B5B6FB77B85}" type="sibTrans" cxnId="{6A500C32-A666-43A9-B133-0C3F76B9AAF7}">
      <dgm:prSet/>
      <dgm:spPr/>
      <dgm:t>
        <a:bodyPr/>
        <a:lstStyle/>
        <a:p>
          <a:endParaRPr lang="en-US"/>
        </a:p>
      </dgm:t>
    </dgm:pt>
    <dgm:pt modelId="{172E24B1-6715-4535-B7FB-6E2C4C0AB41A}">
      <dgm:prSet custT="1"/>
      <dgm:spPr/>
      <dgm:t>
        <a:bodyPr/>
        <a:lstStyle/>
        <a:p>
          <a:r>
            <a:rPr lang="en-US" sz="1400">
              <a:solidFill>
                <a:schemeClr val="tx1"/>
              </a:solidFill>
              <a:ea typeface="Segoe UI" pitchFamily="34" charset="0"/>
              <a:cs typeface="Segoe UI" pitchFamily="34" charset="0"/>
            </a:rPr>
            <a:t>Application posts to API</a:t>
          </a:r>
        </a:p>
      </dgm:t>
    </dgm:pt>
    <dgm:pt modelId="{96168450-07A8-47BB-9142-441490F9A112}" type="parTrans" cxnId="{BEE286CF-9C9A-426C-B053-E545564FBF63}">
      <dgm:prSet/>
      <dgm:spPr/>
      <dgm:t>
        <a:bodyPr/>
        <a:lstStyle/>
        <a:p>
          <a:endParaRPr lang="en-US"/>
        </a:p>
      </dgm:t>
    </dgm:pt>
    <dgm:pt modelId="{FF95328E-9768-456D-8CEC-B56AD1253936}" type="sibTrans" cxnId="{BEE286CF-9C9A-426C-B053-E545564FBF63}">
      <dgm:prSet/>
      <dgm:spPr/>
      <dgm:t>
        <a:bodyPr/>
        <a:lstStyle/>
        <a:p>
          <a:endParaRPr lang="en-US"/>
        </a:p>
      </dgm:t>
    </dgm:pt>
    <dgm:pt modelId="{C1356CD1-D817-44BF-BCC9-DE04B09851CF}" type="pres">
      <dgm:prSet presAssocID="{75F7D068-C429-406A-A4E3-0166C86D186E}" presName="cycleMatrixDiagram" presStyleCnt="0">
        <dgm:presLayoutVars>
          <dgm:chMax val="1"/>
          <dgm:dir/>
          <dgm:animLvl val="lvl"/>
          <dgm:resizeHandles val="exact"/>
        </dgm:presLayoutVars>
      </dgm:prSet>
      <dgm:spPr/>
    </dgm:pt>
    <dgm:pt modelId="{2374EDD3-FC10-491C-8493-05FC82E62645}" type="pres">
      <dgm:prSet presAssocID="{75F7D068-C429-406A-A4E3-0166C86D186E}" presName="children" presStyleCnt="0"/>
      <dgm:spPr/>
    </dgm:pt>
    <dgm:pt modelId="{272608FC-F3EB-4F7C-82D3-C0CF869717C5}" type="pres">
      <dgm:prSet presAssocID="{75F7D068-C429-406A-A4E3-0166C86D186E}" presName="child1group" presStyleCnt="0"/>
      <dgm:spPr/>
    </dgm:pt>
    <dgm:pt modelId="{68BBFF91-AE0A-49A1-AEB9-363510D7FD39}" type="pres">
      <dgm:prSet presAssocID="{75F7D068-C429-406A-A4E3-0166C86D186E}" presName="child1" presStyleLbl="bgAcc1" presStyleIdx="0" presStyleCnt="4"/>
      <dgm:spPr/>
    </dgm:pt>
    <dgm:pt modelId="{B2AA7553-D5E1-4402-BAB4-0CB963847FD6}" type="pres">
      <dgm:prSet presAssocID="{75F7D068-C429-406A-A4E3-0166C86D186E}" presName="child1Text" presStyleLbl="bgAcc1" presStyleIdx="0" presStyleCnt="4">
        <dgm:presLayoutVars>
          <dgm:bulletEnabled val="1"/>
        </dgm:presLayoutVars>
      </dgm:prSet>
      <dgm:spPr/>
    </dgm:pt>
    <dgm:pt modelId="{200AAB4D-9477-4C54-9415-6EB42E40C47A}" type="pres">
      <dgm:prSet presAssocID="{75F7D068-C429-406A-A4E3-0166C86D186E}" presName="child2group" presStyleCnt="0"/>
      <dgm:spPr/>
    </dgm:pt>
    <dgm:pt modelId="{BB23BBC5-2295-4188-948D-669AC55DE16E}" type="pres">
      <dgm:prSet presAssocID="{75F7D068-C429-406A-A4E3-0166C86D186E}" presName="child2" presStyleLbl="bgAcc1" presStyleIdx="1" presStyleCnt="4"/>
      <dgm:spPr/>
    </dgm:pt>
    <dgm:pt modelId="{565008ED-7D23-4CC7-A014-59EA577D7E80}" type="pres">
      <dgm:prSet presAssocID="{75F7D068-C429-406A-A4E3-0166C86D186E}" presName="child2Text" presStyleLbl="bgAcc1" presStyleIdx="1" presStyleCnt="4">
        <dgm:presLayoutVars>
          <dgm:bulletEnabled val="1"/>
        </dgm:presLayoutVars>
      </dgm:prSet>
      <dgm:spPr/>
    </dgm:pt>
    <dgm:pt modelId="{F69BCEC7-F1C6-4513-A366-E91737778044}" type="pres">
      <dgm:prSet presAssocID="{75F7D068-C429-406A-A4E3-0166C86D186E}" presName="child3group" presStyleCnt="0"/>
      <dgm:spPr/>
    </dgm:pt>
    <dgm:pt modelId="{50DC191F-1931-460F-BA3E-2759EF212924}" type="pres">
      <dgm:prSet presAssocID="{75F7D068-C429-406A-A4E3-0166C86D186E}" presName="child3" presStyleLbl="bgAcc1" presStyleIdx="2" presStyleCnt="4" custLinFactNeighborX="3828"/>
      <dgm:spPr/>
    </dgm:pt>
    <dgm:pt modelId="{69A7E03E-2F36-4F0C-852B-E1B66BD09319}" type="pres">
      <dgm:prSet presAssocID="{75F7D068-C429-406A-A4E3-0166C86D186E}" presName="child3Text" presStyleLbl="bgAcc1" presStyleIdx="2" presStyleCnt="4">
        <dgm:presLayoutVars>
          <dgm:bulletEnabled val="1"/>
        </dgm:presLayoutVars>
      </dgm:prSet>
      <dgm:spPr/>
    </dgm:pt>
    <dgm:pt modelId="{452B5258-A452-4781-9046-CF80C3B0E4E6}" type="pres">
      <dgm:prSet presAssocID="{75F7D068-C429-406A-A4E3-0166C86D186E}" presName="child4group" presStyleCnt="0"/>
      <dgm:spPr/>
    </dgm:pt>
    <dgm:pt modelId="{8686AA24-1B54-4BCE-BB90-F5BD8DB4FE97}" type="pres">
      <dgm:prSet presAssocID="{75F7D068-C429-406A-A4E3-0166C86D186E}" presName="child4" presStyleLbl="bgAcc1" presStyleIdx="3" presStyleCnt="4"/>
      <dgm:spPr/>
    </dgm:pt>
    <dgm:pt modelId="{C23B8AA5-2901-432F-9A4E-87B0DF669E19}" type="pres">
      <dgm:prSet presAssocID="{75F7D068-C429-406A-A4E3-0166C86D186E}" presName="child4Text" presStyleLbl="bgAcc1" presStyleIdx="3" presStyleCnt="4">
        <dgm:presLayoutVars>
          <dgm:bulletEnabled val="1"/>
        </dgm:presLayoutVars>
      </dgm:prSet>
      <dgm:spPr/>
    </dgm:pt>
    <dgm:pt modelId="{8E1FF6D1-5A1F-4E54-B9C0-33E20BEBBB22}" type="pres">
      <dgm:prSet presAssocID="{75F7D068-C429-406A-A4E3-0166C86D186E}" presName="childPlaceholder" presStyleCnt="0"/>
      <dgm:spPr/>
    </dgm:pt>
    <dgm:pt modelId="{26AD2435-F761-4803-ACB5-791A4005E757}" type="pres">
      <dgm:prSet presAssocID="{75F7D068-C429-406A-A4E3-0166C86D186E}" presName="circle" presStyleCnt="0"/>
      <dgm:spPr/>
    </dgm:pt>
    <dgm:pt modelId="{3ACF0A57-6938-4580-9A9C-15D3A0F21010}" type="pres">
      <dgm:prSet presAssocID="{75F7D068-C429-406A-A4E3-0166C86D186E}" presName="quadrant1" presStyleLbl="node1" presStyleIdx="0" presStyleCnt="4">
        <dgm:presLayoutVars>
          <dgm:chMax val="1"/>
          <dgm:bulletEnabled val="1"/>
        </dgm:presLayoutVars>
      </dgm:prSet>
      <dgm:spPr/>
    </dgm:pt>
    <dgm:pt modelId="{3449A328-CC52-4353-A457-ABF2B127EFDA}" type="pres">
      <dgm:prSet presAssocID="{75F7D068-C429-406A-A4E3-0166C86D186E}" presName="quadrant2" presStyleLbl="node1" presStyleIdx="1" presStyleCnt="4">
        <dgm:presLayoutVars>
          <dgm:chMax val="1"/>
          <dgm:bulletEnabled val="1"/>
        </dgm:presLayoutVars>
      </dgm:prSet>
      <dgm:spPr/>
    </dgm:pt>
    <dgm:pt modelId="{055E4F98-49A7-4D2E-BF4D-114FECD5E2AD}" type="pres">
      <dgm:prSet presAssocID="{75F7D068-C429-406A-A4E3-0166C86D186E}" presName="quadrant3" presStyleLbl="node1" presStyleIdx="2" presStyleCnt="4">
        <dgm:presLayoutVars>
          <dgm:chMax val="1"/>
          <dgm:bulletEnabled val="1"/>
        </dgm:presLayoutVars>
      </dgm:prSet>
      <dgm:spPr/>
    </dgm:pt>
    <dgm:pt modelId="{E2211DA3-02A2-419B-9C99-835A77C4156A}" type="pres">
      <dgm:prSet presAssocID="{75F7D068-C429-406A-A4E3-0166C86D186E}" presName="quadrant4" presStyleLbl="node1" presStyleIdx="3" presStyleCnt="4">
        <dgm:presLayoutVars>
          <dgm:chMax val="1"/>
          <dgm:bulletEnabled val="1"/>
        </dgm:presLayoutVars>
      </dgm:prSet>
      <dgm:spPr/>
    </dgm:pt>
    <dgm:pt modelId="{87152C53-603B-4E4A-A8F3-9DA2BAAA5DDB}" type="pres">
      <dgm:prSet presAssocID="{75F7D068-C429-406A-A4E3-0166C86D186E}" presName="quadrantPlaceholder" presStyleCnt="0"/>
      <dgm:spPr/>
    </dgm:pt>
    <dgm:pt modelId="{A92BFFE7-4781-4543-AFC4-FE38D2DC9626}" type="pres">
      <dgm:prSet presAssocID="{75F7D068-C429-406A-A4E3-0166C86D186E}" presName="center1" presStyleLbl="fgShp" presStyleIdx="0" presStyleCnt="2"/>
      <dgm:spPr/>
    </dgm:pt>
    <dgm:pt modelId="{514450A2-3779-4B8A-A7F4-2E5720C6CDBD}" type="pres">
      <dgm:prSet presAssocID="{75F7D068-C429-406A-A4E3-0166C86D186E}" presName="center2" presStyleLbl="fgShp" presStyleIdx="1" presStyleCnt="2"/>
      <dgm:spPr/>
    </dgm:pt>
  </dgm:ptLst>
  <dgm:cxnLst>
    <dgm:cxn modelId="{8A19ED01-4963-4596-A4BB-457F030DC918}" type="presOf" srcId="{1E9CD4DC-743F-4B9D-8D89-1F427D554487}" destId="{BB23BBC5-2295-4188-948D-669AC55DE16E}" srcOrd="0" destOrd="0" presId="urn:microsoft.com/office/officeart/2005/8/layout/cycle4"/>
    <dgm:cxn modelId="{925B7A16-0725-4173-81AB-63A101C42379}" type="presOf" srcId="{E683A72E-7508-4D3C-8D21-5E09E70F75D1}" destId="{BB23BBC5-2295-4188-948D-669AC55DE16E}" srcOrd="0" destOrd="1" presId="urn:microsoft.com/office/officeart/2005/8/layout/cycle4"/>
    <dgm:cxn modelId="{6437B21D-D53B-46BA-BC75-A3703A6C6250}" type="presOf" srcId="{ACA0318A-9782-46B3-A472-08AB3CDE3AD8}" destId="{68BBFF91-AE0A-49A1-AEB9-363510D7FD39}" srcOrd="0" destOrd="0" presId="urn:microsoft.com/office/officeart/2005/8/layout/cycle4"/>
    <dgm:cxn modelId="{B2EBD629-F4D4-4F70-9199-8E62FB65468B}" type="presOf" srcId="{C7F508A9-3E4C-4BA3-B36E-AE072692A689}" destId="{50DC191F-1931-460F-BA3E-2759EF212924}" srcOrd="0" destOrd="0" presId="urn:microsoft.com/office/officeart/2005/8/layout/cycle4"/>
    <dgm:cxn modelId="{3B274C30-E892-42CD-87DC-837070E953A5}" type="presOf" srcId="{93A73235-452D-4755-9167-21C6DC05BD96}" destId="{C23B8AA5-2901-432F-9A4E-87B0DF669E19}" srcOrd="1" destOrd="0" presId="urn:microsoft.com/office/officeart/2005/8/layout/cycle4"/>
    <dgm:cxn modelId="{6A500C32-A666-43A9-B133-0C3F76B9AAF7}" srcId="{5DA9CFC3-A0B7-4851-AADC-A360D403E162}" destId="{4F24CB7D-F323-47C2-94C3-91CBF39CF6D6}" srcOrd="1" destOrd="0" parTransId="{B31360F8-1556-4AC5-A1D9-AB01A0C629D5}" sibTransId="{5BEB2981-6B94-493A-AC83-2B5B6FB77B85}"/>
    <dgm:cxn modelId="{BE176932-B6D1-4B7F-9CA3-A6287C08EF38}" type="presOf" srcId="{93A73235-452D-4755-9167-21C6DC05BD96}" destId="{8686AA24-1B54-4BCE-BB90-F5BD8DB4FE97}" srcOrd="0" destOrd="0" presId="urn:microsoft.com/office/officeart/2005/8/layout/cycle4"/>
    <dgm:cxn modelId="{6EC27D32-9DE4-4F5B-8AFA-7964295E1BAD}" type="presOf" srcId="{4F24CB7D-F323-47C2-94C3-91CBF39CF6D6}" destId="{69A7E03E-2F36-4F0C-852B-E1B66BD09319}" srcOrd="1" destOrd="1" presId="urn:microsoft.com/office/officeart/2005/8/layout/cycle4"/>
    <dgm:cxn modelId="{BE396C40-E515-4C28-BE44-4BDBA73C1718}" type="presOf" srcId="{75F7D068-C429-406A-A4E3-0166C86D186E}" destId="{C1356CD1-D817-44BF-BCC9-DE04B09851CF}" srcOrd="0" destOrd="0" presId="urn:microsoft.com/office/officeart/2005/8/layout/cycle4"/>
    <dgm:cxn modelId="{02E93C4E-5EA9-40E3-9421-4CE94E4CB17D}" srcId="{75F7D068-C429-406A-A4E3-0166C86D186E}" destId="{49CB4A35-FC75-4864-A956-87C3A6776E00}" srcOrd="3" destOrd="0" parTransId="{0FAE57A4-53BA-46CC-8051-86021201237D}" sibTransId="{383233A6-41F7-425B-9E38-97D61467155B}"/>
    <dgm:cxn modelId="{7F77E358-AAC7-4A86-A295-D691859F3BA7}" srcId="{0EC6C918-B1DA-4CD4-B815-E1F9B4727F8F}" destId="{ACA0318A-9782-46B3-A472-08AB3CDE3AD8}" srcOrd="0" destOrd="0" parTransId="{EDE58447-6458-4058-B2C8-07F11058F026}" sibTransId="{3CBEBB76-7EAC-4F97-AA42-409F30A81C25}"/>
    <dgm:cxn modelId="{F4B6C06C-7378-462D-B61A-AAB7F8B27A36}" type="presOf" srcId="{172E24B1-6715-4535-B7FB-6E2C4C0AB41A}" destId="{8686AA24-1B54-4BCE-BB90-F5BD8DB4FE97}" srcOrd="0" destOrd="1" presId="urn:microsoft.com/office/officeart/2005/8/layout/cycle4"/>
    <dgm:cxn modelId="{84E08C76-6CC2-4F83-B2E2-4F9B2F628945}" srcId="{0EC6C918-B1DA-4CD4-B815-E1F9B4727F8F}" destId="{6BA2BC78-9853-4614-8D1C-5FC8359B044E}" srcOrd="1" destOrd="0" parTransId="{3F07CED8-E68D-4008-B031-D886204D8913}" sibTransId="{ABADD4C4-7430-4F3D-8324-19ED0FF421D5}"/>
    <dgm:cxn modelId="{C287398F-72A2-40BA-9A01-5BD4273D2034}" type="presOf" srcId="{ACA0318A-9782-46B3-A472-08AB3CDE3AD8}" destId="{B2AA7553-D5E1-4402-BAB4-0CB963847FD6}" srcOrd="1" destOrd="0" presId="urn:microsoft.com/office/officeart/2005/8/layout/cycle4"/>
    <dgm:cxn modelId="{6CFFA394-CD0F-4BC4-A5B3-9FBC49BA3AAA}" type="presOf" srcId="{6BA2BC78-9853-4614-8D1C-5FC8359B044E}" destId="{B2AA7553-D5E1-4402-BAB4-0CB963847FD6}" srcOrd="1" destOrd="1" presId="urn:microsoft.com/office/officeart/2005/8/layout/cycle4"/>
    <dgm:cxn modelId="{B9F65497-6F4D-4B72-BEF1-D6A4BA83E9F2}" type="presOf" srcId="{1E9CD4DC-743F-4B9D-8D89-1F427D554487}" destId="{565008ED-7D23-4CC7-A014-59EA577D7E80}" srcOrd="1" destOrd="0" presId="urn:microsoft.com/office/officeart/2005/8/layout/cycle4"/>
    <dgm:cxn modelId="{E327EE9F-DDBF-4255-B0BE-2BE44965687A}" type="presOf" srcId="{E683A72E-7508-4D3C-8D21-5E09E70F75D1}" destId="{565008ED-7D23-4CC7-A014-59EA577D7E80}" srcOrd="1" destOrd="1" presId="urn:microsoft.com/office/officeart/2005/8/layout/cycle4"/>
    <dgm:cxn modelId="{E874C4A7-C0DD-47AC-BD74-5D3988D3161B}" srcId="{49CB4A35-FC75-4864-A956-87C3A6776E00}" destId="{93A73235-452D-4755-9167-21C6DC05BD96}" srcOrd="0" destOrd="0" parTransId="{6FD1930D-FCBE-4E51-8992-22D8C2281C9C}" sibTransId="{79AB05BB-CB69-4A1D-A9AA-6B0F9175D510}"/>
    <dgm:cxn modelId="{354D96A8-74E3-426C-80BE-9565EFA7EA6F}" srcId="{75F7D068-C429-406A-A4E3-0166C86D186E}" destId="{0EC6C918-B1DA-4CD4-B815-E1F9B4727F8F}" srcOrd="0" destOrd="0" parTransId="{0C0E213D-F8AC-4FB7-86EA-D76ABAC4D290}" sibTransId="{981B7A97-5FAA-431C-92A0-962FF7117A76}"/>
    <dgm:cxn modelId="{E77863BA-DFD6-4555-B32F-F4201AABF85A}" type="presOf" srcId="{5DA9CFC3-A0B7-4851-AADC-A360D403E162}" destId="{055E4F98-49A7-4D2E-BF4D-114FECD5E2AD}" srcOrd="0" destOrd="0" presId="urn:microsoft.com/office/officeart/2005/8/layout/cycle4"/>
    <dgm:cxn modelId="{3A4D73CD-BBE2-4302-A903-133A10DB336D}" srcId="{E55E2E71-FC4E-456B-BE21-945131F34030}" destId="{1E9CD4DC-743F-4B9D-8D89-1F427D554487}" srcOrd="0" destOrd="0" parTransId="{88E47B0D-F1B8-444F-95CC-01C145723F0F}" sibTransId="{F0DCA57D-F214-40CB-9F11-6D9DDCB0CB5D}"/>
    <dgm:cxn modelId="{BEE286CF-9C9A-426C-B053-E545564FBF63}" srcId="{49CB4A35-FC75-4864-A956-87C3A6776E00}" destId="{172E24B1-6715-4535-B7FB-6E2C4C0AB41A}" srcOrd="1" destOrd="0" parTransId="{96168450-07A8-47BB-9142-441490F9A112}" sibTransId="{FF95328E-9768-456D-8CEC-B56AD1253936}"/>
    <dgm:cxn modelId="{E72DB5CF-8966-4CE6-A987-828A6C7A4B7B}" type="presOf" srcId="{C7F508A9-3E4C-4BA3-B36E-AE072692A689}" destId="{69A7E03E-2F36-4F0C-852B-E1B66BD09319}" srcOrd="1" destOrd="0" presId="urn:microsoft.com/office/officeart/2005/8/layout/cycle4"/>
    <dgm:cxn modelId="{959FB3D0-7AC0-48F2-A8F8-FC167FD3641B}" type="presOf" srcId="{6BA2BC78-9853-4614-8D1C-5FC8359B044E}" destId="{68BBFF91-AE0A-49A1-AEB9-363510D7FD39}" srcOrd="0" destOrd="1" presId="urn:microsoft.com/office/officeart/2005/8/layout/cycle4"/>
    <dgm:cxn modelId="{4EF9A1E3-EB9E-40D7-9C84-E8DADE2EB4A0}" srcId="{E55E2E71-FC4E-456B-BE21-945131F34030}" destId="{E683A72E-7508-4D3C-8D21-5E09E70F75D1}" srcOrd="1" destOrd="0" parTransId="{02C080B4-800E-417A-96E8-2D94393DC1E7}" sibTransId="{3219B3CB-E31E-457C-A2E4-F2C00852B7A5}"/>
    <dgm:cxn modelId="{C9A5C2E4-8D22-4D3A-B9EC-55A2BB7EF4E4}" srcId="{75F7D068-C429-406A-A4E3-0166C86D186E}" destId="{5DA9CFC3-A0B7-4851-AADC-A360D403E162}" srcOrd="2" destOrd="0" parTransId="{7263FD18-ED1A-482A-867F-2B47516B9737}" sibTransId="{AFB27FB3-DD51-4370-BA3A-A0692DECF9B0}"/>
    <dgm:cxn modelId="{638C92EA-B569-4960-A625-0E4FFD566AFD}" type="presOf" srcId="{49CB4A35-FC75-4864-A956-87C3A6776E00}" destId="{E2211DA3-02A2-419B-9C99-835A77C4156A}" srcOrd="0" destOrd="0" presId="urn:microsoft.com/office/officeart/2005/8/layout/cycle4"/>
    <dgm:cxn modelId="{A8D30EEC-BD0F-431B-9F75-2D5F06337481}" srcId="{5DA9CFC3-A0B7-4851-AADC-A360D403E162}" destId="{C7F508A9-3E4C-4BA3-B36E-AE072692A689}" srcOrd="0" destOrd="0" parTransId="{E23841EC-F8C3-4DAA-8706-03D13F18E3C9}" sibTransId="{F2283369-1B4D-4696-937A-ED144E1007AC}"/>
    <dgm:cxn modelId="{8EF220F0-030F-4F8D-A373-FC8473F8BB09}" type="presOf" srcId="{172E24B1-6715-4535-B7FB-6E2C4C0AB41A}" destId="{C23B8AA5-2901-432F-9A4E-87B0DF669E19}" srcOrd="1" destOrd="1" presId="urn:microsoft.com/office/officeart/2005/8/layout/cycle4"/>
    <dgm:cxn modelId="{2B70F3F0-02E6-4984-AA92-670FD00ECA69}" type="presOf" srcId="{0EC6C918-B1DA-4CD4-B815-E1F9B4727F8F}" destId="{3ACF0A57-6938-4580-9A9C-15D3A0F21010}" srcOrd="0" destOrd="0" presId="urn:microsoft.com/office/officeart/2005/8/layout/cycle4"/>
    <dgm:cxn modelId="{579AFFF7-9AA4-468A-A424-BEEF7B2F614B}" srcId="{75F7D068-C429-406A-A4E3-0166C86D186E}" destId="{E55E2E71-FC4E-456B-BE21-945131F34030}" srcOrd="1" destOrd="0" parTransId="{5748B2BB-1E70-4943-A6D5-C231AEA69CA8}" sibTransId="{9A646C52-E2CE-4E33-ACE0-C94D05D1BCE4}"/>
    <dgm:cxn modelId="{CBB0E0F9-923C-468C-92AC-6C9E53539C2C}" type="presOf" srcId="{4F24CB7D-F323-47C2-94C3-91CBF39CF6D6}" destId="{50DC191F-1931-460F-BA3E-2759EF212924}" srcOrd="0" destOrd="1" presId="urn:microsoft.com/office/officeart/2005/8/layout/cycle4"/>
    <dgm:cxn modelId="{B6A446FD-F3A4-4AF8-862E-42D40DB6970D}" type="presOf" srcId="{E55E2E71-FC4E-456B-BE21-945131F34030}" destId="{3449A328-CC52-4353-A457-ABF2B127EFDA}" srcOrd="0" destOrd="0" presId="urn:microsoft.com/office/officeart/2005/8/layout/cycle4"/>
    <dgm:cxn modelId="{24D31F76-FCE5-4E7B-A951-577F082E34E7}" type="presParOf" srcId="{C1356CD1-D817-44BF-BCC9-DE04B09851CF}" destId="{2374EDD3-FC10-491C-8493-05FC82E62645}" srcOrd="0" destOrd="0" presId="urn:microsoft.com/office/officeart/2005/8/layout/cycle4"/>
    <dgm:cxn modelId="{8999682B-8BE8-4BE1-A04F-0040FBD5735C}" type="presParOf" srcId="{2374EDD3-FC10-491C-8493-05FC82E62645}" destId="{272608FC-F3EB-4F7C-82D3-C0CF869717C5}" srcOrd="0" destOrd="0" presId="urn:microsoft.com/office/officeart/2005/8/layout/cycle4"/>
    <dgm:cxn modelId="{E17CF90C-B14D-452A-9459-055F954FC138}" type="presParOf" srcId="{272608FC-F3EB-4F7C-82D3-C0CF869717C5}" destId="{68BBFF91-AE0A-49A1-AEB9-363510D7FD39}" srcOrd="0" destOrd="0" presId="urn:microsoft.com/office/officeart/2005/8/layout/cycle4"/>
    <dgm:cxn modelId="{AD2BD107-95C4-4FEF-93D7-2F11A8FFBB44}" type="presParOf" srcId="{272608FC-F3EB-4F7C-82D3-C0CF869717C5}" destId="{B2AA7553-D5E1-4402-BAB4-0CB963847FD6}" srcOrd="1" destOrd="0" presId="urn:microsoft.com/office/officeart/2005/8/layout/cycle4"/>
    <dgm:cxn modelId="{0B7CE17D-7514-416A-8A6C-58B231BD25E3}" type="presParOf" srcId="{2374EDD3-FC10-491C-8493-05FC82E62645}" destId="{200AAB4D-9477-4C54-9415-6EB42E40C47A}" srcOrd="1" destOrd="0" presId="urn:microsoft.com/office/officeart/2005/8/layout/cycle4"/>
    <dgm:cxn modelId="{0A3A5E65-E0CC-4531-A4F6-4086D4C789EC}" type="presParOf" srcId="{200AAB4D-9477-4C54-9415-6EB42E40C47A}" destId="{BB23BBC5-2295-4188-948D-669AC55DE16E}" srcOrd="0" destOrd="0" presId="urn:microsoft.com/office/officeart/2005/8/layout/cycle4"/>
    <dgm:cxn modelId="{EA24CF54-CB52-4F2F-B695-7A37E5623E69}" type="presParOf" srcId="{200AAB4D-9477-4C54-9415-6EB42E40C47A}" destId="{565008ED-7D23-4CC7-A014-59EA577D7E80}" srcOrd="1" destOrd="0" presId="urn:microsoft.com/office/officeart/2005/8/layout/cycle4"/>
    <dgm:cxn modelId="{FBB078B6-BD2E-42BF-A0EE-C0E557C4D65E}" type="presParOf" srcId="{2374EDD3-FC10-491C-8493-05FC82E62645}" destId="{F69BCEC7-F1C6-4513-A366-E91737778044}" srcOrd="2" destOrd="0" presId="urn:microsoft.com/office/officeart/2005/8/layout/cycle4"/>
    <dgm:cxn modelId="{5B4D5DA6-2BAD-43C9-B33F-A53319B844A6}" type="presParOf" srcId="{F69BCEC7-F1C6-4513-A366-E91737778044}" destId="{50DC191F-1931-460F-BA3E-2759EF212924}" srcOrd="0" destOrd="0" presId="urn:microsoft.com/office/officeart/2005/8/layout/cycle4"/>
    <dgm:cxn modelId="{3F4FAA75-9B3A-4C93-B926-CEF90B4D23E1}" type="presParOf" srcId="{F69BCEC7-F1C6-4513-A366-E91737778044}" destId="{69A7E03E-2F36-4F0C-852B-E1B66BD09319}" srcOrd="1" destOrd="0" presId="urn:microsoft.com/office/officeart/2005/8/layout/cycle4"/>
    <dgm:cxn modelId="{A23FA27D-EBD0-4373-8B8C-803868D04A67}" type="presParOf" srcId="{2374EDD3-FC10-491C-8493-05FC82E62645}" destId="{452B5258-A452-4781-9046-CF80C3B0E4E6}" srcOrd="3" destOrd="0" presId="urn:microsoft.com/office/officeart/2005/8/layout/cycle4"/>
    <dgm:cxn modelId="{EF5BE59B-A015-421E-A2E0-A03F1652A1A3}" type="presParOf" srcId="{452B5258-A452-4781-9046-CF80C3B0E4E6}" destId="{8686AA24-1B54-4BCE-BB90-F5BD8DB4FE97}" srcOrd="0" destOrd="0" presId="urn:microsoft.com/office/officeart/2005/8/layout/cycle4"/>
    <dgm:cxn modelId="{294D4D7F-78F7-465F-B352-71884116F7D6}" type="presParOf" srcId="{452B5258-A452-4781-9046-CF80C3B0E4E6}" destId="{C23B8AA5-2901-432F-9A4E-87B0DF669E19}" srcOrd="1" destOrd="0" presId="urn:microsoft.com/office/officeart/2005/8/layout/cycle4"/>
    <dgm:cxn modelId="{BE21D7D9-F61C-4DFB-A903-16F28BE64D8F}" type="presParOf" srcId="{2374EDD3-FC10-491C-8493-05FC82E62645}" destId="{8E1FF6D1-5A1F-4E54-B9C0-33E20BEBBB22}" srcOrd="4" destOrd="0" presId="urn:microsoft.com/office/officeart/2005/8/layout/cycle4"/>
    <dgm:cxn modelId="{B579AC63-E235-4E8E-8E67-CFB7D77A5FE5}" type="presParOf" srcId="{C1356CD1-D817-44BF-BCC9-DE04B09851CF}" destId="{26AD2435-F761-4803-ACB5-791A4005E757}" srcOrd="1" destOrd="0" presId="urn:microsoft.com/office/officeart/2005/8/layout/cycle4"/>
    <dgm:cxn modelId="{6F02500F-403E-4ACE-ACE7-85FF51AC349A}" type="presParOf" srcId="{26AD2435-F761-4803-ACB5-791A4005E757}" destId="{3ACF0A57-6938-4580-9A9C-15D3A0F21010}" srcOrd="0" destOrd="0" presId="urn:microsoft.com/office/officeart/2005/8/layout/cycle4"/>
    <dgm:cxn modelId="{E51B3911-586F-4BFC-A5B4-6BCC88544A8B}" type="presParOf" srcId="{26AD2435-F761-4803-ACB5-791A4005E757}" destId="{3449A328-CC52-4353-A457-ABF2B127EFDA}" srcOrd="1" destOrd="0" presId="urn:microsoft.com/office/officeart/2005/8/layout/cycle4"/>
    <dgm:cxn modelId="{B6557836-7F4B-4422-AF08-F77EE8C6B53E}" type="presParOf" srcId="{26AD2435-F761-4803-ACB5-791A4005E757}" destId="{055E4F98-49A7-4D2E-BF4D-114FECD5E2AD}" srcOrd="2" destOrd="0" presId="urn:microsoft.com/office/officeart/2005/8/layout/cycle4"/>
    <dgm:cxn modelId="{0083B398-1B81-4965-9835-8C870375FD5B}" type="presParOf" srcId="{26AD2435-F761-4803-ACB5-791A4005E757}" destId="{E2211DA3-02A2-419B-9C99-835A77C4156A}" srcOrd="3" destOrd="0" presId="urn:microsoft.com/office/officeart/2005/8/layout/cycle4"/>
    <dgm:cxn modelId="{C8D20C57-8C56-46E0-A61D-BED1B49EEAAF}" type="presParOf" srcId="{26AD2435-F761-4803-ACB5-791A4005E757}" destId="{87152C53-603B-4E4A-A8F3-9DA2BAAA5DDB}" srcOrd="4" destOrd="0" presId="urn:microsoft.com/office/officeart/2005/8/layout/cycle4"/>
    <dgm:cxn modelId="{FFCD3867-BB91-4A7D-82E4-D6C3FBD3C30D}" type="presParOf" srcId="{C1356CD1-D817-44BF-BCC9-DE04B09851CF}" destId="{A92BFFE7-4781-4543-AFC4-FE38D2DC9626}" srcOrd="2" destOrd="0" presId="urn:microsoft.com/office/officeart/2005/8/layout/cycle4"/>
    <dgm:cxn modelId="{B3B6DDE6-C98B-4E27-9AB8-71F3B021FA20}" type="presParOf" srcId="{C1356CD1-D817-44BF-BCC9-DE04B09851CF}" destId="{514450A2-3779-4B8A-A7F4-2E5720C6CDBD}" srcOrd="3" destOrd="0" presId="urn:microsoft.com/office/officeart/2005/8/layout/cycle4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50DC191F-1931-460F-BA3E-2759EF212924}">
      <dsp:nvSpPr>
        <dsp:cNvPr id="0" name=""/>
        <dsp:cNvSpPr/>
      </dsp:nvSpPr>
      <dsp:spPr>
        <a:xfrm>
          <a:off x="4152375" y="3215413"/>
          <a:ext cx="2335903" cy="1513136"/>
        </a:xfrm>
        <a:prstGeom prst="roundRect">
          <a:avLst>
            <a:gd name="adj" fmla="val 10000"/>
          </a:avLst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53340" tIns="53340" rIns="53340" bIns="53340" numCol="1" spcCol="1270" anchor="t" anchorCtr="0">
          <a:noAutofit/>
        </a:bodyPr>
        <a:lstStyle/>
        <a:p>
          <a:pPr marL="114300" lvl="1" indent="-114300" algn="l" defTabSz="6223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1400" kern="1200">
              <a:solidFill>
                <a:schemeClr val="tx1"/>
              </a:solidFill>
              <a:ea typeface="Segoe UI" pitchFamily="34" charset="0"/>
              <a:cs typeface="Segoe UI" pitchFamily="34" charset="0"/>
            </a:rPr>
            <a:t>Test Candidate Model with unseen data</a:t>
          </a:r>
          <a:endParaRPr lang="en-US" sz="1400" kern="1200"/>
        </a:p>
        <a:p>
          <a:pPr marL="114300" lvl="1" indent="-114300" algn="l" defTabSz="6223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1400" kern="1200">
              <a:solidFill>
                <a:schemeClr val="tx1"/>
              </a:solidFill>
              <a:ea typeface="Segoe UI" pitchFamily="34" charset="0"/>
              <a:cs typeface="Segoe UI" pitchFamily="34" charset="0"/>
            </a:rPr>
            <a:t>Select </a:t>
          </a:r>
          <a:r>
            <a:rPr lang="en-US" sz="1400" i="1" kern="1200">
              <a:solidFill>
                <a:schemeClr val="tx1"/>
              </a:solidFill>
              <a:ea typeface="Segoe UI" pitchFamily="34" charset="0"/>
              <a:cs typeface="Segoe UI" pitchFamily="34" charset="0"/>
            </a:rPr>
            <a:t>good enough </a:t>
          </a:r>
          <a:r>
            <a:rPr lang="en-US" sz="1400" kern="1200">
              <a:solidFill>
                <a:schemeClr val="tx1"/>
              </a:solidFill>
              <a:ea typeface="Segoe UI" pitchFamily="34" charset="0"/>
              <a:cs typeface="Segoe UI" pitchFamily="34" charset="0"/>
            </a:rPr>
            <a:t>model</a:t>
          </a:r>
        </a:p>
      </dsp:txBody>
      <dsp:txXfrm>
        <a:off x="4886385" y="3626936"/>
        <a:ext cx="1568654" cy="1068374"/>
      </dsp:txXfrm>
    </dsp:sp>
    <dsp:sp modelId="{8686AA24-1B54-4BCE-BB90-F5BD8DB4FE97}">
      <dsp:nvSpPr>
        <dsp:cNvPr id="0" name=""/>
        <dsp:cNvSpPr/>
      </dsp:nvSpPr>
      <dsp:spPr>
        <a:xfrm>
          <a:off x="251745" y="3215413"/>
          <a:ext cx="2335903" cy="1513136"/>
        </a:xfrm>
        <a:prstGeom prst="roundRect">
          <a:avLst>
            <a:gd name="adj" fmla="val 10000"/>
          </a:avLst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53340" tIns="53340" rIns="53340" bIns="53340" numCol="1" spcCol="1270" anchor="t" anchorCtr="0">
          <a:noAutofit/>
        </a:bodyPr>
        <a:lstStyle/>
        <a:p>
          <a:pPr marL="114300" lvl="1" indent="-114300" algn="l" defTabSz="6223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1400" kern="1200">
              <a:solidFill>
                <a:schemeClr val="tx1"/>
              </a:solidFill>
              <a:ea typeface="Segoe UI" pitchFamily="34" charset="0"/>
              <a:cs typeface="Segoe UI" pitchFamily="34" charset="0"/>
            </a:rPr>
            <a:t>Deploy Chosen Model</a:t>
          </a:r>
          <a:endParaRPr lang="en-US" sz="1400" kern="1200"/>
        </a:p>
        <a:p>
          <a:pPr marL="114300" lvl="1" indent="-114300" algn="l" defTabSz="6223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1400" kern="1200">
              <a:solidFill>
                <a:schemeClr val="tx1"/>
              </a:solidFill>
              <a:ea typeface="Segoe UI" pitchFamily="34" charset="0"/>
              <a:cs typeface="Segoe UI" pitchFamily="34" charset="0"/>
            </a:rPr>
            <a:t>Application posts to API</a:t>
          </a:r>
        </a:p>
      </dsp:txBody>
      <dsp:txXfrm>
        <a:off x="284984" y="3626936"/>
        <a:ext cx="1568654" cy="1068374"/>
      </dsp:txXfrm>
    </dsp:sp>
    <dsp:sp modelId="{BB23BBC5-2295-4188-948D-669AC55DE16E}">
      <dsp:nvSpPr>
        <dsp:cNvPr id="0" name=""/>
        <dsp:cNvSpPr/>
      </dsp:nvSpPr>
      <dsp:spPr>
        <a:xfrm>
          <a:off x="4062956" y="0"/>
          <a:ext cx="2335903" cy="1513136"/>
        </a:xfrm>
        <a:prstGeom prst="roundRect">
          <a:avLst>
            <a:gd name="adj" fmla="val 10000"/>
          </a:avLst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53340" tIns="53340" rIns="53340" bIns="53340" numCol="1" spcCol="1270" anchor="t" anchorCtr="0">
          <a:noAutofit/>
        </a:bodyPr>
        <a:lstStyle/>
        <a:p>
          <a:pPr marL="114300" lvl="1" indent="-114300" algn="l" defTabSz="6223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1400" kern="1200">
              <a:solidFill>
                <a:schemeClr val="tx1"/>
              </a:solidFill>
              <a:ea typeface="Segoe UI" pitchFamily="34" charset="0"/>
              <a:cs typeface="Segoe UI" pitchFamily="34" charset="0"/>
            </a:rPr>
            <a:t>Apply learning algorithm</a:t>
          </a:r>
          <a:endParaRPr lang="en-US" sz="1400" kern="1200"/>
        </a:p>
        <a:p>
          <a:pPr marL="114300" lvl="1" indent="-114300" algn="l" defTabSz="6223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1400" kern="1200">
              <a:solidFill>
                <a:schemeClr val="tx1"/>
              </a:solidFill>
              <a:ea typeface="Segoe UI" pitchFamily="34" charset="0"/>
              <a:cs typeface="Segoe UI" pitchFamily="34" charset="0"/>
            </a:rPr>
            <a:t>Select Candidate model</a:t>
          </a:r>
        </a:p>
      </dsp:txBody>
      <dsp:txXfrm>
        <a:off x="4796966" y="33239"/>
        <a:ext cx="1568654" cy="1068374"/>
      </dsp:txXfrm>
    </dsp:sp>
    <dsp:sp modelId="{68BBFF91-AE0A-49A1-AEB9-363510D7FD39}">
      <dsp:nvSpPr>
        <dsp:cNvPr id="0" name=""/>
        <dsp:cNvSpPr/>
      </dsp:nvSpPr>
      <dsp:spPr>
        <a:xfrm>
          <a:off x="251745" y="0"/>
          <a:ext cx="2335903" cy="1513136"/>
        </a:xfrm>
        <a:prstGeom prst="roundRect">
          <a:avLst>
            <a:gd name="adj" fmla="val 10000"/>
          </a:avLst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53340" tIns="53340" rIns="53340" bIns="53340" numCol="1" spcCol="1270" anchor="t" anchorCtr="0">
          <a:noAutofit/>
        </a:bodyPr>
        <a:lstStyle/>
        <a:p>
          <a:pPr marL="114300" lvl="1" indent="-114300" algn="l" defTabSz="6223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1400" kern="1200" dirty="0">
              <a:solidFill>
                <a:schemeClr val="tx1"/>
              </a:solidFill>
              <a:ea typeface="Segoe UI" pitchFamily="34" charset="0"/>
              <a:cs typeface="Segoe UI" pitchFamily="34" charset="0"/>
            </a:rPr>
            <a:t>Find, Select and/or Create Data</a:t>
          </a:r>
          <a:endParaRPr lang="en-US" sz="1400" kern="1200" dirty="0"/>
        </a:p>
        <a:p>
          <a:pPr marL="114300" lvl="1" indent="-114300" algn="l" defTabSz="6223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1400" kern="1200">
              <a:solidFill>
                <a:schemeClr val="tx1"/>
              </a:solidFill>
              <a:ea typeface="Segoe UI" pitchFamily="34" charset="0"/>
              <a:cs typeface="Segoe UI" pitchFamily="34" charset="0"/>
            </a:rPr>
            <a:t>Apply preprocessing</a:t>
          </a:r>
        </a:p>
      </dsp:txBody>
      <dsp:txXfrm>
        <a:off x="284984" y="33239"/>
        <a:ext cx="1568654" cy="1068374"/>
      </dsp:txXfrm>
    </dsp:sp>
    <dsp:sp modelId="{3ACF0A57-6938-4580-9A9C-15D3A0F21010}">
      <dsp:nvSpPr>
        <dsp:cNvPr id="0" name=""/>
        <dsp:cNvSpPr/>
      </dsp:nvSpPr>
      <dsp:spPr>
        <a:xfrm>
          <a:off x="1230555" y="269527"/>
          <a:ext cx="2047462" cy="2047462"/>
        </a:xfrm>
        <a:prstGeom prst="pieWedge">
          <a:avLst/>
        </a:prstGeom>
        <a:solidFill>
          <a:schemeClr val="bg2">
            <a:lumMod val="75000"/>
          </a:schemeClr>
        </a:solidFill>
        <a:ln w="25400" cap="flat" cmpd="sng" algn="ctr">
          <a:solidFill>
            <a:schemeClr val="bg2">
              <a:lumMod val="7500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70688" tIns="170688" rIns="170688" bIns="170688" numCol="1" spcCol="1270" anchor="ctr" anchorCtr="0">
          <a:noAutofit/>
        </a:bodyPr>
        <a:lstStyle/>
        <a:p>
          <a:pPr marL="0" lvl="0" indent="0" algn="ctr" defTabSz="10668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400" kern="1200"/>
            <a:t>Prepare Data</a:t>
          </a:r>
        </a:p>
      </dsp:txBody>
      <dsp:txXfrm>
        <a:off x="1830243" y="869215"/>
        <a:ext cx="1447774" cy="1447774"/>
      </dsp:txXfrm>
    </dsp:sp>
    <dsp:sp modelId="{3449A328-CC52-4353-A457-ABF2B127EFDA}">
      <dsp:nvSpPr>
        <dsp:cNvPr id="0" name=""/>
        <dsp:cNvSpPr/>
      </dsp:nvSpPr>
      <dsp:spPr>
        <a:xfrm rot="5400000">
          <a:off x="3372588" y="269527"/>
          <a:ext cx="2047462" cy="2047462"/>
        </a:xfrm>
        <a:prstGeom prst="pieWedge">
          <a:avLst/>
        </a:prstGeom>
        <a:solidFill>
          <a:schemeClr val="bg2">
            <a:lumMod val="75000"/>
          </a:schemeClr>
        </a:solidFill>
        <a:ln w="25400" cap="flat" cmpd="sng" algn="ctr">
          <a:solidFill>
            <a:schemeClr val="bg2">
              <a:lumMod val="7500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70688" tIns="170688" rIns="170688" bIns="170688" numCol="1" spcCol="1270" anchor="ctr" anchorCtr="0">
          <a:noAutofit/>
        </a:bodyPr>
        <a:lstStyle/>
        <a:p>
          <a:pPr marL="0" lvl="0" indent="0" algn="ctr" defTabSz="10668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400" kern="1200"/>
            <a:t>Train Model</a:t>
          </a:r>
        </a:p>
      </dsp:txBody>
      <dsp:txXfrm rot="-5400000">
        <a:off x="3372588" y="869215"/>
        <a:ext cx="1447774" cy="1447774"/>
      </dsp:txXfrm>
    </dsp:sp>
    <dsp:sp modelId="{055E4F98-49A7-4D2E-BF4D-114FECD5E2AD}">
      <dsp:nvSpPr>
        <dsp:cNvPr id="0" name=""/>
        <dsp:cNvSpPr/>
      </dsp:nvSpPr>
      <dsp:spPr>
        <a:xfrm rot="10800000">
          <a:off x="3372588" y="2411560"/>
          <a:ext cx="2047462" cy="2047462"/>
        </a:xfrm>
        <a:prstGeom prst="pieWedg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70688" tIns="170688" rIns="170688" bIns="170688" numCol="1" spcCol="1270" anchor="ctr" anchorCtr="0">
          <a:noAutofit/>
        </a:bodyPr>
        <a:lstStyle/>
        <a:p>
          <a:pPr marL="0" lvl="0" indent="0" algn="ctr" defTabSz="10668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400" kern="1200"/>
            <a:t>Test Model</a:t>
          </a:r>
        </a:p>
      </dsp:txBody>
      <dsp:txXfrm rot="10800000">
        <a:off x="3372588" y="2411560"/>
        <a:ext cx="1447774" cy="1447774"/>
      </dsp:txXfrm>
    </dsp:sp>
    <dsp:sp modelId="{E2211DA3-02A2-419B-9C99-835A77C4156A}">
      <dsp:nvSpPr>
        <dsp:cNvPr id="0" name=""/>
        <dsp:cNvSpPr/>
      </dsp:nvSpPr>
      <dsp:spPr>
        <a:xfrm rot="16200000">
          <a:off x="1230555" y="2411560"/>
          <a:ext cx="2047462" cy="2047462"/>
        </a:xfrm>
        <a:prstGeom prst="pieWedg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70688" tIns="170688" rIns="170688" bIns="170688" numCol="1" spcCol="1270" anchor="ctr" anchorCtr="0">
          <a:noAutofit/>
        </a:bodyPr>
        <a:lstStyle/>
        <a:p>
          <a:pPr marL="0" lvl="0" indent="0" algn="ctr" defTabSz="10668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400" kern="1200"/>
            <a:t>Deploy Model</a:t>
          </a:r>
        </a:p>
      </dsp:txBody>
      <dsp:txXfrm rot="5400000">
        <a:off x="1830243" y="2411560"/>
        <a:ext cx="1447774" cy="1447774"/>
      </dsp:txXfrm>
    </dsp:sp>
    <dsp:sp modelId="{A92BFFE7-4781-4543-AFC4-FE38D2DC9626}">
      <dsp:nvSpPr>
        <dsp:cNvPr id="0" name=""/>
        <dsp:cNvSpPr/>
      </dsp:nvSpPr>
      <dsp:spPr>
        <a:xfrm>
          <a:off x="2971843" y="1938705"/>
          <a:ext cx="706918" cy="614711"/>
        </a:xfrm>
        <a:prstGeom prst="circularArrow">
          <a:avLst/>
        </a:prstGeom>
        <a:solidFill>
          <a:schemeClr val="accent1">
            <a:tint val="60000"/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514450A2-3779-4B8A-A7F4-2E5720C6CDBD}">
      <dsp:nvSpPr>
        <dsp:cNvPr id="0" name=""/>
        <dsp:cNvSpPr/>
      </dsp:nvSpPr>
      <dsp:spPr>
        <a:xfrm rot="10800000">
          <a:off x="2971843" y="2175133"/>
          <a:ext cx="706918" cy="614711"/>
        </a:xfrm>
        <a:prstGeom prst="circularArrow">
          <a:avLst/>
        </a:prstGeom>
        <a:solidFill>
          <a:schemeClr val="accent1">
            <a:tint val="60000"/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5/8/layout/cycle4">
  <dgm:title val=""/>
  <dgm:desc val=""/>
  <dgm:catLst>
    <dgm:cat type="relationship" pri="26000"/>
    <dgm:cat type="cycle" pri="13000"/>
    <dgm:cat type="matrix" pri="4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2">
          <dgm:prSet phldr="1"/>
        </dgm:pt>
        <dgm:pt modelId="21">
          <dgm:prSet phldr="1"/>
        </dgm:pt>
        <dgm:pt modelId="3">
          <dgm:prSet phldr="1"/>
        </dgm:pt>
        <dgm:pt modelId="31">
          <dgm:prSet phldr="1"/>
        </dgm:pt>
        <dgm:pt modelId="4">
          <dgm:prSet phldr="1"/>
        </dgm:pt>
        <dgm:pt modelId="41">
          <dgm:prSet phldr="1"/>
        </dgm:pt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  <dgm:cxn modelId="13" srcId="1" destId="11" srcOrd="0" destOrd="0"/>
        <dgm:cxn modelId="23" srcId="2" destId="21" srcOrd="0" destOrd="0"/>
        <dgm:cxn modelId="33" srcId="3" destId="31" srcOrd="0" destOrd="0"/>
        <dgm:cxn modelId="43" srcId="4" destId="41" srcOrd="0" destOrd="0"/>
      </dgm:cxnLst>
      <dgm:bg/>
      <dgm:whole/>
    </dgm:dataModel>
  </dgm:sampData>
  <dgm:styleData>
    <dgm:dataModel>
      <dgm:ptLst>
        <dgm:pt modelId="0" type="doc"/>
        <dgm:pt modelId="1"/>
        <dgm:pt modelId="11"/>
        <dgm:pt modelId="2"/>
        <dgm:pt modelId="21"/>
        <dgm:pt modelId="3"/>
        <dgm:pt modelId="31"/>
        <dgm:pt modelId="4"/>
        <dgm:pt modelId="41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  <dgm:cxn modelId="13" srcId="1" destId="11" srcOrd="0" destOrd="0"/>
        <dgm:cxn modelId="23" srcId="2" destId="21" srcOrd="0" destOrd="0"/>
        <dgm:cxn modelId="33" srcId="3" destId="31" srcOrd="0" destOrd="0"/>
        <dgm:cxn modelId="43" srcId="4" destId="41" srcOrd="0" destOrd="0"/>
      </dgm:cxnLst>
      <dgm:bg/>
      <dgm:whole/>
    </dgm:dataModel>
  </dgm:styleData>
  <dgm:clrData>
    <dgm:dataModel>
      <dgm:ptLst>
        <dgm:pt modelId="0" type="doc"/>
        <dgm:pt modelId="1"/>
        <dgm:pt modelId="11"/>
        <dgm:pt modelId="2"/>
        <dgm:pt modelId="21"/>
        <dgm:pt modelId="3"/>
        <dgm:pt modelId="31"/>
        <dgm:pt modelId="4"/>
        <dgm:pt modelId="41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  <dgm:cxn modelId="13" srcId="1" destId="11" srcOrd="0" destOrd="0"/>
        <dgm:cxn modelId="23" srcId="2" destId="21" srcOrd="0" destOrd="0"/>
        <dgm:cxn modelId="33" srcId="3" destId="31" srcOrd="0" destOrd="0"/>
        <dgm:cxn modelId="43" srcId="4" destId="41" srcOrd="0" destOrd="0"/>
      </dgm:cxnLst>
      <dgm:bg/>
      <dgm:whole/>
    </dgm:dataModel>
  </dgm:clrData>
  <dgm:layoutNode name="cycleMatrixDiagram">
    <dgm:varLst>
      <dgm:chMax val="1"/>
      <dgm:dir/>
      <dgm:animLvl val="lvl"/>
      <dgm:resizeHandles val="exact"/>
    </dgm:varLst>
    <dgm:alg type="composite">
      <dgm:param type="ar" val="1.3"/>
    </dgm:alg>
    <dgm:shape xmlns:r="http://schemas.openxmlformats.org/officeDocument/2006/relationships" r:blip="">
      <dgm:adjLst/>
    </dgm:shape>
    <dgm:presOf/>
    <dgm:constrLst>
      <dgm:constr type="w" for="ch" forName="children" refType="w"/>
      <dgm:constr type="h" for="ch" forName="children" refType="w" refFor="ch" refForName="children" fact="0.77"/>
      <dgm:constr type="ctrX" for="ch" forName="children" refType="w" fact="0.5"/>
      <dgm:constr type="ctrY" for="ch" forName="children" refType="h" fact="0.5"/>
      <dgm:constr type="w" for="ch" forName="circle" refType="w"/>
      <dgm:constr type="h" for="ch" forName="circle" refType="h"/>
      <dgm:constr type="ctrX" for="ch" forName="circle" refType="w" fact="0.5"/>
      <dgm:constr type="ctrY" for="ch" forName="circle" refType="h" fact="0.5"/>
      <dgm:constr type="w" for="ch" forName="center1" refType="w" fact="0.115"/>
      <dgm:constr type="h" for="ch" forName="center1" refType="w" fact="0.1"/>
      <dgm:constr type="ctrX" for="ch" forName="center1" refType="w" fact="0.5"/>
      <dgm:constr type="ctrY" for="ch" forName="center1" refType="h" fact="0.475"/>
      <dgm:constr type="w" for="ch" forName="center2" refType="w" fact="0.115"/>
      <dgm:constr type="h" for="ch" forName="center2" refType="w" fact="0.1"/>
      <dgm:constr type="ctrX" for="ch" forName="center2" refType="w" fact="0.5"/>
      <dgm:constr type="ctrY" for="ch" forName="center2" refType="h" fact="0.525"/>
    </dgm:constrLst>
    <dgm:ruleLst/>
    <dgm:choose name="Name0">
      <dgm:if name="Name1" axis="ch" ptType="node" func="cnt" op="gte" val="1">
        <dgm:layoutNode name="children">
          <dgm:alg type="composite">
            <dgm:param type="ar" val="1.3"/>
          </dgm:alg>
          <dgm:shape xmlns:r="http://schemas.openxmlformats.org/officeDocument/2006/relationships" r:blip="">
            <dgm:adjLst/>
          </dgm:shape>
          <dgm:presOf/>
          <dgm:choose name="Name2">
            <dgm:if name="Name3" func="var" arg="dir" op="equ" val="norm">
              <dgm:constrLst>
                <dgm:constr type="primFontSz" for="des" ptType="node" op="equ" val="65"/>
                <dgm:constr type="w" for="ch" forName="child1group" refType="w" fact="0.38"/>
                <dgm:constr type="h" for="ch" forName="child1group" refType="h" fact="0.32"/>
                <dgm:constr type="t" for="ch" forName="child1group"/>
                <dgm:constr type="l" for="ch" forName="child1group"/>
                <dgm:constr type="w" for="ch" forName="child2group" refType="w" fact="0.38"/>
                <dgm:constr type="h" for="ch" forName="child2group" refType="h" fact="0.32"/>
                <dgm:constr type="t" for="ch" forName="child2group"/>
                <dgm:constr type="r" for="ch" forName="child2group" refType="w"/>
                <dgm:constr type="w" for="ch" forName="child3group" refType="w" fact="0.38"/>
                <dgm:constr type="h" for="ch" forName="child3group" refType="h" fact="0.32"/>
                <dgm:constr type="b" for="ch" forName="child3group" refType="h"/>
                <dgm:constr type="r" for="ch" forName="child3group" refType="w"/>
                <dgm:constr type="w" for="ch" forName="child4group" refType="w" fact="0.38"/>
                <dgm:constr type="h" for="ch" forName="child4group" refType="h" fact="0.32"/>
                <dgm:constr type="b" for="ch" forName="child4group" refType="h"/>
                <dgm:constr type="l" for="ch" forName="child4group"/>
              </dgm:constrLst>
            </dgm:if>
            <dgm:else name="Name4">
              <dgm:constrLst>
                <dgm:constr type="primFontSz" for="des" ptType="node" op="equ" val="65"/>
                <dgm:constr type="w" for="ch" forName="child1group" refType="w" fact="0.38"/>
                <dgm:constr type="h" for="ch" forName="child1group" refType="h" fact="0.32"/>
                <dgm:constr type="t" for="ch" forName="child1group"/>
                <dgm:constr type="r" for="ch" forName="child1group" refType="w"/>
                <dgm:constr type="w" for="ch" forName="child2group" refType="w" fact="0.38"/>
                <dgm:constr type="h" for="ch" forName="child2group" refType="h" fact="0.32"/>
                <dgm:constr type="t" for="ch" forName="child2group"/>
                <dgm:constr type="l" for="ch" forName="child2group"/>
                <dgm:constr type="w" for="ch" forName="child3group" refType="w" fact="0.38"/>
                <dgm:constr type="h" for="ch" forName="child3group" refType="h" fact="0.32"/>
                <dgm:constr type="b" for="ch" forName="child3group" refType="h"/>
                <dgm:constr type="l" for="ch" forName="child3group"/>
                <dgm:constr type="w" for="ch" forName="child4group" refType="w" fact="0.38"/>
                <dgm:constr type="h" for="ch" forName="child4group" refType="h" fact="0.32"/>
                <dgm:constr type="b" for="ch" forName="child4group" refType="h"/>
                <dgm:constr type="r" for="ch" forName="child4group" refType="w"/>
              </dgm:constrLst>
            </dgm:else>
          </dgm:choose>
          <dgm:ruleLst/>
          <dgm:choose name="Name5">
            <dgm:if name="Name6" axis="ch ch" ptType="node node" st="1 1" cnt="1 0" func="cnt" op="gte" val="1">
              <dgm:layoutNode name="child1group">
                <dgm:alg type="composite">
                  <dgm:param type="horzAlign" val="none"/>
                  <dgm:param type="vertAlign" val="none"/>
                </dgm:alg>
                <dgm:shape xmlns:r="http://schemas.openxmlformats.org/officeDocument/2006/relationships" r:blip="">
                  <dgm:adjLst/>
                </dgm:shape>
                <dgm:presOf/>
                <dgm:choose name="Name7">
                  <dgm:if name="Name8" func="var" arg="dir" op="equ" val="norm">
                    <dgm:constrLst>
                      <dgm:constr type="w" for="ch" forName="child1" refType="w"/>
                      <dgm:constr type="h" for="ch" forName="child1" refType="h"/>
                      <dgm:constr type="t" for="ch" forName="child1"/>
                      <dgm:constr type="l" for="ch" forName="child1"/>
                      <dgm:constr type="w" for="ch" forName="child1Text" refType="w" fact="0.7"/>
                      <dgm:constr type="h" for="ch" forName="child1Text" refType="h" fact="0.75"/>
                      <dgm:constr type="t" for="ch" forName="child1Text"/>
                      <dgm:constr type="l" for="ch" forName="child1Text"/>
                    </dgm:constrLst>
                  </dgm:if>
                  <dgm:else name="Name9">
                    <dgm:constrLst>
                      <dgm:constr type="w" for="ch" forName="child1" refType="w"/>
                      <dgm:constr type="h" for="ch" forName="child1" refType="h"/>
                      <dgm:constr type="t" for="ch" forName="child1"/>
                      <dgm:constr type="r" for="ch" forName="child1" refType="w"/>
                      <dgm:constr type="w" for="ch" forName="child1Text" refType="w" fact="0.7"/>
                      <dgm:constr type="h" for="ch" forName="child1Text" refType="h" fact="0.75"/>
                      <dgm:constr type="t" for="ch" forName="child1Text"/>
                      <dgm:constr type="r" for="ch" forName="child1Text" refType="w"/>
                    </dgm:constrLst>
                  </dgm:else>
                </dgm:choose>
                <dgm:ruleLst/>
                <dgm:layoutNode name="child1" styleLbl="bgAcc1">
                  <dgm:alg type="sp"/>
                  <dgm:shape xmlns:r="http://schemas.openxmlformats.org/officeDocument/2006/relationships" type="roundRect" r:blip="" zOrderOff="-2">
                    <dgm:adjLst>
                      <dgm:adj idx="1" val="0.1"/>
                    </dgm:adjLst>
                  </dgm:shape>
                  <dgm:presOf axis="ch des" ptType="node node" st="1 1" cnt="1 0"/>
                  <dgm:constrLst/>
                  <dgm:ruleLst/>
                </dgm:layoutNode>
                <dgm:layoutNode name="child1Text" styleLbl="bgAcc1">
                  <dgm:varLst>
                    <dgm:bulletEnabled val="1"/>
                  </dgm:varLst>
                  <dgm:alg type="tx">
                    <dgm:param type="stBulletLvl" val="1"/>
                  </dgm:alg>
                  <dgm:shape xmlns:r="http://schemas.openxmlformats.org/officeDocument/2006/relationships" type="roundRect" r:blip="" zOrderOff="-2" hideGeom="1">
                    <dgm:adjLst>
                      <dgm:adj idx="1" val="0.1"/>
                    </dgm:adjLst>
                  </dgm:shape>
                  <dgm:presOf axis="ch des" ptType="node node" st="1 1" cnt="1 0"/>
                  <dgm:constrLst>
                    <dgm:constr type="tMarg" refType="primFontSz" fact="0.3"/>
                    <dgm:constr type="bMarg" refType="primFontSz" fact="0.3"/>
                    <dgm:constr type="lMarg" refType="primFontSz" fact="0.3"/>
                    <dgm:constr type="rMarg" refType="primFontSz" fact="0.3"/>
                  </dgm:constrLst>
                  <dgm:ruleLst>
                    <dgm:rule type="primFontSz" val="5" fact="NaN" max="NaN"/>
                  </dgm:ruleLst>
                </dgm:layoutNode>
              </dgm:layoutNode>
            </dgm:if>
            <dgm:else name="Name10"/>
          </dgm:choose>
          <dgm:choose name="Name11">
            <dgm:if name="Name12" axis="ch ch" ptType="node node" st="2 1" cnt="1 0" func="cnt" op="gte" val="1">
              <dgm:layoutNode name="child2group">
                <dgm:alg type="composite">
                  <dgm:param type="horzAlign" val="none"/>
                  <dgm:param type="vertAlign" val="none"/>
                </dgm:alg>
                <dgm:shape xmlns:r="http://schemas.openxmlformats.org/officeDocument/2006/relationships" r:blip="">
                  <dgm:adjLst/>
                </dgm:shape>
                <dgm:choose name="Name13">
                  <dgm:if name="Name14" func="var" arg="dir" op="equ" val="norm">
                    <dgm:constrLst>
                      <dgm:constr type="w" for="ch" forName="child2" refType="w"/>
                      <dgm:constr type="h" for="ch" forName="child2" refType="h"/>
                      <dgm:constr type="t" for="ch" forName="child2"/>
                      <dgm:constr type="r" for="ch" forName="child2" refType="w"/>
                      <dgm:constr type="w" for="ch" forName="child2Text" refType="w" fact="0.7"/>
                      <dgm:constr type="h" for="ch" forName="child2Text" refType="h" fact="0.75"/>
                      <dgm:constr type="t" for="ch" forName="child2Text"/>
                      <dgm:constr type="r" for="ch" forName="child2Text" refType="w"/>
                    </dgm:constrLst>
                  </dgm:if>
                  <dgm:else name="Name15">
                    <dgm:constrLst>
                      <dgm:constr type="w" for="ch" forName="child2" refType="w"/>
                      <dgm:constr type="h" for="ch" forName="child2" refType="h"/>
                      <dgm:constr type="t" for="ch" forName="child2"/>
                      <dgm:constr type="l" for="ch" forName="child2"/>
                      <dgm:constr type="w" for="ch" forName="child2Text" refType="w" fact="0.7"/>
                      <dgm:constr type="h" for="ch" forName="child2Text" refType="h" fact="0.75"/>
                      <dgm:constr type="t" for="ch" forName="child2Text"/>
                      <dgm:constr type="l" for="ch" forName="child2Text"/>
                    </dgm:constrLst>
                  </dgm:else>
                </dgm:choose>
                <dgm:ruleLst/>
                <dgm:layoutNode name="child2" styleLbl="bgAcc1">
                  <dgm:alg type="sp"/>
                  <dgm:shape xmlns:r="http://schemas.openxmlformats.org/officeDocument/2006/relationships" type="roundRect" r:blip="" zOrderOff="-2">
                    <dgm:adjLst>
                      <dgm:adj idx="1" val="0.1"/>
                    </dgm:adjLst>
                  </dgm:shape>
                  <dgm:presOf axis="ch des" ptType="node node" st="2 1" cnt="1 0"/>
                  <dgm:constrLst/>
                  <dgm:ruleLst/>
                </dgm:layoutNode>
                <dgm:layoutNode name="child2Text" styleLbl="bgAcc1">
                  <dgm:varLst>
                    <dgm:bulletEnabled val="1"/>
                  </dgm:varLst>
                  <dgm:alg type="tx">
                    <dgm:param type="stBulletLvl" val="1"/>
                  </dgm:alg>
                  <dgm:shape xmlns:r="http://schemas.openxmlformats.org/officeDocument/2006/relationships" type="roundRect" r:blip="" zOrderOff="-2" hideGeom="1">
                    <dgm:adjLst>
                      <dgm:adj idx="1" val="0.1"/>
                    </dgm:adjLst>
                  </dgm:shape>
                  <dgm:presOf axis="ch des" ptType="node node" st="2 1" cnt="1 0"/>
                  <dgm:constrLst>
                    <dgm:constr type="tMarg" refType="primFontSz" fact="0.3"/>
                    <dgm:constr type="bMarg" refType="primFontSz" fact="0.3"/>
                    <dgm:constr type="lMarg" refType="primFontSz" fact="0.3"/>
                    <dgm:constr type="rMarg" refType="primFontSz" fact="0.3"/>
                  </dgm:constrLst>
                  <dgm:ruleLst>
                    <dgm:rule type="primFontSz" val="5" fact="NaN" max="NaN"/>
                  </dgm:ruleLst>
                </dgm:layoutNode>
              </dgm:layoutNode>
            </dgm:if>
            <dgm:else name="Name16"/>
          </dgm:choose>
          <dgm:choose name="Name17">
            <dgm:if name="Name18" axis="ch ch" ptType="node node" st="3 1" cnt="1 0" func="cnt" op="gte" val="1">
              <dgm:layoutNode name="child3group">
                <dgm:alg type="composite">
                  <dgm:param type="horzAlign" val="none"/>
                  <dgm:param type="vertAlign" val="none"/>
                </dgm:alg>
                <dgm:shape xmlns:r="http://schemas.openxmlformats.org/officeDocument/2006/relationships" r:blip="">
                  <dgm:adjLst/>
                </dgm:shape>
                <dgm:presOf/>
                <dgm:choose name="Name19">
                  <dgm:if name="Name20" func="var" arg="dir" op="equ" val="norm">
                    <dgm:constrLst>
                      <dgm:constr type="w" for="ch" forName="child3" refType="w"/>
                      <dgm:constr type="h" for="ch" forName="child3" refType="h"/>
                      <dgm:constr type="b" for="ch" forName="child3" refType="h"/>
                      <dgm:constr type="r" for="ch" forName="child3" refType="w"/>
                      <dgm:constr type="w" for="ch" forName="child3Text" refType="w" fact="0.7"/>
                      <dgm:constr type="h" for="ch" forName="child3Text" refType="h" fact="0.75"/>
                      <dgm:constr type="b" for="ch" forName="child3Text" refType="h"/>
                      <dgm:constr type="r" for="ch" forName="child3Text" refType="w"/>
                    </dgm:constrLst>
                  </dgm:if>
                  <dgm:else name="Name21">
                    <dgm:constrLst>
                      <dgm:constr type="w" for="ch" forName="child3" refType="w"/>
                      <dgm:constr type="h" for="ch" forName="child3" refType="h"/>
                      <dgm:constr type="b" for="ch" forName="child3" refType="h"/>
                      <dgm:constr type="l" for="ch" forName="child3"/>
                      <dgm:constr type="w" for="ch" forName="child3Text" refType="w" fact="0.7"/>
                      <dgm:constr type="h" for="ch" forName="child3Text" refType="h" fact="0.75"/>
                      <dgm:constr type="b" for="ch" forName="child3Text" refType="h"/>
                      <dgm:constr type="l" for="ch" forName="child3Text"/>
                    </dgm:constrLst>
                  </dgm:else>
                </dgm:choose>
                <dgm:ruleLst/>
                <dgm:layoutNode name="child3" styleLbl="bgAcc1">
                  <dgm:alg type="sp"/>
                  <dgm:shape xmlns:r="http://schemas.openxmlformats.org/officeDocument/2006/relationships" type="roundRect" r:blip="" zOrderOff="-4">
                    <dgm:adjLst>
                      <dgm:adj idx="1" val="0.1"/>
                    </dgm:adjLst>
                  </dgm:shape>
                  <dgm:presOf axis="ch des" ptType="node node" st="3 1" cnt="1 0"/>
                  <dgm:constrLst/>
                  <dgm:ruleLst/>
                </dgm:layoutNode>
                <dgm:layoutNode name="child3Text" styleLbl="bgAcc1">
                  <dgm:varLst>
                    <dgm:bulletEnabled val="1"/>
                  </dgm:varLst>
                  <dgm:alg type="tx">
                    <dgm:param type="stBulletLvl" val="1"/>
                  </dgm:alg>
                  <dgm:shape xmlns:r="http://schemas.openxmlformats.org/officeDocument/2006/relationships" type="roundRect" r:blip="" zOrderOff="-4" hideGeom="1">
                    <dgm:adjLst>
                      <dgm:adj idx="1" val="0.1"/>
                    </dgm:adjLst>
                  </dgm:shape>
                  <dgm:presOf axis="ch des" ptType="node node" st="3 1" cnt="1 0"/>
                  <dgm:constrLst>
                    <dgm:constr type="tMarg" refType="primFontSz" fact="0.3"/>
                    <dgm:constr type="bMarg" refType="primFontSz" fact="0.3"/>
                    <dgm:constr type="lMarg" refType="primFontSz" fact="0.3"/>
                    <dgm:constr type="rMarg" refType="primFontSz" fact="0.3"/>
                  </dgm:constrLst>
                  <dgm:ruleLst>
                    <dgm:rule type="primFontSz" val="5" fact="NaN" max="NaN"/>
                  </dgm:ruleLst>
                </dgm:layoutNode>
              </dgm:layoutNode>
            </dgm:if>
            <dgm:else name="Name22"/>
          </dgm:choose>
          <dgm:choose name="Name23">
            <dgm:if name="Name24" axis="ch ch" ptType="node node" st="4 1" cnt="1 0" func="cnt" op="gte" val="1">
              <dgm:layoutNode name="child4group">
                <dgm:alg type="composite">
                  <dgm:param type="horzAlign" val="none"/>
                  <dgm:param type="vertAlign" val="none"/>
                </dgm:alg>
                <dgm:shape xmlns:r="http://schemas.openxmlformats.org/officeDocument/2006/relationships" r:blip="">
                  <dgm:adjLst/>
                </dgm:shape>
                <dgm:presOf/>
                <dgm:choose name="Name25">
                  <dgm:if name="Name26" func="var" arg="dir" op="equ" val="norm">
                    <dgm:constrLst>
                      <dgm:constr type="w" for="ch" forName="child4" refType="w"/>
                      <dgm:constr type="h" for="ch" forName="child4" refType="h"/>
                      <dgm:constr type="b" for="ch" forName="child4" refType="h"/>
                      <dgm:constr type="l" for="ch" forName="child4"/>
                      <dgm:constr type="w" for="ch" forName="child4Text" refType="w" fact="0.7"/>
                      <dgm:constr type="h" for="ch" forName="child4Text" refType="h" fact="0.75"/>
                      <dgm:constr type="b" for="ch" forName="child4Text" refType="h"/>
                      <dgm:constr type="l" for="ch" forName="child4Text"/>
                    </dgm:constrLst>
                  </dgm:if>
                  <dgm:else name="Name27">
                    <dgm:constrLst>
                      <dgm:constr type="w" for="ch" forName="child4" refType="w"/>
                      <dgm:constr type="h" for="ch" forName="child4" refType="h"/>
                      <dgm:constr type="b" for="ch" forName="child4" refType="h"/>
                      <dgm:constr type="r" for="ch" forName="child4" refType="w"/>
                      <dgm:constr type="w" for="ch" forName="child4Text" refType="w" fact="0.7"/>
                      <dgm:constr type="h" for="ch" forName="child4Text" refType="h" fact="0.75"/>
                      <dgm:constr type="b" for="ch" forName="child4Text" refType="h"/>
                      <dgm:constr type="r" for="ch" forName="child4Text" refType="w"/>
                    </dgm:constrLst>
                  </dgm:else>
                </dgm:choose>
                <dgm:ruleLst/>
                <dgm:layoutNode name="child4" styleLbl="bgAcc1">
                  <dgm:alg type="sp"/>
                  <dgm:shape xmlns:r="http://schemas.openxmlformats.org/officeDocument/2006/relationships" type="roundRect" r:blip="" zOrderOff="-4">
                    <dgm:adjLst>
                      <dgm:adj idx="1" val="0.1"/>
                    </dgm:adjLst>
                  </dgm:shape>
                  <dgm:presOf axis="ch des" ptType="node node" st="4 1" cnt="1 0"/>
                  <dgm:constrLst/>
                  <dgm:ruleLst/>
                </dgm:layoutNode>
                <dgm:layoutNode name="child4Text" styleLbl="bgAcc1">
                  <dgm:varLst>
                    <dgm:bulletEnabled val="1"/>
                  </dgm:varLst>
                  <dgm:alg type="tx">
                    <dgm:param type="stBulletLvl" val="1"/>
                  </dgm:alg>
                  <dgm:shape xmlns:r="http://schemas.openxmlformats.org/officeDocument/2006/relationships" type="roundRect" r:blip="" zOrderOff="-4" hideGeom="1">
                    <dgm:adjLst>
                      <dgm:adj idx="1" val="0.1"/>
                    </dgm:adjLst>
                  </dgm:shape>
                  <dgm:presOf axis="ch des" ptType="node node" st="4 1" cnt="1 0"/>
                  <dgm:constrLst>
                    <dgm:constr type="tMarg" refType="primFontSz" fact="0.3"/>
                    <dgm:constr type="bMarg" refType="primFontSz" fact="0.3"/>
                    <dgm:constr type="lMarg" refType="primFontSz" fact="0.3"/>
                    <dgm:constr type="rMarg" refType="primFontSz" fact="0.3"/>
                  </dgm:constrLst>
                  <dgm:ruleLst>
                    <dgm:rule type="primFontSz" val="5" fact="NaN" max="NaN"/>
                  </dgm:ruleLst>
                </dgm:layoutNode>
              </dgm:layoutNode>
            </dgm:if>
            <dgm:else name="Name28"/>
          </dgm:choose>
          <dgm:layoutNode name="childPlaceholder">
            <dgm:alg type="sp"/>
            <dgm:shape xmlns:r="http://schemas.openxmlformats.org/officeDocument/2006/relationships" r:blip="">
              <dgm:adjLst/>
            </dgm:shape>
            <dgm:presOf/>
            <dgm:constrLst/>
            <dgm:ruleLst/>
          </dgm:layoutNode>
        </dgm:layoutNode>
        <dgm:layoutNode name="circle">
          <dgm:alg type="composite">
            <dgm:param type="ar" val="1"/>
          </dgm:alg>
          <dgm:shape xmlns:r="http://schemas.openxmlformats.org/officeDocument/2006/relationships" r:blip="">
            <dgm:adjLst/>
          </dgm:shape>
          <dgm:presOf/>
          <dgm:choose name="Name29">
            <dgm:if name="Name30" func="var" arg="dir" op="equ" val="norm">
              <dgm:constrLst>
                <dgm:constr type="primFontSz" for="ch" ptType="node" op="equ" val="65"/>
                <dgm:constr type="w" for="ch" forName="quadrant1" refType="w" fact="0.433"/>
                <dgm:constr type="h" for="ch" forName="quadrant1" refType="h" fact="0.433"/>
                <dgm:constr type="b" for="ch" forName="quadrant1" refType="h" fact="0.5"/>
                <dgm:constr type="bOff" for="ch" forName="quadrant1" refType="h" fact="-0.01"/>
                <dgm:constr type="r" for="ch" forName="quadrant1" refType="w" fact="0.5"/>
                <dgm:constr type="rOff" for="ch" forName="quadrant1" refType="w" fact="-0.01"/>
                <dgm:constr type="w" for="ch" forName="quadrant2" refType="w" fact="0.433"/>
                <dgm:constr type="h" for="ch" forName="quadrant2" refType="h" fact="0.433"/>
                <dgm:constr type="b" for="ch" forName="quadrant2" refType="h" fact="0.5"/>
                <dgm:constr type="bOff" for="ch" forName="quadrant2" refType="h" fact="-0.01"/>
                <dgm:constr type="l" for="ch" forName="quadrant2" refType="w" fact="0.5"/>
                <dgm:constr type="lOff" for="ch" forName="quadrant2" refType="w" fact="0.01"/>
                <dgm:constr type="w" for="ch" forName="quadrant3" refType="w" fact="0.433"/>
                <dgm:constr type="h" for="ch" forName="quadrant3" refType="h" fact="0.433"/>
                <dgm:constr type="t" for="ch" forName="quadrant3" refType="h" fact="0.5"/>
                <dgm:constr type="tOff" for="ch" forName="quadrant3" refType="h" fact="0.01"/>
                <dgm:constr type="l" for="ch" forName="quadrant3" refType="w" fact="0.5"/>
                <dgm:constr type="lOff" for="ch" forName="quadrant3" refType="w" fact="0.01"/>
                <dgm:constr type="w" for="ch" forName="quadrant4" refType="w" fact="0.433"/>
                <dgm:constr type="h" for="ch" forName="quadrant4" refType="h" fact="0.433"/>
                <dgm:constr type="t" for="ch" forName="quadrant4" refType="h" fact="0.5"/>
                <dgm:constr type="tOff" for="ch" forName="quadrant4" refType="h" fact="0.01"/>
                <dgm:constr type="r" for="ch" forName="quadrant4" refType="w" fact="0.5"/>
                <dgm:constr type="rOff" for="ch" forName="quadrant4" refType="w" fact="-0.01"/>
              </dgm:constrLst>
            </dgm:if>
            <dgm:else name="Name31">
              <dgm:constrLst>
                <dgm:constr type="primFontSz" for="ch" ptType="node" op="equ" val="65"/>
                <dgm:constr type="w" for="ch" forName="quadrant1" refType="w" fact="0.433"/>
                <dgm:constr type="h" for="ch" forName="quadrant1" refType="h" fact="0.433"/>
                <dgm:constr type="b" for="ch" forName="quadrant1" refType="h" fact="0.5"/>
                <dgm:constr type="bOff" for="ch" forName="quadrant1" refType="h" fact="-0.01"/>
                <dgm:constr type="l" for="ch" forName="quadrant1" refType="w" fact="0.5"/>
                <dgm:constr type="lOff" for="ch" forName="quadrant1" refType="w" fact="0.01"/>
                <dgm:constr type="w" for="ch" forName="quadrant2" refType="w" fact="0.433"/>
                <dgm:constr type="h" for="ch" forName="quadrant2" refType="h" fact="0.433"/>
                <dgm:constr type="b" for="ch" forName="quadrant2" refType="h" fact="0.5"/>
                <dgm:constr type="bOff" for="ch" forName="quadrant2" refType="h" fact="-0.01"/>
                <dgm:constr type="r" for="ch" forName="quadrant2" refType="w" fact="0.5"/>
                <dgm:constr type="rOff" for="ch" forName="quadrant2" refType="w" fact="-0.01"/>
                <dgm:constr type="w" for="ch" forName="quadrant3" refType="w" fact="0.433"/>
                <dgm:constr type="h" for="ch" forName="quadrant3" refType="h" fact="0.433"/>
                <dgm:constr type="t" for="ch" forName="quadrant3" refType="h" fact="0.5"/>
                <dgm:constr type="tOff" for="ch" forName="quadrant3" refType="h" fact="0.01"/>
                <dgm:constr type="r" for="ch" forName="quadrant3" refType="w" fact="0.5"/>
                <dgm:constr type="rOff" for="ch" forName="quadrant3" refType="w" fact="-0.01"/>
                <dgm:constr type="w" for="ch" forName="quadrant4" refType="w" fact="0.433"/>
                <dgm:constr type="h" for="ch" forName="quadrant4" refType="h" fact="0.433"/>
                <dgm:constr type="t" for="ch" forName="quadrant4" refType="h" fact="0.5"/>
                <dgm:constr type="tOff" for="ch" forName="quadrant4" refType="h" fact="0.01"/>
                <dgm:constr type="l" for="ch" forName="quadrant4" refType="w" fact="0.5"/>
                <dgm:constr type="lOff" for="ch" forName="quadrant4" refType="w" fact="0.01"/>
              </dgm:constrLst>
            </dgm:else>
          </dgm:choose>
          <dgm:ruleLst/>
          <dgm:layoutNode name="quadrant1" styleLbl="node1">
            <dgm:varLst>
              <dgm:chMax val="1"/>
              <dgm:bulletEnabled val="1"/>
            </dgm:varLst>
            <dgm:alg type="tx"/>
            <dgm:choose name="Name32">
              <dgm:if name="Name33" func="var" arg="dir" op="equ" val="norm">
                <dgm:shape xmlns:r="http://schemas.openxmlformats.org/officeDocument/2006/relationships" type="pieWedge" r:blip="">
                  <dgm:adjLst/>
                </dgm:shape>
              </dgm:if>
              <dgm:else name="Name34">
                <dgm:shape xmlns:r="http://schemas.openxmlformats.org/officeDocument/2006/relationships" rot="90" type="pieWedge" r:blip="">
                  <dgm:adjLst/>
                </dgm:shape>
              </dgm:else>
            </dgm:choose>
            <dgm:presOf axis="ch" ptType="node" cnt="1"/>
            <dgm:constrLst/>
            <dgm:ruleLst>
              <dgm:rule type="primFontSz" val="5" fact="NaN" max="NaN"/>
            </dgm:ruleLst>
          </dgm:layoutNode>
          <dgm:layoutNode name="quadrant2" styleLbl="node1">
            <dgm:varLst>
              <dgm:chMax val="1"/>
              <dgm:bulletEnabled val="1"/>
            </dgm:varLst>
            <dgm:alg type="tx"/>
            <dgm:choose name="Name35">
              <dgm:if name="Name36" func="var" arg="dir" op="equ" val="norm">
                <dgm:shape xmlns:r="http://schemas.openxmlformats.org/officeDocument/2006/relationships" rot="90" type="pieWedge" r:blip="">
                  <dgm:adjLst/>
                </dgm:shape>
              </dgm:if>
              <dgm:else name="Name37">
                <dgm:shape xmlns:r="http://schemas.openxmlformats.org/officeDocument/2006/relationships" type="pieWedge" r:blip="">
                  <dgm:adjLst/>
                </dgm:shape>
              </dgm:else>
            </dgm:choose>
            <dgm:presOf axis="ch" ptType="node" st="2" cnt="1"/>
            <dgm:constrLst/>
            <dgm:ruleLst>
              <dgm:rule type="primFontSz" val="5" fact="NaN" max="NaN"/>
            </dgm:ruleLst>
          </dgm:layoutNode>
          <dgm:layoutNode name="quadrant3" styleLbl="node1">
            <dgm:varLst>
              <dgm:chMax val="1"/>
              <dgm:bulletEnabled val="1"/>
            </dgm:varLst>
            <dgm:alg type="tx"/>
            <dgm:choose name="Name38">
              <dgm:if name="Name39" func="var" arg="dir" op="equ" val="norm">
                <dgm:shape xmlns:r="http://schemas.openxmlformats.org/officeDocument/2006/relationships" rot="180" type="pieWedge" r:blip="">
                  <dgm:adjLst/>
                </dgm:shape>
              </dgm:if>
              <dgm:else name="Name40">
                <dgm:shape xmlns:r="http://schemas.openxmlformats.org/officeDocument/2006/relationships" rot="270" type="pieWedge" r:blip="">
                  <dgm:adjLst/>
                </dgm:shape>
              </dgm:else>
            </dgm:choose>
            <dgm:presOf axis="ch" ptType="node" st="3" cnt="1"/>
            <dgm:constrLst/>
            <dgm:ruleLst>
              <dgm:rule type="primFontSz" val="5" fact="NaN" max="NaN"/>
            </dgm:ruleLst>
          </dgm:layoutNode>
          <dgm:layoutNode name="quadrant4" styleLbl="node1">
            <dgm:varLst>
              <dgm:chMax val="1"/>
              <dgm:bulletEnabled val="1"/>
            </dgm:varLst>
            <dgm:alg type="tx"/>
            <dgm:choose name="Name41">
              <dgm:if name="Name42" func="var" arg="dir" op="equ" val="norm">
                <dgm:shape xmlns:r="http://schemas.openxmlformats.org/officeDocument/2006/relationships" rot="270" type="pieWedge" r:blip="">
                  <dgm:adjLst/>
                </dgm:shape>
              </dgm:if>
              <dgm:else name="Name43">
                <dgm:shape xmlns:r="http://schemas.openxmlformats.org/officeDocument/2006/relationships" rot="180" type="pieWedge" r:blip="">
                  <dgm:adjLst/>
                </dgm:shape>
              </dgm:else>
            </dgm:choose>
            <dgm:presOf axis="ch" ptType="node" st="4" cnt="1"/>
            <dgm:constrLst/>
            <dgm:ruleLst>
              <dgm:rule type="primFontSz" val="5" fact="NaN" max="NaN"/>
            </dgm:ruleLst>
          </dgm:layoutNode>
          <dgm:layoutNode name="quadrantPlaceholder">
            <dgm:alg type="sp"/>
            <dgm:shape xmlns:r="http://schemas.openxmlformats.org/officeDocument/2006/relationships" r:blip="">
              <dgm:adjLst/>
            </dgm:shape>
            <dgm:presOf/>
            <dgm:constrLst/>
            <dgm:ruleLst/>
          </dgm:layoutNode>
        </dgm:layoutNode>
        <dgm:layoutNode name="center1" styleLbl="fgShp">
          <dgm:alg type="sp"/>
          <dgm:choose name="Name44">
            <dgm:if name="Name45" func="var" arg="dir" op="equ" val="norm">
              <dgm:shape xmlns:r="http://schemas.openxmlformats.org/officeDocument/2006/relationships" type="circularArrow" r:blip="" zOrderOff="16">
                <dgm:adjLst/>
              </dgm:shape>
            </dgm:if>
            <dgm:else name="Name46">
              <dgm:shape xmlns:r="http://schemas.openxmlformats.org/officeDocument/2006/relationships" rot="180" type="leftCircularArrow" r:blip="" zOrderOff="16">
                <dgm:adjLst/>
              </dgm:shape>
            </dgm:else>
          </dgm:choose>
          <dgm:presOf/>
          <dgm:constrLst/>
          <dgm:ruleLst/>
        </dgm:layoutNode>
        <dgm:layoutNode name="center2" styleLbl="fgShp">
          <dgm:alg type="sp"/>
          <dgm:choose name="Name47">
            <dgm:if name="Name48" func="var" arg="dir" op="equ" val="norm">
              <dgm:shape xmlns:r="http://schemas.openxmlformats.org/officeDocument/2006/relationships" rot="180" type="circularArrow" r:blip="" zOrderOff="16">
                <dgm:adjLst/>
              </dgm:shape>
            </dgm:if>
            <dgm:else name="Name49">
              <dgm:shape xmlns:r="http://schemas.openxmlformats.org/officeDocument/2006/relationships" type="leftCircularArrow" r:blip="" zOrderOff="16">
                <dgm:adjLst/>
              </dgm:shape>
            </dgm:else>
          </dgm:choose>
          <dgm:presOf/>
          <dgm:constrLst/>
          <dgm:ruleLst/>
        </dgm:layoutNode>
      </dgm:if>
      <dgm:else name="Name50"/>
    </dgm:choose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>
            <a:spLocks noGrp="1"/>
          </p:cNvSpPr>
          <p:nvPr>
            <p:ph type="hdr" idx="2"/>
          </p:nvPr>
        </p:nvSpPr>
        <p:spPr>
          <a:xfrm>
            <a:off x="0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4" name="Google Shape;4;n"/>
          <p:cNvSpPr txBox="1">
            <a:spLocks noGrp="1"/>
          </p:cNvSpPr>
          <p:nvPr>
            <p:ph type="dt" idx="10"/>
          </p:nvPr>
        </p:nvSpPr>
        <p:spPr>
          <a:xfrm>
            <a:off x="3884613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R="0" lvl="0" algn="r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5" name="Google Shape;5;n"/>
          <p:cNvSpPr>
            <a:spLocks noGrp="1" noRot="1" noChangeAspect="1"/>
          </p:cNvSpPr>
          <p:nvPr>
            <p:ph type="sldImg" idx="3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6" name="Google Shape;6;n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marR="0" lvl="0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7" name="Google Shape;7;n"/>
          <p:cNvSpPr txBox="1">
            <a:spLocks noGrp="1"/>
          </p:cNvSpPr>
          <p:nvPr>
            <p:ph type="ftr" idx="11"/>
          </p:nvPr>
        </p:nvSpPr>
        <p:spPr>
          <a:xfrm>
            <a:off x="0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8" name="Google Shape;8;n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200" b="0" i="0" u="none" strike="noStrike" cap="none" smtClean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1</a:t>
            </a:fld>
            <a:endParaRPr lang="en-US"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360914075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_HEADER">
    <p:spTree>
      <p:nvGrpSpPr>
        <p:cNvPr id="1" name="Shape 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" name="Google Shape;35;p5"/>
          <p:cNvSpPr txBox="1"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>
            <a:lvl1pPr marR="0"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Calibri"/>
              <a:buNone/>
              <a:defRPr sz="6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>
            <a:endParaRPr/>
          </a:p>
        </p:txBody>
      </p:sp>
      <p:sp>
        <p:nvSpPr>
          <p:cNvPr id="36" name="Google Shape;36;p5"/>
          <p:cNvSpPr txBox="1"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marR="0" lvl="0" indent="-2286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888888"/>
              </a:buClr>
              <a:buSzPts val="2400"/>
              <a:buFont typeface="Arial"/>
              <a:buNone/>
              <a:defRPr sz="24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2000"/>
              <a:buFont typeface="Arial"/>
              <a:buNone/>
              <a:defRPr sz="20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800"/>
              <a:buFont typeface="Arial"/>
              <a:buNone/>
              <a:defRPr sz="18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Font typeface="Arial"/>
              <a:buNone/>
              <a:defRPr sz="16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Font typeface="Arial"/>
              <a:buNone/>
              <a:defRPr sz="16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Font typeface="Arial"/>
              <a:buNone/>
              <a:defRPr sz="16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Font typeface="Arial"/>
              <a:buNone/>
              <a:defRPr sz="16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Font typeface="Arial"/>
              <a:buNone/>
              <a:defRPr sz="16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Font typeface="Arial"/>
              <a:buNone/>
              <a:defRPr sz="16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37" name="Google Shape;37;p5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38" name="Google Shape;38;p5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marR="0"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39" name="Google Shape;39;p5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 rtl="0">
              <a:spcBef>
                <a:spcPts val="0"/>
              </a:spcBef>
              <a:buNone/>
              <a:defRPr sz="12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 rtl="0">
              <a:spcBef>
                <a:spcPts val="0"/>
              </a:spcBef>
              <a:buNone/>
              <a:defRPr sz="12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 rtl="0">
              <a:spcBef>
                <a:spcPts val="0"/>
              </a:spcBef>
              <a:buNone/>
              <a:defRPr sz="12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 rtl="0">
              <a:spcBef>
                <a:spcPts val="0"/>
              </a:spcBef>
              <a:buNone/>
              <a:defRPr sz="12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 rtl="0">
              <a:spcBef>
                <a:spcPts val="0"/>
              </a:spcBef>
              <a:buNone/>
              <a:defRPr sz="12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 rtl="0">
              <a:spcBef>
                <a:spcPts val="0"/>
              </a:spcBef>
              <a:buNone/>
              <a:defRPr sz="12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 rtl="0">
              <a:spcBef>
                <a:spcPts val="0"/>
              </a:spcBef>
              <a:buNone/>
              <a:defRPr sz="12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 rtl="0">
              <a:spcBef>
                <a:spcPts val="0"/>
              </a:spcBef>
              <a:buNone/>
              <a:defRPr sz="12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 rtl="0">
              <a:spcBef>
                <a:spcPts val="0"/>
              </a:spcBef>
              <a:buNone/>
              <a:defRPr sz="12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mparison" type="twoTxTwoObj">
  <p:cSld name="TWO_OBJECTS_WITH_TEXT">
    <p:spTree>
      <p:nvGrpSpPr>
        <p:cNvPr id="1" name="Shape 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Google Shape;41;p6"/>
          <p:cNvSpPr txBox="1"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marR="0"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 sz="4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>
            <a:endParaRPr/>
          </a:p>
        </p:txBody>
      </p:sp>
      <p:sp>
        <p:nvSpPr>
          <p:cNvPr id="42" name="Google Shape;42;p6"/>
          <p:cNvSpPr txBox="1"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>
            <a:lvl1pPr marL="457200" marR="0" lvl="0" indent="-2286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  <a:defRPr sz="2400" b="1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  <a:defRPr sz="2000" b="1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  <a:defRPr sz="1800" b="1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  <a:defRPr sz="1600" b="1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  <a:defRPr sz="1600" b="1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  <a:defRPr sz="1600" b="1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  <a:defRPr sz="1600" b="1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  <a:defRPr sz="1600" b="1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  <a:defRPr sz="1600" b="1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43" name="Google Shape;43;p6"/>
          <p:cNvSpPr txBox="1">
            <a:spLocks noGrp="1"/>
          </p:cNvSpPr>
          <p:nvPr>
            <p:ph type="body" idx="2"/>
          </p:nvPr>
        </p:nvSpPr>
        <p:spPr>
          <a:xfrm>
            <a:off x="839788" y="2505075"/>
            <a:ext cx="5157787" cy="36845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marR="0" lvl="0" indent="-4064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•"/>
              <a:defRPr sz="2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3810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sz="2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355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44" name="Google Shape;44;p6"/>
          <p:cNvSpPr txBox="1">
            <a:spLocks noGrp="1"/>
          </p:cNvSpPr>
          <p:nvPr>
            <p:ph type="body" idx="3"/>
          </p:nvPr>
        </p:nvSpPr>
        <p:spPr>
          <a:xfrm>
            <a:off x="6172200" y="1681163"/>
            <a:ext cx="5183188" cy="8239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>
            <a:lvl1pPr marL="457200" marR="0" lvl="0" indent="-2286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  <a:defRPr sz="2400" b="1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  <a:defRPr sz="2000" b="1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  <a:defRPr sz="1800" b="1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  <a:defRPr sz="1600" b="1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  <a:defRPr sz="1600" b="1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  <a:defRPr sz="1600" b="1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  <a:defRPr sz="1600" b="1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  <a:defRPr sz="1600" b="1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  <a:defRPr sz="1600" b="1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45" name="Google Shape;45;p6"/>
          <p:cNvSpPr txBox="1">
            <a:spLocks noGrp="1"/>
          </p:cNvSpPr>
          <p:nvPr>
            <p:ph type="body" idx="4"/>
          </p:nvPr>
        </p:nvSpPr>
        <p:spPr>
          <a:xfrm>
            <a:off x="6172200" y="2505075"/>
            <a:ext cx="5183188" cy="36845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marR="0" lvl="0" indent="-4064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•"/>
              <a:defRPr sz="2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3810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sz="2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355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46" name="Google Shape;46;p6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47" name="Google Shape;47;p6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marR="0"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48" name="Google Shape;48;p6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 rtl="0">
              <a:spcBef>
                <a:spcPts val="0"/>
              </a:spcBef>
              <a:buNone/>
              <a:defRPr sz="12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 rtl="0">
              <a:spcBef>
                <a:spcPts val="0"/>
              </a:spcBef>
              <a:buNone/>
              <a:defRPr sz="12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 rtl="0">
              <a:spcBef>
                <a:spcPts val="0"/>
              </a:spcBef>
              <a:buNone/>
              <a:defRPr sz="12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 rtl="0">
              <a:spcBef>
                <a:spcPts val="0"/>
              </a:spcBef>
              <a:buNone/>
              <a:defRPr sz="12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 rtl="0">
              <a:spcBef>
                <a:spcPts val="0"/>
              </a:spcBef>
              <a:buNone/>
              <a:defRPr sz="12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 rtl="0">
              <a:spcBef>
                <a:spcPts val="0"/>
              </a:spcBef>
              <a:buNone/>
              <a:defRPr sz="12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 rtl="0">
              <a:spcBef>
                <a:spcPts val="0"/>
              </a:spcBef>
              <a:buNone/>
              <a:defRPr sz="12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 rtl="0">
              <a:spcBef>
                <a:spcPts val="0"/>
              </a:spcBef>
              <a:buNone/>
              <a:defRPr sz="12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 rtl="0">
              <a:spcBef>
                <a:spcPts val="0"/>
              </a:spcBef>
              <a:buNone/>
              <a:defRPr sz="12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_ONLY">
    <p:spTree>
      <p:nvGrpSpPr>
        <p:cNvPr id="1" name="Shape 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Google Shape;50;p7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marR="0"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 sz="4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>
            <a:endParaRPr/>
          </a:p>
        </p:txBody>
      </p:sp>
      <p:sp>
        <p:nvSpPr>
          <p:cNvPr id="51" name="Google Shape;51;p7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52" name="Google Shape;52;p7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marR="0"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53" name="Google Shape;53;p7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 rtl="0">
              <a:spcBef>
                <a:spcPts val="0"/>
              </a:spcBef>
              <a:buNone/>
              <a:defRPr sz="12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 rtl="0">
              <a:spcBef>
                <a:spcPts val="0"/>
              </a:spcBef>
              <a:buNone/>
              <a:defRPr sz="12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 rtl="0">
              <a:spcBef>
                <a:spcPts val="0"/>
              </a:spcBef>
              <a:buNone/>
              <a:defRPr sz="12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 rtl="0">
              <a:spcBef>
                <a:spcPts val="0"/>
              </a:spcBef>
              <a:buNone/>
              <a:defRPr sz="12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 rtl="0">
              <a:spcBef>
                <a:spcPts val="0"/>
              </a:spcBef>
              <a:buNone/>
              <a:defRPr sz="12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 rtl="0">
              <a:spcBef>
                <a:spcPts val="0"/>
              </a:spcBef>
              <a:buNone/>
              <a:defRPr sz="12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 rtl="0">
              <a:spcBef>
                <a:spcPts val="0"/>
              </a:spcBef>
              <a:buNone/>
              <a:defRPr sz="12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 rtl="0">
              <a:spcBef>
                <a:spcPts val="0"/>
              </a:spcBef>
              <a:buNone/>
              <a:defRPr sz="12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 rtl="0">
              <a:spcBef>
                <a:spcPts val="0"/>
              </a:spcBef>
              <a:buNone/>
              <a:defRPr sz="12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spTree>
      <p:nvGrpSpPr>
        <p:cNvPr id="1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8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56" name="Google Shape;56;p8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marR="0"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57" name="Google Shape;57;p8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 rtl="0">
              <a:spcBef>
                <a:spcPts val="0"/>
              </a:spcBef>
              <a:buNone/>
              <a:defRPr sz="12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 rtl="0">
              <a:spcBef>
                <a:spcPts val="0"/>
              </a:spcBef>
              <a:buNone/>
              <a:defRPr sz="12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 rtl="0">
              <a:spcBef>
                <a:spcPts val="0"/>
              </a:spcBef>
              <a:buNone/>
              <a:defRPr sz="12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 rtl="0">
              <a:spcBef>
                <a:spcPts val="0"/>
              </a:spcBef>
              <a:buNone/>
              <a:defRPr sz="12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 rtl="0">
              <a:spcBef>
                <a:spcPts val="0"/>
              </a:spcBef>
              <a:buNone/>
              <a:defRPr sz="12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 rtl="0">
              <a:spcBef>
                <a:spcPts val="0"/>
              </a:spcBef>
              <a:buNone/>
              <a:defRPr sz="12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 rtl="0">
              <a:spcBef>
                <a:spcPts val="0"/>
              </a:spcBef>
              <a:buNone/>
              <a:defRPr sz="12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 rtl="0">
              <a:spcBef>
                <a:spcPts val="0"/>
              </a:spcBef>
              <a:buNone/>
              <a:defRPr sz="12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 rtl="0">
              <a:spcBef>
                <a:spcPts val="0"/>
              </a:spcBef>
              <a:buNone/>
              <a:defRPr sz="12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ntent with Caption" type="objTx">
  <p:cSld name="OBJECT_WITH_CAPTION_TEXT">
    <p:spTree>
      <p:nvGrpSpPr>
        <p:cNvPr id="1" name="Shape 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" name="Google Shape;59;p9"/>
          <p:cNvSpPr txBox="1"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>
            <a:lvl1pPr marR="0"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Calibri"/>
              <a:buNone/>
              <a:defRPr sz="3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>
            <a:endParaRPr/>
          </a:p>
        </p:txBody>
      </p:sp>
      <p:sp>
        <p:nvSpPr>
          <p:cNvPr id="60" name="Google Shape;60;p9"/>
          <p:cNvSpPr txBox="1">
            <a:spLocks noGrp="1"/>
          </p:cNvSpPr>
          <p:nvPr>
            <p:ph type="body" idx="1"/>
          </p:nvPr>
        </p:nvSpPr>
        <p:spPr>
          <a:xfrm>
            <a:off x="5183188" y="987425"/>
            <a:ext cx="6172200" cy="48736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marR="0" lvl="0" indent="-4318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Char char="•"/>
              <a:defRPr sz="3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4064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•"/>
              <a:defRPr sz="2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3810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sz="2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355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355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355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355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355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355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61" name="Google Shape;61;p9"/>
          <p:cNvSpPr txBox="1">
            <a:spLocks noGrp="1"/>
          </p:cNvSpPr>
          <p:nvPr>
            <p:ph type="body" idx="2"/>
          </p:nvPr>
        </p:nvSpPr>
        <p:spPr>
          <a:xfrm>
            <a:off x="839788" y="2057400"/>
            <a:ext cx="3932237" cy="38115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marR="0" lvl="0" indent="-2286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  <a:defRPr sz="16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62" name="Google Shape;62;p9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63" name="Google Shape;63;p9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marR="0"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64" name="Google Shape;64;p9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 rtl="0">
              <a:spcBef>
                <a:spcPts val="0"/>
              </a:spcBef>
              <a:buNone/>
              <a:defRPr sz="12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 rtl="0">
              <a:spcBef>
                <a:spcPts val="0"/>
              </a:spcBef>
              <a:buNone/>
              <a:defRPr sz="12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 rtl="0">
              <a:spcBef>
                <a:spcPts val="0"/>
              </a:spcBef>
              <a:buNone/>
              <a:defRPr sz="12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 rtl="0">
              <a:spcBef>
                <a:spcPts val="0"/>
              </a:spcBef>
              <a:buNone/>
              <a:defRPr sz="12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 rtl="0">
              <a:spcBef>
                <a:spcPts val="0"/>
              </a:spcBef>
              <a:buNone/>
              <a:defRPr sz="12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 rtl="0">
              <a:spcBef>
                <a:spcPts val="0"/>
              </a:spcBef>
              <a:buNone/>
              <a:defRPr sz="12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 rtl="0">
              <a:spcBef>
                <a:spcPts val="0"/>
              </a:spcBef>
              <a:buNone/>
              <a:defRPr sz="12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 rtl="0">
              <a:spcBef>
                <a:spcPts val="0"/>
              </a:spcBef>
              <a:buNone/>
              <a:defRPr sz="12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 rtl="0">
              <a:spcBef>
                <a:spcPts val="0"/>
              </a:spcBef>
              <a:buNone/>
              <a:defRPr sz="12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Picture with Caption" type="picTx">
  <p:cSld name="PICTURE_WITH_CAPTION_TEXT">
    <p:spTree>
      <p:nvGrpSpPr>
        <p:cNvPr id="1" name="Shape 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Google Shape;66;p10"/>
          <p:cNvSpPr txBox="1"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>
            <a:lvl1pPr marR="0"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Calibri"/>
              <a:buNone/>
              <a:defRPr sz="3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>
            <a:endParaRPr/>
          </a:p>
        </p:txBody>
      </p:sp>
      <p:sp>
        <p:nvSpPr>
          <p:cNvPr id="67" name="Google Shape;67;p10"/>
          <p:cNvSpPr>
            <a:spLocks noGrp="1"/>
          </p:cNvSpPr>
          <p:nvPr>
            <p:ph type="pic" idx="2"/>
          </p:nvPr>
        </p:nvSpPr>
        <p:spPr>
          <a:xfrm>
            <a:off x="5183188" y="987425"/>
            <a:ext cx="6172200" cy="48736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R="0" lvl="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None/>
              <a:defRPr sz="3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  <a:defRPr sz="2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68" name="Google Shape;68;p10"/>
          <p:cNvSpPr txBox="1">
            <a:spLocks noGrp="1"/>
          </p:cNvSpPr>
          <p:nvPr>
            <p:ph type="body" idx="1"/>
          </p:nvPr>
        </p:nvSpPr>
        <p:spPr>
          <a:xfrm>
            <a:off x="839788" y="2057400"/>
            <a:ext cx="3932237" cy="38115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marR="0" lvl="0" indent="-2286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  <a:defRPr sz="16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69" name="Google Shape;69;p10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70" name="Google Shape;70;p10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marR="0"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71" name="Google Shape;71;p10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 rtl="0">
              <a:spcBef>
                <a:spcPts val="0"/>
              </a:spcBef>
              <a:buNone/>
              <a:defRPr sz="12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 rtl="0">
              <a:spcBef>
                <a:spcPts val="0"/>
              </a:spcBef>
              <a:buNone/>
              <a:defRPr sz="12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 rtl="0">
              <a:spcBef>
                <a:spcPts val="0"/>
              </a:spcBef>
              <a:buNone/>
              <a:defRPr sz="12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 rtl="0">
              <a:spcBef>
                <a:spcPts val="0"/>
              </a:spcBef>
              <a:buNone/>
              <a:defRPr sz="12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 rtl="0">
              <a:spcBef>
                <a:spcPts val="0"/>
              </a:spcBef>
              <a:buNone/>
              <a:defRPr sz="12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 rtl="0">
              <a:spcBef>
                <a:spcPts val="0"/>
              </a:spcBef>
              <a:buNone/>
              <a:defRPr sz="12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 rtl="0">
              <a:spcBef>
                <a:spcPts val="0"/>
              </a:spcBef>
              <a:buNone/>
              <a:defRPr sz="12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 rtl="0">
              <a:spcBef>
                <a:spcPts val="0"/>
              </a:spcBef>
              <a:buNone/>
              <a:defRPr sz="12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 rtl="0">
              <a:spcBef>
                <a:spcPts val="0"/>
              </a:spcBef>
              <a:buNone/>
              <a:defRPr sz="12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Vertical Text" type="vertTx">
  <p:cSld name="VERTICAL_TEXT">
    <p:spTree>
      <p:nvGrpSpPr>
        <p:cNvPr id="1" name="Shape 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" name="Google Shape;73;p11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marR="0"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 sz="4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>
            <a:endParaRPr/>
          </a:p>
        </p:txBody>
      </p:sp>
      <p:sp>
        <p:nvSpPr>
          <p:cNvPr id="74" name="Google Shape;74;p11"/>
          <p:cNvSpPr txBox="1">
            <a:spLocks noGrp="1"/>
          </p:cNvSpPr>
          <p:nvPr>
            <p:ph type="body" idx="1"/>
          </p:nvPr>
        </p:nvSpPr>
        <p:spPr>
          <a:xfrm rot="5400000">
            <a:off x="3920331" y="-1256506"/>
            <a:ext cx="4351338" cy="10515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marR="0" lvl="0" indent="-4064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•"/>
              <a:defRPr sz="2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3810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sz="2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355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75" name="Google Shape;75;p11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76" name="Google Shape;76;p11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marR="0"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77" name="Google Shape;77;p11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 rtl="0">
              <a:spcBef>
                <a:spcPts val="0"/>
              </a:spcBef>
              <a:buNone/>
              <a:defRPr sz="12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 rtl="0">
              <a:spcBef>
                <a:spcPts val="0"/>
              </a:spcBef>
              <a:buNone/>
              <a:defRPr sz="12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 rtl="0">
              <a:spcBef>
                <a:spcPts val="0"/>
              </a:spcBef>
              <a:buNone/>
              <a:defRPr sz="12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 rtl="0">
              <a:spcBef>
                <a:spcPts val="0"/>
              </a:spcBef>
              <a:buNone/>
              <a:defRPr sz="12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 rtl="0">
              <a:spcBef>
                <a:spcPts val="0"/>
              </a:spcBef>
              <a:buNone/>
              <a:defRPr sz="12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 rtl="0">
              <a:spcBef>
                <a:spcPts val="0"/>
              </a:spcBef>
              <a:buNone/>
              <a:defRPr sz="12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 rtl="0">
              <a:spcBef>
                <a:spcPts val="0"/>
              </a:spcBef>
              <a:buNone/>
              <a:defRPr sz="12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 rtl="0">
              <a:spcBef>
                <a:spcPts val="0"/>
              </a:spcBef>
              <a:buNone/>
              <a:defRPr sz="12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 rtl="0">
              <a:spcBef>
                <a:spcPts val="0"/>
              </a:spcBef>
              <a:buNone/>
              <a:defRPr sz="12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Vertical Title and Text" type="vertTitleAndTx">
  <p:cSld name="VERTICAL_TITLE_AND_VERTICAL_TEXT">
    <p:spTree>
      <p:nvGrpSpPr>
        <p:cNvPr id="1" name="Shape 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" name="Google Shape;79;p12"/>
          <p:cNvSpPr txBox="1">
            <a:spLocks noGrp="1"/>
          </p:cNvSpPr>
          <p:nvPr>
            <p:ph type="title"/>
          </p:nvPr>
        </p:nvSpPr>
        <p:spPr>
          <a:xfrm rot="5400000">
            <a:off x="7133431" y="1956594"/>
            <a:ext cx="5811838" cy="2628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marR="0"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 sz="4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>
            <a:endParaRPr/>
          </a:p>
        </p:txBody>
      </p:sp>
      <p:sp>
        <p:nvSpPr>
          <p:cNvPr id="80" name="Google Shape;80;p12"/>
          <p:cNvSpPr txBox="1">
            <a:spLocks noGrp="1"/>
          </p:cNvSpPr>
          <p:nvPr>
            <p:ph type="body" idx="1"/>
          </p:nvPr>
        </p:nvSpPr>
        <p:spPr>
          <a:xfrm rot="5400000">
            <a:off x="1799431" y="-596106"/>
            <a:ext cx="5811838" cy="7734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marR="0" lvl="0" indent="-4064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•"/>
              <a:defRPr sz="2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3810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sz="2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355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81" name="Google Shape;81;p12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82" name="Google Shape;82;p12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marR="0"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83" name="Google Shape;83;p12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 rtl="0">
              <a:spcBef>
                <a:spcPts val="0"/>
              </a:spcBef>
              <a:buNone/>
              <a:defRPr sz="12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 rtl="0">
              <a:spcBef>
                <a:spcPts val="0"/>
              </a:spcBef>
              <a:buNone/>
              <a:defRPr sz="12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 rtl="0">
              <a:spcBef>
                <a:spcPts val="0"/>
              </a:spcBef>
              <a:buNone/>
              <a:defRPr sz="12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 rtl="0">
              <a:spcBef>
                <a:spcPts val="0"/>
              </a:spcBef>
              <a:buNone/>
              <a:defRPr sz="12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 rtl="0">
              <a:spcBef>
                <a:spcPts val="0"/>
              </a:spcBef>
              <a:buNone/>
              <a:defRPr sz="12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 rtl="0">
              <a:spcBef>
                <a:spcPts val="0"/>
              </a:spcBef>
              <a:buNone/>
              <a:defRPr sz="12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 rtl="0">
              <a:spcBef>
                <a:spcPts val="0"/>
              </a:spcBef>
              <a:buNone/>
              <a:defRPr sz="12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 rtl="0">
              <a:spcBef>
                <a:spcPts val="0"/>
              </a:spcBef>
              <a:buNone/>
              <a:defRPr sz="12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 rtl="0">
              <a:spcBef>
                <a:spcPts val="0"/>
              </a:spcBef>
              <a:buNone/>
              <a:defRPr sz="12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9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1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marR="0"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 sz="4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>
            <a:endParaRPr/>
          </a:p>
        </p:txBody>
      </p:sp>
      <p:sp>
        <p:nvSpPr>
          <p:cNvPr id="11" name="Google Shape;11;p1"/>
          <p:cNvSpPr txBox="1"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marR="0" lvl="0" indent="-4064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•"/>
              <a:defRPr sz="2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3810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sz="2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355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12" name="Google Shape;12;p1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13" name="Google Shape;13;p1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marR="0"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14" name="Google Shape;14;p1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51" r:id="rId1"/>
    <p:sldLayoutId id="2147483652" r:id="rId2"/>
    <p:sldLayoutId id="2147483653" r:id="rId3"/>
    <p:sldLayoutId id="2147483654" r:id="rId4"/>
    <p:sldLayoutId id="2147483655" r:id="rId5"/>
    <p:sldLayoutId id="2147483656" r:id="rId6"/>
    <p:sldLayoutId id="2147483657" r:id="rId7"/>
    <p:sldLayoutId id="2147483658" r:id="rId8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hyperlink" Target="https://azure.microsoft.com/en-us/services/synapse-analytics/" TargetMode="External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2.png"/><Relationship Id="rId5" Type="http://schemas.openxmlformats.org/officeDocument/2006/relationships/image" Target="../media/image1.png"/><Relationship Id="rId4" Type="http://schemas.openxmlformats.org/officeDocument/2006/relationships/hyperlink" Target="https://docs.microsoft.com/en-us/azure/cosmos-db/analytical-store-introduction" TargetMode="Externa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1.xml"/><Relationship Id="rId2" Type="http://schemas.openxmlformats.org/officeDocument/2006/relationships/diagramData" Target="../diagrams/data1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1.xml"/><Relationship Id="rId5" Type="http://schemas.openxmlformats.org/officeDocument/2006/relationships/diagramColors" Target="../diagrams/colors1.xml"/><Relationship Id="rId4" Type="http://schemas.openxmlformats.org/officeDocument/2006/relationships/diagramQuickStyle" Target="../diagrams/quickStyle1.xml"/></Relationships>
</file>

<file path=ppt/slides/_rels/slide3.xml.rels><?xml version="1.0" encoding="UTF-8" standalone="yes"?>
<Relationships xmlns="http://schemas.openxmlformats.org/package/2006/relationships"><Relationship Id="rId8" Type="http://schemas.openxmlformats.org/officeDocument/2006/relationships/hyperlink" Target="https://docs.microsoft.com/en-us/analysis-services/multidimensional-models/create-an-analysis-services-project-ssdt?view=asallproducts-allversions" TargetMode="External"/><Relationship Id="rId3" Type="http://schemas.openxmlformats.org/officeDocument/2006/relationships/image" Target="../media/image4.svg"/><Relationship Id="rId7" Type="http://schemas.openxmlformats.org/officeDocument/2006/relationships/image" Target="../media/image8.png"/><Relationship Id="rId12" Type="http://schemas.openxmlformats.org/officeDocument/2006/relationships/hyperlink" Target="https://docs.microsoft.com/en-us/azure/data-factory/connector-amazon-simple-storage-service" TargetMode="External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7.png"/><Relationship Id="rId11" Type="http://schemas.openxmlformats.org/officeDocument/2006/relationships/image" Target="../media/image10.jpeg"/><Relationship Id="rId5" Type="http://schemas.openxmlformats.org/officeDocument/2006/relationships/image" Target="../media/image6.svg"/><Relationship Id="rId10" Type="http://schemas.openxmlformats.org/officeDocument/2006/relationships/image" Target="../media/image9.png"/><Relationship Id="rId4" Type="http://schemas.openxmlformats.org/officeDocument/2006/relationships/image" Target="../media/image5.png"/><Relationship Id="rId9" Type="http://schemas.openxmlformats.org/officeDocument/2006/relationships/hyperlink" Target="https://docs.microsoft.com/en-us/sql/integration-services/import-export-data/steps-in-the-sql-server-import-and-export-wizard?view=sql-server-ver15" TargetMode="Externa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svg"/><Relationship Id="rId7" Type="http://schemas.openxmlformats.org/officeDocument/2006/relationships/image" Target="../media/image12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1.png"/><Relationship Id="rId5" Type="http://schemas.openxmlformats.org/officeDocument/2006/relationships/image" Target="../media/image8.png"/><Relationship Id="rId4" Type="http://schemas.openxmlformats.org/officeDocument/2006/relationships/image" Target="../media/image7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hyperlink" Target="https://portal.azure.com/" TargetMode="External"/><Relationship Id="rId2" Type="http://schemas.openxmlformats.org/officeDocument/2006/relationships/hyperlink" Target="https://ml.azure.com/" TargetMode="External"/><Relationship Id="rId1" Type="http://schemas.openxmlformats.org/officeDocument/2006/relationships/slideLayout" Target="../slideLayouts/slideLayout2.xml"/><Relationship Id="rId4" Type="http://schemas.openxmlformats.org/officeDocument/2006/relationships/hyperlink" Target="https://ml.azure.com/selectWorkspace" TargetMode="Externa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hyperlink" Target="https://ai.plainenglish.io/deploying-ml-models-on-azure-8daa9c10db5a" TargetMode="External"/><Relationship Id="rId2" Type="http://schemas.openxmlformats.org/officeDocument/2006/relationships/hyperlink" Target="https://towardsdatascience.com/deploying-ml-models-on-azure-a948c106f7b5" TargetMode="External"/><Relationship Id="rId1" Type="http://schemas.openxmlformats.org/officeDocument/2006/relationships/slideLayout" Target="../slideLayouts/slideLayout2.xml"/><Relationship Id="rId4" Type="http://schemas.openxmlformats.org/officeDocument/2006/relationships/hyperlink" Target="https://docs.microsoft.com/en-us/azure/machine-learning/how-to-deploy-and-where?tabs=azcli#script" TargetMode="Externa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hyperlink" Target="https://docs.microsoft.com/en-us/learn/paths/build-ai-solutions-with-azure-ml-service/" TargetMode="External"/><Relationship Id="rId2" Type="http://schemas.openxmlformats.org/officeDocument/2006/relationships/hyperlink" Target="https://www.youtube.com/watch?v=2OgBxYCnVGk" TargetMode="External"/><Relationship Id="rId1" Type="http://schemas.openxmlformats.org/officeDocument/2006/relationships/slideLayout" Target="../slideLayouts/slideLayout2.xml"/><Relationship Id="rId5" Type="http://schemas.openxmlformats.org/officeDocument/2006/relationships/hyperlink" Target="https://docs.microsoft.com/en-us/azure/machine-learning/" TargetMode="External"/><Relationship Id="rId4" Type="http://schemas.openxmlformats.org/officeDocument/2006/relationships/hyperlink" Target="https://benalexkeen.com/creating-end-to-end-mlops-pipelines-using-azure-ml-and-azure-pipelines-part-1/" TargetMode="External"/></Relationships>
</file>

<file path=ppt/slides/_rels/slide8.xml.rels><?xml version="1.0" encoding="UTF-8" standalone="yes"?>
<Relationships xmlns="http://schemas.openxmlformats.org/package/2006/relationships"><Relationship Id="rId8" Type="http://schemas.openxmlformats.org/officeDocument/2006/relationships/hyperlink" Target="https://docs.microsoft.com/en-us/python/api/overview/azure/ml/?view=azure-ml-py" TargetMode="External"/><Relationship Id="rId13" Type="http://schemas.openxmlformats.org/officeDocument/2006/relationships/hyperlink" Target="https://docs.microsoft.com/en-us/azure/machine-learning/how-to-configure-auto-train#primary-metric" TargetMode="External"/><Relationship Id="rId3" Type="http://schemas.openxmlformats.org/officeDocument/2006/relationships/hyperlink" Target="https://docs.microsoft.com/en-us/python/api/azureml-core/azureml.core.datastore?view=azure-ml-py" TargetMode="External"/><Relationship Id="rId7" Type="http://schemas.openxmlformats.org/officeDocument/2006/relationships/hyperlink" Target="https://github.com/Azure/azure-sdk-for-python/tree/master/sdk/storage" TargetMode="External"/><Relationship Id="rId12" Type="http://schemas.openxmlformats.org/officeDocument/2006/relationships/hyperlink" Target="https://docs.microsoft.com/en-us/azure/machine-learning/how-to-understand-automated-ml#regressionforecasting-metrics" TargetMode="External"/><Relationship Id="rId2" Type="http://schemas.openxmlformats.org/officeDocument/2006/relationships/hyperlink" Target="https://github.com/microsoft/MLOpsPython" TargetMode="External"/><Relationship Id="rId1" Type="http://schemas.openxmlformats.org/officeDocument/2006/relationships/slideLayout" Target="../slideLayouts/slideLayout2.xml"/><Relationship Id="rId6" Type="http://schemas.openxmlformats.org/officeDocument/2006/relationships/hyperlink" Target="https://docs.microsoft.com/en-us/rest/api/azure/" TargetMode="External"/><Relationship Id="rId11" Type="http://schemas.openxmlformats.org/officeDocument/2006/relationships/hyperlink" Target="https://towardsdatascience.com/hidden-tricks-for-running-automl-experiment-from-azure-machine-learning-sdk-915d4e3f840e" TargetMode="External"/><Relationship Id="rId5" Type="http://schemas.openxmlformats.org/officeDocument/2006/relationships/hyperlink" Target="https://docs.microsoft.com/en-us/azure/developer/python/" TargetMode="External"/><Relationship Id="rId10" Type="http://schemas.openxmlformats.org/officeDocument/2006/relationships/hyperlink" Target="https://docs.microsoft.com/en-us/azure/machine-learning/how-to-use-automlstep-in-pipelines" TargetMode="External"/><Relationship Id="rId4" Type="http://schemas.openxmlformats.org/officeDocument/2006/relationships/hyperlink" Target="https://docs.microsoft.com/en-us/azure/storage/files/storage-python-how-to-use-file-storage" TargetMode="External"/><Relationship Id="rId9" Type="http://schemas.openxmlformats.org/officeDocument/2006/relationships/hyperlink" Target="https://docs.microsoft.com/en-us/azure/machine-learning/how-to-trigger-published-pipeline#trigger-pipelines-with-azure-machine-learning-sdk-for-python" TargetMode="External"/></Relationships>
</file>

<file path=ppt/slides/_rels/slide9.xml.rels><?xml version="1.0" encoding="UTF-8" standalone="yes"?>
<Relationships xmlns="http://schemas.openxmlformats.org/package/2006/relationships"><Relationship Id="rId8" Type="http://schemas.openxmlformats.org/officeDocument/2006/relationships/hyperlink" Target="https://docs.microsoft.com/en-us/azure/machine-learning/concept-automated-ml" TargetMode="External"/><Relationship Id="rId13" Type="http://schemas.openxmlformats.org/officeDocument/2006/relationships/hyperlink" Target="https://github.com/alex-nogue/Machine_Learning_in_Power_BI#invoke-a-model-in-power-bi-using-azure-ml-service" TargetMode="External"/><Relationship Id="rId3" Type="http://schemas.openxmlformats.org/officeDocument/2006/relationships/hyperlink" Target="https://portal.azure.com/" TargetMode="External"/><Relationship Id="rId7" Type="http://schemas.openxmlformats.org/officeDocument/2006/relationships/hyperlink" Target="https://docs.microsoft.com/en-us/azure/synapse-analytics/sql-data-warehouse/sql-data-warehouse-manage-compute-rest-api" TargetMode="External"/><Relationship Id="rId12" Type="http://schemas.openxmlformats.org/officeDocument/2006/relationships/hyperlink" Target="https://docs.microsoft.com/en-us/azure/machine-learning/how-to-configure-auto-train" TargetMode="External"/><Relationship Id="rId2" Type="http://schemas.openxmlformats.org/officeDocument/2006/relationships/hyperlink" Target="https://github.com/microsoft/MCW-Azure-Synapse-Analytics-and-AI" TargetMode="External"/><Relationship Id="rId1" Type="http://schemas.openxmlformats.org/officeDocument/2006/relationships/slideLayout" Target="../slideLayouts/slideLayout2.xml"/><Relationship Id="rId6" Type="http://schemas.openxmlformats.org/officeDocument/2006/relationships/hyperlink" Target="https://docs.microsoft.com/en-us/azure/synapse-analytics/sql-data-warehouse/sql-data-warehouse-service-capacity-limits" TargetMode="External"/><Relationship Id="rId11" Type="http://schemas.openxmlformats.org/officeDocument/2006/relationships/hyperlink" Target="https://github.com/microsoft/MCW-ML-Ops" TargetMode="External"/><Relationship Id="rId5" Type="http://schemas.openxmlformats.org/officeDocument/2006/relationships/hyperlink" Target="https://docs.microsoft.com/en-us/azure/synapse-analytics/sql/best-practices-sql-on-demand" TargetMode="External"/><Relationship Id="rId15" Type="http://schemas.openxmlformats.org/officeDocument/2006/relationships/hyperlink" Target="https://github.com/Azure/MachineLearningNotebooks/tree/master/tutorials" TargetMode="External"/><Relationship Id="rId10" Type="http://schemas.openxmlformats.org/officeDocument/2006/relationships/hyperlink" Target="https://github.com/microsoft/MCW-Machine-Learning" TargetMode="External"/><Relationship Id="rId4" Type="http://schemas.openxmlformats.org/officeDocument/2006/relationships/hyperlink" Target="https://github.com/microsoft/MCW-Azure-Synapse-Analytics-and-AI/blob/master/Hands-on%20lab/HOL%20step-by%20step%20-%20Azure%20Synapse%20Analytics%20and%20AI.md" TargetMode="External"/><Relationship Id="rId9" Type="http://schemas.openxmlformats.org/officeDocument/2006/relationships/hyperlink" Target="https://github.com/microsoft/solution-accelerator-many-models" TargetMode="External"/><Relationship Id="rId14" Type="http://schemas.openxmlformats.org/officeDocument/2006/relationships/hyperlink" Target="https://tsmatz.wordpress.com/2018/03/02/patterns-sql-server-machine-learning-services-r-and-python/" TargetMode="External"/></Relationships>
</file>

<file path=ppt/slides/_rels/slide10.xml.rels><?xml version="1.0" encoding="UTF-8" standalone="yes"?>
<Relationships xmlns="http://schemas.openxmlformats.org/package/2006/relationships"><Relationship Id="rId8" Type="http://schemas.openxmlformats.org/officeDocument/2006/relationships/hyperlink" Target="https://azure.microsoft.com/en-us/blog/azure-data-factory-updates-integration-with-azure-machine-learning-2/" TargetMode="External"/><Relationship Id="rId13" Type="http://schemas.openxmlformats.org/officeDocument/2006/relationships/hyperlink" Target="https://docs.microsoft.com/en-us/azure/machine-learning/" TargetMode="External"/><Relationship Id="rId3" Type="http://schemas.openxmlformats.org/officeDocument/2006/relationships/hyperlink" Target="https://docs.microsoft.com/en-us/azure/storage/common/storage-use-azcopy-v10" TargetMode="External"/><Relationship Id="rId7" Type="http://schemas.openxmlformats.org/officeDocument/2006/relationships/hyperlink" Target="https://azure.microsoft.com/en-us/blog/retraining-and-updating-azure-machine-learning-models-with-azure-data-factory/" TargetMode="External"/><Relationship Id="rId12" Type="http://schemas.openxmlformats.org/officeDocument/2006/relationships/hyperlink" Target="https://www.youtube.com/watch?v=7k4XvM4wd0k" TargetMode="External"/><Relationship Id="rId2" Type="http://schemas.openxmlformats.org/officeDocument/2006/relationships/hyperlink" Target="https://www.microsoft.com/en-us/download/details.aspx?id=39717" TargetMode="External"/><Relationship Id="rId1" Type="http://schemas.openxmlformats.org/officeDocument/2006/relationships/slideLayout" Target="../slideLayouts/slideLayout2.xml"/><Relationship Id="rId6" Type="http://schemas.openxmlformats.org/officeDocument/2006/relationships/hyperlink" Target="https://www.danielstocker.net/what-is-the-difference-between-azure-standard-storage-and-azure-premium-storage/" TargetMode="External"/><Relationship Id="rId11" Type="http://schemas.openxmlformats.org/officeDocument/2006/relationships/hyperlink" Target="https://www.youtube.com/watch?v=lVP7ywRq8p4" TargetMode="External"/><Relationship Id="rId5" Type="http://schemas.openxmlformats.org/officeDocument/2006/relationships/hyperlink" Target="https://docs.microsoft.com/en-us/azure/storage/common/storage-use-azcopy-s3" TargetMode="External"/><Relationship Id="rId10" Type="http://schemas.openxmlformats.org/officeDocument/2006/relationships/hyperlink" Target="https://docs.microsoft.com/en-us/azure/machine-learning/tutorial-pipeline-batch-scoring-classification" TargetMode="External"/><Relationship Id="rId4" Type="http://schemas.openxmlformats.org/officeDocument/2006/relationships/hyperlink" Target="https://docs.microsoft.com/en-us/azure/storage/common/storage-ref-azcopy-copy" TargetMode="External"/><Relationship Id="rId9" Type="http://schemas.openxmlformats.org/officeDocument/2006/relationships/hyperlink" Target="https://docs.microsoft.com/en-us/azure/data-factory/transform-data-machine-learning-service" TargetMode="External"/><Relationship Id="rId14" Type="http://schemas.openxmlformats.org/officeDocument/2006/relationships/hyperlink" Target="https://docs.microsoft.com/en-us/learn/paths/build-ai-solutions-with-azure-ml-service/" TargetMode="Externa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E39E9F61-055F-1F43-B6F0-A3330AAA1662}"/>
              </a:ext>
            </a:extLst>
          </p:cNvPr>
          <p:cNvSpPr txBox="1"/>
          <p:nvPr/>
        </p:nvSpPr>
        <p:spPr>
          <a:xfrm>
            <a:off x="175971" y="37396"/>
            <a:ext cx="3181241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200" b="1" dirty="0">
                <a:solidFill>
                  <a:srgbClr val="0070C0"/>
                </a:solidFill>
              </a:rPr>
              <a:t>Azure</a:t>
            </a:r>
          </a:p>
        </p:txBody>
      </p:sp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E86E237C-37FE-1047-BAB5-D55DF45BDC9E}"/>
              </a:ext>
            </a:extLst>
          </p:cNvPr>
          <p:cNvCxnSpPr/>
          <p:nvPr/>
        </p:nvCxnSpPr>
        <p:spPr>
          <a:xfrm flipV="1">
            <a:off x="5892800" y="329784"/>
            <a:ext cx="0" cy="6299616"/>
          </a:xfrm>
          <a:prstGeom prst="line">
            <a:avLst/>
          </a:prstGeom>
          <a:ln w="635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TextBox 1">
            <a:extLst>
              <a:ext uri="{FF2B5EF4-FFF2-40B4-BE49-F238E27FC236}">
                <a16:creationId xmlns:a16="http://schemas.microsoft.com/office/drawing/2014/main" id="{BEF0E5AE-176E-D141-99F8-35ED49666992}"/>
              </a:ext>
            </a:extLst>
          </p:cNvPr>
          <p:cNvSpPr txBox="1"/>
          <p:nvPr/>
        </p:nvSpPr>
        <p:spPr>
          <a:xfrm>
            <a:off x="175971" y="935534"/>
            <a:ext cx="5334813" cy="569386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>
                <a:solidFill>
                  <a:srgbClr val="FF0000"/>
                </a:solidFill>
              </a:rPr>
              <a:t>Machine Learning Workspace</a:t>
            </a:r>
            <a:r>
              <a:rPr lang="en-US" dirty="0"/>
              <a:t> – set of tools for ML</a:t>
            </a:r>
          </a:p>
          <a:p>
            <a:r>
              <a:rPr lang="en-US" dirty="0"/>
              <a:t>Azure Machine Learning Studio - python scripts, </a:t>
            </a:r>
            <a:r>
              <a:rPr lang="en-US" dirty="0" err="1"/>
              <a:t>jupyter</a:t>
            </a:r>
            <a:r>
              <a:rPr lang="en-US" dirty="0"/>
              <a:t> notebook, ML Studio notebooks, data storage, Linux VMs (single or clusters), </a:t>
            </a:r>
            <a:r>
              <a:rPr lang="en-US" dirty="0" err="1"/>
              <a:t>AutoML</a:t>
            </a:r>
            <a:r>
              <a:rPr lang="en-US" dirty="0"/>
              <a:t> (regression, classification, forecasting), automating experiments and whole ML workflows.</a:t>
            </a:r>
          </a:p>
          <a:p>
            <a:endParaRPr lang="en-US" dirty="0"/>
          </a:p>
          <a:p>
            <a:endParaRPr lang="en-US" dirty="0"/>
          </a:p>
          <a:p>
            <a:r>
              <a:rPr lang="en-US" b="1" dirty="0">
                <a:solidFill>
                  <a:srgbClr val="FF0000"/>
                </a:solidFill>
              </a:rPr>
              <a:t>Azure Synapse Workspace</a:t>
            </a:r>
            <a:r>
              <a:rPr lang="en-US" dirty="0"/>
              <a:t> – newest collection of Azure tools for Analytics. </a:t>
            </a:r>
          </a:p>
          <a:p>
            <a:r>
              <a:rPr lang="en-US" dirty="0"/>
              <a:t> - </a:t>
            </a:r>
            <a:r>
              <a:rPr lang="en-US" dirty="0">
                <a:hlinkClick r:id="rId3"/>
              </a:rPr>
              <a:t>https://azure.microsoft.com/en-us/services/synapse-analytics/</a:t>
            </a:r>
            <a:endParaRPr lang="en-US" dirty="0"/>
          </a:p>
          <a:p>
            <a:r>
              <a:rPr lang="en-US" dirty="0"/>
              <a:t>It is a big set of tools: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Azure Storage Gen 2 - substitutes for Storage Gen1 and Data Lake Gen 1. Gen 2 is more reliable, efficient, cheaper, support for “Big Data” technologies.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Data pools (serverless, dedicated, spark, </a:t>
            </a:r>
            <a:r>
              <a:rPr lang="en-US" dirty="0" err="1"/>
              <a:t>databricks</a:t>
            </a:r>
            <a:r>
              <a:rPr lang="en-US" dirty="0"/>
              <a:t>).</a:t>
            </a:r>
            <a:br>
              <a:rPr lang="en-US" dirty="0"/>
            </a:br>
            <a:r>
              <a:rPr lang="en-US" dirty="0"/>
              <a:t>Dedicated SQL Pool = SQL </a:t>
            </a:r>
            <a:r>
              <a:rPr lang="en-US" dirty="0" err="1"/>
              <a:t>DataWarehouse</a:t>
            </a:r>
            <a:br>
              <a:rPr lang="en-US" dirty="0"/>
            </a:br>
            <a:r>
              <a:rPr lang="en-US" dirty="0"/>
              <a:t>You can query csv, </a:t>
            </a:r>
            <a:r>
              <a:rPr lang="en-US" dirty="0" err="1"/>
              <a:t>jason</a:t>
            </a:r>
            <a:r>
              <a:rPr lang="en-US" dirty="0"/>
              <a:t>, parquet files - serverless SQL pools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Compute clusters – including Spark &amp; Databricks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Data Factory – to automate data flows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Azure Synapse Link for Azure Cosmos DB - https://</a:t>
            </a:r>
            <a:r>
              <a:rPr lang="en-US" dirty="0" err="1"/>
              <a:t>docs.microsoft.com</a:t>
            </a:r>
            <a:r>
              <a:rPr lang="en-US" dirty="0"/>
              <a:t>/</a:t>
            </a:r>
            <a:r>
              <a:rPr lang="en-US" dirty="0" err="1"/>
              <a:t>en</a:t>
            </a:r>
            <a:r>
              <a:rPr lang="en-US" dirty="0"/>
              <a:t>-us/azure/cosmos-</a:t>
            </a:r>
            <a:r>
              <a:rPr lang="en-US" dirty="0" err="1"/>
              <a:t>db</a:t>
            </a:r>
            <a:r>
              <a:rPr lang="en-US" dirty="0"/>
              <a:t>/synapse-link -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Cosmos DB Analytica Store - </a:t>
            </a:r>
            <a:r>
              <a:rPr lang="en-US" dirty="0">
                <a:hlinkClick r:id="rId4"/>
              </a:rPr>
              <a:t>https://docs.microsoft.com/en-us/azure/cosmos-db/analytical-store-introduction</a:t>
            </a:r>
            <a:endParaRPr lang="en-US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Power BI Integration</a:t>
            </a:r>
          </a:p>
        </p:txBody>
      </p:sp>
      <p:pic>
        <p:nvPicPr>
          <p:cNvPr id="1026" name="Picture 2" descr="Microsoft’s Azure Synapse Overview Slide">
            <a:extLst>
              <a:ext uri="{FF2B5EF4-FFF2-40B4-BE49-F238E27FC236}">
                <a16:creationId xmlns:a16="http://schemas.microsoft.com/office/drawing/2014/main" id="{C2E86A75-27FF-874C-996C-46322D019D1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5892800" y="37396"/>
            <a:ext cx="6228967" cy="375878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28" name="Picture 4" descr="Elements inside Azure Synapse Analytics">
            <a:extLst>
              <a:ext uri="{FF2B5EF4-FFF2-40B4-BE49-F238E27FC236}">
                <a16:creationId xmlns:a16="http://schemas.microsoft.com/office/drawing/2014/main" id="{A7ED3D6D-D2F1-8C4A-BAE7-BABD4B6AF8A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6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6051850" y="4096512"/>
            <a:ext cx="5964180" cy="26202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17988492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Box 6">
            <a:extLst>
              <a:ext uri="{FF2B5EF4-FFF2-40B4-BE49-F238E27FC236}">
                <a16:creationId xmlns:a16="http://schemas.microsoft.com/office/drawing/2014/main" id="{40363E38-6FBF-EE40-AC96-F6309D81C6F5}"/>
              </a:ext>
            </a:extLst>
          </p:cNvPr>
          <p:cNvSpPr txBox="1"/>
          <p:nvPr/>
        </p:nvSpPr>
        <p:spPr>
          <a:xfrm>
            <a:off x="437394" y="1041555"/>
            <a:ext cx="5054887" cy="196977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>
            <a:spAutoFit/>
          </a:bodyPr>
          <a:lstStyle/>
          <a:p>
            <a:pPr marL="285750" lvl="0" indent="-285750">
              <a:buFont typeface="Arial" panose="020B0604020202020204" pitchFamily="34" charset="0"/>
              <a:buChar char="•"/>
              <a:defRPr/>
            </a:pPr>
            <a:r>
              <a:rPr kumimoji="0" lang="en-US" sz="1600" b="0" i="0" u="none" strike="noStrike" kern="1200" cap="none" spc="0" normalizeH="0" baseline="0" noProof="0" dirty="0">
                <a:ln>
                  <a:noFill/>
                </a:ln>
                <a:solidFill>
                  <a:srgbClr val="1A1A1A"/>
                </a:solidFill>
                <a:effectLst/>
                <a:uLnTx/>
                <a:uFillTx/>
                <a:latin typeface="Segoe UI"/>
                <a:ea typeface="+mn-ea"/>
                <a:cs typeface="+mn-cs"/>
              </a:rPr>
              <a:t>Export Client's data </a:t>
            </a:r>
            <a:r>
              <a:rPr lang="en-US" sz="1600" dirty="0">
                <a:solidFill>
                  <a:srgbClr val="1A1A1A"/>
                </a:solidFill>
                <a:latin typeface="Segoe UI"/>
              </a:rPr>
              <a:t>from their systems (usually in CSV format). </a:t>
            </a:r>
            <a:r>
              <a:rPr kumimoji="0" lang="en-US" sz="1600" b="0" i="0" u="none" strike="noStrike" kern="1200" cap="none" spc="0" normalizeH="0" baseline="0" noProof="0" dirty="0">
                <a:ln>
                  <a:noFill/>
                </a:ln>
                <a:solidFill>
                  <a:srgbClr val="1A1A1A"/>
                </a:solidFill>
                <a:effectLst/>
                <a:uLnTx/>
                <a:uFillTx/>
                <a:latin typeface="Segoe UI"/>
                <a:ea typeface="+mn-ea"/>
                <a:cs typeface="+mn-cs"/>
              </a:rPr>
              <a:t>Upload the CSV files into </a:t>
            </a:r>
            <a:r>
              <a:rPr kumimoji="0" lang="en-US" sz="1600" b="0" i="0" u="none" strike="noStrike" kern="1200" cap="none" spc="0" normalizeH="0" noProof="0" dirty="0">
                <a:ln>
                  <a:noFill/>
                </a:ln>
                <a:solidFill>
                  <a:srgbClr val="1A1A1A"/>
                </a:solidFill>
                <a:effectLst/>
                <a:uLnTx/>
                <a:uFillTx/>
                <a:latin typeface="Segoe UI"/>
                <a:ea typeface="+mn-ea"/>
                <a:cs typeface="+mn-cs"/>
              </a:rPr>
              <a:t>Azure ADLS Storage</a:t>
            </a:r>
          </a:p>
          <a:p>
            <a:pPr marL="285750" lvl="0" indent="-285750">
              <a:buFont typeface="Arial" panose="020B0604020202020204" pitchFamily="34" charset="0"/>
              <a:buChar char="•"/>
              <a:defRPr/>
            </a:pPr>
            <a:r>
              <a:rPr lang="en-US" sz="1600" kern="1200" dirty="0">
                <a:solidFill>
                  <a:srgbClr val="1A1A1A"/>
                </a:solidFill>
                <a:latin typeface="Segoe UI"/>
                <a:ea typeface="+mn-ea"/>
                <a:cs typeface="+mn-cs"/>
              </a:rPr>
              <a:t>Machine Learning: data </a:t>
            </a:r>
            <a:r>
              <a:rPr lang="en-US" sz="1600" kern="1200" dirty="0">
                <a:solidFill>
                  <a:srgbClr val="1A1A1A"/>
                </a:solidFill>
                <a:latin typeface="Segoe UI"/>
              </a:rPr>
              <a:t>visualization</a:t>
            </a:r>
            <a:r>
              <a:rPr lang="en-US" sz="1600" kern="1200" dirty="0">
                <a:solidFill>
                  <a:srgbClr val="1A1A1A"/>
                </a:solidFill>
                <a:latin typeface="Segoe UI"/>
                <a:ea typeface="+mn-ea"/>
                <a:cs typeface="+mn-cs"/>
              </a:rPr>
              <a:t>, preparation (nulls, outliers, imbalances, etc.), feature engineering, evaluating different models</a:t>
            </a:r>
          </a:p>
          <a:p>
            <a:pPr marL="285750" lvl="0" indent="-285750">
              <a:buFont typeface="Arial" panose="020B0604020202020204" pitchFamily="34" charset="0"/>
              <a:buChar char="•"/>
              <a:defRPr/>
            </a:pPr>
            <a:r>
              <a:rPr lang="en-US" sz="1600" kern="1200" dirty="0">
                <a:solidFill>
                  <a:srgbClr val="1A1A1A"/>
                </a:solidFill>
                <a:latin typeface="Segoe UI"/>
                <a:ea typeface="+mn-ea"/>
                <a:cs typeface="+mn-cs"/>
              </a:rPr>
              <a:t>Loading data and/or features into SQL DB</a:t>
            </a:r>
          </a:p>
          <a:p>
            <a:pPr marL="285750" marR="0" lvl="0" indent="-28575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lang="en-US" sz="1600" baseline="0" dirty="0">
                <a:solidFill>
                  <a:srgbClr val="1A1A1A"/>
                </a:solidFill>
                <a:latin typeface="Segoe UI"/>
              </a:rPr>
              <a:t>Visualize the prediction results</a:t>
            </a:r>
            <a:r>
              <a:rPr lang="en-US" sz="1600" dirty="0">
                <a:solidFill>
                  <a:srgbClr val="1A1A1A"/>
                </a:solidFill>
                <a:latin typeface="Segoe UI"/>
              </a:rPr>
              <a:t> (Power BI)</a:t>
            </a:r>
            <a:endParaRPr kumimoji="0" lang="en-US" sz="1600" b="0" i="0" u="none" strike="noStrike" kern="1200" cap="none" spc="0" normalizeH="0" baseline="0" noProof="0" dirty="0">
              <a:ln>
                <a:noFill/>
              </a:ln>
              <a:solidFill>
                <a:srgbClr val="1A1A1A"/>
              </a:solidFill>
              <a:effectLst/>
              <a:uLnTx/>
              <a:uFillTx/>
              <a:latin typeface="Segoe UI"/>
              <a:ea typeface="+mn-ea"/>
              <a:cs typeface="+mn-cs"/>
            </a:endParaRPr>
          </a:p>
        </p:txBody>
      </p:sp>
      <p:sp>
        <p:nvSpPr>
          <p:cNvPr id="8" name="Title 4">
            <a:extLst>
              <a:ext uri="{FF2B5EF4-FFF2-40B4-BE49-F238E27FC236}">
                <a16:creationId xmlns:a16="http://schemas.microsoft.com/office/drawing/2014/main" id="{C8C9891E-D842-D64A-ABE8-96BDFE852BD1}"/>
              </a:ext>
            </a:extLst>
          </p:cNvPr>
          <p:cNvSpPr txBox="1">
            <a:spLocks/>
          </p:cNvSpPr>
          <p:nvPr/>
        </p:nvSpPr>
        <p:spPr>
          <a:xfrm>
            <a:off x="212836" y="124490"/>
            <a:ext cx="8695638" cy="635000"/>
          </a:xfrm>
          <a:prstGeom prst="rect">
            <a:avLst/>
          </a:prstGeom>
        </p:spPr>
        <p:txBody>
          <a:bodyPr vert="horz" wrap="square" lIns="0" tIns="0" rIns="0" bIns="0" rtlCol="0" anchor="t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b="1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j-ea"/>
                <a:cs typeface="Segoe UI" panose="020B0502040204020203" pitchFamily="34" charset="0"/>
              </a:defRPr>
            </a:lvl1pPr>
          </a:lstStyle>
          <a:p>
            <a:r>
              <a:rPr lang="en-US" sz="3600" b="0" dirty="0">
                <a:latin typeface="Segoe Semibold"/>
              </a:rPr>
              <a:t>Machine Learning POC - High Level View</a:t>
            </a:r>
          </a:p>
        </p:txBody>
      </p:sp>
      <p:graphicFrame>
        <p:nvGraphicFramePr>
          <p:cNvPr id="9" name="Diagram 8">
            <a:extLst>
              <a:ext uri="{FF2B5EF4-FFF2-40B4-BE49-F238E27FC236}">
                <a16:creationId xmlns:a16="http://schemas.microsoft.com/office/drawing/2014/main" id="{A06F24AB-8A1B-1E42-94E7-B89832EA8C0E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641249978"/>
              </p:ext>
            </p:extLst>
          </p:nvPr>
        </p:nvGraphicFramePr>
        <p:xfrm>
          <a:off x="5541394" y="934020"/>
          <a:ext cx="6650606" cy="472855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  <p:sp>
        <p:nvSpPr>
          <p:cNvPr id="10" name="Rectangle 9">
            <a:extLst>
              <a:ext uri="{FF2B5EF4-FFF2-40B4-BE49-F238E27FC236}">
                <a16:creationId xmlns:a16="http://schemas.microsoft.com/office/drawing/2014/main" id="{CFFB56E6-3C66-6E4D-A498-245CDDD54348}"/>
              </a:ext>
            </a:extLst>
          </p:cNvPr>
          <p:cNvSpPr/>
          <p:nvPr/>
        </p:nvSpPr>
        <p:spPr>
          <a:xfrm>
            <a:off x="9481802" y="3272194"/>
            <a:ext cx="202254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/>
              <a:t> </a:t>
            </a: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ABA841F6-16EB-6B46-ADE1-0CC09CD89BE3}"/>
              </a:ext>
            </a:extLst>
          </p:cNvPr>
          <p:cNvSpPr/>
          <p:nvPr/>
        </p:nvSpPr>
        <p:spPr>
          <a:xfrm>
            <a:off x="9485008" y="3272194"/>
            <a:ext cx="197008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>
                <a:solidFill>
                  <a:srgbClr val="000000"/>
                </a:solidFill>
                <a:latin typeface="Times New Roman" panose="02020603050405020304" pitchFamily="18" charset="0"/>
              </a:rPr>
              <a:t> </a:t>
            </a:r>
            <a:endParaRPr lang="en-US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5E5C0ADA-2DB4-2048-A8D9-F803F7DFE4DB}"/>
              </a:ext>
            </a:extLst>
          </p:cNvPr>
          <p:cNvSpPr/>
          <p:nvPr/>
        </p:nvSpPr>
        <p:spPr>
          <a:xfrm>
            <a:off x="9485008" y="3272194"/>
            <a:ext cx="197008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>
                <a:solidFill>
                  <a:srgbClr val="000000"/>
                </a:solidFill>
                <a:latin typeface="Times New Roman" panose="02020603050405020304" pitchFamily="18" charset="0"/>
              </a:rPr>
              <a:t> </a:t>
            </a:r>
            <a:endParaRPr lang="en-US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20211A9F-F883-CE4C-92E5-3E9A7A6EEADB}"/>
              </a:ext>
            </a:extLst>
          </p:cNvPr>
          <p:cNvSpPr/>
          <p:nvPr/>
        </p:nvSpPr>
        <p:spPr>
          <a:xfrm>
            <a:off x="9485008" y="3272194"/>
            <a:ext cx="197008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>
                <a:solidFill>
                  <a:srgbClr val="000000"/>
                </a:solidFill>
                <a:latin typeface="Times New Roman" panose="02020603050405020304" pitchFamily="18" charset="0"/>
              </a:rPr>
              <a:t> </a:t>
            </a:r>
            <a:endParaRPr lang="en-US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51DF8116-0FC0-524D-9FED-A8303C744B9A}"/>
              </a:ext>
            </a:extLst>
          </p:cNvPr>
          <p:cNvSpPr/>
          <p:nvPr/>
        </p:nvSpPr>
        <p:spPr>
          <a:xfrm>
            <a:off x="9485008" y="3272194"/>
            <a:ext cx="248161" cy="64633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>
                <a:solidFill>
                  <a:srgbClr val="000000"/>
                </a:solidFill>
                <a:latin typeface="Times New Roman" panose="02020603050405020304" pitchFamily="18" charset="0"/>
              </a:rPr>
              <a:t> </a:t>
            </a:r>
            <a:r>
              <a:rPr lang="en-US"/>
              <a:t> </a:t>
            </a:r>
          </a:p>
        </p:txBody>
      </p:sp>
    </p:spTree>
    <p:extLst>
      <p:ext uri="{BB962C8B-B14F-4D97-AF65-F5344CB8AC3E}">
        <p14:creationId xmlns:p14="http://schemas.microsoft.com/office/powerpoint/2010/main" val="240108605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>
            <a:extLst>
              <a:ext uri="{FF2B5EF4-FFF2-40B4-BE49-F238E27FC236}">
                <a16:creationId xmlns:a16="http://schemas.microsoft.com/office/drawing/2014/main" id="{F69581C0-EAA8-914D-AE37-14891D7E91F8}"/>
              </a:ext>
            </a:extLst>
          </p:cNvPr>
          <p:cNvSpPr/>
          <p:nvPr/>
        </p:nvSpPr>
        <p:spPr bwMode="auto">
          <a:xfrm>
            <a:off x="10034708" y="1231918"/>
            <a:ext cx="1543753" cy="5364903"/>
          </a:xfrm>
          <a:prstGeom prst="rect">
            <a:avLst/>
          </a:prstGeom>
          <a:solidFill>
            <a:schemeClr val="bg1">
              <a:lumMod val="95000"/>
              <a:alpha val="50000"/>
            </a:schemeClr>
          </a:solidFill>
          <a:ln w="19050" cap="sq" cmpd="sng" algn="ctr">
            <a:noFill/>
            <a:prstDash val="sysDot"/>
            <a:miter lim="800000"/>
            <a:headEnd type="none" w="med" len="med"/>
            <a:tailEnd type="none" w="med" len="med"/>
          </a:ln>
          <a:effectLst/>
        </p:spPr>
        <p:txBody>
          <a:bodyPr rot="0" spcFirstLastPara="0" vertOverflow="overflow" horzOverflow="overflow" vert="horz" wrap="square" lIns="182880" tIns="146304" rIns="182880" bIns="146304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710593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ct val="3500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600" b="0" i="0" u="none" strike="noStrike" kern="0" cap="none" spc="0" normalizeH="0" baseline="0" noProof="0" dirty="0">
                <a:ln>
                  <a:noFill/>
                </a:ln>
                <a:solidFill>
                  <a:srgbClr val="0078D7"/>
                </a:solidFill>
                <a:effectLst/>
                <a:uLnTx/>
                <a:uFillTx/>
                <a:latin typeface="Segoe UI Semibold" panose="020B0702040204020203" pitchFamily="34" charset="0"/>
                <a:ea typeface="+mn-ea"/>
                <a:cs typeface="Segoe UI Semibold" panose="020B0702040204020203" pitchFamily="34" charset="0"/>
              </a:rPr>
              <a:t>Analyze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54DB352D-3277-6843-98EA-B3D3852D6AF8}"/>
              </a:ext>
            </a:extLst>
          </p:cNvPr>
          <p:cNvSpPr/>
          <p:nvPr/>
        </p:nvSpPr>
        <p:spPr bwMode="auto">
          <a:xfrm>
            <a:off x="8175552" y="1192457"/>
            <a:ext cx="1781665" cy="5404366"/>
          </a:xfrm>
          <a:prstGeom prst="rect">
            <a:avLst/>
          </a:prstGeom>
          <a:solidFill>
            <a:schemeClr val="bg1">
              <a:lumMod val="95000"/>
              <a:alpha val="50000"/>
            </a:schemeClr>
          </a:solidFill>
          <a:ln w="19050" cap="sq" cmpd="sng" algn="ctr">
            <a:noFill/>
            <a:prstDash val="sysDot"/>
            <a:miter lim="800000"/>
            <a:headEnd type="none" w="med" len="med"/>
            <a:tailEnd type="none" w="med" len="med"/>
          </a:ln>
          <a:effectLst/>
        </p:spPr>
        <p:txBody>
          <a:bodyPr rot="0" spcFirstLastPara="0" vertOverflow="overflow" horzOverflow="overflow" vert="horz" wrap="square" lIns="182880" tIns="146304" rIns="182880" bIns="146304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710593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ct val="3500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600" b="0" i="0" u="none" strike="noStrike" kern="0" cap="none" spc="0" normalizeH="0" baseline="0" noProof="0" dirty="0">
                <a:ln>
                  <a:noFill/>
                </a:ln>
                <a:solidFill>
                  <a:srgbClr val="0078D7"/>
                </a:solidFill>
                <a:effectLst/>
                <a:uLnTx/>
                <a:uFillTx/>
                <a:latin typeface="Segoe UI Semibold" panose="020B0702040204020203" pitchFamily="34" charset="0"/>
                <a:ea typeface="+mn-ea"/>
                <a:cs typeface="Segoe UI Semibold" panose="020B0702040204020203" pitchFamily="34" charset="0"/>
              </a:rPr>
              <a:t>Load and Serve</a:t>
            </a: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9AB265E7-9887-7445-92EF-9061109C645C}"/>
              </a:ext>
            </a:extLst>
          </p:cNvPr>
          <p:cNvSpPr/>
          <p:nvPr/>
        </p:nvSpPr>
        <p:spPr bwMode="auto">
          <a:xfrm>
            <a:off x="4246385" y="1192455"/>
            <a:ext cx="1723322" cy="5404367"/>
          </a:xfrm>
          <a:prstGeom prst="rect">
            <a:avLst/>
          </a:prstGeom>
          <a:solidFill>
            <a:schemeClr val="bg1">
              <a:lumMod val="95000"/>
              <a:alpha val="50000"/>
            </a:schemeClr>
          </a:solidFill>
          <a:ln w="19050" cap="sq" cmpd="sng" algn="ctr">
            <a:noFill/>
            <a:prstDash val="sysDot"/>
            <a:miter lim="800000"/>
            <a:headEnd type="none" w="med" len="med"/>
            <a:tailEnd type="none" w="med" len="med"/>
          </a:ln>
          <a:effectLst/>
        </p:spPr>
        <p:txBody>
          <a:bodyPr rot="0" spcFirstLastPara="0" vertOverflow="overflow" horzOverflow="overflow" vert="horz" wrap="square" lIns="182880" tIns="146304" rIns="182880" bIns="146304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710593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ct val="3500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600" b="0" i="0" u="none" strike="noStrike" kern="0" cap="none" spc="0" normalizeH="0" baseline="0" noProof="0" dirty="0">
                <a:ln>
                  <a:noFill/>
                </a:ln>
                <a:solidFill>
                  <a:srgbClr val="0078D7"/>
                </a:solidFill>
                <a:effectLst/>
                <a:uLnTx/>
                <a:uFillTx/>
                <a:latin typeface="Segoe UI Semibold" panose="020B0702040204020203" pitchFamily="34" charset="0"/>
                <a:ea typeface="+mn-ea"/>
                <a:cs typeface="Segoe UI Semibold" panose="020B0702040204020203" pitchFamily="34" charset="0"/>
              </a:rPr>
              <a:t>Store</a:t>
            </a: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070A0F17-4E57-B24F-AC25-A878F2CF9E5C}"/>
              </a:ext>
            </a:extLst>
          </p:cNvPr>
          <p:cNvSpPr/>
          <p:nvPr/>
        </p:nvSpPr>
        <p:spPr bwMode="auto">
          <a:xfrm>
            <a:off x="6059271" y="1192457"/>
            <a:ext cx="2024895" cy="5404365"/>
          </a:xfrm>
          <a:prstGeom prst="rect">
            <a:avLst/>
          </a:prstGeom>
          <a:solidFill>
            <a:schemeClr val="bg1">
              <a:lumMod val="95000"/>
              <a:alpha val="50000"/>
            </a:schemeClr>
          </a:solidFill>
          <a:ln w="19050" cap="sq" cmpd="sng" algn="ctr">
            <a:noFill/>
            <a:prstDash val="sysDot"/>
            <a:miter lim="800000"/>
            <a:headEnd type="none" w="med" len="med"/>
            <a:tailEnd type="none" w="med" len="med"/>
          </a:ln>
          <a:effectLst/>
        </p:spPr>
        <p:txBody>
          <a:bodyPr rot="0" spcFirstLastPara="0" vertOverflow="overflow" horzOverflow="overflow" vert="horz" wrap="square" lIns="182880" tIns="146304" rIns="182880" bIns="146304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710593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ct val="3500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600" b="0" i="0" u="none" strike="noStrike" kern="0" cap="none" spc="0" normalizeH="0" baseline="0" noProof="0" dirty="0">
                <a:ln>
                  <a:noFill/>
                </a:ln>
                <a:solidFill>
                  <a:srgbClr val="0078D7"/>
                </a:solidFill>
                <a:effectLst/>
                <a:uLnTx/>
                <a:uFillTx/>
                <a:latin typeface="Segoe UI Semibold" panose="020B0702040204020203" pitchFamily="34" charset="0"/>
                <a:ea typeface="+mn-ea"/>
                <a:cs typeface="Segoe UI Semibold" panose="020B0702040204020203" pitchFamily="34" charset="0"/>
              </a:rPr>
              <a:t>Prep and train</a:t>
            </a: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2B0DAC1E-B93E-454E-8886-439DEC60D10F}"/>
              </a:ext>
            </a:extLst>
          </p:cNvPr>
          <p:cNvSpPr/>
          <p:nvPr/>
        </p:nvSpPr>
        <p:spPr bwMode="auto">
          <a:xfrm>
            <a:off x="2450193" y="1196450"/>
            <a:ext cx="1719141" cy="5404367"/>
          </a:xfrm>
          <a:prstGeom prst="rect">
            <a:avLst/>
          </a:prstGeom>
          <a:solidFill>
            <a:schemeClr val="bg1">
              <a:lumMod val="95000"/>
              <a:alpha val="50000"/>
            </a:schemeClr>
          </a:solidFill>
          <a:ln w="19050" cap="sq" cmpd="sng" algn="ctr">
            <a:noFill/>
            <a:prstDash val="sysDot"/>
            <a:miter lim="800000"/>
            <a:headEnd type="none" w="med" len="med"/>
            <a:tailEnd type="none" w="med" len="med"/>
          </a:ln>
          <a:effectLst/>
        </p:spPr>
        <p:txBody>
          <a:bodyPr rot="0" spcFirstLastPara="0" vertOverflow="overflow" horzOverflow="overflow" vert="horz" wrap="square" lIns="182880" tIns="146304" rIns="182880" bIns="146304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710593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ct val="3500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600" b="0" i="0" u="none" strike="noStrike" kern="0" cap="none" spc="0" normalizeH="0" baseline="0" noProof="0" dirty="0">
                <a:ln>
                  <a:noFill/>
                </a:ln>
                <a:solidFill>
                  <a:srgbClr val="0078D7"/>
                </a:solidFill>
                <a:effectLst/>
                <a:uLnTx/>
                <a:uFillTx/>
                <a:latin typeface="Segoe UI Semibold" panose="020B0702040204020203" pitchFamily="34" charset="0"/>
                <a:ea typeface="+mn-ea"/>
                <a:cs typeface="Segoe UI Semibold" panose="020B0702040204020203" pitchFamily="34" charset="0"/>
              </a:rPr>
              <a:t>Ingest</a:t>
            </a:r>
          </a:p>
        </p:txBody>
      </p:sp>
      <p:sp>
        <p:nvSpPr>
          <p:cNvPr id="12" name="Title 1">
            <a:extLst>
              <a:ext uri="{FF2B5EF4-FFF2-40B4-BE49-F238E27FC236}">
                <a16:creationId xmlns:a16="http://schemas.microsoft.com/office/drawing/2014/main" id="{982E31C9-42DA-7744-AAB4-7DF2C2D177E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457200"/>
            <a:ext cx="12191999" cy="553998"/>
          </a:xfrm>
        </p:spPr>
        <p:txBody>
          <a:bodyPr>
            <a:normAutofit fontScale="90000"/>
          </a:bodyPr>
          <a:lstStyle/>
          <a:p>
            <a:r>
              <a:rPr lang="en-US" dirty="0"/>
              <a:t>              Common ML Architectural Approach</a:t>
            </a:r>
          </a:p>
        </p:txBody>
      </p:sp>
      <p:cxnSp>
        <p:nvCxnSpPr>
          <p:cNvPr id="13" name="Straight Connector 12">
            <a:extLst>
              <a:ext uri="{FF2B5EF4-FFF2-40B4-BE49-F238E27FC236}">
                <a16:creationId xmlns:a16="http://schemas.microsoft.com/office/drawing/2014/main" id="{29F06F97-AC00-704F-99A5-A4BE58B6439E}"/>
              </a:ext>
            </a:extLst>
          </p:cNvPr>
          <p:cNvCxnSpPr>
            <a:cxnSpLocks/>
          </p:cNvCxnSpPr>
          <p:nvPr/>
        </p:nvCxnSpPr>
        <p:spPr>
          <a:xfrm flipV="1">
            <a:off x="9556117" y="3880442"/>
            <a:ext cx="917098" cy="21297"/>
          </a:xfrm>
          <a:prstGeom prst="line">
            <a:avLst/>
          </a:prstGeom>
          <a:noFill/>
          <a:ln w="19050" cap="flat" cmpd="sng" algn="ctr">
            <a:solidFill>
              <a:schemeClr val="accent1"/>
            </a:solidFill>
            <a:prstDash val="sysDash"/>
            <a:headEnd type="none" w="med" len="med"/>
            <a:tailEnd type="triangle" w="med" len="med"/>
          </a:ln>
          <a:effectLst/>
        </p:spPr>
      </p:cxnSp>
      <p:cxnSp>
        <p:nvCxnSpPr>
          <p:cNvPr id="14" name="Straight Connector 13">
            <a:extLst>
              <a:ext uri="{FF2B5EF4-FFF2-40B4-BE49-F238E27FC236}">
                <a16:creationId xmlns:a16="http://schemas.microsoft.com/office/drawing/2014/main" id="{682CABD5-3997-4047-B2A2-8D7A740ED685}"/>
              </a:ext>
            </a:extLst>
          </p:cNvPr>
          <p:cNvCxnSpPr>
            <a:cxnSpLocks/>
          </p:cNvCxnSpPr>
          <p:nvPr/>
        </p:nvCxnSpPr>
        <p:spPr>
          <a:xfrm>
            <a:off x="3697316" y="3873719"/>
            <a:ext cx="901834" cy="6738"/>
          </a:xfrm>
          <a:prstGeom prst="line">
            <a:avLst/>
          </a:prstGeom>
          <a:noFill/>
          <a:ln w="19050" cap="flat" cmpd="sng" algn="ctr">
            <a:solidFill>
              <a:schemeClr val="accent1"/>
            </a:solidFill>
            <a:prstDash val="sysDash"/>
            <a:headEnd type="none" w="med" len="med"/>
            <a:tailEnd type="triangle" w="med" len="med"/>
          </a:ln>
          <a:effectLst/>
        </p:spPr>
      </p:cxnSp>
      <p:cxnSp>
        <p:nvCxnSpPr>
          <p:cNvPr id="15" name="Straight Connector 14">
            <a:extLst>
              <a:ext uri="{FF2B5EF4-FFF2-40B4-BE49-F238E27FC236}">
                <a16:creationId xmlns:a16="http://schemas.microsoft.com/office/drawing/2014/main" id="{47AAF7B0-12C2-284D-82B1-886D8A501B8D}"/>
              </a:ext>
            </a:extLst>
          </p:cNvPr>
          <p:cNvCxnSpPr>
            <a:cxnSpLocks/>
          </p:cNvCxnSpPr>
          <p:nvPr/>
        </p:nvCxnSpPr>
        <p:spPr>
          <a:xfrm flipH="1">
            <a:off x="5264289" y="2567851"/>
            <a:ext cx="1052356" cy="837291"/>
          </a:xfrm>
          <a:prstGeom prst="line">
            <a:avLst/>
          </a:prstGeom>
          <a:noFill/>
          <a:ln w="19050" cap="flat" cmpd="sng" algn="ctr">
            <a:solidFill>
              <a:schemeClr val="accent1"/>
            </a:solidFill>
            <a:prstDash val="sysDash"/>
            <a:headEnd type="triangle" w="med" len="med"/>
            <a:tailEnd type="triangle" w="med" len="med"/>
          </a:ln>
          <a:effectLst/>
        </p:spPr>
      </p:cxnSp>
      <p:sp>
        <p:nvSpPr>
          <p:cNvPr id="16" name="Freeform 184">
            <a:extLst>
              <a:ext uri="{FF2B5EF4-FFF2-40B4-BE49-F238E27FC236}">
                <a16:creationId xmlns:a16="http://schemas.microsoft.com/office/drawing/2014/main" id="{539FA331-FF0A-714B-BB28-6F9577D736C3}"/>
              </a:ext>
            </a:extLst>
          </p:cNvPr>
          <p:cNvSpPr/>
          <p:nvPr/>
        </p:nvSpPr>
        <p:spPr bwMode="auto">
          <a:xfrm>
            <a:off x="2964541" y="3522579"/>
            <a:ext cx="505940" cy="504293"/>
          </a:xfrm>
          <a:custGeom>
            <a:avLst/>
            <a:gdLst>
              <a:gd name="connsiteX0" fmla="*/ 3231086 w 4158080"/>
              <a:gd name="connsiteY0" fmla="*/ 3012228 h 4144545"/>
              <a:gd name="connsiteX1" fmla="*/ 3231086 w 4158080"/>
              <a:gd name="connsiteY1" fmla="*/ 3475725 h 4144545"/>
              <a:gd name="connsiteX2" fmla="*/ 3694583 w 4158080"/>
              <a:gd name="connsiteY2" fmla="*/ 3475725 h 4144545"/>
              <a:gd name="connsiteX3" fmla="*/ 3694583 w 4158080"/>
              <a:gd name="connsiteY3" fmla="*/ 3012228 h 4144545"/>
              <a:gd name="connsiteX4" fmla="*/ 2425129 w 4158080"/>
              <a:gd name="connsiteY4" fmla="*/ 3012228 h 4144545"/>
              <a:gd name="connsiteX5" fmla="*/ 2425129 w 4158080"/>
              <a:gd name="connsiteY5" fmla="*/ 3475725 h 4144545"/>
              <a:gd name="connsiteX6" fmla="*/ 2888626 w 4158080"/>
              <a:gd name="connsiteY6" fmla="*/ 3475725 h 4144545"/>
              <a:gd name="connsiteX7" fmla="*/ 2888626 w 4158080"/>
              <a:gd name="connsiteY7" fmla="*/ 3012228 h 4144545"/>
              <a:gd name="connsiteX8" fmla="*/ 1619172 w 4158080"/>
              <a:gd name="connsiteY8" fmla="*/ 3012228 h 4144545"/>
              <a:gd name="connsiteX9" fmla="*/ 1619172 w 4158080"/>
              <a:gd name="connsiteY9" fmla="*/ 3475725 h 4144545"/>
              <a:gd name="connsiteX10" fmla="*/ 2082669 w 4158080"/>
              <a:gd name="connsiteY10" fmla="*/ 3475725 h 4144545"/>
              <a:gd name="connsiteX11" fmla="*/ 2082669 w 4158080"/>
              <a:gd name="connsiteY11" fmla="*/ 3012228 h 4144545"/>
              <a:gd name="connsiteX12" fmla="*/ 1 w 4158080"/>
              <a:gd name="connsiteY12" fmla="*/ 300015 h 4144545"/>
              <a:gd name="connsiteX13" fmla="*/ 1 w 4158080"/>
              <a:gd name="connsiteY13" fmla="*/ 348372 h 4144545"/>
              <a:gd name="connsiteX14" fmla="*/ 1 w 4158080"/>
              <a:gd name="connsiteY14" fmla="*/ 377378 h 4144545"/>
              <a:gd name="connsiteX15" fmla="*/ 0 w 4158080"/>
              <a:gd name="connsiteY15" fmla="*/ 377381 h 4144545"/>
              <a:gd name="connsiteX16" fmla="*/ 1 w 4158080"/>
              <a:gd name="connsiteY16" fmla="*/ 300015 h 4144545"/>
              <a:gd name="connsiteX17" fmla="*/ 925155 w 4158080"/>
              <a:gd name="connsiteY17" fmla="*/ 136141 h 4144545"/>
              <a:gd name="connsiteX18" fmla="*/ 286574 w 4158080"/>
              <a:gd name="connsiteY18" fmla="*/ 323563 h 4144545"/>
              <a:gd name="connsiteX19" fmla="*/ 925155 w 4158080"/>
              <a:gd name="connsiteY19" fmla="*/ 510984 h 4144545"/>
              <a:gd name="connsiteX20" fmla="*/ 1563737 w 4158080"/>
              <a:gd name="connsiteY20" fmla="*/ 323563 h 4144545"/>
              <a:gd name="connsiteX21" fmla="*/ 925155 w 4158080"/>
              <a:gd name="connsiteY21" fmla="*/ 136141 h 4144545"/>
              <a:gd name="connsiteX22" fmla="*/ 925154 w 4158080"/>
              <a:gd name="connsiteY22" fmla="*/ 0 h 4144545"/>
              <a:gd name="connsiteX23" fmla="*/ 1845533 w 4158080"/>
              <a:gd name="connsiteY23" fmla="*/ 338796 h 4144545"/>
              <a:gd name="connsiteX24" fmla="*/ 1848895 w 4158080"/>
              <a:gd name="connsiteY24" fmla="*/ 365965 h 4144545"/>
              <a:gd name="connsiteX25" fmla="*/ 1850308 w 4158080"/>
              <a:gd name="connsiteY25" fmla="*/ 365965 h 4144545"/>
              <a:gd name="connsiteX26" fmla="*/ 1850308 w 4158080"/>
              <a:gd name="connsiteY26" fmla="*/ 377381 h 4144545"/>
              <a:gd name="connsiteX27" fmla="*/ 1850309 w 4158080"/>
              <a:gd name="connsiteY27" fmla="*/ 2420253 h 4144545"/>
              <a:gd name="connsiteX28" fmla="*/ 3004195 w 4158080"/>
              <a:gd name="connsiteY28" fmla="*/ 1412231 h 4144545"/>
              <a:gd name="connsiteX29" fmla="*/ 3004195 w 4158080"/>
              <a:gd name="connsiteY29" fmla="*/ 2420252 h 4144545"/>
              <a:gd name="connsiteX30" fmla="*/ 4158080 w 4158080"/>
              <a:gd name="connsiteY30" fmla="*/ 1412231 h 4144545"/>
              <a:gd name="connsiteX31" fmla="*/ 4158079 w 4158080"/>
              <a:gd name="connsiteY31" fmla="*/ 4144544 h 4144545"/>
              <a:gd name="connsiteX32" fmla="*/ 1 w 4158080"/>
              <a:gd name="connsiteY32" fmla="*/ 4144545 h 4144545"/>
              <a:gd name="connsiteX33" fmla="*/ 1 w 4158080"/>
              <a:gd name="connsiteY33" fmla="*/ 377385 h 4144545"/>
              <a:gd name="connsiteX34" fmla="*/ 1 w 4158080"/>
              <a:gd name="connsiteY34" fmla="*/ 377378 h 4144545"/>
              <a:gd name="connsiteX35" fmla="*/ 4778 w 4158080"/>
              <a:gd name="connsiteY35" fmla="*/ 338796 h 4144545"/>
              <a:gd name="connsiteX36" fmla="*/ 925154 w 4158080"/>
              <a:gd name="connsiteY36" fmla="*/ 0 h 414454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</a:cxnLst>
            <a:rect l="l" t="t" r="r" b="b"/>
            <a:pathLst>
              <a:path w="4158080" h="4144545">
                <a:moveTo>
                  <a:pt x="3231086" y="3012228"/>
                </a:moveTo>
                <a:lnTo>
                  <a:pt x="3231086" y="3475725"/>
                </a:lnTo>
                <a:lnTo>
                  <a:pt x="3694583" y="3475725"/>
                </a:lnTo>
                <a:lnTo>
                  <a:pt x="3694583" y="3012228"/>
                </a:lnTo>
                <a:close/>
                <a:moveTo>
                  <a:pt x="2425129" y="3012228"/>
                </a:moveTo>
                <a:lnTo>
                  <a:pt x="2425129" y="3475725"/>
                </a:lnTo>
                <a:lnTo>
                  <a:pt x="2888626" y="3475725"/>
                </a:lnTo>
                <a:lnTo>
                  <a:pt x="2888626" y="3012228"/>
                </a:lnTo>
                <a:close/>
                <a:moveTo>
                  <a:pt x="1619172" y="3012228"/>
                </a:moveTo>
                <a:lnTo>
                  <a:pt x="1619172" y="3475725"/>
                </a:lnTo>
                <a:lnTo>
                  <a:pt x="2082669" y="3475725"/>
                </a:lnTo>
                <a:lnTo>
                  <a:pt x="2082669" y="3012228"/>
                </a:lnTo>
                <a:close/>
                <a:moveTo>
                  <a:pt x="1" y="300015"/>
                </a:moveTo>
                <a:lnTo>
                  <a:pt x="1" y="348372"/>
                </a:lnTo>
                <a:lnTo>
                  <a:pt x="1" y="377378"/>
                </a:lnTo>
                <a:cubicBezTo>
                  <a:pt x="1" y="377379"/>
                  <a:pt x="0" y="377380"/>
                  <a:pt x="0" y="377381"/>
                </a:cubicBezTo>
                <a:cubicBezTo>
                  <a:pt x="0" y="377382"/>
                  <a:pt x="0" y="308611"/>
                  <a:pt x="1" y="300015"/>
                </a:cubicBezTo>
                <a:close/>
                <a:moveTo>
                  <a:pt x="925155" y="136141"/>
                </a:moveTo>
                <a:cubicBezTo>
                  <a:pt x="572477" y="136141"/>
                  <a:pt x="286574" y="220052"/>
                  <a:pt x="286574" y="323563"/>
                </a:cubicBezTo>
                <a:cubicBezTo>
                  <a:pt x="286574" y="427073"/>
                  <a:pt x="572477" y="510984"/>
                  <a:pt x="925155" y="510984"/>
                </a:cubicBezTo>
                <a:cubicBezTo>
                  <a:pt x="1277834" y="510984"/>
                  <a:pt x="1563737" y="427073"/>
                  <a:pt x="1563737" y="323563"/>
                </a:cubicBezTo>
                <a:cubicBezTo>
                  <a:pt x="1563737" y="220052"/>
                  <a:pt x="1277834" y="136141"/>
                  <a:pt x="925155" y="136141"/>
                </a:cubicBezTo>
                <a:close/>
                <a:moveTo>
                  <a:pt x="925154" y="0"/>
                </a:moveTo>
                <a:cubicBezTo>
                  <a:pt x="1404168" y="0"/>
                  <a:pt x="1798155" y="148500"/>
                  <a:pt x="1845533" y="338796"/>
                </a:cubicBezTo>
                <a:lnTo>
                  <a:pt x="1848895" y="365965"/>
                </a:lnTo>
                <a:lnTo>
                  <a:pt x="1850308" y="365965"/>
                </a:lnTo>
                <a:lnTo>
                  <a:pt x="1850308" y="377381"/>
                </a:lnTo>
                <a:cubicBezTo>
                  <a:pt x="1850308" y="719762"/>
                  <a:pt x="1850309" y="2051836"/>
                  <a:pt x="1850309" y="2420253"/>
                </a:cubicBezTo>
                <a:lnTo>
                  <a:pt x="3004195" y="1412231"/>
                </a:lnTo>
                <a:lnTo>
                  <a:pt x="3004195" y="2420252"/>
                </a:lnTo>
                <a:lnTo>
                  <a:pt x="4158080" y="1412231"/>
                </a:lnTo>
                <a:cubicBezTo>
                  <a:pt x="4158080" y="2323002"/>
                  <a:pt x="4158079" y="3233773"/>
                  <a:pt x="4158079" y="4144544"/>
                </a:cubicBezTo>
                <a:lnTo>
                  <a:pt x="1" y="4144545"/>
                </a:lnTo>
                <a:lnTo>
                  <a:pt x="1" y="377385"/>
                </a:lnTo>
                <a:lnTo>
                  <a:pt x="1" y="377378"/>
                </a:lnTo>
                <a:lnTo>
                  <a:pt x="4778" y="338796"/>
                </a:lnTo>
                <a:cubicBezTo>
                  <a:pt x="52154" y="148500"/>
                  <a:pt x="446140" y="0"/>
                  <a:pt x="925154" y="0"/>
                </a:cubicBezTo>
                <a:close/>
              </a:path>
            </a:pathLst>
          </a:custGeom>
          <a:solidFill>
            <a:schemeClr val="accent1"/>
          </a:solidFill>
          <a:ln>
            <a:noFill/>
            <a:headEnd type="none" w="med" len="med"/>
            <a:tailEnd type="none" w="med" len="med"/>
          </a:ln>
          <a:effectLst/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182880" tIns="146304" rIns="182880" bIns="146304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932472" rtl="0" eaLnBrk="1" fontAlgn="base" latinLnBrk="0" hangingPunct="1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2000" b="1" i="0" u="none" strike="noStrike" kern="1200" cap="none" spc="0" normalizeH="0" baseline="0" noProof="0" dirty="0">
              <a:ln>
                <a:noFill/>
              </a:ln>
              <a:solidFill>
                <a:srgbClr val="1A1A1A"/>
              </a:solidFill>
              <a:effectLst/>
              <a:uLnTx/>
              <a:uFillTx/>
              <a:latin typeface="Segoe UI Semibold"/>
              <a:ea typeface="Segoe UI" pitchFamily="34" charset="0"/>
              <a:cs typeface="Segoe UI" pitchFamily="34" charset="0"/>
            </a:endParaRPr>
          </a:p>
        </p:txBody>
      </p:sp>
      <p:sp>
        <p:nvSpPr>
          <p:cNvPr id="17" name="Shape 101">
            <a:extLst>
              <a:ext uri="{FF2B5EF4-FFF2-40B4-BE49-F238E27FC236}">
                <a16:creationId xmlns:a16="http://schemas.microsoft.com/office/drawing/2014/main" id="{CE2FE820-4262-3045-8F9B-A9B466399874}"/>
              </a:ext>
            </a:extLst>
          </p:cNvPr>
          <p:cNvSpPr txBox="1"/>
          <p:nvPr/>
        </p:nvSpPr>
        <p:spPr>
          <a:xfrm rot="19242018">
            <a:off x="4928994" y="2829141"/>
            <a:ext cx="1461087" cy="168341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 anchorCtr="0">
            <a:noAutofit/>
          </a:bodyPr>
          <a:lstStyle/>
          <a:p>
            <a:pPr marL="0" marR="0" lvl="0" indent="0" algn="ctr" defTabSz="932597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1050" kern="0" dirty="0">
                <a:solidFill>
                  <a:schemeClr val="accent3">
                    <a:lumMod val="75000"/>
                  </a:schemeClr>
                </a:solidFill>
                <a:latin typeface="Segoe UI"/>
                <a:cs typeface="Segoe UI Semibold" panose="020B0702040204020203" pitchFamily="34" charset="0"/>
                <a:sym typeface="Calibri"/>
              </a:rPr>
              <a:t>Prepare Data for ML</a:t>
            </a:r>
            <a:endParaRPr kumimoji="0" lang="en-US" sz="1050" b="0" i="0" u="none" strike="noStrike" kern="0" cap="none" spc="0" normalizeH="0" baseline="0" noProof="0" dirty="0">
              <a:ln>
                <a:noFill/>
              </a:ln>
              <a:solidFill>
                <a:schemeClr val="accent3">
                  <a:lumMod val="75000"/>
                </a:schemeClr>
              </a:solidFill>
              <a:effectLst/>
              <a:uLnTx/>
              <a:uFillTx/>
              <a:latin typeface="Segoe UI"/>
              <a:ea typeface="+mn-ea"/>
              <a:cs typeface="Segoe UI Semibold" panose="020B0702040204020203" pitchFamily="34" charset="0"/>
              <a:sym typeface="Calibri"/>
            </a:endParaRPr>
          </a:p>
        </p:txBody>
      </p:sp>
      <p:cxnSp>
        <p:nvCxnSpPr>
          <p:cNvPr id="18" name="Straight Connector 17">
            <a:extLst>
              <a:ext uri="{FF2B5EF4-FFF2-40B4-BE49-F238E27FC236}">
                <a16:creationId xmlns:a16="http://schemas.microsoft.com/office/drawing/2014/main" id="{8FD601C5-02CA-B544-8EBA-9A0DF0A20483}"/>
              </a:ext>
            </a:extLst>
          </p:cNvPr>
          <p:cNvCxnSpPr>
            <a:cxnSpLocks/>
          </p:cNvCxnSpPr>
          <p:nvPr/>
        </p:nvCxnSpPr>
        <p:spPr>
          <a:xfrm>
            <a:off x="6998373" y="2894842"/>
            <a:ext cx="667" cy="627739"/>
          </a:xfrm>
          <a:prstGeom prst="line">
            <a:avLst/>
          </a:prstGeom>
          <a:noFill/>
          <a:ln w="19050" cap="flat" cmpd="sng" algn="ctr">
            <a:solidFill>
              <a:schemeClr val="accent4">
                <a:lumMod val="60000"/>
                <a:lumOff val="40000"/>
              </a:schemeClr>
            </a:solidFill>
            <a:prstDash val="sysDash"/>
            <a:headEnd type="triangle" w="med" len="med"/>
            <a:tailEnd type="triangle" w="med" len="med"/>
          </a:ln>
          <a:effectLst/>
        </p:spPr>
      </p:cxnSp>
      <p:grpSp>
        <p:nvGrpSpPr>
          <p:cNvPr id="19" name="Group 18">
            <a:extLst>
              <a:ext uri="{FF2B5EF4-FFF2-40B4-BE49-F238E27FC236}">
                <a16:creationId xmlns:a16="http://schemas.microsoft.com/office/drawing/2014/main" id="{D6E814B4-493D-0446-A925-CA686DF3285C}"/>
              </a:ext>
            </a:extLst>
          </p:cNvPr>
          <p:cNvGrpSpPr/>
          <p:nvPr/>
        </p:nvGrpSpPr>
        <p:grpSpPr>
          <a:xfrm>
            <a:off x="10579991" y="3597190"/>
            <a:ext cx="528127" cy="677146"/>
            <a:chOff x="11049775" y="3496522"/>
            <a:chExt cx="528127" cy="677146"/>
          </a:xfrm>
        </p:grpSpPr>
        <p:sp>
          <p:nvSpPr>
            <p:cNvPr id="20" name="Shape 101">
              <a:extLst>
                <a:ext uri="{FF2B5EF4-FFF2-40B4-BE49-F238E27FC236}">
                  <a16:creationId xmlns:a16="http://schemas.microsoft.com/office/drawing/2014/main" id="{F819A453-8221-9A48-82D7-04CB3A97E0D4}"/>
                </a:ext>
              </a:extLst>
            </p:cNvPr>
            <p:cNvSpPr txBox="1"/>
            <p:nvPr/>
          </p:nvSpPr>
          <p:spPr>
            <a:xfrm>
              <a:off x="11049775" y="4012085"/>
              <a:ext cx="517769" cy="16158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marL="0" marR="0" lvl="0" indent="0" algn="ctr" defTabSz="932597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05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Segoe UI"/>
                  <a:ea typeface="+mn-ea"/>
                  <a:cs typeface="Segoe UI Semibold" panose="020B0702040204020203" pitchFamily="34" charset="0"/>
                  <a:sym typeface="Calibri"/>
                </a:rPr>
                <a:t>Power BI</a:t>
              </a:r>
            </a:p>
          </p:txBody>
        </p:sp>
        <p:sp>
          <p:nvSpPr>
            <p:cNvPr id="21" name="Freeform: Shape 282">
              <a:extLst>
                <a:ext uri="{FF2B5EF4-FFF2-40B4-BE49-F238E27FC236}">
                  <a16:creationId xmlns:a16="http://schemas.microsoft.com/office/drawing/2014/main" id="{1BDC3CF6-2ECF-374D-BBBE-9412FE8B963E}"/>
                </a:ext>
              </a:extLst>
            </p:cNvPr>
            <p:cNvSpPr/>
            <p:nvPr/>
          </p:nvSpPr>
          <p:spPr>
            <a:xfrm>
              <a:off x="11061904" y="3496522"/>
              <a:ext cx="515998" cy="434271"/>
            </a:xfrm>
            <a:custGeom>
              <a:avLst/>
              <a:gdLst>
                <a:gd name="connsiteX0" fmla="*/ 203191 w 231689"/>
                <a:gd name="connsiteY0" fmla="*/ 149440 h 171450"/>
                <a:gd name="connsiteX1" fmla="*/ 198558 w 231689"/>
                <a:gd name="connsiteY1" fmla="*/ 149440 h 171450"/>
                <a:gd name="connsiteX2" fmla="*/ 198558 w 231689"/>
                <a:gd name="connsiteY2" fmla="*/ 140172 h 171450"/>
                <a:gd name="connsiteX3" fmla="*/ 203191 w 231689"/>
                <a:gd name="connsiteY3" fmla="*/ 140172 h 171450"/>
                <a:gd name="connsiteX4" fmla="*/ 220799 w 231689"/>
                <a:gd name="connsiteY4" fmla="*/ 122564 h 171450"/>
                <a:gd name="connsiteX5" fmla="*/ 220799 w 231689"/>
                <a:gd name="connsiteY5" fmla="*/ 29424 h 171450"/>
                <a:gd name="connsiteX6" fmla="*/ 203191 w 231689"/>
                <a:gd name="connsiteY6" fmla="*/ 11816 h 171450"/>
                <a:gd name="connsiteX7" fmla="*/ 30351 w 231689"/>
                <a:gd name="connsiteY7" fmla="*/ 11816 h 171450"/>
                <a:gd name="connsiteX8" fmla="*/ 12743 w 231689"/>
                <a:gd name="connsiteY8" fmla="*/ 29424 h 171450"/>
                <a:gd name="connsiteX9" fmla="*/ 12743 w 231689"/>
                <a:gd name="connsiteY9" fmla="*/ 122564 h 171450"/>
                <a:gd name="connsiteX10" fmla="*/ 30351 w 231689"/>
                <a:gd name="connsiteY10" fmla="*/ 140172 h 171450"/>
                <a:gd name="connsiteX11" fmla="*/ 34985 w 231689"/>
                <a:gd name="connsiteY11" fmla="*/ 140172 h 171450"/>
                <a:gd name="connsiteX12" fmla="*/ 34985 w 231689"/>
                <a:gd name="connsiteY12" fmla="*/ 149440 h 171450"/>
                <a:gd name="connsiteX13" fmla="*/ 30351 w 231689"/>
                <a:gd name="connsiteY13" fmla="*/ 149440 h 171450"/>
                <a:gd name="connsiteX14" fmla="*/ 3475 w 231689"/>
                <a:gd name="connsiteY14" fmla="*/ 123027 h 171450"/>
                <a:gd name="connsiteX15" fmla="*/ 3475 w 231689"/>
                <a:gd name="connsiteY15" fmla="*/ 29888 h 171450"/>
                <a:gd name="connsiteX16" fmla="*/ 30351 w 231689"/>
                <a:gd name="connsiteY16" fmla="*/ 3475 h 171450"/>
                <a:gd name="connsiteX17" fmla="*/ 203191 w 231689"/>
                <a:gd name="connsiteY17" fmla="*/ 3475 h 171450"/>
                <a:gd name="connsiteX18" fmla="*/ 229604 w 231689"/>
                <a:gd name="connsiteY18" fmla="*/ 29888 h 171450"/>
                <a:gd name="connsiteX19" fmla="*/ 229604 w 231689"/>
                <a:gd name="connsiteY19" fmla="*/ 123027 h 171450"/>
                <a:gd name="connsiteX20" fmla="*/ 203191 w 231689"/>
                <a:gd name="connsiteY20" fmla="*/ 149440 h 171450"/>
                <a:gd name="connsiteX21" fmla="*/ 58617 w 231689"/>
                <a:gd name="connsiteY21" fmla="*/ 172145 h 171450"/>
                <a:gd name="connsiteX22" fmla="*/ 71128 w 231689"/>
                <a:gd name="connsiteY22" fmla="*/ 159634 h 171450"/>
                <a:gd name="connsiteX23" fmla="*/ 71128 w 231689"/>
                <a:gd name="connsiteY23" fmla="*/ 130904 h 171450"/>
                <a:gd name="connsiteX24" fmla="*/ 58617 w 231689"/>
                <a:gd name="connsiteY24" fmla="*/ 118393 h 171450"/>
                <a:gd name="connsiteX25" fmla="*/ 46106 w 231689"/>
                <a:gd name="connsiteY25" fmla="*/ 130904 h 171450"/>
                <a:gd name="connsiteX26" fmla="*/ 46106 w 231689"/>
                <a:gd name="connsiteY26" fmla="*/ 159634 h 171450"/>
                <a:gd name="connsiteX27" fmla="*/ 58617 w 231689"/>
                <a:gd name="connsiteY27" fmla="*/ 172145 h 171450"/>
                <a:gd name="connsiteX28" fmla="*/ 97541 w 231689"/>
                <a:gd name="connsiteY28" fmla="*/ 172145 h 171450"/>
                <a:gd name="connsiteX29" fmla="*/ 110052 w 231689"/>
                <a:gd name="connsiteY29" fmla="*/ 159634 h 171450"/>
                <a:gd name="connsiteX30" fmla="*/ 110052 w 231689"/>
                <a:gd name="connsiteY30" fmla="*/ 86420 h 171450"/>
                <a:gd name="connsiteX31" fmla="*/ 97541 w 231689"/>
                <a:gd name="connsiteY31" fmla="*/ 73909 h 171450"/>
                <a:gd name="connsiteX32" fmla="*/ 85030 w 231689"/>
                <a:gd name="connsiteY32" fmla="*/ 86420 h 171450"/>
                <a:gd name="connsiteX33" fmla="*/ 85030 w 231689"/>
                <a:gd name="connsiteY33" fmla="*/ 159634 h 171450"/>
                <a:gd name="connsiteX34" fmla="*/ 97541 w 231689"/>
                <a:gd name="connsiteY34" fmla="*/ 172145 h 171450"/>
                <a:gd name="connsiteX35" fmla="*/ 175389 w 231689"/>
                <a:gd name="connsiteY35" fmla="*/ 171682 h 171450"/>
                <a:gd name="connsiteX36" fmla="*/ 187900 w 231689"/>
                <a:gd name="connsiteY36" fmla="*/ 159170 h 171450"/>
                <a:gd name="connsiteX37" fmla="*/ 187900 w 231689"/>
                <a:gd name="connsiteY37" fmla="*/ 55374 h 171450"/>
                <a:gd name="connsiteX38" fmla="*/ 175389 w 231689"/>
                <a:gd name="connsiteY38" fmla="*/ 42863 h 171450"/>
                <a:gd name="connsiteX39" fmla="*/ 162877 w 231689"/>
                <a:gd name="connsiteY39" fmla="*/ 55374 h 171450"/>
                <a:gd name="connsiteX40" fmla="*/ 162877 w 231689"/>
                <a:gd name="connsiteY40" fmla="*/ 159170 h 171450"/>
                <a:gd name="connsiteX41" fmla="*/ 175389 w 231689"/>
                <a:gd name="connsiteY41" fmla="*/ 171682 h 171450"/>
                <a:gd name="connsiteX42" fmla="*/ 136465 w 231689"/>
                <a:gd name="connsiteY42" fmla="*/ 172145 h 171450"/>
                <a:gd name="connsiteX43" fmla="*/ 148976 w 231689"/>
                <a:gd name="connsiteY43" fmla="*/ 159634 h 171450"/>
                <a:gd name="connsiteX44" fmla="*/ 148976 w 231689"/>
                <a:gd name="connsiteY44" fmla="*/ 105419 h 171450"/>
                <a:gd name="connsiteX45" fmla="*/ 136465 w 231689"/>
                <a:gd name="connsiteY45" fmla="*/ 92907 h 171450"/>
                <a:gd name="connsiteX46" fmla="*/ 123954 w 231689"/>
                <a:gd name="connsiteY46" fmla="*/ 105419 h 171450"/>
                <a:gd name="connsiteX47" fmla="*/ 123954 w 231689"/>
                <a:gd name="connsiteY47" fmla="*/ 159634 h 171450"/>
                <a:gd name="connsiteX48" fmla="*/ 136465 w 231689"/>
                <a:gd name="connsiteY48" fmla="*/ 172145 h 17145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</a:cxnLst>
              <a:rect l="l" t="t" r="r" b="b"/>
              <a:pathLst>
                <a:path w="231689" h="171450">
                  <a:moveTo>
                    <a:pt x="203191" y="149440"/>
                  </a:moveTo>
                  <a:lnTo>
                    <a:pt x="198558" y="149440"/>
                  </a:lnTo>
                  <a:lnTo>
                    <a:pt x="198558" y="140172"/>
                  </a:lnTo>
                  <a:lnTo>
                    <a:pt x="203191" y="140172"/>
                  </a:lnTo>
                  <a:cubicBezTo>
                    <a:pt x="212922" y="140172"/>
                    <a:pt x="220799" y="132294"/>
                    <a:pt x="220799" y="122564"/>
                  </a:cubicBezTo>
                  <a:lnTo>
                    <a:pt x="220799" y="29424"/>
                  </a:lnTo>
                  <a:cubicBezTo>
                    <a:pt x="220799" y="19694"/>
                    <a:pt x="212922" y="11816"/>
                    <a:pt x="203191" y="11816"/>
                  </a:cubicBezTo>
                  <a:lnTo>
                    <a:pt x="30351" y="11816"/>
                  </a:lnTo>
                  <a:cubicBezTo>
                    <a:pt x="20620" y="11816"/>
                    <a:pt x="12743" y="19694"/>
                    <a:pt x="12743" y="29424"/>
                  </a:cubicBezTo>
                  <a:lnTo>
                    <a:pt x="12743" y="122564"/>
                  </a:lnTo>
                  <a:cubicBezTo>
                    <a:pt x="12743" y="132294"/>
                    <a:pt x="20620" y="140172"/>
                    <a:pt x="30351" y="140172"/>
                  </a:cubicBezTo>
                  <a:lnTo>
                    <a:pt x="34985" y="140172"/>
                  </a:lnTo>
                  <a:lnTo>
                    <a:pt x="34985" y="149440"/>
                  </a:lnTo>
                  <a:lnTo>
                    <a:pt x="30351" y="149440"/>
                  </a:lnTo>
                  <a:cubicBezTo>
                    <a:pt x="15523" y="149440"/>
                    <a:pt x="3475" y="137392"/>
                    <a:pt x="3475" y="123027"/>
                  </a:cubicBezTo>
                  <a:lnTo>
                    <a:pt x="3475" y="29888"/>
                  </a:lnTo>
                  <a:cubicBezTo>
                    <a:pt x="3475" y="15060"/>
                    <a:pt x="15523" y="3475"/>
                    <a:pt x="30351" y="3475"/>
                  </a:cubicBezTo>
                  <a:lnTo>
                    <a:pt x="203191" y="3475"/>
                  </a:lnTo>
                  <a:cubicBezTo>
                    <a:pt x="218019" y="3475"/>
                    <a:pt x="229604" y="15523"/>
                    <a:pt x="229604" y="29888"/>
                  </a:cubicBezTo>
                  <a:lnTo>
                    <a:pt x="229604" y="123027"/>
                  </a:lnTo>
                  <a:cubicBezTo>
                    <a:pt x="230067" y="137392"/>
                    <a:pt x="218019" y="149440"/>
                    <a:pt x="203191" y="149440"/>
                  </a:cubicBezTo>
                  <a:moveTo>
                    <a:pt x="58617" y="172145"/>
                  </a:moveTo>
                  <a:cubicBezTo>
                    <a:pt x="65568" y="172145"/>
                    <a:pt x="71128" y="166585"/>
                    <a:pt x="71128" y="159634"/>
                  </a:cubicBezTo>
                  <a:lnTo>
                    <a:pt x="71128" y="130904"/>
                  </a:lnTo>
                  <a:cubicBezTo>
                    <a:pt x="71128" y="123954"/>
                    <a:pt x="65568" y="118393"/>
                    <a:pt x="58617" y="118393"/>
                  </a:cubicBezTo>
                  <a:cubicBezTo>
                    <a:pt x="51666" y="118393"/>
                    <a:pt x="46106" y="123954"/>
                    <a:pt x="46106" y="130904"/>
                  </a:cubicBezTo>
                  <a:lnTo>
                    <a:pt x="46106" y="159634"/>
                  </a:lnTo>
                  <a:cubicBezTo>
                    <a:pt x="46106" y="166585"/>
                    <a:pt x="51666" y="172145"/>
                    <a:pt x="58617" y="172145"/>
                  </a:cubicBezTo>
                  <a:moveTo>
                    <a:pt x="97541" y="172145"/>
                  </a:moveTo>
                  <a:cubicBezTo>
                    <a:pt x="104491" y="172145"/>
                    <a:pt x="110052" y="166585"/>
                    <a:pt x="110052" y="159634"/>
                  </a:cubicBezTo>
                  <a:lnTo>
                    <a:pt x="110052" y="86420"/>
                  </a:lnTo>
                  <a:cubicBezTo>
                    <a:pt x="110052" y="79469"/>
                    <a:pt x="104491" y="73909"/>
                    <a:pt x="97541" y="73909"/>
                  </a:cubicBezTo>
                  <a:cubicBezTo>
                    <a:pt x="90590" y="73909"/>
                    <a:pt x="85030" y="79469"/>
                    <a:pt x="85030" y="86420"/>
                  </a:cubicBezTo>
                  <a:lnTo>
                    <a:pt x="85030" y="159634"/>
                  </a:lnTo>
                  <a:cubicBezTo>
                    <a:pt x="85030" y="166585"/>
                    <a:pt x="90590" y="172145"/>
                    <a:pt x="97541" y="172145"/>
                  </a:cubicBezTo>
                  <a:moveTo>
                    <a:pt x="175389" y="171682"/>
                  </a:moveTo>
                  <a:cubicBezTo>
                    <a:pt x="182339" y="171682"/>
                    <a:pt x="187900" y="166121"/>
                    <a:pt x="187900" y="159170"/>
                  </a:cubicBezTo>
                  <a:lnTo>
                    <a:pt x="187900" y="55374"/>
                  </a:lnTo>
                  <a:cubicBezTo>
                    <a:pt x="187900" y="48423"/>
                    <a:pt x="182339" y="42863"/>
                    <a:pt x="175389" y="42863"/>
                  </a:cubicBezTo>
                  <a:cubicBezTo>
                    <a:pt x="168438" y="42863"/>
                    <a:pt x="162877" y="48423"/>
                    <a:pt x="162877" y="55374"/>
                  </a:cubicBezTo>
                  <a:lnTo>
                    <a:pt x="162877" y="159170"/>
                  </a:lnTo>
                  <a:cubicBezTo>
                    <a:pt x="162877" y="166121"/>
                    <a:pt x="168438" y="171682"/>
                    <a:pt x="175389" y="171682"/>
                  </a:cubicBezTo>
                  <a:moveTo>
                    <a:pt x="136465" y="172145"/>
                  </a:moveTo>
                  <a:cubicBezTo>
                    <a:pt x="143415" y="172145"/>
                    <a:pt x="148976" y="166585"/>
                    <a:pt x="148976" y="159634"/>
                  </a:cubicBezTo>
                  <a:lnTo>
                    <a:pt x="148976" y="105419"/>
                  </a:lnTo>
                  <a:cubicBezTo>
                    <a:pt x="148976" y="98468"/>
                    <a:pt x="143415" y="92907"/>
                    <a:pt x="136465" y="92907"/>
                  </a:cubicBezTo>
                  <a:cubicBezTo>
                    <a:pt x="129514" y="92907"/>
                    <a:pt x="123954" y="98468"/>
                    <a:pt x="123954" y="105419"/>
                  </a:cubicBezTo>
                  <a:lnTo>
                    <a:pt x="123954" y="159634"/>
                  </a:lnTo>
                  <a:cubicBezTo>
                    <a:pt x="123954" y="166585"/>
                    <a:pt x="129514" y="172145"/>
                    <a:pt x="136465" y="172145"/>
                  </a:cubicBezTo>
                </a:path>
              </a:pathLst>
            </a:custGeom>
            <a:solidFill>
              <a:schemeClr val="accent1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Segoe UI Semilight"/>
                <a:ea typeface="+mn-ea"/>
                <a:cs typeface="+mn-cs"/>
              </a:endParaRPr>
            </a:p>
          </p:txBody>
        </p:sp>
      </p:grpSp>
      <p:cxnSp>
        <p:nvCxnSpPr>
          <p:cNvPr id="23" name="Straight Connector 22">
            <a:extLst>
              <a:ext uri="{FF2B5EF4-FFF2-40B4-BE49-F238E27FC236}">
                <a16:creationId xmlns:a16="http://schemas.microsoft.com/office/drawing/2014/main" id="{F519BEC3-1931-5C44-B97F-29B4911ED00F}"/>
              </a:ext>
            </a:extLst>
          </p:cNvPr>
          <p:cNvCxnSpPr>
            <a:cxnSpLocks/>
          </p:cNvCxnSpPr>
          <p:nvPr/>
        </p:nvCxnSpPr>
        <p:spPr>
          <a:xfrm flipH="1">
            <a:off x="5453626" y="3901739"/>
            <a:ext cx="1088330" cy="1398"/>
          </a:xfrm>
          <a:prstGeom prst="line">
            <a:avLst/>
          </a:prstGeom>
          <a:noFill/>
          <a:ln w="19050" cap="flat" cmpd="sng" algn="ctr">
            <a:solidFill>
              <a:schemeClr val="accent1"/>
            </a:solidFill>
            <a:prstDash val="sysDash"/>
            <a:headEnd type="triangle" w="med" len="med"/>
            <a:tailEnd type="triangle" w="med" len="med"/>
          </a:ln>
          <a:effectLst/>
        </p:spPr>
      </p:cxnSp>
      <p:sp>
        <p:nvSpPr>
          <p:cNvPr id="24" name="Rectangle 23">
            <a:extLst>
              <a:ext uri="{FF2B5EF4-FFF2-40B4-BE49-F238E27FC236}">
                <a16:creationId xmlns:a16="http://schemas.microsoft.com/office/drawing/2014/main" id="{1A6EE999-7FF5-FE43-860A-58572E57D0FA}"/>
              </a:ext>
            </a:extLst>
          </p:cNvPr>
          <p:cNvSpPr/>
          <p:nvPr/>
        </p:nvSpPr>
        <p:spPr>
          <a:xfrm>
            <a:off x="4483011" y="4030128"/>
            <a:ext cx="1067921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32239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900" b="0" i="0" u="none" strike="noStrike" kern="0" cap="none" spc="0" normalizeH="0" baseline="0" noProof="0" dirty="0">
                <a:ln>
                  <a:noFill/>
                </a:ln>
                <a:solidFill>
                  <a:srgbClr val="353535">
                    <a:lumMod val="50000"/>
                  </a:srgbClr>
                </a:solidFill>
                <a:effectLst/>
                <a:uLnTx/>
                <a:uFillTx/>
                <a:latin typeface="Segoe UI Semibold" panose="020B0702040204020203" pitchFamily="34" charset="0"/>
                <a:ea typeface="MS PGothic" panose="020B0600070205080204" pitchFamily="34" charset="-128"/>
                <a:cs typeface="Segoe UI Semibold" panose="020B0702040204020203" pitchFamily="34" charset="0"/>
              </a:rPr>
              <a:t>Azure Data Lake Store</a:t>
            </a:r>
          </a:p>
        </p:txBody>
      </p:sp>
      <p:pic>
        <p:nvPicPr>
          <p:cNvPr id="25" name="Graphic 24">
            <a:extLst>
              <a:ext uri="{FF2B5EF4-FFF2-40B4-BE49-F238E27FC236}">
                <a16:creationId xmlns:a16="http://schemas.microsoft.com/office/drawing/2014/main" id="{E4C696A9-929F-424E-A875-D86C3139734D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4778416" y="3550760"/>
            <a:ext cx="501839" cy="501839"/>
          </a:xfrm>
          <a:prstGeom prst="rect">
            <a:avLst/>
          </a:prstGeom>
        </p:spPr>
      </p:pic>
      <p:cxnSp>
        <p:nvCxnSpPr>
          <p:cNvPr id="26" name="Straight Connector 25">
            <a:extLst>
              <a:ext uri="{FF2B5EF4-FFF2-40B4-BE49-F238E27FC236}">
                <a16:creationId xmlns:a16="http://schemas.microsoft.com/office/drawing/2014/main" id="{75329C31-4778-9747-9F74-545BFA8B438B}"/>
              </a:ext>
            </a:extLst>
          </p:cNvPr>
          <p:cNvCxnSpPr>
            <a:cxnSpLocks/>
          </p:cNvCxnSpPr>
          <p:nvPr/>
        </p:nvCxnSpPr>
        <p:spPr>
          <a:xfrm flipV="1">
            <a:off x="7437205" y="3914370"/>
            <a:ext cx="1168163" cy="1"/>
          </a:xfrm>
          <a:prstGeom prst="line">
            <a:avLst/>
          </a:prstGeom>
          <a:noFill/>
          <a:ln w="19050" cap="flat" cmpd="sng" algn="ctr">
            <a:solidFill>
              <a:schemeClr val="accent1"/>
            </a:solidFill>
            <a:prstDash val="sysDash"/>
            <a:headEnd type="none" w="med" len="med"/>
            <a:tailEnd type="triangle" w="med" len="med"/>
          </a:ln>
          <a:effectLst/>
        </p:spPr>
      </p:cxnSp>
      <p:pic>
        <p:nvPicPr>
          <p:cNvPr id="27" name="Graphic 26">
            <a:extLst>
              <a:ext uri="{FF2B5EF4-FFF2-40B4-BE49-F238E27FC236}">
                <a16:creationId xmlns:a16="http://schemas.microsoft.com/office/drawing/2014/main" id="{A5EBA3FA-936D-074D-A847-1E424940C135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6738387" y="3623892"/>
            <a:ext cx="502387" cy="502387"/>
          </a:xfrm>
          <a:prstGeom prst="rect">
            <a:avLst/>
          </a:prstGeom>
        </p:spPr>
      </p:pic>
      <p:sp>
        <p:nvSpPr>
          <p:cNvPr id="28" name="Rectangle 27">
            <a:extLst>
              <a:ext uri="{FF2B5EF4-FFF2-40B4-BE49-F238E27FC236}">
                <a16:creationId xmlns:a16="http://schemas.microsoft.com/office/drawing/2014/main" id="{C7F1D5E2-D51D-AE4A-9B7C-74540419E44C}"/>
              </a:ext>
            </a:extLst>
          </p:cNvPr>
          <p:cNvSpPr/>
          <p:nvPr/>
        </p:nvSpPr>
        <p:spPr>
          <a:xfrm>
            <a:off x="2833931" y="4075045"/>
            <a:ext cx="862761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32239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900" b="0" i="0" u="none" strike="noStrike" kern="0" cap="none" spc="0" normalizeH="0" baseline="0" noProof="0" dirty="0">
                <a:ln>
                  <a:noFill/>
                </a:ln>
                <a:solidFill>
                  <a:srgbClr val="353535">
                    <a:lumMod val="50000"/>
                  </a:srgbClr>
                </a:solidFill>
                <a:effectLst/>
                <a:uLnTx/>
                <a:uFillTx/>
                <a:latin typeface="Segoe UI Semibold" panose="020B0702040204020203" pitchFamily="34" charset="0"/>
                <a:ea typeface="MS PGothic" panose="020B0600070205080204" pitchFamily="34" charset="-128"/>
                <a:cs typeface="Segoe UI Semibold" panose="020B0702040204020203" pitchFamily="34" charset="0"/>
              </a:rPr>
              <a:t>Azure Data </a:t>
            </a:r>
            <a:r>
              <a:rPr lang="en-US" sz="900" kern="0" dirty="0">
                <a:solidFill>
                  <a:srgbClr val="353535">
                    <a:lumMod val="50000"/>
                  </a:srgbClr>
                </a:solidFill>
                <a:latin typeface="Segoe UI Semibold" panose="020B0702040204020203" pitchFamily="34" charset="0"/>
                <a:ea typeface="MS PGothic" panose="020B0600070205080204" pitchFamily="34" charset="-128"/>
                <a:cs typeface="Segoe UI Semibold" panose="020B0702040204020203" pitchFamily="34" charset="0"/>
              </a:rPr>
              <a:t>Factory</a:t>
            </a:r>
            <a:endParaRPr kumimoji="0" lang="en-US" sz="900" b="0" i="0" u="none" strike="noStrike" kern="0" cap="none" spc="0" normalizeH="0" baseline="0" noProof="0" dirty="0">
              <a:ln>
                <a:noFill/>
              </a:ln>
              <a:solidFill>
                <a:srgbClr val="353535">
                  <a:lumMod val="50000"/>
                </a:srgbClr>
              </a:solidFill>
              <a:effectLst/>
              <a:uLnTx/>
              <a:uFillTx/>
              <a:latin typeface="Segoe UI Semibold" panose="020B0702040204020203" pitchFamily="34" charset="0"/>
              <a:ea typeface="MS PGothic" panose="020B0600070205080204" pitchFamily="34" charset="-128"/>
              <a:cs typeface="Segoe UI Semibold" panose="020B0702040204020203" pitchFamily="34" charset="0"/>
            </a:endParaRPr>
          </a:p>
        </p:txBody>
      </p:sp>
      <p:sp>
        <p:nvSpPr>
          <p:cNvPr id="29" name="Rectangle 28">
            <a:extLst>
              <a:ext uri="{FF2B5EF4-FFF2-40B4-BE49-F238E27FC236}">
                <a16:creationId xmlns:a16="http://schemas.microsoft.com/office/drawing/2014/main" id="{182E85EE-03A6-0648-84B5-66280D1E7C02}"/>
              </a:ext>
            </a:extLst>
          </p:cNvPr>
          <p:cNvSpPr/>
          <p:nvPr/>
        </p:nvSpPr>
        <p:spPr>
          <a:xfrm>
            <a:off x="6453554" y="4116583"/>
            <a:ext cx="1067921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32239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900" b="0" i="0" u="none" strike="noStrike" kern="0" cap="none" spc="0" normalizeH="0" baseline="0" noProof="0" dirty="0">
                <a:ln>
                  <a:noFill/>
                </a:ln>
                <a:solidFill>
                  <a:srgbClr val="353535">
                    <a:lumMod val="50000"/>
                  </a:srgbClr>
                </a:solidFill>
                <a:effectLst/>
                <a:uLnTx/>
                <a:uFillTx/>
                <a:latin typeface="Segoe UI Semibold" panose="020B0702040204020203" pitchFamily="34" charset="0"/>
                <a:ea typeface="MS PGothic" panose="020B0600070205080204" pitchFamily="34" charset="-128"/>
                <a:cs typeface="Segoe UI Semibold" panose="020B0702040204020203" pitchFamily="34" charset="0"/>
              </a:rPr>
              <a:t>Azure Automate ML</a:t>
            </a:r>
          </a:p>
        </p:txBody>
      </p:sp>
      <p:grpSp>
        <p:nvGrpSpPr>
          <p:cNvPr id="30" name="Group 29">
            <a:extLst>
              <a:ext uri="{FF2B5EF4-FFF2-40B4-BE49-F238E27FC236}">
                <a16:creationId xmlns:a16="http://schemas.microsoft.com/office/drawing/2014/main" id="{81CC4486-0792-D145-AFF6-2175BF8068C0}"/>
              </a:ext>
            </a:extLst>
          </p:cNvPr>
          <p:cNvGrpSpPr/>
          <p:nvPr/>
        </p:nvGrpSpPr>
        <p:grpSpPr>
          <a:xfrm>
            <a:off x="6316920" y="1988064"/>
            <a:ext cx="1460551" cy="924828"/>
            <a:chOff x="6786704" y="2030009"/>
            <a:chExt cx="1460551" cy="924828"/>
          </a:xfrm>
        </p:grpSpPr>
        <p:pic>
          <p:nvPicPr>
            <p:cNvPr id="31" name="Picture 30">
              <a:extLst>
                <a:ext uri="{FF2B5EF4-FFF2-40B4-BE49-F238E27FC236}">
                  <a16:creationId xmlns:a16="http://schemas.microsoft.com/office/drawing/2014/main" id="{850B26FF-CBA4-244D-A928-6B6E850B4A8C}"/>
                </a:ext>
              </a:extLst>
            </p:cNvPr>
            <p:cNvPicPr>
              <a:picLocks noChangeAspect="1"/>
            </p:cNvPicPr>
            <p:nvPr/>
          </p:nvPicPr>
          <p:blipFill>
            <a:blip r:embed="rId6" cstate="email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tretch>
              <a:fillRect/>
            </a:stretch>
          </p:blipFill>
          <p:spPr>
            <a:xfrm>
              <a:off x="7167404" y="2030009"/>
              <a:ext cx="579787" cy="579787"/>
            </a:xfrm>
            <a:prstGeom prst="rect">
              <a:avLst/>
            </a:prstGeom>
          </p:spPr>
        </p:pic>
        <p:sp>
          <p:nvSpPr>
            <p:cNvPr id="32" name="Rectangle 31">
              <a:extLst>
                <a:ext uri="{FF2B5EF4-FFF2-40B4-BE49-F238E27FC236}">
                  <a16:creationId xmlns:a16="http://schemas.microsoft.com/office/drawing/2014/main" id="{8A750150-545A-8042-BD16-2ADBD8A6393A}"/>
                </a:ext>
              </a:extLst>
            </p:cNvPr>
            <p:cNvSpPr/>
            <p:nvPr/>
          </p:nvSpPr>
          <p:spPr>
            <a:xfrm>
              <a:off x="6786704" y="2585505"/>
              <a:ext cx="1460551" cy="369332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 marL="0" marR="0" lvl="0" indent="0" algn="ctr" defTabSz="932239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900" b="0" i="0" u="none" strike="noStrike" kern="0" cap="none" spc="0" normalizeH="0" baseline="0" noProof="0" dirty="0">
                  <a:ln>
                    <a:noFill/>
                  </a:ln>
                  <a:solidFill>
                    <a:srgbClr val="353535">
                      <a:lumMod val="50000"/>
                    </a:srgbClr>
                  </a:solidFill>
                  <a:effectLst/>
                  <a:uLnTx/>
                  <a:uFillTx/>
                  <a:latin typeface="Segoe UI Semibold" panose="020B0702040204020203" pitchFamily="34" charset="0"/>
                  <a:ea typeface="MS PGothic" panose="020B0600070205080204" pitchFamily="34" charset="-128"/>
                  <a:cs typeface="Segoe UI Semibold" panose="020B0702040204020203" pitchFamily="34" charset="0"/>
                </a:rPr>
                <a:t>Azure Synapse Analytics</a:t>
              </a:r>
            </a:p>
            <a:p>
              <a:pPr marL="0" marR="0" lvl="0" indent="0" algn="ctr" defTabSz="932239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lang="en-US" sz="900" kern="0" dirty="0">
                  <a:solidFill>
                    <a:srgbClr val="353535">
                      <a:lumMod val="50000"/>
                    </a:srgbClr>
                  </a:solidFill>
                  <a:latin typeface="Segoe UI Semibold" panose="020B0702040204020203" pitchFamily="34" charset="0"/>
                  <a:ea typeface="MS PGothic" panose="020B0600070205080204" pitchFamily="34" charset="-128"/>
                  <a:cs typeface="Segoe UI Semibold" panose="020B0702040204020203" pitchFamily="34" charset="0"/>
                </a:rPr>
                <a:t>Integrate</a:t>
              </a:r>
              <a:endParaRPr kumimoji="0" lang="en-US" sz="900" b="0" i="0" u="none" strike="noStrike" kern="0" cap="none" spc="0" normalizeH="0" baseline="0" noProof="0" dirty="0">
                <a:ln>
                  <a:noFill/>
                </a:ln>
                <a:solidFill>
                  <a:srgbClr val="353535">
                    <a:lumMod val="50000"/>
                  </a:srgbClr>
                </a:solidFill>
                <a:effectLst/>
                <a:uLnTx/>
                <a:uFillTx/>
                <a:latin typeface="Segoe UI Semibold" panose="020B0702040204020203" pitchFamily="34" charset="0"/>
                <a:ea typeface="MS PGothic" panose="020B0600070205080204" pitchFamily="34" charset="-128"/>
                <a:cs typeface="Segoe UI Semibold" panose="020B0702040204020203" pitchFamily="34" charset="0"/>
              </a:endParaRPr>
            </a:p>
          </p:txBody>
        </p:sp>
      </p:grpSp>
      <p:grpSp>
        <p:nvGrpSpPr>
          <p:cNvPr id="33" name="Group 32">
            <a:extLst>
              <a:ext uri="{FF2B5EF4-FFF2-40B4-BE49-F238E27FC236}">
                <a16:creationId xmlns:a16="http://schemas.microsoft.com/office/drawing/2014/main" id="{2FA9C462-70B2-F147-9C93-3DD1BA8736B8}"/>
              </a:ext>
            </a:extLst>
          </p:cNvPr>
          <p:cNvGrpSpPr/>
          <p:nvPr/>
        </p:nvGrpSpPr>
        <p:grpSpPr>
          <a:xfrm>
            <a:off x="8405280" y="3522579"/>
            <a:ext cx="1460551" cy="786328"/>
            <a:chOff x="6786704" y="2030009"/>
            <a:chExt cx="1460551" cy="786328"/>
          </a:xfrm>
        </p:grpSpPr>
        <p:pic>
          <p:nvPicPr>
            <p:cNvPr id="34" name="Picture 33">
              <a:extLst>
                <a:ext uri="{FF2B5EF4-FFF2-40B4-BE49-F238E27FC236}">
                  <a16:creationId xmlns:a16="http://schemas.microsoft.com/office/drawing/2014/main" id="{E8A30364-170D-8A4B-BF70-423BFAB12C35}"/>
                </a:ext>
              </a:extLst>
            </p:cNvPr>
            <p:cNvPicPr>
              <a:picLocks noChangeAspect="1"/>
            </p:cNvPicPr>
            <p:nvPr/>
          </p:nvPicPr>
          <p:blipFill>
            <a:blip r:embed="rId6" cstate="email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tretch>
              <a:fillRect/>
            </a:stretch>
          </p:blipFill>
          <p:spPr>
            <a:xfrm>
              <a:off x="7167404" y="2030009"/>
              <a:ext cx="579787" cy="579787"/>
            </a:xfrm>
            <a:prstGeom prst="rect">
              <a:avLst/>
            </a:prstGeom>
          </p:spPr>
        </p:pic>
        <p:sp>
          <p:nvSpPr>
            <p:cNvPr id="35" name="Rectangle 34">
              <a:extLst>
                <a:ext uri="{FF2B5EF4-FFF2-40B4-BE49-F238E27FC236}">
                  <a16:creationId xmlns:a16="http://schemas.microsoft.com/office/drawing/2014/main" id="{A8DCAF2A-8524-E24B-B5D7-793199F4A0AE}"/>
                </a:ext>
              </a:extLst>
            </p:cNvPr>
            <p:cNvSpPr/>
            <p:nvPr/>
          </p:nvSpPr>
          <p:spPr>
            <a:xfrm>
              <a:off x="6786704" y="2585505"/>
              <a:ext cx="1460551" cy="230832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 marL="0" marR="0" lvl="0" indent="0" algn="ctr" defTabSz="932239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900" b="0" i="0" u="none" strike="noStrike" kern="0" cap="none" spc="0" normalizeH="0" baseline="0" noProof="0" dirty="0">
                  <a:ln>
                    <a:noFill/>
                  </a:ln>
                  <a:solidFill>
                    <a:srgbClr val="353535">
                      <a:lumMod val="50000"/>
                    </a:srgbClr>
                  </a:solidFill>
                  <a:effectLst/>
                  <a:uLnTx/>
                  <a:uFillTx/>
                  <a:latin typeface="Segoe UI Semibold" panose="020B0702040204020203" pitchFamily="34" charset="0"/>
                  <a:ea typeface="MS PGothic" panose="020B0600070205080204" pitchFamily="34" charset="-128"/>
                  <a:cs typeface="Segoe UI Semibold" panose="020B0702040204020203" pitchFamily="34" charset="0"/>
                </a:rPr>
                <a:t>Synapse SQL</a:t>
              </a:r>
            </a:p>
          </p:txBody>
        </p:sp>
      </p:grpSp>
      <p:cxnSp>
        <p:nvCxnSpPr>
          <p:cNvPr id="36" name="Straight Connector 35">
            <a:extLst>
              <a:ext uri="{FF2B5EF4-FFF2-40B4-BE49-F238E27FC236}">
                <a16:creationId xmlns:a16="http://schemas.microsoft.com/office/drawing/2014/main" id="{F840B317-A236-B44D-A409-ACCB5A0BD661}"/>
              </a:ext>
            </a:extLst>
          </p:cNvPr>
          <p:cNvCxnSpPr>
            <a:cxnSpLocks/>
          </p:cNvCxnSpPr>
          <p:nvPr/>
        </p:nvCxnSpPr>
        <p:spPr>
          <a:xfrm>
            <a:off x="1937857" y="3835143"/>
            <a:ext cx="794573" cy="5725"/>
          </a:xfrm>
          <a:prstGeom prst="line">
            <a:avLst/>
          </a:prstGeom>
          <a:noFill/>
          <a:ln w="19050" cap="flat" cmpd="sng" algn="ctr">
            <a:solidFill>
              <a:schemeClr val="accent1"/>
            </a:solidFill>
            <a:prstDash val="sysDash"/>
            <a:headEnd type="none" w="med" len="med"/>
            <a:tailEnd type="triangle" w="med" len="med"/>
          </a:ln>
          <a:effectLst/>
        </p:spPr>
      </p:cxnSp>
      <p:pic>
        <p:nvPicPr>
          <p:cNvPr id="37" name="Picture 2" descr="Microsoft SQL Server Analysis Services | MANTA">
            <a:extLst>
              <a:ext uri="{FF2B5EF4-FFF2-40B4-BE49-F238E27FC236}">
                <a16:creationId xmlns:a16="http://schemas.microsoft.com/office/drawing/2014/main" id="{885CF9C2-C78E-9140-A3BB-8CB4F6CCBE7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7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848667" y="1669449"/>
            <a:ext cx="1415382" cy="45392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cxnSp>
        <p:nvCxnSpPr>
          <p:cNvPr id="38" name="Straight Connector 37">
            <a:extLst>
              <a:ext uri="{FF2B5EF4-FFF2-40B4-BE49-F238E27FC236}">
                <a16:creationId xmlns:a16="http://schemas.microsoft.com/office/drawing/2014/main" id="{1A6B61D4-6412-D144-90BA-47FD2134A793}"/>
              </a:ext>
            </a:extLst>
          </p:cNvPr>
          <p:cNvCxnSpPr>
            <a:cxnSpLocks/>
          </p:cNvCxnSpPr>
          <p:nvPr/>
        </p:nvCxnSpPr>
        <p:spPr>
          <a:xfrm>
            <a:off x="1498207" y="2301032"/>
            <a:ext cx="0" cy="940092"/>
          </a:xfrm>
          <a:prstGeom prst="line">
            <a:avLst/>
          </a:prstGeom>
          <a:noFill/>
          <a:ln w="19050" cap="flat" cmpd="sng" algn="ctr">
            <a:solidFill>
              <a:schemeClr val="accent1"/>
            </a:solidFill>
            <a:prstDash val="sysDash"/>
            <a:headEnd type="none" w="med" len="med"/>
            <a:tailEnd type="triangle" w="med" len="med"/>
          </a:ln>
          <a:effectLst/>
        </p:spPr>
      </p:cxnSp>
      <p:sp>
        <p:nvSpPr>
          <p:cNvPr id="39" name="Shape 101">
            <a:extLst>
              <a:ext uri="{FF2B5EF4-FFF2-40B4-BE49-F238E27FC236}">
                <a16:creationId xmlns:a16="http://schemas.microsoft.com/office/drawing/2014/main" id="{3CD59E0B-4509-6C41-A2CE-635381B86DC7}"/>
              </a:ext>
            </a:extLst>
          </p:cNvPr>
          <p:cNvSpPr txBox="1"/>
          <p:nvPr/>
        </p:nvSpPr>
        <p:spPr>
          <a:xfrm>
            <a:off x="321640" y="2325564"/>
            <a:ext cx="1137464" cy="701858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 anchorCtr="0">
            <a:noAutofit/>
          </a:bodyPr>
          <a:lstStyle/>
          <a:p>
            <a:pPr marL="0" marR="0" lvl="0" indent="0" algn="ctr" defTabSz="932597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05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Segoe UI"/>
                <a:ea typeface="+mn-ea"/>
                <a:cs typeface="Segoe UI Semibold" panose="020B0702040204020203" pitchFamily="34" charset="0"/>
                <a:sym typeface="Calibri"/>
              </a:rPr>
              <a:t>Use</a:t>
            </a:r>
            <a:r>
              <a:rPr lang="en-US" sz="1050" kern="0" dirty="0">
                <a:solidFill>
                  <a:srgbClr val="000000"/>
                </a:solidFill>
                <a:latin typeface="Segoe UI"/>
                <a:cs typeface="Segoe UI Semibold" panose="020B0702040204020203" pitchFamily="34" charset="0"/>
                <a:sym typeface="Calibri"/>
              </a:rPr>
              <a:t> </a:t>
            </a:r>
            <a:r>
              <a:rPr lang="en-US" sz="1050" kern="0" dirty="0">
                <a:solidFill>
                  <a:srgbClr val="000000"/>
                </a:solidFill>
                <a:latin typeface="Segoe UI"/>
                <a:cs typeface="Segoe UI Semibold" panose="020B0702040204020203" pitchFamily="34" charset="0"/>
                <a:sym typeface="Calibri"/>
                <a:hlinkClick r:id="rId8"/>
              </a:rPr>
              <a:t>Visual Studio SSAS project </a:t>
            </a:r>
            <a:endParaRPr lang="en-US" sz="1050" kern="0" dirty="0">
              <a:solidFill>
                <a:srgbClr val="000000"/>
              </a:solidFill>
              <a:latin typeface="Segoe UI"/>
              <a:cs typeface="Segoe UI Semibold" panose="020B0702040204020203" pitchFamily="34" charset="0"/>
              <a:sym typeface="Calibri"/>
            </a:endParaRPr>
          </a:p>
          <a:p>
            <a:pPr marL="0" marR="0" lvl="0" indent="0" algn="ctr" defTabSz="932597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1050" kern="0" dirty="0">
                <a:solidFill>
                  <a:srgbClr val="000000"/>
                </a:solidFill>
                <a:latin typeface="Segoe UI"/>
                <a:cs typeface="Segoe UI Semibold" panose="020B0702040204020203" pitchFamily="34" charset="0"/>
                <a:sym typeface="Calibri"/>
              </a:rPr>
              <a:t>or </a:t>
            </a:r>
            <a:r>
              <a:rPr lang="en-US" sz="1050" kern="0" dirty="0">
                <a:solidFill>
                  <a:srgbClr val="000000"/>
                </a:solidFill>
                <a:latin typeface="Segoe UI"/>
                <a:cs typeface="Segoe UI Semibold" panose="020B0702040204020203" pitchFamily="34" charset="0"/>
                <a:sym typeface="Calibri"/>
                <a:hlinkClick r:id="rId9"/>
              </a:rPr>
              <a:t>SSIS</a:t>
            </a:r>
            <a:r>
              <a:rPr lang="en-US" sz="1050" kern="0" dirty="0">
                <a:solidFill>
                  <a:srgbClr val="000000"/>
                </a:solidFill>
                <a:latin typeface="Segoe UI"/>
                <a:cs typeface="Segoe UI Semibold" panose="020B0702040204020203" pitchFamily="34" charset="0"/>
                <a:sym typeface="Calibri"/>
              </a:rPr>
              <a:t> to retrieve the </a:t>
            </a:r>
            <a:r>
              <a:rPr kumimoji="0" lang="en-US" sz="105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Segoe UI"/>
                <a:ea typeface="+mn-ea"/>
                <a:cs typeface="Segoe UI Semibold" panose="020B0702040204020203" pitchFamily="34" charset="0"/>
                <a:sym typeface="Calibri"/>
              </a:rPr>
              <a:t>Cube(s)</a:t>
            </a:r>
          </a:p>
        </p:txBody>
      </p:sp>
      <p:grpSp>
        <p:nvGrpSpPr>
          <p:cNvPr id="40" name="Group 39">
            <a:extLst>
              <a:ext uri="{FF2B5EF4-FFF2-40B4-BE49-F238E27FC236}">
                <a16:creationId xmlns:a16="http://schemas.microsoft.com/office/drawing/2014/main" id="{F8366198-5BCF-9D49-9640-731894B4DC29}"/>
              </a:ext>
            </a:extLst>
          </p:cNvPr>
          <p:cNvGrpSpPr/>
          <p:nvPr/>
        </p:nvGrpSpPr>
        <p:grpSpPr>
          <a:xfrm>
            <a:off x="799358" y="3523298"/>
            <a:ext cx="1059287" cy="880393"/>
            <a:chOff x="312796" y="3397463"/>
            <a:chExt cx="1059287" cy="880393"/>
          </a:xfrm>
        </p:grpSpPr>
        <p:pic>
          <p:nvPicPr>
            <p:cNvPr id="41" name="Picture 2" descr="Bucket, content, delivery, objects, s3, storage, with icon - Free download">
              <a:extLst>
                <a:ext uri="{FF2B5EF4-FFF2-40B4-BE49-F238E27FC236}">
                  <a16:creationId xmlns:a16="http://schemas.microsoft.com/office/drawing/2014/main" id="{310651C3-D199-A040-AC7A-F8BE65A9E678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10" cstate="email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312796" y="3397463"/>
              <a:ext cx="1000493" cy="876463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sp>
          <p:nvSpPr>
            <p:cNvPr id="42" name="Rectangle 41">
              <a:extLst>
                <a:ext uri="{FF2B5EF4-FFF2-40B4-BE49-F238E27FC236}">
                  <a16:creationId xmlns:a16="http://schemas.microsoft.com/office/drawing/2014/main" id="{F5F83BE6-512E-1C43-A807-42BE3BECBC67}"/>
                </a:ext>
              </a:extLst>
            </p:cNvPr>
            <p:cNvSpPr/>
            <p:nvPr/>
          </p:nvSpPr>
          <p:spPr>
            <a:xfrm>
              <a:off x="337862" y="4047024"/>
              <a:ext cx="1034221" cy="230832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 marL="0" marR="0" lvl="0" indent="0" algn="ctr" defTabSz="932239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900" b="0" i="0" u="none" strike="noStrike" kern="0" cap="none" spc="0" normalizeH="0" baseline="0" noProof="0" dirty="0">
                  <a:ln>
                    <a:noFill/>
                  </a:ln>
                  <a:solidFill>
                    <a:srgbClr val="353535">
                      <a:lumMod val="50000"/>
                    </a:srgbClr>
                  </a:solidFill>
                  <a:effectLst/>
                  <a:uLnTx/>
                  <a:uFillTx/>
                  <a:latin typeface="Segoe UI Semibold" panose="020B0702040204020203" pitchFamily="34" charset="0"/>
                  <a:ea typeface="MS PGothic" panose="020B0600070205080204" pitchFamily="34" charset="-128"/>
                  <a:cs typeface="Segoe UI Semibold" panose="020B0702040204020203" pitchFamily="34" charset="0"/>
                </a:rPr>
                <a:t>AWS S3 Bucket</a:t>
              </a:r>
            </a:p>
          </p:txBody>
        </p:sp>
      </p:grpSp>
      <p:grpSp>
        <p:nvGrpSpPr>
          <p:cNvPr id="43" name="Group 42">
            <a:extLst>
              <a:ext uri="{FF2B5EF4-FFF2-40B4-BE49-F238E27FC236}">
                <a16:creationId xmlns:a16="http://schemas.microsoft.com/office/drawing/2014/main" id="{8B98C842-65BE-C445-91D3-ECB3BD7ED098}"/>
              </a:ext>
            </a:extLst>
          </p:cNvPr>
          <p:cNvGrpSpPr/>
          <p:nvPr/>
        </p:nvGrpSpPr>
        <p:grpSpPr>
          <a:xfrm>
            <a:off x="1021587" y="3453713"/>
            <a:ext cx="1137464" cy="797186"/>
            <a:chOff x="207713" y="2495902"/>
            <a:chExt cx="1137464" cy="797186"/>
          </a:xfrm>
        </p:grpSpPr>
        <p:sp>
          <p:nvSpPr>
            <p:cNvPr id="44" name="Shape 101">
              <a:extLst>
                <a:ext uri="{FF2B5EF4-FFF2-40B4-BE49-F238E27FC236}">
                  <a16:creationId xmlns:a16="http://schemas.microsoft.com/office/drawing/2014/main" id="{4A69754F-CED5-F04E-80D7-36BC9AB3D83A}"/>
                </a:ext>
              </a:extLst>
            </p:cNvPr>
            <p:cNvSpPr txBox="1"/>
            <p:nvPr/>
          </p:nvSpPr>
          <p:spPr>
            <a:xfrm>
              <a:off x="207713" y="2941502"/>
              <a:ext cx="1137464" cy="351586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t" anchorCtr="0">
              <a:noAutofit/>
            </a:bodyPr>
            <a:lstStyle/>
            <a:p>
              <a:pPr marL="0" marR="0" lvl="0" indent="0" algn="ctr" defTabSz="932597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lang="en-US" sz="1050" kern="0" dirty="0">
                  <a:solidFill>
                    <a:srgbClr val="000000"/>
                  </a:solidFill>
                  <a:latin typeface="Segoe UI"/>
                  <a:cs typeface="Segoe UI Semibold" panose="020B0702040204020203" pitchFamily="34" charset="0"/>
                  <a:sym typeface="Calibri"/>
                </a:rPr>
                <a:t>Cube(s) in CSV</a:t>
              </a:r>
            </a:p>
          </p:txBody>
        </p:sp>
        <p:pic>
          <p:nvPicPr>
            <p:cNvPr id="45" name="Picture 2" descr="Modules: Microsoft Excel Essentials | Free Online Course | Alison">
              <a:extLst>
                <a:ext uri="{FF2B5EF4-FFF2-40B4-BE49-F238E27FC236}">
                  <a16:creationId xmlns:a16="http://schemas.microsoft.com/office/drawing/2014/main" id="{658E3DBA-0B97-2047-8635-224B63B0DCE6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11" cstate="email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388529" y="2495902"/>
              <a:ext cx="593857" cy="395904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</p:grpSp>
      <p:sp>
        <p:nvSpPr>
          <p:cNvPr id="46" name="Shape 101">
            <a:extLst>
              <a:ext uri="{FF2B5EF4-FFF2-40B4-BE49-F238E27FC236}">
                <a16:creationId xmlns:a16="http://schemas.microsoft.com/office/drawing/2014/main" id="{544CEEE3-266E-0043-98B1-178614559C32}"/>
              </a:ext>
            </a:extLst>
          </p:cNvPr>
          <p:cNvSpPr txBox="1"/>
          <p:nvPr/>
        </p:nvSpPr>
        <p:spPr>
          <a:xfrm>
            <a:off x="1767845" y="3601533"/>
            <a:ext cx="1067922" cy="168341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 anchorCtr="0">
            <a:noAutofit/>
          </a:bodyPr>
          <a:lstStyle/>
          <a:p>
            <a:pPr marL="0" marR="0" lvl="0" indent="0" algn="ctr" defTabSz="932597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1050" kern="0" dirty="0">
                <a:solidFill>
                  <a:srgbClr val="000000"/>
                </a:solidFill>
                <a:latin typeface="Segoe UI"/>
                <a:cs typeface="Segoe UI Semibold" panose="020B0702040204020203" pitchFamily="34" charset="0"/>
                <a:sym typeface="Calibri"/>
                <a:hlinkClick r:id="rId12"/>
              </a:rPr>
              <a:t>Pull from S3</a:t>
            </a:r>
            <a:endParaRPr kumimoji="0" lang="en-US" sz="105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Segoe UI"/>
              <a:ea typeface="+mn-ea"/>
              <a:cs typeface="Segoe UI Semibold" panose="020B0702040204020203" pitchFamily="34" charset="0"/>
              <a:sym typeface="Calibri"/>
            </a:endParaRPr>
          </a:p>
        </p:txBody>
      </p:sp>
      <p:sp>
        <p:nvSpPr>
          <p:cNvPr id="47" name="Shape 101">
            <a:extLst>
              <a:ext uri="{FF2B5EF4-FFF2-40B4-BE49-F238E27FC236}">
                <a16:creationId xmlns:a16="http://schemas.microsoft.com/office/drawing/2014/main" id="{29F87382-519B-5145-91FB-E66430289273}"/>
              </a:ext>
            </a:extLst>
          </p:cNvPr>
          <p:cNvSpPr txBox="1"/>
          <p:nvPr/>
        </p:nvSpPr>
        <p:spPr>
          <a:xfrm>
            <a:off x="5483519" y="3945509"/>
            <a:ext cx="968731" cy="232299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 anchorCtr="0">
            <a:noAutofit/>
          </a:bodyPr>
          <a:lstStyle/>
          <a:p>
            <a:pPr marL="0" marR="0" lvl="0" indent="0" algn="ctr" defTabSz="932597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1050" kern="0" dirty="0">
                <a:solidFill>
                  <a:schemeClr val="accent3">
                    <a:lumMod val="75000"/>
                  </a:schemeClr>
                </a:solidFill>
                <a:latin typeface="Segoe UI"/>
                <a:cs typeface="Segoe UI Semibold" panose="020B0702040204020203" pitchFamily="34" charset="0"/>
                <a:sym typeface="Calibri"/>
              </a:rPr>
              <a:t>shaped data</a:t>
            </a:r>
            <a:endParaRPr kumimoji="0" lang="en-US" sz="1050" b="0" i="0" u="none" strike="noStrike" kern="0" cap="none" spc="0" normalizeH="0" baseline="0" noProof="0" dirty="0">
              <a:ln>
                <a:noFill/>
              </a:ln>
              <a:solidFill>
                <a:schemeClr val="accent3">
                  <a:lumMod val="75000"/>
                </a:schemeClr>
              </a:solidFill>
              <a:effectLst/>
              <a:uLnTx/>
              <a:uFillTx/>
              <a:latin typeface="Segoe UI"/>
              <a:ea typeface="+mn-ea"/>
              <a:cs typeface="Segoe UI Semibold" panose="020B0702040204020203" pitchFamily="34" charset="0"/>
              <a:sym typeface="Calibri"/>
            </a:endParaRPr>
          </a:p>
        </p:txBody>
      </p:sp>
      <p:sp>
        <p:nvSpPr>
          <p:cNvPr id="48" name="Shape 101">
            <a:extLst>
              <a:ext uri="{FF2B5EF4-FFF2-40B4-BE49-F238E27FC236}">
                <a16:creationId xmlns:a16="http://schemas.microsoft.com/office/drawing/2014/main" id="{D1630DD1-4F6A-BE49-9778-D696B4E3EC92}"/>
              </a:ext>
            </a:extLst>
          </p:cNvPr>
          <p:cNvSpPr txBox="1"/>
          <p:nvPr/>
        </p:nvSpPr>
        <p:spPr>
          <a:xfrm>
            <a:off x="7626899" y="3958895"/>
            <a:ext cx="968731" cy="232299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 anchorCtr="0">
            <a:noAutofit/>
          </a:bodyPr>
          <a:lstStyle/>
          <a:p>
            <a:pPr marL="0" marR="0" lvl="0" indent="0" algn="ctr" defTabSz="932597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1050" kern="0" dirty="0">
                <a:solidFill>
                  <a:schemeClr val="accent3">
                    <a:lumMod val="75000"/>
                  </a:schemeClr>
                </a:solidFill>
                <a:latin typeface="Segoe UI"/>
                <a:cs typeface="Segoe UI Semibold" panose="020B0702040204020203" pitchFamily="34" charset="0"/>
                <a:sym typeface="Calibri"/>
              </a:rPr>
              <a:t>Predicted results</a:t>
            </a:r>
            <a:endParaRPr kumimoji="0" lang="en-US" sz="1050" b="0" i="0" u="none" strike="noStrike" kern="0" cap="none" spc="0" normalizeH="0" baseline="0" noProof="0" dirty="0">
              <a:ln>
                <a:noFill/>
              </a:ln>
              <a:solidFill>
                <a:schemeClr val="accent3">
                  <a:lumMod val="75000"/>
                </a:schemeClr>
              </a:solidFill>
              <a:effectLst/>
              <a:uLnTx/>
              <a:uFillTx/>
              <a:latin typeface="Segoe UI"/>
              <a:ea typeface="+mn-ea"/>
              <a:cs typeface="Segoe UI Semibold" panose="020B0702040204020203" pitchFamily="34" charset="0"/>
              <a:sym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2056056883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: Rounded Corners 25">
            <a:extLst>
              <a:ext uri="{FF2B5EF4-FFF2-40B4-BE49-F238E27FC236}">
                <a16:creationId xmlns:a16="http://schemas.microsoft.com/office/drawing/2014/main" id="{EA6E2475-075C-5841-983A-0FD89B4D8DB1}"/>
              </a:ext>
            </a:extLst>
          </p:cNvPr>
          <p:cNvSpPr/>
          <p:nvPr/>
        </p:nvSpPr>
        <p:spPr>
          <a:xfrm>
            <a:off x="2223760" y="1806805"/>
            <a:ext cx="7782380" cy="4621067"/>
          </a:xfrm>
          <a:prstGeom prst="roundRect">
            <a:avLst/>
          </a:prstGeom>
          <a:solidFill>
            <a:schemeClr val="accent6">
              <a:lumMod val="20000"/>
              <a:lumOff val="80000"/>
            </a:schemeClr>
          </a:solidFill>
          <a:ln>
            <a:solidFill>
              <a:schemeClr val="accent6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5F32A343-1328-0247-8DC1-9A323EF07449}"/>
              </a:ext>
            </a:extLst>
          </p:cNvPr>
          <p:cNvSpPr/>
          <p:nvPr/>
        </p:nvSpPr>
        <p:spPr bwMode="auto">
          <a:xfrm>
            <a:off x="10085111" y="1231918"/>
            <a:ext cx="1543753" cy="5364903"/>
          </a:xfrm>
          <a:prstGeom prst="rect">
            <a:avLst/>
          </a:prstGeom>
          <a:solidFill>
            <a:schemeClr val="bg1">
              <a:lumMod val="95000"/>
              <a:alpha val="50000"/>
            </a:schemeClr>
          </a:solidFill>
          <a:ln w="19050" cap="sq" cmpd="sng" algn="ctr">
            <a:noFill/>
            <a:prstDash val="sysDot"/>
            <a:miter lim="800000"/>
            <a:headEnd type="none" w="med" len="med"/>
            <a:tailEnd type="none" w="med" len="med"/>
          </a:ln>
          <a:effectLst/>
        </p:spPr>
        <p:txBody>
          <a:bodyPr rot="0" spcFirstLastPara="0" vertOverflow="overflow" horzOverflow="overflow" vert="horz" wrap="square" lIns="182880" tIns="146304" rIns="182880" bIns="146304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710593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ct val="3500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600" b="0" i="0" u="none" strike="noStrike" kern="0" cap="none" spc="0" normalizeH="0" baseline="0" noProof="0" dirty="0">
                <a:ln>
                  <a:noFill/>
                </a:ln>
                <a:solidFill>
                  <a:srgbClr val="0078D7"/>
                </a:solidFill>
                <a:effectLst/>
                <a:uLnTx/>
                <a:uFillTx/>
                <a:latin typeface="Segoe UI Semibold" panose="020B0702040204020203" pitchFamily="34" charset="0"/>
                <a:ea typeface="+mn-ea"/>
                <a:cs typeface="Segoe UI Semibold" panose="020B0702040204020203" pitchFamily="34" charset="0"/>
              </a:rPr>
              <a:t>Analyze</a:t>
            </a: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4391252C-83DE-C047-8835-952A7197BE86}"/>
              </a:ext>
            </a:extLst>
          </p:cNvPr>
          <p:cNvSpPr/>
          <p:nvPr/>
        </p:nvSpPr>
        <p:spPr bwMode="auto">
          <a:xfrm>
            <a:off x="8225955" y="1192457"/>
            <a:ext cx="1781665" cy="5404366"/>
          </a:xfrm>
          <a:prstGeom prst="rect">
            <a:avLst/>
          </a:prstGeom>
          <a:solidFill>
            <a:schemeClr val="bg1">
              <a:lumMod val="95000"/>
              <a:alpha val="50000"/>
            </a:schemeClr>
          </a:solidFill>
          <a:ln w="19050" cap="sq" cmpd="sng" algn="ctr">
            <a:noFill/>
            <a:prstDash val="sysDot"/>
            <a:miter lim="800000"/>
            <a:headEnd type="none" w="med" len="med"/>
            <a:tailEnd type="none" w="med" len="med"/>
          </a:ln>
          <a:effectLst/>
        </p:spPr>
        <p:txBody>
          <a:bodyPr rot="0" spcFirstLastPara="0" vertOverflow="overflow" horzOverflow="overflow" vert="horz" wrap="square" lIns="182880" tIns="146304" rIns="182880" bIns="146304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710593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ct val="3500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600" b="0" i="0" u="none" strike="noStrike" kern="0" cap="none" spc="0" normalizeH="0" baseline="0" noProof="0" dirty="0">
                <a:ln>
                  <a:noFill/>
                </a:ln>
                <a:solidFill>
                  <a:srgbClr val="0078D7"/>
                </a:solidFill>
                <a:effectLst/>
                <a:uLnTx/>
                <a:uFillTx/>
                <a:latin typeface="Segoe UI Semibold" panose="020B0702040204020203" pitchFamily="34" charset="0"/>
                <a:ea typeface="+mn-ea"/>
                <a:cs typeface="Segoe UI Semibold" panose="020B0702040204020203" pitchFamily="34" charset="0"/>
              </a:rPr>
              <a:t>Load and Serve</a:t>
            </a: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20B3C60B-5DB1-AE45-B05F-CE61D9FF8CC8}"/>
              </a:ext>
            </a:extLst>
          </p:cNvPr>
          <p:cNvSpPr/>
          <p:nvPr/>
        </p:nvSpPr>
        <p:spPr bwMode="auto">
          <a:xfrm>
            <a:off x="4019951" y="1192455"/>
            <a:ext cx="1723322" cy="5404367"/>
          </a:xfrm>
          <a:prstGeom prst="rect">
            <a:avLst/>
          </a:prstGeom>
          <a:solidFill>
            <a:schemeClr val="bg1">
              <a:lumMod val="95000"/>
              <a:alpha val="50000"/>
            </a:schemeClr>
          </a:solidFill>
          <a:ln w="19050" cap="sq" cmpd="sng" algn="ctr">
            <a:noFill/>
            <a:prstDash val="sysDot"/>
            <a:miter lim="800000"/>
            <a:headEnd type="none" w="med" len="med"/>
            <a:tailEnd type="none" w="med" len="med"/>
          </a:ln>
          <a:effectLst/>
        </p:spPr>
        <p:txBody>
          <a:bodyPr rot="0" spcFirstLastPara="0" vertOverflow="overflow" horzOverflow="overflow" vert="horz" wrap="square" lIns="182880" tIns="146304" rIns="182880" bIns="146304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710593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ct val="3500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600" b="0" i="0" u="none" strike="noStrike" kern="0" cap="none" spc="0" normalizeH="0" baseline="0" noProof="0" dirty="0">
                <a:ln>
                  <a:noFill/>
                </a:ln>
                <a:solidFill>
                  <a:srgbClr val="0078D7"/>
                </a:solidFill>
                <a:effectLst/>
                <a:uLnTx/>
                <a:uFillTx/>
                <a:latin typeface="Segoe UI Semibold" panose="020B0702040204020203" pitchFamily="34" charset="0"/>
                <a:ea typeface="+mn-ea"/>
                <a:cs typeface="Segoe UI Semibold" panose="020B0702040204020203" pitchFamily="34" charset="0"/>
              </a:rPr>
              <a:t>Store</a:t>
            </a: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AAF6D8A5-E30E-6E48-8DA6-31A4E8E6DF65}"/>
              </a:ext>
            </a:extLst>
          </p:cNvPr>
          <p:cNvSpPr/>
          <p:nvPr/>
        </p:nvSpPr>
        <p:spPr bwMode="auto">
          <a:xfrm>
            <a:off x="5832837" y="1192457"/>
            <a:ext cx="2270439" cy="5404365"/>
          </a:xfrm>
          <a:prstGeom prst="rect">
            <a:avLst/>
          </a:prstGeom>
          <a:solidFill>
            <a:schemeClr val="bg1">
              <a:lumMod val="95000"/>
              <a:alpha val="50000"/>
            </a:schemeClr>
          </a:solidFill>
          <a:ln w="19050" cap="sq" cmpd="sng" algn="ctr">
            <a:noFill/>
            <a:prstDash val="sysDot"/>
            <a:miter lim="800000"/>
            <a:headEnd type="none" w="med" len="med"/>
            <a:tailEnd type="none" w="med" len="med"/>
          </a:ln>
          <a:effectLst/>
        </p:spPr>
        <p:txBody>
          <a:bodyPr rot="0" spcFirstLastPara="0" vertOverflow="overflow" horzOverflow="overflow" vert="horz" wrap="square" lIns="182880" tIns="146304" rIns="182880" bIns="146304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710593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ct val="3500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600" b="0" i="0" u="none" strike="noStrike" kern="0" cap="none" spc="0" normalizeH="0" baseline="0" noProof="0" dirty="0">
                <a:ln>
                  <a:noFill/>
                </a:ln>
                <a:solidFill>
                  <a:srgbClr val="0078D7"/>
                </a:solidFill>
                <a:effectLst/>
                <a:uLnTx/>
                <a:uFillTx/>
                <a:latin typeface="Segoe UI Semibold" panose="020B0702040204020203" pitchFamily="34" charset="0"/>
                <a:ea typeface="+mn-ea"/>
                <a:cs typeface="Segoe UI Semibold" panose="020B0702040204020203" pitchFamily="34" charset="0"/>
              </a:rPr>
              <a:t>Prep and train</a:t>
            </a: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8322FE91-D87E-5A49-B912-D4A6E5DB20D4}"/>
              </a:ext>
            </a:extLst>
          </p:cNvPr>
          <p:cNvSpPr/>
          <p:nvPr/>
        </p:nvSpPr>
        <p:spPr bwMode="auto">
          <a:xfrm>
            <a:off x="2223759" y="1196450"/>
            <a:ext cx="1719141" cy="5404367"/>
          </a:xfrm>
          <a:prstGeom prst="rect">
            <a:avLst/>
          </a:prstGeom>
          <a:solidFill>
            <a:schemeClr val="bg1">
              <a:lumMod val="95000"/>
              <a:alpha val="50000"/>
            </a:schemeClr>
          </a:solidFill>
          <a:ln w="19050" cap="sq" cmpd="sng" algn="ctr">
            <a:noFill/>
            <a:prstDash val="sysDot"/>
            <a:miter lim="800000"/>
            <a:headEnd type="none" w="med" len="med"/>
            <a:tailEnd type="none" w="med" len="med"/>
          </a:ln>
          <a:effectLst/>
        </p:spPr>
        <p:txBody>
          <a:bodyPr rot="0" spcFirstLastPara="0" vertOverflow="overflow" horzOverflow="overflow" vert="horz" wrap="square" lIns="182880" tIns="146304" rIns="182880" bIns="146304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710593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ct val="3500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600" b="0" i="0" u="none" strike="noStrike" kern="0" cap="none" spc="0" normalizeH="0" baseline="0" noProof="0" dirty="0">
                <a:ln>
                  <a:noFill/>
                </a:ln>
                <a:solidFill>
                  <a:srgbClr val="0078D7"/>
                </a:solidFill>
                <a:effectLst/>
                <a:uLnTx/>
                <a:uFillTx/>
                <a:latin typeface="Segoe UI Semibold" panose="020B0702040204020203" pitchFamily="34" charset="0"/>
                <a:ea typeface="+mn-ea"/>
                <a:cs typeface="Segoe UI Semibold" panose="020B0702040204020203" pitchFamily="34" charset="0"/>
              </a:rPr>
              <a:t>Ingest</a:t>
            </a:r>
          </a:p>
        </p:txBody>
      </p:sp>
      <p:sp>
        <p:nvSpPr>
          <p:cNvPr id="13" name="Title 1">
            <a:extLst>
              <a:ext uri="{FF2B5EF4-FFF2-40B4-BE49-F238E27FC236}">
                <a16:creationId xmlns:a16="http://schemas.microsoft.com/office/drawing/2014/main" id="{809BAA4A-F794-104E-92BC-91807F53787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223759" y="457200"/>
            <a:ext cx="7782380" cy="553998"/>
          </a:xfrm>
        </p:spPr>
        <p:txBody>
          <a:bodyPr>
            <a:normAutofit fontScale="90000"/>
          </a:bodyPr>
          <a:lstStyle/>
          <a:p>
            <a:r>
              <a:rPr lang="en-US" dirty="0"/>
              <a:t>Financial ML Architectural Approach</a:t>
            </a:r>
          </a:p>
        </p:txBody>
      </p:sp>
      <p:cxnSp>
        <p:nvCxnSpPr>
          <p:cNvPr id="14" name="Straight Connector 13">
            <a:extLst>
              <a:ext uri="{FF2B5EF4-FFF2-40B4-BE49-F238E27FC236}">
                <a16:creationId xmlns:a16="http://schemas.microsoft.com/office/drawing/2014/main" id="{7C22CB69-E9CE-B744-B66D-1CC4982494C9}"/>
              </a:ext>
            </a:extLst>
          </p:cNvPr>
          <p:cNvCxnSpPr>
            <a:cxnSpLocks/>
            <a:stCxn id="9" idx="3"/>
          </p:cNvCxnSpPr>
          <p:nvPr/>
        </p:nvCxnSpPr>
        <p:spPr>
          <a:xfrm flipV="1">
            <a:off x="10007620" y="3880441"/>
            <a:ext cx="515998" cy="14199"/>
          </a:xfrm>
          <a:prstGeom prst="line">
            <a:avLst/>
          </a:prstGeom>
          <a:noFill/>
          <a:ln w="19050" cap="flat" cmpd="sng" algn="ctr">
            <a:solidFill>
              <a:schemeClr val="accent1"/>
            </a:solidFill>
            <a:prstDash val="sysDash"/>
            <a:headEnd type="none" w="med" len="med"/>
            <a:tailEnd type="triangle" w="med" len="med"/>
          </a:ln>
          <a:effectLst/>
        </p:spPr>
      </p:cxnSp>
      <p:cxnSp>
        <p:nvCxnSpPr>
          <p:cNvPr id="15" name="Straight Connector 14">
            <a:extLst>
              <a:ext uri="{FF2B5EF4-FFF2-40B4-BE49-F238E27FC236}">
                <a16:creationId xmlns:a16="http://schemas.microsoft.com/office/drawing/2014/main" id="{C356B327-9DA4-3F43-8B78-C51EDAC33CDB}"/>
              </a:ext>
            </a:extLst>
          </p:cNvPr>
          <p:cNvCxnSpPr>
            <a:cxnSpLocks/>
          </p:cNvCxnSpPr>
          <p:nvPr/>
        </p:nvCxnSpPr>
        <p:spPr>
          <a:xfrm>
            <a:off x="3470882" y="3873719"/>
            <a:ext cx="901834" cy="6738"/>
          </a:xfrm>
          <a:prstGeom prst="line">
            <a:avLst/>
          </a:prstGeom>
          <a:noFill/>
          <a:ln w="19050" cap="flat" cmpd="sng" algn="ctr">
            <a:solidFill>
              <a:schemeClr val="accent1"/>
            </a:solidFill>
            <a:prstDash val="sysDash"/>
            <a:headEnd type="none" w="med" len="med"/>
            <a:tailEnd type="triangle" w="med" len="med"/>
          </a:ln>
          <a:effectLst/>
        </p:spPr>
      </p:cxnSp>
      <p:cxnSp>
        <p:nvCxnSpPr>
          <p:cNvPr id="16" name="Straight Connector 15">
            <a:extLst>
              <a:ext uri="{FF2B5EF4-FFF2-40B4-BE49-F238E27FC236}">
                <a16:creationId xmlns:a16="http://schemas.microsoft.com/office/drawing/2014/main" id="{DFB10728-8EA8-4041-A62F-C92A85D2F913}"/>
              </a:ext>
            </a:extLst>
          </p:cNvPr>
          <p:cNvCxnSpPr>
            <a:cxnSpLocks/>
          </p:cNvCxnSpPr>
          <p:nvPr/>
        </p:nvCxnSpPr>
        <p:spPr>
          <a:xfrm flipH="1">
            <a:off x="5037855" y="2567851"/>
            <a:ext cx="1052356" cy="837291"/>
          </a:xfrm>
          <a:prstGeom prst="line">
            <a:avLst/>
          </a:prstGeom>
          <a:noFill/>
          <a:ln w="19050" cap="flat" cmpd="sng" algn="ctr">
            <a:solidFill>
              <a:schemeClr val="accent1"/>
            </a:solidFill>
            <a:prstDash val="sysDash"/>
            <a:headEnd type="triangle" w="med" len="med"/>
            <a:tailEnd type="triangle" w="med" len="med"/>
          </a:ln>
          <a:effectLst/>
        </p:spPr>
      </p:cxnSp>
      <p:sp>
        <p:nvSpPr>
          <p:cNvPr id="17" name="Freeform 184">
            <a:extLst>
              <a:ext uri="{FF2B5EF4-FFF2-40B4-BE49-F238E27FC236}">
                <a16:creationId xmlns:a16="http://schemas.microsoft.com/office/drawing/2014/main" id="{974A788C-0371-3F4F-8396-356512CF2895}"/>
              </a:ext>
            </a:extLst>
          </p:cNvPr>
          <p:cNvSpPr/>
          <p:nvPr/>
        </p:nvSpPr>
        <p:spPr bwMode="auto">
          <a:xfrm>
            <a:off x="2738107" y="3522579"/>
            <a:ext cx="505940" cy="504293"/>
          </a:xfrm>
          <a:custGeom>
            <a:avLst/>
            <a:gdLst>
              <a:gd name="connsiteX0" fmla="*/ 3231086 w 4158080"/>
              <a:gd name="connsiteY0" fmla="*/ 3012228 h 4144545"/>
              <a:gd name="connsiteX1" fmla="*/ 3231086 w 4158080"/>
              <a:gd name="connsiteY1" fmla="*/ 3475725 h 4144545"/>
              <a:gd name="connsiteX2" fmla="*/ 3694583 w 4158080"/>
              <a:gd name="connsiteY2" fmla="*/ 3475725 h 4144545"/>
              <a:gd name="connsiteX3" fmla="*/ 3694583 w 4158080"/>
              <a:gd name="connsiteY3" fmla="*/ 3012228 h 4144545"/>
              <a:gd name="connsiteX4" fmla="*/ 2425129 w 4158080"/>
              <a:gd name="connsiteY4" fmla="*/ 3012228 h 4144545"/>
              <a:gd name="connsiteX5" fmla="*/ 2425129 w 4158080"/>
              <a:gd name="connsiteY5" fmla="*/ 3475725 h 4144545"/>
              <a:gd name="connsiteX6" fmla="*/ 2888626 w 4158080"/>
              <a:gd name="connsiteY6" fmla="*/ 3475725 h 4144545"/>
              <a:gd name="connsiteX7" fmla="*/ 2888626 w 4158080"/>
              <a:gd name="connsiteY7" fmla="*/ 3012228 h 4144545"/>
              <a:gd name="connsiteX8" fmla="*/ 1619172 w 4158080"/>
              <a:gd name="connsiteY8" fmla="*/ 3012228 h 4144545"/>
              <a:gd name="connsiteX9" fmla="*/ 1619172 w 4158080"/>
              <a:gd name="connsiteY9" fmla="*/ 3475725 h 4144545"/>
              <a:gd name="connsiteX10" fmla="*/ 2082669 w 4158080"/>
              <a:gd name="connsiteY10" fmla="*/ 3475725 h 4144545"/>
              <a:gd name="connsiteX11" fmla="*/ 2082669 w 4158080"/>
              <a:gd name="connsiteY11" fmla="*/ 3012228 h 4144545"/>
              <a:gd name="connsiteX12" fmla="*/ 1 w 4158080"/>
              <a:gd name="connsiteY12" fmla="*/ 300015 h 4144545"/>
              <a:gd name="connsiteX13" fmla="*/ 1 w 4158080"/>
              <a:gd name="connsiteY13" fmla="*/ 348372 h 4144545"/>
              <a:gd name="connsiteX14" fmla="*/ 1 w 4158080"/>
              <a:gd name="connsiteY14" fmla="*/ 377378 h 4144545"/>
              <a:gd name="connsiteX15" fmla="*/ 0 w 4158080"/>
              <a:gd name="connsiteY15" fmla="*/ 377381 h 4144545"/>
              <a:gd name="connsiteX16" fmla="*/ 1 w 4158080"/>
              <a:gd name="connsiteY16" fmla="*/ 300015 h 4144545"/>
              <a:gd name="connsiteX17" fmla="*/ 925155 w 4158080"/>
              <a:gd name="connsiteY17" fmla="*/ 136141 h 4144545"/>
              <a:gd name="connsiteX18" fmla="*/ 286574 w 4158080"/>
              <a:gd name="connsiteY18" fmla="*/ 323563 h 4144545"/>
              <a:gd name="connsiteX19" fmla="*/ 925155 w 4158080"/>
              <a:gd name="connsiteY19" fmla="*/ 510984 h 4144545"/>
              <a:gd name="connsiteX20" fmla="*/ 1563737 w 4158080"/>
              <a:gd name="connsiteY20" fmla="*/ 323563 h 4144545"/>
              <a:gd name="connsiteX21" fmla="*/ 925155 w 4158080"/>
              <a:gd name="connsiteY21" fmla="*/ 136141 h 4144545"/>
              <a:gd name="connsiteX22" fmla="*/ 925154 w 4158080"/>
              <a:gd name="connsiteY22" fmla="*/ 0 h 4144545"/>
              <a:gd name="connsiteX23" fmla="*/ 1845533 w 4158080"/>
              <a:gd name="connsiteY23" fmla="*/ 338796 h 4144545"/>
              <a:gd name="connsiteX24" fmla="*/ 1848895 w 4158080"/>
              <a:gd name="connsiteY24" fmla="*/ 365965 h 4144545"/>
              <a:gd name="connsiteX25" fmla="*/ 1850308 w 4158080"/>
              <a:gd name="connsiteY25" fmla="*/ 365965 h 4144545"/>
              <a:gd name="connsiteX26" fmla="*/ 1850308 w 4158080"/>
              <a:gd name="connsiteY26" fmla="*/ 377381 h 4144545"/>
              <a:gd name="connsiteX27" fmla="*/ 1850309 w 4158080"/>
              <a:gd name="connsiteY27" fmla="*/ 2420253 h 4144545"/>
              <a:gd name="connsiteX28" fmla="*/ 3004195 w 4158080"/>
              <a:gd name="connsiteY28" fmla="*/ 1412231 h 4144545"/>
              <a:gd name="connsiteX29" fmla="*/ 3004195 w 4158080"/>
              <a:gd name="connsiteY29" fmla="*/ 2420252 h 4144545"/>
              <a:gd name="connsiteX30" fmla="*/ 4158080 w 4158080"/>
              <a:gd name="connsiteY30" fmla="*/ 1412231 h 4144545"/>
              <a:gd name="connsiteX31" fmla="*/ 4158079 w 4158080"/>
              <a:gd name="connsiteY31" fmla="*/ 4144544 h 4144545"/>
              <a:gd name="connsiteX32" fmla="*/ 1 w 4158080"/>
              <a:gd name="connsiteY32" fmla="*/ 4144545 h 4144545"/>
              <a:gd name="connsiteX33" fmla="*/ 1 w 4158080"/>
              <a:gd name="connsiteY33" fmla="*/ 377385 h 4144545"/>
              <a:gd name="connsiteX34" fmla="*/ 1 w 4158080"/>
              <a:gd name="connsiteY34" fmla="*/ 377378 h 4144545"/>
              <a:gd name="connsiteX35" fmla="*/ 4778 w 4158080"/>
              <a:gd name="connsiteY35" fmla="*/ 338796 h 4144545"/>
              <a:gd name="connsiteX36" fmla="*/ 925154 w 4158080"/>
              <a:gd name="connsiteY36" fmla="*/ 0 h 414454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</a:cxnLst>
            <a:rect l="l" t="t" r="r" b="b"/>
            <a:pathLst>
              <a:path w="4158080" h="4144545">
                <a:moveTo>
                  <a:pt x="3231086" y="3012228"/>
                </a:moveTo>
                <a:lnTo>
                  <a:pt x="3231086" y="3475725"/>
                </a:lnTo>
                <a:lnTo>
                  <a:pt x="3694583" y="3475725"/>
                </a:lnTo>
                <a:lnTo>
                  <a:pt x="3694583" y="3012228"/>
                </a:lnTo>
                <a:close/>
                <a:moveTo>
                  <a:pt x="2425129" y="3012228"/>
                </a:moveTo>
                <a:lnTo>
                  <a:pt x="2425129" y="3475725"/>
                </a:lnTo>
                <a:lnTo>
                  <a:pt x="2888626" y="3475725"/>
                </a:lnTo>
                <a:lnTo>
                  <a:pt x="2888626" y="3012228"/>
                </a:lnTo>
                <a:close/>
                <a:moveTo>
                  <a:pt x="1619172" y="3012228"/>
                </a:moveTo>
                <a:lnTo>
                  <a:pt x="1619172" y="3475725"/>
                </a:lnTo>
                <a:lnTo>
                  <a:pt x="2082669" y="3475725"/>
                </a:lnTo>
                <a:lnTo>
                  <a:pt x="2082669" y="3012228"/>
                </a:lnTo>
                <a:close/>
                <a:moveTo>
                  <a:pt x="1" y="300015"/>
                </a:moveTo>
                <a:lnTo>
                  <a:pt x="1" y="348372"/>
                </a:lnTo>
                <a:lnTo>
                  <a:pt x="1" y="377378"/>
                </a:lnTo>
                <a:cubicBezTo>
                  <a:pt x="1" y="377379"/>
                  <a:pt x="0" y="377380"/>
                  <a:pt x="0" y="377381"/>
                </a:cubicBezTo>
                <a:cubicBezTo>
                  <a:pt x="0" y="377382"/>
                  <a:pt x="0" y="308611"/>
                  <a:pt x="1" y="300015"/>
                </a:cubicBezTo>
                <a:close/>
                <a:moveTo>
                  <a:pt x="925155" y="136141"/>
                </a:moveTo>
                <a:cubicBezTo>
                  <a:pt x="572477" y="136141"/>
                  <a:pt x="286574" y="220052"/>
                  <a:pt x="286574" y="323563"/>
                </a:cubicBezTo>
                <a:cubicBezTo>
                  <a:pt x="286574" y="427073"/>
                  <a:pt x="572477" y="510984"/>
                  <a:pt x="925155" y="510984"/>
                </a:cubicBezTo>
                <a:cubicBezTo>
                  <a:pt x="1277834" y="510984"/>
                  <a:pt x="1563737" y="427073"/>
                  <a:pt x="1563737" y="323563"/>
                </a:cubicBezTo>
                <a:cubicBezTo>
                  <a:pt x="1563737" y="220052"/>
                  <a:pt x="1277834" y="136141"/>
                  <a:pt x="925155" y="136141"/>
                </a:cubicBezTo>
                <a:close/>
                <a:moveTo>
                  <a:pt x="925154" y="0"/>
                </a:moveTo>
                <a:cubicBezTo>
                  <a:pt x="1404168" y="0"/>
                  <a:pt x="1798155" y="148500"/>
                  <a:pt x="1845533" y="338796"/>
                </a:cubicBezTo>
                <a:lnTo>
                  <a:pt x="1848895" y="365965"/>
                </a:lnTo>
                <a:lnTo>
                  <a:pt x="1850308" y="365965"/>
                </a:lnTo>
                <a:lnTo>
                  <a:pt x="1850308" y="377381"/>
                </a:lnTo>
                <a:cubicBezTo>
                  <a:pt x="1850308" y="719762"/>
                  <a:pt x="1850309" y="2051836"/>
                  <a:pt x="1850309" y="2420253"/>
                </a:cubicBezTo>
                <a:lnTo>
                  <a:pt x="3004195" y="1412231"/>
                </a:lnTo>
                <a:lnTo>
                  <a:pt x="3004195" y="2420252"/>
                </a:lnTo>
                <a:lnTo>
                  <a:pt x="4158080" y="1412231"/>
                </a:lnTo>
                <a:cubicBezTo>
                  <a:pt x="4158080" y="2323002"/>
                  <a:pt x="4158079" y="3233773"/>
                  <a:pt x="4158079" y="4144544"/>
                </a:cubicBezTo>
                <a:lnTo>
                  <a:pt x="1" y="4144545"/>
                </a:lnTo>
                <a:lnTo>
                  <a:pt x="1" y="377385"/>
                </a:lnTo>
                <a:lnTo>
                  <a:pt x="1" y="377378"/>
                </a:lnTo>
                <a:lnTo>
                  <a:pt x="4778" y="338796"/>
                </a:lnTo>
                <a:cubicBezTo>
                  <a:pt x="52154" y="148500"/>
                  <a:pt x="446140" y="0"/>
                  <a:pt x="925154" y="0"/>
                </a:cubicBezTo>
                <a:close/>
              </a:path>
            </a:pathLst>
          </a:custGeom>
          <a:solidFill>
            <a:schemeClr val="accent1"/>
          </a:solidFill>
          <a:ln>
            <a:noFill/>
            <a:headEnd type="none" w="med" len="med"/>
            <a:tailEnd type="none" w="med" len="med"/>
          </a:ln>
          <a:effectLst/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182880" tIns="146304" rIns="182880" bIns="146304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932472" rtl="0" eaLnBrk="1" fontAlgn="base" latinLnBrk="0" hangingPunct="1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2000" b="1" i="0" u="none" strike="noStrike" kern="1200" cap="none" spc="0" normalizeH="0" baseline="0" noProof="0" dirty="0">
              <a:ln>
                <a:noFill/>
              </a:ln>
              <a:solidFill>
                <a:srgbClr val="1A1A1A"/>
              </a:solidFill>
              <a:effectLst/>
              <a:uLnTx/>
              <a:uFillTx/>
              <a:latin typeface="Segoe UI Semibold"/>
              <a:ea typeface="Segoe UI" pitchFamily="34" charset="0"/>
              <a:cs typeface="Segoe UI" pitchFamily="34" charset="0"/>
            </a:endParaRPr>
          </a:p>
        </p:txBody>
      </p:sp>
      <p:sp>
        <p:nvSpPr>
          <p:cNvPr id="18" name="Shape 101">
            <a:extLst>
              <a:ext uri="{FF2B5EF4-FFF2-40B4-BE49-F238E27FC236}">
                <a16:creationId xmlns:a16="http://schemas.microsoft.com/office/drawing/2014/main" id="{FD8E179D-D7A2-DB48-8C80-277EF1216FC8}"/>
              </a:ext>
            </a:extLst>
          </p:cNvPr>
          <p:cNvSpPr txBox="1"/>
          <p:nvPr/>
        </p:nvSpPr>
        <p:spPr>
          <a:xfrm rot="19242018">
            <a:off x="4753719" y="2799729"/>
            <a:ext cx="1461087" cy="168341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 anchorCtr="0">
            <a:noAutofit/>
          </a:bodyPr>
          <a:lstStyle/>
          <a:p>
            <a:pPr marL="0" marR="0" lvl="0" indent="0" algn="ctr" defTabSz="932597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1050" kern="0" dirty="0">
                <a:solidFill>
                  <a:srgbClr val="000000"/>
                </a:solidFill>
                <a:latin typeface="Segoe UI"/>
                <a:cs typeface="Segoe UI Semibold" panose="020B0702040204020203" pitchFamily="34" charset="0"/>
                <a:sym typeface="Calibri"/>
              </a:rPr>
              <a:t>Prepare Data for ML</a:t>
            </a:r>
            <a:endParaRPr kumimoji="0" lang="en-US" sz="105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Segoe UI"/>
              <a:ea typeface="+mn-ea"/>
              <a:cs typeface="Segoe UI Semibold" panose="020B0702040204020203" pitchFamily="34" charset="0"/>
              <a:sym typeface="Calibri"/>
            </a:endParaRPr>
          </a:p>
        </p:txBody>
      </p:sp>
      <p:cxnSp>
        <p:nvCxnSpPr>
          <p:cNvPr id="19" name="Straight Connector 18">
            <a:extLst>
              <a:ext uri="{FF2B5EF4-FFF2-40B4-BE49-F238E27FC236}">
                <a16:creationId xmlns:a16="http://schemas.microsoft.com/office/drawing/2014/main" id="{88974388-418A-9445-97DD-EAACC872B796}"/>
              </a:ext>
            </a:extLst>
          </p:cNvPr>
          <p:cNvCxnSpPr>
            <a:cxnSpLocks/>
          </p:cNvCxnSpPr>
          <p:nvPr/>
        </p:nvCxnSpPr>
        <p:spPr>
          <a:xfrm>
            <a:off x="6771939" y="2990641"/>
            <a:ext cx="667" cy="627739"/>
          </a:xfrm>
          <a:prstGeom prst="line">
            <a:avLst/>
          </a:prstGeom>
          <a:noFill/>
          <a:ln w="19050" cap="flat" cmpd="sng" algn="ctr">
            <a:solidFill>
              <a:schemeClr val="accent4">
                <a:lumMod val="60000"/>
                <a:lumOff val="40000"/>
              </a:schemeClr>
            </a:solidFill>
            <a:prstDash val="sysDash"/>
            <a:headEnd type="triangle" w="med" len="med"/>
            <a:tailEnd type="triangle" w="med" len="med"/>
          </a:ln>
          <a:effectLst/>
        </p:spPr>
      </p:cxnSp>
      <p:grpSp>
        <p:nvGrpSpPr>
          <p:cNvPr id="20" name="Group 19">
            <a:extLst>
              <a:ext uri="{FF2B5EF4-FFF2-40B4-BE49-F238E27FC236}">
                <a16:creationId xmlns:a16="http://schemas.microsoft.com/office/drawing/2014/main" id="{8A63C27E-27F7-6B42-9436-5DAFCEF36574}"/>
              </a:ext>
            </a:extLst>
          </p:cNvPr>
          <p:cNvGrpSpPr/>
          <p:nvPr/>
        </p:nvGrpSpPr>
        <p:grpSpPr>
          <a:xfrm>
            <a:off x="10630394" y="3597190"/>
            <a:ext cx="528127" cy="677146"/>
            <a:chOff x="11049775" y="3496522"/>
            <a:chExt cx="528127" cy="677146"/>
          </a:xfrm>
        </p:grpSpPr>
        <p:sp>
          <p:nvSpPr>
            <p:cNvPr id="21" name="Shape 101">
              <a:extLst>
                <a:ext uri="{FF2B5EF4-FFF2-40B4-BE49-F238E27FC236}">
                  <a16:creationId xmlns:a16="http://schemas.microsoft.com/office/drawing/2014/main" id="{DA7C4ADB-B677-FA46-8619-E8D2A24A6484}"/>
                </a:ext>
              </a:extLst>
            </p:cNvPr>
            <p:cNvSpPr txBox="1"/>
            <p:nvPr/>
          </p:nvSpPr>
          <p:spPr>
            <a:xfrm>
              <a:off x="11049775" y="4012085"/>
              <a:ext cx="517769" cy="16158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marL="0" marR="0" lvl="0" indent="0" algn="ctr" defTabSz="932597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05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Segoe UI"/>
                  <a:ea typeface="+mn-ea"/>
                  <a:cs typeface="Segoe UI Semibold" panose="020B0702040204020203" pitchFamily="34" charset="0"/>
                  <a:sym typeface="Calibri"/>
                </a:rPr>
                <a:t>Power BI</a:t>
              </a:r>
            </a:p>
          </p:txBody>
        </p:sp>
        <p:sp>
          <p:nvSpPr>
            <p:cNvPr id="22" name="Freeform: Shape 282">
              <a:extLst>
                <a:ext uri="{FF2B5EF4-FFF2-40B4-BE49-F238E27FC236}">
                  <a16:creationId xmlns:a16="http://schemas.microsoft.com/office/drawing/2014/main" id="{3FAC4F3C-4697-844C-8165-35328BA431F3}"/>
                </a:ext>
              </a:extLst>
            </p:cNvPr>
            <p:cNvSpPr/>
            <p:nvPr/>
          </p:nvSpPr>
          <p:spPr>
            <a:xfrm>
              <a:off x="11061904" y="3496522"/>
              <a:ext cx="515998" cy="434271"/>
            </a:xfrm>
            <a:custGeom>
              <a:avLst/>
              <a:gdLst>
                <a:gd name="connsiteX0" fmla="*/ 203191 w 231689"/>
                <a:gd name="connsiteY0" fmla="*/ 149440 h 171450"/>
                <a:gd name="connsiteX1" fmla="*/ 198558 w 231689"/>
                <a:gd name="connsiteY1" fmla="*/ 149440 h 171450"/>
                <a:gd name="connsiteX2" fmla="*/ 198558 w 231689"/>
                <a:gd name="connsiteY2" fmla="*/ 140172 h 171450"/>
                <a:gd name="connsiteX3" fmla="*/ 203191 w 231689"/>
                <a:gd name="connsiteY3" fmla="*/ 140172 h 171450"/>
                <a:gd name="connsiteX4" fmla="*/ 220799 w 231689"/>
                <a:gd name="connsiteY4" fmla="*/ 122564 h 171450"/>
                <a:gd name="connsiteX5" fmla="*/ 220799 w 231689"/>
                <a:gd name="connsiteY5" fmla="*/ 29424 h 171450"/>
                <a:gd name="connsiteX6" fmla="*/ 203191 w 231689"/>
                <a:gd name="connsiteY6" fmla="*/ 11816 h 171450"/>
                <a:gd name="connsiteX7" fmla="*/ 30351 w 231689"/>
                <a:gd name="connsiteY7" fmla="*/ 11816 h 171450"/>
                <a:gd name="connsiteX8" fmla="*/ 12743 w 231689"/>
                <a:gd name="connsiteY8" fmla="*/ 29424 h 171450"/>
                <a:gd name="connsiteX9" fmla="*/ 12743 w 231689"/>
                <a:gd name="connsiteY9" fmla="*/ 122564 h 171450"/>
                <a:gd name="connsiteX10" fmla="*/ 30351 w 231689"/>
                <a:gd name="connsiteY10" fmla="*/ 140172 h 171450"/>
                <a:gd name="connsiteX11" fmla="*/ 34985 w 231689"/>
                <a:gd name="connsiteY11" fmla="*/ 140172 h 171450"/>
                <a:gd name="connsiteX12" fmla="*/ 34985 w 231689"/>
                <a:gd name="connsiteY12" fmla="*/ 149440 h 171450"/>
                <a:gd name="connsiteX13" fmla="*/ 30351 w 231689"/>
                <a:gd name="connsiteY13" fmla="*/ 149440 h 171450"/>
                <a:gd name="connsiteX14" fmla="*/ 3475 w 231689"/>
                <a:gd name="connsiteY14" fmla="*/ 123027 h 171450"/>
                <a:gd name="connsiteX15" fmla="*/ 3475 w 231689"/>
                <a:gd name="connsiteY15" fmla="*/ 29888 h 171450"/>
                <a:gd name="connsiteX16" fmla="*/ 30351 w 231689"/>
                <a:gd name="connsiteY16" fmla="*/ 3475 h 171450"/>
                <a:gd name="connsiteX17" fmla="*/ 203191 w 231689"/>
                <a:gd name="connsiteY17" fmla="*/ 3475 h 171450"/>
                <a:gd name="connsiteX18" fmla="*/ 229604 w 231689"/>
                <a:gd name="connsiteY18" fmla="*/ 29888 h 171450"/>
                <a:gd name="connsiteX19" fmla="*/ 229604 w 231689"/>
                <a:gd name="connsiteY19" fmla="*/ 123027 h 171450"/>
                <a:gd name="connsiteX20" fmla="*/ 203191 w 231689"/>
                <a:gd name="connsiteY20" fmla="*/ 149440 h 171450"/>
                <a:gd name="connsiteX21" fmla="*/ 58617 w 231689"/>
                <a:gd name="connsiteY21" fmla="*/ 172145 h 171450"/>
                <a:gd name="connsiteX22" fmla="*/ 71128 w 231689"/>
                <a:gd name="connsiteY22" fmla="*/ 159634 h 171450"/>
                <a:gd name="connsiteX23" fmla="*/ 71128 w 231689"/>
                <a:gd name="connsiteY23" fmla="*/ 130904 h 171450"/>
                <a:gd name="connsiteX24" fmla="*/ 58617 w 231689"/>
                <a:gd name="connsiteY24" fmla="*/ 118393 h 171450"/>
                <a:gd name="connsiteX25" fmla="*/ 46106 w 231689"/>
                <a:gd name="connsiteY25" fmla="*/ 130904 h 171450"/>
                <a:gd name="connsiteX26" fmla="*/ 46106 w 231689"/>
                <a:gd name="connsiteY26" fmla="*/ 159634 h 171450"/>
                <a:gd name="connsiteX27" fmla="*/ 58617 w 231689"/>
                <a:gd name="connsiteY27" fmla="*/ 172145 h 171450"/>
                <a:gd name="connsiteX28" fmla="*/ 97541 w 231689"/>
                <a:gd name="connsiteY28" fmla="*/ 172145 h 171450"/>
                <a:gd name="connsiteX29" fmla="*/ 110052 w 231689"/>
                <a:gd name="connsiteY29" fmla="*/ 159634 h 171450"/>
                <a:gd name="connsiteX30" fmla="*/ 110052 w 231689"/>
                <a:gd name="connsiteY30" fmla="*/ 86420 h 171450"/>
                <a:gd name="connsiteX31" fmla="*/ 97541 w 231689"/>
                <a:gd name="connsiteY31" fmla="*/ 73909 h 171450"/>
                <a:gd name="connsiteX32" fmla="*/ 85030 w 231689"/>
                <a:gd name="connsiteY32" fmla="*/ 86420 h 171450"/>
                <a:gd name="connsiteX33" fmla="*/ 85030 w 231689"/>
                <a:gd name="connsiteY33" fmla="*/ 159634 h 171450"/>
                <a:gd name="connsiteX34" fmla="*/ 97541 w 231689"/>
                <a:gd name="connsiteY34" fmla="*/ 172145 h 171450"/>
                <a:gd name="connsiteX35" fmla="*/ 175389 w 231689"/>
                <a:gd name="connsiteY35" fmla="*/ 171682 h 171450"/>
                <a:gd name="connsiteX36" fmla="*/ 187900 w 231689"/>
                <a:gd name="connsiteY36" fmla="*/ 159170 h 171450"/>
                <a:gd name="connsiteX37" fmla="*/ 187900 w 231689"/>
                <a:gd name="connsiteY37" fmla="*/ 55374 h 171450"/>
                <a:gd name="connsiteX38" fmla="*/ 175389 w 231689"/>
                <a:gd name="connsiteY38" fmla="*/ 42863 h 171450"/>
                <a:gd name="connsiteX39" fmla="*/ 162877 w 231689"/>
                <a:gd name="connsiteY39" fmla="*/ 55374 h 171450"/>
                <a:gd name="connsiteX40" fmla="*/ 162877 w 231689"/>
                <a:gd name="connsiteY40" fmla="*/ 159170 h 171450"/>
                <a:gd name="connsiteX41" fmla="*/ 175389 w 231689"/>
                <a:gd name="connsiteY41" fmla="*/ 171682 h 171450"/>
                <a:gd name="connsiteX42" fmla="*/ 136465 w 231689"/>
                <a:gd name="connsiteY42" fmla="*/ 172145 h 171450"/>
                <a:gd name="connsiteX43" fmla="*/ 148976 w 231689"/>
                <a:gd name="connsiteY43" fmla="*/ 159634 h 171450"/>
                <a:gd name="connsiteX44" fmla="*/ 148976 w 231689"/>
                <a:gd name="connsiteY44" fmla="*/ 105419 h 171450"/>
                <a:gd name="connsiteX45" fmla="*/ 136465 w 231689"/>
                <a:gd name="connsiteY45" fmla="*/ 92907 h 171450"/>
                <a:gd name="connsiteX46" fmla="*/ 123954 w 231689"/>
                <a:gd name="connsiteY46" fmla="*/ 105419 h 171450"/>
                <a:gd name="connsiteX47" fmla="*/ 123954 w 231689"/>
                <a:gd name="connsiteY47" fmla="*/ 159634 h 171450"/>
                <a:gd name="connsiteX48" fmla="*/ 136465 w 231689"/>
                <a:gd name="connsiteY48" fmla="*/ 172145 h 17145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</a:cxnLst>
              <a:rect l="l" t="t" r="r" b="b"/>
              <a:pathLst>
                <a:path w="231689" h="171450">
                  <a:moveTo>
                    <a:pt x="203191" y="149440"/>
                  </a:moveTo>
                  <a:lnTo>
                    <a:pt x="198558" y="149440"/>
                  </a:lnTo>
                  <a:lnTo>
                    <a:pt x="198558" y="140172"/>
                  </a:lnTo>
                  <a:lnTo>
                    <a:pt x="203191" y="140172"/>
                  </a:lnTo>
                  <a:cubicBezTo>
                    <a:pt x="212922" y="140172"/>
                    <a:pt x="220799" y="132294"/>
                    <a:pt x="220799" y="122564"/>
                  </a:cubicBezTo>
                  <a:lnTo>
                    <a:pt x="220799" y="29424"/>
                  </a:lnTo>
                  <a:cubicBezTo>
                    <a:pt x="220799" y="19694"/>
                    <a:pt x="212922" y="11816"/>
                    <a:pt x="203191" y="11816"/>
                  </a:cubicBezTo>
                  <a:lnTo>
                    <a:pt x="30351" y="11816"/>
                  </a:lnTo>
                  <a:cubicBezTo>
                    <a:pt x="20620" y="11816"/>
                    <a:pt x="12743" y="19694"/>
                    <a:pt x="12743" y="29424"/>
                  </a:cubicBezTo>
                  <a:lnTo>
                    <a:pt x="12743" y="122564"/>
                  </a:lnTo>
                  <a:cubicBezTo>
                    <a:pt x="12743" y="132294"/>
                    <a:pt x="20620" y="140172"/>
                    <a:pt x="30351" y="140172"/>
                  </a:cubicBezTo>
                  <a:lnTo>
                    <a:pt x="34985" y="140172"/>
                  </a:lnTo>
                  <a:lnTo>
                    <a:pt x="34985" y="149440"/>
                  </a:lnTo>
                  <a:lnTo>
                    <a:pt x="30351" y="149440"/>
                  </a:lnTo>
                  <a:cubicBezTo>
                    <a:pt x="15523" y="149440"/>
                    <a:pt x="3475" y="137392"/>
                    <a:pt x="3475" y="123027"/>
                  </a:cubicBezTo>
                  <a:lnTo>
                    <a:pt x="3475" y="29888"/>
                  </a:lnTo>
                  <a:cubicBezTo>
                    <a:pt x="3475" y="15060"/>
                    <a:pt x="15523" y="3475"/>
                    <a:pt x="30351" y="3475"/>
                  </a:cubicBezTo>
                  <a:lnTo>
                    <a:pt x="203191" y="3475"/>
                  </a:lnTo>
                  <a:cubicBezTo>
                    <a:pt x="218019" y="3475"/>
                    <a:pt x="229604" y="15523"/>
                    <a:pt x="229604" y="29888"/>
                  </a:cubicBezTo>
                  <a:lnTo>
                    <a:pt x="229604" y="123027"/>
                  </a:lnTo>
                  <a:cubicBezTo>
                    <a:pt x="230067" y="137392"/>
                    <a:pt x="218019" y="149440"/>
                    <a:pt x="203191" y="149440"/>
                  </a:cubicBezTo>
                  <a:moveTo>
                    <a:pt x="58617" y="172145"/>
                  </a:moveTo>
                  <a:cubicBezTo>
                    <a:pt x="65568" y="172145"/>
                    <a:pt x="71128" y="166585"/>
                    <a:pt x="71128" y="159634"/>
                  </a:cubicBezTo>
                  <a:lnTo>
                    <a:pt x="71128" y="130904"/>
                  </a:lnTo>
                  <a:cubicBezTo>
                    <a:pt x="71128" y="123954"/>
                    <a:pt x="65568" y="118393"/>
                    <a:pt x="58617" y="118393"/>
                  </a:cubicBezTo>
                  <a:cubicBezTo>
                    <a:pt x="51666" y="118393"/>
                    <a:pt x="46106" y="123954"/>
                    <a:pt x="46106" y="130904"/>
                  </a:cubicBezTo>
                  <a:lnTo>
                    <a:pt x="46106" y="159634"/>
                  </a:lnTo>
                  <a:cubicBezTo>
                    <a:pt x="46106" y="166585"/>
                    <a:pt x="51666" y="172145"/>
                    <a:pt x="58617" y="172145"/>
                  </a:cubicBezTo>
                  <a:moveTo>
                    <a:pt x="97541" y="172145"/>
                  </a:moveTo>
                  <a:cubicBezTo>
                    <a:pt x="104491" y="172145"/>
                    <a:pt x="110052" y="166585"/>
                    <a:pt x="110052" y="159634"/>
                  </a:cubicBezTo>
                  <a:lnTo>
                    <a:pt x="110052" y="86420"/>
                  </a:lnTo>
                  <a:cubicBezTo>
                    <a:pt x="110052" y="79469"/>
                    <a:pt x="104491" y="73909"/>
                    <a:pt x="97541" y="73909"/>
                  </a:cubicBezTo>
                  <a:cubicBezTo>
                    <a:pt x="90590" y="73909"/>
                    <a:pt x="85030" y="79469"/>
                    <a:pt x="85030" y="86420"/>
                  </a:cubicBezTo>
                  <a:lnTo>
                    <a:pt x="85030" y="159634"/>
                  </a:lnTo>
                  <a:cubicBezTo>
                    <a:pt x="85030" y="166585"/>
                    <a:pt x="90590" y="172145"/>
                    <a:pt x="97541" y="172145"/>
                  </a:cubicBezTo>
                  <a:moveTo>
                    <a:pt x="175389" y="171682"/>
                  </a:moveTo>
                  <a:cubicBezTo>
                    <a:pt x="182339" y="171682"/>
                    <a:pt x="187900" y="166121"/>
                    <a:pt x="187900" y="159170"/>
                  </a:cubicBezTo>
                  <a:lnTo>
                    <a:pt x="187900" y="55374"/>
                  </a:lnTo>
                  <a:cubicBezTo>
                    <a:pt x="187900" y="48423"/>
                    <a:pt x="182339" y="42863"/>
                    <a:pt x="175389" y="42863"/>
                  </a:cubicBezTo>
                  <a:cubicBezTo>
                    <a:pt x="168438" y="42863"/>
                    <a:pt x="162877" y="48423"/>
                    <a:pt x="162877" y="55374"/>
                  </a:cubicBezTo>
                  <a:lnTo>
                    <a:pt x="162877" y="159170"/>
                  </a:lnTo>
                  <a:cubicBezTo>
                    <a:pt x="162877" y="166121"/>
                    <a:pt x="168438" y="171682"/>
                    <a:pt x="175389" y="171682"/>
                  </a:cubicBezTo>
                  <a:moveTo>
                    <a:pt x="136465" y="172145"/>
                  </a:moveTo>
                  <a:cubicBezTo>
                    <a:pt x="143415" y="172145"/>
                    <a:pt x="148976" y="166585"/>
                    <a:pt x="148976" y="159634"/>
                  </a:cubicBezTo>
                  <a:lnTo>
                    <a:pt x="148976" y="105419"/>
                  </a:lnTo>
                  <a:cubicBezTo>
                    <a:pt x="148976" y="98468"/>
                    <a:pt x="143415" y="92907"/>
                    <a:pt x="136465" y="92907"/>
                  </a:cubicBezTo>
                  <a:cubicBezTo>
                    <a:pt x="129514" y="92907"/>
                    <a:pt x="123954" y="98468"/>
                    <a:pt x="123954" y="105419"/>
                  </a:cubicBezTo>
                  <a:lnTo>
                    <a:pt x="123954" y="159634"/>
                  </a:lnTo>
                  <a:cubicBezTo>
                    <a:pt x="123954" y="166585"/>
                    <a:pt x="129514" y="172145"/>
                    <a:pt x="136465" y="172145"/>
                  </a:cubicBezTo>
                </a:path>
              </a:pathLst>
            </a:custGeom>
            <a:solidFill>
              <a:schemeClr val="accent1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Segoe UI Semilight"/>
                <a:ea typeface="+mn-ea"/>
                <a:cs typeface="+mn-cs"/>
              </a:endParaRPr>
            </a:p>
          </p:txBody>
        </p:sp>
      </p:grpSp>
      <p:sp>
        <p:nvSpPr>
          <p:cNvPr id="24" name="Rectangle 23">
            <a:extLst>
              <a:ext uri="{FF2B5EF4-FFF2-40B4-BE49-F238E27FC236}">
                <a16:creationId xmlns:a16="http://schemas.microsoft.com/office/drawing/2014/main" id="{F96AD1EA-8797-CC49-A729-0DFE950E0DE5}"/>
              </a:ext>
            </a:extLst>
          </p:cNvPr>
          <p:cNvSpPr/>
          <p:nvPr/>
        </p:nvSpPr>
        <p:spPr>
          <a:xfrm>
            <a:off x="4256577" y="4030128"/>
            <a:ext cx="1067921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32239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900" b="0" i="0" u="none" strike="noStrike" kern="0" cap="none" spc="0" normalizeH="0" baseline="0" noProof="0" dirty="0">
                <a:ln>
                  <a:noFill/>
                </a:ln>
                <a:solidFill>
                  <a:srgbClr val="353535">
                    <a:lumMod val="50000"/>
                  </a:srgbClr>
                </a:solidFill>
                <a:effectLst/>
                <a:uLnTx/>
                <a:uFillTx/>
                <a:latin typeface="Segoe UI Semibold" panose="020B0702040204020203" pitchFamily="34" charset="0"/>
                <a:ea typeface="MS PGothic" panose="020B0600070205080204" pitchFamily="34" charset="-128"/>
                <a:cs typeface="Segoe UI Semibold" panose="020B0702040204020203" pitchFamily="34" charset="0"/>
              </a:rPr>
              <a:t>Azure Data Lake Store</a:t>
            </a:r>
          </a:p>
        </p:txBody>
      </p:sp>
      <p:pic>
        <p:nvPicPr>
          <p:cNvPr id="25" name="Graphic 24">
            <a:extLst>
              <a:ext uri="{FF2B5EF4-FFF2-40B4-BE49-F238E27FC236}">
                <a16:creationId xmlns:a16="http://schemas.microsoft.com/office/drawing/2014/main" id="{01DAB062-B193-4841-BCB7-9CEBC73122BD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4551982" y="3550760"/>
            <a:ext cx="501839" cy="501839"/>
          </a:xfrm>
          <a:prstGeom prst="rect">
            <a:avLst/>
          </a:prstGeom>
        </p:spPr>
      </p:pic>
      <p:sp>
        <p:nvSpPr>
          <p:cNvPr id="26" name="Rectangle 25">
            <a:extLst>
              <a:ext uri="{FF2B5EF4-FFF2-40B4-BE49-F238E27FC236}">
                <a16:creationId xmlns:a16="http://schemas.microsoft.com/office/drawing/2014/main" id="{FCA5E14D-754C-BD4D-B609-BCCC5EA7E51D}"/>
              </a:ext>
            </a:extLst>
          </p:cNvPr>
          <p:cNvSpPr/>
          <p:nvPr/>
        </p:nvSpPr>
        <p:spPr>
          <a:xfrm>
            <a:off x="2607497" y="4075045"/>
            <a:ext cx="862761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32239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900" b="0" i="0" u="none" strike="noStrike" kern="0" cap="none" spc="0" normalizeH="0" baseline="0" noProof="0" dirty="0">
                <a:ln>
                  <a:noFill/>
                </a:ln>
                <a:solidFill>
                  <a:srgbClr val="353535">
                    <a:lumMod val="50000"/>
                  </a:srgbClr>
                </a:solidFill>
                <a:effectLst/>
                <a:uLnTx/>
                <a:uFillTx/>
                <a:latin typeface="Segoe UI Semibold" panose="020B0702040204020203" pitchFamily="34" charset="0"/>
                <a:ea typeface="MS PGothic" panose="020B0600070205080204" pitchFamily="34" charset="-128"/>
                <a:cs typeface="Segoe UI Semibold" panose="020B0702040204020203" pitchFamily="34" charset="0"/>
              </a:rPr>
              <a:t>Azure Data </a:t>
            </a:r>
            <a:r>
              <a:rPr lang="en-US" sz="900" kern="0" dirty="0">
                <a:solidFill>
                  <a:srgbClr val="353535">
                    <a:lumMod val="50000"/>
                  </a:srgbClr>
                </a:solidFill>
                <a:latin typeface="Segoe UI Semibold" panose="020B0702040204020203" pitchFamily="34" charset="0"/>
                <a:ea typeface="MS PGothic" panose="020B0600070205080204" pitchFamily="34" charset="-128"/>
                <a:cs typeface="Segoe UI Semibold" panose="020B0702040204020203" pitchFamily="34" charset="0"/>
              </a:rPr>
              <a:t>Factory</a:t>
            </a:r>
            <a:endParaRPr kumimoji="0" lang="en-US" sz="900" b="0" i="0" u="none" strike="noStrike" kern="0" cap="none" spc="0" normalizeH="0" baseline="0" noProof="0" dirty="0">
              <a:ln>
                <a:noFill/>
              </a:ln>
              <a:solidFill>
                <a:srgbClr val="353535">
                  <a:lumMod val="50000"/>
                </a:srgbClr>
              </a:solidFill>
              <a:effectLst/>
              <a:uLnTx/>
              <a:uFillTx/>
              <a:latin typeface="Segoe UI Semibold" panose="020B0702040204020203" pitchFamily="34" charset="0"/>
              <a:ea typeface="MS PGothic" panose="020B0600070205080204" pitchFamily="34" charset="-128"/>
              <a:cs typeface="Segoe UI Semibold" panose="020B0702040204020203" pitchFamily="34" charset="0"/>
            </a:endParaRPr>
          </a:p>
        </p:txBody>
      </p:sp>
      <p:grpSp>
        <p:nvGrpSpPr>
          <p:cNvPr id="27" name="Group 26">
            <a:extLst>
              <a:ext uri="{FF2B5EF4-FFF2-40B4-BE49-F238E27FC236}">
                <a16:creationId xmlns:a16="http://schemas.microsoft.com/office/drawing/2014/main" id="{245CBC92-5E52-B244-9CEA-D2B21703B652}"/>
              </a:ext>
            </a:extLst>
          </p:cNvPr>
          <p:cNvGrpSpPr/>
          <p:nvPr/>
        </p:nvGrpSpPr>
        <p:grpSpPr>
          <a:xfrm>
            <a:off x="6090486" y="1988064"/>
            <a:ext cx="1460551" cy="924828"/>
            <a:chOff x="6786704" y="2030009"/>
            <a:chExt cx="1460551" cy="924828"/>
          </a:xfrm>
        </p:grpSpPr>
        <p:pic>
          <p:nvPicPr>
            <p:cNvPr id="28" name="Picture 27">
              <a:extLst>
                <a:ext uri="{FF2B5EF4-FFF2-40B4-BE49-F238E27FC236}">
                  <a16:creationId xmlns:a16="http://schemas.microsoft.com/office/drawing/2014/main" id="{6BD42F4D-1B05-1849-A2E0-CBACFDF55606}"/>
                </a:ext>
              </a:extLst>
            </p:cNvPr>
            <p:cNvPicPr>
              <a:picLocks noChangeAspect="1"/>
            </p:cNvPicPr>
            <p:nvPr/>
          </p:nvPicPr>
          <p:blipFill>
            <a:blip r:embed="rId4" cstate="email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tretch>
              <a:fillRect/>
            </a:stretch>
          </p:blipFill>
          <p:spPr>
            <a:xfrm>
              <a:off x="7167404" y="2030009"/>
              <a:ext cx="579787" cy="579787"/>
            </a:xfrm>
            <a:prstGeom prst="rect">
              <a:avLst/>
            </a:prstGeom>
          </p:spPr>
        </p:pic>
        <p:sp>
          <p:nvSpPr>
            <p:cNvPr id="29" name="Rectangle 28">
              <a:extLst>
                <a:ext uri="{FF2B5EF4-FFF2-40B4-BE49-F238E27FC236}">
                  <a16:creationId xmlns:a16="http://schemas.microsoft.com/office/drawing/2014/main" id="{2DD7187D-683B-5849-A223-9DEF00D5DA70}"/>
                </a:ext>
              </a:extLst>
            </p:cNvPr>
            <p:cNvSpPr/>
            <p:nvPr/>
          </p:nvSpPr>
          <p:spPr>
            <a:xfrm>
              <a:off x="6786704" y="2585505"/>
              <a:ext cx="1460551" cy="369332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 marL="0" marR="0" lvl="0" indent="0" algn="ctr" defTabSz="932239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900" b="0" i="0" u="none" strike="noStrike" kern="0" cap="none" spc="0" normalizeH="0" baseline="0" noProof="0" dirty="0">
                  <a:ln>
                    <a:noFill/>
                  </a:ln>
                  <a:solidFill>
                    <a:srgbClr val="353535">
                      <a:lumMod val="50000"/>
                    </a:srgbClr>
                  </a:solidFill>
                  <a:effectLst/>
                  <a:uLnTx/>
                  <a:uFillTx/>
                  <a:latin typeface="Segoe UI Semibold" panose="020B0702040204020203" pitchFamily="34" charset="0"/>
                  <a:ea typeface="MS PGothic" panose="020B0600070205080204" pitchFamily="34" charset="-128"/>
                  <a:cs typeface="Segoe UI Semibold" panose="020B0702040204020203" pitchFamily="34" charset="0"/>
                </a:rPr>
                <a:t>Azure Synapse Analytics</a:t>
              </a:r>
            </a:p>
            <a:p>
              <a:pPr marL="0" marR="0" lvl="0" indent="0" algn="ctr" defTabSz="932239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lang="en-US" sz="900" kern="0" dirty="0">
                  <a:solidFill>
                    <a:srgbClr val="353535">
                      <a:lumMod val="50000"/>
                    </a:srgbClr>
                  </a:solidFill>
                  <a:latin typeface="Segoe UI Semibold" panose="020B0702040204020203" pitchFamily="34" charset="0"/>
                  <a:ea typeface="MS PGothic" panose="020B0600070205080204" pitchFamily="34" charset="-128"/>
                  <a:cs typeface="Segoe UI Semibold" panose="020B0702040204020203" pitchFamily="34" charset="0"/>
                </a:rPr>
                <a:t>Integrate</a:t>
              </a:r>
              <a:endParaRPr kumimoji="0" lang="en-US" sz="900" b="0" i="0" u="none" strike="noStrike" kern="0" cap="none" spc="0" normalizeH="0" baseline="0" noProof="0" dirty="0">
                <a:ln>
                  <a:noFill/>
                </a:ln>
                <a:solidFill>
                  <a:srgbClr val="353535">
                    <a:lumMod val="50000"/>
                  </a:srgbClr>
                </a:solidFill>
                <a:effectLst/>
                <a:uLnTx/>
                <a:uFillTx/>
                <a:latin typeface="Segoe UI Semibold" panose="020B0702040204020203" pitchFamily="34" charset="0"/>
                <a:ea typeface="MS PGothic" panose="020B0600070205080204" pitchFamily="34" charset="-128"/>
                <a:cs typeface="Segoe UI Semibold" panose="020B0702040204020203" pitchFamily="34" charset="0"/>
              </a:endParaRPr>
            </a:p>
          </p:txBody>
        </p:sp>
      </p:grpSp>
      <p:grpSp>
        <p:nvGrpSpPr>
          <p:cNvPr id="30" name="Group 29">
            <a:extLst>
              <a:ext uri="{FF2B5EF4-FFF2-40B4-BE49-F238E27FC236}">
                <a16:creationId xmlns:a16="http://schemas.microsoft.com/office/drawing/2014/main" id="{71036DD4-429B-854C-8A11-8F1162AA17F5}"/>
              </a:ext>
            </a:extLst>
          </p:cNvPr>
          <p:cNvGrpSpPr/>
          <p:nvPr/>
        </p:nvGrpSpPr>
        <p:grpSpPr>
          <a:xfrm>
            <a:off x="8377564" y="3596320"/>
            <a:ext cx="1460551" cy="786328"/>
            <a:chOff x="6786704" y="2030009"/>
            <a:chExt cx="1460551" cy="786328"/>
          </a:xfrm>
        </p:grpSpPr>
        <p:pic>
          <p:nvPicPr>
            <p:cNvPr id="31" name="Picture 30">
              <a:extLst>
                <a:ext uri="{FF2B5EF4-FFF2-40B4-BE49-F238E27FC236}">
                  <a16:creationId xmlns:a16="http://schemas.microsoft.com/office/drawing/2014/main" id="{C3DB48E6-0802-EF4E-8DE1-658C113FF2BE}"/>
                </a:ext>
              </a:extLst>
            </p:cNvPr>
            <p:cNvPicPr>
              <a:picLocks noChangeAspect="1"/>
            </p:cNvPicPr>
            <p:nvPr/>
          </p:nvPicPr>
          <p:blipFill>
            <a:blip r:embed="rId4" cstate="email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tretch>
              <a:fillRect/>
            </a:stretch>
          </p:blipFill>
          <p:spPr>
            <a:xfrm>
              <a:off x="7167404" y="2030009"/>
              <a:ext cx="579787" cy="579787"/>
            </a:xfrm>
            <a:prstGeom prst="rect">
              <a:avLst/>
            </a:prstGeom>
          </p:spPr>
        </p:pic>
        <p:sp>
          <p:nvSpPr>
            <p:cNvPr id="32" name="Rectangle 31">
              <a:extLst>
                <a:ext uri="{FF2B5EF4-FFF2-40B4-BE49-F238E27FC236}">
                  <a16:creationId xmlns:a16="http://schemas.microsoft.com/office/drawing/2014/main" id="{B5E39EF9-8AB1-7E44-B574-ABEEB9B4592F}"/>
                </a:ext>
              </a:extLst>
            </p:cNvPr>
            <p:cNvSpPr/>
            <p:nvPr/>
          </p:nvSpPr>
          <p:spPr>
            <a:xfrm>
              <a:off x="6786704" y="2585505"/>
              <a:ext cx="1460551" cy="230832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 marL="0" marR="0" lvl="0" indent="0" algn="ctr" defTabSz="932239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900" b="0" i="0" u="none" strike="noStrike" kern="0" cap="none" spc="0" normalizeH="0" baseline="0" noProof="0" dirty="0">
                  <a:ln>
                    <a:noFill/>
                  </a:ln>
                  <a:solidFill>
                    <a:srgbClr val="353535">
                      <a:lumMod val="50000"/>
                    </a:srgbClr>
                  </a:solidFill>
                  <a:effectLst/>
                  <a:uLnTx/>
                  <a:uFillTx/>
                  <a:latin typeface="Segoe UI Semibold" panose="020B0702040204020203" pitchFamily="34" charset="0"/>
                  <a:ea typeface="MS PGothic" panose="020B0600070205080204" pitchFamily="34" charset="-128"/>
                  <a:cs typeface="Segoe UI Semibold" panose="020B0702040204020203" pitchFamily="34" charset="0"/>
                </a:rPr>
                <a:t>Synapse SQL</a:t>
              </a:r>
            </a:p>
          </p:txBody>
        </p:sp>
      </p:grpSp>
      <p:pic>
        <p:nvPicPr>
          <p:cNvPr id="33" name="Picture 2" descr="Microsoft SQL Server Analysis Services | MANTA">
            <a:extLst>
              <a:ext uri="{FF2B5EF4-FFF2-40B4-BE49-F238E27FC236}">
                <a16:creationId xmlns:a16="http://schemas.microsoft.com/office/drawing/2014/main" id="{BB36DFE5-D846-0044-B420-4C3726106F3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357860" y="3598676"/>
            <a:ext cx="1415382" cy="45392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34" name="Picture 33">
            <a:extLst>
              <a:ext uri="{FF2B5EF4-FFF2-40B4-BE49-F238E27FC236}">
                <a16:creationId xmlns:a16="http://schemas.microsoft.com/office/drawing/2014/main" id="{29DA106F-A563-D24D-A85E-1B2C95F1CD33}"/>
              </a:ext>
            </a:extLst>
          </p:cNvPr>
          <p:cNvPicPr>
            <a:picLocks noChangeAspect="1"/>
          </p:cNvPicPr>
          <p:nvPr/>
        </p:nvPicPr>
        <p:blipFill>
          <a:blip r:embed="rId6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5909698" y="4153177"/>
            <a:ext cx="2154876" cy="1591827"/>
          </a:xfrm>
          <a:prstGeom prst="rect">
            <a:avLst/>
          </a:prstGeom>
          <a:ln>
            <a:solidFill>
              <a:schemeClr val="bg2">
                <a:lumMod val="90000"/>
              </a:schemeClr>
            </a:solidFill>
          </a:ln>
        </p:spPr>
      </p:pic>
      <p:sp>
        <p:nvSpPr>
          <p:cNvPr id="35" name="Shape 101">
            <a:extLst>
              <a:ext uri="{FF2B5EF4-FFF2-40B4-BE49-F238E27FC236}">
                <a16:creationId xmlns:a16="http://schemas.microsoft.com/office/drawing/2014/main" id="{89DF9125-A506-724E-8CD5-62E7A89A34AF}"/>
              </a:ext>
            </a:extLst>
          </p:cNvPr>
          <p:cNvSpPr txBox="1"/>
          <p:nvPr/>
        </p:nvSpPr>
        <p:spPr>
          <a:xfrm>
            <a:off x="5824177" y="3749133"/>
            <a:ext cx="1202810" cy="341809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 anchorCtr="0">
            <a:noAutofit/>
          </a:bodyPr>
          <a:lstStyle/>
          <a:p>
            <a:pPr marL="0" marR="0" lvl="0" indent="0" algn="ctr" defTabSz="932597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1050" kern="0" dirty="0">
                <a:solidFill>
                  <a:srgbClr val="000000"/>
                </a:solidFill>
                <a:latin typeface="Segoe UI"/>
                <a:cs typeface="Segoe UI Semibold" panose="020B0702040204020203" pitchFamily="34" charset="0"/>
                <a:sym typeface="Calibri"/>
              </a:rPr>
              <a:t>Create model and Deploy ML Image</a:t>
            </a:r>
            <a:endParaRPr kumimoji="0" lang="en-US" sz="105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Segoe UI"/>
              <a:ea typeface="+mn-ea"/>
              <a:cs typeface="Segoe UI Semibold" panose="020B0702040204020203" pitchFamily="34" charset="0"/>
              <a:sym typeface="Calibri"/>
            </a:endParaRPr>
          </a:p>
        </p:txBody>
      </p:sp>
      <p:cxnSp>
        <p:nvCxnSpPr>
          <p:cNvPr id="36" name="Straight Connector 35">
            <a:extLst>
              <a:ext uri="{FF2B5EF4-FFF2-40B4-BE49-F238E27FC236}">
                <a16:creationId xmlns:a16="http://schemas.microsoft.com/office/drawing/2014/main" id="{FC3090B7-1171-644E-88B9-57B9B1C0287B}"/>
              </a:ext>
            </a:extLst>
          </p:cNvPr>
          <p:cNvCxnSpPr>
            <a:cxnSpLocks/>
          </p:cNvCxnSpPr>
          <p:nvPr/>
        </p:nvCxnSpPr>
        <p:spPr>
          <a:xfrm flipH="1" flipV="1">
            <a:off x="5092803" y="4002595"/>
            <a:ext cx="740034" cy="951438"/>
          </a:xfrm>
          <a:prstGeom prst="line">
            <a:avLst/>
          </a:prstGeom>
          <a:noFill/>
          <a:ln w="19050" cap="flat" cmpd="sng" algn="ctr">
            <a:solidFill>
              <a:schemeClr val="accent1"/>
            </a:solidFill>
            <a:prstDash val="sysDash"/>
            <a:headEnd type="triangle" w="med" len="med"/>
            <a:tailEnd type="triangle" w="med" len="med"/>
          </a:ln>
          <a:effectLst/>
        </p:spPr>
      </p:cxnSp>
      <p:sp>
        <p:nvSpPr>
          <p:cNvPr id="37" name="Shape 101">
            <a:extLst>
              <a:ext uri="{FF2B5EF4-FFF2-40B4-BE49-F238E27FC236}">
                <a16:creationId xmlns:a16="http://schemas.microsoft.com/office/drawing/2014/main" id="{40F07982-0746-C949-96FB-466681F87A41}"/>
              </a:ext>
            </a:extLst>
          </p:cNvPr>
          <p:cNvSpPr txBox="1"/>
          <p:nvPr/>
        </p:nvSpPr>
        <p:spPr>
          <a:xfrm rot="3030499">
            <a:off x="4929695" y="4523127"/>
            <a:ext cx="968731" cy="232299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 anchorCtr="0">
            <a:noAutofit/>
          </a:bodyPr>
          <a:lstStyle/>
          <a:p>
            <a:pPr marL="0" marR="0" lvl="0" indent="0" algn="ctr" defTabSz="932597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1050" kern="0" dirty="0">
                <a:solidFill>
                  <a:srgbClr val="000000"/>
                </a:solidFill>
                <a:latin typeface="Segoe UI"/>
                <a:cs typeface="Segoe UI Semibold" panose="020B0702040204020203" pitchFamily="34" charset="0"/>
                <a:sym typeface="Calibri"/>
              </a:rPr>
              <a:t>shaped data</a:t>
            </a:r>
            <a:endParaRPr kumimoji="0" lang="en-US" sz="105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Segoe UI"/>
              <a:ea typeface="+mn-ea"/>
              <a:cs typeface="Segoe UI Semibold" panose="020B0702040204020203" pitchFamily="34" charset="0"/>
              <a:sym typeface="Calibri"/>
            </a:endParaRPr>
          </a:p>
        </p:txBody>
      </p:sp>
      <p:cxnSp>
        <p:nvCxnSpPr>
          <p:cNvPr id="38" name="Straight Connector 37">
            <a:extLst>
              <a:ext uri="{FF2B5EF4-FFF2-40B4-BE49-F238E27FC236}">
                <a16:creationId xmlns:a16="http://schemas.microsoft.com/office/drawing/2014/main" id="{4407EB8B-5B3A-6941-842E-9E6E1EE6BC65}"/>
              </a:ext>
            </a:extLst>
          </p:cNvPr>
          <p:cNvCxnSpPr>
            <a:cxnSpLocks/>
          </p:cNvCxnSpPr>
          <p:nvPr/>
        </p:nvCxnSpPr>
        <p:spPr>
          <a:xfrm>
            <a:off x="1781902" y="3856609"/>
            <a:ext cx="901834" cy="6738"/>
          </a:xfrm>
          <a:prstGeom prst="line">
            <a:avLst/>
          </a:prstGeom>
          <a:noFill/>
          <a:ln w="19050" cap="flat" cmpd="sng" algn="ctr">
            <a:solidFill>
              <a:schemeClr val="accent1"/>
            </a:solidFill>
            <a:prstDash val="sysDash"/>
            <a:headEnd type="none" w="med" len="med"/>
            <a:tailEnd type="triangle" w="med" len="med"/>
          </a:ln>
          <a:effectLst/>
        </p:spPr>
      </p:cxnSp>
      <p:cxnSp>
        <p:nvCxnSpPr>
          <p:cNvPr id="39" name="Straight Connector 38">
            <a:extLst>
              <a:ext uri="{FF2B5EF4-FFF2-40B4-BE49-F238E27FC236}">
                <a16:creationId xmlns:a16="http://schemas.microsoft.com/office/drawing/2014/main" id="{24908041-5512-5D4F-B823-F897ABDA890F}"/>
              </a:ext>
            </a:extLst>
          </p:cNvPr>
          <p:cNvCxnSpPr>
            <a:cxnSpLocks/>
          </p:cNvCxnSpPr>
          <p:nvPr/>
        </p:nvCxnSpPr>
        <p:spPr>
          <a:xfrm flipV="1">
            <a:off x="8141435" y="4274336"/>
            <a:ext cx="524461" cy="651736"/>
          </a:xfrm>
          <a:prstGeom prst="line">
            <a:avLst/>
          </a:prstGeom>
          <a:noFill/>
          <a:ln w="19050" cap="flat" cmpd="sng" algn="ctr">
            <a:solidFill>
              <a:schemeClr val="accent1"/>
            </a:solidFill>
            <a:prstDash val="sysDash"/>
            <a:headEnd type="none" w="med" len="med"/>
            <a:tailEnd type="triangle" w="med" len="med"/>
          </a:ln>
          <a:effectLst/>
        </p:spPr>
      </p:cxnSp>
      <p:sp>
        <p:nvSpPr>
          <p:cNvPr id="40" name="Title 3">
            <a:extLst>
              <a:ext uri="{FF2B5EF4-FFF2-40B4-BE49-F238E27FC236}">
                <a16:creationId xmlns:a16="http://schemas.microsoft.com/office/drawing/2014/main" id="{9ABAB859-C1A0-034B-99F2-5744615CAC85}"/>
              </a:ext>
            </a:extLst>
          </p:cNvPr>
          <p:cNvSpPr>
            <a:spLocks noGrp="1"/>
          </p:cNvSpPr>
          <p:nvPr/>
        </p:nvSpPr>
        <p:spPr>
          <a:xfrm>
            <a:off x="5993709" y="6087958"/>
            <a:ext cx="1307760" cy="369332"/>
          </a:xfrm>
          <a:prstGeom prst="rect">
            <a:avLst/>
          </a:prstGeom>
          <a:noFill/>
        </p:spPr>
        <p:txBody>
          <a:bodyPr vert="horz" wrap="square" lIns="0" tIns="0" rIns="0" bIns="182880" rtlCol="0" anchor="b" anchorCtr="0">
            <a:noAutofit/>
          </a:bodyPr>
          <a:lstStyle>
            <a:lvl1pPr algn="l" defTabSz="914192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5400" b="0" strike="noStrike" kern="1200" cap="none" spc="-147" baseline="0">
                <a:ln w="3175">
                  <a:noFill/>
                </a:ln>
                <a:solidFill>
                  <a:schemeClr val="bg2"/>
                </a:solidFill>
                <a:effectLst/>
                <a:latin typeface="+mj-lt"/>
                <a:ea typeface="+mn-ea"/>
                <a:cs typeface="Segoe UI" pitchFamily="34" charset="0"/>
              </a:defRPr>
            </a:lvl1pPr>
          </a:lstStyle>
          <a:p>
            <a:r>
              <a:rPr lang="en-US" sz="1400" dirty="0">
                <a:solidFill>
                  <a:schemeClr val="accent6">
                    <a:lumMod val="50000"/>
                  </a:schemeClr>
                </a:solidFill>
              </a:rPr>
              <a:t>Azure Synapse Analytics</a:t>
            </a:r>
          </a:p>
        </p:txBody>
      </p:sp>
      <p:pic>
        <p:nvPicPr>
          <p:cNvPr id="41" name="Picture 40">
            <a:extLst>
              <a:ext uri="{FF2B5EF4-FFF2-40B4-BE49-F238E27FC236}">
                <a16:creationId xmlns:a16="http://schemas.microsoft.com/office/drawing/2014/main" id="{681DC022-A70E-6946-A215-FDC96F14E01F}"/>
              </a:ext>
            </a:extLst>
          </p:cNvPr>
          <p:cNvPicPr>
            <a:picLocks noChangeAspect="1"/>
          </p:cNvPicPr>
          <p:nvPr/>
        </p:nvPicPr>
        <p:blipFill>
          <a:blip r:embed="rId7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5550196" y="5972445"/>
            <a:ext cx="428355" cy="42835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33325007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Box 6">
            <a:extLst>
              <a:ext uri="{FF2B5EF4-FFF2-40B4-BE49-F238E27FC236}">
                <a16:creationId xmlns:a16="http://schemas.microsoft.com/office/drawing/2014/main" id="{7384ECF0-3C64-8241-99B2-0AA612206F2C}"/>
              </a:ext>
            </a:extLst>
          </p:cNvPr>
          <p:cNvSpPr txBox="1"/>
          <p:nvPr/>
        </p:nvSpPr>
        <p:spPr>
          <a:xfrm>
            <a:off x="215153" y="152975"/>
            <a:ext cx="11338560" cy="397031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b="1" dirty="0"/>
              <a:t>Azure ML : </a:t>
            </a:r>
            <a:r>
              <a:rPr lang="en-US" sz="2400" b="1" dirty="0">
                <a:hlinkClick r:id="rId2"/>
              </a:rPr>
              <a:t>https://ml.azure.com</a:t>
            </a:r>
            <a:r>
              <a:rPr lang="en-US" sz="2400" b="1" dirty="0"/>
              <a:t> </a:t>
            </a:r>
          </a:p>
          <a:p>
            <a:endParaRPr lang="en-US" sz="1200" dirty="0"/>
          </a:p>
          <a:p>
            <a:r>
              <a:rPr lang="en-US" sz="1200" dirty="0"/>
              <a:t>Login into  </a:t>
            </a:r>
            <a:r>
              <a:rPr lang="en-US" sz="1200" dirty="0" err="1"/>
              <a:t>portal.azure.com</a:t>
            </a:r>
            <a:r>
              <a:rPr lang="en-US" sz="1200" dirty="0"/>
              <a:t>  ( </a:t>
            </a:r>
            <a:r>
              <a:rPr lang="en-US" sz="1200" dirty="0">
                <a:hlinkClick r:id="rId3"/>
              </a:rPr>
              <a:t>https://portal.azure.com</a:t>
            </a:r>
            <a:r>
              <a:rPr lang="en-US" sz="1200" dirty="0"/>
              <a:t> )</a:t>
            </a:r>
          </a:p>
          <a:p>
            <a:r>
              <a:rPr lang="en-US" sz="1200" dirty="0"/>
              <a:t>Move mouse to top-right and click on your icon (sign-in/sign-out) – and select a directory.</a:t>
            </a:r>
          </a:p>
          <a:p>
            <a:r>
              <a:rPr lang="en-US" sz="1200" dirty="0"/>
              <a:t>You may have several directories corresponding to your work with different clients.</a:t>
            </a:r>
          </a:p>
          <a:p>
            <a:endParaRPr lang="en-US" sz="1200" dirty="0"/>
          </a:p>
          <a:p>
            <a:r>
              <a:rPr lang="en-US" sz="1200" dirty="0"/>
              <a:t>Then select subscription</a:t>
            </a:r>
          </a:p>
          <a:p>
            <a:r>
              <a:rPr lang="en-US" sz="1200" dirty="0"/>
              <a:t>Then go to Machine learning (can search for it, or it is in the list)</a:t>
            </a:r>
          </a:p>
          <a:p>
            <a:endParaRPr lang="en-US" sz="1200" dirty="0"/>
          </a:p>
          <a:p>
            <a:r>
              <a:rPr lang="en-US" sz="1200" dirty="0"/>
              <a:t> - </a:t>
            </a:r>
            <a:r>
              <a:rPr lang="en-US" sz="1200" dirty="0">
                <a:hlinkClick r:id="rId4"/>
              </a:rPr>
              <a:t>https://ml.azure.com/selectWorkspace</a:t>
            </a:r>
            <a:r>
              <a:rPr lang="en-US" sz="1200" dirty="0"/>
              <a:t>  </a:t>
            </a:r>
          </a:p>
          <a:p>
            <a:r>
              <a:rPr lang="en-US" sz="1200" dirty="0"/>
              <a:t>Go into workspace machine learning, then find and click the </a:t>
            </a:r>
            <a:r>
              <a:rPr lang="en-US" sz="1200" dirty="0" err="1"/>
              <a:t>url</a:t>
            </a:r>
            <a:r>
              <a:rPr lang="en-US" sz="1200" dirty="0"/>
              <a:t> to </a:t>
            </a:r>
            <a:r>
              <a:rPr lang="en-US" sz="1200" b="1" dirty="0"/>
              <a:t>Azure Machine Learning Studio.</a:t>
            </a:r>
            <a:endParaRPr lang="en-US" sz="1200" dirty="0"/>
          </a:p>
          <a:p>
            <a:r>
              <a:rPr lang="en-US" sz="1200" dirty="0"/>
              <a:t>Here you can work with python notebooks, </a:t>
            </a:r>
          </a:p>
          <a:p>
            <a:r>
              <a:rPr lang="en-US" sz="1200" dirty="0"/>
              <a:t>create compute instances or clusters, </a:t>
            </a:r>
          </a:p>
          <a:p>
            <a:r>
              <a:rPr lang="en-US" sz="1200" dirty="0"/>
              <a:t>work with multiple data stores, </a:t>
            </a:r>
          </a:p>
          <a:p>
            <a:r>
              <a:rPr lang="en-US" sz="1200" dirty="0"/>
              <a:t>create datasets, pipelines, experiments, </a:t>
            </a:r>
          </a:p>
          <a:p>
            <a:r>
              <a:rPr lang="en-US" sz="1200" dirty="0"/>
              <a:t>run Automated ML, </a:t>
            </a:r>
          </a:p>
          <a:p>
            <a:r>
              <a:rPr lang="en-US" sz="1200" dirty="0"/>
              <a:t>create pickle model files, </a:t>
            </a:r>
          </a:p>
          <a:p>
            <a:r>
              <a:rPr lang="en-US" sz="1200" dirty="0"/>
              <a:t>use different open-source libraries (</a:t>
            </a:r>
            <a:r>
              <a:rPr lang="en-US" sz="1200" dirty="0" err="1"/>
              <a:t>sklearn</a:t>
            </a:r>
            <a:r>
              <a:rPr lang="en-US" sz="1200" dirty="0"/>
              <a:t>, TF, etc.), </a:t>
            </a:r>
          </a:p>
          <a:p>
            <a:r>
              <a:rPr lang="en-US" sz="1200" dirty="0"/>
              <a:t>register model endpoints, etc.</a:t>
            </a:r>
          </a:p>
          <a:p>
            <a:r>
              <a:rPr lang="en-US" sz="1200" dirty="0"/>
              <a:t># ----------------------------------------------</a:t>
            </a:r>
          </a:p>
        </p:txBody>
      </p:sp>
    </p:spTree>
    <p:extLst>
      <p:ext uri="{BB962C8B-B14F-4D97-AF65-F5344CB8AC3E}">
        <p14:creationId xmlns:p14="http://schemas.microsoft.com/office/powerpoint/2010/main" val="4045725214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Box 6">
            <a:extLst>
              <a:ext uri="{FF2B5EF4-FFF2-40B4-BE49-F238E27FC236}">
                <a16:creationId xmlns:a16="http://schemas.microsoft.com/office/drawing/2014/main" id="{7384ECF0-3C64-8241-99B2-0AA612206F2C}"/>
              </a:ext>
            </a:extLst>
          </p:cNvPr>
          <p:cNvSpPr txBox="1"/>
          <p:nvPr/>
        </p:nvSpPr>
        <p:spPr>
          <a:xfrm>
            <a:off x="0" y="58846"/>
            <a:ext cx="7113494" cy="67403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b="1" dirty="0"/>
              <a:t>Azure ML : Some Links</a:t>
            </a:r>
            <a:endParaRPr lang="en-US" sz="1200" dirty="0"/>
          </a:p>
          <a:p>
            <a:endParaRPr lang="en-US" sz="1200" dirty="0"/>
          </a:p>
          <a:p>
            <a:r>
              <a:rPr lang="en-US" sz="1200" dirty="0"/>
              <a:t>Here is a very good post on training using </a:t>
            </a:r>
            <a:r>
              <a:rPr lang="en-US" sz="1200" dirty="0" err="1"/>
              <a:t>sklearn</a:t>
            </a:r>
            <a:r>
              <a:rPr lang="en-US" sz="1200" dirty="0"/>
              <a:t> – and then register the model in ML Studio:</a:t>
            </a:r>
          </a:p>
          <a:p>
            <a:r>
              <a:rPr lang="en-US" sz="1200" dirty="0">
                <a:hlinkClick r:id="rId2"/>
              </a:rPr>
              <a:t>https://towardsdatascience.com/deploying-ml-models-on-azure-a948c106f7b5</a:t>
            </a:r>
            <a:r>
              <a:rPr lang="en-US" sz="1200" dirty="0"/>
              <a:t> </a:t>
            </a:r>
          </a:p>
          <a:p>
            <a:r>
              <a:rPr lang="en-US" sz="1200" dirty="0"/>
              <a:t>or</a:t>
            </a:r>
          </a:p>
          <a:p>
            <a:r>
              <a:rPr lang="en-US" sz="1200" dirty="0">
                <a:hlinkClick r:id="rId3"/>
              </a:rPr>
              <a:t>https://ai.plainenglish.io/deploying-ml-models-on-azure-8daa9c10db5a</a:t>
            </a:r>
            <a:r>
              <a:rPr lang="en-US" sz="1200" dirty="0"/>
              <a:t> </a:t>
            </a:r>
          </a:p>
          <a:p>
            <a:endParaRPr lang="en-US" sz="1200" dirty="0"/>
          </a:p>
          <a:p>
            <a:r>
              <a:rPr lang="en-US" sz="1200" dirty="0"/>
              <a:t>This above tutorial doesn't actually "deploy" the model.</a:t>
            </a:r>
          </a:p>
          <a:p>
            <a:r>
              <a:rPr lang="en-US" sz="1200" dirty="0"/>
              <a:t>The more appropriate title should be "</a:t>
            </a:r>
            <a:r>
              <a:rPr lang="en-US" sz="1200" b="1" dirty="0">
                <a:solidFill>
                  <a:srgbClr val="00B050"/>
                </a:solidFill>
              </a:rPr>
              <a:t>Register your custom python model in ML Studio</a:t>
            </a:r>
            <a:r>
              <a:rPr lang="en-US" sz="1200" dirty="0"/>
              <a:t>"</a:t>
            </a:r>
          </a:p>
          <a:p>
            <a:r>
              <a:rPr lang="en-US" sz="1200" dirty="0"/>
              <a:t>Note</a:t>
            </a:r>
          </a:p>
          <a:p>
            <a:r>
              <a:rPr lang="en-US" sz="1200" dirty="0"/>
              <a:t>The author uses specific library to store the model into pickle:</a:t>
            </a:r>
          </a:p>
          <a:p>
            <a:r>
              <a:rPr lang="en-US" sz="1200" dirty="0"/>
              <a:t> </a:t>
            </a:r>
          </a:p>
          <a:p>
            <a:r>
              <a:rPr lang="en-US" sz="1200" dirty="0">
                <a:solidFill>
                  <a:srgbClr val="0070C0"/>
                </a:solidFill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from </a:t>
            </a:r>
            <a:r>
              <a:rPr lang="en-US" sz="1200" dirty="0" err="1">
                <a:solidFill>
                  <a:srgbClr val="0070C0"/>
                </a:solidFill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sklearn.externals</a:t>
            </a:r>
            <a:r>
              <a:rPr lang="en-US" sz="1200" dirty="0">
                <a:solidFill>
                  <a:srgbClr val="0070C0"/>
                </a:solidFill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 import </a:t>
            </a:r>
            <a:r>
              <a:rPr lang="en-US" sz="1200" dirty="0" err="1">
                <a:solidFill>
                  <a:srgbClr val="0070C0"/>
                </a:solidFill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joblib</a:t>
            </a:r>
            <a:endParaRPr lang="en-US" sz="1200" dirty="0">
              <a:solidFill>
                <a:srgbClr val="0070C0"/>
              </a:solidFill>
              <a:latin typeface="Menlo" panose="020B0609030804020204" pitchFamily="49" charset="0"/>
              <a:ea typeface="Menlo" panose="020B0609030804020204" pitchFamily="49" charset="0"/>
              <a:cs typeface="Menlo" panose="020B0609030804020204" pitchFamily="49" charset="0"/>
            </a:endParaRPr>
          </a:p>
          <a:p>
            <a:r>
              <a:rPr lang="en-US" sz="1200" dirty="0" err="1">
                <a:solidFill>
                  <a:srgbClr val="0070C0"/>
                </a:solidFill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joblib.dump</a:t>
            </a:r>
            <a:r>
              <a:rPr lang="en-US" sz="1200" dirty="0">
                <a:solidFill>
                  <a:srgbClr val="0070C0"/>
                </a:solidFill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(value=</a:t>
            </a:r>
            <a:r>
              <a:rPr lang="en-US" sz="1200" dirty="0" err="1">
                <a:solidFill>
                  <a:srgbClr val="0070C0"/>
                </a:solidFill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mymodel</a:t>
            </a:r>
            <a:r>
              <a:rPr lang="en-US" sz="1200" dirty="0">
                <a:solidFill>
                  <a:srgbClr val="0070C0"/>
                </a:solidFill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, filename="</a:t>
            </a:r>
            <a:r>
              <a:rPr lang="en-US" sz="1200" dirty="0" err="1">
                <a:solidFill>
                  <a:srgbClr val="0070C0"/>
                </a:solidFill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mymodel.pkl</a:t>
            </a:r>
            <a:r>
              <a:rPr lang="en-US" sz="1200" dirty="0">
                <a:solidFill>
                  <a:srgbClr val="0070C0"/>
                </a:solidFill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")</a:t>
            </a:r>
          </a:p>
          <a:p>
            <a:r>
              <a:rPr lang="en-US" sz="1200" dirty="0"/>
              <a:t> </a:t>
            </a:r>
          </a:p>
          <a:p>
            <a:r>
              <a:rPr lang="en-US" sz="1200" dirty="0"/>
              <a:t>and then:</a:t>
            </a:r>
          </a:p>
          <a:p>
            <a:r>
              <a:rPr lang="en-US" sz="1200" dirty="0"/>
              <a:t> </a:t>
            </a:r>
          </a:p>
          <a:p>
            <a:r>
              <a:rPr lang="en-US" sz="1200" dirty="0">
                <a:solidFill>
                  <a:srgbClr val="0070C0"/>
                </a:solidFill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from </a:t>
            </a:r>
            <a:r>
              <a:rPr lang="en-US" sz="1200" dirty="0" err="1">
                <a:solidFill>
                  <a:srgbClr val="0070C0"/>
                </a:solidFill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azureml.core.model</a:t>
            </a:r>
            <a:r>
              <a:rPr lang="en-US" sz="1200" dirty="0">
                <a:solidFill>
                  <a:srgbClr val="0070C0"/>
                </a:solidFill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 import Model</a:t>
            </a:r>
          </a:p>
          <a:p>
            <a:r>
              <a:rPr lang="en-US" sz="1200" dirty="0">
                <a:solidFill>
                  <a:srgbClr val="0070C0"/>
                </a:solidFill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model = </a:t>
            </a:r>
            <a:r>
              <a:rPr lang="en-US" sz="1200" dirty="0" err="1">
                <a:solidFill>
                  <a:srgbClr val="0070C0"/>
                </a:solidFill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Model.register</a:t>
            </a:r>
            <a:r>
              <a:rPr lang="en-US" sz="1200" dirty="0">
                <a:solidFill>
                  <a:srgbClr val="0070C0"/>
                </a:solidFill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(</a:t>
            </a:r>
          </a:p>
          <a:p>
            <a:r>
              <a:rPr lang="en-US" sz="1200" dirty="0">
                <a:solidFill>
                  <a:srgbClr val="0070C0"/>
                </a:solidFill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    workspace=</a:t>
            </a:r>
            <a:r>
              <a:rPr lang="en-US" sz="1200" dirty="0" err="1">
                <a:solidFill>
                  <a:srgbClr val="0070C0"/>
                </a:solidFill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ws</a:t>
            </a:r>
            <a:r>
              <a:rPr lang="en-US" sz="1200" dirty="0">
                <a:solidFill>
                  <a:srgbClr val="0070C0"/>
                </a:solidFill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,</a:t>
            </a:r>
          </a:p>
          <a:p>
            <a:r>
              <a:rPr lang="en-US" sz="1200" dirty="0">
                <a:solidFill>
                  <a:srgbClr val="0070C0"/>
                </a:solidFill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    </a:t>
            </a:r>
            <a:r>
              <a:rPr lang="en-US" sz="1200" dirty="0" err="1">
                <a:solidFill>
                  <a:srgbClr val="0070C0"/>
                </a:solidFill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model_path</a:t>
            </a:r>
            <a:r>
              <a:rPr lang="en-US" sz="1200" dirty="0">
                <a:solidFill>
                  <a:srgbClr val="0070C0"/>
                </a:solidFill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="</a:t>
            </a:r>
            <a:r>
              <a:rPr lang="en-US" sz="1200" dirty="0" err="1">
                <a:solidFill>
                  <a:srgbClr val="0070C0"/>
                </a:solidFill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mymodel.pkl</a:t>
            </a:r>
            <a:r>
              <a:rPr lang="en-US" sz="1200" dirty="0">
                <a:solidFill>
                  <a:srgbClr val="0070C0"/>
                </a:solidFill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",</a:t>
            </a:r>
          </a:p>
          <a:p>
            <a:r>
              <a:rPr lang="en-US" sz="1200" dirty="0">
                <a:solidFill>
                  <a:srgbClr val="0070C0"/>
                </a:solidFill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    </a:t>
            </a:r>
            <a:r>
              <a:rPr lang="en-US" sz="1200" dirty="0" err="1">
                <a:solidFill>
                  <a:srgbClr val="0070C0"/>
                </a:solidFill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model_name</a:t>
            </a:r>
            <a:r>
              <a:rPr lang="en-US" sz="1200" dirty="0">
                <a:solidFill>
                  <a:srgbClr val="0070C0"/>
                </a:solidFill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="</a:t>
            </a:r>
            <a:r>
              <a:rPr lang="en-US" sz="1200" dirty="0" err="1">
                <a:solidFill>
                  <a:srgbClr val="0070C0"/>
                </a:solidFill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boston_housing_lr</a:t>
            </a:r>
            <a:r>
              <a:rPr lang="en-US" sz="1200" dirty="0">
                <a:solidFill>
                  <a:srgbClr val="0070C0"/>
                </a:solidFill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")</a:t>
            </a:r>
          </a:p>
          <a:p>
            <a:r>
              <a:rPr lang="en-US" sz="1200" dirty="0"/>
              <a:t> </a:t>
            </a:r>
          </a:p>
          <a:p>
            <a:r>
              <a:rPr lang="en-US" sz="1200" dirty="0"/>
              <a:t>Then you can use the second tutorial:</a:t>
            </a:r>
          </a:p>
          <a:p>
            <a:r>
              <a:rPr lang="en-US" sz="1200" dirty="0">
                <a:hlinkClick r:id="rId4"/>
              </a:rPr>
              <a:t>https://docs.microsoft.com/en-us/azure/machine-learning/how-to-deploy-and-where?tabs=azcli#script</a:t>
            </a:r>
            <a:r>
              <a:rPr lang="en-US" sz="1200" dirty="0"/>
              <a:t> </a:t>
            </a:r>
          </a:p>
          <a:p>
            <a:endParaRPr lang="en-US" sz="1200" dirty="0"/>
          </a:p>
          <a:p>
            <a:r>
              <a:rPr lang="en-US" sz="1200" dirty="0"/>
              <a:t>which shows how to deploy the model.</a:t>
            </a:r>
          </a:p>
          <a:p>
            <a:r>
              <a:rPr lang="en-US" sz="1200" dirty="0"/>
              <a:t>For this deployment you will need to write the "</a:t>
            </a:r>
            <a:r>
              <a:rPr lang="en-US" sz="1200" b="1" dirty="0">
                <a:solidFill>
                  <a:srgbClr val="00B050"/>
                </a:solidFill>
              </a:rPr>
              <a:t>entry script</a:t>
            </a:r>
            <a:r>
              <a:rPr lang="en-US" sz="1200" dirty="0"/>
              <a:t>"</a:t>
            </a:r>
          </a:p>
          <a:p>
            <a:r>
              <a:rPr lang="en-US" sz="1200" dirty="0"/>
              <a:t> </a:t>
            </a:r>
          </a:p>
          <a:p>
            <a:r>
              <a:rPr lang="en-US" sz="1200" dirty="0"/>
              <a:t>which has to have two methods: </a:t>
            </a:r>
          </a:p>
          <a:p>
            <a:r>
              <a:rPr lang="en-US" sz="1200" dirty="0"/>
              <a:t>   </a:t>
            </a:r>
            <a:r>
              <a:rPr lang="en-US" sz="1200" b="1" dirty="0" err="1">
                <a:solidFill>
                  <a:srgbClr val="00B050"/>
                </a:solidFill>
              </a:rPr>
              <a:t>init</a:t>
            </a:r>
            <a:r>
              <a:rPr lang="en-US" sz="1200" b="1" dirty="0">
                <a:solidFill>
                  <a:srgbClr val="00B050"/>
                </a:solidFill>
              </a:rPr>
              <a:t>() and run()</a:t>
            </a:r>
          </a:p>
          <a:p>
            <a:r>
              <a:rPr lang="en-US" sz="1200" dirty="0"/>
              <a:t> </a:t>
            </a:r>
          </a:p>
          <a:p>
            <a:r>
              <a:rPr lang="en-US" sz="1200" dirty="0"/>
              <a:t>Once you have this script, you can go to your models (in ML Studio), </a:t>
            </a:r>
          </a:p>
          <a:p>
            <a:r>
              <a:rPr lang="en-US" sz="1200" dirty="0"/>
              <a:t>click on your model, then click on "Deploy" on top, </a:t>
            </a:r>
          </a:p>
          <a:p>
            <a:r>
              <a:rPr lang="en-US" sz="1200" dirty="0"/>
              <a:t>fill-in parameters (name, ... , entry script, ...) - and click the button to deploy it </a:t>
            </a:r>
          </a:p>
        </p:txBody>
      </p:sp>
    </p:spTree>
    <p:extLst>
      <p:ext uri="{BB962C8B-B14F-4D97-AF65-F5344CB8AC3E}">
        <p14:creationId xmlns:p14="http://schemas.microsoft.com/office/powerpoint/2010/main" val="23045177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Box 6">
            <a:extLst>
              <a:ext uri="{FF2B5EF4-FFF2-40B4-BE49-F238E27FC236}">
                <a16:creationId xmlns:a16="http://schemas.microsoft.com/office/drawing/2014/main" id="{7384ECF0-3C64-8241-99B2-0AA612206F2C}"/>
              </a:ext>
            </a:extLst>
          </p:cNvPr>
          <p:cNvSpPr txBox="1"/>
          <p:nvPr/>
        </p:nvSpPr>
        <p:spPr>
          <a:xfrm>
            <a:off x="0" y="58846"/>
            <a:ext cx="11338560" cy="286232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b="1" dirty="0"/>
              <a:t>Azure ML : Some Links</a:t>
            </a:r>
            <a:endParaRPr lang="en-US" sz="1200" dirty="0"/>
          </a:p>
          <a:p>
            <a:endParaRPr lang="en-US" sz="1200" dirty="0"/>
          </a:p>
          <a:p>
            <a:r>
              <a:rPr lang="en-US" sz="1200" dirty="0"/>
              <a:t>Good </a:t>
            </a:r>
            <a:r>
              <a:rPr lang="en-US" sz="1200" dirty="0" err="1"/>
              <a:t>youtube</a:t>
            </a:r>
            <a:r>
              <a:rPr lang="en-US" sz="1200" dirty="0"/>
              <a:t> video "Train and deploy ML models at scale using Azure Machine Learning | INT134C"  - </a:t>
            </a:r>
          </a:p>
          <a:p>
            <a:r>
              <a:rPr lang="en-US" sz="1200" dirty="0"/>
              <a:t>- </a:t>
            </a:r>
            <a:r>
              <a:rPr lang="en-US" sz="1200" u="sng" dirty="0">
                <a:hlinkClick r:id="rId2" tooltip="https://www.youtube.com/watch?v=2ogbxycnvgk"/>
              </a:rPr>
              <a:t>https://www.youtube.com/watch?v=2OgBxYCnVGk</a:t>
            </a:r>
            <a:r>
              <a:rPr lang="en-US" sz="1200" dirty="0"/>
              <a:t> </a:t>
            </a:r>
          </a:p>
          <a:p>
            <a:endParaRPr lang="en-US" sz="1200" dirty="0"/>
          </a:p>
          <a:p>
            <a:r>
              <a:rPr lang="en-US" sz="1200" dirty="0"/>
              <a:t>And here is the link from this video to a good 10-hrs course: "Build AI solutions with Azure Machine Learning" - 10 </a:t>
            </a:r>
            <a:r>
              <a:rPr lang="en-US" sz="1200" dirty="0" err="1"/>
              <a:t>hrs</a:t>
            </a:r>
            <a:r>
              <a:rPr lang="en-US" sz="1200" dirty="0"/>
              <a:t> - </a:t>
            </a:r>
            <a:br>
              <a:rPr lang="en-US" sz="1200" dirty="0"/>
            </a:br>
            <a:r>
              <a:rPr lang="en-US" sz="1200" dirty="0"/>
              <a:t> - </a:t>
            </a:r>
            <a:r>
              <a:rPr lang="en-US" sz="1200" u="sng" dirty="0">
                <a:hlinkClick r:id="rId3" tooltip="https://docs.microsoft.com/en-us/learn/paths/build-ai-solutions-with-azure-ml-service/"/>
              </a:rPr>
              <a:t>https://docs.microsoft.com/en-us/learn/paths/build-ai-solutions-with-azure-ml-service/</a:t>
            </a:r>
            <a:endParaRPr lang="en-US" sz="1200" dirty="0"/>
          </a:p>
          <a:p>
            <a:endParaRPr lang="en-US" sz="1200" dirty="0"/>
          </a:p>
          <a:p>
            <a:r>
              <a:rPr lang="en-US" sz="1200" dirty="0"/>
              <a:t>Yet another good tutorial - "Creating End-to-End </a:t>
            </a:r>
            <a:r>
              <a:rPr lang="en-US" sz="1200" dirty="0" err="1"/>
              <a:t>MLOps</a:t>
            </a:r>
            <a:r>
              <a:rPr lang="en-US" sz="1200" dirty="0"/>
              <a:t> pipelines:</a:t>
            </a:r>
            <a:br>
              <a:rPr lang="en-US" sz="1200" dirty="0"/>
            </a:br>
            <a:r>
              <a:rPr lang="en-US" sz="1200" dirty="0"/>
              <a:t> - </a:t>
            </a:r>
            <a:r>
              <a:rPr lang="en-US" sz="1200" u="sng" dirty="0">
                <a:hlinkClick r:id="rId4"/>
              </a:rPr>
              <a:t>https://benalexkeen.com/creating-end-to-end-mlops-pipelines-using-azure-ml-and-azure-pipelines-part-1/</a:t>
            </a:r>
            <a:endParaRPr lang="en-US" sz="1200" dirty="0"/>
          </a:p>
          <a:p>
            <a:endParaRPr lang="en-US" sz="1200" dirty="0"/>
          </a:p>
          <a:p>
            <a:r>
              <a:rPr lang="en-US" sz="1200" dirty="0"/>
              <a:t>Also:</a:t>
            </a:r>
          </a:p>
          <a:p>
            <a:r>
              <a:rPr lang="en-US" sz="1200" dirty="0">
                <a:hlinkClick r:id="rId5"/>
              </a:rPr>
              <a:t>https://docs.microsoft.com/en-us/azure/machine-learning/</a:t>
            </a:r>
            <a:r>
              <a:rPr lang="en-US" sz="1200" dirty="0"/>
              <a:t> </a:t>
            </a:r>
          </a:p>
          <a:p>
            <a:endParaRPr lang="en-US" sz="1200" dirty="0"/>
          </a:p>
        </p:txBody>
      </p:sp>
    </p:spTree>
    <p:extLst>
      <p:ext uri="{BB962C8B-B14F-4D97-AF65-F5344CB8AC3E}">
        <p14:creationId xmlns:p14="http://schemas.microsoft.com/office/powerpoint/2010/main" val="2218277181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Box 6">
            <a:extLst>
              <a:ext uri="{FF2B5EF4-FFF2-40B4-BE49-F238E27FC236}">
                <a16:creationId xmlns:a16="http://schemas.microsoft.com/office/drawing/2014/main" id="{7384ECF0-3C64-8241-99B2-0AA612206F2C}"/>
              </a:ext>
            </a:extLst>
          </p:cNvPr>
          <p:cNvSpPr txBox="1"/>
          <p:nvPr/>
        </p:nvSpPr>
        <p:spPr>
          <a:xfrm>
            <a:off x="0" y="58846"/>
            <a:ext cx="11338560" cy="563231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b="1" dirty="0"/>
              <a:t>Azure ML : More Links</a:t>
            </a:r>
            <a:endParaRPr lang="en-US" sz="1200" dirty="0"/>
          </a:p>
          <a:p>
            <a:endParaRPr lang="en-US" sz="1200" dirty="0"/>
          </a:p>
          <a:p>
            <a:r>
              <a:rPr lang="en-US" sz="1200" dirty="0"/>
              <a:t>Google-</a:t>
            </a:r>
            <a:r>
              <a:rPr lang="en-US" sz="1200" dirty="0" err="1"/>
              <a:t>ing</a:t>
            </a:r>
            <a:r>
              <a:rPr lang="en-US" sz="1200" dirty="0"/>
              <a:t> mount datastore azure ml notebook - </a:t>
            </a:r>
          </a:p>
          <a:p>
            <a:r>
              <a:rPr lang="en-US" sz="1200" dirty="0"/>
              <a:t> - </a:t>
            </a:r>
            <a:r>
              <a:rPr lang="en-US" sz="1200" u="sng" dirty="0">
                <a:hlinkClick r:id="rId2"/>
              </a:rPr>
              <a:t>https://github.com/microsoft/MLOpsPython</a:t>
            </a:r>
            <a:r>
              <a:rPr lang="en-US" sz="1200" dirty="0"/>
              <a:t> </a:t>
            </a:r>
          </a:p>
          <a:p>
            <a:r>
              <a:rPr lang="en-US" sz="1200" dirty="0"/>
              <a:t> - </a:t>
            </a:r>
            <a:r>
              <a:rPr lang="en-US" sz="1200" u="sng" dirty="0">
                <a:hlinkClick r:id="rId3"/>
              </a:rPr>
              <a:t>https://docs.microsoft.com/en-us/python/api/azureml-core/azureml.core.datastore?view=azure-ml-py</a:t>
            </a:r>
            <a:endParaRPr lang="en-US" sz="1200" dirty="0"/>
          </a:p>
          <a:p>
            <a:endParaRPr lang="en-US" sz="1200" dirty="0"/>
          </a:p>
          <a:p>
            <a:r>
              <a:rPr lang="en-US" sz="1200" dirty="0"/>
              <a:t>Develop for Azure Files with Python - </a:t>
            </a:r>
          </a:p>
          <a:p>
            <a:r>
              <a:rPr lang="en-US" sz="1200" dirty="0"/>
              <a:t> - </a:t>
            </a:r>
            <a:r>
              <a:rPr lang="en-US" sz="1200" u="sng" dirty="0">
                <a:hlinkClick r:id="rId4"/>
              </a:rPr>
              <a:t>https://docs.microsoft.com/en-us/azure/storage/files/storage-python-how-to-use-file-storage</a:t>
            </a:r>
            <a:endParaRPr lang="en-US" sz="1200" dirty="0"/>
          </a:p>
          <a:p>
            <a:endParaRPr lang="en-US" sz="1200" dirty="0"/>
          </a:p>
          <a:p>
            <a:r>
              <a:rPr lang="en-US" sz="1200" dirty="0"/>
              <a:t>Azure for Python Developers - </a:t>
            </a:r>
          </a:p>
          <a:p>
            <a:r>
              <a:rPr lang="en-US" sz="1200" dirty="0"/>
              <a:t> - </a:t>
            </a:r>
            <a:r>
              <a:rPr lang="en-US" sz="1200" u="sng" dirty="0">
                <a:hlinkClick r:id="rId5"/>
              </a:rPr>
              <a:t>https://docs.microsoft.com/en-us/azure/developer/python/</a:t>
            </a:r>
            <a:r>
              <a:rPr lang="en-US" sz="1200" dirty="0"/>
              <a:t> </a:t>
            </a:r>
          </a:p>
          <a:p>
            <a:endParaRPr lang="en-US" sz="1200" dirty="0"/>
          </a:p>
          <a:p>
            <a:r>
              <a:rPr lang="en-US" sz="1200" dirty="0"/>
              <a:t>Azure REST API Reference - </a:t>
            </a:r>
          </a:p>
          <a:p>
            <a:r>
              <a:rPr lang="en-US" sz="1200" dirty="0"/>
              <a:t> - </a:t>
            </a:r>
            <a:r>
              <a:rPr lang="en-US" sz="1200" u="sng" dirty="0">
                <a:hlinkClick r:id="rId6"/>
              </a:rPr>
              <a:t>https://docs.microsoft.com/en-us/rest/api/azure/</a:t>
            </a:r>
            <a:endParaRPr lang="en-US" sz="1200" dirty="0"/>
          </a:p>
          <a:p>
            <a:endParaRPr lang="en-US" sz="1200" dirty="0"/>
          </a:p>
          <a:p>
            <a:r>
              <a:rPr lang="en-US" sz="1200" dirty="0"/>
              <a:t>Azure SDK for Python - </a:t>
            </a:r>
          </a:p>
          <a:p>
            <a:r>
              <a:rPr lang="en-US" sz="1200" dirty="0"/>
              <a:t> - </a:t>
            </a:r>
            <a:r>
              <a:rPr lang="en-US" sz="1200" u="sng" dirty="0">
                <a:hlinkClick r:id="rId7"/>
              </a:rPr>
              <a:t>https://github.com/Azure/azure-sdk-for-python/tree/master/sdk/storage</a:t>
            </a:r>
            <a:endParaRPr lang="en-US" sz="1200" dirty="0"/>
          </a:p>
          <a:p>
            <a:r>
              <a:rPr lang="en-US" sz="1200" dirty="0"/>
              <a:t> - </a:t>
            </a:r>
            <a:r>
              <a:rPr lang="en-US" sz="1200" u="sng" dirty="0">
                <a:hlinkClick r:id="rId8"/>
              </a:rPr>
              <a:t>https://docs.microsoft.com/en-us/python/api/overview/azure/ml/?view=azure-ml-py</a:t>
            </a:r>
            <a:r>
              <a:rPr lang="en-US" sz="1200" dirty="0"/>
              <a:t> – </a:t>
            </a:r>
          </a:p>
          <a:p>
            <a:endParaRPr lang="en-US" sz="1200" dirty="0"/>
          </a:p>
          <a:p>
            <a:r>
              <a:rPr lang="en-US" sz="1200" dirty="0"/>
              <a:t>Azure SDK – trigger published pipeline - </a:t>
            </a:r>
          </a:p>
          <a:p>
            <a:r>
              <a:rPr lang="en-US" sz="1200" dirty="0"/>
              <a:t> - </a:t>
            </a:r>
            <a:r>
              <a:rPr lang="en-US" sz="1200" dirty="0">
                <a:hlinkClick r:id="rId9"/>
              </a:rPr>
              <a:t>https://docs.microsoft.com/en-us/azure/machine-learning/how-to-trigger-published-pipeline#trigger-pipelines-with-azure-machine-learning-sdk-for-python</a:t>
            </a:r>
            <a:r>
              <a:rPr lang="en-US" sz="1200" dirty="0"/>
              <a:t> –</a:t>
            </a:r>
          </a:p>
          <a:p>
            <a:endParaRPr lang="en-US" sz="1200" dirty="0"/>
          </a:p>
          <a:p>
            <a:r>
              <a:rPr lang="en-US" sz="1200" dirty="0"/>
              <a:t>Automate ML Experiments</a:t>
            </a:r>
          </a:p>
          <a:p>
            <a:r>
              <a:rPr lang="en-US" sz="1200" dirty="0"/>
              <a:t> - </a:t>
            </a:r>
            <a:r>
              <a:rPr lang="en-US" sz="1200" dirty="0">
                <a:hlinkClick r:id="rId10"/>
              </a:rPr>
              <a:t>https://docs.microsoft.com/en-us/azure/machine-learning/how-to-use-automlstep-in-pipelines</a:t>
            </a:r>
            <a:r>
              <a:rPr lang="en-US" sz="1200" dirty="0"/>
              <a:t> - </a:t>
            </a:r>
          </a:p>
          <a:p>
            <a:r>
              <a:rPr lang="en-US" sz="1200" dirty="0"/>
              <a:t> - </a:t>
            </a:r>
            <a:r>
              <a:rPr lang="en-US" sz="1200" dirty="0">
                <a:hlinkClick r:id="rId11"/>
              </a:rPr>
              <a:t>https://towardsdatascience.com/hidden-tricks-for-running-automl-experiment-from-azure-machine-learning-sdk-915d4e3f840e</a:t>
            </a:r>
            <a:r>
              <a:rPr lang="en-US" sz="1200" dirty="0"/>
              <a:t> - </a:t>
            </a:r>
          </a:p>
          <a:p>
            <a:endParaRPr lang="en-US" sz="1200" dirty="0"/>
          </a:p>
          <a:p>
            <a:r>
              <a:rPr lang="en-US" sz="1200" dirty="0"/>
              <a:t>Understand </a:t>
            </a:r>
            <a:r>
              <a:rPr lang="en-US" sz="1200" dirty="0" err="1"/>
              <a:t>AutoML</a:t>
            </a:r>
            <a:endParaRPr lang="en-US" sz="1200" dirty="0"/>
          </a:p>
          <a:p>
            <a:r>
              <a:rPr lang="en-US" sz="1200" dirty="0"/>
              <a:t> - </a:t>
            </a:r>
            <a:r>
              <a:rPr lang="en-US" sz="1200" dirty="0">
                <a:hlinkClick r:id="rId12"/>
              </a:rPr>
              <a:t>https://docs.microsoft.com/en-us/azure/machine-learning/how-to-understand-automated-ml#regressionforecasting-metrics</a:t>
            </a:r>
            <a:r>
              <a:rPr lang="en-US" sz="1200" dirty="0"/>
              <a:t> - </a:t>
            </a:r>
          </a:p>
          <a:p>
            <a:r>
              <a:rPr lang="en-US" sz="1200" dirty="0"/>
              <a:t> - </a:t>
            </a:r>
            <a:r>
              <a:rPr lang="en-US" sz="1200" dirty="0">
                <a:hlinkClick r:id="rId13"/>
              </a:rPr>
              <a:t>https://docs.microsoft.com/en-us/azure/machine-learning/how-to-configure-auto-train#primary-metric</a:t>
            </a:r>
            <a:r>
              <a:rPr lang="en-US" sz="1200" dirty="0"/>
              <a:t> - </a:t>
            </a:r>
          </a:p>
        </p:txBody>
      </p:sp>
    </p:spTree>
    <p:extLst>
      <p:ext uri="{BB962C8B-B14F-4D97-AF65-F5344CB8AC3E}">
        <p14:creationId xmlns:p14="http://schemas.microsoft.com/office/powerpoint/2010/main" val="927318114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Box 6">
            <a:extLst>
              <a:ext uri="{FF2B5EF4-FFF2-40B4-BE49-F238E27FC236}">
                <a16:creationId xmlns:a16="http://schemas.microsoft.com/office/drawing/2014/main" id="{0F24A4CB-AFAA-7F41-BCCE-3BB4D32B9131}"/>
              </a:ext>
            </a:extLst>
          </p:cNvPr>
          <p:cNvSpPr txBox="1"/>
          <p:nvPr/>
        </p:nvSpPr>
        <p:spPr>
          <a:xfrm>
            <a:off x="0" y="316992"/>
            <a:ext cx="12094464" cy="560153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b="1" dirty="0"/>
              <a:t>Azure Synapse Analytics and AI</a:t>
            </a:r>
            <a:r>
              <a:rPr lang="en-US" sz="1200" dirty="0"/>
              <a:t> </a:t>
            </a:r>
          </a:p>
          <a:p>
            <a:r>
              <a:rPr lang="en-US" sz="1200" dirty="0"/>
              <a:t>(MCW = Microsoft Cloud Workshop) - </a:t>
            </a:r>
            <a:r>
              <a:rPr lang="en-US" sz="1200" dirty="0">
                <a:hlinkClick r:id="rId2"/>
              </a:rPr>
              <a:t>https://github.com/microsoft/MCW-Azure-Synapse-Analytics-and-AI</a:t>
            </a:r>
            <a:r>
              <a:rPr lang="en-US" sz="1200" dirty="0"/>
              <a:t> </a:t>
            </a:r>
          </a:p>
          <a:p>
            <a:r>
              <a:rPr lang="en-US" sz="1200" dirty="0"/>
              <a:t>Log-in to the Azure portal </a:t>
            </a:r>
            <a:r>
              <a:rPr lang="en-US" sz="1200" dirty="0">
                <a:hlinkClick r:id="rId3"/>
              </a:rPr>
              <a:t>https://portal.azure.com/</a:t>
            </a:r>
            <a:r>
              <a:rPr lang="en-US" sz="1200" dirty="0"/>
              <a:t> with provided credentials</a:t>
            </a:r>
          </a:p>
          <a:p>
            <a:r>
              <a:rPr lang="en-US" sz="1200" dirty="0"/>
              <a:t>Note - use incognito mode in Chrome, allow all cookies, stop all ad-blockers</a:t>
            </a:r>
          </a:p>
          <a:p>
            <a:r>
              <a:rPr lang="en-US" sz="1200" dirty="0"/>
              <a:t>Lab step-by-step here: </a:t>
            </a:r>
            <a:r>
              <a:rPr lang="en-US" sz="1000" dirty="0">
                <a:hlinkClick r:id="rId4"/>
              </a:rPr>
              <a:t>https://github.com/microsoft/MCW-Azure-Synapse-Analytics-and-AI/blob/master/Hands-on%20lab/HOL%20step-by%20step%20-%20Azure%20Synapse%20Analytics%20and%20AI.md</a:t>
            </a:r>
            <a:r>
              <a:rPr lang="en-US" sz="1200" dirty="0"/>
              <a:t> </a:t>
            </a:r>
          </a:p>
          <a:p>
            <a:endParaRPr lang="en-US" sz="1200" dirty="0"/>
          </a:p>
          <a:p>
            <a:r>
              <a:rPr lang="en-US" sz="1200" dirty="0"/>
              <a:t>Notes:</a:t>
            </a:r>
          </a:p>
          <a:p>
            <a:r>
              <a:rPr lang="en-US" sz="1200" dirty="0"/>
              <a:t>Three similar serverless solutions: Azure Serverless, Google </a:t>
            </a:r>
            <a:r>
              <a:rPr lang="en-US" sz="1200" dirty="0" err="1"/>
              <a:t>BigQuery</a:t>
            </a:r>
            <a:r>
              <a:rPr lang="en-US" sz="1200" dirty="0"/>
              <a:t>, AWS Athena. - </a:t>
            </a:r>
          </a:p>
          <a:p>
            <a:r>
              <a:rPr lang="en-US" sz="1200" dirty="0"/>
              <a:t>Best practices for serverless SQL pool: </a:t>
            </a:r>
            <a:r>
              <a:rPr lang="en-US" sz="1000" dirty="0">
                <a:hlinkClick r:id="rId5"/>
              </a:rPr>
              <a:t>https://docs.microsoft.com/en-us/azure/synapse-analytics/sql/best-practices-sql-on-demand</a:t>
            </a:r>
            <a:r>
              <a:rPr lang="en-US" sz="1000" dirty="0"/>
              <a:t> </a:t>
            </a:r>
          </a:p>
          <a:p>
            <a:r>
              <a:rPr lang="en-US" sz="1200" dirty="0"/>
              <a:t>Capacity limits for dedicated SQL pool in Azure Synapse Analytics: </a:t>
            </a:r>
            <a:r>
              <a:rPr lang="en-US" sz="1000" dirty="0">
                <a:hlinkClick r:id="rId6"/>
              </a:rPr>
              <a:t>https://docs.microsoft.com/en-us/azure/synapse-analytics/sql-data-warehouse/sql-data-warehouse-service-capacity-limits</a:t>
            </a:r>
            <a:r>
              <a:rPr lang="en-US" sz="1000" dirty="0"/>
              <a:t> </a:t>
            </a:r>
          </a:p>
          <a:p>
            <a:r>
              <a:rPr lang="en-US" sz="1200" dirty="0"/>
              <a:t>================================</a:t>
            </a:r>
          </a:p>
          <a:p>
            <a:r>
              <a:rPr lang="en-US" sz="1200" dirty="0"/>
              <a:t>REST APIs for dedicated SQL pool (formerly SQL DW) in Azure Synapse Analytics: </a:t>
            </a:r>
            <a:r>
              <a:rPr lang="en-US" sz="1000" dirty="0">
                <a:hlinkClick r:id="rId7"/>
              </a:rPr>
              <a:t>https://docs.microsoft.com/en-us/azure/synapse-analytics/sql-data-warehouse/sql-data-warehouse-manage-compute-rest-api</a:t>
            </a:r>
            <a:r>
              <a:rPr lang="en-US" sz="1000" dirty="0"/>
              <a:t> </a:t>
            </a:r>
          </a:p>
          <a:p>
            <a:r>
              <a:rPr lang="en-US" sz="1200" dirty="0"/>
              <a:t>What is Automated ML: </a:t>
            </a:r>
            <a:r>
              <a:rPr lang="en-US" sz="1000" dirty="0">
                <a:hlinkClick r:id="rId8"/>
              </a:rPr>
              <a:t>https://docs.microsoft.com/en-us/azure/machine-learning/concept-automated-ml</a:t>
            </a:r>
            <a:r>
              <a:rPr lang="en-US" sz="1200" dirty="0"/>
              <a:t> </a:t>
            </a:r>
          </a:p>
          <a:p>
            <a:r>
              <a:rPr lang="en-US" sz="1200" dirty="0"/>
              <a:t>Many Models Solution Accelerator: </a:t>
            </a:r>
            <a:r>
              <a:rPr lang="en-US" sz="1000" dirty="0">
                <a:hlinkClick r:id="rId9"/>
              </a:rPr>
              <a:t>https://github.com/microsoft/solution-accelerator-many-models</a:t>
            </a:r>
            <a:r>
              <a:rPr lang="en-US" sz="1200" dirty="0"/>
              <a:t> </a:t>
            </a:r>
          </a:p>
          <a:p>
            <a:r>
              <a:rPr lang="en-US" sz="1200" dirty="0"/>
              <a:t>Machine Learning Workshop: </a:t>
            </a:r>
            <a:r>
              <a:rPr lang="en-US" sz="1200" dirty="0">
                <a:hlinkClick r:id="rId10"/>
              </a:rPr>
              <a:t>https://github.com/microsoft/MCW-Machine-Learning</a:t>
            </a:r>
            <a:r>
              <a:rPr lang="en-US" sz="1200" dirty="0"/>
              <a:t> </a:t>
            </a:r>
          </a:p>
          <a:p>
            <a:r>
              <a:rPr lang="en-US" sz="1200" dirty="0"/>
              <a:t>ML Ops Workshop: </a:t>
            </a:r>
            <a:r>
              <a:rPr lang="en-US" sz="1200" dirty="0">
                <a:hlinkClick r:id="rId11"/>
              </a:rPr>
              <a:t>https://github.com/microsoft/MCW-ML-Ops</a:t>
            </a:r>
            <a:r>
              <a:rPr lang="en-US" sz="1200" dirty="0"/>
              <a:t> </a:t>
            </a:r>
          </a:p>
          <a:p>
            <a:r>
              <a:rPr lang="en-US" sz="1200" dirty="0"/>
              <a:t>Configure automated ML experiments in Python: </a:t>
            </a:r>
            <a:r>
              <a:rPr lang="en-US" sz="1200" dirty="0">
                <a:hlinkClick r:id="rId12"/>
              </a:rPr>
              <a:t>https://docs.microsoft.com/en-us/azure/machine-learning/how-to-configure-auto-train</a:t>
            </a:r>
            <a:r>
              <a:rPr lang="en-US" sz="1200" dirty="0"/>
              <a:t> </a:t>
            </a:r>
          </a:p>
          <a:p>
            <a:r>
              <a:rPr lang="en-US" sz="1200" dirty="0"/>
              <a:t>Trained Model can be registered in SQL as a function ! Recommended approach: pickle file of the model, convert to ONNX, use it from SQL server: </a:t>
            </a:r>
            <a:br>
              <a:rPr lang="en-US" sz="1200" dirty="0"/>
            </a:br>
            <a:r>
              <a:rPr lang="en-US" sz="1200" dirty="0"/>
              <a:t>   https://</a:t>
            </a:r>
            <a:r>
              <a:rPr lang="en-US" sz="1200" dirty="0" err="1"/>
              <a:t>docs.microsoft.com</a:t>
            </a:r>
            <a:r>
              <a:rPr lang="en-US" sz="1200" dirty="0"/>
              <a:t>/</a:t>
            </a:r>
            <a:r>
              <a:rPr lang="en-US" sz="1200" dirty="0" err="1"/>
              <a:t>en</a:t>
            </a:r>
            <a:r>
              <a:rPr lang="en-US" sz="1200" dirty="0"/>
              <a:t>-us/azure/synapse-analytics/</a:t>
            </a:r>
            <a:r>
              <a:rPr lang="en-US" sz="1200" dirty="0" err="1"/>
              <a:t>sql</a:t>
            </a:r>
            <a:r>
              <a:rPr lang="en-US" sz="1200" dirty="0"/>
              <a:t>-data-warehouse/</a:t>
            </a:r>
            <a:r>
              <a:rPr lang="en-US" sz="1200" dirty="0" err="1"/>
              <a:t>sql</a:t>
            </a:r>
            <a:r>
              <a:rPr lang="en-US" sz="1200" dirty="0"/>
              <a:t>-data-warehouse-predict</a:t>
            </a:r>
          </a:p>
          <a:p>
            <a:r>
              <a:rPr lang="en-US" sz="1200" dirty="0"/>
              <a:t>Alternatively - create a stored procedure to get the data - and then invoke model via cursor</a:t>
            </a:r>
          </a:p>
          <a:p>
            <a:r>
              <a:rPr lang="en-US" sz="1200" dirty="0"/>
              <a:t>Also the model may be invoked via REST API endpoint.</a:t>
            </a:r>
          </a:p>
          <a:p>
            <a:r>
              <a:rPr lang="en-US" sz="1200" dirty="0"/>
              <a:t>Invoke model from </a:t>
            </a:r>
            <a:r>
              <a:rPr lang="en-US" sz="1200" dirty="0" err="1"/>
              <a:t>PowerBI</a:t>
            </a:r>
            <a:r>
              <a:rPr lang="en-US" sz="1200" dirty="0"/>
              <a:t>: </a:t>
            </a:r>
            <a:r>
              <a:rPr lang="en-US" sz="1200" dirty="0">
                <a:hlinkClick r:id="rId13"/>
              </a:rPr>
              <a:t>https://github.com/alex-nogue/Machine_Learning_in_Power_BI#invoke-a-model-in-power-bi-using-azure-ml-service</a:t>
            </a:r>
            <a:r>
              <a:rPr lang="en-US" sz="1200" dirty="0"/>
              <a:t> </a:t>
            </a:r>
          </a:p>
          <a:p>
            <a:r>
              <a:rPr lang="en-US" sz="1200" dirty="0"/>
              <a:t>3 Ways to Run ML on SQL Server (ML Service, native PREDICT, and Remote Compute Context): </a:t>
            </a:r>
            <a:r>
              <a:rPr lang="en-US" sz="1200" dirty="0">
                <a:hlinkClick r:id="rId14"/>
              </a:rPr>
              <a:t>https://tsmatz.wordpress.com/2018/03/02/patterns-sql-server-machine-learning-services-r-and-python/</a:t>
            </a:r>
            <a:r>
              <a:rPr lang="en-US" sz="1200" dirty="0"/>
              <a:t> </a:t>
            </a:r>
          </a:p>
          <a:p>
            <a:r>
              <a:rPr lang="en-US" sz="1200" dirty="0"/>
              <a:t>Azure Machine Learning Tutorials: </a:t>
            </a:r>
            <a:r>
              <a:rPr lang="en-US" sz="1200" dirty="0">
                <a:hlinkClick r:id="rId15"/>
              </a:rPr>
              <a:t>https://github.com/Azure/MachineLearningNotebooks/tree/master/tutorials</a:t>
            </a:r>
            <a:r>
              <a:rPr lang="en-US" sz="1200" dirty="0"/>
              <a:t>  - </a:t>
            </a:r>
          </a:p>
          <a:p>
            <a:r>
              <a:rPr lang="en-US" sz="1200" dirty="0"/>
              <a:t> - </a:t>
            </a:r>
          </a:p>
          <a:p>
            <a:r>
              <a:rPr lang="en-US" sz="1200" dirty="0"/>
              <a:t> - </a:t>
            </a:r>
          </a:p>
          <a:p>
            <a:r>
              <a:rPr lang="en-US" sz="1200" dirty="0"/>
              <a:t> - </a:t>
            </a:r>
          </a:p>
          <a:p>
            <a:r>
              <a:rPr lang="en-US" sz="1200" dirty="0"/>
              <a:t> - </a:t>
            </a:r>
          </a:p>
        </p:txBody>
      </p:sp>
    </p:spTree>
    <p:extLst>
      <p:ext uri="{BB962C8B-B14F-4D97-AF65-F5344CB8AC3E}">
        <p14:creationId xmlns:p14="http://schemas.microsoft.com/office/powerpoint/2010/main" val="4065544429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Box 6">
            <a:extLst>
              <a:ext uri="{FF2B5EF4-FFF2-40B4-BE49-F238E27FC236}">
                <a16:creationId xmlns:a16="http://schemas.microsoft.com/office/drawing/2014/main" id="{E6D09084-6DFA-8E43-8E28-6E16628E7670}"/>
              </a:ext>
            </a:extLst>
          </p:cNvPr>
          <p:cNvSpPr txBox="1"/>
          <p:nvPr/>
        </p:nvSpPr>
        <p:spPr>
          <a:xfrm>
            <a:off x="463296" y="316992"/>
            <a:ext cx="11167872" cy="15696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dirty="0"/>
              <a:t>More Links:</a:t>
            </a:r>
          </a:p>
          <a:p>
            <a:endParaRPr lang="en-US" sz="1200" dirty="0"/>
          </a:p>
          <a:p>
            <a:r>
              <a:rPr lang="en-US" sz="1200" dirty="0"/>
              <a:t>Download Integration Runtime: </a:t>
            </a:r>
            <a:r>
              <a:rPr lang="en-US" sz="1200" dirty="0">
                <a:hlinkClick r:id="rId2"/>
              </a:rPr>
              <a:t>https://www.microsoft.com/en-us/download/details.aspx?id=39717</a:t>
            </a:r>
            <a:r>
              <a:rPr lang="en-US" sz="1200" dirty="0"/>
              <a:t> - </a:t>
            </a:r>
          </a:p>
          <a:p>
            <a:r>
              <a:rPr lang="en-US" sz="1200" dirty="0"/>
              <a:t>Download </a:t>
            </a:r>
            <a:r>
              <a:rPr lang="en-US" sz="1200" dirty="0" err="1"/>
              <a:t>AZCopy</a:t>
            </a:r>
            <a:r>
              <a:rPr lang="en-US" sz="1200" dirty="0"/>
              <a:t>: </a:t>
            </a:r>
            <a:r>
              <a:rPr lang="en-US" sz="1200" dirty="0">
                <a:hlinkClick r:id="rId3"/>
              </a:rPr>
              <a:t>https://docs.microsoft.com/en-us/azure/storage/common/storage-use-azcopy-v10</a:t>
            </a:r>
            <a:r>
              <a:rPr lang="en-US" sz="1200" dirty="0"/>
              <a:t> - </a:t>
            </a:r>
          </a:p>
          <a:p>
            <a:r>
              <a:rPr lang="en-US" sz="1200" dirty="0" err="1"/>
              <a:t>AZCopy</a:t>
            </a:r>
            <a:r>
              <a:rPr lang="en-US" sz="1200" dirty="0"/>
              <a:t> Documentation: </a:t>
            </a:r>
            <a:r>
              <a:rPr lang="en-US" sz="1200" dirty="0">
                <a:hlinkClick r:id="rId4"/>
              </a:rPr>
              <a:t>https://docs.microsoft.com/en-us/azure/storage/common/storage-ref-azcopy-copy</a:t>
            </a:r>
            <a:r>
              <a:rPr lang="en-US" sz="1200" dirty="0"/>
              <a:t> - </a:t>
            </a:r>
          </a:p>
          <a:p>
            <a:r>
              <a:rPr lang="en-US" sz="1200" dirty="0"/>
              <a:t>Transfer S3 using </a:t>
            </a:r>
            <a:r>
              <a:rPr lang="en-US" sz="1200" dirty="0" err="1"/>
              <a:t>AzCopy</a:t>
            </a:r>
            <a:r>
              <a:rPr lang="en-US" sz="1200" dirty="0"/>
              <a:t>: </a:t>
            </a:r>
            <a:r>
              <a:rPr lang="en-US" sz="1200" dirty="0">
                <a:hlinkClick r:id="rId5"/>
              </a:rPr>
              <a:t>https://docs.microsoft.com/en-us/azure/storage/common/storage-use-azcopy-s3</a:t>
            </a:r>
            <a:r>
              <a:rPr lang="en-US" sz="1200" dirty="0"/>
              <a:t> - </a:t>
            </a:r>
          </a:p>
          <a:p>
            <a:r>
              <a:rPr lang="en-US" sz="1200" dirty="0"/>
              <a:t>Differences between Standard and Premium storage: </a:t>
            </a:r>
            <a:r>
              <a:rPr lang="en-US" sz="1000" dirty="0">
                <a:hlinkClick r:id="rId6"/>
              </a:rPr>
              <a:t>https://www.danielstocker.net/what-is-the-difference-between-azure-standard-storage-and-azure-premium-storage/</a:t>
            </a:r>
            <a:r>
              <a:rPr lang="en-US" sz="1200" dirty="0"/>
              <a:t> - </a:t>
            </a:r>
          </a:p>
          <a:p>
            <a:r>
              <a:rPr lang="en-US" sz="1200" dirty="0"/>
              <a:t> - 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AD6F75D9-FF22-714C-8ECB-FD844B7B1C37}"/>
              </a:ext>
            </a:extLst>
          </p:cNvPr>
          <p:cNvSpPr txBox="1"/>
          <p:nvPr/>
        </p:nvSpPr>
        <p:spPr>
          <a:xfrm>
            <a:off x="463296" y="2548128"/>
            <a:ext cx="10106092" cy="246221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More links about deploying ML models &amp; pipelines</a:t>
            </a:r>
          </a:p>
          <a:p>
            <a:endParaRPr lang="en-US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>
                <a:hlinkClick r:id="rId7"/>
              </a:rPr>
              <a:t>https://azure.microsoft.com/en-us/blog/retraining-and-updating-azure-machine-learning-models-with-azure-data-factory/</a:t>
            </a:r>
            <a:r>
              <a:rPr lang="en-US" dirty="0"/>
              <a:t>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>
                <a:hlinkClick r:id="rId8"/>
              </a:rPr>
              <a:t>https://azure.microsoft.com/en-us/blog/azure-data-factory-updates-integration-with-azure-machine-learning-2/</a:t>
            </a:r>
            <a:r>
              <a:rPr lang="en-US" dirty="0"/>
              <a:t>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>
                <a:hlinkClick r:id="rId9"/>
              </a:rPr>
              <a:t>https://docs.microsoft.com/en-us/azure///data-factory/transform-data-machine-learning-service</a:t>
            </a:r>
            <a:r>
              <a:rPr lang="en-US" dirty="0"/>
              <a:t>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>
                <a:hlinkClick r:id="rId10"/>
              </a:rPr>
              <a:t>https://docs.microsoft.com/en-us/azure/machine-learning/tutorial-pipeline-batch-scoring-classification</a:t>
            </a:r>
            <a:r>
              <a:rPr lang="en-US" dirty="0"/>
              <a:t>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>
                <a:hlinkClick r:id="rId11"/>
              </a:rPr>
              <a:t>https://www.youtube.com/watch?v=lVP7ywRq8p4</a:t>
            </a:r>
            <a:r>
              <a:rPr lang="en-US" dirty="0"/>
              <a:t>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>
                <a:hlinkClick r:id="rId12"/>
              </a:rPr>
              <a:t>https://www.youtube.com/watch?v=7k4XvM4wd0k</a:t>
            </a:r>
            <a:endParaRPr lang="en-US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>
                <a:hlinkClick r:id="rId13"/>
              </a:rPr>
              <a:t>https://docs.microsoft.com/en-us/azure/machine-learning/</a:t>
            </a:r>
            <a:r>
              <a:rPr lang="en-US" dirty="0"/>
              <a:t>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>
                <a:hlinkClick r:id="rId14"/>
              </a:rPr>
              <a:t>https://docs.microsoft.com/en-us/learn/paths/build-ai-solutions-with-azure-ml-service/</a:t>
            </a:r>
            <a:endParaRPr lang="en-US" dirty="0"/>
          </a:p>
          <a:p>
            <a:r>
              <a:rPr lang="en-US" dirty="0"/>
              <a:t>-</a:t>
            </a:r>
          </a:p>
        </p:txBody>
      </p:sp>
    </p:spTree>
    <p:extLst>
      <p:ext uri="{BB962C8B-B14F-4D97-AF65-F5344CB8AC3E}">
        <p14:creationId xmlns:p14="http://schemas.microsoft.com/office/powerpoint/2010/main" val="3933402047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3352</TotalTime>
  <Words>1932</Words>
  <Application>Microsoft Macintosh PowerPoint</Application>
  <PresentationFormat>Widescreen</PresentationFormat>
  <Paragraphs>216</Paragraphs>
  <Slides>10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8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9" baseType="lpstr">
      <vt:lpstr>Arial</vt:lpstr>
      <vt:lpstr>Calibri</vt:lpstr>
      <vt:lpstr>Menlo</vt:lpstr>
      <vt:lpstr>Segoe Semibold</vt:lpstr>
      <vt:lpstr>Segoe UI</vt:lpstr>
      <vt:lpstr>Segoe UI Semibold</vt:lpstr>
      <vt:lpstr>Segoe UI Semilight</vt:lpstr>
      <vt:lpstr>Times New Roman</vt:lpstr>
      <vt:lpstr>Office Theme</vt:lpstr>
      <vt:lpstr>PowerPoint Presentation</vt:lpstr>
      <vt:lpstr>PowerPoint Presentation</vt:lpstr>
      <vt:lpstr>              Common ML Architectural Approach</vt:lpstr>
      <vt:lpstr>Financial ML Architectural Approach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cp:lastModifiedBy>Lev Selector</cp:lastModifiedBy>
  <cp:revision>322</cp:revision>
  <cp:lastPrinted>2020-09-21T17:22:59Z</cp:lastPrinted>
  <dcterms:modified xsi:type="dcterms:W3CDTF">2021-03-21T15:56:04Z</dcterms:modified>
</cp:coreProperties>
</file>