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5" r:id="rId2"/>
    <p:sldId id="256" r:id="rId3"/>
    <p:sldId id="257" r:id="rId4"/>
    <p:sldId id="258" r:id="rId5"/>
    <p:sldId id="259" r:id="rId6"/>
    <p:sldId id="260" r:id="rId7"/>
    <p:sldId id="261" r:id="rId8"/>
    <p:sldId id="262" r:id="rId9"/>
    <p:sldId id="263" r:id="rId10"/>
    <p:sldId id="264" r:id="rId11"/>
    <p:sldId id="266" r:id="rId12"/>
    <p:sldId id="268"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28"/>
    <p:restoredTop sz="95485"/>
  </p:normalViewPr>
  <p:slideViewPr>
    <p:cSldViewPr snapToGrid="0" snapToObjects="1">
      <p:cViewPr varScale="1">
        <p:scale>
          <a:sx n="78" d="100"/>
          <a:sy n="78" d="100"/>
        </p:scale>
        <p:origin x="72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E31EB-3080-5D42-828E-D2EE4A5AE1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93319B0-A2F9-A642-948A-80643B1FBC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4B7B4B9-5136-C642-813B-14A3DCA21F98}"/>
              </a:ext>
            </a:extLst>
          </p:cNvPr>
          <p:cNvSpPr>
            <a:spLocks noGrp="1"/>
          </p:cNvSpPr>
          <p:nvPr>
            <p:ph type="dt" sz="half" idx="10"/>
          </p:nvPr>
        </p:nvSpPr>
        <p:spPr/>
        <p:txBody>
          <a:bodyPr/>
          <a:lstStyle/>
          <a:p>
            <a:fld id="{4148B443-B318-AF47-AB7B-D064EF852301}" type="datetimeFigureOut">
              <a:rPr lang="en-US" smtClean="0"/>
              <a:t>9/16/20</a:t>
            </a:fld>
            <a:endParaRPr lang="en-US"/>
          </a:p>
        </p:txBody>
      </p:sp>
      <p:sp>
        <p:nvSpPr>
          <p:cNvPr id="5" name="Footer Placeholder 4">
            <a:extLst>
              <a:ext uri="{FF2B5EF4-FFF2-40B4-BE49-F238E27FC236}">
                <a16:creationId xmlns:a16="http://schemas.microsoft.com/office/drawing/2014/main" id="{B174342F-06E6-D84B-89EC-35746B746F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3905AA-648D-CD4D-82EB-CF1792E7F71B}"/>
              </a:ext>
            </a:extLst>
          </p:cNvPr>
          <p:cNvSpPr>
            <a:spLocks noGrp="1"/>
          </p:cNvSpPr>
          <p:nvPr>
            <p:ph type="sldNum" sz="quarter" idx="12"/>
          </p:nvPr>
        </p:nvSpPr>
        <p:spPr/>
        <p:txBody>
          <a:bodyPr/>
          <a:lstStyle/>
          <a:p>
            <a:fld id="{58799596-4F5B-9C4C-9982-5324F45D8D86}" type="slidenum">
              <a:rPr lang="en-US" smtClean="0"/>
              <a:t>‹#›</a:t>
            </a:fld>
            <a:endParaRPr lang="en-US"/>
          </a:p>
        </p:txBody>
      </p:sp>
    </p:spTree>
    <p:extLst>
      <p:ext uri="{BB962C8B-B14F-4D97-AF65-F5344CB8AC3E}">
        <p14:creationId xmlns:p14="http://schemas.microsoft.com/office/powerpoint/2010/main" val="3189960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9CD35-1FAC-5440-B944-8B75D81B30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1C7692-3BD5-194D-B3F0-1A5C9C21C61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448D7F-C8AC-1E4D-9C54-DF82CCCDC892}"/>
              </a:ext>
            </a:extLst>
          </p:cNvPr>
          <p:cNvSpPr>
            <a:spLocks noGrp="1"/>
          </p:cNvSpPr>
          <p:nvPr>
            <p:ph type="dt" sz="half" idx="10"/>
          </p:nvPr>
        </p:nvSpPr>
        <p:spPr/>
        <p:txBody>
          <a:bodyPr/>
          <a:lstStyle/>
          <a:p>
            <a:fld id="{4148B443-B318-AF47-AB7B-D064EF852301}" type="datetimeFigureOut">
              <a:rPr lang="en-US" smtClean="0"/>
              <a:t>9/16/20</a:t>
            </a:fld>
            <a:endParaRPr lang="en-US"/>
          </a:p>
        </p:txBody>
      </p:sp>
      <p:sp>
        <p:nvSpPr>
          <p:cNvPr id="5" name="Footer Placeholder 4">
            <a:extLst>
              <a:ext uri="{FF2B5EF4-FFF2-40B4-BE49-F238E27FC236}">
                <a16:creationId xmlns:a16="http://schemas.microsoft.com/office/drawing/2014/main" id="{E682BEBC-9B6E-E543-8C3F-A5984E03AE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163184-CE4C-8B4D-A971-A48C52962366}"/>
              </a:ext>
            </a:extLst>
          </p:cNvPr>
          <p:cNvSpPr>
            <a:spLocks noGrp="1"/>
          </p:cNvSpPr>
          <p:nvPr>
            <p:ph type="sldNum" sz="quarter" idx="12"/>
          </p:nvPr>
        </p:nvSpPr>
        <p:spPr/>
        <p:txBody>
          <a:bodyPr/>
          <a:lstStyle/>
          <a:p>
            <a:fld id="{58799596-4F5B-9C4C-9982-5324F45D8D86}" type="slidenum">
              <a:rPr lang="en-US" smtClean="0"/>
              <a:t>‹#›</a:t>
            </a:fld>
            <a:endParaRPr lang="en-US"/>
          </a:p>
        </p:txBody>
      </p:sp>
    </p:spTree>
    <p:extLst>
      <p:ext uri="{BB962C8B-B14F-4D97-AF65-F5344CB8AC3E}">
        <p14:creationId xmlns:p14="http://schemas.microsoft.com/office/powerpoint/2010/main" val="2336565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B3693-C73B-C940-8493-91C7589833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3492437-4E8E-F348-AF17-7A002552E1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EBC296D-73BB-704F-9CE6-AE94E8C4464B}"/>
              </a:ext>
            </a:extLst>
          </p:cNvPr>
          <p:cNvSpPr>
            <a:spLocks noGrp="1"/>
          </p:cNvSpPr>
          <p:nvPr>
            <p:ph type="dt" sz="half" idx="10"/>
          </p:nvPr>
        </p:nvSpPr>
        <p:spPr/>
        <p:txBody>
          <a:bodyPr/>
          <a:lstStyle/>
          <a:p>
            <a:fld id="{4148B443-B318-AF47-AB7B-D064EF852301}" type="datetimeFigureOut">
              <a:rPr lang="en-US" smtClean="0"/>
              <a:t>9/16/20</a:t>
            </a:fld>
            <a:endParaRPr lang="en-US"/>
          </a:p>
        </p:txBody>
      </p:sp>
      <p:sp>
        <p:nvSpPr>
          <p:cNvPr id="5" name="Footer Placeholder 4">
            <a:extLst>
              <a:ext uri="{FF2B5EF4-FFF2-40B4-BE49-F238E27FC236}">
                <a16:creationId xmlns:a16="http://schemas.microsoft.com/office/drawing/2014/main" id="{DCE46D47-DAEE-FA46-BF9E-816978806E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B9D879-CAB2-024E-8FBE-C2858DE38027}"/>
              </a:ext>
            </a:extLst>
          </p:cNvPr>
          <p:cNvSpPr>
            <a:spLocks noGrp="1"/>
          </p:cNvSpPr>
          <p:nvPr>
            <p:ph type="sldNum" sz="quarter" idx="12"/>
          </p:nvPr>
        </p:nvSpPr>
        <p:spPr/>
        <p:txBody>
          <a:bodyPr/>
          <a:lstStyle/>
          <a:p>
            <a:fld id="{58799596-4F5B-9C4C-9982-5324F45D8D86}" type="slidenum">
              <a:rPr lang="en-US" smtClean="0"/>
              <a:t>‹#›</a:t>
            </a:fld>
            <a:endParaRPr lang="en-US"/>
          </a:p>
        </p:txBody>
      </p:sp>
    </p:spTree>
    <p:extLst>
      <p:ext uri="{BB962C8B-B14F-4D97-AF65-F5344CB8AC3E}">
        <p14:creationId xmlns:p14="http://schemas.microsoft.com/office/powerpoint/2010/main" val="3363155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DC306-3664-0C49-B39B-B000393900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359C67-E343-2B44-8285-A81A92062BE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2CFDB7-1DD6-2D43-948D-6F8E156E8EB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5ED731B-A10F-F646-83F4-3E404538D807}"/>
              </a:ext>
            </a:extLst>
          </p:cNvPr>
          <p:cNvSpPr>
            <a:spLocks noGrp="1"/>
          </p:cNvSpPr>
          <p:nvPr>
            <p:ph type="dt" sz="half" idx="10"/>
          </p:nvPr>
        </p:nvSpPr>
        <p:spPr/>
        <p:txBody>
          <a:bodyPr/>
          <a:lstStyle/>
          <a:p>
            <a:fld id="{4148B443-B318-AF47-AB7B-D064EF852301}" type="datetimeFigureOut">
              <a:rPr lang="en-US" smtClean="0"/>
              <a:t>9/16/20</a:t>
            </a:fld>
            <a:endParaRPr lang="en-US"/>
          </a:p>
        </p:txBody>
      </p:sp>
      <p:sp>
        <p:nvSpPr>
          <p:cNvPr id="6" name="Footer Placeholder 5">
            <a:extLst>
              <a:ext uri="{FF2B5EF4-FFF2-40B4-BE49-F238E27FC236}">
                <a16:creationId xmlns:a16="http://schemas.microsoft.com/office/drawing/2014/main" id="{63EE88DB-AAC0-9C46-87C6-16797457EB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CF9DF5-E437-6048-A793-A715028248EF}"/>
              </a:ext>
            </a:extLst>
          </p:cNvPr>
          <p:cNvSpPr>
            <a:spLocks noGrp="1"/>
          </p:cNvSpPr>
          <p:nvPr>
            <p:ph type="sldNum" sz="quarter" idx="12"/>
          </p:nvPr>
        </p:nvSpPr>
        <p:spPr/>
        <p:txBody>
          <a:bodyPr/>
          <a:lstStyle/>
          <a:p>
            <a:fld id="{58799596-4F5B-9C4C-9982-5324F45D8D86}" type="slidenum">
              <a:rPr lang="en-US" smtClean="0"/>
              <a:t>‹#›</a:t>
            </a:fld>
            <a:endParaRPr lang="en-US"/>
          </a:p>
        </p:txBody>
      </p:sp>
    </p:spTree>
    <p:extLst>
      <p:ext uri="{BB962C8B-B14F-4D97-AF65-F5344CB8AC3E}">
        <p14:creationId xmlns:p14="http://schemas.microsoft.com/office/powerpoint/2010/main" val="2793211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9C23F-1781-A64B-A803-B8083AC2EF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A5E1146-B17B-7541-9027-2DCF8A610C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C197FFD-B1B5-814F-AB78-48CB142BBCF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4C54F6F-8234-B742-8F58-B52D6018E9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FCDE7D8-30FF-B54D-8142-E4DDDA3C9D14}"/>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39E9F7A-BE3F-664C-85A3-04D971A52FBC}"/>
              </a:ext>
            </a:extLst>
          </p:cNvPr>
          <p:cNvSpPr>
            <a:spLocks noGrp="1"/>
          </p:cNvSpPr>
          <p:nvPr>
            <p:ph type="dt" sz="half" idx="10"/>
          </p:nvPr>
        </p:nvSpPr>
        <p:spPr/>
        <p:txBody>
          <a:bodyPr/>
          <a:lstStyle/>
          <a:p>
            <a:fld id="{4148B443-B318-AF47-AB7B-D064EF852301}" type="datetimeFigureOut">
              <a:rPr lang="en-US" smtClean="0"/>
              <a:t>9/16/20</a:t>
            </a:fld>
            <a:endParaRPr lang="en-US"/>
          </a:p>
        </p:txBody>
      </p:sp>
      <p:sp>
        <p:nvSpPr>
          <p:cNvPr id="8" name="Footer Placeholder 7">
            <a:extLst>
              <a:ext uri="{FF2B5EF4-FFF2-40B4-BE49-F238E27FC236}">
                <a16:creationId xmlns:a16="http://schemas.microsoft.com/office/drawing/2014/main" id="{A21909E9-63CD-3240-B779-4FA5A10FFCE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FD98CC-61F3-E148-AB3B-8E44CAAC5E12}"/>
              </a:ext>
            </a:extLst>
          </p:cNvPr>
          <p:cNvSpPr>
            <a:spLocks noGrp="1"/>
          </p:cNvSpPr>
          <p:nvPr>
            <p:ph type="sldNum" sz="quarter" idx="12"/>
          </p:nvPr>
        </p:nvSpPr>
        <p:spPr/>
        <p:txBody>
          <a:bodyPr/>
          <a:lstStyle/>
          <a:p>
            <a:fld id="{58799596-4F5B-9C4C-9982-5324F45D8D86}" type="slidenum">
              <a:rPr lang="en-US" smtClean="0"/>
              <a:t>‹#›</a:t>
            </a:fld>
            <a:endParaRPr lang="en-US"/>
          </a:p>
        </p:txBody>
      </p:sp>
    </p:spTree>
    <p:extLst>
      <p:ext uri="{BB962C8B-B14F-4D97-AF65-F5344CB8AC3E}">
        <p14:creationId xmlns:p14="http://schemas.microsoft.com/office/powerpoint/2010/main" val="3662811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875A1-D3B5-9649-AC8C-BD82E3415AD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99D8CDE-A038-1044-B3B9-51D9685BD7C4}"/>
              </a:ext>
            </a:extLst>
          </p:cNvPr>
          <p:cNvSpPr>
            <a:spLocks noGrp="1"/>
          </p:cNvSpPr>
          <p:nvPr>
            <p:ph type="dt" sz="half" idx="10"/>
          </p:nvPr>
        </p:nvSpPr>
        <p:spPr/>
        <p:txBody>
          <a:bodyPr/>
          <a:lstStyle/>
          <a:p>
            <a:fld id="{4148B443-B318-AF47-AB7B-D064EF852301}" type="datetimeFigureOut">
              <a:rPr lang="en-US" smtClean="0"/>
              <a:t>9/16/20</a:t>
            </a:fld>
            <a:endParaRPr lang="en-US"/>
          </a:p>
        </p:txBody>
      </p:sp>
      <p:sp>
        <p:nvSpPr>
          <p:cNvPr id="4" name="Footer Placeholder 3">
            <a:extLst>
              <a:ext uri="{FF2B5EF4-FFF2-40B4-BE49-F238E27FC236}">
                <a16:creationId xmlns:a16="http://schemas.microsoft.com/office/drawing/2014/main" id="{80BE7F22-084A-A446-BB3A-4EEBAC9ED9D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10ACF2-8DFC-4D4A-BF81-46D2462E4B4D}"/>
              </a:ext>
            </a:extLst>
          </p:cNvPr>
          <p:cNvSpPr>
            <a:spLocks noGrp="1"/>
          </p:cNvSpPr>
          <p:nvPr>
            <p:ph type="sldNum" sz="quarter" idx="12"/>
          </p:nvPr>
        </p:nvSpPr>
        <p:spPr/>
        <p:txBody>
          <a:bodyPr/>
          <a:lstStyle/>
          <a:p>
            <a:fld id="{58799596-4F5B-9C4C-9982-5324F45D8D86}" type="slidenum">
              <a:rPr lang="en-US" smtClean="0"/>
              <a:t>‹#›</a:t>
            </a:fld>
            <a:endParaRPr lang="en-US"/>
          </a:p>
        </p:txBody>
      </p:sp>
    </p:spTree>
    <p:extLst>
      <p:ext uri="{BB962C8B-B14F-4D97-AF65-F5344CB8AC3E}">
        <p14:creationId xmlns:p14="http://schemas.microsoft.com/office/powerpoint/2010/main" val="972314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7767D9-AEE0-3B43-9DA4-E6C939D64CFF}"/>
              </a:ext>
            </a:extLst>
          </p:cNvPr>
          <p:cNvSpPr>
            <a:spLocks noGrp="1"/>
          </p:cNvSpPr>
          <p:nvPr>
            <p:ph type="dt" sz="half" idx="10"/>
          </p:nvPr>
        </p:nvSpPr>
        <p:spPr/>
        <p:txBody>
          <a:bodyPr/>
          <a:lstStyle/>
          <a:p>
            <a:fld id="{4148B443-B318-AF47-AB7B-D064EF852301}" type="datetimeFigureOut">
              <a:rPr lang="en-US" smtClean="0"/>
              <a:t>9/16/20</a:t>
            </a:fld>
            <a:endParaRPr lang="en-US"/>
          </a:p>
        </p:txBody>
      </p:sp>
      <p:sp>
        <p:nvSpPr>
          <p:cNvPr id="3" name="Footer Placeholder 2">
            <a:extLst>
              <a:ext uri="{FF2B5EF4-FFF2-40B4-BE49-F238E27FC236}">
                <a16:creationId xmlns:a16="http://schemas.microsoft.com/office/drawing/2014/main" id="{861BF295-5BD0-D34A-8C87-16682D08F9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4E690D0-FC99-A44C-8676-D5DC8E8937A4}"/>
              </a:ext>
            </a:extLst>
          </p:cNvPr>
          <p:cNvSpPr>
            <a:spLocks noGrp="1"/>
          </p:cNvSpPr>
          <p:nvPr>
            <p:ph type="sldNum" sz="quarter" idx="12"/>
          </p:nvPr>
        </p:nvSpPr>
        <p:spPr/>
        <p:txBody>
          <a:bodyPr/>
          <a:lstStyle/>
          <a:p>
            <a:fld id="{58799596-4F5B-9C4C-9982-5324F45D8D86}" type="slidenum">
              <a:rPr lang="en-US" smtClean="0"/>
              <a:t>‹#›</a:t>
            </a:fld>
            <a:endParaRPr lang="en-US"/>
          </a:p>
        </p:txBody>
      </p:sp>
    </p:spTree>
    <p:extLst>
      <p:ext uri="{BB962C8B-B14F-4D97-AF65-F5344CB8AC3E}">
        <p14:creationId xmlns:p14="http://schemas.microsoft.com/office/powerpoint/2010/main" val="3499760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A5FCE-62EE-3642-AD33-7E70B7F7D4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9BEEF7-6DE9-6543-B816-AE9C068F9F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43DDA6-D74E-2D4A-87FB-FC4D93F673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B07F76F-25F0-0947-9438-5407997CD4CD}"/>
              </a:ext>
            </a:extLst>
          </p:cNvPr>
          <p:cNvSpPr>
            <a:spLocks noGrp="1"/>
          </p:cNvSpPr>
          <p:nvPr>
            <p:ph type="dt" sz="half" idx="10"/>
          </p:nvPr>
        </p:nvSpPr>
        <p:spPr/>
        <p:txBody>
          <a:bodyPr/>
          <a:lstStyle/>
          <a:p>
            <a:fld id="{4148B443-B318-AF47-AB7B-D064EF852301}" type="datetimeFigureOut">
              <a:rPr lang="en-US" smtClean="0"/>
              <a:t>9/16/20</a:t>
            </a:fld>
            <a:endParaRPr lang="en-US"/>
          </a:p>
        </p:txBody>
      </p:sp>
      <p:sp>
        <p:nvSpPr>
          <p:cNvPr id="6" name="Footer Placeholder 5">
            <a:extLst>
              <a:ext uri="{FF2B5EF4-FFF2-40B4-BE49-F238E27FC236}">
                <a16:creationId xmlns:a16="http://schemas.microsoft.com/office/drawing/2014/main" id="{CF4784A8-7551-9A47-B9DA-000977FFF4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459C16-C17A-A848-8AA6-FAA0E1D3C0EA}"/>
              </a:ext>
            </a:extLst>
          </p:cNvPr>
          <p:cNvSpPr>
            <a:spLocks noGrp="1"/>
          </p:cNvSpPr>
          <p:nvPr>
            <p:ph type="sldNum" sz="quarter" idx="12"/>
          </p:nvPr>
        </p:nvSpPr>
        <p:spPr/>
        <p:txBody>
          <a:bodyPr/>
          <a:lstStyle/>
          <a:p>
            <a:fld id="{58799596-4F5B-9C4C-9982-5324F45D8D86}" type="slidenum">
              <a:rPr lang="en-US" smtClean="0"/>
              <a:t>‹#›</a:t>
            </a:fld>
            <a:endParaRPr lang="en-US"/>
          </a:p>
        </p:txBody>
      </p:sp>
    </p:spTree>
    <p:extLst>
      <p:ext uri="{BB962C8B-B14F-4D97-AF65-F5344CB8AC3E}">
        <p14:creationId xmlns:p14="http://schemas.microsoft.com/office/powerpoint/2010/main" val="137503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E058A-DEF3-A841-B039-B6B467549D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A3BB027-72FA-F043-93D2-F78F221A95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BD2477-C7A6-CB47-A9C2-8D26B65D7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11C679E-6AE0-A341-BDE0-698AE45E787D}"/>
              </a:ext>
            </a:extLst>
          </p:cNvPr>
          <p:cNvSpPr>
            <a:spLocks noGrp="1"/>
          </p:cNvSpPr>
          <p:nvPr>
            <p:ph type="dt" sz="half" idx="10"/>
          </p:nvPr>
        </p:nvSpPr>
        <p:spPr/>
        <p:txBody>
          <a:bodyPr/>
          <a:lstStyle/>
          <a:p>
            <a:fld id="{4148B443-B318-AF47-AB7B-D064EF852301}" type="datetimeFigureOut">
              <a:rPr lang="en-US" smtClean="0"/>
              <a:t>9/16/20</a:t>
            </a:fld>
            <a:endParaRPr lang="en-US"/>
          </a:p>
        </p:txBody>
      </p:sp>
      <p:sp>
        <p:nvSpPr>
          <p:cNvPr id="6" name="Footer Placeholder 5">
            <a:extLst>
              <a:ext uri="{FF2B5EF4-FFF2-40B4-BE49-F238E27FC236}">
                <a16:creationId xmlns:a16="http://schemas.microsoft.com/office/drawing/2014/main" id="{FA00440F-FE58-3643-A656-1CB6F76DE1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9380C1-1E3E-7544-9739-671D3A625966}"/>
              </a:ext>
            </a:extLst>
          </p:cNvPr>
          <p:cNvSpPr>
            <a:spLocks noGrp="1"/>
          </p:cNvSpPr>
          <p:nvPr>
            <p:ph type="sldNum" sz="quarter" idx="12"/>
          </p:nvPr>
        </p:nvSpPr>
        <p:spPr/>
        <p:txBody>
          <a:bodyPr/>
          <a:lstStyle/>
          <a:p>
            <a:fld id="{58799596-4F5B-9C4C-9982-5324F45D8D86}" type="slidenum">
              <a:rPr lang="en-US" smtClean="0"/>
              <a:t>‹#›</a:t>
            </a:fld>
            <a:endParaRPr lang="en-US"/>
          </a:p>
        </p:txBody>
      </p:sp>
    </p:spTree>
    <p:extLst>
      <p:ext uri="{BB962C8B-B14F-4D97-AF65-F5344CB8AC3E}">
        <p14:creationId xmlns:p14="http://schemas.microsoft.com/office/powerpoint/2010/main" val="3221988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4A12F-C383-D34D-9909-820E0A69A4C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47B774-EEE6-EA4D-838E-F95D5406222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B2719B-E135-3D49-B998-FA8C63EA315C}"/>
              </a:ext>
            </a:extLst>
          </p:cNvPr>
          <p:cNvSpPr>
            <a:spLocks noGrp="1"/>
          </p:cNvSpPr>
          <p:nvPr>
            <p:ph type="dt" sz="half" idx="10"/>
          </p:nvPr>
        </p:nvSpPr>
        <p:spPr/>
        <p:txBody>
          <a:bodyPr/>
          <a:lstStyle/>
          <a:p>
            <a:fld id="{4148B443-B318-AF47-AB7B-D064EF852301}" type="datetimeFigureOut">
              <a:rPr lang="en-US" smtClean="0"/>
              <a:t>9/16/20</a:t>
            </a:fld>
            <a:endParaRPr lang="en-US"/>
          </a:p>
        </p:txBody>
      </p:sp>
      <p:sp>
        <p:nvSpPr>
          <p:cNvPr id="5" name="Footer Placeholder 4">
            <a:extLst>
              <a:ext uri="{FF2B5EF4-FFF2-40B4-BE49-F238E27FC236}">
                <a16:creationId xmlns:a16="http://schemas.microsoft.com/office/drawing/2014/main" id="{152AD102-97F9-0C44-9F42-01AC4B343E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C72C67-5710-DF44-AE90-68201D2FA844}"/>
              </a:ext>
            </a:extLst>
          </p:cNvPr>
          <p:cNvSpPr>
            <a:spLocks noGrp="1"/>
          </p:cNvSpPr>
          <p:nvPr>
            <p:ph type="sldNum" sz="quarter" idx="12"/>
          </p:nvPr>
        </p:nvSpPr>
        <p:spPr/>
        <p:txBody>
          <a:bodyPr/>
          <a:lstStyle/>
          <a:p>
            <a:fld id="{58799596-4F5B-9C4C-9982-5324F45D8D86}" type="slidenum">
              <a:rPr lang="en-US" smtClean="0"/>
              <a:t>‹#›</a:t>
            </a:fld>
            <a:endParaRPr lang="en-US"/>
          </a:p>
        </p:txBody>
      </p:sp>
    </p:spTree>
    <p:extLst>
      <p:ext uri="{BB962C8B-B14F-4D97-AF65-F5344CB8AC3E}">
        <p14:creationId xmlns:p14="http://schemas.microsoft.com/office/powerpoint/2010/main" val="1415843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CF56F4-E689-A842-9011-7D9516FE10C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1285E5-EADF-834A-A653-42705D68C5D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D54E5E-4C4B-C442-9153-4E57CDC7441C}"/>
              </a:ext>
            </a:extLst>
          </p:cNvPr>
          <p:cNvSpPr>
            <a:spLocks noGrp="1"/>
          </p:cNvSpPr>
          <p:nvPr>
            <p:ph type="dt" sz="half" idx="10"/>
          </p:nvPr>
        </p:nvSpPr>
        <p:spPr/>
        <p:txBody>
          <a:bodyPr/>
          <a:lstStyle/>
          <a:p>
            <a:fld id="{4148B443-B318-AF47-AB7B-D064EF852301}" type="datetimeFigureOut">
              <a:rPr lang="en-US" smtClean="0"/>
              <a:t>9/16/20</a:t>
            </a:fld>
            <a:endParaRPr lang="en-US"/>
          </a:p>
        </p:txBody>
      </p:sp>
      <p:sp>
        <p:nvSpPr>
          <p:cNvPr id="5" name="Footer Placeholder 4">
            <a:extLst>
              <a:ext uri="{FF2B5EF4-FFF2-40B4-BE49-F238E27FC236}">
                <a16:creationId xmlns:a16="http://schemas.microsoft.com/office/drawing/2014/main" id="{6690CCCB-D59A-3E40-8F1F-BA2D92A97E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B9599E-2BF7-7543-ACC9-407E904410E3}"/>
              </a:ext>
            </a:extLst>
          </p:cNvPr>
          <p:cNvSpPr>
            <a:spLocks noGrp="1"/>
          </p:cNvSpPr>
          <p:nvPr>
            <p:ph type="sldNum" sz="quarter" idx="12"/>
          </p:nvPr>
        </p:nvSpPr>
        <p:spPr/>
        <p:txBody>
          <a:bodyPr/>
          <a:lstStyle/>
          <a:p>
            <a:fld id="{58799596-4F5B-9C4C-9982-5324F45D8D86}" type="slidenum">
              <a:rPr lang="en-US" smtClean="0"/>
              <a:t>‹#›</a:t>
            </a:fld>
            <a:endParaRPr lang="en-US"/>
          </a:p>
        </p:txBody>
      </p:sp>
    </p:spTree>
    <p:extLst>
      <p:ext uri="{BB962C8B-B14F-4D97-AF65-F5344CB8AC3E}">
        <p14:creationId xmlns:p14="http://schemas.microsoft.com/office/powerpoint/2010/main" val="3864980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C4FF96-7E5F-9941-BFB6-8831014F8F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27723C3-D2DC-2A47-93CF-67FA6CE33B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387AF8-901E-6F40-B171-B4663BDB34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48B443-B318-AF47-AB7B-D064EF852301}" type="datetimeFigureOut">
              <a:rPr lang="en-US" smtClean="0"/>
              <a:t>9/16/20</a:t>
            </a:fld>
            <a:endParaRPr lang="en-US"/>
          </a:p>
        </p:txBody>
      </p:sp>
      <p:sp>
        <p:nvSpPr>
          <p:cNvPr id="5" name="Footer Placeholder 4">
            <a:extLst>
              <a:ext uri="{FF2B5EF4-FFF2-40B4-BE49-F238E27FC236}">
                <a16:creationId xmlns:a16="http://schemas.microsoft.com/office/drawing/2014/main" id="{3FC6D707-D357-7D4C-AF7D-0FA980EC98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719C705-DFDE-D04F-9C51-A902CBC131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799596-4F5B-9C4C-9982-5324F45D8D86}" type="slidenum">
              <a:rPr lang="en-US" smtClean="0"/>
              <a:t>‹#›</a:t>
            </a:fld>
            <a:endParaRPr lang="en-US"/>
          </a:p>
        </p:txBody>
      </p:sp>
    </p:spTree>
    <p:extLst>
      <p:ext uri="{BB962C8B-B14F-4D97-AF65-F5344CB8AC3E}">
        <p14:creationId xmlns:p14="http://schemas.microsoft.com/office/powerpoint/2010/main" val="8077791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tiff"/><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tiff"/><Relationship Id="rId1" Type="http://schemas.openxmlformats.org/officeDocument/2006/relationships/slideLayout" Target="../slideLayouts/slideLayout2.xml"/><Relationship Id="rId4" Type="http://schemas.openxmlformats.org/officeDocument/2006/relationships/image" Target="../media/image11.tiff"/></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tif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image" Target="../media/image20.tiff"/><Relationship Id="rId1" Type="http://schemas.openxmlformats.org/officeDocument/2006/relationships/slideLayout" Target="../slideLayouts/slideLayout2.xml"/><Relationship Id="rId5" Type="http://schemas.openxmlformats.org/officeDocument/2006/relationships/image" Target="../media/image23.tiff"/><Relationship Id="rId4" Type="http://schemas.openxmlformats.org/officeDocument/2006/relationships/image" Target="../media/image2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C7A6A07-117C-BC49-A289-B8BE3309FBA9}"/>
              </a:ext>
            </a:extLst>
          </p:cNvPr>
          <p:cNvSpPr txBox="1"/>
          <p:nvPr/>
        </p:nvSpPr>
        <p:spPr>
          <a:xfrm>
            <a:off x="3018972" y="2656114"/>
            <a:ext cx="6197600" cy="584775"/>
          </a:xfrm>
          <a:prstGeom prst="rect">
            <a:avLst/>
          </a:prstGeom>
          <a:noFill/>
        </p:spPr>
        <p:txBody>
          <a:bodyPr wrap="square" rtlCol="0">
            <a:spAutoFit/>
          </a:bodyPr>
          <a:lstStyle/>
          <a:p>
            <a:r>
              <a:rPr lang="en-US" sz="3200" b="1" dirty="0">
                <a:solidFill>
                  <a:srgbClr val="0070C0"/>
                </a:solidFill>
              </a:rPr>
              <a:t>History of Probability and Statistics</a:t>
            </a:r>
          </a:p>
        </p:txBody>
      </p:sp>
    </p:spTree>
    <p:extLst>
      <p:ext uri="{BB962C8B-B14F-4D97-AF65-F5344CB8AC3E}">
        <p14:creationId xmlns:p14="http://schemas.microsoft.com/office/powerpoint/2010/main" val="1679342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descr="talus_18077_th">
            <a:extLst>
              <a:ext uri="{FF2B5EF4-FFF2-40B4-BE49-F238E27FC236}">
                <a16:creationId xmlns:a16="http://schemas.microsoft.com/office/drawing/2014/main" id="{3E394333-B5C4-7C4F-BF4E-EA0FB2279EE3}"/>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a:xfrm>
            <a:off x="5329433" y="3174519"/>
            <a:ext cx="2000541" cy="219758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 name="Picture 4" descr="talus">
            <a:extLst>
              <a:ext uri="{FF2B5EF4-FFF2-40B4-BE49-F238E27FC236}">
                <a16:creationId xmlns:a16="http://schemas.microsoft.com/office/drawing/2014/main" id="{8CBEED6B-99BF-2D46-A424-58D7435DBD40}"/>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a:xfrm>
            <a:off x="4251635" y="1276292"/>
            <a:ext cx="1712078" cy="128405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TextBox 5">
            <a:extLst>
              <a:ext uri="{FF2B5EF4-FFF2-40B4-BE49-F238E27FC236}">
                <a16:creationId xmlns:a16="http://schemas.microsoft.com/office/drawing/2014/main" id="{6DAC4630-1EBD-1240-BF9C-F1ACC042429E}"/>
              </a:ext>
            </a:extLst>
          </p:cNvPr>
          <p:cNvSpPr txBox="1"/>
          <p:nvPr/>
        </p:nvSpPr>
        <p:spPr>
          <a:xfrm>
            <a:off x="151689" y="209478"/>
            <a:ext cx="6515100" cy="5324535"/>
          </a:xfrm>
          <a:prstGeom prst="rect">
            <a:avLst/>
          </a:prstGeom>
          <a:noFill/>
        </p:spPr>
        <p:txBody>
          <a:bodyPr wrap="square" rtlCol="0">
            <a:spAutoFit/>
          </a:bodyPr>
          <a:lstStyle/>
          <a:p>
            <a:r>
              <a:rPr lang="en-US" altLang="en-US" sz="2000" dirty="0"/>
              <a:t>The </a:t>
            </a:r>
            <a:r>
              <a:rPr lang="en-US" altLang="en-US" sz="2000" b="1" dirty="0">
                <a:solidFill>
                  <a:srgbClr val="0070C0"/>
                </a:solidFill>
              </a:rPr>
              <a:t>Pascal – Fermat correspondence of 1654 </a:t>
            </a:r>
            <a:r>
              <a:rPr lang="en-US" altLang="en-US" sz="2000" dirty="0"/>
              <a:t>(5 letters) </a:t>
            </a:r>
          </a:p>
          <a:p>
            <a:r>
              <a:rPr lang="en-US" altLang="en-US" sz="2000" dirty="0"/>
              <a:t>is often cited in histories of mathematics </a:t>
            </a:r>
          </a:p>
          <a:p>
            <a:r>
              <a:rPr lang="en-US" altLang="en-US" sz="2000" dirty="0"/>
              <a:t>as the origin of probability theory.</a:t>
            </a:r>
          </a:p>
          <a:p>
            <a:endParaRPr lang="en-US" sz="1400" dirty="0"/>
          </a:p>
          <a:p>
            <a:r>
              <a:rPr lang="en-US" sz="1400" dirty="0"/>
              <a:t>Gaming existed in the earliest civilizations. </a:t>
            </a:r>
          </a:p>
          <a:p>
            <a:r>
              <a:rPr lang="en-US" sz="1400" dirty="0"/>
              <a:t>For example, the talus – a knucklebone or heel bone </a:t>
            </a:r>
          </a:p>
          <a:p>
            <a:r>
              <a:rPr lang="en-US" sz="1400" dirty="0"/>
              <a:t>that can land in any of 4 different ways. </a:t>
            </a:r>
          </a:p>
          <a:p>
            <a:endParaRPr lang="en-US" sz="1400" dirty="0"/>
          </a:p>
          <a:p>
            <a:r>
              <a:rPr lang="en-US" altLang="en-US" sz="1400" dirty="0"/>
              <a:t>The talus is a </a:t>
            </a:r>
            <a:r>
              <a:rPr lang="en-US" altLang="en-US" sz="1400" b="1" dirty="0">
                <a:solidFill>
                  <a:srgbClr val="0070C0"/>
                </a:solidFill>
              </a:rPr>
              <a:t>randomizer</a:t>
            </a:r>
            <a:r>
              <a:rPr lang="en-US" altLang="en-US" sz="1400" dirty="0"/>
              <a:t>. Other randomizers:</a:t>
            </a:r>
          </a:p>
          <a:p>
            <a:pPr lvl="1"/>
            <a:r>
              <a:rPr lang="en-US" altLang="en-US" sz="1400" dirty="0"/>
              <a:t>Dice.</a:t>
            </a:r>
          </a:p>
          <a:p>
            <a:pPr lvl="1"/>
            <a:r>
              <a:rPr lang="en-US" altLang="en-US" sz="1400" dirty="0"/>
              <a:t>Choosing lots.</a:t>
            </a:r>
          </a:p>
          <a:p>
            <a:pPr lvl="1"/>
            <a:r>
              <a:rPr lang="en-US" altLang="en-US" sz="1400" dirty="0"/>
              <a:t>Reading entrails or tea leaves.</a:t>
            </a:r>
          </a:p>
          <a:p>
            <a:r>
              <a:rPr lang="en-US" altLang="en-US" sz="1400" dirty="0"/>
              <a:t>Purpose: </a:t>
            </a:r>
          </a:p>
          <a:p>
            <a:pPr lvl="1"/>
            <a:r>
              <a:rPr lang="en-US" altLang="en-US" sz="1400" dirty="0"/>
              <a:t>Making “fair” decisions. </a:t>
            </a:r>
          </a:p>
          <a:p>
            <a:pPr lvl="1"/>
            <a:r>
              <a:rPr lang="en-US" altLang="en-US" sz="1400" dirty="0"/>
              <a:t>Consulting the gods.</a:t>
            </a:r>
          </a:p>
          <a:p>
            <a:pPr lvl="1"/>
            <a:endParaRPr lang="en-US" altLang="en-US" sz="1400" dirty="0"/>
          </a:p>
          <a:p>
            <a:r>
              <a:rPr lang="en-US" altLang="en-US" sz="1400" dirty="0"/>
              <a:t>Here are things that happened in the mid-17</a:t>
            </a:r>
            <a:r>
              <a:rPr lang="en-US" altLang="en-US" sz="1400" baseline="30000" dirty="0"/>
              <a:t>th</a:t>
            </a:r>
            <a:r>
              <a:rPr lang="en-US" altLang="en-US" sz="1400" dirty="0"/>
              <a:t> century:</a:t>
            </a:r>
          </a:p>
          <a:p>
            <a:pPr marL="742950" lvl="1" indent="-285750">
              <a:buFont typeface="Arial" panose="020B0604020202020204" pitchFamily="34" charset="0"/>
              <a:buChar char="•"/>
            </a:pPr>
            <a:r>
              <a:rPr lang="en-US" altLang="en-US" sz="1400" dirty="0"/>
              <a:t>Annuities sold to raise public funds</a:t>
            </a:r>
          </a:p>
          <a:p>
            <a:pPr marL="742950" lvl="1" indent="-285750">
              <a:buFont typeface="Arial" panose="020B0604020202020204" pitchFamily="34" charset="0"/>
              <a:buChar char="•"/>
            </a:pPr>
            <a:r>
              <a:rPr lang="en-US" altLang="en-US" sz="1400" dirty="0"/>
              <a:t>Statistics of births, deaths, etc., attended to</a:t>
            </a:r>
          </a:p>
          <a:p>
            <a:pPr marL="742950" lvl="1" indent="-285750">
              <a:buFont typeface="Arial" panose="020B0604020202020204" pitchFamily="34" charset="0"/>
              <a:buChar char="•"/>
            </a:pPr>
            <a:r>
              <a:rPr lang="en-US" altLang="en-US" sz="1400" dirty="0"/>
              <a:t>Mathematics of gaming proposed</a:t>
            </a:r>
          </a:p>
          <a:p>
            <a:pPr marL="742950" lvl="1" indent="-285750">
              <a:buFont typeface="Arial" panose="020B0604020202020204" pitchFamily="34" charset="0"/>
              <a:buChar char="•"/>
            </a:pPr>
            <a:r>
              <a:rPr lang="en-US" altLang="en-US" sz="1400" dirty="0"/>
              <a:t>Models for assessing evidence and testimony</a:t>
            </a:r>
          </a:p>
          <a:p>
            <a:pPr marL="742950" lvl="1" indent="-285750">
              <a:buFont typeface="Arial" panose="020B0604020202020204" pitchFamily="34" charset="0"/>
              <a:buChar char="•"/>
            </a:pPr>
            <a:r>
              <a:rPr lang="en-US" altLang="en-US" sz="1400" dirty="0"/>
              <a:t>“Measurements” of the likelihood/possibility of miracles</a:t>
            </a:r>
          </a:p>
          <a:p>
            <a:pPr marL="742950" lvl="1" indent="-285750">
              <a:buFont typeface="Arial" panose="020B0604020202020204" pitchFamily="34" charset="0"/>
              <a:buChar char="•"/>
            </a:pPr>
            <a:r>
              <a:rPr lang="en-US" altLang="en-US" sz="1400" dirty="0"/>
              <a:t>“Proofs” of the existence of God</a:t>
            </a:r>
          </a:p>
        </p:txBody>
      </p:sp>
      <p:sp>
        <p:nvSpPr>
          <p:cNvPr id="2" name="TextBox 1">
            <a:extLst>
              <a:ext uri="{FF2B5EF4-FFF2-40B4-BE49-F238E27FC236}">
                <a16:creationId xmlns:a16="http://schemas.microsoft.com/office/drawing/2014/main" id="{647504B2-ED19-894F-AAC2-EB35C2A716B2}"/>
              </a:ext>
            </a:extLst>
          </p:cNvPr>
          <p:cNvSpPr txBox="1"/>
          <p:nvPr/>
        </p:nvSpPr>
        <p:spPr>
          <a:xfrm>
            <a:off x="7909341" y="2560350"/>
            <a:ext cx="4125687" cy="2585323"/>
          </a:xfrm>
          <a:prstGeom prst="rect">
            <a:avLst/>
          </a:prstGeom>
          <a:noFill/>
        </p:spPr>
        <p:txBody>
          <a:bodyPr wrap="square" rtlCol="0">
            <a:spAutoFit/>
          </a:bodyPr>
          <a:lstStyle/>
          <a:p>
            <a:pPr algn="ctr"/>
            <a:r>
              <a:rPr lang="en-US" b="1" dirty="0">
                <a:solidFill>
                  <a:srgbClr val="0070C0"/>
                </a:solidFill>
              </a:rPr>
              <a:t>Antoine </a:t>
            </a:r>
            <a:r>
              <a:rPr lang="en-US" b="1" dirty="0" err="1">
                <a:solidFill>
                  <a:srgbClr val="0070C0"/>
                </a:solidFill>
              </a:rPr>
              <a:t>Gombaud</a:t>
            </a:r>
            <a:r>
              <a:rPr lang="en-US" b="1" dirty="0">
                <a:solidFill>
                  <a:srgbClr val="0070C0"/>
                </a:solidFill>
              </a:rPr>
              <a:t>, Chevalier de </a:t>
            </a:r>
            <a:r>
              <a:rPr lang="en-US" b="1" dirty="0" err="1">
                <a:solidFill>
                  <a:srgbClr val="0070C0"/>
                </a:solidFill>
              </a:rPr>
              <a:t>Méré</a:t>
            </a:r>
            <a:r>
              <a:rPr lang="en-US" b="1" dirty="0">
                <a:solidFill>
                  <a:srgbClr val="0070C0"/>
                </a:solidFill>
              </a:rPr>
              <a:t> </a:t>
            </a:r>
            <a:br>
              <a:rPr lang="en-US" b="1" dirty="0">
                <a:solidFill>
                  <a:srgbClr val="0070C0"/>
                </a:solidFill>
              </a:rPr>
            </a:br>
            <a:r>
              <a:rPr lang="en-US" b="1" dirty="0">
                <a:solidFill>
                  <a:srgbClr val="0070C0"/>
                </a:solidFill>
              </a:rPr>
              <a:t>(1607 - 1684)</a:t>
            </a:r>
          </a:p>
          <a:p>
            <a:r>
              <a:rPr lang="en-US" sz="1400" dirty="0"/>
              <a:t>He was a French writer, adopted the title Chevalier for the character in his dialogues who represented his own views. Later his friends began calling him by that name. </a:t>
            </a:r>
          </a:p>
          <a:p>
            <a:endParaRPr lang="en-US" sz="1400" dirty="0"/>
          </a:p>
          <a:p>
            <a:r>
              <a:rPr lang="en-US" sz="1400" b="1" dirty="0">
                <a:solidFill>
                  <a:srgbClr val="0070C0"/>
                </a:solidFill>
              </a:rPr>
              <a:t>The Paradox of the Chevalier De </a:t>
            </a:r>
            <a:r>
              <a:rPr lang="en-US" sz="1400" b="1" dirty="0" err="1">
                <a:solidFill>
                  <a:srgbClr val="0070C0"/>
                </a:solidFill>
              </a:rPr>
              <a:t>Méré</a:t>
            </a:r>
            <a:r>
              <a:rPr lang="en-US" sz="1400" b="1" dirty="0">
                <a:solidFill>
                  <a:srgbClr val="0070C0"/>
                </a:solidFill>
              </a:rPr>
              <a:t> </a:t>
            </a:r>
            <a:r>
              <a:rPr lang="en-US" sz="1400" dirty="0"/>
              <a:t>:</a:t>
            </a:r>
          </a:p>
          <a:p>
            <a:r>
              <a:rPr lang="en-US" sz="1400" dirty="0"/>
              <a:t>de </a:t>
            </a:r>
            <a:r>
              <a:rPr lang="en-US" sz="1400" dirty="0" err="1"/>
              <a:t>Méré</a:t>
            </a:r>
            <a:r>
              <a:rPr lang="en-US" sz="1400" dirty="0"/>
              <a:t> observed that getting at least one 6 with 4 throws of a die was more probable than getting double 6's with 24 throws of a pair of dice.</a:t>
            </a:r>
          </a:p>
        </p:txBody>
      </p:sp>
      <p:pic>
        <p:nvPicPr>
          <p:cNvPr id="3" name="Picture 2">
            <a:extLst>
              <a:ext uri="{FF2B5EF4-FFF2-40B4-BE49-F238E27FC236}">
                <a16:creationId xmlns:a16="http://schemas.microsoft.com/office/drawing/2014/main" id="{F74791EC-E8E8-944E-8CA1-E19E671C393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845967" y="209478"/>
            <a:ext cx="2252436" cy="2350872"/>
          </a:xfrm>
          <a:prstGeom prst="rect">
            <a:avLst/>
          </a:prstGeom>
        </p:spPr>
      </p:pic>
      <p:pic>
        <p:nvPicPr>
          <p:cNvPr id="7" name="Picture 6">
            <a:extLst>
              <a:ext uri="{FF2B5EF4-FFF2-40B4-BE49-F238E27FC236}">
                <a16:creationId xmlns:a16="http://schemas.microsoft.com/office/drawing/2014/main" id="{AA9C4B70-AEF1-C446-B0CD-6E9E0AAE1593}"/>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329703" y="639536"/>
            <a:ext cx="2256137" cy="1744436"/>
          </a:xfrm>
          <a:prstGeom prst="rect">
            <a:avLst/>
          </a:prstGeom>
        </p:spPr>
      </p:pic>
    </p:spTree>
    <p:extLst>
      <p:ext uri="{BB962C8B-B14F-4D97-AF65-F5344CB8AC3E}">
        <p14:creationId xmlns:p14="http://schemas.microsoft.com/office/powerpoint/2010/main" val="1137891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39294EF-A82B-DA4B-93C3-B8B78101922B}"/>
              </a:ext>
            </a:extLst>
          </p:cNvPr>
          <p:cNvSpPr txBox="1"/>
          <p:nvPr/>
        </p:nvSpPr>
        <p:spPr>
          <a:xfrm>
            <a:off x="57149" y="0"/>
            <a:ext cx="7119257" cy="923330"/>
          </a:xfrm>
          <a:prstGeom prst="rect">
            <a:avLst/>
          </a:prstGeom>
          <a:noFill/>
        </p:spPr>
        <p:txBody>
          <a:bodyPr wrap="square" rtlCol="0">
            <a:spAutoFit/>
          </a:bodyPr>
          <a:lstStyle/>
          <a:p>
            <a:r>
              <a:rPr lang="en-US" altLang="en-US" dirty="0"/>
              <a:t>The Pascal – Fermat correspondence of 1654 (5 letters) - Often cited in histories of mathematics as the origin of probability theory.</a:t>
            </a:r>
          </a:p>
          <a:p>
            <a:endParaRPr lang="en-US" dirty="0"/>
          </a:p>
        </p:txBody>
      </p:sp>
      <p:pic>
        <p:nvPicPr>
          <p:cNvPr id="5" name="Picture 6" descr="Pascal">
            <a:extLst>
              <a:ext uri="{FF2B5EF4-FFF2-40B4-BE49-F238E27FC236}">
                <a16:creationId xmlns:a16="http://schemas.microsoft.com/office/drawing/2014/main" id="{E45C19F0-8533-F243-AF4B-D0E520A60000}"/>
              </a:ext>
            </a:extLst>
          </p:cNvPr>
          <p:cNvPicPr>
            <a:picLocks noGrp="1" noChangeAspect="1" noChangeArrowheads="1"/>
          </p:cNvPicPr>
          <p:nvPr>
            <p:ph sz="quarter" idx="1"/>
          </p:nvPr>
        </p:nvPicPr>
        <p:blipFill>
          <a:blip r:embed="rId2" cstate="email">
            <a:extLst>
              <a:ext uri="{28A0092B-C50C-407E-A947-70E740481C1C}">
                <a14:useLocalDpi xmlns:a14="http://schemas.microsoft.com/office/drawing/2010/main"/>
              </a:ext>
            </a:extLst>
          </a:blip>
          <a:srcRect/>
          <a:stretch>
            <a:fillRect/>
          </a:stretch>
        </p:blipFill>
        <p:spPr>
          <a:xfrm>
            <a:off x="8005913" y="195940"/>
            <a:ext cx="1913696" cy="260040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 name="Picture 7" descr="12_pierre_de_fermat">
            <a:extLst>
              <a:ext uri="{FF2B5EF4-FFF2-40B4-BE49-F238E27FC236}">
                <a16:creationId xmlns:a16="http://schemas.microsoft.com/office/drawing/2014/main" id="{790E6DD1-80A4-3F4F-B87C-0BDD6F612585}"/>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a:xfrm>
            <a:off x="10091058" y="195940"/>
            <a:ext cx="1941966" cy="260040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 name="TextBox 6">
            <a:extLst>
              <a:ext uri="{FF2B5EF4-FFF2-40B4-BE49-F238E27FC236}">
                <a16:creationId xmlns:a16="http://schemas.microsoft.com/office/drawing/2014/main" id="{DD44FD11-7C64-EC45-AA1C-C5FD845AA84D}"/>
              </a:ext>
            </a:extLst>
          </p:cNvPr>
          <p:cNvSpPr txBox="1"/>
          <p:nvPr/>
        </p:nvSpPr>
        <p:spPr>
          <a:xfrm>
            <a:off x="57150" y="636107"/>
            <a:ext cx="6947808" cy="6186309"/>
          </a:xfrm>
          <a:prstGeom prst="rect">
            <a:avLst/>
          </a:prstGeom>
          <a:noFill/>
        </p:spPr>
        <p:txBody>
          <a:bodyPr wrap="square" rtlCol="0">
            <a:spAutoFit/>
          </a:bodyPr>
          <a:lstStyle/>
          <a:p>
            <a:r>
              <a:rPr lang="en-US" sz="1200" dirty="0"/>
              <a:t>The </a:t>
            </a:r>
            <a:r>
              <a:rPr lang="en-US" sz="1200" b="1" dirty="0">
                <a:solidFill>
                  <a:srgbClr val="0070C0"/>
                </a:solidFill>
              </a:rPr>
              <a:t>dice problem </a:t>
            </a:r>
            <a:r>
              <a:rPr lang="en-US" sz="1200" dirty="0"/>
              <a:t>asks how many times one must throw a pair of dice before one expects a double six.</a:t>
            </a:r>
          </a:p>
          <a:p>
            <a:r>
              <a:rPr lang="en-US" sz="1200" dirty="0"/>
              <a:t>The the </a:t>
            </a:r>
            <a:r>
              <a:rPr lang="en-US" sz="1200" b="1" dirty="0">
                <a:solidFill>
                  <a:srgbClr val="0070C0"/>
                </a:solidFill>
              </a:rPr>
              <a:t>problem of points </a:t>
            </a:r>
            <a:r>
              <a:rPr lang="en-US" sz="1200" dirty="0"/>
              <a:t>asks how to divide the stakes if a game of dice is incomplete. </a:t>
            </a:r>
          </a:p>
          <a:p>
            <a:endParaRPr lang="en-US" sz="1200" dirty="0"/>
          </a:p>
          <a:p>
            <a:r>
              <a:rPr lang="en-US" sz="1200" dirty="0"/>
              <a:t>They solved the problem of points for a two player game, but did not develop powerful enough mathematical methods to solve it for three or more players.</a:t>
            </a:r>
          </a:p>
          <a:p>
            <a:endParaRPr lang="en-US" sz="1200" dirty="0"/>
          </a:p>
          <a:p>
            <a:r>
              <a:rPr lang="en-US" sz="1200" b="1" dirty="0">
                <a:solidFill>
                  <a:srgbClr val="0070C0"/>
                </a:solidFill>
              </a:rPr>
              <a:t>The Problem of Points </a:t>
            </a:r>
            <a:r>
              <a:rPr lang="en-US" sz="1200" dirty="0"/>
              <a:t>- question posed by a gambler, </a:t>
            </a:r>
            <a:r>
              <a:rPr lang="en-US" sz="1200" b="1" dirty="0">
                <a:solidFill>
                  <a:srgbClr val="0070C0"/>
                </a:solidFill>
              </a:rPr>
              <a:t>Chevalier De Mere </a:t>
            </a:r>
            <a:r>
              <a:rPr lang="en-US" sz="1200" dirty="0"/>
              <a:t>and then discussed by Pascal and Fermat. There are many versions of this problem, appearing in print as early as 1494 and discussed earlier by </a:t>
            </a:r>
            <a:r>
              <a:rPr lang="en-US" sz="1200" b="1" dirty="0" err="1">
                <a:solidFill>
                  <a:srgbClr val="0070C0"/>
                </a:solidFill>
              </a:rPr>
              <a:t>Cardano</a:t>
            </a:r>
            <a:r>
              <a:rPr lang="en-US" sz="1200" dirty="0"/>
              <a:t> and </a:t>
            </a:r>
            <a:r>
              <a:rPr lang="en-US" sz="1200" b="1" dirty="0">
                <a:solidFill>
                  <a:srgbClr val="0070C0"/>
                </a:solidFill>
              </a:rPr>
              <a:t>Tartaglia</a:t>
            </a:r>
            <a:r>
              <a:rPr lang="en-US" sz="1200" dirty="0"/>
              <a:t>, among others.</a:t>
            </a:r>
          </a:p>
          <a:p>
            <a:endParaRPr lang="en-US" sz="1200" dirty="0"/>
          </a:p>
          <a:p>
            <a:r>
              <a:rPr lang="en-US" sz="1200" dirty="0">
                <a:solidFill>
                  <a:schemeClr val="accent6">
                    <a:lumMod val="75000"/>
                  </a:schemeClr>
                </a:solidFill>
              </a:rPr>
              <a:t>Two players of equal skill play a game with an ultimate monetary prize. </a:t>
            </a:r>
          </a:p>
          <a:p>
            <a:r>
              <a:rPr lang="en-US" sz="1200" dirty="0">
                <a:solidFill>
                  <a:schemeClr val="accent6">
                    <a:lumMod val="75000"/>
                  </a:schemeClr>
                </a:solidFill>
              </a:rPr>
              <a:t>The first to win a fixed number of rounds wins everything. </a:t>
            </a:r>
          </a:p>
          <a:p>
            <a:r>
              <a:rPr lang="en-US" sz="1200" dirty="0">
                <a:solidFill>
                  <a:schemeClr val="accent6">
                    <a:lumMod val="75000"/>
                  </a:schemeClr>
                </a:solidFill>
              </a:rPr>
              <a:t>How should the stakes be divided if the game is interrupted after several rounds, </a:t>
            </a:r>
          </a:p>
          <a:p>
            <a:r>
              <a:rPr lang="en-US" sz="1200" dirty="0">
                <a:solidFill>
                  <a:schemeClr val="accent6">
                    <a:lumMod val="75000"/>
                  </a:schemeClr>
                </a:solidFill>
              </a:rPr>
              <a:t>but before either player has won the required number?</a:t>
            </a:r>
          </a:p>
          <a:p>
            <a:endParaRPr lang="en-US" sz="1200" dirty="0"/>
          </a:p>
          <a:p>
            <a:r>
              <a:rPr lang="en-US" altLang="en-US" sz="1200" dirty="0"/>
              <a:t>Example of the game</a:t>
            </a:r>
          </a:p>
          <a:p>
            <a:r>
              <a:rPr lang="en-US" sz="1200" dirty="0"/>
              <a:t>Two players, A and B. </a:t>
            </a:r>
          </a:p>
          <a:p>
            <a:r>
              <a:rPr lang="en-US" sz="1200" dirty="0"/>
              <a:t>The game is interrupted when A needs "a" more points to win and B needs "b" more points.</a:t>
            </a:r>
          </a:p>
          <a:p>
            <a:r>
              <a:rPr lang="en-US" sz="1200" dirty="0"/>
              <a:t>Hence the game can go at most a + b -1 further rounds.</a:t>
            </a:r>
          </a:p>
          <a:p>
            <a:endParaRPr lang="en-US" sz="1200" dirty="0"/>
          </a:p>
          <a:p>
            <a:r>
              <a:rPr lang="en-US" sz="1200" dirty="0"/>
              <a:t>E.g. if 6 is the total number of points needed to win </a:t>
            </a:r>
          </a:p>
          <a:p>
            <a:r>
              <a:rPr lang="en-US" sz="1200" dirty="0"/>
              <a:t>and the game is interrupted when A needs 1 more point while B needs 5 more points, </a:t>
            </a:r>
          </a:p>
          <a:p>
            <a:r>
              <a:rPr lang="en-US" sz="1200" dirty="0"/>
              <a:t>then the maximum number of rounds remaining is 1+5-1=5.</a:t>
            </a:r>
          </a:p>
          <a:p>
            <a:endParaRPr lang="en-US" sz="1200" dirty="0"/>
          </a:p>
          <a:p>
            <a:r>
              <a:rPr lang="en-US" sz="1200" dirty="0"/>
              <a:t>Pascal and Fermat together came to a resolution amounting to the following:</a:t>
            </a:r>
          </a:p>
          <a:p>
            <a:r>
              <a:rPr lang="en-US" sz="1200" dirty="0"/>
              <a:t>A list of all possible future outcomes has size 2a+b-1</a:t>
            </a:r>
          </a:p>
          <a:p>
            <a:r>
              <a:rPr lang="en-US" sz="1200" dirty="0"/>
              <a:t>The fair division of the stake will be the proportion of these outcomes that lead to a win by A versus the proportion that lead to a win by B.</a:t>
            </a:r>
          </a:p>
          <a:p>
            <a:endParaRPr lang="en-US" sz="1200" dirty="0"/>
          </a:p>
          <a:p>
            <a:r>
              <a:rPr lang="en-US" sz="1200" dirty="0"/>
              <a:t>Previous solutions had suggested that the stakes should be divided in the ratio of points already scored, or a formula that deviates from a 50:50 split by the proportion of points won by each player.</a:t>
            </a:r>
          </a:p>
          <a:p>
            <a:r>
              <a:rPr lang="en-US" sz="1200" dirty="0"/>
              <a:t>These are all reasonable, but arbitrary, compared with Pascal &amp; Fermat’s solution.</a:t>
            </a:r>
          </a:p>
          <a:p>
            <a:r>
              <a:rPr lang="en-US" sz="1200" dirty="0"/>
              <a:t>Note: It is assumed that all possible outcomes are equally likely.</a:t>
            </a:r>
          </a:p>
        </p:txBody>
      </p:sp>
      <p:sp>
        <p:nvSpPr>
          <p:cNvPr id="8" name="TextBox 7">
            <a:extLst>
              <a:ext uri="{FF2B5EF4-FFF2-40B4-BE49-F238E27FC236}">
                <a16:creationId xmlns:a16="http://schemas.microsoft.com/office/drawing/2014/main" id="{98ED160A-1FA0-7944-8AC4-01871E4AA25E}"/>
              </a:ext>
            </a:extLst>
          </p:cNvPr>
          <p:cNvSpPr txBox="1"/>
          <p:nvPr/>
        </p:nvSpPr>
        <p:spPr>
          <a:xfrm>
            <a:off x="7216162" y="3649749"/>
            <a:ext cx="4856618" cy="2862322"/>
          </a:xfrm>
          <a:prstGeom prst="rect">
            <a:avLst/>
          </a:prstGeom>
          <a:noFill/>
        </p:spPr>
        <p:txBody>
          <a:bodyPr wrap="square" rtlCol="0">
            <a:spAutoFit/>
          </a:bodyPr>
          <a:lstStyle/>
          <a:p>
            <a:r>
              <a:rPr lang="en-US" sz="1200" dirty="0"/>
              <a:t>Which is the “correct” view of probability ?</a:t>
            </a:r>
          </a:p>
          <a:p>
            <a:endParaRPr lang="en-US" sz="1200" dirty="0"/>
          </a:p>
          <a:p>
            <a:r>
              <a:rPr lang="en-US" sz="1200" dirty="0"/>
              <a:t>The frequency of a particular outcome among all possible outcomes, either in an actual finite set of trials or in the limiting case of infinite trials.</a:t>
            </a:r>
          </a:p>
          <a:p>
            <a:endParaRPr lang="en-US" sz="1200" dirty="0"/>
          </a:p>
          <a:p>
            <a:r>
              <a:rPr lang="en-US" sz="1200" dirty="0"/>
              <a:t>Or</a:t>
            </a:r>
          </a:p>
          <a:p>
            <a:endParaRPr lang="en-US" sz="1200" dirty="0"/>
          </a:p>
          <a:p>
            <a:r>
              <a:rPr lang="en-US" sz="1200" dirty="0"/>
              <a:t>The rational expectation that one might hold that a particular outcome will be a certain result.</a:t>
            </a:r>
          </a:p>
          <a:p>
            <a:endParaRPr lang="en-US" sz="1200" dirty="0"/>
          </a:p>
          <a:p>
            <a:r>
              <a:rPr lang="en-US" altLang="en-US" sz="1200" dirty="0"/>
              <a:t>Renaissance scientists had little use for probability because they sought incontrovertible demonstration of truth, not approbation or endorsement. </a:t>
            </a:r>
          </a:p>
          <a:p>
            <a:endParaRPr lang="en-US" altLang="en-US" sz="1200" dirty="0"/>
          </a:p>
          <a:p>
            <a:r>
              <a:rPr lang="en-US" altLang="en-US" sz="1200" dirty="0"/>
              <a:t>Opinion was not important, certainty was. </a:t>
            </a:r>
          </a:p>
          <a:p>
            <a:r>
              <a:rPr lang="en-US" altLang="en-US" sz="1200" dirty="0"/>
              <a:t>Copernicus’s theory was “improbable” but true.</a:t>
            </a:r>
          </a:p>
        </p:txBody>
      </p:sp>
      <p:sp>
        <p:nvSpPr>
          <p:cNvPr id="9" name="TextBox 8">
            <a:extLst>
              <a:ext uri="{FF2B5EF4-FFF2-40B4-BE49-F238E27FC236}">
                <a16:creationId xmlns:a16="http://schemas.microsoft.com/office/drawing/2014/main" id="{700279D3-A744-254C-8289-9BFBA6F23C74}"/>
              </a:ext>
            </a:extLst>
          </p:cNvPr>
          <p:cNvSpPr txBox="1"/>
          <p:nvPr/>
        </p:nvSpPr>
        <p:spPr>
          <a:xfrm>
            <a:off x="10345109" y="2848234"/>
            <a:ext cx="1405899" cy="523220"/>
          </a:xfrm>
          <a:prstGeom prst="rect">
            <a:avLst/>
          </a:prstGeom>
          <a:noFill/>
        </p:spPr>
        <p:txBody>
          <a:bodyPr wrap="none" rtlCol="0">
            <a:spAutoFit/>
          </a:bodyPr>
          <a:lstStyle/>
          <a:p>
            <a:pPr algn="ctr"/>
            <a:r>
              <a:rPr lang="en-US" sz="1400" dirty="0"/>
              <a:t>Pierre de Fermat</a:t>
            </a:r>
          </a:p>
          <a:p>
            <a:pPr algn="ctr"/>
            <a:r>
              <a:rPr lang="en-US" sz="1400" dirty="0"/>
              <a:t>1607 – 1665</a:t>
            </a:r>
          </a:p>
        </p:txBody>
      </p:sp>
      <p:sp>
        <p:nvSpPr>
          <p:cNvPr id="10" name="TextBox 9">
            <a:extLst>
              <a:ext uri="{FF2B5EF4-FFF2-40B4-BE49-F238E27FC236}">
                <a16:creationId xmlns:a16="http://schemas.microsoft.com/office/drawing/2014/main" id="{B9D59709-3C1C-1549-9A95-26291ACFFE95}"/>
              </a:ext>
            </a:extLst>
          </p:cNvPr>
          <p:cNvSpPr txBox="1"/>
          <p:nvPr/>
        </p:nvSpPr>
        <p:spPr>
          <a:xfrm>
            <a:off x="8005913" y="2848234"/>
            <a:ext cx="1913696" cy="523220"/>
          </a:xfrm>
          <a:prstGeom prst="rect">
            <a:avLst/>
          </a:prstGeom>
          <a:noFill/>
        </p:spPr>
        <p:txBody>
          <a:bodyPr wrap="square" rtlCol="0">
            <a:spAutoFit/>
          </a:bodyPr>
          <a:lstStyle/>
          <a:p>
            <a:pPr algn="ctr"/>
            <a:r>
              <a:rPr lang="en-US" sz="1400" dirty="0"/>
              <a:t>Blaise Pascal</a:t>
            </a:r>
          </a:p>
          <a:p>
            <a:pPr algn="ctr"/>
            <a:r>
              <a:rPr lang="en-US" sz="1400" dirty="0"/>
              <a:t>1623 -  1662</a:t>
            </a:r>
          </a:p>
        </p:txBody>
      </p:sp>
    </p:spTree>
    <p:extLst>
      <p:ext uri="{BB962C8B-B14F-4D97-AF65-F5344CB8AC3E}">
        <p14:creationId xmlns:p14="http://schemas.microsoft.com/office/powerpoint/2010/main" val="3654985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469D0A-3555-434D-A172-A5AF0A4C89BE}"/>
              </a:ext>
            </a:extLst>
          </p:cNvPr>
          <p:cNvSpPr txBox="1"/>
          <p:nvPr/>
        </p:nvSpPr>
        <p:spPr>
          <a:xfrm>
            <a:off x="212272" y="163286"/>
            <a:ext cx="5896980" cy="1277914"/>
          </a:xfrm>
          <a:prstGeom prst="rect">
            <a:avLst/>
          </a:prstGeom>
          <a:noFill/>
        </p:spPr>
        <p:txBody>
          <a:bodyPr wrap="square" rtlCol="0">
            <a:spAutoFit/>
          </a:bodyPr>
          <a:lstStyle/>
          <a:p>
            <a:pPr>
              <a:lnSpc>
                <a:spcPct val="80000"/>
              </a:lnSpc>
            </a:pPr>
            <a:r>
              <a:rPr lang="en-US" altLang="en-US" sz="1200" b="1" dirty="0">
                <a:solidFill>
                  <a:srgbClr val="0070C0"/>
                </a:solidFill>
              </a:rPr>
              <a:t>The incomplete game problem.</a:t>
            </a:r>
          </a:p>
          <a:p>
            <a:pPr>
              <a:lnSpc>
                <a:spcPct val="80000"/>
              </a:lnSpc>
            </a:pPr>
            <a:r>
              <a:rPr lang="en-US" altLang="en-US" sz="1200" dirty="0"/>
              <a:t>This is the same problem that concerned </a:t>
            </a:r>
            <a:r>
              <a:rPr lang="en-US" altLang="en-US" sz="1200" b="1" dirty="0">
                <a:solidFill>
                  <a:srgbClr val="0070C0"/>
                </a:solidFill>
              </a:rPr>
              <a:t>Pascal</a:t>
            </a:r>
            <a:r>
              <a:rPr lang="en-US" altLang="en-US" sz="1200" dirty="0"/>
              <a:t> and </a:t>
            </a:r>
            <a:r>
              <a:rPr lang="en-US" altLang="en-US" sz="1200" b="1" dirty="0">
                <a:solidFill>
                  <a:srgbClr val="0070C0"/>
                </a:solidFill>
              </a:rPr>
              <a:t>Fermat</a:t>
            </a:r>
            <a:r>
              <a:rPr lang="en-US" altLang="en-US" sz="1200" dirty="0"/>
              <a:t>.</a:t>
            </a:r>
          </a:p>
          <a:p>
            <a:pPr>
              <a:lnSpc>
                <a:spcPct val="80000"/>
              </a:lnSpc>
            </a:pPr>
            <a:r>
              <a:rPr lang="en-US" altLang="en-US" sz="1200" dirty="0"/>
              <a:t>Unsuccessful attempts at solving it by </a:t>
            </a:r>
            <a:r>
              <a:rPr lang="en-US" altLang="en-US" sz="1200" b="1" dirty="0" err="1">
                <a:solidFill>
                  <a:srgbClr val="0070C0"/>
                </a:solidFill>
              </a:rPr>
              <a:t>Cardano</a:t>
            </a:r>
            <a:r>
              <a:rPr lang="en-US" altLang="en-US" sz="1200" dirty="0"/>
              <a:t>, </a:t>
            </a:r>
            <a:r>
              <a:rPr lang="en-US" altLang="en-US" sz="1200" b="1" dirty="0">
                <a:solidFill>
                  <a:srgbClr val="0070C0"/>
                </a:solidFill>
              </a:rPr>
              <a:t>Tartaglia</a:t>
            </a:r>
            <a:r>
              <a:rPr lang="en-US" altLang="en-US" sz="1200" dirty="0"/>
              <a:t>, and G. F. </a:t>
            </a:r>
            <a:r>
              <a:rPr lang="en-US" altLang="en-US" sz="1200" b="1" dirty="0" err="1">
                <a:solidFill>
                  <a:srgbClr val="0070C0"/>
                </a:solidFill>
              </a:rPr>
              <a:t>Peverone</a:t>
            </a:r>
            <a:r>
              <a:rPr lang="en-US" altLang="en-US" sz="1200" dirty="0"/>
              <a:t>.</a:t>
            </a:r>
          </a:p>
          <a:p>
            <a:pPr>
              <a:lnSpc>
                <a:spcPct val="80000"/>
              </a:lnSpc>
            </a:pPr>
            <a:r>
              <a:rPr lang="en-US" altLang="en-US" sz="1200" dirty="0"/>
              <a:t>Success came with the realization that every possible permutation needs to be enumerated.</a:t>
            </a:r>
          </a:p>
          <a:p>
            <a:pPr>
              <a:lnSpc>
                <a:spcPct val="80000"/>
              </a:lnSpc>
            </a:pPr>
            <a:endParaRPr lang="en-US" altLang="en-US" sz="1200" dirty="0"/>
          </a:p>
          <a:p>
            <a:pPr>
              <a:lnSpc>
                <a:spcPct val="80000"/>
              </a:lnSpc>
            </a:pPr>
            <a:r>
              <a:rPr lang="en-US" altLang="en-US" sz="1200" dirty="0"/>
              <a:t>Dice problems</a:t>
            </a:r>
          </a:p>
          <a:p>
            <a:pPr>
              <a:lnSpc>
                <a:spcPct val="80000"/>
              </a:lnSpc>
            </a:pPr>
            <a:r>
              <a:rPr lang="en-US" altLang="en-US" sz="1200" dirty="0"/>
              <a:t>Confusion between combinations and permutations</a:t>
            </a:r>
          </a:p>
          <a:p>
            <a:pPr>
              <a:lnSpc>
                <a:spcPct val="80000"/>
              </a:lnSpc>
            </a:pPr>
            <a:r>
              <a:rPr lang="en-US" altLang="en-US" sz="1200" dirty="0"/>
              <a:t>Basic difficulty of establishing the Fundamental Set of equiprobable events.</a:t>
            </a:r>
          </a:p>
        </p:txBody>
      </p:sp>
      <p:sp>
        <p:nvSpPr>
          <p:cNvPr id="5" name="TextBox 4">
            <a:extLst>
              <a:ext uri="{FF2B5EF4-FFF2-40B4-BE49-F238E27FC236}">
                <a16:creationId xmlns:a16="http://schemas.microsoft.com/office/drawing/2014/main" id="{778AD63F-A017-8F43-BDE8-DD9AC6986219}"/>
              </a:ext>
            </a:extLst>
          </p:cNvPr>
          <p:cNvSpPr txBox="1"/>
          <p:nvPr/>
        </p:nvSpPr>
        <p:spPr>
          <a:xfrm>
            <a:off x="212272" y="1718110"/>
            <a:ext cx="4800600" cy="1384995"/>
          </a:xfrm>
          <a:prstGeom prst="rect">
            <a:avLst/>
          </a:prstGeom>
          <a:noFill/>
        </p:spPr>
        <p:txBody>
          <a:bodyPr wrap="square" rtlCol="0">
            <a:spAutoFit/>
          </a:bodyPr>
          <a:lstStyle/>
          <a:p>
            <a:r>
              <a:rPr lang="en-US" sz="1200" b="1" dirty="0">
                <a:solidFill>
                  <a:srgbClr val="0070C0"/>
                </a:solidFill>
              </a:rPr>
              <a:t>The </a:t>
            </a:r>
            <a:r>
              <a:rPr lang="en-US" sz="1200" b="1" dirty="0" err="1">
                <a:solidFill>
                  <a:srgbClr val="0070C0"/>
                </a:solidFill>
              </a:rPr>
              <a:t>Roannez</a:t>
            </a:r>
            <a:r>
              <a:rPr lang="en-US" sz="1200" b="1" dirty="0">
                <a:solidFill>
                  <a:srgbClr val="0070C0"/>
                </a:solidFill>
              </a:rPr>
              <a:t> Circle</a:t>
            </a:r>
            <a:r>
              <a:rPr lang="en-US" sz="1200" dirty="0"/>
              <a:t>	</a:t>
            </a:r>
          </a:p>
          <a:p>
            <a:r>
              <a:rPr lang="en-US" sz="1200" dirty="0" err="1"/>
              <a:t>Artus</a:t>
            </a:r>
            <a:r>
              <a:rPr lang="en-US" sz="1200" dirty="0"/>
              <a:t> </a:t>
            </a:r>
            <a:r>
              <a:rPr lang="en-US" sz="1200" dirty="0" err="1"/>
              <a:t>Gouffier</a:t>
            </a:r>
            <a:r>
              <a:rPr lang="en-US" sz="1200" dirty="0"/>
              <a:t>, Duke of </a:t>
            </a:r>
            <a:r>
              <a:rPr lang="en-US" sz="1200" dirty="0" err="1"/>
              <a:t>Roannez</a:t>
            </a:r>
            <a:r>
              <a:rPr lang="en-US" sz="1200" dirty="0"/>
              <a:t>, 1627-1696</a:t>
            </a:r>
          </a:p>
          <a:p>
            <a:r>
              <a:rPr lang="en-US" sz="1200" dirty="0"/>
              <a:t>His salon in Paris was the meeting place for mathematicians and other intellectuals, including </a:t>
            </a:r>
            <a:r>
              <a:rPr lang="en-US" sz="1200" b="1" dirty="0">
                <a:solidFill>
                  <a:srgbClr val="0070C0"/>
                </a:solidFill>
              </a:rPr>
              <a:t>Leibniz, Pascal, Huygens, </a:t>
            </a:r>
            <a:r>
              <a:rPr lang="en-US" sz="1200" b="1" dirty="0" err="1">
                <a:solidFill>
                  <a:srgbClr val="0070C0"/>
                </a:solidFill>
              </a:rPr>
              <a:t>Méré</a:t>
            </a:r>
            <a:r>
              <a:rPr lang="en-US" sz="1200" b="1" dirty="0">
                <a:solidFill>
                  <a:srgbClr val="0070C0"/>
                </a:solidFill>
              </a:rPr>
              <a:t>.</a:t>
            </a:r>
          </a:p>
          <a:p>
            <a:r>
              <a:rPr lang="en-US" sz="1200" b="1" dirty="0" err="1">
                <a:solidFill>
                  <a:srgbClr val="0070C0"/>
                </a:solidFill>
              </a:rPr>
              <a:t>Méré</a:t>
            </a:r>
            <a:r>
              <a:rPr lang="en-US" sz="1200" dirty="0"/>
              <a:t> posed several questions to </a:t>
            </a:r>
            <a:r>
              <a:rPr lang="en-US" sz="1200" b="1" dirty="0">
                <a:solidFill>
                  <a:srgbClr val="0070C0"/>
                </a:solidFill>
              </a:rPr>
              <a:t>Pascal</a:t>
            </a:r>
            <a:r>
              <a:rPr lang="en-US" sz="1200" dirty="0"/>
              <a:t> about gambling problems.</a:t>
            </a:r>
          </a:p>
          <a:p>
            <a:r>
              <a:rPr lang="en-US" sz="1200" dirty="0"/>
              <a:t>Solving the problem led </a:t>
            </a:r>
            <a:r>
              <a:rPr lang="en-US" sz="1200" b="1" dirty="0">
                <a:solidFill>
                  <a:srgbClr val="0070C0"/>
                </a:solidFill>
              </a:rPr>
              <a:t>Pascal</a:t>
            </a:r>
            <a:r>
              <a:rPr lang="en-US" sz="1200" dirty="0"/>
              <a:t> to further exploration of the coefficients of the binomial expansion, known to us as </a:t>
            </a:r>
            <a:r>
              <a:rPr lang="en-US" sz="1200" b="1" dirty="0">
                <a:solidFill>
                  <a:srgbClr val="0070C0"/>
                </a:solidFill>
              </a:rPr>
              <a:t>Pascal’s</a:t>
            </a:r>
            <a:r>
              <a:rPr lang="en-US" sz="1200" dirty="0"/>
              <a:t> triangle.</a:t>
            </a:r>
          </a:p>
        </p:txBody>
      </p:sp>
      <p:sp>
        <p:nvSpPr>
          <p:cNvPr id="6" name="TextBox 5">
            <a:extLst>
              <a:ext uri="{FF2B5EF4-FFF2-40B4-BE49-F238E27FC236}">
                <a16:creationId xmlns:a16="http://schemas.microsoft.com/office/drawing/2014/main" id="{C7D68A1E-8F50-AB40-97E5-D2E464D8297B}"/>
              </a:ext>
            </a:extLst>
          </p:cNvPr>
          <p:cNvSpPr txBox="1"/>
          <p:nvPr/>
        </p:nvSpPr>
        <p:spPr>
          <a:xfrm>
            <a:off x="212272" y="3380726"/>
            <a:ext cx="5274128" cy="3231654"/>
          </a:xfrm>
          <a:prstGeom prst="rect">
            <a:avLst/>
          </a:prstGeom>
          <a:noFill/>
        </p:spPr>
        <p:txBody>
          <a:bodyPr wrap="square" rtlCol="0">
            <a:spAutoFit/>
          </a:bodyPr>
          <a:lstStyle/>
          <a:p>
            <a:r>
              <a:rPr lang="en-US" sz="1200" dirty="0"/>
              <a:t>Decision theory</a:t>
            </a:r>
          </a:p>
          <a:p>
            <a:r>
              <a:rPr lang="en-US" sz="1200" dirty="0"/>
              <a:t>The theory of deciding what to do when it is uncertain what will happen.</a:t>
            </a:r>
          </a:p>
          <a:p>
            <a:r>
              <a:rPr lang="en-US" sz="1200" dirty="0"/>
              <a:t>The rational, optimal decision, is that which has the highest expected value.</a:t>
            </a:r>
          </a:p>
          <a:p>
            <a:r>
              <a:rPr lang="en-US" sz="1200" dirty="0"/>
              <a:t>Expected value is the product of the value (payoff) of an outcome multiplied by its probability of occurrence.</a:t>
            </a:r>
          </a:p>
          <a:p>
            <a:r>
              <a:rPr lang="en-US" sz="1200" dirty="0"/>
              <a:t>E.g. expected value of buying a lottery ticket = sum of product of each prize times probability of winning it.</a:t>
            </a:r>
          </a:p>
          <a:p>
            <a:endParaRPr lang="en-US" sz="1200" dirty="0"/>
          </a:p>
          <a:p>
            <a:r>
              <a:rPr lang="en-US" sz="1200" dirty="0"/>
              <a:t>Three forms of decision theory argument:</a:t>
            </a:r>
          </a:p>
          <a:p>
            <a:r>
              <a:rPr lang="en-US" sz="1200" b="1" dirty="0">
                <a:solidFill>
                  <a:srgbClr val="0070C0"/>
                </a:solidFill>
              </a:rPr>
              <a:t>Dominance</a:t>
            </a:r>
            <a:r>
              <a:rPr lang="en-US" sz="1200" dirty="0"/>
              <a:t>: one course of action is better than any other under all circumstances.</a:t>
            </a:r>
          </a:p>
          <a:p>
            <a:r>
              <a:rPr lang="en-US" sz="1200" b="1" dirty="0">
                <a:solidFill>
                  <a:srgbClr val="0070C0"/>
                </a:solidFill>
              </a:rPr>
              <a:t>Expectation</a:t>
            </a:r>
            <a:r>
              <a:rPr lang="en-US" sz="1200" dirty="0"/>
              <a:t>: one course of action, Ai, has the highest expected value:</a:t>
            </a:r>
          </a:p>
          <a:p>
            <a:r>
              <a:rPr lang="en-US" sz="1200" dirty="0"/>
              <a:t>    Let p</a:t>
            </a:r>
            <a:r>
              <a:rPr lang="en-US" sz="1200" baseline="-25000" dirty="0"/>
              <a:t>i</a:t>
            </a:r>
            <a:r>
              <a:rPr lang="en-US" sz="1200" dirty="0"/>
              <a:t> = probability of each possible state, S</a:t>
            </a:r>
            <a:r>
              <a:rPr lang="en-US" sz="1200" baseline="-25000" dirty="0"/>
              <a:t>i</a:t>
            </a:r>
          </a:p>
          <a:p>
            <a:r>
              <a:rPr lang="en-US" sz="1200" dirty="0"/>
              <a:t>    Let </a:t>
            </a:r>
            <a:r>
              <a:rPr lang="en-US" sz="1200" dirty="0" err="1"/>
              <a:t>U</a:t>
            </a:r>
            <a:r>
              <a:rPr lang="en-US" sz="1200" baseline="-25000" dirty="0" err="1"/>
              <a:t>ij</a:t>
            </a:r>
            <a:r>
              <a:rPr lang="en-US" sz="1200" dirty="0"/>
              <a:t> = utility of action </a:t>
            </a:r>
            <a:r>
              <a:rPr lang="en-US" sz="1200" dirty="0" err="1"/>
              <a:t>A</a:t>
            </a:r>
            <a:r>
              <a:rPr lang="en-US" sz="1200" baseline="-25000" dirty="0" err="1"/>
              <a:t>j</a:t>
            </a:r>
            <a:r>
              <a:rPr lang="en-US" sz="1200" dirty="0"/>
              <a:t> in state S</a:t>
            </a:r>
            <a:r>
              <a:rPr lang="en-US" sz="1200" baseline="-25000" dirty="0"/>
              <a:t>i</a:t>
            </a:r>
          </a:p>
          <a:p>
            <a:r>
              <a:rPr lang="en-US" sz="1200" dirty="0"/>
              <a:t>    Expectation of </a:t>
            </a:r>
            <a:r>
              <a:rPr lang="en-US" sz="1200" dirty="0" err="1"/>
              <a:t>A</a:t>
            </a:r>
            <a:r>
              <a:rPr lang="en-US" sz="1200" baseline="-25000" dirty="0" err="1"/>
              <a:t>j</a:t>
            </a:r>
            <a:r>
              <a:rPr lang="en-US" sz="1200" dirty="0"/>
              <a:t> = ∑ p</a:t>
            </a:r>
            <a:r>
              <a:rPr lang="en-US" sz="1200" baseline="-25000" dirty="0"/>
              <a:t>i</a:t>
            </a:r>
            <a:r>
              <a:rPr lang="en-US" sz="1200" dirty="0"/>
              <a:t> </a:t>
            </a:r>
            <a:r>
              <a:rPr lang="en-US" sz="1200" dirty="0" err="1"/>
              <a:t>U</a:t>
            </a:r>
            <a:r>
              <a:rPr lang="en-US" sz="1200" baseline="-25000" dirty="0" err="1"/>
              <a:t>ij</a:t>
            </a:r>
            <a:r>
              <a:rPr lang="en-US" sz="1200" dirty="0"/>
              <a:t> over I</a:t>
            </a:r>
          </a:p>
          <a:p>
            <a:r>
              <a:rPr lang="en-US" sz="1200" b="1" dirty="0">
                <a:solidFill>
                  <a:srgbClr val="0070C0"/>
                </a:solidFill>
              </a:rPr>
              <a:t>Dominating expectation</a:t>
            </a:r>
            <a:r>
              <a:rPr lang="en-US" sz="1200" dirty="0"/>
              <a:t>: where the probabilities of each state is not known or not trusted, but partial agreement on probabilities assigns one action a higher probability than any other, then that action has dominating expectation.</a:t>
            </a:r>
          </a:p>
        </p:txBody>
      </p:sp>
      <p:sp>
        <p:nvSpPr>
          <p:cNvPr id="7" name="TextBox 6">
            <a:extLst>
              <a:ext uri="{FF2B5EF4-FFF2-40B4-BE49-F238E27FC236}">
                <a16:creationId xmlns:a16="http://schemas.microsoft.com/office/drawing/2014/main" id="{9EDDC8FC-795E-E942-8D67-B9C8DB4B871C}"/>
              </a:ext>
            </a:extLst>
          </p:cNvPr>
          <p:cNvSpPr txBox="1"/>
          <p:nvPr/>
        </p:nvSpPr>
        <p:spPr>
          <a:xfrm>
            <a:off x="6449355" y="2800552"/>
            <a:ext cx="5291328" cy="3600986"/>
          </a:xfrm>
          <a:prstGeom prst="rect">
            <a:avLst/>
          </a:prstGeom>
          <a:noFill/>
        </p:spPr>
        <p:txBody>
          <a:bodyPr wrap="square" rtlCol="0">
            <a:spAutoFit/>
          </a:bodyPr>
          <a:lstStyle/>
          <a:p>
            <a:r>
              <a:rPr lang="en-US" sz="1200" b="1" dirty="0">
                <a:solidFill>
                  <a:srgbClr val="0070C0"/>
                </a:solidFill>
              </a:rPr>
              <a:t>Christiaan Huygens</a:t>
            </a:r>
            <a:r>
              <a:rPr lang="en-US" sz="1200" dirty="0"/>
              <a:t>, from the Netherlands, six years younger than </a:t>
            </a:r>
            <a:r>
              <a:rPr lang="en-US" sz="1200" b="1" dirty="0">
                <a:solidFill>
                  <a:srgbClr val="0070C0"/>
                </a:solidFill>
              </a:rPr>
              <a:t>Pascal</a:t>
            </a:r>
            <a:r>
              <a:rPr lang="en-US" sz="1200" dirty="0"/>
              <a:t>, begun studying probabilities after hearing from the studies of </a:t>
            </a:r>
            <a:r>
              <a:rPr lang="en-US" sz="1200" b="1" dirty="0">
                <a:solidFill>
                  <a:srgbClr val="0070C0"/>
                </a:solidFill>
              </a:rPr>
              <a:t>Fermat</a:t>
            </a:r>
            <a:r>
              <a:rPr lang="en-US" sz="1200" dirty="0"/>
              <a:t> and </a:t>
            </a:r>
            <a:r>
              <a:rPr lang="en-US" sz="1200" b="1" dirty="0">
                <a:solidFill>
                  <a:srgbClr val="0070C0"/>
                </a:solidFill>
              </a:rPr>
              <a:t>Pascal</a:t>
            </a:r>
            <a:r>
              <a:rPr lang="en-US" sz="1200" dirty="0"/>
              <a:t>.</a:t>
            </a:r>
          </a:p>
          <a:p>
            <a:endParaRPr lang="en-US" sz="1200" dirty="0"/>
          </a:p>
          <a:p>
            <a:r>
              <a:rPr lang="en-US" sz="1200" dirty="0"/>
              <a:t>He wrote a short book “Van </a:t>
            </a:r>
            <a:r>
              <a:rPr lang="en-US" sz="1200" dirty="0" err="1"/>
              <a:t>Rekeningh</a:t>
            </a:r>
            <a:r>
              <a:rPr lang="en-US" sz="1200" dirty="0"/>
              <a:t> in </a:t>
            </a:r>
            <a:r>
              <a:rPr lang="en-US" sz="1200" dirty="0" err="1"/>
              <a:t>Spelen</a:t>
            </a:r>
            <a:r>
              <a:rPr lang="en-US" sz="1200" dirty="0"/>
              <a:t> van </a:t>
            </a:r>
            <a:r>
              <a:rPr lang="en-US" sz="1200" dirty="0" err="1"/>
              <a:t>Geluck</a:t>
            </a:r>
            <a:r>
              <a:rPr lang="en-US" sz="1200" dirty="0"/>
              <a:t>” (</a:t>
            </a:r>
            <a:r>
              <a:rPr lang="en-US" sz="1200" b="1" dirty="0">
                <a:solidFill>
                  <a:srgbClr val="0070C0"/>
                </a:solidFill>
              </a:rPr>
              <a:t> Calculating in Games of Chance</a:t>
            </a:r>
            <a:r>
              <a:rPr lang="en-US" sz="1200" dirty="0"/>
              <a:t>", printed in Latin in 1657 " De </a:t>
            </a:r>
            <a:r>
              <a:rPr lang="en-US" sz="1200" dirty="0" err="1"/>
              <a:t>rationcinis</a:t>
            </a:r>
            <a:r>
              <a:rPr lang="en-US" sz="1200" dirty="0"/>
              <a:t> in </a:t>
            </a:r>
            <a:r>
              <a:rPr lang="en-US" sz="1200" dirty="0" err="1"/>
              <a:t>aleae</a:t>
            </a:r>
            <a:r>
              <a:rPr lang="en-US" sz="1200" dirty="0"/>
              <a:t> </a:t>
            </a:r>
            <a:r>
              <a:rPr lang="en-US" sz="1200" dirty="0" err="1"/>
              <a:t>ludo</a:t>
            </a:r>
            <a:r>
              <a:rPr lang="en-US" sz="1200" dirty="0"/>
              <a:t>"), introducing the </a:t>
            </a:r>
            <a:r>
              <a:rPr lang="en-US" sz="1200" b="1" dirty="0">
                <a:solidFill>
                  <a:srgbClr val="0070C0"/>
                </a:solidFill>
              </a:rPr>
              <a:t>concept of expectation value</a:t>
            </a:r>
            <a:r>
              <a:rPr lang="en-US" sz="1200" dirty="0"/>
              <a:t>. This was the first textbook of probability.</a:t>
            </a:r>
          </a:p>
          <a:p>
            <a:endParaRPr lang="en-US" sz="1200" b="1" dirty="0">
              <a:solidFill>
                <a:srgbClr val="0070C0"/>
              </a:solidFill>
            </a:endParaRPr>
          </a:p>
          <a:p>
            <a:r>
              <a:rPr lang="en-US" sz="1200" b="1" dirty="0">
                <a:solidFill>
                  <a:srgbClr val="0070C0"/>
                </a:solidFill>
              </a:rPr>
              <a:t>Huygens</a:t>
            </a:r>
            <a:r>
              <a:rPr lang="en-US" sz="1200" dirty="0"/>
              <a:t> had made a trip to Paris and learned of the </a:t>
            </a:r>
            <a:r>
              <a:rPr lang="en-US" sz="1200" b="1" dirty="0">
                <a:solidFill>
                  <a:srgbClr val="0070C0"/>
                </a:solidFill>
              </a:rPr>
              <a:t>Pascal-Fermat</a:t>
            </a:r>
            <a:r>
              <a:rPr lang="en-US" sz="1200" dirty="0"/>
              <a:t> correspondence. He became a member of the </a:t>
            </a:r>
            <a:r>
              <a:rPr lang="en-US" sz="1200" b="1" dirty="0" err="1">
                <a:solidFill>
                  <a:srgbClr val="0070C0"/>
                </a:solidFill>
              </a:rPr>
              <a:t>Roannez</a:t>
            </a:r>
            <a:r>
              <a:rPr lang="en-US" sz="1200" b="1" dirty="0">
                <a:solidFill>
                  <a:srgbClr val="0070C0"/>
                </a:solidFill>
              </a:rPr>
              <a:t> Circle </a:t>
            </a:r>
            <a:r>
              <a:rPr lang="en-US" sz="1200" dirty="0"/>
              <a:t>and met </a:t>
            </a:r>
            <a:r>
              <a:rPr lang="en-US" sz="1200" b="1" dirty="0" err="1">
                <a:solidFill>
                  <a:srgbClr val="0070C0"/>
                </a:solidFill>
              </a:rPr>
              <a:t>Méré</a:t>
            </a:r>
            <a:r>
              <a:rPr lang="en-US" sz="1200" dirty="0"/>
              <a:t>.</a:t>
            </a:r>
          </a:p>
          <a:p>
            <a:endParaRPr lang="en-US" sz="1200" dirty="0"/>
          </a:p>
          <a:p>
            <a:r>
              <a:rPr lang="en-US" altLang="en-US" sz="1200" dirty="0"/>
              <a:t>Expectation as the “fair price” to play. Huygens’ text is about gambling problems. His concept of mathematical </a:t>
            </a:r>
            <a:r>
              <a:rPr lang="en-US" altLang="en-US" sz="1200" b="1" dirty="0">
                <a:solidFill>
                  <a:srgbClr val="0070C0"/>
                </a:solidFill>
              </a:rPr>
              <a:t>expectation</a:t>
            </a:r>
            <a:r>
              <a:rPr lang="en-US" altLang="en-US" sz="1200" dirty="0"/>
              <a:t>, the possible winnings multiplied by the frequency of successes divided by all possible outcomes, was given as the “fair price” to play. </a:t>
            </a:r>
          </a:p>
          <a:p>
            <a:endParaRPr lang="en-US" altLang="en-US" sz="1200" dirty="0"/>
          </a:p>
          <a:p>
            <a:r>
              <a:rPr lang="en-US" altLang="en-US" sz="1200" dirty="0"/>
              <a:t>In the long run (the limit of successive plays) paying more than the expectation will lose money, paying less will make money. The expected value expresses the point of indifference.</a:t>
            </a:r>
          </a:p>
        </p:txBody>
      </p:sp>
      <p:pic>
        <p:nvPicPr>
          <p:cNvPr id="8" name="Picture 7">
            <a:extLst>
              <a:ext uri="{FF2B5EF4-FFF2-40B4-BE49-F238E27FC236}">
                <a16:creationId xmlns:a16="http://schemas.microsoft.com/office/drawing/2014/main" id="{D7EC0C66-05B1-D547-856F-F54983B75C7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8049696" y="108713"/>
            <a:ext cx="1724592" cy="1805432"/>
          </a:xfrm>
          <a:prstGeom prst="rect">
            <a:avLst/>
          </a:prstGeom>
        </p:spPr>
      </p:pic>
      <p:sp>
        <p:nvSpPr>
          <p:cNvPr id="3" name="TextBox 2">
            <a:extLst>
              <a:ext uri="{FF2B5EF4-FFF2-40B4-BE49-F238E27FC236}">
                <a16:creationId xmlns:a16="http://schemas.microsoft.com/office/drawing/2014/main" id="{41108C55-7AF2-A34F-A2C2-18D1D4BDF703}"/>
              </a:ext>
            </a:extLst>
          </p:cNvPr>
          <p:cNvSpPr txBox="1"/>
          <p:nvPr/>
        </p:nvSpPr>
        <p:spPr>
          <a:xfrm>
            <a:off x="6851904" y="1938529"/>
            <a:ext cx="4084320" cy="738664"/>
          </a:xfrm>
          <a:prstGeom prst="rect">
            <a:avLst/>
          </a:prstGeom>
          <a:noFill/>
        </p:spPr>
        <p:txBody>
          <a:bodyPr wrap="square" rtlCol="0">
            <a:spAutoFit/>
          </a:bodyPr>
          <a:lstStyle/>
          <a:p>
            <a:pPr algn="ctr"/>
            <a:r>
              <a:rPr lang="en-US" sz="1400" b="1" dirty="0">
                <a:solidFill>
                  <a:srgbClr val="0070C0"/>
                </a:solidFill>
              </a:rPr>
              <a:t>Christiaan Huygens (</a:t>
            </a:r>
            <a:r>
              <a:rPr lang="en-US" sz="1400" dirty="0"/>
              <a:t>1629 - 1695</a:t>
            </a:r>
            <a:r>
              <a:rPr lang="en-US" sz="1400" b="1" dirty="0">
                <a:solidFill>
                  <a:srgbClr val="0070C0"/>
                </a:solidFill>
              </a:rPr>
              <a:t>)</a:t>
            </a:r>
            <a:br>
              <a:rPr lang="en-US" sz="1400" dirty="0"/>
            </a:br>
            <a:r>
              <a:rPr lang="en-US" sz="1400" dirty="0"/>
              <a:t>Scientist, innovator, and inventor </a:t>
            </a:r>
          </a:p>
          <a:p>
            <a:pPr algn="ctr"/>
            <a:r>
              <a:rPr lang="en-US" sz="1400" dirty="0"/>
              <a:t>of the pendulum clock.</a:t>
            </a:r>
          </a:p>
        </p:txBody>
      </p:sp>
    </p:spTree>
    <p:extLst>
      <p:ext uri="{BB962C8B-B14F-4D97-AF65-F5344CB8AC3E}">
        <p14:creationId xmlns:p14="http://schemas.microsoft.com/office/powerpoint/2010/main" val="2510293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C3B2AFC-FFBE-A541-BC38-BF89851A8CC4}"/>
              </a:ext>
            </a:extLst>
          </p:cNvPr>
          <p:cNvSpPr txBox="1"/>
          <p:nvPr/>
        </p:nvSpPr>
        <p:spPr>
          <a:xfrm>
            <a:off x="371770" y="318526"/>
            <a:ext cx="6771152" cy="5845896"/>
          </a:xfrm>
          <a:prstGeom prst="rect">
            <a:avLst/>
          </a:prstGeom>
          <a:noFill/>
        </p:spPr>
        <p:txBody>
          <a:bodyPr wrap="square" rtlCol="0">
            <a:spAutoFit/>
          </a:bodyPr>
          <a:lstStyle/>
          <a:p>
            <a:r>
              <a:rPr lang="en-US" b="1" dirty="0">
                <a:solidFill>
                  <a:srgbClr val="0070C0"/>
                </a:solidFill>
              </a:rPr>
              <a:t>Pascal’s Wager </a:t>
            </a:r>
            <a:r>
              <a:rPr lang="en-US" dirty="0"/>
              <a:t>as decision theory</a:t>
            </a:r>
          </a:p>
          <a:p>
            <a:endParaRPr lang="en-US" dirty="0"/>
          </a:p>
          <a:p>
            <a:pPr>
              <a:lnSpc>
                <a:spcPct val="80000"/>
              </a:lnSpc>
            </a:pPr>
            <a:r>
              <a:rPr lang="en-US" altLang="en-US" sz="1400" dirty="0"/>
              <a:t>Two possible states: </a:t>
            </a:r>
            <a:r>
              <a:rPr lang="en-US" altLang="en-US" sz="1400" b="1" dirty="0">
                <a:solidFill>
                  <a:srgbClr val="0070C0"/>
                </a:solidFill>
              </a:rPr>
              <a:t>God exists or He does not</a:t>
            </a:r>
            <a:r>
              <a:rPr lang="en-US" altLang="en-US" sz="1400" dirty="0"/>
              <a:t>.</a:t>
            </a:r>
          </a:p>
          <a:p>
            <a:pPr>
              <a:lnSpc>
                <a:spcPct val="80000"/>
              </a:lnSpc>
            </a:pPr>
            <a:endParaRPr lang="en-US" altLang="en-US" sz="1400" dirty="0"/>
          </a:p>
          <a:p>
            <a:pPr>
              <a:lnSpc>
                <a:spcPct val="80000"/>
              </a:lnSpc>
            </a:pPr>
            <a:r>
              <a:rPr lang="en-US" altLang="en-US" sz="1400" dirty="0"/>
              <a:t>Two possible actions: </a:t>
            </a:r>
            <a:r>
              <a:rPr lang="en-US" altLang="en-US" sz="1400" b="1" dirty="0">
                <a:solidFill>
                  <a:srgbClr val="0070C0"/>
                </a:solidFill>
              </a:rPr>
              <a:t>Believe</a:t>
            </a:r>
            <a:r>
              <a:rPr lang="en-US" altLang="en-US" sz="1400" dirty="0"/>
              <a:t> and live a righteous life or </a:t>
            </a:r>
            <a:r>
              <a:rPr lang="en-US" altLang="en-US" sz="1400" b="1" dirty="0">
                <a:solidFill>
                  <a:srgbClr val="0070C0"/>
                </a:solidFill>
              </a:rPr>
              <a:t>don’t believe </a:t>
            </a:r>
            <a:r>
              <a:rPr lang="en-US" altLang="en-US" sz="1400" dirty="0"/>
              <a:t>and lead a life of sin.</a:t>
            </a:r>
          </a:p>
          <a:p>
            <a:pPr>
              <a:lnSpc>
                <a:spcPct val="80000"/>
              </a:lnSpc>
            </a:pPr>
            <a:endParaRPr lang="en-US" altLang="en-US" sz="1400" dirty="0"/>
          </a:p>
          <a:p>
            <a:pPr>
              <a:lnSpc>
                <a:spcPct val="80000"/>
              </a:lnSpc>
            </a:pPr>
            <a:r>
              <a:rPr lang="en-US" altLang="en-US" sz="1400" dirty="0"/>
              <a:t>Four outcomes: </a:t>
            </a:r>
          </a:p>
          <a:p>
            <a:pPr lvl="1">
              <a:lnSpc>
                <a:spcPct val="80000"/>
              </a:lnSpc>
            </a:pPr>
            <a:r>
              <a:rPr lang="en-US" altLang="en-US" sz="1100" dirty="0"/>
              <a:t>God exists X righteous life </a:t>
            </a:r>
            <a:r>
              <a:rPr lang="en-US" altLang="en-US" sz="1100" dirty="0">
                <a:sym typeface="Wingdings" pitchFamily="2" charset="2"/>
              </a:rPr>
              <a:t> salvation</a:t>
            </a:r>
          </a:p>
          <a:p>
            <a:pPr lvl="1">
              <a:lnSpc>
                <a:spcPct val="80000"/>
              </a:lnSpc>
            </a:pPr>
            <a:r>
              <a:rPr lang="en-US" altLang="en-US" sz="1100" dirty="0"/>
              <a:t>God exists X sinful life </a:t>
            </a:r>
            <a:r>
              <a:rPr lang="en-US" altLang="en-US" sz="1100" dirty="0">
                <a:sym typeface="Wingdings" pitchFamily="2" charset="2"/>
              </a:rPr>
              <a:t> eternal damnation</a:t>
            </a:r>
          </a:p>
          <a:p>
            <a:pPr lvl="1">
              <a:lnSpc>
                <a:spcPct val="80000"/>
              </a:lnSpc>
            </a:pPr>
            <a:r>
              <a:rPr lang="en-US" altLang="en-US" sz="1100" dirty="0"/>
              <a:t>God does not exist X righteous life </a:t>
            </a:r>
            <a:r>
              <a:rPr lang="en-US" altLang="en-US" sz="1100" dirty="0">
                <a:sym typeface="Wingdings" pitchFamily="2" charset="2"/>
              </a:rPr>
              <a:t> no harm done</a:t>
            </a:r>
          </a:p>
          <a:p>
            <a:pPr lvl="1">
              <a:lnSpc>
                <a:spcPct val="80000"/>
              </a:lnSpc>
            </a:pPr>
            <a:r>
              <a:rPr lang="en-US" altLang="en-US" sz="1100" dirty="0"/>
              <a:t>God does not exist X sinful life </a:t>
            </a:r>
            <a:r>
              <a:rPr lang="en-US" altLang="en-US" sz="1100" dirty="0">
                <a:sym typeface="Wingdings" pitchFamily="2" charset="2"/>
              </a:rPr>
              <a:t> finite life span of riotous living</a:t>
            </a:r>
          </a:p>
          <a:p>
            <a:pPr>
              <a:lnSpc>
                <a:spcPct val="80000"/>
              </a:lnSpc>
            </a:pPr>
            <a:endParaRPr lang="en-US" altLang="en-US" sz="1400" dirty="0"/>
          </a:p>
          <a:p>
            <a:pPr>
              <a:lnSpc>
                <a:spcPct val="80000"/>
              </a:lnSpc>
            </a:pPr>
            <a:r>
              <a:rPr lang="en-US" altLang="en-US" sz="1400" b="1" dirty="0">
                <a:solidFill>
                  <a:srgbClr val="0070C0"/>
                </a:solidFill>
              </a:rPr>
              <a:t>Dominance case</a:t>
            </a:r>
            <a:r>
              <a:rPr lang="en-US" altLang="en-US" sz="1400" dirty="0"/>
              <a:t>: Believing simply dominates over non-believing if the situation is equivalent in the case that God does not exist.</a:t>
            </a:r>
          </a:p>
          <a:p>
            <a:pPr>
              <a:lnSpc>
                <a:spcPct val="80000"/>
              </a:lnSpc>
            </a:pPr>
            <a:endParaRPr lang="en-US" altLang="en-US" sz="1400" dirty="0"/>
          </a:p>
          <a:p>
            <a:pPr>
              <a:lnSpc>
                <a:spcPct val="80000"/>
              </a:lnSpc>
            </a:pPr>
            <a:r>
              <a:rPr lang="en-US" altLang="en-US" sz="1400" b="1" dirty="0">
                <a:solidFill>
                  <a:srgbClr val="0070C0"/>
                </a:solidFill>
              </a:rPr>
              <a:t>Expectation case</a:t>
            </a:r>
            <a:r>
              <a:rPr lang="en-US" altLang="en-US" sz="1400" dirty="0"/>
              <a:t>: But if believing (and living righteously) foregoes the pleasures of sin, then believing does not simply dominate. However if the consequences in the case of God’s existence are greatly in excess of those in the event of non-existence (salvation vs damnation as opposed to indifference vs. fun), then believing has the highest expected value.</a:t>
            </a:r>
          </a:p>
          <a:p>
            <a:pPr>
              <a:lnSpc>
                <a:spcPct val="80000"/>
              </a:lnSpc>
            </a:pPr>
            <a:endParaRPr lang="en-US" altLang="en-US" sz="1400" dirty="0"/>
          </a:p>
          <a:p>
            <a:pPr>
              <a:lnSpc>
                <a:spcPct val="80000"/>
              </a:lnSpc>
            </a:pPr>
            <a:r>
              <a:rPr lang="en-US" altLang="en-US" sz="1400" b="1" dirty="0">
                <a:solidFill>
                  <a:srgbClr val="0070C0"/>
                </a:solidFill>
              </a:rPr>
              <a:t>Dominating expectation</a:t>
            </a:r>
            <a:r>
              <a:rPr lang="en-US" altLang="en-US" sz="1400" dirty="0"/>
              <a:t>: Since the probability of God existing is not known, Pascal appeals to dominance of one expectation over another: </a:t>
            </a:r>
            <a:r>
              <a:rPr lang="en-US" altLang="en-US" sz="1400" i="1" dirty="0"/>
              <a:t>Infinite salvation or damnation</a:t>
            </a:r>
            <a:r>
              <a:rPr lang="en-US" altLang="en-US" sz="1400" dirty="0"/>
              <a:t> versus something finite.</a:t>
            </a:r>
          </a:p>
          <a:p>
            <a:pPr>
              <a:lnSpc>
                <a:spcPct val="80000"/>
              </a:lnSpc>
            </a:pPr>
            <a:endParaRPr lang="en-US" altLang="en-US" sz="1400" dirty="0"/>
          </a:p>
          <a:p>
            <a:pPr>
              <a:lnSpc>
                <a:spcPct val="80000"/>
              </a:lnSpc>
            </a:pPr>
            <a:r>
              <a:rPr lang="en-US" altLang="en-US" sz="1400" b="1" dirty="0">
                <a:solidFill>
                  <a:srgbClr val="0070C0"/>
                </a:solidFill>
              </a:rPr>
              <a:t>Pascal’s wager </a:t>
            </a:r>
            <a:r>
              <a:rPr lang="en-US" altLang="en-US" sz="1400" dirty="0"/>
              <a:t>much quoted, often misrepresented</a:t>
            </a:r>
          </a:p>
          <a:p>
            <a:pPr>
              <a:lnSpc>
                <a:spcPct val="80000"/>
              </a:lnSpc>
            </a:pPr>
            <a:endParaRPr lang="en-US" altLang="en-US" sz="1400" dirty="0"/>
          </a:p>
          <a:p>
            <a:pPr>
              <a:lnSpc>
                <a:spcPct val="80000"/>
              </a:lnSpc>
            </a:pPr>
            <a:r>
              <a:rPr lang="en-US" altLang="en-US" sz="1400" dirty="0"/>
              <a:t>It was transformed and re-stated by many theologians and used as an argument for the existence of God or for righteous living.</a:t>
            </a:r>
          </a:p>
          <a:p>
            <a:pPr>
              <a:lnSpc>
                <a:spcPct val="80000"/>
              </a:lnSpc>
            </a:pPr>
            <a:r>
              <a:rPr lang="en-US" altLang="en-US" sz="1400" dirty="0"/>
              <a:t>It was criticized as faulty by many who saw it as manipulative and impious.</a:t>
            </a:r>
          </a:p>
          <a:p>
            <a:pPr>
              <a:lnSpc>
                <a:spcPct val="80000"/>
              </a:lnSpc>
            </a:pPr>
            <a:r>
              <a:rPr lang="en-US" altLang="en-US" sz="1400" dirty="0"/>
              <a:t>E.g., William James suggestion that those who became believers for the reasons given by Pascal were not going to get the payoff anticipated.</a:t>
            </a:r>
          </a:p>
          <a:p>
            <a:pPr>
              <a:lnSpc>
                <a:spcPct val="80000"/>
              </a:lnSpc>
            </a:pPr>
            <a:endParaRPr lang="en-US" altLang="en-US" sz="1400" dirty="0"/>
          </a:p>
        </p:txBody>
      </p:sp>
      <p:pic>
        <p:nvPicPr>
          <p:cNvPr id="5" name="Picture 6" descr="pascals wager diagrammed">
            <a:extLst>
              <a:ext uri="{FF2B5EF4-FFF2-40B4-BE49-F238E27FC236}">
                <a16:creationId xmlns:a16="http://schemas.microsoft.com/office/drawing/2014/main" id="{0A382AE9-9621-3B4B-800D-023A9B070357}"/>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a:xfrm>
            <a:off x="8011886" y="528252"/>
            <a:ext cx="3287713" cy="34290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407595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6D52A8A-0DAC-B248-8F03-4A932D1ED16B}"/>
              </a:ext>
            </a:extLst>
          </p:cNvPr>
          <p:cNvSpPr txBox="1"/>
          <p:nvPr/>
        </p:nvSpPr>
        <p:spPr>
          <a:xfrm>
            <a:off x="99061" y="102979"/>
            <a:ext cx="8313419" cy="6586418"/>
          </a:xfrm>
          <a:prstGeom prst="rect">
            <a:avLst/>
          </a:prstGeom>
          <a:noFill/>
        </p:spPr>
        <p:txBody>
          <a:bodyPr wrap="square" rtlCol="0">
            <a:spAutoFit/>
          </a:bodyPr>
          <a:lstStyle/>
          <a:p>
            <a:r>
              <a:rPr lang="en-US" sz="2000" b="1" dirty="0">
                <a:solidFill>
                  <a:srgbClr val="0070C0"/>
                </a:solidFill>
              </a:rPr>
              <a:t>The word “probability</a:t>
            </a:r>
            <a:r>
              <a:rPr lang="en-US" sz="2000" dirty="0"/>
              <a:t>” itself first used to denote </a:t>
            </a:r>
          </a:p>
          <a:p>
            <a:r>
              <a:rPr lang="en-US" sz="2000" dirty="0"/>
              <a:t>something measurable in 1662 in the book </a:t>
            </a:r>
          </a:p>
          <a:p>
            <a:r>
              <a:rPr lang="en-US" sz="2000" b="1" dirty="0">
                <a:solidFill>
                  <a:srgbClr val="0070C0"/>
                </a:solidFill>
              </a:rPr>
              <a:t>"La </a:t>
            </a:r>
            <a:r>
              <a:rPr lang="en-US" sz="2000" b="1" dirty="0" err="1">
                <a:solidFill>
                  <a:srgbClr val="0070C0"/>
                </a:solidFill>
              </a:rPr>
              <a:t>logique</a:t>
            </a:r>
            <a:r>
              <a:rPr lang="en-US" sz="2000" b="1" dirty="0">
                <a:solidFill>
                  <a:srgbClr val="0070C0"/>
                </a:solidFill>
              </a:rPr>
              <a:t>, </a:t>
            </a:r>
            <a:r>
              <a:rPr lang="en-US" sz="2000" b="1" dirty="0" err="1">
                <a:solidFill>
                  <a:srgbClr val="0070C0"/>
                </a:solidFill>
              </a:rPr>
              <a:t>ou</a:t>
            </a:r>
            <a:r>
              <a:rPr lang="en-US" sz="2000" b="1" dirty="0">
                <a:solidFill>
                  <a:srgbClr val="0070C0"/>
                </a:solidFill>
              </a:rPr>
              <a:t> </a:t>
            </a:r>
            <a:r>
              <a:rPr lang="en-US" sz="2000" b="1" dirty="0" err="1">
                <a:solidFill>
                  <a:srgbClr val="0070C0"/>
                </a:solidFill>
              </a:rPr>
              <a:t>l'art</a:t>
            </a:r>
            <a:r>
              <a:rPr lang="en-US" sz="2000" b="1" dirty="0">
                <a:solidFill>
                  <a:srgbClr val="0070C0"/>
                </a:solidFill>
              </a:rPr>
              <a:t> de </a:t>
            </a:r>
            <a:r>
              <a:rPr lang="en-US" sz="2000" b="1" dirty="0" err="1">
                <a:solidFill>
                  <a:srgbClr val="0070C0"/>
                </a:solidFill>
              </a:rPr>
              <a:t>penser</a:t>
            </a:r>
            <a:r>
              <a:rPr lang="en-US" sz="2000" b="1" dirty="0">
                <a:solidFill>
                  <a:srgbClr val="0070C0"/>
                </a:solidFill>
              </a:rPr>
              <a:t>" ("Logic, or the art of thinking")</a:t>
            </a:r>
            <a:r>
              <a:rPr lang="en-US" sz="2000" dirty="0"/>
              <a:t>.</a:t>
            </a:r>
          </a:p>
          <a:p>
            <a:endParaRPr lang="en-US" sz="1200" dirty="0"/>
          </a:p>
          <a:p>
            <a:r>
              <a:rPr lang="en-US" sz="1400" dirty="0"/>
              <a:t>This textbook on logic first published anonymously in 1662 by Antoine </a:t>
            </a:r>
            <a:r>
              <a:rPr lang="en-US" sz="1400" dirty="0" err="1"/>
              <a:t>Arnauld</a:t>
            </a:r>
            <a:r>
              <a:rPr lang="en-US" sz="1400" dirty="0"/>
              <a:t> and Pierre Nicole.</a:t>
            </a:r>
          </a:p>
          <a:p>
            <a:r>
              <a:rPr lang="en-US" sz="1400" dirty="0"/>
              <a:t>They were Pascal's associates, prominent members of the Jansenist movement, centered on Port-Royal.</a:t>
            </a:r>
          </a:p>
          <a:p>
            <a:endParaRPr lang="en-US" sz="1400" dirty="0"/>
          </a:p>
          <a:p>
            <a:r>
              <a:rPr lang="en-US" sz="1400" dirty="0"/>
              <a:t>This book is commonly known as Port-Royal Logic, or </a:t>
            </a:r>
            <a:r>
              <a:rPr lang="en-US" sz="1400" dirty="0" err="1"/>
              <a:t>Logique</a:t>
            </a:r>
            <a:r>
              <a:rPr lang="en-US" sz="1400" dirty="0"/>
              <a:t> de Port-Royal.</a:t>
            </a:r>
          </a:p>
          <a:p>
            <a:r>
              <a:rPr lang="en-US" sz="1400" dirty="0"/>
              <a:t>It was the most successful logic book of the time.</a:t>
            </a:r>
          </a:p>
          <a:p>
            <a:r>
              <a:rPr lang="en-US" sz="1400" dirty="0"/>
              <a:t>5 editions of the book from 1662 to 1683.</a:t>
            </a:r>
          </a:p>
          <a:p>
            <a:r>
              <a:rPr lang="en-US" sz="1400" dirty="0"/>
              <a:t>Translations into all European languages.</a:t>
            </a:r>
          </a:p>
          <a:p>
            <a:r>
              <a:rPr lang="en-US" sz="1400" dirty="0"/>
              <a:t>Still used as a text in 19th century Oxford &amp; Edinburgh.</a:t>
            </a:r>
          </a:p>
          <a:p>
            <a:endParaRPr lang="en-US" sz="1400" dirty="0"/>
          </a:p>
          <a:p>
            <a:r>
              <a:rPr lang="en-US" sz="1400" dirty="0"/>
              <a:t>Written by </a:t>
            </a:r>
            <a:r>
              <a:rPr lang="en-US" sz="1400" b="1" dirty="0">
                <a:solidFill>
                  <a:srgbClr val="0070C0"/>
                </a:solidFill>
              </a:rPr>
              <a:t>Pascal’s</a:t>
            </a:r>
            <a:r>
              <a:rPr lang="en-US" sz="1400" dirty="0"/>
              <a:t> associates at Port Royal, esp. Pierre Nicole and Antoine </a:t>
            </a:r>
            <a:r>
              <a:rPr lang="en-US" sz="1400" dirty="0" err="1"/>
              <a:t>Arnauld</a:t>
            </a:r>
            <a:r>
              <a:rPr lang="en-US" sz="1400" dirty="0"/>
              <a:t>.</a:t>
            </a:r>
          </a:p>
          <a:p>
            <a:r>
              <a:rPr lang="en-US" sz="1400" dirty="0"/>
              <a:t>Antoine </a:t>
            </a:r>
            <a:r>
              <a:rPr lang="en-US" sz="1400" dirty="0" err="1"/>
              <a:t>Arnauld</a:t>
            </a:r>
            <a:r>
              <a:rPr lang="en-US" sz="1400" dirty="0"/>
              <a:t> seems to have written all of Book IV, the section on probability.</a:t>
            </a:r>
          </a:p>
          <a:p>
            <a:r>
              <a:rPr lang="en-US" sz="1400" dirty="0" err="1"/>
              <a:t>Arnauld</a:t>
            </a:r>
            <a:r>
              <a:rPr lang="en-US" sz="1400" dirty="0"/>
              <a:t> also wrote the Port Royal Grammar, his chief contribution to philosophy</a:t>
            </a:r>
          </a:p>
          <a:p>
            <a:endParaRPr lang="en-US" sz="1400" dirty="0"/>
          </a:p>
          <a:p>
            <a:r>
              <a:rPr lang="en-US" sz="1400" dirty="0"/>
              <a:t>Example given of a game where each of 10 players risks one coin for an even chance to win 10. </a:t>
            </a:r>
          </a:p>
          <a:p>
            <a:r>
              <a:rPr lang="en-US" sz="1400" dirty="0"/>
              <a:t>Loss is 9 times more probable “</a:t>
            </a:r>
            <a:r>
              <a:rPr lang="en-US" sz="1400" dirty="0" err="1"/>
              <a:t>neuf</a:t>
            </a:r>
            <a:r>
              <a:rPr lang="en-US" sz="1400" dirty="0"/>
              <a:t> </a:t>
            </a:r>
            <a:r>
              <a:rPr lang="en-US" sz="1400" dirty="0" err="1"/>
              <a:t>fois</a:t>
            </a:r>
            <a:r>
              <a:rPr lang="en-US" sz="1400" dirty="0"/>
              <a:t> plus probable” than gain. </a:t>
            </a:r>
          </a:p>
          <a:p>
            <a:r>
              <a:rPr lang="en-US" sz="1400" dirty="0"/>
              <a:t>And later, there are “nine degrees of probability of losing a coin for only one of gaining nine.”</a:t>
            </a:r>
          </a:p>
          <a:p>
            <a:r>
              <a:rPr lang="en-US" sz="1400" dirty="0"/>
              <a:t>These are the first occasions in print where probability is measured.</a:t>
            </a:r>
          </a:p>
          <a:p>
            <a:endParaRPr lang="en-US" sz="1400" dirty="0"/>
          </a:p>
          <a:p>
            <a:r>
              <a:rPr lang="en-US" sz="1400" dirty="0"/>
              <a:t>Frequency used to measure chance of natural events</a:t>
            </a:r>
          </a:p>
          <a:p>
            <a:endParaRPr lang="en-US" sz="1400" dirty="0"/>
          </a:p>
          <a:p>
            <a:r>
              <a:rPr lang="en-US" sz="1400" dirty="0"/>
              <a:t>Author of Port Royal advocates that people’s fear of thunder should be proportional to the frequency of related deaths (lightning, etc.). </a:t>
            </a:r>
          </a:p>
          <a:p>
            <a:r>
              <a:rPr lang="en-US" sz="1400" dirty="0"/>
              <a:t>Frequency of similar past events used here as a measure of the probability of the future event.</a:t>
            </a:r>
          </a:p>
          <a:p>
            <a:r>
              <a:rPr lang="en-US" sz="1400" dirty="0"/>
              <a:t>Note that the frequency measure does not work if the payoff is not finite. Hence Pascal’s wager: slight chance of eternal salvation trumps all other options.</a:t>
            </a:r>
          </a:p>
        </p:txBody>
      </p:sp>
      <p:pic>
        <p:nvPicPr>
          <p:cNvPr id="3" name="Picture 2">
            <a:extLst>
              <a:ext uri="{FF2B5EF4-FFF2-40B4-BE49-F238E27FC236}">
                <a16:creationId xmlns:a16="http://schemas.microsoft.com/office/drawing/2014/main" id="{FE6A6D2E-CD82-A54D-8A70-5196B29FEEF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217152" y="233888"/>
            <a:ext cx="2044700" cy="3162300"/>
          </a:xfrm>
          <a:prstGeom prst="rect">
            <a:avLst/>
          </a:prstGeom>
        </p:spPr>
      </p:pic>
      <p:pic>
        <p:nvPicPr>
          <p:cNvPr id="5" name="Picture 4">
            <a:extLst>
              <a:ext uri="{FF2B5EF4-FFF2-40B4-BE49-F238E27FC236}">
                <a16:creationId xmlns:a16="http://schemas.microsoft.com/office/drawing/2014/main" id="{7834EC40-5123-3645-85CC-482B64578989}"/>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8973312" y="3721966"/>
            <a:ext cx="1365504" cy="1889506"/>
          </a:xfrm>
          <a:prstGeom prst="rect">
            <a:avLst/>
          </a:prstGeom>
        </p:spPr>
      </p:pic>
      <p:sp>
        <p:nvSpPr>
          <p:cNvPr id="6" name="TextBox 5">
            <a:extLst>
              <a:ext uri="{FF2B5EF4-FFF2-40B4-BE49-F238E27FC236}">
                <a16:creationId xmlns:a16="http://schemas.microsoft.com/office/drawing/2014/main" id="{0F4F4C33-6080-A74F-BCDD-7B1932E5B51F}"/>
              </a:ext>
            </a:extLst>
          </p:cNvPr>
          <p:cNvSpPr txBox="1"/>
          <p:nvPr/>
        </p:nvSpPr>
        <p:spPr>
          <a:xfrm>
            <a:off x="8859774" y="5611472"/>
            <a:ext cx="1592580" cy="338554"/>
          </a:xfrm>
          <a:prstGeom prst="rect">
            <a:avLst/>
          </a:prstGeom>
          <a:noFill/>
        </p:spPr>
        <p:txBody>
          <a:bodyPr wrap="square" rtlCol="0">
            <a:spAutoFit/>
          </a:bodyPr>
          <a:lstStyle/>
          <a:p>
            <a:r>
              <a:rPr lang="en-US" sz="1600" dirty="0"/>
              <a:t>Antoine </a:t>
            </a:r>
            <a:r>
              <a:rPr lang="en-US" sz="1600" dirty="0" err="1"/>
              <a:t>Arnauld</a:t>
            </a:r>
            <a:endParaRPr lang="en-US" sz="1600" dirty="0"/>
          </a:p>
        </p:txBody>
      </p:sp>
      <p:pic>
        <p:nvPicPr>
          <p:cNvPr id="7" name="Picture 6">
            <a:extLst>
              <a:ext uri="{FF2B5EF4-FFF2-40B4-BE49-F238E27FC236}">
                <a16:creationId xmlns:a16="http://schemas.microsoft.com/office/drawing/2014/main" id="{D3C649E8-2CED-A349-BBF4-5819DDCB1793}"/>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0636377" y="3755725"/>
            <a:ext cx="1174876" cy="1496210"/>
          </a:xfrm>
          <a:prstGeom prst="rect">
            <a:avLst/>
          </a:prstGeom>
        </p:spPr>
      </p:pic>
      <p:sp>
        <p:nvSpPr>
          <p:cNvPr id="8" name="TextBox 7">
            <a:extLst>
              <a:ext uri="{FF2B5EF4-FFF2-40B4-BE49-F238E27FC236}">
                <a16:creationId xmlns:a16="http://schemas.microsoft.com/office/drawing/2014/main" id="{06E9DAC3-C4E4-6A4C-B2D7-023C2279D1ED}"/>
              </a:ext>
            </a:extLst>
          </p:cNvPr>
          <p:cNvSpPr txBox="1"/>
          <p:nvPr/>
        </p:nvSpPr>
        <p:spPr>
          <a:xfrm>
            <a:off x="10599801" y="5272918"/>
            <a:ext cx="1250950" cy="338554"/>
          </a:xfrm>
          <a:prstGeom prst="rect">
            <a:avLst/>
          </a:prstGeom>
          <a:noFill/>
        </p:spPr>
        <p:txBody>
          <a:bodyPr wrap="square" rtlCol="0">
            <a:spAutoFit/>
          </a:bodyPr>
          <a:lstStyle/>
          <a:p>
            <a:r>
              <a:rPr lang="en-US" sz="1600" dirty="0"/>
              <a:t>Pierre Nicole</a:t>
            </a:r>
          </a:p>
        </p:txBody>
      </p:sp>
    </p:spTree>
    <p:extLst>
      <p:ext uri="{BB962C8B-B14F-4D97-AF65-F5344CB8AC3E}">
        <p14:creationId xmlns:p14="http://schemas.microsoft.com/office/powerpoint/2010/main" val="4089676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ED8FA75-6F90-7048-9C29-1072F8019DBD}"/>
              </a:ext>
            </a:extLst>
          </p:cNvPr>
          <p:cNvSpPr txBox="1"/>
          <p:nvPr/>
        </p:nvSpPr>
        <p:spPr>
          <a:xfrm>
            <a:off x="131812" y="627551"/>
            <a:ext cx="4400431" cy="1569660"/>
          </a:xfrm>
          <a:prstGeom prst="rect">
            <a:avLst/>
          </a:prstGeom>
          <a:noFill/>
        </p:spPr>
        <p:txBody>
          <a:bodyPr wrap="square" rtlCol="0">
            <a:spAutoFit/>
          </a:bodyPr>
          <a:lstStyle/>
          <a:p>
            <a:endParaRPr lang="en-US" altLang="en-US" sz="1200" dirty="0"/>
          </a:p>
          <a:p>
            <a:r>
              <a:rPr lang="en-US" altLang="en-US" sz="1200" b="1" dirty="0">
                <a:solidFill>
                  <a:srgbClr val="0070C0"/>
                </a:solidFill>
              </a:rPr>
              <a:t>Political Arithmetic, a.k.a. statistics</a:t>
            </a:r>
          </a:p>
          <a:p>
            <a:endParaRPr lang="en-US" altLang="en-US" sz="1200" dirty="0"/>
          </a:p>
          <a:p>
            <a:r>
              <a:rPr lang="en-US" altLang="en-US" sz="1200" b="1" dirty="0">
                <a:solidFill>
                  <a:srgbClr val="0070C0"/>
                </a:solidFill>
              </a:rPr>
              <a:t>John </a:t>
            </a:r>
            <a:r>
              <a:rPr lang="en-US" altLang="en-US" sz="1200" b="1" dirty="0" err="1">
                <a:solidFill>
                  <a:srgbClr val="0070C0"/>
                </a:solidFill>
              </a:rPr>
              <a:t>Graunt’s</a:t>
            </a:r>
            <a:r>
              <a:rPr lang="en-US" altLang="en-US" sz="1200" b="1" dirty="0">
                <a:solidFill>
                  <a:srgbClr val="0070C0"/>
                </a:solidFill>
              </a:rPr>
              <a:t> </a:t>
            </a:r>
            <a:r>
              <a:rPr lang="en-US" altLang="en-US" sz="1200" b="1" i="1" dirty="0">
                <a:solidFill>
                  <a:srgbClr val="0070C0"/>
                </a:solidFill>
              </a:rPr>
              <a:t>Natural and Political Observations</a:t>
            </a:r>
            <a:r>
              <a:rPr lang="en-US" altLang="en-US" sz="1200" dirty="0"/>
              <a:t>, 1662, was the first treatise that analyzed publicly available statistics, such as birth and death records, to draw conclusions about public issues. Population trends, Epidemics, Recommendations about social welfare.</a:t>
            </a:r>
          </a:p>
        </p:txBody>
      </p:sp>
      <p:graphicFrame>
        <p:nvGraphicFramePr>
          <p:cNvPr id="5" name="Group 43">
            <a:extLst>
              <a:ext uri="{FF2B5EF4-FFF2-40B4-BE49-F238E27FC236}">
                <a16:creationId xmlns:a16="http://schemas.microsoft.com/office/drawing/2014/main" id="{9CF2AE63-3BB0-C24D-9266-9867304B24C6}"/>
              </a:ext>
            </a:extLst>
          </p:cNvPr>
          <p:cNvGraphicFramePr>
            <a:graphicFrameLocks/>
          </p:cNvGraphicFramePr>
          <p:nvPr>
            <p:extLst>
              <p:ext uri="{D42A27DB-BD31-4B8C-83A1-F6EECF244321}">
                <p14:modId xmlns:p14="http://schemas.microsoft.com/office/powerpoint/2010/main" val="4265102746"/>
              </p:ext>
            </p:extLst>
          </p:nvPr>
        </p:nvGraphicFramePr>
        <p:xfrm>
          <a:off x="2134920" y="3413230"/>
          <a:ext cx="1191988" cy="2590800"/>
        </p:xfrm>
        <a:graphic>
          <a:graphicData uri="http://schemas.openxmlformats.org/drawingml/2006/table">
            <a:tbl>
              <a:tblPr/>
              <a:tblGrid>
                <a:gridCol w="595994">
                  <a:extLst>
                    <a:ext uri="{9D8B030D-6E8A-4147-A177-3AD203B41FA5}">
                      <a16:colId xmlns:a16="http://schemas.microsoft.com/office/drawing/2014/main" val="117186187"/>
                    </a:ext>
                  </a:extLst>
                </a:gridCol>
                <a:gridCol w="595994">
                  <a:extLst>
                    <a:ext uri="{9D8B030D-6E8A-4147-A177-3AD203B41FA5}">
                      <a16:colId xmlns:a16="http://schemas.microsoft.com/office/drawing/2014/main" val="1570778895"/>
                    </a:ext>
                  </a:extLst>
                </a:gridCol>
              </a:tblGrid>
              <a:tr h="0">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Age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Survivors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95236481"/>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100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128456"/>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dirty="0">
                          <a:ln>
                            <a:noFill/>
                          </a:ln>
                          <a:solidFill>
                            <a:schemeClr val="tx1"/>
                          </a:solidFill>
                          <a:effectLst/>
                          <a:latin typeface="Arial" panose="020B0604020202020204" pitchFamily="34" charset="0"/>
                        </a:rPr>
                        <a:t>64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63693732"/>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dirty="0">
                          <a:ln>
                            <a:noFill/>
                          </a:ln>
                          <a:solidFill>
                            <a:schemeClr val="tx1"/>
                          </a:solidFill>
                          <a:effectLst/>
                          <a:latin typeface="Arial" panose="020B0604020202020204" pitchFamily="34" charset="0"/>
                        </a:rPr>
                        <a:t>16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40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68035940"/>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dirty="0">
                          <a:ln>
                            <a:noFill/>
                          </a:ln>
                          <a:solidFill>
                            <a:schemeClr val="tx1"/>
                          </a:solidFill>
                          <a:effectLst/>
                          <a:latin typeface="Arial" panose="020B0604020202020204" pitchFamily="34" charset="0"/>
                        </a:rPr>
                        <a:t>26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25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44717165"/>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36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dirty="0">
                          <a:ln>
                            <a:noFill/>
                          </a:ln>
                          <a:solidFill>
                            <a:schemeClr val="tx1"/>
                          </a:solidFill>
                          <a:effectLst/>
                          <a:latin typeface="Arial" panose="020B0604020202020204" pitchFamily="34" charset="0"/>
                        </a:rPr>
                        <a:t>16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72479836"/>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46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23501738"/>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56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dirty="0">
                          <a:ln>
                            <a:noFill/>
                          </a:ln>
                          <a:solidFill>
                            <a:schemeClr val="tx1"/>
                          </a:solidFill>
                          <a:effectLst/>
                          <a:latin typeface="Arial" panose="020B0604020202020204" pitchFamily="34"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17321437"/>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66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23053844"/>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dirty="0">
                          <a:ln>
                            <a:noFill/>
                          </a:ln>
                          <a:solidFill>
                            <a:schemeClr val="tx1"/>
                          </a:solidFill>
                          <a:effectLst/>
                          <a:latin typeface="Arial" panose="020B0604020202020204" pitchFamily="34" charset="0"/>
                        </a:rPr>
                        <a:t>76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dirty="0">
                          <a:ln>
                            <a:noFill/>
                          </a:ln>
                          <a:solidFill>
                            <a:schemeClr val="tx1"/>
                          </a:solidFill>
                          <a:effectLst/>
                          <a:latin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68539580"/>
                  </a:ext>
                </a:extLst>
              </a:tr>
            </a:tbl>
          </a:graphicData>
        </a:graphic>
      </p:graphicFrame>
      <p:sp>
        <p:nvSpPr>
          <p:cNvPr id="6" name="TextBox 5">
            <a:extLst>
              <a:ext uri="{FF2B5EF4-FFF2-40B4-BE49-F238E27FC236}">
                <a16:creationId xmlns:a16="http://schemas.microsoft.com/office/drawing/2014/main" id="{8BEA40C0-9AA6-FE4E-BDFE-130B46F26067}"/>
              </a:ext>
            </a:extLst>
          </p:cNvPr>
          <p:cNvSpPr txBox="1"/>
          <p:nvPr/>
        </p:nvSpPr>
        <p:spPr>
          <a:xfrm>
            <a:off x="5551714" y="632623"/>
            <a:ext cx="5943600" cy="2677656"/>
          </a:xfrm>
          <a:prstGeom prst="rect">
            <a:avLst/>
          </a:prstGeom>
          <a:noFill/>
        </p:spPr>
        <p:txBody>
          <a:bodyPr wrap="square" rtlCol="0">
            <a:spAutoFit/>
          </a:bodyPr>
          <a:lstStyle/>
          <a:p>
            <a:r>
              <a:rPr lang="en-US" sz="1200" b="1" dirty="0">
                <a:solidFill>
                  <a:srgbClr val="0070C0"/>
                </a:solidFill>
              </a:rPr>
              <a:t>Fair price to purchase an annuity</a:t>
            </a:r>
          </a:p>
          <a:p>
            <a:endParaRPr lang="en-US" sz="1200" dirty="0"/>
          </a:p>
          <a:p>
            <a:r>
              <a:rPr lang="en-US" sz="1200" dirty="0"/>
              <a:t>First establish the proper interest rate, r, i.e. the time value of money.</a:t>
            </a:r>
          </a:p>
          <a:p>
            <a:endParaRPr lang="en-US" sz="1200" dirty="0"/>
          </a:p>
          <a:p>
            <a:r>
              <a:rPr lang="en-US" sz="1200" b="1" dirty="0">
                <a:solidFill>
                  <a:srgbClr val="0070C0"/>
                </a:solidFill>
              </a:rPr>
              <a:t>Perpetual annuities</a:t>
            </a:r>
            <a:r>
              <a:rPr lang="en-US" sz="1200" dirty="0"/>
              <a:t>: Fair price, F, is the amount that generates the regular payment, p, at the interest rate, r. Hence F=p/r.</a:t>
            </a:r>
          </a:p>
          <a:p>
            <a:endParaRPr lang="en-US" sz="1200" dirty="0"/>
          </a:p>
          <a:p>
            <a:r>
              <a:rPr lang="en-US" sz="1200" b="1" dirty="0">
                <a:solidFill>
                  <a:srgbClr val="0070C0"/>
                </a:solidFill>
              </a:rPr>
              <a:t>Terminal</a:t>
            </a:r>
            <a:r>
              <a:rPr lang="en-US" sz="1200" dirty="0"/>
              <a:t>: Calculate the same as for a mortgage, except the payment p, and the number of periods n are known and the fair price F is the unknown.</a:t>
            </a:r>
          </a:p>
          <a:p>
            <a:endParaRPr lang="en-US" sz="1200" dirty="0"/>
          </a:p>
          <a:p>
            <a:r>
              <a:rPr lang="en-US" sz="1200" b="1" dirty="0">
                <a:solidFill>
                  <a:srgbClr val="0070C0"/>
                </a:solidFill>
              </a:rPr>
              <a:t>Life</a:t>
            </a:r>
            <a:r>
              <a:rPr lang="en-US" sz="1200" dirty="0"/>
              <a:t>: Calculate as a terminal annuity, where n is the life expectancy of the owner.</a:t>
            </a:r>
          </a:p>
          <a:p>
            <a:endParaRPr lang="en-US" sz="1200" dirty="0"/>
          </a:p>
          <a:p>
            <a:r>
              <a:rPr lang="en-US" sz="1200" b="1" dirty="0">
                <a:solidFill>
                  <a:srgbClr val="0070C0"/>
                </a:solidFill>
              </a:rPr>
              <a:t>Joint</a:t>
            </a:r>
            <a:r>
              <a:rPr lang="en-US" sz="1200" dirty="0"/>
              <a:t>: A more difficult calculation where it is necessary to determine the life expectancy of all the owners.</a:t>
            </a:r>
          </a:p>
        </p:txBody>
      </p:sp>
      <p:sp>
        <p:nvSpPr>
          <p:cNvPr id="7" name="TextBox 6">
            <a:extLst>
              <a:ext uri="{FF2B5EF4-FFF2-40B4-BE49-F238E27FC236}">
                <a16:creationId xmlns:a16="http://schemas.microsoft.com/office/drawing/2014/main" id="{8E01DE1A-DBD9-E84B-96F2-B82E6C1A7741}"/>
              </a:ext>
            </a:extLst>
          </p:cNvPr>
          <p:cNvSpPr txBox="1"/>
          <p:nvPr/>
        </p:nvSpPr>
        <p:spPr>
          <a:xfrm>
            <a:off x="5590051" y="3958352"/>
            <a:ext cx="5866927" cy="1569660"/>
          </a:xfrm>
          <a:prstGeom prst="rect">
            <a:avLst/>
          </a:prstGeom>
          <a:noFill/>
        </p:spPr>
        <p:txBody>
          <a:bodyPr wrap="square" rtlCol="0">
            <a:spAutoFit/>
          </a:bodyPr>
          <a:lstStyle/>
          <a:p>
            <a:r>
              <a:rPr lang="en-US" sz="1200" b="1" dirty="0">
                <a:solidFill>
                  <a:srgbClr val="0070C0"/>
                </a:solidFill>
              </a:rPr>
              <a:t>The principle of indifference</a:t>
            </a:r>
          </a:p>
          <a:p>
            <a:endParaRPr lang="en-US" sz="1200" dirty="0"/>
          </a:p>
          <a:p>
            <a:r>
              <a:rPr lang="en-US" sz="1200" dirty="0"/>
              <a:t>A concept named in the 20th century by John Maynard Keynes, but articulated in the 17th century by </a:t>
            </a:r>
            <a:r>
              <a:rPr lang="en-US" sz="1200" b="1" dirty="0">
                <a:solidFill>
                  <a:srgbClr val="0070C0"/>
                </a:solidFill>
              </a:rPr>
              <a:t>Leibniz</a:t>
            </a:r>
            <a:r>
              <a:rPr lang="en-US" sz="1200" dirty="0"/>
              <a:t> and then stated as a fundamental principle by </a:t>
            </a:r>
            <a:r>
              <a:rPr lang="en-US" sz="1200" b="1" dirty="0">
                <a:solidFill>
                  <a:srgbClr val="0070C0"/>
                </a:solidFill>
              </a:rPr>
              <a:t>Laplace</a:t>
            </a:r>
            <a:r>
              <a:rPr lang="en-US" sz="1200" dirty="0"/>
              <a:t> in the 18th century.</a:t>
            </a:r>
          </a:p>
          <a:p>
            <a:endParaRPr lang="en-US" sz="1200" dirty="0"/>
          </a:p>
          <a:p>
            <a:r>
              <a:rPr lang="en-US" sz="1200" dirty="0"/>
              <a:t>Two events are viewed as equally probable when there is no reason to favor one over the other.</a:t>
            </a:r>
          </a:p>
        </p:txBody>
      </p:sp>
      <p:pic>
        <p:nvPicPr>
          <p:cNvPr id="2" name="Picture 1">
            <a:extLst>
              <a:ext uri="{FF2B5EF4-FFF2-40B4-BE49-F238E27FC236}">
                <a16:creationId xmlns:a16="http://schemas.microsoft.com/office/drawing/2014/main" id="{D660CA7A-2971-714E-8FC9-793FE94FBF22}"/>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02335" y="2693325"/>
            <a:ext cx="1048513" cy="1233908"/>
          </a:xfrm>
          <a:prstGeom prst="rect">
            <a:avLst/>
          </a:prstGeom>
        </p:spPr>
      </p:pic>
      <p:sp>
        <p:nvSpPr>
          <p:cNvPr id="3" name="TextBox 2">
            <a:extLst>
              <a:ext uri="{FF2B5EF4-FFF2-40B4-BE49-F238E27FC236}">
                <a16:creationId xmlns:a16="http://schemas.microsoft.com/office/drawing/2014/main" id="{5F8691B4-3907-5C4E-9FC4-835681C99699}"/>
              </a:ext>
            </a:extLst>
          </p:cNvPr>
          <p:cNvSpPr txBox="1"/>
          <p:nvPr/>
        </p:nvSpPr>
        <p:spPr>
          <a:xfrm>
            <a:off x="2178816" y="2739999"/>
            <a:ext cx="983267" cy="646331"/>
          </a:xfrm>
          <a:prstGeom prst="rect">
            <a:avLst/>
          </a:prstGeom>
          <a:noFill/>
        </p:spPr>
        <p:txBody>
          <a:bodyPr wrap="square" rtlCol="0">
            <a:spAutoFit/>
          </a:bodyPr>
          <a:lstStyle/>
          <a:p>
            <a:pPr algn="ctr"/>
            <a:r>
              <a:rPr lang="en-US" altLang="en-US" sz="1200" dirty="0" err="1"/>
              <a:t>Graunt’s</a:t>
            </a:r>
            <a:r>
              <a:rPr lang="en-US" altLang="en-US" sz="1200" dirty="0"/>
              <a:t> mortality table</a:t>
            </a:r>
          </a:p>
        </p:txBody>
      </p:sp>
      <p:sp>
        <p:nvSpPr>
          <p:cNvPr id="8" name="TextBox 7">
            <a:extLst>
              <a:ext uri="{FF2B5EF4-FFF2-40B4-BE49-F238E27FC236}">
                <a16:creationId xmlns:a16="http://schemas.microsoft.com/office/drawing/2014/main" id="{BDEA4D3A-1FA4-2241-B741-AC878BCFCA7F}"/>
              </a:ext>
            </a:extLst>
          </p:cNvPr>
          <p:cNvSpPr txBox="1"/>
          <p:nvPr/>
        </p:nvSpPr>
        <p:spPr>
          <a:xfrm>
            <a:off x="426531" y="3927233"/>
            <a:ext cx="983267" cy="276999"/>
          </a:xfrm>
          <a:prstGeom prst="rect">
            <a:avLst/>
          </a:prstGeom>
          <a:noFill/>
        </p:spPr>
        <p:txBody>
          <a:bodyPr wrap="square" rtlCol="0">
            <a:spAutoFit/>
          </a:bodyPr>
          <a:lstStyle/>
          <a:p>
            <a:pPr algn="ctr"/>
            <a:r>
              <a:rPr lang="en-US" altLang="en-US" sz="1200" dirty="0"/>
              <a:t>John </a:t>
            </a:r>
            <a:r>
              <a:rPr lang="en-US" altLang="en-US" sz="1200" dirty="0" err="1"/>
              <a:t>Graunt</a:t>
            </a:r>
            <a:endParaRPr lang="en-US" altLang="en-US" sz="1200" dirty="0"/>
          </a:p>
        </p:txBody>
      </p:sp>
    </p:spTree>
    <p:extLst>
      <p:ext uri="{BB962C8B-B14F-4D97-AF65-F5344CB8AC3E}">
        <p14:creationId xmlns:p14="http://schemas.microsoft.com/office/powerpoint/2010/main" val="3847322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0BBD61C-7755-7249-8708-6BE19319AB17}"/>
              </a:ext>
            </a:extLst>
          </p:cNvPr>
          <p:cNvSpPr txBox="1"/>
          <p:nvPr/>
        </p:nvSpPr>
        <p:spPr>
          <a:xfrm>
            <a:off x="342900" y="492579"/>
            <a:ext cx="7515639" cy="4767459"/>
          </a:xfrm>
          <a:prstGeom prst="rect">
            <a:avLst/>
          </a:prstGeom>
          <a:noFill/>
        </p:spPr>
        <p:txBody>
          <a:bodyPr wrap="square" rtlCol="0">
            <a:spAutoFit/>
          </a:bodyPr>
          <a:lstStyle/>
          <a:p>
            <a:r>
              <a:rPr lang="en-US" sz="1400" dirty="0"/>
              <a:t>The Art of Conjecturing</a:t>
            </a:r>
          </a:p>
          <a:p>
            <a:endParaRPr lang="en-US" sz="1400" dirty="0"/>
          </a:p>
          <a:p>
            <a:r>
              <a:rPr lang="en-US" sz="1400" b="1" dirty="0">
                <a:solidFill>
                  <a:srgbClr val="0070C0"/>
                </a:solidFill>
              </a:rPr>
              <a:t>Jacques Bernoulli’s </a:t>
            </a:r>
            <a:r>
              <a:rPr lang="en-US" sz="1400" dirty="0"/>
              <a:t>"</a:t>
            </a:r>
            <a:r>
              <a:rPr lang="en-US" sz="1400" b="1" dirty="0">
                <a:solidFill>
                  <a:srgbClr val="0070C0"/>
                </a:solidFill>
              </a:rPr>
              <a:t>Ars </a:t>
            </a:r>
            <a:r>
              <a:rPr lang="en-US" sz="1400" b="1" dirty="0" err="1">
                <a:solidFill>
                  <a:srgbClr val="0070C0"/>
                </a:solidFill>
              </a:rPr>
              <a:t>conjectandi</a:t>
            </a:r>
            <a:r>
              <a:rPr lang="en-US" sz="1400" dirty="0"/>
              <a:t>" appeared in 1713</a:t>
            </a:r>
          </a:p>
          <a:p>
            <a:r>
              <a:rPr lang="en-US" sz="1400" dirty="0"/>
              <a:t>Probability emerges fully with this book.</a:t>
            </a:r>
          </a:p>
          <a:p>
            <a:endParaRPr lang="en-US" sz="1400" dirty="0"/>
          </a:p>
          <a:p>
            <a:r>
              <a:rPr lang="en-US" sz="1400" dirty="0"/>
              <a:t>Contains the </a:t>
            </a:r>
            <a:r>
              <a:rPr lang="en-US" sz="1400" b="1" dirty="0">
                <a:solidFill>
                  <a:srgbClr val="0070C0"/>
                </a:solidFill>
              </a:rPr>
              <a:t>first limit theorem of probability</a:t>
            </a:r>
            <a:r>
              <a:rPr lang="en-US" sz="1400" dirty="0"/>
              <a:t>.</a:t>
            </a:r>
          </a:p>
          <a:p>
            <a:r>
              <a:rPr lang="en-US" sz="1400" dirty="0"/>
              <a:t>Establishes the addition law of probability for disjoint events.</a:t>
            </a:r>
          </a:p>
          <a:p>
            <a:r>
              <a:rPr lang="en-US" sz="1400" dirty="0"/>
              <a:t>The meaning of the title: The “</a:t>
            </a:r>
            <a:r>
              <a:rPr lang="en-US" sz="1400" b="1" dirty="0">
                <a:solidFill>
                  <a:srgbClr val="0070C0"/>
                </a:solidFill>
              </a:rPr>
              <a:t>Port Royal Logic</a:t>
            </a:r>
            <a:r>
              <a:rPr lang="en-US" sz="1400" dirty="0"/>
              <a:t>” was titled </a:t>
            </a:r>
            <a:r>
              <a:rPr lang="en-US" sz="1400" b="1" dirty="0">
                <a:solidFill>
                  <a:srgbClr val="0070C0"/>
                </a:solidFill>
              </a:rPr>
              <a:t>Ars </a:t>
            </a:r>
            <a:r>
              <a:rPr lang="en-US" sz="1400" b="1" dirty="0" err="1">
                <a:solidFill>
                  <a:srgbClr val="0070C0"/>
                </a:solidFill>
              </a:rPr>
              <a:t>cogitandi</a:t>
            </a:r>
            <a:r>
              <a:rPr lang="en-US" sz="1400" dirty="0"/>
              <a:t>, the </a:t>
            </a:r>
            <a:r>
              <a:rPr lang="en-US" sz="1400" b="1" dirty="0">
                <a:solidFill>
                  <a:srgbClr val="0070C0"/>
                </a:solidFill>
              </a:rPr>
              <a:t>Art of Thinking</a:t>
            </a:r>
            <a:r>
              <a:rPr lang="en-US" sz="1400" dirty="0"/>
              <a:t>. The art of conjecturing takes over where thinking leaves off.</a:t>
            </a:r>
          </a:p>
          <a:p>
            <a:endParaRPr lang="en-US" sz="1400" dirty="0"/>
          </a:p>
          <a:p>
            <a:pPr>
              <a:lnSpc>
                <a:spcPct val="90000"/>
              </a:lnSpc>
            </a:pPr>
            <a:r>
              <a:rPr lang="en-US" altLang="en-US" sz="1400" b="1" dirty="0">
                <a:solidFill>
                  <a:srgbClr val="0070C0"/>
                </a:solidFill>
              </a:rPr>
              <a:t>Bernoulli</a:t>
            </a:r>
            <a:r>
              <a:rPr lang="en-US" altLang="en-US" sz="1400" dirty="0"/>
              <a:t> states that “</a:t>
            </a:r>
            <a:r>
              <a:rPr lang="en-US" altLang="en-US" sz="1400" b="1" dirty="0">
                <a:solidFill>
                  <a:srgbClr val="0070C0"/>
                </a:solidFill>
              </a:rPr>
              <a:t>Probability is degree of certainty and differs from absolute certainty as the part differs from the whole</a:t>
            </a:r>
            <a:r>
              <a:rPr lang="en-US" altLang="en-US" sz="1400" dirty="0"/>
              <a:t>.”</a:t>
            </a:r>
          </a:p>
          <a:p>
            <a:pPr>
              <a:lnSpc>
                <a:spcPct val="90000"/>
              </a:lnSpc>
            </a:pPr>
            <a:endParaRPr lang="en-US" altLang="en-US" sz="1400" dirty="0"/>
          </a:p>
          <a:p>
            <a:pPr>
              <a:lnSpc>
                <a:spcPct val="90000"/>
              </a:lnSpc>
            </a:pPr>
            <a:r>
              <a:rPr lang="en-US" altLang="en-US" sz="1400" dirty="0"/>
              <a:t>Etymological distinction: “certain” used to mean decided by the gods.</a:t>
            </a:r>
          </a:p>
          <a:p>
            <a:pPr>
              <a:lnSpc>
                <a:spcPct val="90000"/>
              </a:lnSpc>
            </a:pPr>
            <a:r>
              <a:rPr lang="en-US" altLang="en-US" sz="1400" dirty="0"/>
              <a:t>Therefore events that were uncertain were those where the gods could not make up their minds.</a:t>
            </a:r>
          </a:p>
          <a:p>
            <a:pPr>
              <a:lnSpc>
                <a:spcPct val="90000"/>
              </a:lnSpc>
            </a:pPr>
            <a:endParaRPr lang="en-US" altLang="en-US" sz="1400" dirty="0"/>
          </a:p>
          <a:p>
            <a:pPr>
              <a:lnSpc>
                <a:spcPct val="90000"/>
              </a:lnSpc>
            </a:pPr>
            <a:r>
              <a:rPr lang="en-US" altLang="en-US" sz="1400" b="1" dirty="0">
                <a:solidFill>
                  <a:srgbClr val="0070C0"/>
                </a:solidFill>
              </a:rPr>
              <a:t>The first limit theorem</a:t>
            </a:r>
            <a:r>
              <a:rPr lang="en-US" altLang="en-US" sz="1400" dirty="0"/>
              <a:t>.</a:t>
            </a:r>
          </a:p>
          <a:p>
            <a:pPr>
              <a:lnSpc>
                <a:spcPct val="90000"/>
              </a:lnSpc>
            </a:pPr>
            <a:r>
              <a:rPr lang="en-US" altLang="en-US" sz="1400" b="1" dirty="0">
                <a:solidFill>
                  <a:srgbClr val="0070C0"/>
                </a:solidFill>
              </a:rPr>
              <a:t>Bernoulli’s theorem</a:t>
            </a:r>
            <a:r>
              <a:rPr lang="en-US" altLang="en-US" sz="1400" dirty="0"/>
              <a:t>, in plain language, is that for repeatable and or in all ways comparable events (e.g. coin tosses), </a:t>
            </a:r>
            <a:r>
              <a:rPr lang="en-US" altLang="en-US" sz="1400" b="1" dirty="0">
                <a:solidFill>
                  <a:srgbClr val="0070C0"/>
                </a:solidFill>
              </a:rPr>
              <a:t>the probability of a particular outcome is the limit of the ratio of that outcome to all outcomes </a:t>
            </a:r>
            <a:r>
              <a:rPr lang="en-US" altLang="en-US" sz="1400" dirty="0"/>
              <a:t>as the number of trials increases to infinity.</a:t>
            </a:r>
          </a:p>
          <a:p>
            <a:pPr>
              <a:lnSpc>
                <a:spcPct val="90000"/>
              </a:lnSpc>
            </a:pPr>
            <a:endParaRPr lang="en-US" altLang="en-US" sz="1400" dirty="0"/>
          </a:p>
          <a:p>
            <a:pPr>
              <a:lnSpc>
                <a:spcPct val="90000"/>
              </a:lnSpc>
            </a:pPr>
            <a:r>
              <a:rPr lang="en-US" altLang="en-US" sz="1400" b="1" dirty="0">
                <a:solidFill>
                  <a:srgbClr val="0070C0"/>
                </a:solidFill>
              </a:rPr>
              <a:t>Bernoulli</a:t>
            </a:r>
            <a:r>
              <a:rPr lang="en-US" altLang="en-US" sz="1400" dirty="0"/>
              <a:t> shows how to calculate a number of trials n necessary to guarantee a moral certainty that the error e is less than some specified number. (A </a:t>
            </a:r>
            <a:r>
              <a:rPr lang="en-US" altLang="en-US" sz="1400" b="1" dirty="0">
                <a:solidFill>
                  <a:srgbClr val="0070C0"/>
                </a:solidFill>
              </a:rPr>
              <a:t>confidence interval</a:t>
            </a:r>
            <a:r>
              <a:rPr lang="en-US" altLang="en-US" sz="1400" dirty="0"/>
              <a:t>.)</a:t>
            </a:r>
          </a:p>
        </p:txBody>
      </p:sp>
      <p:pic>
        <p:nvPicPr>
          <p:cNvPr id="5" name="Picture 4">
            <a:extLst>
              <a:ext uri="{FF2B5EF4-FFF2-40B4-BE49-F238E27FC236}">
                <a16:creationId xmlns:a16="http://schemas.microsoft.com/office/drawing/2014/main" id="{BD494E22-1567-6A4A-B540-2F42C8AAEC2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716735" y="492579"/>
            <a:ext cx="2628900" cy="2933700"/>
          </a:xfrm>
          <a:prstGeom prst="rect">
            <a:avLst/>
          </a:prstGeom>
        </p:spPr>
      </p:pic>
      <p:sp>
        <p:nvSpPr>
          <p:cNvPr id="6" name="TextBox 5">
            <a:extLst>
              <a:ext uri="{FF2B5EF4-FFF2-40B4-BE49-F238E27FC236}">
                <a16:creationId xmlns:a16="http://schemas.microsoft.com/office/drawing/2014/main" id="{F0C50450-6BC5-3446-917A-B1EB0C5B6F84}"/>
              </a:ext>
            </a:extLst>
          </p:cNvPr>
          <p:cNvSpPr txBox="1"/>
          <p:nvPr/>
        </p:nvSpPr>
        <p:spPr>
          <a:xfrm>
            <a:off x="8635094" y="3477983"/>
            <a:ext cx="2792186" cy="923330"/>
          </a:xfrm>
          <a:prstGeom prst="rect">
            <a:avLst/>
          </a:prstGeom>
          <a:noFill/>
        </p:spPr>
        <p:txBody>
          <a:bodyPr wrap="square" rtlCol="0">
            <a:spAutoFit/>
          </a:bodyPr>
          <a:lstStyle/>
          <a:p>
            <a:pPr algn="ctr"/>
            <a:r>
              <a:rPr lang="en-US" dirty="0"/>
              <a:t>Jacob Bernoulli </a:t>
            </a:r>
            <a:br>
              <a:rPr lang="en-US" dirty="0"/>
            </a:br>
            <a:r>
              <a:rPr lang="en-US" dirty="0"/>
              <a:t>(</a:t>
            </a:r>
            <a:r>
              <a:rPr lang="en-US" dirty="0" err="1"/>
              <a:t>a.k.a</a:t>
            </a:r>
            <a:r>
              <a:rPr lang="en-US" dirty="0"/>
              <a:t> as James or Jacques)</a:t>
            </a:r>
          </a:p>
          <a:p>
            <a:pPr algn="ctr"/>
            <a:r>
              <a:rPr lang="en-US" dirty="0"/>
              <a:t>1655 – 1705</a:t>
            </a:r>
          </a:p>
        </p:txBody>
      </p:sp>
    </p:spTree>
    <p:extLst>
      <p:ext uri="{BB962C8B-B14F-4D97-AF65-F5344CB8AC3E}">
        <p14:creationId xmlns:p14="http://schemas.microsoft.com/office/powerpoint/2010/main" val="254750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70A37B1-D7D7-5648-A469-33A3220C3854}"/>
              </a:ext>
            </a:extLst>
          </p:cNvPr>
          <p:cNvSpPr txBox="1"/>
          <p:nvPr/>
        </p:nvSpPr>
        <p:spPr>
          <a:xfrm>
            <a:off x="228599" y="130629"/>
            <a:ext cx="8343900" cy="2585323"/>
          </a:xfrm>
          <a:prstGeom prst="rect">
            <a:avLst/>
          </a:prstGeom>
          <a:noFill/>
        </p:spPr>
        <p:txBody>
          <a:bodyPr wrap="square" rtlCol="0">
            <a:spAutoFit/>
          </a:bodyPr>
          <a:lstStyle/>
          <a:p>
            <a:r>
              <a:rPr lang="en-US" b="1" dirty="0">
                <a:solidFill>
                  <a:srgbClr val="0070C0"/>
                </a:solidFill>
              </a:rPr>
              <a:t>Abraham De </a:t>
            </a:r>
            <a:r>
              <a:rPr lang="en-US" b="1" dirty="0" err="1">
                <a:solidFill>
                  <a:srgbClr val="0070C0"/>
                </a:solidFill>
              </a:rPr>
              <a:t>Moivre</a:t>
            </a:r>
            <a:r>
              <a:rPr lang="en-US" b="1" dirty="0">
                <a:solidFill>
                  <a:srgbClr val="0070C0"/>
                </a:solidFill>
              </a:rPr>
              <a:t> </a:t>
            </a:r>
            <a:r>
              <a:rPr lang="en-US" dirty="0"/>
              <a:t>provided many tools to make the classical method more useful, including the multiplication rule, in his book </a:t>
            </a:r>
            <a:r>
              <a:rPr lang="en-US" b="1" dirty="0">
                <a:solidFill>
                  <a:srgbClr val="0070C0"/>
                </a:solidFill>
              </a:rPr>
              <a:t>The Doctrine of Chances</a:t>
            </a:r>
            <a:r>
              <a:rPr lang="en-US" dirty="0"/>
              <a:t> in 1718.</a:t>
            </a:r>
          </a:p>
          <a:p>
            <a:r>
              <a:rPr lang="en-US" dirty="0"/>
              <a:t>The book was popular, eventually going through three editions.</a:t>
            </a:r>
          </a:p>
          <a:p>
            <a:r>
              <a:rPr lang="en-US" dirty="0"/>
              <a:t>De </a:t>
            </a:r>
            <a:r>
              <a:rPr lang="en-US" dirty="0" err="1"/>
              <a:t>Moivre</a:t>
            </a:r>
            <a:r>
              <a:rPr lang="en-US" dirty="0"/>
              <a:t> has discovered the </a:t>
            </a:r>
            <a:r>
              <a:rPr lang="en-US" b="1" dirty="0">
                <a:solidFill>
                  <a:srgbClr val="0070C0"/>
                </a:solidFill>
              </a:rPr>
              <a:t>equation of the normal curve</a:t>
            </a:r>
            <a:r>
              <a:rPr lang="en-US" dirty="0"/>
              <a:t>.</a:t>
            </a:r>
          </a:p>
          <a:p>
            <a:endParaRPr lang="en-US" dirty="0"/>
          </a:p>
          <a:p>
            <a:r>
              <a:rPr lang="en-US" dirty="0"/>
              <a:t>Throughout the 18th century, the application of probability moved from games of chance to scientific problems:</a:t>
            </a:r>
          </a:p>
          <a:p>
            <a:r>
              <a:rPr lang="en-US" dirty="0"/>
              <a:t> - Mathematical theory of </a:t>
            </a:r>
            <a:r>
              <a:rPr lang="en-US" b="1" dirty="0">
                <a:solidFill>
                  <a:srgbClr val="0070C0"/>
                </a:solidFill>
              </a:rPr>
              <a:t>life insurance - life tables</a:t>
            </a:r>
            <a:r>
              <a:rPr lang="en-US" dirty="0"/>
              <a:t>.</a:t>
            </a:r>
          </a:p>
          <a:p>
            <a:r>
              <a:rPr lang="en-US" dirty="0"/>
              <a:t> - Biological problems - what is the </a:t>
            </a:r>
            <a:r>
              <a:rPr lang="en-US" b="1" dirty="0">
                <a:solidFill>
                  <a:srgbClr val="0070C0"/>
                </a:solidFill>
              </a:rPr>
              <a:t>probability of being born female or male</a:t>
            </a:r>
            <a:r>
              <a:rPr lang="en-US" dirty="0"/>
              <a:t>?</a:t>
            </a:r>
          </a:p>
        </p:txBody>
      </p:sp>
      <p:sp>
        <p:nvSpPr>
          <p:cNvPr id="5" name="TextBox 4">
            <a:extLst>
              <a:ext uri="{FF2B5EF4-FFF2-40B4-BE49-F238E27FC236}">
                <a16:creationId xmlns:a16="http://schemas.microsoft.com/office/drawing/2014/main" id="{9AD8934C-82EF-4843-9F06-DA59368E54BD}"/>
              </a:ext>
            </a:extLst>
          </p:cNvPr>
          <p:cNvSpPr txBox="1"/>
          <p:nvPr/>
        </p:nvSpPr>
        <p:spPr>
          <a:xfrm>
            <a:off x="228598" y="3001392"/>
            <a:ext cx="8343901" cy="3693319"/>
          </a:xfrm>
          <a:prstGeom prst="rect">
            <a:avLst/>
          </a:prstGeom>
          <a:noFill/>
        </p:spPr>
        <p:txBody>
          <a:bodyPr wrap="square" rtlCol="0">
            <a:spAutoFit/>
          </a:bodyPr>
          <a:lstStyle/>
          <a:p>
            <a:r>
              <a:rPr lang="en-US" b="1" dirty="0">
                <a:solidFill>
                  <a:srgbClr val="0070C0"/>
                </a:solidFill>
              </a:rPr>
              <a:t>Pierre-Simon Laplace </a:t>
            </a:r>
            <a:r>
              <a:rPr lang="en-US" dirty="0"/>
              <a:t>presented a mathematical theory of probability with an emphasis on scientific applications in his 1812 book </a:t>
            </a:r>
            <a:r>
              <a:rPr lang="en-US" b="1" dirty="0">
                <a:solidFill>
                  <a:srgbClr val="0070C0"/>
                </a:solidFill>
              </a:rPr>
              <a:t>"</a:t>
            </a:r>
            <a:r>
              <a:rPr lang="en-US" b="1" dirty="0" err="1">
                <a:solidFill>
                  <a:srgbClr val="0070C0"/>
                </a:solidFill>
              </a:rPr>
              <a:t>Theorie</a:t>
            </a:r>
            <a:r>
              <a:rPr lang="en-US" b="1" dirty="0">
                <a:solidFill>
                  <a:srgbClr val="0070C0"/>
                </a:solidFill>
              </a:rPr>
              <a:t> </a:t>
            </a:r>
            <a:r>
              <a:rPr lang="en-US" b="1" dirty="0" err="1">
                <a:solidFill>
                  <a:srgbClr val="0070C0"/>
                </a:solidFill>
              </a:rPr>
              <a:t>Analytique</a:t>
            </a:r>
            <a:r>
              <a:rPr lang="en-US" b="1" dirty="0">
                <a:solidFill>
                  <a:srgbClr val="0070C0"/>
                </a:solidFill>
              </a:rPr>
              <a:t> des Probabilities"</a:t>
            </a:r>
            <a:r>
              <a:rPr lang="en-US" dirty="0"/>
              <a:t>.</a:t>
            </a:r>
          </a:p>
          <a:p>
            <a:endParaRPr lang="en-US" dirty="0"/>
          </a:p>
          <a:p>
            <a:r>
              <a:rPr lang="en-US" dirty="0"/>
              <a:t>Unfortunately, </a:t>
            </a:r>
            <a:r>
              <a:rPr lang="en-US" b="1" dirty="0">
                <a:solidFill>
                  <a:srgbClr val="0070C0"/>
                </a:solidFill>
              </a:rPr>
              <a:t>Laplace</a:t>
            </a:r>
            <a:r>
              <a:rPr lang="en-US" dirty="0"/>
              <a:t> only considered the classical method, leaving no indication on how the method was to be applied to general problems.</a:t>
            </a:r>
          </a:p>
          <a:p>
            <a:endParaRPr lang="en-US" dirty="0"/>
          </a:p>
          <a:p>
            <a:r>
              <a:rPr lang="en-US" dirty="0"/>
              <a:t>After the publication of </a:t>
            </a:r>
            <a:r>
              <a:rPr lang="en-US" b="1" dirty="0">
                <a:solidFill>
                  <a:srgbClr val="0070C0"/>
                </a:solidFill>
              </a:rPr>
              <a:t>Laplace’s</a:t>
            </a:r>
            <a:r>
              <a:rPr lang="en-US" dirty="0"/>
              <a:t> book, the mathematical development of probability stagnated for many years.</a:t>
            </a:r>
          </a:p>
          <a:p>
            <a:endParaRPr lang="en-US" dirty="0"/>
          </a:p>
          <a:p>
            <a:r>
              <a:rPr lang="en-US" dirty="0"/>
              <a:t>By 1850, many mathematicians found the classical method to be unrealistic for general use and were attempting to redefine probability in terms of the frequency method.</a:t>
            </a:r>
          </a:p>
          <a:p>
            <a:endParaRPr lang="en-US" dirty="0"/>
          </a:p>
          <a:p>
            <a:r>
              <a:rPr lang="en-US" dirty="0"/>
              <a:t>These attempts were never fully accepted and the stagnation continued.</a:t>
            </a:r>
          </a:p>
        </p:txBody>
      </p:sp>
      <p:pic>
        <p:nvPicPr>
          <p:cNvPr id="6" name="Picture 5">
            <a:extLst>
              <a:ext uri="{FF2B5EF4-FFF2-40B4-BE49-F238E27FC236}">
                <a16:creationId xmlns:a16="http://schemas.microsoft.com/office/drawing/2014/main" id="{AC57AE32-08B9-D342-85BC-25EB803A503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188767" y="3118756"/>
            <a:ext cx="2371865" cy="2879553"/>
          </a:xfrm>
          <a:prstGeom prst="rect">
            <a:avLst/>
          </a:prstGeom>
        </p:spPr>
      </p:pic>
      <p:sp>
        <p:nvSpPr>
          <p:cNvPr id="7" name="TextBox 6">
            <a:extLst>
              <a:ext uri="{FF2B5EF4-FFF2-40B4-BE49-F238E27FC236}">
                <a16:creationId xmlns:a16="http://schemas.microsoft.com/office/drawing/2014/main" id="{399F0031-F4C5-924D-8358-89E164B7EB33}"/>
              </a:ext>
            </a:extLst>
          </p:cNvPr>
          <p:cNvSpPr txBox="1"/>
          <p:nvPr/>
        </p:nvSpPr>
        <p:spPr>
          <a:xfrm>
            <a:off x="9188767" y="6041569"/>
            <a:ext cx="2371865" cy="738664"/>
          </a:xfrm>
          <a:prstGeom prst="rect">
            <a:avLst/>
          </a:prstGeom>
          <a:noFill/>
        </p:spPr>
        <p:txBody>
          <a:bodyPr wrap="square" rtlCol="0">
            <a:spAutoFit/>
          </a:bodyPr>
          <a:lstStyle/>
          <a:p>
            <a:pPr algn="ctr"/>
            <a:r>
              <a:rPr lang="en-US" sz="1400" dirty="0"/>
              <a:t>Pierre-Simon</a:t>
            </a:r>
          </a:p>
          <a:p>
            <a:pPr algn="ctr"/>
            <a:r>
              <a:rPr lang="en-US" sz="1400" dirty="0"/>
              <a:t>marquis de Laplace </a:t>
            </a:r>
          </a:p>
          <a:p>
            <a:pPr algn="ctr"/>
            <a:r>
              <a:rPr lang="en-US" sz="1400" dirty="0"/>
              <a:t>(1749 - 1827)</a:t>
            </a:r>
          </a:p>
        </p:txBody>
      </p:sp>
      <p:pic>
        <p:nvPicPr>
          <p:cNvPr id="8" name="Picture 7">
            <a:extLst>
              <a:ext uri="{FF2B5EF4-FFF2-40B4-BE49-F238E27FC236}">
                <a16:creationId xmlns:a16="http://schemas.microsoft.com/office/drawing/2014/main" id="{B00BC171-967A-014A-A5C5-B418ED2CF30C}"/>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9443970" y="130629"/>
            <a:ext cx="1861457" cy="2284186"/>
          </a:xfrm>
          <a:prstGeom prst="rect">
            <a:avLst/>
          </a:prstGeom>
        </p:spPr>
      </p:pic>
      <p:sp>
        <p:nvSpPr>
          <p:cNvPr id="9" name="TextBox 8">
            <a:extLst>
              <a:ext uri="{FF2B5EF4-FFF2-40B4-BE49-F238E27FC236}">
                <a16:creationId xmlns:a16="http://schemas.microsoft.com/office/drawing/2014/main" id="{2B0D2E3E-BA20-9E49-B8AE-D62B38CE51E5}"/>
              </a:ext>
            </a:extLst>
          </p:cNvPr>
          <p:cNvSpPr txBox="1"/>
          <p:nvPr/>
        </p:nvSpPr>
        <p:spPr>
          <a:xfrm>
            <a:off x="9388923" y="2439767"/>
            <a:ext cx="1975759" cy="523220"/>
          </a:xfrm>
          <a:prstGeom prst="rect">
            <a:avLst/>
          </a:prstGeom>
          <a:noFill/>
        </p:spPr>
        <p:txBody>
          <a:bodyPr wrap="square" rtlCol="0">
            <a:spAutoFit/>
          </a:bodyPr>
          <a:lstStyle/>
          <a:p>
            <a:pPr algn="ctr"/>
            <a:r>
              <a:rPr lang="en-US" sz="1400" dirty="0"/>
              <a:t>Abraham De </a:t>
            </a:r>
            <a:r>
              <a:rPr lang="en-US" sz="1400" dirty="0" err="1"/>
              <a:t>Moivre</a:t>
            </a:r>
            <a:endParaRPr lang="en-US" sz="1400" dirty="0"/>
          </a:p>
          <a:p>
            <a:pPr algn="ctr"/>
            <a:r>
              <a:rPr lang="en-US" sz="1400" dirty="0"/>
              <a:t>(1667 - 1754)</a:t>
            </a:r>
          </a:p>
        </p:txBody>
      </p:sp>
    </p:spTree>
    <p:extLst>
      <p:ext uri="{BB962C8B-B14F-4D97-AF65-F5344CB8AC3E}">
        <p14:creationId xmlns:p14="http://schemas.microsoft.com/office/powerpoint/2010/main" val="876695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8D94A3B-670A-3C4D-9734-749EE7B0038F}"/>
              </a:ext>
            </a:extLst>
          </p:cNvPr>
          <p:cNvSpPr txBox="1"/>
          <p:nvPr/>
        </p:nvSpPr>
        <p:spPr>
          <a:xfrm>
            <a:off x="310243" y="321628"/>
            <a:ext cx="7364186" cy="5355312"/>
          </a:xfrm>
          <a:prstGeom prst="rect">
            <a:avLst/>
          </a:prstGeom>
          <a:noFill/>
        </p:spPr>
        <p:txBody>
          <a:bodyPr wrap="square" rtlCol="0">
            <a:spAutoFit/>
          </a:bodyPr>
          <a:lstStyle/>
          <a:p>
            <a:r>
              <a:rPr lang="en-US" dirty="0"/>
              <a:t>Andrey Kolmogorov developed the first rigorous approach to probability</a:t>
            </a:r>
          </a:p>
          <a:p>
            <a:r>
              <a:rPr lang="en-US" dirty="0"/>
              <a:t>in his 1933 monograph:</a:t>
            </a:r>
          </a:p>
          <a:p>
            <a:endParaRPr lang="en-US" dirty="0"/>
          </a:p>
          <a:p>
            <a:r>
              <a:rPr lang="en-US" dirty="0">
                <a:solidFill>
                  <a:srgbClr val="0070C0"/>
                </a:solidFill>
              </a:rPr>
              <a:t>Kolmogorov, Andrey (1933). </a:t>
            </a:r>
            <a:r>
              <a:rPr lang="en-US" dirty="0" err="1">
                <a:solidFill>
                  <a:srgbClr val="0070C0"/>
                </a:solidFill>
              </a:rPr>
              <a:t>Grundbegriffe</a:t>
            </a:r>
            <a:r>
              <a:rPr lang="en-US" dirty="0">
                <a:solidFill>
                  <a:srgbClr val="0070C0"/>
                </a:solidFill>
              </a:rPr>
              <a:t> der </a:t>
            </a:r>
            <a:r>
              <a:rPr lang="en-US" dirty="0" err="1">
                <a:solidFill>
                  <a:srgbClr val="0070C0"/>
                </a:solidFill>
              </a:rPr>
              <a:t>Wahrscheinlichkeitsrechnung</a:t>
            </a:r>
            <a:r>
              <a:rPr lang="en-US" dirty="0">
                <a:solidFill>
                  <a:srgbClr val="0070C0"/>
                </a:solidFill>
              </a:rPr>
              <a:t> (in German). Berlin: Julius Springer.</a:t>
            </a:r>
          </a:p>
          <a:p>
            <a:endParaRPr lang="en-US" dirty="0">
              <a:solidFill>
                <a:srgbClr val="0070C0"/>
              </a:solidFill>
            </a:endParaRPr>
          </a:p>
          <a:p>
            <a:r>
              <a:rPr lang="en-US" dirty="0">
                <a:solidFill>
                  <a:srgbClr val="0070C0"/>
                </a:solidFill>
              </a:rPr>
              <a:t>Translation: Kolmogorov, Andrey (1956). Foundations of the Theory of Probability (2nd ed.). New York: Chelsea.</a:t>
            </a:r>
          </a:p>
          <a:p>
            <a:endParaRPr lang="en-US" dirty="0"/>
          </a:p>
          <a:p>
            <a:r>
              <a:rPr lang="en-US" dirty="0"/>
              <a:t>He built up probability theory from fundamental axioms in a way comparable with Euclid's treatment of geometry.</a:t>
            </a:r>
          </a:p>
          <a:p>
            <a:endParaRPr lang="en-US" dirty="0"/>
          </a:p>
          <a:p>
            <a:r>
              <a:rPr lang="en-US" dirty="0"/>
              <a:t>Modern research in probability theory is closely related to the mathematical field of </a:t>
            </a:r>
            <a:r>
              <a:rPr lang="en-US" b="1" dirty="0">
                <a:solidFill>
                  <a:srgbClr val="0070C0"/>
                </a:solidFill>
              </a:rPr>
              <a:t>measure theory</a:t>
            </a:r>
            <a:r>
              <a:rPr lang="en-US" dirty="0"/>
              <a:t>.</a:t>
            </a:r>
          </a:p>
          <a:p>
            <a:endParaRPr lang="en-US" dirty="0"/>
          </a:p>
          <a:p>
            <a:r>
              <a:rPr lang="en-US" dirty="0"/>
              <a:t>Modern innovators in the field include </a:t>
            </a:r>
            <a:r>
              <a:rPr lang="en-US" b="1" dirty="0">
                <a:solidFill>
                  <a:srgbClr val="0070C0"/>
                </a:solidFill>
              </a:rPr>
              <a:t>Patrick Billingsley </a:t>
            </a:r>
            <a:r>
              <a:rPr lang="en-US" dirty="0"/>
              <a:t>(University of Chicago), </a:t>
            </a:r>
            <a:r>
              <a:rPr lang="en-US" b="1" dirty="0">
                <a:solidFill>
                  <a:srgbClr val="0070C0"/>
                </a:solidFill>
              </a:rPr>
              <a:t>Yuan Shih Chow </a:t>
            </a:r>
            <a:r>
              <a:rPr lang="en-US" dirty="0"/>
              <a:t>(Columbia), </a:t>
            </a:r>
            <a:r>
              <a:rPr lang="en-US" b="1" dirty="0">
                <a:solidFill>
                  <a:srgbClr val="0070C0"/>
                </a:solidFill>
              </a:rPr>
              <a:t>Kai Lai Chung </a:t>
            </a:r>
            <a:r>
              <a:rPr lang="en-US" dirty="0"/>
              <a:t>(Stanford), </a:t>
            </a:r>
            <a:r>
              <a:rPr lang="en-US" b="1" dirty="0">
                <a:solidFill>
                  <a:srgbClr val="0070C0"/>
                </a:solidFill>
              </a:rPr>
              <a:t>Samuel </a:t>
            </a:r>
            <a:r>
              <a:rPr lang="en-US" b="1" dirty="0" err="1">
                <a:solidFill>
                  <a:srgbClr val="0070C0"/>
                </a:solidFill>
              </a:rPr>
              <a:t>Karlin</a:t>
            </a:r>
            <a:r>
              <a:rPr lang="en-US" dirty="0"/>
              <a:t> (Stanford), </a:t>
            </a:r>
            <a:r>
              <a:rPr lang="en-US" b="1" dirty="0">
                <a:solidFill>
                  <a:srgbClr val="0070C0"/>
                </a:solidFill>
              </a:rPr>
              <a:t>Rolf-Dieter Reiss, Sheldon Ross </a:t>
            </a:r>
            <a:r>
              <a:rPr lang="en-US" dirty="0"/>
              <a:t>(Berkeley), </a:t>
            </a:r>
            <a:r>
              <a:rPr lang="en-US" b="1" dirty="0">
                <a:solidFill>
                  <a:srgbClr val="0070C0"/>
                </a:solidFill>
              </a:rPr>
              <a:t>Henry </a:t>
            </a:r>
            <a:r>
              <a:rPr lang="en-US" b="1" dirty="0" err="1">
                <a:solidFill>
                  <a:srgbClr val="0070C0"/>
                </a:solidFill>
              </a:rPr>
              <a:t>Teicher</a:t>
            </a:r>
            <a:r>
              <a:rPr lang="en-US" b="1" dirty="0">
                <a:solidFill>
                  <a:srgbClr val="0070C0"/>
                </a:solidFill>
              </a:rPr>
              <a:t> </a:t>
            </a:r>
            <a:r>
              <a:rPr lang="en-US" dirty="0"/>
              <a:t>(Rutgers) and many many more…</a:t>
            </a:r>
          </a:p>
        </p:txBody>
      </p:sp>
      <p:pic>
        <p:nvPicPr>
          <p:cNvPr id="5" name="Picture 4">
            <a:extLst>
              <a:ext uri="{FF2B5EF4-FFF2-40B4-BE49-F238E27FC236}">
                <a16:creationId xmlns:a16="http://schemas.microsoft.com/office/drawing/2014/main" id="{62A1E67E-0418-0942-9F6D-7BF2DDE0646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866086" y="321628"/>
            <a:ext cx="1701800" cy="2070100"/>
          </a:xfrm>
          <a:prstGeom prst="rect">
            <a:avLst/>
          </a:prstGeom>
        </p:spPr>
      </p:pic>
      <p:sp>
        <p:nvSpPr>
          <p:cNvPr id="6" name="TextBox 5">
            <a:extLst>
              <a:ext uri="{FF2B5EF4-FFF2-40B4-BE49-F238E27FC236}">
                <a16:creationId xmlns:a16="http://schemas.microsoft.com/office/drawing/2014/main" id="{99A06B9E-A987-8640-97EB-189DFA20C5BE}"/>
              </a:ext>
            </a:extLst>
          </p:cNvPr>
          <p:cNvSpPr txBox="1"/>
          <p:nvPr/>
        </p:nvSpPr>
        <p:spPr>
          <a:xfrm>
            <a:off x="9980389" y="2391728"/>
            <a:ext cx="1436915" cy="369332"/>
          </a:xfrm>
          <a:prstGeom prst="rect">
            <a:avLst/>
          </a:prstGeom>
          <a:noFill/>
        </p:spPr>
        <p:txBody>
          <a:bodyPr wrap="square" rtlCol="0">
            <a:spAutoFit/>
          </a:bodyPr>
          <a:lstStyle/>
          <a:p>
            <a:pPr algn="ctr"/>
            <a:r>
              <a:rPr lang="en-US" dirty="0"/>
              <a:t>1903 - 1987</a:t>
            </a:r>
          </a:p>
        </p:txBody>
      </p:sp>
      <p:pic>
        <p:nvPicPr>
          <p:cNvPr id="2" name="Picture 1">
            <a:extLst>
              <a:ext uri="{FF2B5EF4-FFF2-40B4-BE49-F238E27FC236}">
                <a16:creationId xmlns:a16="http://schemas.microsoft.com/office/drawing/2014/main" id="{4F9EA1D9-0075-1B4E-A890-38BE6F6E08DA}"/>
              </a:ext>
            </a:extLst>
          </p:cNvPr>
          <p:cNvPicPr>
            <a:picLocks noChangeAspect="1"/>
          </p:cNvPicPr>
          <p:nvPr/>
        </p:nvPicPr>
        <p:blipFill>
          <a:blip r:embed="rId3"/>
          <a:stretch>
            <a:fillRect/>
          </a:stretch>
        </p:blipFill>
        <p:spPr>
          <a:xfrm>
            <a:off x="9866086" y="3117740"/>
            <a:ext cx="1701800" cy="1840319"/>
          </a:xfrm>
          <a:prstGeom prst="rect">
            <a:avLst/>
          </a:prstGeom>
        </p:spPr>
      </p:pic>
    </p:spTree>
    <p:extLst>
      <p:ext uri="{BB962C8B-B14F-4D97-AF65-F5344CB8AC3E}">
        <p14:creationId xmlns:p14="http://schemas.microsoft.com/office/powerpoint/2010/main" val="3784507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5B9C890-DB57-A140-8861-59A1593E49B6}"/>
              </a:ext>
            </a:extLst>
          </p:cNvPr>
          <p:cNvSpPr txBox="1"/>
          <p:nvPr/>
        </p:nvSpPr>
        <p:spPr>
          <a:xfrm>
            <a:off x="326571" y="473760"/>
            <a:ext cx="6841672" cy="4431983"/>
          </a:xfrm>
          <a:prstGeom prst="rect">
            <a:avLst/>
          </a:prstGeom>
          <a:noFill/>
        </p:spPr>
        <p:txBody>
          <a:bodyPr wrap="square" rtlCol="0">
            <a:spAutoFit/>
          </a:bodyPr>
          <a:lstStyle/>
          <a:p>
            <a:r>
              <a:rPr lang="en-US" sz="2400" dirty="0"/>
              <a:t>The word "</a:t>
            </a:r>
            <a:r>
              <a:rPr lang="en-US" sz="2400" b="1" dirty="0">
                <a:solidFill>
                  <a:srgbClr val="FF0000"/>
                </a:solidFill>
              </a:rPr>
              <a:t>Statistics</a:t>
            </a:r>
            <a:r>
              <a:rPr lang="en-US" sz="2400" dirty="0"/>
              <a:t>"</a:t>
            </a:r>
          </a:p>
          <a:p>
            <a:endParaRPr lang="en-US" dirty="0"/>
          </a:p>
          <a:p>
            <a:r>
              <a:rPr lang="en-US" dirty="0"/>
              <a:t>The term statistics is ultimately derived from the New Latin </a:t>
            </a:r>
            <a:r>
              <a:rPr lang="en-US" b="1" dirty="0" err="1">
                <a:solidFill>
                  <a:srgbClr val="0070C0"/>
                </a:solidFill>
              </a:rPr>
              <a:t>statisticum</a:t>
            </a:r>
            <a:r>
              <a:rPr lang="en-US" b="1" dirty="0">
                <a:solidFill>
                  <a:srgbClr val="0070C0"/>
                </a:solidFill>
              </a:rPr>
              <a:t> collegium </a:t>
            </a:r>
            <a:r>
              <a:rPr lang="en-US" dirty="0"/>
              <a:t>("council of state") and the Italian word </a:t>
            </a:r>
            <a:r>
              <a:rPr lang="en-US" b="1" dirty="0" err="1">
                <a:solidFill>
                  <a:srgbClr val="0070C0"/>
                </a:solidFill>
              </a:rPr>
              <a:t>statista</a:t>
            </a:r>
            <a:r>
              <a:rPr lang="en-US" dirty="0"/>
              <a:t> ("statesman" or "politician").</a:t>
            </a:r>
          </a:p>
          <a:p>
            <a:endParaRPr lang="en-US" dirty="0"/>
          </a:p>
          <a:p>
            <a:r>
              <a:rPr lang="en-US" b="1" dirty="0">
                <a:solidFill>
                  <a:srgbClr val="0070C0"/>
                </a:solidFill>
              </a:rPr>
              <a:t>Gottfried </a:t>
            </a:r>
            <a:r>
              <a:rPr lang="en-US" b="1" dirty="0" err="1">
                <a:solidFill>
                  <a:srgbClr val="0070C0"/>
                </a:solidFill>
              </a:rPr>
              <a:t>Achenwall</a:t>
            </a:r>
            <a:r>
              <a:rPr lang="en-US" b="1" dirty="0">
                <a:solidFill>
                  <a:srgbClr val="0070C0"/>
                </a:solidFill>
              </a:rPr>
              <a:t>  </a:t>
            </a:r>
            <a:r>
              <a:rPr lang="en-US" dirty="0"/>
              <a:t>- first introduced the word </a:t>
            </a:r>
            <a:r>
              <a:rPr lang="en-US" sz="2400" b="1" dirty="0" err="1">
                <a:solidFill>
                  <a:srgbClr val="FF0000"/>
                </a:solidFill>
              </a:rPr>
              <a:t>statistiks</a:t>
            </a:r>
            <a:r>
              <a:rPr lang="en-US" dirty="0"/>
              <a:t> in a preface to his work:</a:t>
            </a:r>
          </a:p>
          <a:p>
            <a:r>
              <a:rPr lang="en-US" b="1" i="1" dirty="0">
                <a:solidFill>
                  <a:srgbClr val="0070C0"/>
                </a:solidFill>
              </a:rPr>
              <a:t>"</a:t>
            </a:r>
            <a:r>
              <a:rPr lang="en-US" b="1" i="1" dirty="0" err="1">
                <a:solidFill>
                  <a:srgbClr val="0070C0"/>
                </a:solidFill>
              </a:rPr>
              <a:t>Staatsverfassung</a:t>
            </a:r>
            <a:r>
              <a:rPr lang="en-US" b="1" i="1" dirty="0">
                <a:solidFill>
                  <a:srgbClr val="0070C0"/>
                </a:solidFill>
              </a:rPr>
              <a:t> der </a:t>
            </a:r>
            <a:r>
              <a:rPr lang="en-US" b="1" i="1" dirty="0" err="1">
                <a:solidFill>
                  <a:srgbClr val="0070C0"/>
                </a:solidFill>
              </a:rPr>
              <a:t>Europäischen</a:t>
            </a:r>
            <a:r>
              <a:rPr lang="en-US" b="1" i="1" dirty="0">
                <a:solidFill>
                  <a:srgbClr val="0070C0"/>
                </a:solidFill>
              </a:rPr>
              <a:t> </a:t>
            </a:r>
            <a:r>
              <a:rPr lang="en-US" b="1" i="1" dirty="0" err="1">
                <a:solidFill>
                  <a:srgbClr val="0070C0"/>
                </a:solidFill>
              </a:rPr>
              <a:t>Reiche</a:t>
            </a:r>
            <a:r>
              <a:rPr lang="en-US" b="1" i="1" dirty="0">
                <a:solidFill>
                  <a:srgbClr val="0070C0"/>
                </a:solidFill>
              </a:rPr>
              <a:t> </a:t>
            </a:r>
            <a:r>
              <a:rPr lang="en-US" b="1" i="1" dirty="0" err="1">
                <a:solidFill>
                  <a:srgbClr val="0070C0"/>
                </a:solidFill>
              </a:rPr>
              <a:t>im</a:t>
            </a:r>
            <a:r>
              <a:rPr lang="en-US" b="1" i="1" dirty="0">
                <a:solidFill>
                  <a:srgbClr val="0070C0"/>
                </a:solidFill>
              </a:rPr>
              <a:t> </a:t>
            </a:r>
            <a:r>
              <a:rPr lang="en-US" b="1" i="1" dirty="0" err="1">
                <a:solidFill>
                  <a:srgbClr val="0070C0"/>
                </a:solidFill>
              </a:rPr>
              <a:t>Grundrisse</a:t>
            </a:r>
            <a:r>
              <a:rPr lang="en-US" b="1" i="1" dirty="0">
                <a:solidFill>
                  <a:srgbClr val="0070C0"/>
                </a:solidFill>
              </a:rPr>
              <a:t>"</a:t>
            </a:r>
            <a:endParaRPr lang="en-US" b="1" dirty="0">
              <a:solidFill>
                <a:srgbClr val="0070C0"/>
              </a:solidFill>
            </a:endParaRPr>
          </a:p>
          <a:p>
            <a:r>
              <a:rPr lang="en-US" b="1" dirty="0">
                <a:solidFill>
                  <a:srgbClr val="0070C0"/>
                </a:solidFill>
              </a:rPr>
              <a:t>(Constitution of the Present Leading European States, 1752</a:t>
            </a:r>
            <a:r>
              <a:rPr lang="en-US" dirty="0"/>
              <a:t>).</a:t>
            </a:r>
          </a:p>
          <a:p>
            <a:endParaRPr lang="en-US" dirty="0"/>
          </a:p>
          <a:p>
            <a:r>
              <a:rPr lang="en-US" dirty="0"/>
              <a:t>German economists named </a:t>
            </a:r>
            <a:r>
              <a:rPr lang="en-US" b="1" dirty="0">
                <a:solidFill>
                  <a:srgbClr val="0070C0"/>
                </a:solidFill>
              </a:rPr>
              <a:t>Gottfried </a:t>
            </a:r>
            <a:r>
              <a:rPr lang="en-US" b="1" dirty="0" err="1">
                <a:solidFill>
                  <a:srgbClr val="0070C0"/>
                </a:solidFill>
              </a:rPr>
              <a:t>Achenwall</a:t>
            </a:r>
            <a:r>
              <a:rPr lang="en-US" dirty="0"/>
              <a:t> the "</a:t>
            </a:r>
            <a:r>
              <a:rPr lang="en-US" b="1" dirty="0">
                <a:solidFill>
                  <a:srgbClr val="0070C0"/>
                </a:solidFill>
              </a:rPr>
              <a:t>Father of Statistics</a:t>
            </a:r>
            <a:r>
              <a:rPr lang="en-US" dirty="0"/>
              <a:t>"; but English writers disputed this, asserting that it ignored the prior claims of </a:t>
            </a:r>
            <a:r>
              <a:rPr lang="en-US" b="1" dirty="0">
                <a:solidFill>
                  <a:srgbClr val="0070C0"/>
                </a:solidFill>
              </a:rPr>
              <a:t>William Petty </a:t>
            </a:r>
            <a:r>
              <a:rPr lang="en-US" dirty="0"/>
              <a:t>and other earlier writers on the subject. </a:t>
            </a:r>
          </a:p>
        </p:txBody>
      </p:sp>
      <p:pic>
        <p:nvPicPr>
          <p:cNvPr id="5" name="Picture 4">
            <a:extLst>
              <a:ext uri="{FF2B5EF4-FFF2-40B4-BE49-F238E27FC236}">
                <a16:creationId xmlns:a16="http://schemas.microsoft.com/office/drawing/2014/main" id="{E93C8138-4762-D74D-9936-24B7AACCF0B7}"/>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568542" y="212272"/>
            <a:ext cx="2024744" cy="2824844"/>
          </a:xfrm>
          <a:prstGeom prst="rect">
            <a:avLst/>
          </a:prstGeom>
        </p:spPr>
      </p:pic>
      <p:sp>
        <p:nvSpPr>
          <p:cNvPr id="6" name="TextBox 5">
            <a:extLst>
              <a:ext uri="{FF2B5EF4-FFF2-40B4-BE49-F238E27FC236}">
                <a16:creationId xmlns:a16="http://schemas.microsoft.com/office/drawing/2014/main" id="{0EAE5310-D303-1545-AA4D-D57C7A37488F}"/>
              </a:ext>
            </a:extLst>
          </p:cNvPr>
          <p:cNvSpPr txBox="1"/>
          <p:nvPr/>
        </p:nvSpPr>
        <p:spPr>
          <a:xfrm>
            <a:off x="9135836" y="3037116"/>
            <a:ext cx="2890156" cy="1477328"/>
          </a:xfrm>
          <a:prstGeom prst="rect">
            <a:avLst/>
          </a:prstGeom>
          <a:noFill/>
        </p:spPr>
        <p:txBody>
          <a:bodyPr wrap="square" rtlCol="0">
            <a:spAutoFit/>
          </a:bodyPr>
          <a:lstStyle/>
          <a:p>
            <a:pPr algn="ctr"/>
            <a:r>
              <a:rPr lang="en-US" dirty="0"/>
              <a:t>Gottfried </a:t>
            </a:r>
            <a:r>
              <a:rPr lang="en-US" dirty="0" err="1"/>
              <a:t>Achenwall</a:t>
            </a:r>
            <a:r>
              <a:rPr lang="en-US" dirty="0"/>
              <a:t> </a:t>
            </a:r>
          </a:p>
          <a:p>
            <a:pPr algn="ctr"/>
            <a:r>
              <a:rPr lang="en-US" dirty="0"/>
              <a:t>1719-1772</a:t>
            </a:r>
          </a:p>
          <a:p>
            <a:pPr algn="ctr"/>
            <a:r>
              <a:rPr lang="en-US" dirty="0"/>
              <a:t>German philosopher, historian, economist, jurist and statistician</a:t>
            </a:r>
          </a:p>
        </p:txBody>
      </p:sp>
      <p:sp>
        <p:nvSpPr>
          <p:cNvPr id="7" name="TextBox 6">
            <a:extLst>
              <a:ext uri="{FF2B5EF4-FFF2-40B4-BE49-F238E27FC236}">
                <a16:creationId xmlns:a16="http://schemas.microsoft.com/office/drawing/2014/main" id="{98681727-8241-994F-990E-51F36AD90F09}"/>
              </a:ext>
            </a:extLst>
          </p:cNvPr>
          <p:cNvSpPr txBox="1"/>
          <p:nvPr/>
        </p:nvSpPr>
        <p:spPr>
          <a:xfrm>
            <a:off x="326571" y="5069615"/>
            <a:ext cx="5878287" cy="1200329"/>
          </a:xfrm>
          <a:prstGeom prst="rect">
            <a:avLst/>
          </a:prstGeom>
          <a:noFill/>
        </p:spPr>
        <p:txBody>
          <a:bodyPr wrap="square" rtlCol="0">
            <a:spAutoFit/>
          </a:bodyPr>
          <a:lstStyle/>
          <a:p>
            <a:r>
              <a:rPr lang="en-US" dirty="0"/>
              <a:t>Originally the term "statistics" was used to describe </a:t>
            </a:r>
          </a:p>
          <a:p>
            <a:r>
              <a:rPr lang="en-US" dirty="0"/>
              <a:t>the systematic collection of demographic and economic data</a:t>
            </a:r>
          </a:p>
          <a:p>
            <a:r>
              <a:rPr lang="en-US" dirty="0"/>
              <a:t>by states about the states (then called political arithmetic in English).</a:t>
            </a:r>
          </a:p>
        </p:txBody>
      </p:sp>
      <p:pic>
        <p:nvPicPr>
          <p:cNvPr id="8" name="Picture 7">
            <a:extLst>
              <a:ext uri="{FF2B5EF4-FFF2-40B4-BE49-F238E27FC236}">
                <a16:creationId xmlns:a16="http://schemas.microsoft.com/office/drawing/2014/main" id="{DA4000E0-58D8-7340-B6B3-6443CADB522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7360104" y="3224486"/>
            <a:ext cx="1534885" cy="1845129"/>
          </a:xfrm>
          <a:prstGeom prst="rect">
            <a:avLst/>
          </a:prstGeom>
        </p:spPr>
      </p:pic>
      <p:sp>
        <p:nvSpPr>
          <p:cNvPr id="9" name="TextBox 8">
            <a:extLst>
              <a:ext uri="{FF2B5EF4-FFF2-40B4-BE49-F238E27FC236}">
                <a16:creationId xmlns:a16="http://schemas.microsoft.com/office/drawing/2014/main" id="{EE95C115-C21B-0743-947A-B8EC5F0140DC}"/>
              </a:ext>
            </a:extLst>
          </p:cNvPr>
          <p:cNvSpPr txBox="1"/>
          <p:nvPr/>
        </p:nvSpPr>
        <p:spPr>
          <a:xfrm>
            <a:off x="6666139" y="5069615"/>
            <a:ext cx="2922814" cy="1200329"/>
          </a:xfrm>
          <a:prstGeom prst="rect">
            <a:avLst/>
          </a:prstGeom>
          <a:noFill/>
        </p:spPr>
        <p:txBody>
          <a:bodyPr wrap="square" rtlCol="0">
            <a:spAutoFit/>
          </a:bodyPr>
          <a:lstStyle/>
          <a:p>
            <a:pPr algn="ctr"/>
            <a:r>
              <a:rPr lang="en-US" dirty="0"/>
              <a:t>Sir William Petty</a:t>
            </a:r>
          </a:p>
          <a:p>
            <a:pPr algn="ctr"/>
            <a:r>
              <a:rPr lang="en-US" dirty="0"/>
              <a:t>1623-1687</a:t>
            </a:r>
          </a:p>
          <a:p>
            <a:pPr algn="ctr"/>
            <a:r>
              <a:rPr lang="en-US" dirty="0"/>
              <a:t>English economist, physician, scientist and philosopher</a:t>
            </a:r>
          </a:p>
        </p:txBody>
      </p:sp>
    </p:spTree>
    <p:extLst>
      <p:ext uri="{BB962C8B-B14F-4D97-AF65-F5344CB8AC3E}">
        <p14:creationId xmlns:p14="http://schemas.microsoft.com/office/powerpoint/2010/main" val="1070079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DC7CDF2-8798-7744-B78A-5C25C09CC11D}"/>
              </a:ext>
            </a:extLst>
          </p:cNvPr>
          <p:cNvSpPr txBox="1"/>
          <p:nvPr/>
        </p:nvSpPr>
        <p:spPr>
          <a:xfrm>
            <a:off x="375557" y="1012372"/>
            <a:ext cx="11413671" cy="5632311"/>
          </a:xfrm>
          <a:prstGeom prst="rect">
            <a:avLst/>
          </a:prstGeom>
          <a:noFill/>
        </p:spPr>
        <p:txBody>
          <a:bodyPr wrap="square" rtlCol="0">
            <a:spAutoFit/>
          </a:bodyPr>
          <a:lstStyle/>
          <a:p>
            <a:r>
              <a:rPr lang="en-US" dirty="0"/>
              <a:t>1654 - Pascal - mathematics of probability, in correspondence with Fermat </a:t>
            </a:r>
          </a:p>
          <a:p>
            <a:r>
              <a:rPr lang="en-US" dirty="0"/>
              <a:t>1662 - William Petty and John </a:t>
            </a:r>
            <a:r>
              <a:rPr lang="en-US" dirty="0" err="1"/>
              <a:t>Graunt</a:t>
            </a:r>
            <a:r>
              <a:rPr lang="en-US" dirty="0"/>
              <a:t> - first demographic studies </a:t>
            </a:r>
          </a:p>
          <a:p>
            <a:r>
              <a:rPr lang="en-US" dirty="0"/>
              <a:t>1713 - Jakob Bernoulli - Ars </a:t>
            </a:r>
            <a:r>
              <a:rPr lang="en-US" dirty="0" err="1"/>
              <a:t>Conjectandi</a:t>
            </a:r>
            <a:r>
              <a:rPr lang="en-US" dirty="0"/>
              <a:t> (first limit theorem of probability = law of big numbers).</a:t>
            </a:r>
          </a:p>
          <a:p>
            <a:r>
              <a:rPr lang="en-US" dirty="0"/>
              <a:t>1733 - </a:t>
            </a:r>
            <a:r>
              <a:rPr lang="en-US" dirty="0" err="1"/>
              <a:t>DeMoivre</a:t>
            </a:r>
            <a:r>
              <a:rPr lang="en-US" dirty="0"/>
              <a:t> - </a:t>
            </a:r>
            <a:r>
              <a:rPr lang="en-US" dirty="0" err="1"/>
              <a:t>Approximatio</a:t>
            </a:r>
            <a:r>
              <a:rPr lang="en-US" dirty="0"/>
              <a:t>; law of error (similar to standard deviation), equation of the normal curve</a:t>
            </a:r>
          </a:p>
          <a:p>
            <a:r>
              <a:rPr lang="en-US" dirty="0"/>
              <a:t>1747 - James Lind - carried out the first ever clinical trial in 1747, in an effort to find a treatment for scurvy.</a:t>
            </a:r>
          </a:p>
          <a:p>
            <a:r>
              <a:rPr lang="en-US" dirty="0"/>
              <a:t>1763 - Rev. Bayes - An essay towards solving a problem in the Doctrine of Chances, foundation for "Bayesian statistics" </a:t>
            </a:r>
          </a:p>
          <a:p>
            <a:r>
              <a:rPr lang="en-US" dirty="0"/>
              <a:t>1805 - A-M Legendre - least square method </a:t>
            </a:r>
          </a:p>
          <a:p>
            <a:r>
              <a:rPr lang="en-US" dirty="0"/>
              <a:t>1809 - C. F. Gauss - </a:t>
            </a:r>
            <a:r>
              <a:rPr lang="en-US" dirty="0" err="1"/>
              <a:t>Theoria</a:t>
            </a:r>
            <a:r>
              <a:rPr lang="en-US" dirty="0"/>
              <a:t> Motus </a:t>
            </a:r>
            <a:r>
              <a:rPr lang="en-US" dirty="0" err="1"/>
              <a:t>Corporum</a:t>
            </a:r>
            <a:r>
              <a:rPr lang="en-US" dirty="0"/>
              <a:t> </a:t>
            </a:r>
            <a:r>
              <a:rPr lang="en-US" dirty="0" err="1"/>
              <a:t>Coelestium</a:t>
            </a:r>
            <a:r>
              <a:rPr lang="en-US" dirty="0"/>
              <a:t>, method of least squares</a:t>
            </a:r>
          </a:p>
          <a:p>
            <a:r>
              <a:rPr lang="en-US" dirty="0"/>
              <a:t>1812 - P. S. Laplace - </a:t>
            </a:r>
            <a:r>
              <a:rPr lang="en-US" dirty="0" err="1"/>
              <a:t>Théorie</a:t>
            </a:r>
            <a:r>
              <a:rPr lang="en-US" dirty="0"/>
              <a:t> </a:t>
            </a:r>
            <a:r>
              <a:rPr lang="en-US" dirty="0" err="1"/>
              <a:t>analytique</a:t>
            </a:r>
            <a:r>
              <a:rPr lang="en-US" dirty="0"/>
              <a:t> des </a:t>
            </a:r>
            <a:r>
              <a:rPr lang="en-US" dirty="0" err="1"/>
              <a:t>probabilités</a:t>
            </a:r>
            <a:r>
              <a:rPr lang="en-US" dirty="0"/>
              <a:t> </a:t>
            </a:r>
          </a:p>
          <a:p>
            <a:r>
              <a:rPr lang="en-US" dirty="0"/>
              <a:t>1834 - Statistical Society of London established </a:t>
            </a:r>
          </a:p>
          <a:p>
            <a:r>
              <a:rPr lang="en-US" dirty="0"/>
              <a:t>1853 - Adolphe </a:t>
            </a:r>
            <a:r>
              <a:rPr lang="en-US" dirty="0" err="1"/>
              <a:t>Quetelet</a:t>
            </a:r>
            <a:r>
              <a:rPr lang="en-US" dirty="0"/>
              <a:t> - organized first international statistics conference; applied statistics to biology; described the bell-shaped curve </a:t>
            </a:r>
          </a:p>
          <a:p>
            <a:r>
              <a:rPr lang="en-US" dirty="0"/>
              <a:t>1877 - F. Galton - regression to the mean </a:t>
            </a:r>
          </a:p>
          <a:p>
            <a:r>
              <a:rPr lang="en-US" dirty="0"/>
              <a:t>1888 - F. Galton - correlation </a:t>
            </a:r>
          </a:p>
          <a:p>
            <a:r>
              <a:rPr lang="en-US" dirty="0"/>
              <a:t>1889 - F. Galton - Natural Inheritance </a:t>
            </a:r>
          </a:p>
          <a:p>
            <a:r>
              <a:rPr lang="en-US" dirty="0"/>
              <a:t>1900 - Karl Pearson - chi square; applied correlation to natural selection </a:t>
            </a:r>
          </a:p>
          <a:p>
            <a:r>
              <a:rPr lang="en-US" dirty="0"/>
              <a:t>1904 - Spearman - rank (non-parametric) correlation coefficient </a:t>
            </a:r>
          </a:p>
          <a:p>
            <a:r>
              <a:rPr lang="en-US" dirty="0"/>
              <a:t>1908 - "Student" (W. S. Gossett) - The probable error of the mean; the t-test </a:t>
            </a:r>
          </a:p>
          <a:p>
            <a:r>
              <a:rPr lang="en-US" dirty="0"/>
              <a:t>1919 - R. A. Fisher - ANOVA; evolutionary biology </a:t>
            </a:r>
          </a:p>
          <a:p>
            <a:r>
              <a:rPr lang="en-US" dirty="0"/>
              <a:t>1930's - Jerzy </a:t>
            </a:r>
            <a:r>
              <a:rPr lang="en-US" dirty="0" err="1"/>
              <a:t>Neyman</a:t>
            </a:r>
            <a:r>
              <a:rPr lang="en-US" dirty="0"/>
              <a:t> and Egon Pearson (son of Karl Pearson) - type II errors, power of a test, confidence intervals</a:t>
            </a:r>
          </a:p>
        </p:txBody>
      </p:sp>
      <p:sp>
        <p:nvSpPr>
          <p:cNvPr id="5" name="TextBox 4">
            <a:extLst>
              <a:ext uri="{FF2B5EF4-FFF2-40B4-BE49-F238E27FC236}">
                <a16:creationId xmlns:a16="http://schemas.microsoft.com/office/drawing/2014/main" id="{6869A662-620B-EF4D-97C4-99523BB42C1B}"/>
              </a:ext>
            </a:extLst>
          </p:cNvPr>
          <p:cNvSpPr txBox="1"/>
          <p:nvPr/>
        </p:nvSpPr>
        <p:spPr>
          <a:xfrm>
            <a:off x="375557" y="146957"/>
            <a:ext cx="7053943" cy="523220"/>
          </a:xfrm>
          <a:prstGeom prst="rect">
            <a:avLst/>
          </a:prstGeom>
          <a:noFill/>
        </p:spPr>
        <p:txBody>
          <a:bodyPr wrap="square" rtlCol="0">
            <a:spAutoFit/>
          </a:bodyPr>
          <a:lstStyle/>
          <a:p>
            <a:r>
              <a:rPr lang="en-US" sz="2800" b="1" dirty="0">
                <a:solidFill>
                  <a:srgbClr val="0070C0"/>
                </a:solidFill>
              </a:rPr>
              <a:t>Prominent Contributors into Statistic Theory</a:t>
            </a:r>
          </a:p>
        </p:txBody>
      </p:sp>
    </p:spTree>
    <p:extLst>
      <p:ext uri="{BB962C8B-B14F-4D97-AF65-F5344CB8AC3E}">
        <p14:creationId xmlns:p14="http://schemas.microsoft.com/office/powerpoint/2010/main" val="15153960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012BDF-335D-9B45-8C27-6DA3E60C861C}"/>
              </a:ext>
            </a:extLst>
          </p:cNvPr>
          <p:cNvSpPr txBox="1"/>
          <p:nvPr/>
        </p:nvSpPr>
        <p:spPr>
          <a:xfrm>
            <a:off x="3192935" y="3360422"/>
            <a:ext cx="3155069" cy="3293209"/>
          </a:xfrm>
          <a:prstGeom prst="rect">
            <a:avLst/>
          </a:prstGeom>
          <a:noFill/>
        </p:spPr>
        <p:txBody>
          <a:bodyPr wrap="square" rtlCol="0">
            <a:spAutoFit/>
          </a:bodyPr>
          <a:lstStyle/>
          <a:p>
            <a:r>
              <a:rPr lang="en-US" sz="1600" dirty="0"/>
              <a:t>English mathematician, ~600 scientific papers and books (~400 in statistics).</a:t>
            </a:r>
          </a:p>
          <a:p>
            <a:endParaRPr lang="en-US" sz="1600" dirty="0"/>
          </a:p>
          <a:p>
            <a:r>
              <a:rPr lang="en-US" sz="1600" dirty="0"/>
              <a:t>He founded the world's first university statistics department at University College, London in 1911</a:t>
            </a:r>
          </a:p>
          <a:p>
            <a:endParaRPr lang="en-US" sz="1600" dirty="0"/>
          </a:p>
          <a:p>
            <a:r>
              <a:rPr lang="en-US" sz="1600" dirty="0"/>
              <a:t>He is mostly known for :</a:t>
            </a:r>
          </a:p>
          <a:p>
            <a:r>
              <a:rPr lang="en-US" sz="1600" dirty="0"/>
              <a:t>   - chi-squared test</a:t>
            </a:r>
          </a:p>
          <a:p>
            <a:r>
              <a:rPr lang="en-US" sz="1600" dirty="0"/>
              <a:t>   - standard deviation</a:t>
            </a:r>
          </a:p>
          <a:p>
            <a:r>
              <a:rPr lang="en-US" sz="1600" dirty="0"/>
              <a:t>   - correlation and regression coefficients</a:t>
            </a:r>
          </a:p>
        </p:txBody>
      </p:sp>
      <p:pic>
        <p:nvPicPr>
          <p:cNvPr id="5" name="Picture 4">
            <a:extLst>
              <a:ext uri="{FF2B5EF4-FFF2-40B4-BE49-F238E27FC236}">
                <a16:creationId xmlns:a16="http://schemas.microsoft.com/office/drawing/2014/main" id="{29CEFDB0-5918-F646-B76B-166F66D5A43F}"/>
              </a:ext>
            </a:extLst>
          </p:cNvPr>
          <p:cNvPicPr>
            <a:picLocks noChangeAspect="1"/>
          </p:cNvPicPr>
          <p:nvPr/>
        </p:nvPicPr>
        <p:blipFill>
          <a:blip r:embed="rId2"/>
          <a:stretch>
            <a:fillRect/>
          </a:stretch>
        </p:blipFill>
        <p:spPr>
          <a:xfrm>
            <a:off x="3438723" y="228606"/>
            <a:ext cx="2423930" cy="2423930"/>
          </a:xfrm>
          <a:prstGeom prst="rect">
            <a:avLst/>
          </a:prstGeom>
        </p:spPr>
      </p:pic>
      <p:sp>
        <p:nvSpPr>
          <p:cNvPr id="6" name="TextBox 5">
            <a:extLst>
              <a:ext uri="{FF2B5EF4-FFF2-40B4-BE49-F238E27FC236}">
                <a16:creationId xmlns:a16="http://schemas.microsoft.com/office/drawing/2014/main" id="{2E2B4B91-3A24-C744-9936-375834A83689}"/>
              </a:ext>
            </a:extLst>
          </p:cNvPr>
          <p:cNvSpPr txBox="1"/>
          <p:nvPr/>
        </p:nvSpPr>
        <p:spPr>
          <a:xfrm>
            <a:off x="3654645" y="2652536"/>
            <a:ext cx="1992086" cy="707886"/>
          </a:xfrm>
          <a:prstGeom prst="rect">
            <a:avLst/>
          </a:prstGeom>
          <a:noFill/>
        </p:spPr>
        <p:txBody>
          <a:bodyPr wrap="square" rtlCol="0">
            <a:spAutoFit/>
          </a:bodyPr>
          <a:lstStyle/>
          <a:p>
            <a:pPr algn="ctr"/>
            <a:r>
              <a:rPr lang="en-US" sz="2000" b="1" dirty="0"/>
              <a:t>Karl Pearson </a:t>
            </a:r>
          </a:p>
          <a:p>
            <a:pPr algn="ctr"/>
            <a:r>
              <a:rPr lang="en-US" sz="2000" b="1" dirty="0"/>
              <a:t>(1857-1936)</a:t>
            </a:r>
          </a:p>
        </p:txBody>
      </p:sp>
      <p:pic>
        <p:nvPicPr>
          <p:cNvPr id="7" name="Picture 6">
            <a:extLst>
              <a:ext uri="{FF2B5EF4-FFF2-40B4-BE49-F238E27FC236}">
                <a16:creationId xmlns:a16="http://schemas.microsoft.com/office/drawing/2014/main" id="{F3976601-C8A2-2145-966F-8887F2A7B92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648501" y="204860"/>
            <a:ext cx="1965519" cy="2308132"/>
          </a:xfrm>
          <a:prstGeom prst="rect">
            <a:avLst/>
          </a:prstGeom>
        </p:spPr>
      </p:pic>
      <p:sp>
        <p:nvSpPr>
          <p:cNvPr id="8" name="TextBox 7">
            <a:extLst>
              <a:ext uri="{FF2B5EF4-FFF2-40B4-BE49-F238E27FC236}">
                <a16:creationId xmlns:a16="http://schemas.microsoft.com/office/drawing/2014/main" id="{07B5E9E1-A677-A743-BEA8-2FA76055B2B3}"/>
              </a:ext>
            </a:extLst>
          </p:cNvPr>
          <p:cNvSpPr txBox="1"/>
          <p:nvPr/>
        </p:nvSpPr>
        <p:spPr>
          <a:xfrm>
            <a:off x="6543944" y="3262448"/>
            <a:ext cx="2453099" cy="1323439"/>
          </a:xfrm>
          <a:prstGeom prst="rect">
            <a:avLst/>
          </a:prstGeom>
          <a:noFill/>
        </p:spPr>
        <p:txBody>
          <a:bodyPr wrap="square" rtlCol="0">
            <a:spAutoFit/>
          </a:bodyPr>
          <a:lstStyle/>
          <a:p>
            <a:r>
              <a:rPr lang="en-US" sz="1600" dirty="0"/>
              <a:t>Famous for F-distribution. Developed the analysis of variance </a:t>
            </a:r>
            <a:r>
              <a:rPr lang="en-US" sz="1600" b="1" dirty="0">
                <a:solidFill>
                  <a:srgbClr val="0070C0"/>
                </a:solidFill>
              </a:rPr>
              <a:t>ANOVA</a:t>
            </a:r>
            <a:r>
              <a:rPr lang="en-US" sz="1600" dirty="0"/>
              <a:t>. Succeed Pearson at the University College, London</a:t>
            </a:r>
          </a:p>
        </p:txBody>
      </p:sp>
      <p:sp>
        <p:nvSpPr>
          <p:cNvPr id="9" name="TextBox 8">
            <a:extLst>
              <a:ext uri="{FF2B5EF4-FFF2-40B4-BE49-F238E27FC236}">
                <a16:creationId xmlns:a16="http://schemas.microsoft.com/office/drawing/2014/main" id="{EB4B6DE7-C791-6544-A319-4A6508796DD2}"/>
              </a:ext>
            </a:extLst>
          </p:cNvPr>
          <p:cNvSpPr txBox="1"/>
          <p:nvPr/>
        </p:nvSpPr>
        <p:spPr>
          <a:xfrm>
            <a:off x="6616028" y="2492836"/>
            <a:ext cx="1831869" cy="707886"/>
          </a:xfrm>
          <a:prstGeom prst="rect">
            <a:avLst/>
          </a:prstGeom>
          <a:noFill/>
        </p:spPr>
        <p:txBody>
          <a:bodyPr wrap="square" rtlCol="0">
            <a:spAutoFit/>
          </a:bodyPr>
          <a:lstStyle/>
          <a:p>
            <a:pPr algn="ctr"/>
            <a:r>
              <a:rPr lang="en-US" sz="2000" b="1" dirty="0"/>
              <a:t>Ronald Fisher </a:t>
            </a:r>
          </a:p>
          <a:p>
            <a:pPr algn="ctr"/>
            <a:r>
              <a:rPr lang="en-US" sz="2000" b="1" dirty="0"/>
              <a:t>(1890-1962)</a:t>
            </a:r>
          </a:p>
        </p:txBody>
      </p:sp>
      <p:pic>
        <p:nvPicPr>
          <p:cNvPr id="10" name="Picture 9">
            <a:extLst>
              <a:ext uri="{FF2B5EF4-FFF2-40B4-BE49-F238E27FC236}">
                <a16:creationId xmlns:a16="http://schemas.microsoft.com/office/drawing/2014/main" id="{1C386871-A91F-6544-940F-E7745721C808}"/>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9523857" y="180474"/>
            <a:ext cx="1744578" cy="2587083"/>
          </a:xfrm>
          <a:prstGeom prst="rect">
            <a:avLst/>
          </a:prstGeom>
        </p:spPr>
      </p:pic>
      <p:sp>
        <p:nvSpPr>
          <p:cNvPr id="11" name="TextBox 10">
            <a:extLst>
              <a:ext uri="{FF2B5EF4-FFF2-40B4-BE49-F238E27FC236}">
                <a16:creationId xmlns:a16="http://schemas.microsoft.com/office/drawing/2014/main" id="{52B2125B-0EED-B945-9FCB-177D58746B3C}"/>
              </a:ext>
            </a:extLst>
          </p:cNvPr>
          <p:cNvSpPr txBox="1"/>
          <p:nvPr/>
        </p:nvSpPr>
        <p:spPr>
          <a:xfrm>
            <a:off x="9192983" y="3514583"/>
            <a:ext cx="2855238" cy="2800767"/>
          </a:xfrm>
          <a:prstGeom prst="rect">
            <a:avLst/>
          </a:prstGeom>
          <a:noFill/>
        </p:spPr>
        <p:txBody>
          <a:bodyPr wrap="square" rtlCol="0">
            <a:spAutoFit/>
          </a:bodyPr>
          <a:lstStyle/>
          <a:p>
            <a:r>
              <a:rPr lang="en-US" sz="1600" dirty="0"/>
              <a:t>Famous for t-distribution and t-test. Learned statistics math methods at Pearson's lab. Used pseudonym "Student" because he was working for </a:t>
            </a:r>
            <a:r>
              <a:rPr lang="en-US" sz="1600" b="1" dirty="0">
                <a:solidFill>
                  <a:srgbClr val="0070C0"/>
                </a:solidFill>
              </a:rPr>
              <a:t>Guinness Beer Company</a:t>
            </a:r>
            <a:r>
              <a:rPr lang="en-US" sz="1600" dirty="0"/>
              <a:t> in England as a "</a:t>
            </a:r>
            <a:r>
              <a:rPr lang="en-US" sz="1600" b="1" dirty="0">
                <a:solidFill>
                  <a:srgbClr val="0070C0"/>
                </a:solidFill>
              </a:rPr>
              <a:t>Head Experimental Brewer</a:t>
            </a:r>
            <a:r>
              <a:rPr lang="en-US" sz="1600" dirty="0"/>
              <a:t>"  (working on cultivating barley), and the company didn't allow him to publish under his own name.</a:t>
            </a:r>
          </a:p>
        </p:txBody>
      </p:sp>
      <p:sp>
        <p:nvSpPr>
          <p:cNvPr id="12" name="TextBox 11">
            <a:extLst>
              <a:ext uri="{FF2B5EF4-FFF2-40B4-BE49-F238E27FC236}">
                <a16:creationId xmlns:a16="http://schemas.microsoft.com/office/drawing/2014/main" id="{9A7E7D90-A8E3-554F-AD5D-F09CF2B1E0F3}"/>
              </a:ext>
            </a:extLst>
          </p:cNvPr>
          <p:cNvSpPr txBox="1"/>
          <p:nvPr/>
        </p:nvSpPr>
        <p:spPr>
          <a:xfrm>
            <a:off x="9129948" y="2806697"/>
            <a:ext cx="2532396" cy="707886"/>
          </a:xfrm>
          <a:prstGeom prst="rect">
            <a:avLst/>
          </a:prstGeom>
          <a:noFill/>
        </p:spPr>
        <p:txBody>
          <a:bodyPr wrap="square" rtlCol="0">
            <a:spAutoFit/>
          </a:bodyPr>
          <a:lstStyle/>
          <a:p>
            <a:pPr algn="ctr"/>
            <a:r>
              <a:rPr lang="en-US" sz="2000" b="1" dirty="0"/>
              <a:t>William Sealy </a:t>
            </a:r>
            <a:r>
              <a:rPr lang="en-US" sz="2000" b="1" dirty="0" err="1"/>
              <a:t>Gosset</a:t>
            </a:r>
            <a:endParaRPr lang="en-US" sz="2000" b="1" dirty="0"/>
          </a:p>
          <a:p>
            <a:pPr algn="ctr"/>
            <a:r>
              <a:rPr lang="en-US" sz="2000" b="1" dirty="0"/>
              <a:t>(1876-1937)</a:t>
            </a:r>
          </a:p>
        </p:txBody>
      </p:sp>
      <p:sp>
        <p:nvSpPr>
          <p:cNvPr id="13" name="TextBox 12">
            <a:extLst>
              <a:ext uri="{FF2B5EF4-FFF2-40B4-BE49-F238E27FC236}">
                <a16:creationId xmlns:a16="http://schemas.microsoft.com/office/drawing/2014/main" id="{AAE75CC5-4A7E-BD49-930B-D1C340FA7B7F}"/>
              </a:ext>
            </a:extLst>
          </p:cNvPr>
          <p:cNvSpPr txBox="1"/>
          <p:nvPr/>
        </p:nvSpPr>
        <p:spPr>
          <a:xfrm>
            <a:off x="146435" y="3291841"/>
            <a:ext cx="2904911" cy="3539430"/>
          </a:xfrm>
          <a:prstGeom prst="rect">
            <a:avLst/>
          </a:prstGeom>
          <a:noFill/>
        </p:spPr>
        <p:txBody>
          <a:bodyPr wrap="square" rtlCol="0">
            <a:spAutoFit/>
          </a:bodyPr>
          <a:lstStyle/>
          <a:p>
            <a:r>
              <a:rPr lang="en-US" sz="1600" dirty="0"/>
              <a:t>English statistician, polymath, sociologist, psychologist, anthropologist, eugenicist, tropical explorer, geographer, inventor, meteorologist, proto-geneticist, and psychometrician.</a:t>
            </a:r>
          </a:p>
          <a:p>
            <a:endParaRPr lang="en-US" sz="1600" dirty="0"/>
          </a:p>
          <a:p>
            <a:r>
              <a:rPr lang="en-US" sz="1600" dirty="0"/>
              <a:t>Produced over 340 papers and books. </a:t>
            </a:r>
          </a:p>
          <a:p>
            <a:endParaRPr lang="en-US" sz="1600" dirty="0"/>
          </a:p>
          <a:p>
            <a:r>
              <a:rPr lang="en-US" sz="1600" dirty="0"/>
              <a:t>Famous for concept of correlation and regression toward the mean.</a:t>
            </a:r>
          </a:p>
          <a:p>
            <a:endParaRPr lang="en-US" sz="1600" dirty="0"/>
          </a:p>
        </p:txBody>
      </p:sp>
      <p:sp>
        <p:nvSpPr>
          <p:cNvPr id="14" name="TextBox 13">
            <a:extLst>
              <a:ext uri="{FF2B5EF4-FFF2-40B4-BE49-F238E27FC236}">
                <a16:creationId xmlns:a16="http://schemas.microsoft.com/office/drawing/2014/main" id="{E5EA374C-0EE8-8A43-A020-92B584DA3294}"/>
              </a:ext>
            </a:extLst>
          </p:cNvPr>
          <p:cNvSpPr txBox="1"/>
          <p:nvPr/>
        </p:nvSpPr>
        <p:spPr>
          <a:xfrm>
            <a:off x="292252" y="2672424"/>
            <a:ext cx="2393096" cy="707886"/>
          </a:xfrm>
          <a:prstGeom prst="rect">
            <a:avLst/>
          </a:prstGeom>
          <a:noFill/>
        </p:spPr>
        <p:txBody>
          <a:bodyPr wrap="square" rtlCol="0">
            <a:spAutoFit/>
          </a:bodyPr>
          <a:lstStyle/>
          <a:p>
            <a:pPr algn="ctr"/>
            <a:r>
              <a:rPr lang="en-US" sz="2000" b="1" dirty="0"/>
              <a:t>Sir Francis Galton</a:t>
            </a:r>
          </a:p>
          <a:p>
            <a:pPr algn="ctr"/>
            <a:r>
              <a:rPr lang="en-US" sz="2000" b="1" dirty="0"/>
              <a:t>(1822-1911)</a:t>
            </a:r>
          </a:p>
        </p:txBody>
      </p:sp>
      <p:pic>
        <p:nvPicPr>
          <p:cNvPr id="15" name="Picture 14">
            <a:extLst>
              <a:ext uri="{FF2B5EF4-FFF2-40B4-BE49-F238E27FC236}">
                <a16:creationId xmlns:a16="http://schemas.microsoft.com/office/drawing/2014/main" id="{7619B631-C9D4-324A-BA59-4D8ABCE43A2A}"/>
              </a:ext>
            </a:extLst>
          </p:cNvPr>
          <p:cNvPicPr>
            <a:picLocks noChangeAspect="1"/>
          </p:cNvPicPr>
          <p:nvPr/>
        </p:nvPicPr>
        <p:blipFill>
          <a:blip r:embed="rId5"/>
          <a:stretch>
            <a:fillRect/>
          </a:stretch>
        </p:blipFill>
        <p:spPr>
          <a:xfrm>
            <a:off x="435428" y="204860"/>
            <a:ext cx="2093457" cy="2421842"/>
          </a:xfrm>
          <a:prstGeom prst="rect">
            <a:avLst/>
          </a:prstGeom>
        </p:spPr>
      </p:pic>
    </p:spTree>
    <p:extLst>
      <p:ext uri="{BB962C8B-B14F-4D97-AF65-F5344CB8AC3E}">
        <p14:creationId xmlns:p14="http://schemas.microsoft.com/office/powerpoint/2010/main" val="16848334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419</TotalTime>
  <Words>3330</Words>
  <Application>Microsoft Macintosh PowerPoint</Application>
  <PresentationFormat>Widescreen</PresentationFormat>
  <Paragraphs>320</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 Selector</dc:creator>
  <cp:lastModifiedBy>Lev Selector</cp:lastModifiedBy>
  <cp:revision>41</cp:revision>
  <dcterms:created xsi:type="dcterms:W3CDTF">2020-09-15T01:18:03Z</dcterms:created>
  <dcterms:modified xsi:type="dcterms:W3CDTF">2020-09-16T16:28:58Z</dcterms:modified>
</cp:coreProperties>
</file>