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tiff" ContentType="image/tif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017" autoAdjust="0"/>
    <p:restoredTop sz="94660"/>
  </p:normalViewPr>
  <p:slideViewPr>
    <p:cSldViewPr snapToGrid="0">
      <p:cViewPr varScale="1">
        <p:scale>
          <a:sx n="115" d="100"/>
          <a:sy n="115" d="100"/>
        </p:scale>
        <p:origin x="504" y="2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095259-9AC2-43AD-9552-6A76344A926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B7517A5-F1D1-41FC-A545-DD02347E92E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5D30CDA-6970-4975-9A0D-0351B0D8EB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D1CD5E-42B2-400A-8507-848E2C61D324}" type="datetimeFigureOut">
              <a:rPr lang="en-US" smtClean="0"/>
              <a:t>7/13/21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7CC7267-6F0E-4910-88B9-F2DA67C0F7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78A6F71-C296-4A30-9C25-489FC36EB3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703AD9-7C85-4199-98D2-4EBD2D5D639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725903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28D1AE-1B1A-41AC-AA7C-4ACF7CCE6E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C0092B6-FCD6-4A74-9AEE-AA9A8CE8A51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07A1230-EAD4-47B1-A7A0-C86DAE8C97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D1CD5E-42B2-400A-8507-848E2C61D324}" type="datetimeFigureOut">
              <a:rPr lang="en-US" smtClean="0"/>
              <a:t>7/13/21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EC5F841-485E-458C-8C49-BE32A5977D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F036BFB-9D81-4EA4-BF7E-22878EBCDC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703AD9-7C85-4199-98D2-4EBD2D5D639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8931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2A9C63-E409-454C-A025-254BFE47D6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947D3B6-4F99-4546-BFA6-3343A1AC9E7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5DC878F-3CA3-45FC-BD4C-AB57BD2742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D1CD5E-42B2-400A-8507-848E2C61D324}" type="datetimeFigureOut">
              <a:rPr lang="en-US" smtClean="0"/>
              <a:t>7/13/21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A7C198B-F23F-4BF9-B800-87AF1E58E7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8934885-BD6B-4F43-8511-20F7C2AAB7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703AD9-7C85-4199-98D2-4EBD2D5D639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853520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393566-8C9A-42B4-8ED8-55A6FF7FC6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68668D9-AF77-4684-835F-B6A1C05F2BF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B388AAF-53EE-4AE7-8753-3788D93DBA6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E85FE6A-184C-4CAC-A11E-3AA8C4D12A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D1CD5E-42B2-400A-8507-848E2C61D324}" type="datetimeFigureOut">
              <a:rPr lang="en-US" smtClean="0"/>
              <a:t>7/13/21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6AAC320-5CC1-453E-AF22-933692F2F0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5B197D1-47B4-407F-8803-7A7D807490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703AD9-7C85-4199-98D2-4EBD2D5D639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715590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6AACD6-D677-4227-A01F-1E7DC546B8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17EE696-B94B-459F-AC1D-7A335233979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70A8162-6383-4ED9-93E5-12DB0002DE1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B38A28C-C86A-43E0-BC1B-3F0F68BCF1D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591DBA6-3C58-404C-A1BF-ABF32AA4F84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D60F13B-E7F7-4707-8441-F0EC10101C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D1CD5E-42B2-400A-8507-848E2C61D324}" type="datetimeFigureOut">
              <a:rPr lang="en-US" smtClean="0"/>
              <a:t>7/13/21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9CE5FAF-190E-4C9F-BDB3-B40B6E29A6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283B933-D702-4F83-8F5E-30E14B2484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703AD9-7C85-4199-98D2-4EBD2D5D639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456884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1E7ECD-9059-47D6-8731-37A9D586A0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E44B87E-30B0-43B4-AA72-DC5A8F8C1D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D1CD5E-42B2-400A-8507-848E2C61D324}" type="datetimeFigureOut">
              <a:rPr lang="en-US" smtClean="0"/>
              <a:t>7/13/21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3B0034A-903A-4943-B887-4A2F913A4A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514895B-D965-429E-A9B8-E973515BE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703AD9-7C85-4199-98D2-4EBD2D5D639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15384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6900233-D12D-4C88-8F59-A4C6ACD8DB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D1CD5E-42B2-400A-8507-848E2C61D324}" type="datetimeFigureOut">
              <a:rPr lang="en-US" smtClean="0"/>
              <a:t>7/13/21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0701C03-0177-46BC-9C5E-634EF4430E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117D297-12E3-4548-B508-10A6DFE286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703AD9-7C85-4199-98D2-4EBD2D5D639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120665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5DDCEF-1150-46B2-9300-1D186D34ED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6AF1DF7-342B-44CE-91A9-6579C2999AD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7F1654E-F149-4C2C-942E-B022FBA0305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26A55C7-02A1-4CA2-91D8-0226364F21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D1CD5E-42B2-400A-8507-848E2C61D324}" type="datetimeFigureOut">
              <a:rPr lang="en-US" smtClean="0"/>
              <a:t>7/13/21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F58F9AB-2D4A-48DF-85A3-8922BF17EA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AAF21CC-CF5E-4192-9038-B3563ED676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703AD9-7C85-4199-98D2-4EBD2D5D639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689541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A1DF4B-88FC-4162-B952-047BA64A2F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B218588-84B6-4056-8289-AFD39B8C7CB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CC0B4E1-CBFA-46C1-853A-3B08541F2B4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761B19E-F5C9-44EF-85A7-79739016E0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D1CD5E-42B2-400A-8507-848E2C61D324}" type="datetimeFigureOut">
              <a:rPr lang="en-US" smtClean="0"/>
              <a:t>7/13/21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1388125-250D-4D88-8A85-CEF721E787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02A92DD-E92C-4455-BD3E-9D428B3AF0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703AD9-7C85-4199-98D2-4EBD2D5D639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19068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49B95E-6058-41CC-A1B6-3D79755554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1F9FF0C-500B-44CD-84F3-61646D339D3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9DA590C-F648-4A66-AA4B-2A00465444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D1CD5E-42B2-400A-8507-848E2C61D324}" type="datetimeFigureOut">
              <a:rPr lang="en-US" smtClean="0"/>
              <a:t>7/13/21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A30D274-B9C7-4E65-96DE-11233A4EBA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F624DF9-3A92-4FED-8934-898DC416FB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703AD9-7C85-4199-98D2-4EBD2D5D639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132031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F3AF0B0-CBC8-4F9E-B3A5-277ED2E3B40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874BC98-7023-4BE7-B165-F15F2224465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3CE4EBD-EC47-4EBF-9551-588FB1A6B9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D1CD5E-42B2-400A-8507-848E2C61D324}" type="datetimeFigureOut">
              <a:rPr lang="en-US" smtClean="0"/>
              <a:t>7/13/21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3593115-BC7A-4EBB-95B1-EC0ABFAB45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57C73AE-5109-42EF-AC65-C416FDAE3C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703AD9-7C85-4199-98D2-4EBD2D5D639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348443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FF6F001-1B09-42A3-8B6A-4AAFB65792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2D00C52-E2BF-4728-9E54-192EF6B7443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77379E6-381E-423F-A0AB-A9C22856BD4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3D1CD5E-42B2-400A-8507-848E2C61D324}" type="datetimeFigureOut">
              <a:rPr lang="en-US" smtClean="0"/>
              <a:t>7/13/21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F7D21B0-1883-4E93-A032-52D75A2907A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F35E095-339A-4C26-BB1B-C8C1A9841E7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2703AD9-7C85-4199-98D2-4EBD2D5D639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65479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12" Type="http://schemas.openxmlformats.org/officeDocument/2006/relationships/image" Target="../media/image11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tiff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linkedin.com/pulse/how-select-proper-data-backend-technology-azure-andrei-zaichikov/" TargetMode="External"/><Relationship Id="rId13" Type="http://schemas.openxmlformats.org/officeDocument/2006/relationships/hyperlink" Target="https://www.linkedin.com/in/kirillgavrylyuk/" TargetMode="External"/><Relationship Id="rId3" Type="http://schemas.openxmlformats.org/officeDocument/2006/relationships/hyperlink" Target="https://www.youtube.com/watch?v=IqjVZexHCcE" TargetMode="External"/><Relationship Id="rId7" Type="http://schemas.openxmlformats.org/officeDocument/2006/relationships/hyperlink" Target="https://docs.microsoft.com/en-us/azure/cosmos-db/configure-synapse-link" TargetMode="External"/><Relationship Id="rId12" Type="http://schemas.openxmlformats.org/officeDocument/2006/relationships/hyperlink" Target="https://azure.microsoft.com/en-us/blog/gain-insight-into-your-azure-cosmos-db-data-with-qlik-view-and-qlik-sense/" TargetMode="External"/><Relationship Id="rId2" Type="http://schemas.openxmlformats.org/officeDocument/2006/relationships/hyperlink" Target="http://www.vldb.org/pvldb/vol13/p3204-saborit.pdf" TargetMode="External"/><Relationship Id="rId16" Type="http://schemas.openxmlformats.org/officeDocument/2006/relationships/hyperlink" Target="https://www.youtube.com/watch?v=rIjH24x19pQ" TargetMode="External"/><Relationship Id="rId1" Type="http://schemas.openxmlformats.org/officeDocument/2006/relationships/slideLayout" Target="../slideLayouts/slideLayout7.xml"/><Relationship Id="rId6" Type="http://schemas.openxmlformats.org/officeDocument/2006/relationships/hyperlink" Target="https://docs.microsoft.com/en-us/azure/cosmos-db/synapse-link" TargetMode="External"/><Relationship Id="rId11" Type="http://schemas.openxmlformats.org/officeDocument/2006/relationships/hyperlink" Target="https://www.youtube.com/watch?v=8RiHSDf7xBs" TargetMode="External"/><Relationship Id="rId5" Type="http://schemas.openxmlformats.org/officeDocument/2006/relationships/hyperlink" Target="https://docs.microsoft.com/en-us/azure/cosmos-db/analytical-store-introduction" TargetMode="External"/><Relationship Id="rId15" Type="http://schemas.openxmlformats.org/officeDocument/2006/relationships/hyperlink" Target="https://www.youtube.com/watch?v=2gydxodDS_I" TargetMode="External"/><Relationship Id="rId10" Type="http://schemas.openxmlformats.org/officeDocument/2006/relationships/hyperlink" Target="https://www.linkedin.com/in/aleksey-s-7b0918/" TargetMode="External"/><Relationship Id="rId4" Type="http://schemas.openxmlformats.org/officeDocument/2006/relationships/hyperlink" Target="https://www.youtube.com/watch?v=UcYMgKpbdPk" TargetMode="External"/><Relationship Id="rId9" Type="http://schemas.openxmlformats.org/officeDocument/2006/relationships/hyperlink" Target="https://www.linkedin.com/in/zaychikov/" TargetMode="External"/><Relationship Id="rId14" Type="http://schemas.openxmlformats.org/officeDocument/2006/relationships/hyperlink" Target="https://www.youtube.com/watch?v=27SN1eyVn5k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FD534DD7-FF93-4590-9807-208964FB3BE1}"/>
              </a:ext>
            </a:extLst>
          </p:cNvPr>
          <p:cNvSpPr/>
          <p:nvPr/>
        </p:nvSpPr>
        <p:spPr>
          <a:xfrm>
            <a:off x="7470516" y="691456"/>
            <a:ext cx="2409513" cy="5236039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69DCDBA-84BD-4939-A549-016186B8558E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2489239" y="1578163"/>
            <a:ext cx="742730" cy="70494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03F02BB0-FD24-45FD-8075-040863F4D55C}"/>
              </a:ext>
            </a:extLst>
          </p:cNvPr>
          <p:cNvSpPr txBox="1"/>
          <p:nvPr/>
        </p:nvSpPr>
        <p:spPr>
          <a:xfrm>
            <a:off x="1907056" y="4170040"/>
            <a:ext cx="1623346" cy="95410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Transactional Store,</a:t>
            </a:r>
          </a:p>
          <a:p>
            <a:pPr algn="ctr"/>
            <a:r>
              <a:rPr lang="en-US" sz="1400" dirty="0"/>
              <a:t>massive inserts,</a:t>
            </a:r>
          </a:p>
          <a:p>
            <a:pPr algn="ctr"/>
            <a:r>
              <a:rPr lang="en-US" sz="1400" dirty="0"/>
              <a:t>key-value</a:t>
            </a:r>
            <a:br>
              <a:rPr lang="en-US" sz="1400" dirty="0"/>
            </a:br>
            <a:r>
              <a:rPr lang="en-US" sz="1400" dirty="0"/>
              <a:t>(JSON doc)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2CE2C67-0B2E-4452-BC3F-DC43AFAF0A3C}"/>
              </a:ext>
            </a:extLst>
          </p:cNvPr>
          <p:cNvSpPr txBox="1"/>
          <p:nvPr/>
        </p:nvSpPr>
        <p:spPr>
          <a:xfrm>
            <a:off x="5061981" y="4130357"/>
            <a:ext cx="1326368" cy="52322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Analytical Columnar Store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A98AA5B3-3FFD-4B46-9AFD-5559EE18F426}"/>
              </a:ext>
            </a:extLst>
          </p:cNvPr>
          <p:cNvSpPr/>
          <p:nvPr/>
        </p:nvSpPr>
        <p:spPr>
          <a:xfrm>
            <a:off x="132976" y="2141704"/>
            <a:ext cx="1258808" cy="2849396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1BDBCF51-C37B-4D47-9490-336CCD2BE0A1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91667" y="2273910"/>
            <a:ext cx="775773" cy="792105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26C9F077-5649-4D2E-8303-5EC02A23F86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4010" y="3231520"/>
            <a:ext cx="571429" cy="733333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4CCE8FDC-650A-4849-8662-18A2E48395A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3785" y="4130357"/>
            <a:ext cx="638095" cy="695238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54F1DA86-FF13-4677-B140-F42D36E1BEF7}"/>
              </a:ext>
            </a:extLst>
          </p:cNvPr>
          <p:cNvSpPr txBox="1"/>
          <p:nvPr/>
        </p:nvSpPr>
        <p:spPr>
          <a:xfrm>
            <a:off x="-15404" y="1711074"/>
            <a:ext cx="1589913" cy="30777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sz="1400" dirty="0"/>
              <a:t>Operational Data</a:t>
            </a:r>
          </a:p>
        </p:txBody>
      </p:sp>
      <p:sp>
        <p:nvSpPr>
          <p:cNvPr id="17" name="Arrow: Right 16">
            <a:extLst>
              <a:ext uri="{FF2B5EF4-FFF2-40B4-BE49-F238E27FC236}">
                <a16:creationId xmlns:a16="http://schemas.microsoft.com/office/drawing/2014/main" id="{F1A71D22-D601-4919-B079-5A536C3E86CC}"/>
              </a:ext>
            </a:extLst>
          </p:cNvPr>
          <p:cNvSpPr/>
          <p:nvPr/>
        </p:nvSpPr>
        <p:spPr>
          <a:xfrm>
            <a:off x="1489787" y="3452169"/>
            <a:ext cx="836491" cy="241463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8EE1CE0D-1572-4B94-A7CC-6E955885054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40715" y="3928677"/>
            <a:ext cx="1495238" cy="771429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E329F966-FBE4-473A-8B36-00C977201E9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382921" y="2223158"/>
            <a:ext cx="1219048" cy="1685714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B330332E-2BA0-48F2-9A5A-94A18253C398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197184" y="1742736"/>
            <a:ext cx="749246" cy="615053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76200" cap="sq">
            <a:solidFill>
              <a:srgbClr val="EAEAEA"/>
            </a:solidFill>
            <a:miter lim="800000"/>
          </a:ln>
          <a:effectLst>
            <a:reflection blurRad="12700" stA="33000" endPos="28000" dist="5000" dir="5400000" sy="-100000" algn="bl" rotWithShape="0"/>
          </a:effectLst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</p:pic>
      <p:sp>
        <p:nvSpPr>
          <p:cNvPr id="32" name="TextBox 31">
            <a:extLst>
              <a:ext uri="{FF2B5EF4-FFF2-40B4-BE49-F238E27FC236}">
                <a16:creationId xmlns:a16="http://schemas.microsoft.com/office/drawing/2014/main" id="{E6A00EA5-8F51-4518-8064-650202C1EE5C}"/>
              </a:ext>
            </a:extLst>
          </p:cNvPr>
          <p:cNvSpPr txBox="1"/>
          <p:nvPr/>
        </p:nvSpPr>
        <p:spPr>
          <a:xfrm>
            <a:off x="3866577" y="4772136"/>
            <a:ext cx="3363603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Configuring </a:t>
            </a:r>
            <a:r>
              <a:rPr lang="en-US" sz="1400" b="1" dirty="0">
                <a:solidFill>
                  <a:srgbClr val="FF0000"/>
                </a:solidFill>
              </a:rPr>
              <a:t>Synapse Link for Cosmos DB</a:t>
            </a:r>
            <a:r>
              <a:rPr lang="en-US" sz="1400" dirty="0"/>
              <a:t> means enabling </a:t>
            </a:r>
            <a:r>
              <a:rPr lang="en-US" sz="1400" b="1" dirty="0">
                <a:solidFill>
                  <a:srgbClr val="00B050"/>
                </a:solidFill>
              </a:rPr>
              <a:t>Analytical Store</a:t>
            </a:r>
            <a:r>
              <a:rPr lang="en-US" sz="1400" dirty="0"/>
              <a:t> in Cosmos DB and enabling automatic sync of data into it. So you can use SQL to query data from Analytical Store without slowing down the Transactional Store.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821F937-7C57-AD47-998D-B2A87B2B0C32}"/>
              </a:ext>
            </a:extLst>
          </p:cNvPr>
          <p:cNvSpPr txBox="1"/>
          <p:nvPr/>
        </p:nvSpPr>
        <p:spPr>
          <a:xfrm>
            <a:off x="0" y="-4277"/>
            <a:ext cx="2821718" cy="83099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sz="2400" b="1" dirty="0"/>
              <a:t>Cosmos DB</a:t>
            </a:r>
          </a:p>
          <a:p>
            <a:r>
              <a:rPr lang="en-US" sz="2400" b="1" dirty="0"/>
              <a:t>Link for Cosmos DB</a:t>
            </a:r>
          </a:p>
        </p:txBody>
      </p:sp>
      <p:pic>
        <p:nvPicPr>
          <p:cNvPr id="26" name="Picture 25">
            <a:extLst>
              <a:ext uri="{FF2B5EF4-FFF2-40B4-BE49-F238E27FC236}">
                <a16:creationId xmlns:a16="http://schemas.microsoft.com/office/drawing/2014/main" id="{3C67EF9B-6FF7-3441-8C5C-E0B5ACF84819}"/>
              </a:ext>
            </a:extLst>
          </p:cNvPr>
          <p:cNvPicPr>
            <a:picLocks noChangeAspect="1"/>
          </p:cNvPicPr>
          <p:nvPr/>
        </p:nvPicPr>
        <p:blipFill rotWithShape="1">
          <a:blip r:embed="rId9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5277423" y="3155995"/>
            <a:ext cx="927781" cy="922229"/>
          </a:xfrm>
          <a:prstGeom prst="rect">
            <a:avLst/>
          </a:prstGeom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47FD529D-57FD-8847-A6FD-58BA6A162B7D}"/>
              </a:ext>
            </a:extLst>
          </p:cNvPr>
          <p:cNvPicPr>
            <a:picLocks noChangeAspect="1"/>
          </p:cNvPicPr>
          <p:nvPr/>
        </p:nvPicPr>
        <p:blipFill rotWithShape="1">
          <a:blip r:embed="rId9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 rot="5400000">
            <a:off x="2403324" y="3073794"/>
            <a:ext cx="927781" cy="922229"/>
          </a:xfrm>
          <a:prstGeom prst="rect">
            <a:avLst/>
          </a:prstGeom>
        </p:spPr>
      </p:pic>
      <p:sp>
        <p:nvSpPr>
          <p:cNvPr id="34" name="Rectangle: Rounded Corners 15">
            <a:extLst>
              <a:ext uri="{FF2B5EF4-FFF2-40B4-BE49-F238E27FC236}">
                <a16:creationId xmlns:a16="http://schemas.microsoft.com/office/drawing/2014/main" id="{4FD303BB-36B6-AA42-87AA-7569E8F94F68}"/>
              </a:ext>
            </a:extLst>
          </p:cNvPr>
          <p:cNvSpPr/>
          <p:nvPr/>
        </p:nvSpPr>
        <p:spPr>
          <a:xfrm>
            <a:off x="3795467" y="2861270"/>
            <a:ext cx="3278859" cy="1846095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Arrow: Right 16">
            <a:extLst>
              <a:ext uri="{FF2B5EF4-FFF2-40B4-BE49-F238E27FC236}">
                <a16:creationId xmlns:a16="http://schemas.microsoft.com/office/drawing/2014/main" id="{E8B251CB-7029-E945-B66E-A8D4B4F300B6}"/>
              </a:ext>
            </a:extLst>
          </p:cNvPr>
          <p:cNvSpPr/>
          <p:nvPr/>
        </p:nvSpPr>
        <p:spPr>
          <a:xfrm>
            <a:off x="3459293" y="3438509"/>
            <a:ext cx="1707710" cy="283175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756E1253-555B-154F-9AE7-731008340C8A}"/>
              </a:ext>
            </a:extLst>
          </p:cNvPr>
          <p:cNvSpPr txBox="1"/>
          <p:nvPr/>
        </p:nvSpPr>
        <p:spPr>
          <a:xfrm>
            <a:off x="4824682" y="2458969"/>
            <a:ext cx="1625506" cy="30777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Link for Cosmos DB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E5D5A423-4CF1-474C-86D2-32360BBE5BDF}"/>
              </a:ext>
            </a:extLst>
          </p:cNvPr>
          <p:cNvSpPr txBox="1"/>
          <p:nvPr/>
        </p:nvSpPr>
        <p:spPr>
          <a:xfrm>
            <a:off x="2385002" y="2379289"/>
            <a:ext cx="1074290" cy="30777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Cosmos DB</a:t>
            </a:r>
          </a:p>
        </p:txBody>
      </p:sp>
      <p:sp>
        <p:nvSpPr>
          <p:cNvPr id="39" name="Arrow: Right 16">
            <a:extLst>
              <a:ext uri="{FF2B5EF4-FFF2-40B4-BE49-F238E27FC236}">
                <a16:creationId xmlns:a16="http://schemas.microsoft.com/office/drawing/2014/main" id="{5E260749-E857-DB45-B7ED-036880234966}"/>
              </a:ext>
            </a:extLst>
          </p:cNvPr>
          <p:cNvSpPr/>
          <p:nvPr/>
        </p:nvSpPr>
        <p:spPr>
          <a:xfrm>
            <a:off x="6315625" y="3413908"/>
            <a:ext cx="2070137" cy="307777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2FD78652-2635-2447-91D5-27433DDC52EB}"/>
              </a:ext>
            </a:extLst>
          </p:cNvPr>
          <p:cNvSpPr txBox="1"/>
          <p:nvPr/>
        </p:nvSpPr>
        <p:spPr>
          <a:xfrm>
            <a:off x="7402632" y="3087220"/>
            <a:ext cx="1050364" cy="30777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SQL Query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961CF9D3-3557-E746-97FF-26E9BA0B0A15}"/>
              </a:ext>
            </a:extLst>
          </p:cNvPr>
          <p:cNvSpPr txBox="1"/>
          <p:nvPr/>
        </p:nvSpPr>
        <p:spPr>
          <a:xfrm>
            <a:off x="3866577" y="3155588"/>
            <a:ext cx="1152113" cy="30777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Auto-Sync</a:t>
            </a:r>
          </a:p>
        </p:txBody>
      </p:sp>
      <p:pic>
        <p:nvPicPr>
          <p:cNvPr id="1028" name="Picture 4" descr="Microsoft Power BI | Logopedia | Fandom">
            <a:extLst>
              <a:ext uri="{FF2B5EF4-FFF2-40B4-BE49-F238E27FC236}">
                <a16:creationId xmlns:a16="http://schemas.microsoft.com/office/drawing/2014/main" id="{514B89B4-FF75-4D47-A110-EAA5EB6F927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10534223" y="1767358"/>
            <a:ext cx="1240326" cy="12238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2" name="TextBox 41">
            <a:extLst>
              <a:ext uri="{FF2B5EF4-FFF2-40B4-BE49-F238E27FC236}">
                <a16:creationId xmlns:a16="http://schemas.microsoft.com/office/drawing/2014/main" id="{70E19216-7243-2F4F-9F48-6DBF96455F09}"/>
              </a:ext>
            </a:extLst>
          </p:cNvPr>
          <p:cNvSpPr txBox="1"/>
          <p:nvPr/>
        </p:nvSpPr>
        <p:spPr>
          <a:xfrm>
            <a:off x="10634025" y="3070241"/>
            <a:ext cx="895877" cy="30777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Power BI</a:t>
            </a:r>
          </a:p>
        </p:txBody>
      </p:sp>
      <p:pic>
        <p:nvPicPr>
          <p:cNvPr id="1030" name="Picture 6" descr="ML Pipelines in Azure Machine Learning the right way | by Coussement Bruno  | datamindedbe | Jun, 2021 | Medium">
            <a:extLst>
              <a:ext uri="{FF2B5EF4-FFF2-40B4-BE49-F238E27FC236}">
                <a16:creationId xmlns:a16="http://schemas.microsoft.com/office/drawing/2014/main" id="{1EE2F591-D932-0249-85CD-94AFDEBB5DD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10685205" y="3820765"/>
            <a:ext cx="755487" cy="8149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 descr="Pricing - Azure Synapse Analytics | Microsoft Azure">
            <a:extLst>
              <a:ext uri="{FF2B5EF4-FFF2-40B4-BE49-F238E27FC236}">
                <a16:creationId xmlns:a16="http://schemas.microsoft.com/office/drawing/2014/main" id="{57606DA9-BA51-C343-82CA-AEE42E410BB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7230180" y="779259"/>
            <a:ext cx="1469388" cy="7714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3" name="TextBox 42">
            <a:extLst>
              <a:ext uri="{FF2B5EF4-FFF2-40B4-BE49-F238E27FC236}">
                <a16:creationId xmlns:a16="http://schemas.microsoft.com/office/drawing/2014/main" id="{EC552F87-77D1-1147-98E6-FAD27B01DA64}"/>
              </a:ext>
            </a:extLst>
          </p:cNvPr>
          <p:cNvSpPr txBox="1"/>
          <p:nvPr/>
        </p:nvSpPr>
        <p:spPr>
          <a:xfrm>
            <a:off x="10544815" y="4796713"/>
            <a:ext cx="1229734" cy="30777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ML Studio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01EE79D0-957E-9346-A403-C9435B0AE0DB}"/>
              </a:ext>
            </a:extLst>
          </p:cNvPr>
          <p:cNvSpPr txBox="1"/>
          <p:nvPr/>
        </p:nvSpPr>
        <p:spPr>
          <a:xfrm>
            <a:off x="8325150" y="889026"/>
            <a:ext cx="1326368" cy="52322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Azure Synapse Analytics</a:t>
            </a:r>
          </a:p>
        </p:txBody>
      </p:sp>
      <p:pic>
        <p:nvPicPr>
          <p:cNvPr id="1034" name="Picture 10" descr="Importing Data into Azure Data Lake Storage Gen2">
            <a:extLst>
              <a:ext uri="{FF2B5EF4-FFF2-40B4-BE49-F238E27FC236}">
                <a16:creationId xmlns:a16="http://schemas.microsoft.com/office/drawing/2014/main" id="{0464C089-9783-D049-867B-5278ABCAAF78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28032" r="27237"/>
          <a:stretch/>
        </p:blipFill>
        <p:spPr bwMode="auto">
          <a:xfrm>
            <a:off x="7664725" y="4878476"/>
            <a:ext cx="788271" cy="92223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5" name="TextBox 44">
            <a:extLst>
              <a:ext uri="{FF2B5EF4-FFF2-40B4-BE49-F238E27FC236}">
                <a16:creationId xmlns:a16="http://schemas.microsoft.com/office/drawing/2014/main" id="{B8AE725E-FF89-4F43-9A59-C6870793AE49}"/>
              </a:ext>
            </a:extLst>
          </p:cNvPr>
          <p:cNvSpPr txBox="1"/>
          <p:nvPr/>
        </p:nvSpPr>
        <p:spPr>
          <a:xfrm>
            <a:off x="8454598" y="5103835"/>
            <a:ext cx="1154536" cy="73866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Azure Data Lake Storage (Files)</a:t>
            </a:r>
          </a:p>
        </p:txBody>
      </p:sp>
    </p:spTree>
    <p:extLst>
      <p:ext uri="{BB962C8B-B14F-4D97-AF65-F5344CB8AC3E}">
        <p14:creationId xmlns:p14="http://schemas.microsoft.com/office/powerpoint/2010/main" val="117606002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BFFEBC7-4D49-9342-9AF8-3A039F404158}"/>
              </a:ext>
            </a:extLst>
          </p:cNvPr>
          <p:cNvSpPr txBox="1"/>
          <p:nvPr/>
        </p:nvSpPr>
        <p:spPr>
          <a:xfrm>
            <a:off x="0" y="479503"/>
            <a:ext cx="6266985" cy="61247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>
                <a:solidFill>
                  <a:srgbClr val="00B050"/>
                </a:solidFill>
              </a:rPr>
              <a:t>Question:</a:t>
            </a:r>
          </a:p>
          <a:p>
            <a:r>
              <a:rPr lang="en-US" sz="1400" dirty="0"/>
              <a:t>How Link manages to do real-time replication?</a:t>
            </a:r>
          </a:p>
          <a:p>
            <a:r>
              <a:rPr lang="en-US" sz="1400" dirty="0"/>
              <a:t>It is interesting because inserts into analytical DBs are usually very slow.</a:t>
            </a:r>
          </a:p>
          <a:p>
            <a:endParaRPr lang="en-US" sz="1400" dirty="0"/>
          </a:p>
          <a:p>
            <a:r>
              <a:rPr lang="en-US" sz="1400" b="1" dirty="0">
                <a:solidFill>
                  <a:srgbClr val="00B050"/>
                </a:solidFill>
              </a:rPr>
              <a:t>Answer:</a:t>
            </a:r>
            <a:r>
              <a:rPr lang="en-US" sz="1400" dirty="0"/>
              <a:t> (from a Microsoft architect):</a:t>
            </a:r>
          </a:p>
          <a:p>
            <a:r>
              <a:rPr lang="en-US" sz="1400" dirty="0"/>
              <a:t>In a nutshell this is achieved using the combination of micro-batch jobs and mass parallel ingestion. As you know, Synapse doesn't perform well under transactional load due to variety of factors, but using </a:t>
            </a:r>
            <a:r>
              <a:rPr lang="en-US" sz="1400" b="1" dirty="0" err="1">
                <a:solidFill>
                  <a:srgbClr val="FF0000"/>
                </a:solidFill>
              </a:rPr>
              <a:t>Polybase</a:t>
            </a:r>
            <a:r>
              <a:rPr lang="en-US" sz="1400" dirty="0"/>
              <a:t> removes these limitations.</a:t>
            </a:r>
          </a:p>
          <a:p>
            <a:r>
              <a:rPr lang="en-US" sz="1400" dirty="0"/>
              <a:t>Think about repointing </a:t>
            </a:r>
            <a:r>
              <a:rPr lang="en-US" sz="1400" b="1" dirty="0" err="1">
                <a:solidFill>
                  <a:srgbClr val="FF0000"/>
                </a:solidFill>
              </a:rPr>
              <a:t>Polybase</a:t>
            </a:r>
            <a:r>
              <a:rPr lang="en-US" sz="1400" dirty="0"/>
              <a:t> to some other source (other than ADLS for example). Some ideas around the actual implementation you can figure out using the POLARIS public paper:</a:t>
            </a:r>
          </a:p>
          <a:p>
            <a:r>
              <a:rPr lang="en-US" sz="1400" dirty="0"/>
              <a:t> - </a:t>
            </a:r>
            <a:r>
              <a:rPr lang="en-US" sz="1400" dirty="0">
                <a:hlinkClick r:id="rId2"/>
              </a:rPr>
              <a:t>http://www.vldb.org/pvldb/vol13/p3204-saborit.pdf</a:t>
            </a:r>
            <a:endParaRPr lang="en-US" sz="1400" dirty="0"/>
          </a:p>
          <a:p>
            <a:endParaRPr lang="en-US" sz="1400" dirty="0"/>
          </a:p>
          <a:p>
            <a:r>
              <a:rPr lang="en-US" sz="1400" dirty="0"/>
              <a:t>Here is the video walking through this POLARIS paper explaining how the Azure Synapse SQL engine works. Especially the Serverless SQL:</a:t>
            </a:r>
          </a:p>
          <a:p>
            <a:r>
              <a:rPr lang="en-US" sz="1400" dirty="0"/>
              <a:t> - </a:t>
            </a:r>
            <a:r>
              <a:rPr lang="en-US" sz="1400" dirty="0">
                <a:hlinkClick r:id="rId3"/>
              </a:rPr>
              <a:t>https://www.youtube.com/watch?v=IqjVZexHCcE</a:t>
            </a:r>
            <a:r>
              <a:rPr lang="en-US" sz="1400" dirty="0"/>
              <a:t> </a:t>
            </a:r>
          </a:p>
          <a:p>
            <a:endParaRPr lang="en-US" sz="1400" dirty="0"/>
          </a:p>
          <a:p>
            <a:r>
              <a:rPr lang="en-US" sz="1400" dirty="0"/>
              <a:t>Here is a video showing how to configure Link in Azure interface:</a:t>
            </a:r>
          </a:p>
          <a:p>
            <a:r>
              <a:rPr lang="en-US" sz="1400" dirty="0"/>
              <a:t> - </a:t>
            </a:r>
            <a:r>
              <a:rPr lang="en-US" sz="1400" dirty="0">
                <a:hlinkClick r:id="rId4"/>
              </a:rPr>
              <a:t>https://www.youtube.com/watch?v=UcYMgKpbdPk</a:t>
            </a:r>
            <a:r>
              <a:rPr lang="en-US" sz="1400" dirty="0"/>
              <a:t> </a:t>
            </a:r>
          </a:p>
          <a:p>
            <a:endParaRPr lang="en-US" sz="1400" dirty="0"/>
          </a:p>
          <a:p>
            <a:r>
              <a:rPr lang="en-US" sz="1400" dirty="0"/>
              <a:t>Configuring the "Link" is is simply enabling "Analytical Store" inside Cosmos DB, thus enabling replication from transactional to analytical parts of Cosmos DB. </a:t>
            </a:r>
          </a:p>
          <a:p>
            <a:r>
              <a:rPr lang="en-US" sz="1400" dirty="0"/>
              <a:t>Then you can simply query the Analytical part using SQL from Synapse. </a:t>
            </a:r>
          </a:p>
          <a:p>
            <a:endParaRPr lang="en-US" sz="1400" dirty="0"/>
          </a:p>
          <a:p>
            <a:r>
              <a:rPr lang="en-US" sz="1400" dirty="0"/>
              <a:t>Official docs:</a:t>
            </a:r>
          </a:p>
          <a:p>
            <a:r>
              <a:rPr lang="en-US" sz="1400" dirty="0"/>
              <a:t> - </a:t>
            </a:r>
            <a:r>
              <a:rPr lang="en-US" sz="1400" dirty="0">
                <a:hlinkClick r:id="rId5"/>
              </a:rPr>
              <a:t>https://docs.microsoft.com/en-us/azure/cosmos-db/analytical-store-introduction</a:t>
            </a:r>
            <a:r>
              <a:rPr lang="en-US" sz="1400" dirty="0"/>
              <a:t> </a:t>
            </a:r>
          </a:p>
          <a:p>
            <a:r>
              <a:rPr lang="en-US" sz="1400" dirty="0"/>
              <a:t> - </a:t>
            </a:r>
            <a:r>
              <a:rPr lang="en-US" sz="1400" dirty="0">
                <a:hlinkClick r:id="rId6"/>
              </a:rPr>
              <a:t>https://docs.microsoft.com/en-us/azure/cosmos-db/synapse-link</a:t>
            </a:r>
            <a:r>
              <a:rPr lang="en-US" sz="1400" dirty="0"/>
              <a:t> </a:t>
            </a:r>
          </a:p>
          <a:p>
            <a:r>
              <a:rPr lang="en-US" sz="1400" dirty="0"/>
              <a:t> - </a:t>
            </a:r>
            <a:r>
              <a:rPr lang="en-US" sz="1400" dirty="0">
                <a:hlinkClick r:id="rId7"/>
              </a:rPr>
              <a:t>https://docs.microsoft.com/en-us/azure/cosmos-db/configure-synapse-link</a:t>
            </a:r>
            <a:r>
              <a:rPr lang="en-US" sz="1400" dirty="0"/>
              <a:t> 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82769D8-B03D-0F47-A82D-A159782D8C18}"/>
              </a:ext>
            </a:extLst>
          </p:cNvPr>
          <p:cNvSpPr txBox="1"/>
          <p:nvPr/>
        </p:nvSpPr>
        <p:spPr>
          <a:xfrm>
            <a:off x="-1" y="-4277"/>
            <a:ext cx="5330283" cy="46166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sz="2400" b="1" dirty="0"/>
              <a:t>Link for Cosmos DB – how it works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2B6CA93-D96F-4140-8BAD-C85F45DC5871}"/>
              </a:ext>
            </a:extLst>
          </p:cNvPr>
          <p:cNvSpPr txBox="1"/>
          <p:nvPr/>
        </p:nvSpPr>
        <p:spPr>
          <a:xfrm>
            <a:off x="6880301" y="226555"/>
            <a:ext cx="5207621" cy="44012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Very interesting article about Cosmos DB and different architectures. </a:t>
            </a:r>
            <a:br>
              <a:rPr lang="en-US" sz="1400" dirty="0"/>
            </a:br>
            <a:r>
              <a:rPr lang="en-US" sz="1400" dirty="0"/>
              <a:t> - </a:t>
            </a:r>
            <a:r>
              <a:rPr lang="en-US" sz="1400" dirty="0">
                <a:hlinkClick r:id="rId8"/>
              </a:rPr>
              <a:t>https://www.linkedin.com/pulse/how-select-proper-data-backend-technology-azure-andrei-zaichikov/</a:t>
            </a:r>
            <a:r>
              <a:rPr lang="en-US" sz="1400" dirty="0"/>
              <a:t> </a:t>
            </a:r>
            <a:br>
              <a:rPr lang="en-US" sz="1400" dirty="0"/>
            </a:br>
            <a:br>
              <a:rPr lang="en-US" sz="1400" dirty="0"/>
            </a:br>
            <a:r>
              <a:rPr lang="en-US" sz="1400" dirty="0"/>
              <a:t>Good people to connect:</a:t>
            </a:r>
          </a:p>
          <a:p>
            <a:endParaRPr lang="en-US" sz="1400" dirty="0"/>
          </a:p>
          <a:p>
            <a:r>
              <a:rPr lang="en-US" sz="1400" dirty="0"/>
              <a:t>   Andrei </a:t>
            </a:r>
            <a:r>
              <a:rPr lang="en-US" sz="1400" dirty="0" err="1"/>
              <a:t>Zaichikov</a:t>
            </a:r>
            <a:r>
              <a:rPr lang="en-US" sz="1400" dirty="0"/>
              <a:t> (Luxembourg, Europe) </a:t>
            </a:r>
            <a:br>
              <a:rPr lang="en-US" sz="1400" dirty="0"/>
            </a:br>
            <a:r>
              <a:rPr lang="en-US" sz="1400" dirty="0"/>
              <a:t>   - </a:t>
            </a:r>
            <a:r>
              <a:rPr lang="en-US" sz="1400" dirty="0">
                <a:hlinkClick r:id="rId9"/>
              </a:rPr>
              <a:t>https://www.linkedin.com/in/zaychikov/</a:t>
            </a:r>
            <a:r>
              <a:rPr lang="en-US" sz="1400" dirty="0"/>
              <a:t> </a:t>
            </a:r>
            <a:br>
              <a:rPr lang="en-US" sz="1400" dirty="0"/>
            </a:br>
            <a:endParaRPr lang="en-US" sz="1400" dirty="0"/>
          </a:p>
          <a:p>
            <a:r>
              <a:rPr lang="en-US" sz="1400" dirty="0"/>
              <a:t>   Aleksey </a:t>
            </a:r>
            <a:r>
              <a:rPr lang="en-US" sz="1400" dirty="0" err="1"/>
              <a:t>Savateyev</a:t>
            </a:r>
            <a:r>
              <a:rPr lang="en-US" sz="1400" dirty="0"/>
              <a:t> </a:t>
            </a:r>
            <a:br>
              <a:rPr lang="en-US" sz="1400" dirty="0"/>
            </a:br>
            <a:r>
              <a:rPr lang="en-US" sz="1400" dirty="0"/>
              <a:t>     - </a:t>
            </a:r>
            <a:r>
              <a:rPr lang="en-US" sz="1400" dirty="0">
                <a:hlinkClick r:id="rId10"/>
              </a:rPr>
              <a:t>https://www.linkedin.com/in/aleksey-s-7b0918/</a:t>
            </a:r>
            <a:r>
              <a:rPr lang="en-US" sz="1400" dirty="0"/>
              <a:t> </a:t>
            </a:r>
            <a:br>
              <a:rPr lang="en-US" sz="1400" dirty="0"/>
            </a:br>
            <a:r>
              <a:rPr lang="en-US" sz="1400" dirty="0"/>
              <a:t>     - </a:t>
            </a:r>
            <a:r>
              <a:rPr lang="en-US" sz="1400" dirty="0">
                <a:hlinkClick r:id="rId11"/>
              </a:rPr>
              <a:t>https://www.youtube.com/watch?v=8RiHSDf7xBs</a:t>
            </a:r>
            <a:r>
              <a:rPr lang="en-US" sz="1400" dirty="0"/>
              <a:t> </a:t>
            </a:r>
            <a:br>
              <a:rPr lang="en-US" sz="1400" dirty="0"/>
            </a:br>
            <a:r>
              <a:rPr lang="en-US" sz="1400" dirty="0"/>
              <a:t>     - </a:t>
            </a:r>
            <a:r>
              <a:rPr lang="en-US" sz="1400" dirty="0">
                <a:hlinkClick r:id="rId12"/>
              </a:rPr>
              <a:t>https://azure.microsoft.com/en-us/blog/gain-insight-into-your-azure-cosmos-db-data-with-qlik-view-and-qlik-sense/</a:t>
            </a:r>
            <a:r>
              <a:rPr lang="en-US" sz="1400" dirty="0"/>
              <a:t> </a:t>
            </a:r>
            <a:br>
              <a:rPr lang="en-US" sz="1400" dirty="0"/>
            </a:br>
            <a:endParaRPr lang="en-US" sz="1400" dirty="0"/>
          </a:p>
          <a:p>
            <a:r>
              <a:rPr lang="en-US" sz="1400" dirty="0"/>
              <a:t>   Kirill </a:t>
            </a:r>
            <a:r>
              <a:rPr lang="en-US" sz="1400" dirty="0" err="1"/>
              <a:t>Gavrylyuk</a:t>
            </a:r>
            <a:r>
              <a:rPr lang="en-US" sz="1400" dirty="0"/>
              <a:t> - director of Cosmos DB development:</a:t>
            </a:r>
          </a:p>
          <a:p>
            <a:r>
              <a:rPr lang="en-US" sz="1400" dirty="0"/>
              <a:t>     - </a:t>
            </a:r>
            <a:r>
              <a:rPr lang="en-US" sz="1400" dirty="0">
                <a:hlinkClick r:id="rId13"/>
              </a:rPr>
              <a:t>https://www.linkedin.com/in/kirillgavrylyuk/</a:t>
            </a:r>
            <a:r>
              <a:rPr lang="en-US" sz="1400" dirty="0"/>
              <a:t> </a:t>
            </a:r>
            <a:br>
              <a:rPr lang="en-US" sz="1400" dirty="0"/>
            </a:br>
            <a:r>
              <a:rPr lang="en-US" sz="1400" dirty="0"/>
              <a:t>     - </a:t>
            </a:r>
            <a:r>
              <a:rPr lang="en-US" sz="1400" dirty="0">
                <a:hlinkClick r:id="rId14"/>
              </a:rPr>
              <a:t>https://www.youtube.com/watch?v=27SN1eyVn5k</a:t>
            </a:r>
            <a:r>
              <a:rPr lang="en-US" sz="1400" dirty="0"/>
              <a:t> </a:t>
            </a:r>
            <a:br>
              <a:rPr lang="en-US" sz="1400" dirty="0"/>
            </a:br>
            <a:r>
              <a:rPr lang="en-US" sz="1400" dirty="0"/>
              <a:t>     - </a:t>
            </a:r>
            <a:r>
              <a:rPr lang="en-US" sz="1400" dirty="0">
                <a:hlinkClick r:id="rId15"/>
              </a:rPr>
              <a:t>https://www.youtube.com/watch?v=2gydxodDS_I</a:t>
            </a:r>
            <a:r>
              <a:rPr lang="en-US" sz="1400" dirty="0"/>
              <a:t> </a:t>
            </a:r>
            <a:br>
              <a:rPr lang="en-US" sz="1400" dirty="0"/>
            </a:br>
            <a:r>
              <a:rPr lang="en-US" sz="1400" dirty="0"/>
              <a:t>     - </a:t>
            </a:r>
            <a:r>
              <a:rPr lang="en-US" sz="1400" dirty="0">
                <a:hlinkClick r:id="rId16"/>
              </a:rPr>
              <a:t>https://www.youtube.com/watch?v=rIjH24x19pQ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30617754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75</TotalTime>
  <Words>574</Words>
  <Application>Microsoft Macintosh PowerPoint</Application>
  <PresentationFormat>Widescreen</PresentationFormat>
  <Paragraphs>45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Arial</vt:lpstr>
      <vt:lpstr>Calibri</vt:lpstr>
      <vt:lpstr>Calibri Light</vt:lpstr>
      <vt:lpstr>Office Theme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Mike Agladze</dc:creator>
  <cp:lastModifiedBy>Lev Selector</cp:lastModifiedBy>
  <cp:revision>12</cp:revision>
  <dcterms:created xsi:type="dcterms:W3CDTF">2021-07-11T00:23:01Z</dcterms:created>
  <dcterms:modified xsi:type="dcterms:W3CDTF">2021-07-13T20:20:42Z</dcterms:modified>
</cp:coreProperties>
</file>