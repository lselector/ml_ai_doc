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5"/>
  </p:notesMasterIdLst>
  <p:sldIdLst>
    <p:sldId id="269" r:id="rId2"/>
    <p:sldId id="302" r:id="rId3"/>
    <p:sldId id="256" r:id="rId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7"/>
    <p:restoredTop sz="92203"/>
  </p:normalViewPr>
  <p:slideViewPr>
    <p:cSldViewPr snapToGrid="0" snapToObjects="1">
      <p:cViewPr varScale="1">
        <p:scale>
          <a:sx n="71" d="100"/>
          <a:sy n="71" d="100"/>
        </p:scale>
        <p:origin x="18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D1EA1-5C46-5341-8587-79D72DBEA6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A7D02-E489-6247-A488-5C2C9B2AC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B3616-05FA-A84E-879E-76D70962B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26A4E-7CA4-0D47-BAAE-19E050D9F531}" type="datetimeFigureOut">
              <a:rPr lang="en-US" smtClean="0"/>
              <a:t>4/15/21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A61D6-F5AF-DE42-B285-D209FD8C4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3B590-5A43-BD4B-BCAC-54176201C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FB66-61B7-1948-A9D5-31EFA3C6A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stats.stackexchange.com/questions/3931/intuitive-explanation-for-dividing-by-n-1-when-calculating-standard-deviation" TargetMode="External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2EEA3B-9D50-A145-B8FE-B6686486D979}"/>
              </a:ext>
            </a:extLst>
          </p:cNvPr>
          <p:cNvSpPr txBox="1"/>
          <p:nvPr/>
        </p:nvSpPr>
        <p:spPr>
          <a:xfrm>
            <a:off x="0" y="0"/>
            <a:ext cx="4807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Introduction into Statistics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D731C5-EDD2-C145-932A-A88B03CA281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42994" y="894842"/>
            <a:ext cx="3452730" cy="36014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4CC4E-3332-5542-A614-EDEF0AE14AAA}"/>
              </a:ext>
            </a:extLst>
          </p:cNvPr>
          <p:cNvSpPr txBox="1"/>
          <p:nvPr/>
        </p:nvSpPr>
        <p:spPr>
          <a:xfrm>
            <a:off x="8020423" y="200054"/>
            <a:ext cx="3019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Here are some basic formulas: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AE6D3-B545-F244-8CA7-FAE7513462A6}"/>
              </a:ext>
            </a:extLst>
          </p:cNvPr>
          <p:cNvSpPr txBox="1"/>
          <p:nvPr/>
        </p:nvSpPr>
        <p:spPr>
          <a:xfrm>
            <a:off x="7438183" y="4859993"/>
            <a:ext cx="46641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Intuitive explanation for dividing by (n-1) </a:t>
            </a:r>
          </a:p>
          <a:p>
            <a:r>
              <a:rPr lang="en-US" dirty="0"/>
              <a:t>when calculating standard deviation:</a:t>
            </a:r>
          </a:p>
          <a:p>
            <a:endParaRPr lang="en-US" dirty="0"/>
          </a:p>
          <a:p>
            <a:r>
              <a:rPr lang="en-US" dirty="0"/>
              <a:t>– </a:t>
            </a:r>
            <a:r>
              <a:rPr lang="en-US" dirty="0">
                <a:hlinkClick r:id="rId3"/>
              </a:rPr>
              <a:t>http://</a:t>
            </a:r>
            <a:r>
              <a:rPr lang="en-US" dirty="0" err="1">
                <a:hlinkClick r:id="rId3"/>
              </a:rPr>
              <a:t>stats.stackexchange.com</a:t>
            </a:r>
            <a:r>
              <a:rPr lang="en-US" dirty="0">
                <a:hlinkClick r:id="rId3"/>
              </a:rPr>
              <a:t>/questions/3931/intuitive-explanation-for-dividing-by-n-1-when-calculating-standard-deviation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1F507-013B-404F-8201-ACF41C87EF19}"/>
              </a:ext>
            </a:extLst>
          </p:cNvPr>
          <p:cNvSpPr txBox="1"/>
          <p:nvPr/>
        </p:nvSpPr>
        <p:spPr>
          <a:xfrm>
            <a:off x="83341" y="791240"/>
            <a:ext cx="699122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“Statistics is the study of the collection, analysis, </a:t>
            </a:r>
          </a:p>
          <a:p>
            <a:r>
              <a:rPr lang="en-US" b="1" dirty="0">
                <a:solidFill>
                  <a:srgbClr val="0070C0"/>
                </a:solidFill>
              </a:rPr>
              <a:t>interpretation, presentation, and organization of data.”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Being a Statistician is the major part of being a Data Scientist. </a:t>
            </a:r>
          </a:p>
          <a:p>
            <a:r>
              <a:rPr lang="en-US" dirty="0"/>
              <a:t>And it is tricky, because there is easy to misuse statistics:</a:t>
            </a:r>
          </a:p>
          <a:p>
            <a:r>
              <a:rPr lang="en-US" b="1" dirty="0">
                <a:solidFill>
                  <a:srgbClr val="0070C0"/>
                </a:solidFill>
              </a:rPr>
              <a:t>“There are three kinds of lies: lies, damned lies, and statistics.”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Statistics involves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Collecting (sampling) the data from different kind of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Visualizing the data, estimating the parameters (average/mean values, errors,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validity of a hypothesis (null hypothesis) – or alternative hypothesis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Estimating intervals, estimating significance of observed differences, etc.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42AB10-A6DB-5944-AAE8-E9970EE78AEC}"/>
              </a:ext>
            </a:extLst>
          </p:cNvPr>
          <p:cNvCxnSpPr/>
          <p:nvPr/>
        </p:nvCxnSpPr>
        <p:spPr>
          <a:xfrm>
            <a:off x="7262949" y="169817"/>
            <a:ext cx="0" cy="4545874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4690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C9F387-FBE5-3D44-9B40-820D573B2B1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5013" y="2257388"/>
            <a:ext cx="4540567" cy="28186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C84F9D-C180-1B43-99F1-B243D8C3F929}"/>
              </a:ext>
            </a:extLst>
          </p:cNvPr>
          <p:cNvSpPr txBox="1"/>
          <p:nvPr/>
        </p:nvSpPr>
        <p:spPr>
          <a:xfrm>
            <a:off x="297187" y="301228"/>
            <a:ext cx="53287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</a:p>
          <a:p>
            <a:br>
              <a:rPr lang="en-US" dirty="0"/>
            </a:br>
            <a:r>
              <a:rPr lang="en-US" dirty="0"/>
              <a:t>standard deviation and standard error and  are NOT the same.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SME</a:t>
            </a:r>
            <a:r>
              <a:rPr lang="en-US" dirty="0"/>
              <a:t> = Standard Mean Error = Standard Deviation</a:t>
            </a:r>
          </a:p>
          <a:p>
            <a:r>
              <a:rPr lang="en-US" b="1" dirty="0">
                <a:solidFill>
                  <a:srgbClr val="0070C0"/>
                </a:solidFill>
              </a:rPr>
              <a:t>SEM</a:t>
            </a:r>
            <a:r>
              <a:rPr lang="en-US" dirty="0"/>
              <a:t> = Standard Error of Mean = </a:t>
            </a:r>
            <a:r>
              <a:rPr lang="en-US" b="1" dirty="0">
                <a:solidFill>
                  <a:srgbClr val="0070C0"/>
                </a:solidFill>
              </a:rPr>
              <a:t>SME</a:t>
            </a:r>
            <a:r>
              <a:rPr lang="en-US" dirty="0"/>
              <a:t> / sqrt(n)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41534-4120-C942-81D5-B0662B9480A4}"/>
              </a:ext>
            </a:extLst>
          </p:cNvPr>
          <p:cNvSpPr txBox="1"/>
          <p:nvPr/>
        </p:nvSpPr>
        <p:spPr>
          <a:xfrm>
            <a:off x="211843" y="5510081"/>
            <a:ext cx="60661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Standard error is the error of the estimate of the mean. </a:t>
            </a:r>
          </a:p>
          <a:p>
            <a:r>
              <a:rPr lang="en-US" dirty="0"/>
              <a:t>So as the sample size grows, we can estimate the mean better and better. The error gets smaller proportionally to the square root of sample size 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04C0CA-87F1-9842-B937-53DB4EF2C78D}"/>
              </a:ext>
            </a:extLst>
          </p:cNvPr>
          <p:cNvSpPr txBox="1"/>
          <p:nvPr/>
        </p:nvSpPr>
        <p:spPr>
          <a:xfrm>
            <a:off x="6826678" y="743712"/>
            <a:ext cx="532874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Several ways to calculate standard deviation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np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stats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math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np.array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([1, 2, 3])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  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3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np.mean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2.0</a:t>
            </a:r>
          </a:p>
          <a:p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f"length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{N}, mean={mean:.4f}")  # 3, 2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in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+=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 mean)**2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 + 0 + 1 = 2</a:t>
            </a: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N - 1             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se1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sqrt(2/2) = 1.0000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se2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stats has different functions for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std_err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and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std_dev</a:t>
            </a:r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se3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stats.sem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*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(N)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se4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stats.tstd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trimmed std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print(f"se1 = {se1:.5f}")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print(f"se2 = {se2:.5f}")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print(f"se3 = {se3:.5f}")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print(f"se4 = {se4:.5f}")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835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B531CD-91CB-B449-AC6B-B8E8D0567AE3}"/>
              </a:ext>
            </a:extLst>
          </p:cNvPr>
          <p:cNvSpPr txBox="1"/>
          <p:nvPr/>
        </p:nvSpPr>
        <p:spPr>
          <a:xfrm>
            <a:off x="115993" y="99146"/>
            <a:ext cx="48105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Error of the mean</a:t>
            </a:r>
          </a:p>
        </p:txBody>
      </p:sp>
      <p:pic>
        <p:nvPicPr>
          <p:cNvPr id="1026" name="Picture 2" descr="Standard Error Calculator. you can use this Standard Error… | by Thelma R.  White | Medium">
            <a:extLst>
              <a:ext uri="{FF2B5EF4-FFF2-40B4-BE49-F238E27FC236}">
                <a16:creationId xmlns:a16="http://schemas.microsoft.com/office/drawing/2014/main" id="{9D7D50A9-956F-4845-8823-1033B7CB3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29025" y="433176"/>
            <a:ext cx="3810000" cy="299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FE2259-D413-B348-98BD-F5E7DB5E4176}"/>
              </a:ext>
            </a:extLst>
          </p:cNvPr>
          <p:cNvSpPr txBox="1"/>
          <p:nvPr/>
        </p:nvSpPr>
        <p:spPr>
          <a:xfrm>
            <a:off x="115993" y="733281"/>
            <a:ext cx="546940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Suppose we have two samples A and B, </a:t>
            </a:r>
          </a:p>
          <a:p>
            <a:r>
              <a:rPr lang="en-US" sz="1400" dirty="0"/>
              <a:t>each has "n" points, where n is relatively large (100+ points), </a:t>
            </a:r>
          </a:p>
          <a:p>
            <a:r>
              <a:rPr lang="en-US" sz="1400" dirty="0"/>
              <a:t>and distributions have "normal" shape </a:t>
            </a:r>
          </a:p>
          <a:p>
            <a:r>
              <a:rPr lang="en-US" sz="1400" dirty="0"/>
              <a:t>with same sample standard deviation "s".</a:t>
            </a:r>
          </a:p>
          <a:p>
            <a:endParaRPr lang="en-US" sz="1400" dirty="0"/>
          </a:p>
          <a:p>
            <a:r>
              <a:rPr lang="en-US" sz="1400" dirty="0"/>
              <a:t>The mean values are m</a:t>
            </a:r>
            <a:r>
              <a:rPr lang="en-US" sz="1400" baseline="-25000" dirty="0"/>
              <a:t>A</a:t>
            </a:r>
            <a:r>
              <a:rPr lang="en-US" sz="1400" dirty="0"/>
              <a:t> and </a:t>
            </a:r>
            <a:r>
              <a:rPr lang="en-US" sz="1400" dirty="0" err="1"/>
              <a:t>m</a:t>
            </a:r>
            <a:r>
              <a:rPr lang="en-US" sz="1400" baseline="-25000" dirty="0" err="1"/>
              <a:t>B</a:t>
            </a:r>
            <a:endParaRPr lang="en-US" sz="1400" baseline="-25000" dirty="0"/>
          </a:p>
          <a:p>
            <a:endParaRPr lang="en-US" sz="1400" dirty="0"/>
          </a:p>
          <a:p>
            <a:r>
              <a:rPr lang="en-US" sz="1400" dirty="0"/>
              <a:t>The standard error of the mean </a:t>
            </a:r>
            <a:r>
              <a:rPr lang="en-US" sz="1400" dirty="0" err="1"/>
              <a:t>sem</a:t>
            </a:r>
            <a:r>
              <a:rPr lang="en-US" sz="1400" dirty="0"/>
              <a:t> = s/sqrt(n)</a:t>
            </a:r>
          </a:p>
          <a:p>
            <a:endParaRPr lang="en-US" sz="1400" dirty="0"/>
          </a:p>
          <a:p>
            <a:r>
              <a:rPr lang="en-US" sz="1400" dirty="0"/>
              <a:t>Question – how big should be number of points so that we</a:t>
            </a:r>
          </a:p>
          <a:p>
            <a:r>
              <a:rPr lang="en-US" sz="1400" dirty="0"/>
              <a:t>can say that the means differ?</a:t>
            </a:r>
          </a:p>
          <a:p>
            <a:endParaRPr lang="en-US" sz="1400" dirty="0"/>
          </a:p>
          <a:p>
            <a:r>
              <a:rPr lang="en-US" sz="1400" dirty="0"/>
              <a:t>We can demand that </a:t>
            </a:r>
            <a:r>
              <a:rPr lang="el-GR" sz="1400" b="1" dirty="0"/>
              <a:t>δ</a:t>
            </a:r>
            <a:r>
              <a:rPr lang="en-US" sz="1400" dirty="0"/>
              <a:t> = |m</a:t>
            </a:r>
            <a:r>
              <a:rPr lang="en-US" sz="1400" baseline="-25000" dirty="0"/>
              <a:t>A</a:t>
            </a:r>
            <a:r>
              <a:rPr lang="en-US" sz="1400" dirty="0"/>
              <a:t> - </a:t>
            </a:r>
            <a:r>
              <a:rPr lang="en-US" sz="1400" dirty="0" err="1"/>
              <a:t>m</a:t>
            </a:r>
            <a:r>
              <a:rPr lang="en-US" sz="1400" baseline="-25000" dirty="0" err="1"/>
              <a:t>B</a:t>
            </a:r>
            <a:r>
              <a:rPr lang="en-US" sz="1400" dirty="0"/>
              <a:t>| &gt;= 4*</a:t>
            </a:r>
            <a:r>
              <a:rPr lang="en-US" sz="1400" dirty="0" err="1"/>
              <a:t>sem</a:t>
            </a:r>
            <a:r>
              <a:rPr lang="en-US" sz="1400" dirty="0"/>
              <a:t> = 4s/sqrt(n)</a:t>
            </a:r>
          </a:p>
          <a:p>
            <a:r>
              <a:rPr lang="en-US" sz="1400" dirty="0"/>
              <a:t>Or</a:t>
            </a:r>
          </a:p>
          <a:p>
            <a:r>
              <a:rPr lang="en-US" sz="1400" dirty="0"/>
              <a:t>               n &gt;= 16s</a:t>
            </a:r>
            <a:r>
              <a:rPr lang="en-US" sz="1400" baseline="30000" dirty="0"/>
              <a:t>2</a:t>
            </a:r>
            <a:r>
              <a:rPr lang="en-US" sz="1400" dirty="0"/>
              <a:t>/</a:t>
            </a:r>
            <a:r>
              <a:rPr lang="el-GR" sz="1400" dirty="0"/>
              <a:t>δ</a:t>
            </a:r>
            <a:r>
              <a:rPr lang="en-US" sz="1400" baseline="30000" dirty="0"/>
              <a:t>2</a:t>
            </a:r>
            <a:endParaRPr lang="en-US" sz="1400" dirty="0"/>
          </a:p>
          <a:p>
            <a:endParaRPr lang="en-US" sz="1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F2B29D-2214-FE4C-B190-AD3AC3ACA5BC}"/>
              </a:ext>
            </a:extLst>
          </p:cNvPr>
          <p:cNvGrpSpPr/>
          <p:nvPr/>
        </p:nvGrpSpPr>
        <p:grpSpPr>
          <a:xfrm>
            <a:off x="5046074" y="3592743"/>
            <a:ext cx="2448817" cy="1458655"/>
            <a:chOff x="529389" y="4535701"/>
            <a:chExt cx="2448817" cy="1458655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039894F7-85E1-FA42-989C-AB3BA9BE1FE8}"/>
                </a:ext>
              </a:extLst>
            </p:cNvPr>
            <p:cNvSpPr/>
            <p:nvPr/>
          </p:nvSpPr>
          <p:spPr>
            <a:xfrm>
              <a:off x="529389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0B9C3F-F4A9-7D4C-ADB2-9D091BB2DC2B}"/>
                </a:ext>
              </a:extLst>
            </p:cNvPr>
            <p:cNvSpPr/>
            <p:nvPr/>
          </p:nvSpPr>
          <p:spPr>
            <a:xfrm>
              <a:off x="1149406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A51D2DD2-90FA-2143-BA9F-54FC5BE044BE}"/>
                </a:ext>
              </a:extLst>
            </p:cNvPr>
            <p:cNvSpPr/>
            <p:nvPr/>
          </p:nvSpPr>
          <p:spPr>
            <a:xfrm>
              <a:off x="1328104" y="4550566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D4078CB-F8B3-D540-9B24-AC87E5FD8361}"/>
                </a:ext>
              </a:extLst>
            </p:cNvPr>
            <p:cNvSpPr/>
            <p:nvPr/>
          </p:nvSpPr>
          <p:spPr>
            <a:xfrm>
              <a:off x="1937961" y="4535701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60CD50A-6481-7B45-ACBD-AA9F1714A205}"/>
              </a:ext>
            </a:extLst>
          </p:cNvPr>
          <p:cNvSpPr txBox="1"/>
          <p:nvPr/>
        </p:nvSpPr>
        <p:spPr>
          <a:xfrm>
            <a:off x="4072612" y="4789629"/>
            <a:ext cx="9494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Standard </a:t>
            </a:r>
          </a:p>
          <a:p>
            <a:pPr algn="ctr"/>
            <a:r>
              <a:rPr lang="en-US" sz="1400" dirty="0"/>
              <a:t>Deviation</a:t>
            </a:r>
          </a:p>
          <a:p>
            <a:pPr algn="ctr"/>
            <a:r>
              <a:rPr lang="en-US" sz="1400" dirty="0"/>
              <a:t>(blue)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38075-2F24-A543-967A-97BA8A260259}"/>
              </a:ext>
            </a:extLst>
          </p:cNvPr>
          <p:cNvSpPr txBox="1"/>
          <p:nvPr/>
        </p:nvSpPr>
        <p:spPr>
          <a:xfrm>
            <a:off x="5795738" y="5650859"/>
            <a:ext cx="12761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Standard Error of the Mean</a:t>
            </a:r>
          </a:p>
          <a:p>
            <a:pPr algn="ctr"/>
            <a:r>
              <a:rPr lang="en-US" sz="1400" dirty="0"/>
              <a:t>(orange)</a:t>
            </a: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921B67D6-B1DA-D04B-801F-0945046F59CE}"/>
              </a:ext>
            </a:extLst>
          </p:cNvPr>
          <p:cNvSpPr/>
          <p:nvPr/>
        </p:nvSpPr>
        <p:spPr>
          <a:xfrm rot="9442603">
            <a:off x="6127921" y="5168133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FB7EE3FC-D668-8A4B-89A3-C3E87EDE8295}"/>
              </a:ext>
            </a:extLst>
          </p:cNvPr>
          <p:cNvSpPr/>
          <p:nvPr/>
        </p:nvSpPr>
        <p:spPr>
          <a:xfrm rot="11812451">
            <a:off x="6374957" y="5159463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E44D64-A743-1048-970B-E7F5E970E491}"/>
              </a:ext>
            </a:extLst>
          </p:cNvPr>
          <p:cNvSpPr txBox="1"/>
          <p:nvPr/>
        </p:nvSpPr>
        <p:spPr>
          <a:xfrm>
            <a:off x="5663189" y="3055269"/>
            <a:ext cx="14621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 A   B</a:t>
            </a:r>
          </a:p>
        </p:txBody>
      </p:sp>
    </p:spTree>
    <p:extLst>
      <p:ext uri="{BB962C8B-B14F-4D97-AF65-F5344CB8AC3E}">
        <p14:creationId xmlns:p14="http://schemas.microsoft.com/office/powerpoint/2010/main" val="242201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2838</TotalTime>
  <Words>586</Words>
  <Application>Microsoft Macintosh PowerPoint</Application>
  <PresentationFormat>Widescreen</PresentationFormat>
  <Paragraphs>77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278</cp:revision>
  <cp:lastPrinted>2020-09-21T17:22:59Z</cp:lastPrinted>
  <dcterms:modified xsi:type="dcterms:W3CDTF">2021-04-15T04:43:33Z</dcterms:modified>
</cp:coreProperties>
</file>