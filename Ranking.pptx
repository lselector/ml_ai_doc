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tiff" ContentType="image/tif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2"/>
    <p:sldId id="256" r:id="rId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579"/>
    <p:restoredTop sz="94614"/>
  </p:normalViewPr>
  <p:slideViewPr>
    <p:cSldViewPr snapToGrid="0" snapToObjects="1">
      <p:cViewPr varScale="1">
        <p:scale>
          <a:sx n="78" d="100"/>
          <a:sy n="78" d="100"/>
        </p:scale>
        <p:origin x="192" y="9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2.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7FE883-AEBF-5148-B5CF-75C67427FFA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3EF8CB9-1AEC-594E-A915-9F5FFA71969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3B2E501-CA5A-4E4D-A37E-E02C9D8FEE8E}"/>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5" name="Footer Placeholder 4">
            <a:extLst>
              <a:ext uri="{FF2B5EF4-FFF2-40B4-BE49-F238E27FC236}">
                <a16:creationId xmlns:a16="http://schemas.microsoft.com/office/drawing/2014/main" id="{A7C385AE-3AE6-BF40-AFD4-0BE890E761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698A0E-4002-5049-828E-04AEB0389E6C}"/>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6952246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62487E-163B-094E-8CEF-1FEC12BC5BE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1126703-99B2-E044-A3CA-987BD2F2ADBC}"/>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2B6741-EAA1-E24D-B4B1-44E6F27DAB4C}"/>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5" name="Footer Placeholder 4">
            <a:extLst>
              <a:ext uri="{FF2B5EF4-FFF2-40B4-BE49-F238E27FC236}">
                <a16:creationId xmlns:a16="http://schemas.microsoft.com/office/drawing/2014/main" id="{25707820-AD2A-4F40-AEDE-9BE186C53D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7724814-03C1-914B-BC29-6EC669328D03}"/>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4369792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574C4C-718A-2444-BDC9-65C8A6C641A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86763C14-FF2B-A546-8A59-CBB064706D7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B96ED78-8BA6-9545-893F-495A24937201}"/>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5" name="Footer Placeholder 4">
            <a:extLst>
              <a:ext uri="{FF2B5EF4-FFF2-40B4-BE49-F238E27FC236}">
                <a16:creationId xmlns:a16="http://schemas.microsoft.com/office/drawing/2014/main" id="{19D14132-9644-534F-B120-118CE75A4ED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26146AF-BF7A-934B-A558-0F1F1BF3F5D7}"/>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3116237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2C03D4-AFEA-504B-B8DC-2CA8C53115AC}"/>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AD106BD-8BD5-5146-B0CE-4BD2C62687EC}"/>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4AD5A3-D06E-0B41-B0CF-980DE4A86555}"/>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BED3E7A-5655-8048-A8E7-05483274960D}"/>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6" name="Footer Placeholder 5">
            <a:extLst>
              <a:ext uri="{FF2B5EF4-FFF2-40B4-BE49-F238E27FC236}">
                <a16:creationId xmlns:a16="http://schemas.microsoft.com/office/drawing/2014/main" id="{5DD3AE5E-90D0-7C41-A744-7226608657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991D7A0-6D3B-7947-B4D5-ECE816361420}"/>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9607579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EE6313-258C-0843-A1D4-ACE8AA4DC21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D19BE9C-3CF8-D949-9873-738A43E15E7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B6EBDA7-22A8-3247-9A41-E7C3F274B44B}"/>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2095B411-8E2D-F94A-8793-756B24A26DA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64FD855-16D1-9045-B709-E45CBCD82B6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5D46C0-F784-F94D-9B64-ED738C13EA05}"/>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8" name="Footer Placeholder 7">
            <a:extLst>
              <a:ext uri="{FF2B5EF4-FFF2-40B4-BE49-F238E27FC236}">
                <a16:creationId xmlns:a16="http://schemas.microsoft.com/office/drawing/2014/main" id="{AEDBA147-23A8-A14B-963D-234BC84288C8}"/>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F4E0487-23FE-D147-AABF-2C2BC965CE82}"/>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95988587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A25079-B567-5344-9947-97FA159056CE}"/>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A78D811-9E52-4E49-B999-66F930CEE336}"/>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4" name="Footer Placeholder 3">
            <a:extLst>
              <a:ext uri="{FF2B5EF4-FFF2-40B4-BE49-F238E27FC236}">
                <a16:creationId xmlns:a16="http://schemas.microsoft.com/office/drawing/2014/main" id="{1FAFFF53-D73C-4C43-9A4A-755897C1E59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E726BA-6D65-0247-B34A-FA3489EC07A7}"/>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8128152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6E69600-D603-D542-95B2-0399BFF370EF}"/>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3" name="Footer Placeholder 2">
            <a:extLst>
              <a:ext uri="{FF2B5EF4-FFF2-40B4-BE49-F238E27FC236}">
                <a16:creationId xmlns:a16="http://schemas.microsoft.com/office/drawing/2014/main" id="{D2FF96B9-6ED2-064B-BC15-6E46C4F560B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5E7F8CD-C11B-CF46-AF91-479FD990CFC0}"/>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37377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A4882-188A-8B4E-9756-93F0EC12825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94C3DC-D453-314B-B20E-14A5A9C0ED9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286619D-3BCB-9C4A-99D7-4A68E7A419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DC0F2E0-2988-5E4E-92DB-757296094457}"/>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6" name="Footer Placeholder 5">
            <a:extLst>
              <a:ext uri="{FF2B5EF4-FFF2-40B4-BE49-F238E27FC236}">
                <a16:creationId xmlns:a16="http://schemas.microsoft.com/office/drawing/2014/main" id="{28501B32-CD0F-684B-87AC-51FF83F53BD5}"/>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04B0924-B909-3040-A024-6068E39B2309}"/>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95904474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D06F57-9367-0444-8293-7335E6A49BD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F891A6F-1C09-3643-8A5C-19402569F71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362BC1-FC66-D949-9A6B-CE2194B1D3E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751F4545-8F9F-B447-AA6E-5E7C08EFA67D}"/>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6" name="Footer Placeholder 5">
            <a:extLst>
              <a:ext uri="{FF2B5EF4-FFF2-40B4-BE49-F238E27FC236}">
                <a16:creationId xmlns:a16="http://schemas.microsoft.com/office/drawing/2014/main" id="{51C54558-A392-194B-9F4D-382BF990704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DD0BCD-6953-5948-BA78-DE0222EB07E2}"/>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37192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D9A63-8CFE-634C-AD9D-2513E86AC393}"/>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852EA3A-DC1F-B249-8857-758BC39DC992}"/>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A8183A3-0598-5340-8450-D8800F598341}"/>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5" name="Footer Placeholder 4">
            <a:extLst>
              <a:ext uri="{FF2B5EF4-FFF2-40B4-BE49-F238E27FC236}">
                <a16:creationId xmlns:a16="http://schemas.microsoft.com/office/drawing/2014/main" id="{E09E10FC-8000-2544-AA51-168C8FA6A28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B6F9376-2BC9-624A-9038-ED83CA30EE4A}"/>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12862353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37AA79F4-E075-D247-9BEF-E928B2D521A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40F5ECFE-5838-974F-88FB-C330294BAD0C}"/>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EF1F5AA-3F9A-5244-A939-3849D05A8469}"/>
              </a:ext>
            </a:extLst>
          </p:cNvPr>
          <p:cNvSpPr>
            <a:spLocks noGrp="1"/>
          </p:cNvSpPr>
          <p:nvPr>
            <p:ph type="dt" sz="half" idx="10"/>
          </p:nvPr>
        </p:nvSpPr>
        <p:spPr/>
        <p:txBody>
          <a:bodyPr/>
          <a:lstStyle/>
          <a:p>
            <a:fld id="{978CCE7A-74A1-6341-9A34-33AF4358B7E1}" type="datetimeFigureOut">
              <a:rPr lang="en-US" smtClean="0"/>
              <a:t>6/4/20</a:t>
            </a:fld>
            <a:endParaRPr lang="en-US"/>
          </a:p>
        </p:txBody>
      </p:sp>
      <p:sp>
        <p:nvSpPr>
          <p:cNvPr id="5" name="Footer Placeholder 4">
            <a:extLst>
              <a:ext uri="{FF2B5EF4-FFF2-40B4-BE49-F238E27FC236}">
                <a16:creationId xmlns:a16="http://schemas.microsoft.com/office/drawing/2014/main" id="{800F8F4C-D351-6440-87FF-5F3DC35B445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AA9A8FA-3C1A-5E46-A96B-DD60489DC928}"/>
              </a:ext>
            </a:extLst>
          </p:cNvPr>
          <p:cNvSpPr>
            <a:spLocks noGrp="1"/>
          </p:cNvSpPr>
          <p:nvPr>
            <p:ph type="sldNum" sz="quarter" idx="12"/>
          </p:nvPr>
        </p:nvSpPr>
        <p:spPr/>
        <p:txBody>
          <a:bodyPr/>
          <a:lstStyle/>
          <a:p>
            <a:fld id="{D02D789B-E992-524D-AAF8-7433E2CF6DA5}" type="slidenum">
              <a:rPr lang="en-US" smtClean="0"/>
              <a:t>‹#›</a:t>
            </a:fld>
            <a:endParaRPr lang="en-US"/>
          </a:p>
        </p:txBody>
      </p:sp>
    </p:spTree>
    <p:extLst>
      <p:ext uri="{BB962C8B-B14F-4D97-AF65-F5344CB8AC3E}">
        <p14:creationId xmlns:p14="http://schemas.microsoft.com/office/powerpoint/2010/main" val="241762466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29A7089-2046-A140-BE78-441B915BF21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C8CCB74-6008-FC45-B331-46B7C9780C4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0B5D65-009E-654F-BF1B-484FFBBE62D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78CCE7A-74A1-6341-9A34-33AF4358B7E1}" type="datetimeFigureOut">
              <a:rPr lang="en-US" smtClean="0"/>
              <a:t>6/4/20</a:t>
            </a:fld>
            <a:endParaRPr lang="en-US"/>
          </a:p>
        </p:txBody>
      </p:sp>
      <p:sp>
        <p:nvSpPr>
          <p:cNvPr id="5" name="Footer Placeholder 4">
            <a:extLst>
              <a:ext uri="{FF2B5EF4-FFF2-40B4-BE49-F238E27FC236}">
                <a16:creationId xmlns:a16="http://schemas.microsoft.com/office/drawing/2014/main" id="{95B00331-6ECC-D042-86D2-9A4C2A3E64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24E48413-D8AA-5647-9811-BAB558D2487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2D789B-E992-524D-AAF8-7433E2CF6DA5}" type="slidenum">
              <a:rPr lang="en-US" smtClean="0"/>
              <a:t>‹#›</a:t>
            </a:fld>
            <a:endParaRPr lang="en-US"/>
          </a:p>
        </p:txBody>
      </p:sp>
    </p:spTree>
    <p:extLst>
      <p:ext uri="{BB962C8B-B14F-4D97-AF65-F5344CB8AC3E}">
        <p14:creationId xmlns:p14="http://schemas.microsoft.com/office/powerpoint/2010/main" val="20701574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en.wikipedia.org/wiki/Ranking"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tiff"/><Relationship Id="rId2" Type="http://schemas.openxmlformats.org/officeDocument/2006/relationships/hyperlink" Target="https://gombru.github.io/2019/04/03/ranking_loss/" TargetMode="External"/><Relationship Id="rId1" Type="http://schemas.openxmlformats.org/officeDocument/2006/relationships/slideLayout" Target="../slideLayouts/slideLayout1.xml"/><Relationship Id="rId5" Type="http://schemas.openxmlformats.org/officeDocument/2006/relationships/image" Target="../media/image3.tiff"/><Relationship Id="rId4" Type="http://schemas.openxmlformats.org/officeDocument/2006/relationships/image" Target="../media/image2.tif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0021CC3-A1D7-9B4C-86AC-550028D30F37}"/>
              </a:ext>
            </a:extLst>
          </p:cNvPr>
          <p:cNvSpPr txBox="1"/>
          <p:nvPr/>
        </p:nvSpPr>
        <p:spPr>
          <a:xfrm>
            <a:off x="114301" y="130628"/>
            <a:ext cx="10352314" cy="5909310"/>
          </a:xfrm>
          <a:prstGeom prst="rect">
            <a:avLst/>
          </a:prstGeom>
          <a:noFill/>
        </p:spPr>
        <p:txBody>
          <a:bodyPr wrap="square" rtlCol="0">
            <a:spAutoFit/>
          </a:bodyPr>
          <a:lstStyle/>
          <a:p>
            <a:r>
              <a:rPr lang="en-US" dirty="0"/>
              <a:t>Ranking: a week ordering of items by assigning a rank (an positive integer number) to each item.</a:t>
            </a:r>
          </a:p>
          <a:p>
            <a:r>
              <a:rPr lang="en-US" dirty="0"/>
              <a:t>Rank is inversely related to the value.</a:t>
            </a:r>
          </a:p>
          <a:p>
            <a:r>
              <a:rPr lang="en-US" dirty="0"/>
              <a:t>We say that the ranking is "higher" if the value of the assign rank integer number is "lower".</a:t>
            </a:r>
          </a:p>
          <a:p>
            <a:r>
              <a:rPr lang="en-US" dirty="0"/>
              <a:t>So, for example, rank 2 is higher than rank 3.</a:t>
            </a:r>
          </a:p>
          <a:p>
            <a:r>
              <a:rPr lang="en-US" dirty="0"/>
              <a:t>The highest possible rank is 1.</a:t>
            </a:r>
          </a:p>
          <a:p>
            <a:endParaRPr lang="en-US" dirty="0"/>
          </a:p>
          <a:p>
            <a:r>
              <a:rPr lang="en-US" dirty="0"/>
              <a:t>  </a:t>
            </a:r>
            <a:r>
              <a:rPr lang="en-US" dirty="0">
                <a:hlinkClick r:id="rId2"/>
              </a:rPr>
              <a:t>https://en.wikipedia.org/wiki/Ranking</a:t>
            </a:r>
            <a:endParaRPr lang="en-US" dirty="0"/>
          </a:p>
          <a:p>
            <a:endParaRPr lang="en-US" dirty="0"/>
          </a:p>
          <a:p>
            <a:r>
              <a:rPr lang="en-US" dirty="0"/>
              <a:t>Difference between Rating and Ranking:</a:t>
            </a:r>
          </a:p>
          <a:p>
            <a:pPr marL="285750" indent="-285750">
              <a:buFont typeface="Arial" panose="020B0604020202020204" pitchFamily="34" charset="0"/>
              <a:buChar char="•"/>
            </a:pPr>
            <a:r>
              <a:rPr lang="en-US" dirty="0"/>
              <a:t>Rating usually means a category or a range of values. "a classification or ranking of someone or something based on a comparative assessment of their quality, standard, or performance."</a:t>
            </a:r>
          </a:p>
          <a:p>
            <a:pPr marL="285750" indent="-285750">
              <a:buFont typeface="Arial" panose="020B0604020202020204" pitchFamily="34" charset="0"/>
              <a:buChar char="•"/>
            </a:pPr>
            <a:r>
              <a:rPr lang="en-US" dirty="0"/>
              <a:t>Ranking = ordering number between values</a:t>
            </a:r>
          </a:p>
          <a:p>
            <a:endParaRPr lang="en-US" dirty="0"/>
          </a:p>
          <a:p>
            <a:endParaRPr lang="en-US" dirty="0"/>
          </a:p>
          <a:p>
            <a:r>
              <a:rPr lang="en-US" dirty="0"/>
              <a:t>Ranking in statistics (</a:t>
            </a:r>
            <a:r>
              <a:rPr lang="en-US" dirty="0" err="1"/>
              <a:t>wikipedia</a:t>
            </a:r>
            <a:r>
              <a:rPr lang="en-US" dirty="0"/>
              <a:t>)</a:t>
            </a:r>
          </a:p>
          <a:p>
            <a:r>
              <a:rPr lang="en-US" dirty="0"/>
              <a:t>Predictive vs. Earned (historic) Ranking </a:t>
            </a:r>
          </a:p>
          <a:p>
            <a:r>
              <a:rPr lang="en-US" dirty="0"/>
              <a:t>Real-time ranking</a:t>
            </a:r>
          </a:p>
          <a:p>
            <a:r>
              <a:rPr lang="en-US" dirty="0"/>
              <a:t>Top-N</a:t>
            </a:r>
          </a:p>
          <a:p>
            <a:r>
              <a:rPr lang="en-US" dirty="0"/>
              <a:t>Rank using multiple features</a:t>
            </a:r>
          </a:p>
          <a:p>
            <a:r>
              <a:rPr lang="en-US" dirty="0"/>
              <a:t>Numeric, extract sentiment, etc.</a:t>
            </a:r>
          </a:p>
          <a:p>
            <a:r>
              <a:rPr lang="en-US" dirty="0"/>
              <a:t>Ranking models using Neural Networks</a:t>
            </a:r>
          </a:p>
        </p:txBody>
      </p:sp>
    </p:spTree>
    <p:extLst>
      <p:ext uri="{BB962C8B-B14F-4D97-AF65-F5344CB8AC3E}">
        <p14:creationId xmlns:p14="http://schemas.microsoft.com/office/powerpoint/2010/main" val="11868835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F54904-02D1-9E4E-ADBF-799FA127274B}"/>
              </a:ext>
            </a:extLst>
          </p:cNvPr>
          <p:cNvSpPr txBox="1"/>
          <p:nvPr/>
        </p:nvSpPr>
        <p:spPr>
          <a:xfrm>
            <a:off x="0" y="0"/>
            <a:ext cx="2756647" cy="461665"/>
          </a:xfrm>
          <a:prstGeom prst="rect">
            <a:avLst/>
          </a:prstGeom>
          <a:noFill/>
        </p:spPr>
        <p:txBody>
          <a:bodyPr wrap="square" rtlCol="0">
            <a:spAutoFit/>
          </a:bodyPr>
          <a:lstStyle/>
          <a:p>
            <a:r>
              <a:rPr lang="en-US" sz="2400" b="1" dirty="0"/>
              <a:t>Loss Functions</a:t>
            </a:r>
          </a:p>
        </p:txBody>
      </p:sp>
      <p:sp>
        <p:nvSpPr>
          <p:cNvPr id="5" name="TextBox 4">
            <a:extLst>
              <a:ext uri="{FF2B5EF4-FFF2-40B4-BE49-F238E27FC236}">
                <a16:creationId xmlns:a16="http://schemas.microsoft.com/office/drawing/2014/main" id="{42C3C1AF-4C94-F24F-97BD-43BF37CBD333}"/>
              </a:ext>
            </a:extLst>
          </p:cNvPr>
          <p:cNvSpPr txBox="1"/>
          <p:nvPr/>
        </p:nvSpPr>
        <p:spPr>
          <a:xfrm>
            <a:off x="0" y="461665"/>
            <a:ext cx="5740400" cy="2308324"/>
          </a:xfrm>
          <a:prstGeom prst="rect">
            <a:avLst/>
          </a:prstGeom>
          <a:noFill/>
        </p:spPr>
        <p:txBody>
          <a:bodyPr wrap="square" rtlCol="0">
            <a:spAutoFit/>
          </a:bodyPr>
          <a:lstStyle/>
          <a:p>
            <a:r>
              <a:rPr lang="en-US" sz="1200" dirty="0">
                <a:hlinkClick r:id="rId2"/>
              </a:rPr>
              <a:t>https://gombru.github.io/2019/04/03/ranking_loss/</a:t>
            </a:r>
            <a:endParaRPr lang="en-US" sz="1200" dirty="0"/>
          </a:p>
          <a:p>
            <a:r>
              <a:rPr lang="en-US" sz="1200" dirty="0"/>
              <a:t>Understanding Ranking Loss, Contrastive Loss, Margin Loss, Triplet Loss, Hinge Loss, etc.</a:t>
            </a:r>
          </a:p>
          <a:p>
            <a:endParaRPr lang="en-US" sz="1200" dirty="0"/>
          </a:p>
          <a:p>
            <a:r>
              <a:rPr lang="en-US" sz="1200" dirty="0"/>
              <a:t>Mean Square Error Loss</a:t>
            </a:r>
          </a:p>
          <a:p>
            <a:r>
              <a:rPr lang="en-US" sz="1200" dirty="0"/>
              <a:t>Categorical Cross-Entropy Loss</a:t>
            </a:r>
          </a:p>
          <a:p>
            <a:r>
              <a:rPr lang="en-US" sz="1200" dirty="0"/>
              <a:t>Binary Cross-Entropy Loss</a:t>
            </a:r>
          </a:p>
          <a:p>
            <a:r>
              <a:rPr lang="en-US" sz="1200" dirty="0" err="1"/>
              <a:t>Softmax</a:t>
            </a:r>
            <a:r>
              <a:rPr lang="en-US" sz="1200" dirty="0"/>
              <a:t> Loss</a:t>
            </a:r>
          </a:p>
          <a:p>
            <a:r>
              <a:rPr lang="en-US" sz="1200" dirty="0"/>
              <a:t>Logistic Loss</a:t>
            </a:r>
          </a:p>
          <a:p>
            <a:r>
              <a:rPr lang="en-US" sz="1200" dirty="0"/>
              <a:t>Focal Loss</a:t>
            </a:r>
          </a:p>
          <a:p>
            <a:r>
              <a:rPr lang="en-US" sz="1200" dirty="0"/>
              <a:t>Triplet Loss - outperforms Cross-Entropy Loss in Multi-Modal Retrieval</a:t>
            </a:r>
          </a:p>
          <a:p>
            <a:r>
              <a:rPr lang="en-US" sz="1200" dirty="0"/>
              <a:t>Ranking Losses (Siamese Nets, Triplet Nets). Names - Contrastive Loss, Margin Loss, Hinge Loss, or Triplet Loss.</a:t>
            </a:r>
          </a:p>
        </p:txBody>
      </p:sp>
      <p:pic>
        <p:nvPicPr>
          <p:cNvPr id="6" name="Picture 5">
            <a:extLst>
              <a:ext uri="{FF2B5EF4-FFF2-40B4-BE49-F238E27FC236}">
                <a16:creationId xmlns:a16="http://schemas.microsoft.com/office/drawing/2014/main" id="{2561AA77-4005-F346-971C-6928AE38920F}"/>
              </a:ext>
            </a:extLst>
          </p:cNvPr>
          <p:cNvPicPr>
            <a:picLocks noChangeAspect="1"/>
          </p:cNvPicPr>
          <p:nvPr/>
        </p:nvPicPr>
        <p:blipFill>
          <a:blip r:embed="rId3"/>
          <a:stretch>
            <a:fillRect/>
          </a:stretch>
        </p:blipFill>
        <p:spPr>
          <a:xfrm>
            <a:off x="-14416" y="3528775"/>
            <a:ext cx="5232400" cy="647700"/>
          </a:xfrm>
          <a:prstGeom prst="rect">
            <a:avLst/>
          </a:prstGeom>
        </p:spPr>
      </p:pic>
      <p:pic>
        <p:nvPicPr>
          <p:cNvPr id="7" name="Picture 6">
            <a:extLst>
              <a:ext uri="{FF2B5EF4-FFF2-40B4-BE49-F238E27FC236}">
                <a16:creationId xmlns:a16="http://schemas.microsoft.com/office/drawing/2014/main" id="{EA334D28-1D04-9444-8391-81AEAED93C28}"/>
              </a:ext>
            </a:extLst>
          </p:cNvPr>
          <p:cNvPicPr>
            <a:picLocks noChangeAspect="1"/>
          </p:cNvPicPr>
          <p:nvPr/>
        </p:nvPicPr>
        <p:blipFill>
          <a:blip r:embed="rId4"/>
          <a:stretch>
            <a:fillRect/>
          </a:stretch>
        </p:blipFill>
        <p:spPr>
          <a:xfrm>
            <a:off x="-14416" y="4157425"/>
            <a:ext cx="5702300" cy="381000"/>
          </a:xfrm>
          <a:prstGeom prst="rect">
            <a:avLst/>
          </a:prstGeom>
        </p:spPr>
      </p:pic>
      <p:sp>
        <p:nvSpPr>
          <p:cNvPr id="8" name="TextBox 7">
            <a:extLst>
              <a:ext uri="{FF2B5EF4-FFF2-40B4-BE49-F238E27FC236}">
                <a16:creationId xmlns:a16="http://schemas.microsoft.com/office/drawing/2014/main" id="{095CFE46-B628-214B-A493-7DC13B90B710}"/>
              </a:ext>
            </a:extLst>
          </p:cNvPr>
          <p:cNvSpPr txBox="1"/>
          <p:nvPr/>
        </p:nvSpPr>
        <p:spPr>
          <a:xfrm>
            <a:off x="-14416" y="5071510"/>
            <a:ext cx="3898900" cy="369332"/>
          </a:xfrm>
          <a:prstGeom prst="rect">
            <a:avLst/>
          </a:prstGeom>
          <a:noFill/>
        </p:spPr>
        <p:txBody>
          <a:bodyPr wrap="square" rtlCol="0">
            <a:spAutoFit/>
          </a:bodyPr>
          <a:lstStyle/>
          <a:p>
            <a:r>
              <a:rPr lang="en-US" b="1" dirty="0">
                <a:solidFill>
                  <a:srgbClr val="FF0000"/>
                </a:solidFill>
              </a:rPr>
              <a:t>Triplet Loss (anchor, positive, negative)</a:t>
            </a:r>
          </a:p>
        </p:txBody>
      </p:sp>
      <p:sp>
        <p:nvSpPr>
          <p:cNvPr id="9" name="TextBox 8">
            <a:extLst>
              <a:ext uri="{FF2B5EF4-FFF2-40B4-BE49-F238E27FC236}">
                <a16:creationId xmlns:a16="http://schemas.microsoft.com/office/drawing/2014/main" id="{C2607627-2C13-F641-AE28-E48AB8F3F00D}"/>
              </a:ext>
            </a:extLst>
          </p:cNvPr>
          <p:cNvSpPr txBox="1"/>
          <p:nvPr/>
        </p:nvSpPr>
        <p:spPr>
          <a:xfrm>
            <a:off x="0" y="3126641"/>
            <a:ext cx="5829300" cy="369332"/>
          </a:xfrm>
          <a:prstGeom prst="rect">
            <a:avLst/>
          </a:prstGeom>
          <a:noFill/>
        </p:spPr>
        <p:txBody>
          <a:bodyPr wrap="square" rtlCol="0">
            <a:spAutoFit/>
          </a:bodyPr>
          <a:lstStyle/>
          <a:p>
            <a:r>
              <a:rPr lang="en-US" b="1" dirty="0">
                <a:solidFill>
                  <a:srgbClr val="FF0000"/>
                </a:solidFill>
              </a:rPr>
              <a:t>Pairwise Ranking Loss   (similar or not, positive or negative)</a:t>
            </a:r>
          </a:p>
        </p:txBody>
      </p:sp>
      <p:pic>
        <p:nvPicPr>
          <p:cNvPr id="10" name="Picture 9">
            <a:extLst>
              <a:ext uri="{FF2B5EF4-FFF2-40B4-BE49-F238E27FC236}">
                <a16:creationId xmlns:a16="http://schemas.microsoft.com/office/drawing/2014/main" id="{9317705B-8157-E341-A11F-209255798501}"/>
              </a:ext>
            </a:extLst>
          </p:cNvPr>
          <p:cNvPicPr>
            <a:picLocks noChangeAspect="1"/>
          </p:cNvPicPr>
          <p:nvPr/>
        </p:nvPicPr>
        <p:blipFill>
          <a:blip r:embed="rId5"/>
          <a:stretch>
            <a:fillRect/>
          </a:stretch>
        </p:blipFill>
        <p:spPr>
          <a:xfrm>
            <a:off x="-14416" y="5440842"/>
            <a:ext cx="5473844" cy="446365"/>
          </a:xfrm>
          <a:prstGeom prst="rect">
            <a:avLst/>
          </a:prstGeom>
        </p:spPr>
      </p:pic>
      <p:sp>
        <p:nvSpPr>
          <p:cNvPr id="11" name="TextBox 10">
            <a:extLst>
              <a:ext uri="{FF2B5EF4-FFF2-40B4-BE49-F238E27FC236}">
                <a16:creationId xmlns:a16="http://schemas.microsoft.com/office/drawing/2014/main" id="{DD2DC6A0-E836-BA4A-BC1C-CCE14108A177}"/>
              </a:ext>
            </a:extLst>
          </p:cNvPr>
          <p:cNvSpPr txBox="1"/>
          <p:nvPr/>
        </p:nvSpPr>
        <p:spPr>
          <a:xfrm>
            <a:off x="6299200" y="127000"/>
            <a:ext cx="5359400" cy="6001643"/>
          </a:xfrm>
          <a:prstGeom prst="rect">
            <a:avLst/>
          </a:prstGeom>
          <a:noFill/>
        </p:spPr>
        <p:txBody>
          <a:bodyPr wrap="square" rtlCol="0">
            <a:spAutoFit/>
          </a:bodyPr>
          <a:lstStyle/>
          <a:p>
            <a:pPr marL="171450" indent="-171450">
              <a:buFont typeface="Arial" panose="020B0604020202020204" pitchFamily="34" charset="0"/>
              <a:buChar char="•"/>
            </a:pPr>
            <a:r>
              <a:rPr lang="en-US" sz="1200" dirty="0"/>
              <a:t>offline triplet mining, which means that triplets are defined at the beginning of the training</a:t>
            </a:r>
          </a:p>
          <a:p>
            <a:pPr marL="171450" indent="-171450">
              <a:buFont typeface="Arial" panose="020B0604020202020204" pitchFamily="34" charset="0"/>
              <a:buChar char="•"/>
            </a:pPr>
            <a:r>
              <a:rPr lang="en-US" sz="1200" dirty="0"/>
              <a:t>online triplet mining, meaning that triplets are defined for every batch during the training</a:t>
            </a:r>
          </a:p>
          <a:p>
            <a:endParaRPr lang="en-US" sz="1200" dirty="0"/>
          </a:p>
          <a:p>
            <a:r>
              <a:rPr lang="en-US" sz="1200" dirty="0"/>
              <a:t>======================================</a:t>
            </a:r>
          </a:p>
          <a:p>
            <a:pPr marL="171450" indent="-171450">
              <a:buFont typeface="Arial" panose="020B0604020202020204" pitchFamily="34" charset="0"/>
              <a:buChar char="•"/>
            </a:pPr>
            <a:r>
              <a:rPr lang="en-US" sz="1200" b="1" u="sng" dirty="0"/>
              <a:t>Ranking loss</a:t>
            </a:r>
            <a:r>
              <a:rPr lang="en-US" sz="1200" dirty="0"/>
              <a:t>: This name comes from the information retrieval field, where we want to train models to rank items in an specific order.</a:t>
            </a:r>
          </a:p>
          <a:p>
            <a:pPr marL="171450" indent="-171450">
              <a:buFont typeface="Arial" panose="020B0604020202020204" pitchFamily="34" charset="0"/>
              <a:buChar char="•"/>
            </a:pPr>
            <a:r>
              <a:rPr lang="en-US" sz="1200" b="1" u="sng" dirty="0"/>
              <a:t>Margin Loss</a:t>
            </a:r>
            <a:r>
              <a:rPr lang="en-US" sz="1200" dirty="0"/>
              <a:t>: This name comes from the fact that these losses use a margin to compare samples representations distances.</a:t>
            </a:r>
          </a:p>
          <a:p>
            <a:pPr marL="171450" indent="-171450">
              <a:buFont typeface="Arial" panose="020B0604020202020204" pitchFamily="34" charset="0"/>
              <a:buChar char="•"/>
            </a:pPr>
            <a:r>
              <a:rPr lang="en-US" sz="1200" b="1" u="sng" dirty="0"/>
              <a:t>Contrastive Loss</a:t>
            </a:r>
            <a:r>
              <a:rPr lang="en-US" sz="1200" dirty="0"/>
              <a:t>: Contrastive refers to the fact that these losses are computed contrasting two or more data points representations. This name is often used for Pairwise Ranking Loss, but I’ve never seen using it in a setup with triplets.</a:t>
            </a:r>
          </a:p>
          <a:p>
            <a:pPr marL="171450" indent="-171450">
              <a:buFont typeface="Arial" panose="020B0604020202020204" pitchFamily="34" charset="0"/>
              <a:buChar char="•"/>
            </a:pPr>
            <a:r>
              <a:rPr lang="en-US" sz="1200" b="1" u="sng" dirty="0"/>
              <a:t>Triplet Loss</a:t>
            </a:r>
            <a:r>
              <a:rPr lang="en-US" sz="1200" dirty="0"/>
              <a:t>: Often used as loss name when triplet training pairs are employed.</a:t>
            </a:r>
          </a:p>
          <a:p>
            <a:pPr marL="171450" indent="-171450">
              <a:buFont typeface="Arial" panose="020B0604020202020204" pitchFamily="34" charset="0"/>
              <a:buChar char="•"/>
            </a:pPr>
            <a:r>
              <a:rPr lang="en-US" sz="1200" b="1" u="sng" dirty="0"/>
              <a:t>Hinge Loss</a:t>
            </a:r>
            <a:r>
              <a:rPr lang="en-US" sz="1200" dirty="0"/>
              <a:t>: Also known as max-margin objective. It’s used for training SVMs for classification. It has a similar formulation in the sense that it optimizes until a margin. That’s why this name is sometimes used for Ranking Losses.</a:t>
            </a:r>
          </a:p>
          <a:p>
            <a:pPr marL="171450" indent="-171450">
              <a:buFont typeface="Arial" panose="020B0604020202020204" pitchFamily="34" charset="0"/>
              <a:buChar char="•"/>
            </a:pPr>
            <a:endParaRPr lang="en-US" sz="1200" dirty="0"/>
          </a:p>
          <a:p>
            <a:r>
              <a:rPr lang="en-US" sz="1200" dirty="0"/>
              <a:t>======================================</a:t>
            </a:r>
          </a:p>
          <a:p>
            <a:r>
              <a:rPr lang="en-US" sz="1200" dirty="0"/>
              <a:t>Siamese Nets - two identical CNNs with shared weights. Each one processes an image and produces a representation. Those representations are compared and a distance between them is computed. Then, a Pairwise Ranking Loss is used to train the network, such that the distance between representations:</a:t>
            </a:r>
          </a:p>
          <a:p>
            <a:r>
              <a:rPr lang="en-US" sz="1200" dirty="0"/>
              <a:t> - is small if produced by similar images</a:t>
            </a:r>
          </a:p>
          <a:p>
            <a:r>
              <a:rPr lang="en-US" sz="1200" dirty="0"/>
              <a:t> - is big if produced by dis-similar images</a:t>
            </a:r>
          </a:p>
          <a:p>
            <a:r>
              <a:rPr lang="en-US" sz="1200" dirty="0"/>
              <a:t>======================================</a:t>
            </a:r>
          </a:p>
          <a:p>
            <a:r>
              <a:rPr lang="en-US" sz="1200" dirty="0"/>
              <a:t>Triplet Nets</a:t>
            </a:r>
          </a:p>
          <a:p>
            <a:r>
              <a:rPr lang="en-US" sz="1200" dirty="0"/>
              <a:t>The idea is similar to a </a:t>
            </a:r>
            <a:r>
              <a:rPr lang="en-US" sz="1200" dirty="0" err="1"/>
              <a:t>siamese</a:t>
            </a:r>
            <a:r>
              <a:rPr lang="en-US" sz="1200" dirty="0"/>
              <a:t> net, but a triplet net has three branches (three CNNs with shared weights). The model is trained by simultaneously giving a positive and a negative image (relative to the corresponding anchor image), and using a Triplet Ranking Loss. That lets the net learn better which images are similar and different to the anchor image.</a:t>
            </a:r>
          </a:p>
        </p:txBody>
      </p:sp>
    </p:spTree>
    <p:extLst>
      <p:ext uri="{BB962C8B-B14F-4D97-AF65-F5344CB8AC3E}">
        <p14:creationId xmlns:p14="http://schemas.microsoft.com/office/powerpoint/2010/main" val="19417994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90</TotalTime>
  <Words>588</Words>
  <Application>Microsoft Macintosh PowerPoint</Application>
  <PresentationFormat>Widescreen</PresentationFormat>
  <Paragraphs>51</Paragraphs>
  <Slides>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vt:i4>
      </vt:variant>
    </vt:vector>
  </HeadingPairs>
  <TitlesOfParts>
    <vt:vector size="6" baseType="lpstr">
      <vt:lpstr>Arial</vt:lpstr>
      <vt:lpstr>Calibri</vt:lpstr>
      <vt:lpstr>Calibri Light</vt:lpstr>
      <vt:lpstr>Office Theme</vt:lpstr>
      <vt:lpstr>PowerPoint Presentation</vt:lpstr>
      <vt:lpstr>PowerPoint Presentation</vt:lpstr>
    </vt:vector>
  </TitlesOfParts>
  <Company/>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Lev Selector</dc:creator>
  <cp:lastModifiedBy>Lev Selector</cp:lastModifiedBy>
  <cp:revision>7</cp:revision>
  <dcterms:created xsi:type="dcterms:W3CDTF">2020-06-01T22:52:41Z</dcterms:created>
  <dcterms:modified xsi:type="dcterms:W3CDTF">2020-06-04T20:22:38Z</dcterms:modified>
</cp:coreProperties>
</file>