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334" r:id="rId2"/>
    <p:sldId id="335" r:id="rId3"/>
    <p:sldId id="336" r:id="rId4"/>
    <p:sldId id="337" r:id="rId5"/>
    <p:sldId id="338" r:id="rId6"/>
    <p:sldId id="33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90"/>
    <p:restoredTop sz="94578"/>
  </p:normalViewPr>
  <p:slideViewPr>
    <p:cSldViewPr snapToGrid="0" snapToObjects="1">
      <p:cViewPr varScale="1">
        <p:scale>
          <a:sx n="108" d="100"/>
          <a:sy n="108" d="100"/>
        </p:scale>
        <p:origin x="8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5/4/21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5/4/21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kdd.org/kdd2017/papers/view/tfx-a-tensorflow-based-production-scale-machine-learning-platform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76402"/>
            <a:ext cx="80870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Machine Learning Reference Architectures </a:t>
            </a:r>
          </a:p>
          <a:p>
            <a:r>
              <a:rPr lang="en-US" sz="2800" b="1" dirty="0"/>
              <a:t>from Google, Facebook, Uber, </a:t>
            </a:r>
            <a:r>
              <a:rPr lang="en-US" sz="2800" b="1" dirty="0" err="1"/>
              <a:t>DataBricks</a:t>
            </a:r>
            <a:r>
              <a:rPr lang="en-US" sz="2800" b="1" dirty="0"/>
              <a:t> and Others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846629" y="66739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EA9DD-F532-E844-9109-9810BD2F6D66}"/>
              </a:ext>
            </a:extLst>
          </p:cNvPr>
          <p:cNvSpPr txBox="1"/>
          <p:nvPr/>
        </p:nvSpPr>
        <p:spPr>
          <a:xfrm>
            <a:off x="332508" y="2670747"/>
            <a:ext cx="589016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Nice Review</a:t>
            </a:r>
          </a:p>
          <a:p>
            <a:r>
              <a:rPr lang="en-US" sz="1400" dirty="0"/>
              <a:t>https://</a:t>
            </a:r>
            <a:r>
              <a:rPr lang="en-US" sz="1400" dirty="0" err="1"/>
              <a:t>medium.com</a:t>
            </a:r>
            <a:r>
              <a:rPr lang="en-US" sz="1400" dirty="0"/>
              <a:t>/</a:t>
            </a:r>
            <a:r>
              <a:rPr lang="en-US" sz="1400" dirty="0" err="1"/>
              <a:t>dataseries</a:t>
            </a:r>
            <a:r>
              <a:rPr lang="en-US" sz="1400" dirty="0"/>
              <a:t>/machine-learning-reference-architectures-from-google-facebook-uber-databricks-and-others-58191cf82b98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56B02F-94E8-4B46-80C2-7EE52FCA10C1}"/>
              </a:ext>
            </a:extLst>
          </p:cNvPr>
          <p:cNvSpPr txBox="1"/>
          <p:nvPr/>
        </p:nvSpPr>
        <p:spPr>
          <a:xfrm>
            <a:off x="1638795" y="3847601"/>
            <a:ext cx="5242076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The lifecycle of machine learning solutions is fundamentally different </a:t>
            </a:r>
          </a:p>
          <a:p>
            <a:r>
              <a:rPr lang="en-US" sz="1400" dirty="0"/>
              <a:t>than other software disciplines, because the deployed model needs</a:t>
            </a:r>
          </a:p>
          <a:p>
            <a:r>
              <a:rPr lang="en-US" sz="1400" dirty="0"/>
              <a:t>to be constantly re-trained and optimized.</a:t>
            </a:r>
          </a:p>
        </p:txBody>
      </p:sp>
      <p:pic>
        <p:nvPicPr>
          <p:cNvPr id="1028" name="Picture 4" descr="Machine Learning Life Cycle - Tutorial And Example">
            <a:extLst>
              <a:ext uri="{FF2B5EF4-FFF2-40B4-BE49-F238E27FC236}">
                <a16:creationId xmlns:a16="http://schemas.microsoft.com/office/drawing/2014/main" id="{0AABADB4-276E-024A-9E29-661C35E159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78338" y="2113808"/>
            <a:ext cx="3891478" cy="385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12C7A5-24FB-2144-BC6C-F091E2630966}"/>
              </a:ext>
            </a:extLst>
          </p:cNvPr>
          <p:cNvSpPr txBox="1"/>
          <p:nvPr/>
        </p:nvSpPr>
        <p:spPr>
          <a:xfrm>
            <a:off x="332508" y="1463623"/>
            <a:ext cx="589016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/>
            </a:lvl1pPr>
          </a:lstStyle>
          <a:p>
            <a:r>
              <a:rPr lang="en-US" b="1" dirty="0" err="1">
                <a:solidFill>
                  <a:srgbClr val="FF0000"/>
                </a:solidFill>
              </a:rPr>
              <a:t>MLOps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AIOps</a:t>
            </a:r>
            <a:r>
              <a:rPr lang="en-US" dirty="0"/>
              <a:t> = </a:t>
            </a:r>
            <a:r>
              <a:rPr lang="en-US" b="1" dirty="0">
                <a:solidFill>
                  <a:srgbClr val="FF0000"/>
                </a:solidFill>
              </a:rPr>
              <a:t>DevOps</a:t>
            </a:r>
            <a:r>
              <a:rPr lang="en-US" dirty="0"/>
              <a:t> for ML &amp; AI.</a:t>
            </a:r>
          </a:p>
          <a:p>
            <a:endParaRPr lang="en-US" dirty="0"/>
          </a:p>
          <a:p>
            <a:r>
              <a:rPr lang="en-US" dirty="0"/>
              <a:t>Taking an experimental Machine Learning or Artificial Intelligence </a:t>
            </a:r>
          </a:p>
          <a:p>
            <a:r>
              <a:rPr lang="en-US" dirty="0"/>
              <a:t>model into a production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410025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76402"/>
            <a:ext cx="3550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Stanford’s DAWN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616811"/>
            <a:ext cx="589016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Stanford’s DAWN - a series of tools, frameworks and an architecture reference </a:t>
            </a:r>
          </a:p>
          <a:p>
            <a:r>
              <a:rPr lang="en-US" sz="1400" dirty="0"/>
              <a:t>to streamline ML workflows. Includes projects such as training (Snorkel), </a:t>
            </a:r>
          </a:p>
          <a:p>
            <a:r>
              <a:rPr lang="en-US" sz="1400" dirty="0"/>
              <a:t>continuous analytics (</a:t>
            </a:r>
            <a:r>
              <a:rPr lang="en-US" sz="1400" dirty="0" err="1"/>
              <a:t>MacroBase</a:t>
            </a:r>
            <a:r>
              <a:rPr lang="en-US" sz="1400" dirty="0"/>
              <a:t>) or data computation(Weld).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dawn.cs.stanford.edu</a:t>
            </a:r>
            <a:r>
              <a:rPr lang="en-US" sz="1400" dirty="0"/>
              <a:t>/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F723B10-58B9-1645-BC15-6D926DED7D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98320" y="1642310"/>
            <a:ext cx="8395360" cy="513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680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76402"/>
            <a:ext cx="3550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Uber’s Michelangelo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599622"/>
            <a:ext cx="725582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Uber’s Michelangelo – powers hundreds of ML workflows at Uber. </a:t>
            </a:r>
          </a:p>
          <a:p>
            <a:r>
              <a:rPr lang="en-US" sz="1400" dirty="0"/>
              <a:t>Works with other ML tools like </a:t>
            </a:r>
            <a:r>
              <a:rPr lang="en-US" sz="1400" dirty="0" err="1"/>
              <a:t>Horovod</a:t>
            </a:r>
            <a:r>
              <a:rPr lang="en-US" sz="1400" dirty="0"/>
              <a:t>, </a:t>
            </a:r>
            <a:r>
              <a:rPr lang="en-US" sz="1400" dirty="0" err="1"/>
              <a:t>PyML</a:t>
            </a:r>
            <a:r>
              <a:rPr lang="en-US" sz="1400" dirty="0"/>
              <a:t> or Pyro.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eng.uber.com</a:t>
            </a:r>
            <a:r>
              <a:rPr lang="en-US" sz="1400" dirty="0"/>
              <a:t>/</a:t>
            </a:r>
            <a:r>
              <a:rPr lang="en-US" sz="1400" dirty="0" err="1"/>
              <a:t>michelangelo</a:t>
            </a:r>
            <a:r>
              <a:rPr lang="en-US" sz="1400" dirty="0"/>
              <a:t>-machine-learning-platform/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3A9BC4D-B74A-C846-8E8D-5944DBE43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91106" y="1712718"/>
            <a:ext cx="7742692" cy="4361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177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52652"/>
            <a:ext cx="3550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DataBricks’</a:t>
            </a:r>
            <a:r>
              <a:rPr lang="en-US" sz="2800" b="1" dirty="0"/>
              <a:t> </a:t>
            </a:r>
            <a:r>
              <a:rPr lang="en-US" sz="2800" b="1" dirty="0" err="1"/>
              <a:t>MLflow</a:t>
            </a:r>
            <a:endParaRPr lang="en-US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599622"/>
            <a:ext cx="7897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DataBricks’</a:t>
            </a:r>
            <a:r>
              <a:rPr lang="en-US" sz="1400" dirty="0"/>
              <a:t> </a:t>
            </a:r>
            <a:r>
              <a:rPr lang="en-US" sz="1400" dirty="0" err="1"/>
              <a:t>MLflow</a:t>
            </a:r>
            <a:r>
              <a:rPr lang="en-US" sz="1400" dirty="0"/>
              <a:t> is an open source platform for automating the lifecycle of machine learning solutions. </a:t>
            </a:r>
          </a:p>
          <a:p>
            <a:r>
              <a:rPr lang="en-US" sz="1400" dirty="0"/>
              <a:t>The project focuses on training, project packaging and model serving. </a:t>
            </a:r>
          </a:p>
          <a:p>
            <a:r>
              <a:rPr lang="en-US" sz="1400" dirty="0" err="1"/>
              <a:t>MLflow</a:t>
            </a:r>
            <a:r>
              <a:rPr lang="en-US" sz="1400" dirty="0"/>
              <a:t> integrates well with many development frameworks.</a:t>
            </a:r>
          </a:p>
          <a:p>
            <a:r>
              <a:rPr lang="en-US" sz="1400" dirty="0" err="1"/>
              <a:t>MLflow</a:t>
            </a:r>
            <a:r>
              <a:rPr lang="en-US" sz="1400" dirty="0"/>
              <a:t> integrates well with runtime infrastructures.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www.mlflow.org</a:t>
            </a:r>
            <a:r>
              <a:rPr lang="en-US" sz="1400" dirty="0"/>
              <a:t>/</a:t>
            </a:r>
          </a:p>
        </p:txBody>
      </p:sp>
      <p:pic>
        <p:nvPicPr>
          <p:cNvPr id="4098" name="Picture 2" descr="How to Share and Control ML Model Access with MLflow Model Registry">
            <a:extLst>
              <a:ext uri="{FF2B5EF4-FFF2-40B4-BE49-F238E27FC236}">
                <a16:creationId xmlns:a16="http://schemas.microsoft.com/office/drawing/2014/main" id="{753516CB-FF6B-594D-BCDE-9F361B453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21830" y="1900053"/>
            <a:ext cx="9138345" cy="4797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981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-1" y="76402"/>
            <a:ext cx="47390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Facebook’s </a:t>
            </a:r>
            <a:r>
              <a:rPr lang="en-US" sz="2800" b="1" dirty="0" err="1"/>
              <a:t>FBLearner</a:t>
            </a:r>
            <a:r>
              <a:rPr lang="en-US" sz="2800" b="1" dirty="0"/>
              <a:t> 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-1" y="599622"/>
            <a:ext cx="89539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Facebook’s </a:t>
            </a:r>
            <a:r>
              <a:rPr lang="en-US" sz="1400" dirty="0" err="1"/>
              <a:t>FBLearner</a:t>
            </a:r>
            <a:r>
              <a:rPr lang="en-US" sz="1400" dirty="0"/>
              <a:t> Flow automates feature extraction, training, model evaluation and inference. </a:t>
            </a:r>
            <a:br>
              <a:rPr lang="en-US" sz="1400" dirty="0"/>
            </a:br>
            <a:r>
              <a:rPr lang="en-US" sz="1400" dirty="0" err="1"/>
              <a:t>FBLearner</a:t>
            </a:r>
            <a:r>
              <a:rPr lang="en-US" sz="1400" dirty="0"/>
              <a:t> Flow integrates with Facebook’s own Caffe2, </a:t>
            </a:r>
            <a:r>
              <a:rPr lang="en-US" sz="1400" dirty="0" err="1"/>
              <a:t>PyTorch</a:t>
            </a:r>
            <a:r>
              <a:rPr lang="en-US" sz="1400" dirty="0"/>
              <a:t> and ONNX.</a:t>
            </a:r>
          </a:p>
          <a:p>
            <a:r>
              <a:rPr lang="en-US" sz="1400" dirty="0"/>
              <a:t> - https://</a:t>
            </a:r>
            <a:r>
              <a:rPr lang="en-US" sz="1400" dirty="0" err="1"/>
              <a:t>engineering.fb.com</a:t>
            </a:r>
            <a:r>
              <a:rPr lang="en-US" sz="1400" dirty="0"/>
              <a:t>/ml-applications/introducing-</a:t>
            </a:r>
            <a:r>
              <a:rPr lang="en-US" sz="1400" dirty="0" err="1"/>
              <a:t>fblearner</a:t>
            </a:r>
            <a:r>
              <a:rPr lang="en-US" sz="1400" dirty="0"/>
              <a:t>-flow-</a:t>
            </a:r>
            <a:r>
              <a:rPr lang="en-US" sz="1400" dirty="0" err="1"/>
              <a:t>facebook</a:t>
            </a:r>
            <a:r>
              <a:rPr lang="en-US" sz="1400" dirty="0"/>
              <a:t>-s-ai-backbone/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43790401-0A71-064A-8349-CD0A239D0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66526" y="2180163"/>
            <a:ext cx="8375002" cy="343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5103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D3D92-CF62-5144-A00B-55BE4F360FBF}"/>
              </a:ext>
            </a:extLst>
          </p:cNvPr>
          <p:cNvSpPr txBox="1"/>
          <p:nvPr/>
        </p:nvSpPr>
        <p:spPr>
          <a:xfrm>
            <a:off x="0" y="76402"/>
            <a:ext cx="2369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Google’s TFX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7604FC-F221-3B44-93BB-1E77B222281C}"/>
              </a:ext>
            </a:extLst>
          </p:cNvPr>
          <p:cNvSpPr txBox="1"/>
          <p:nvPr/>
        </p:nvSpPr>
        <p:spPr>
          <a:xfrm>
            <a:off x="0" y="599622"/>
            <a:ext cx="92271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Google’s TFX - architecture for executing machine learning workflows using TensorFlow programs. </a:t>
            </a:r>
          </a:p>
          <a:p>
            <a:r>
              <a:rPr lang="en-US" sz="1400" dirty="0"/>
              <a:t>TFX includes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learner for generating models based on training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modules for analyzing and validating both data as well as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infrastructure for serving models in production</a:t>
            </a:r>
          </a:p>
          <a:p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https://www.kdd.org/kdd2017/papers/view/tfx-a-tensorflow-based-production-scale-machine-learning-platform</a:t>
            </a:r>
            <a:r>
              <a:rPr lang="en-US" sz="1400" dirty="0"/>
              <a:t> 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F6505F18-2919-5446-A57B-3F68BA499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11254" y="2257099"/>
            <a:ext cx="9598308" cy="4379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230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1178</TotalTime>
  <Words>324</Words>
  <Application>Microsoft Macintosh PowerPoint</Application>
  <PresentationFormat>Widescreen</PresentationFormat>
  <Paragraphs>36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159</cp:revision>
  <dcterms:created xsi:type="dcterms:W3CDTF">2018-10-10T17:24:46Z</dcterms:created>
  <dcterms:modified xsi:type="dcterms:W3CDTF">2021-05-04T19:38:46Z</dcterms:modified>
</cp:coreProperties>
</file>