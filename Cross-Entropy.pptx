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8" r:id="rId2"/>
    <p:sldId id="257" r:id="rId3"/>
    <p:sldId id="272" r:id="rId4"/>
    <p:sldId id="271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37"/>
    <p:restoredTop sz="94578"/>
  </p:normalViewPr>
  <p:slideViewPr>
    <p:cSldViewPr snapToGrid="0" snapToObjects="1">
      <p:cViewPr varScale="1">
        <p:scale>
          <a:sx n="108" d="100"/>
          <a:sy n="108" d="100"/>
        </p:scale>
        <p:origin x="114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15B94-D9E4-E149-8081-23A720D1EE5F}" type="datetimeFigureOut">
              <a:rPr lang="en-US" smtClean="0"/>
              <a:t>3/10/21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959602-CC24-7346-B914-9B1E8A8A6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789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f3c5d7ced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f3c5d7ced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2f3c5d7ced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27086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21681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68154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231448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354634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09283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338349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927924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24100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99F67-75F2-EF4B-9DE0-21FDAEC663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E99639-B854-674D-ACBA-338D63DD4F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E4296-DC2B-AF42-91B6-17E3997BE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3/10/21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80F47-3B0E-704C-82F4-47CA2458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39331-61D1-E44D-8C43-197AE4B19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790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B43CF-BFB5-3546-88C9-3F4ABDF5B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71888-698C-3048-9E3A-79F283DAC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6CAAE-7E6E-094F-B838-A8D599C7A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3/10/21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36779-3E6E-F94D-A52C-89DB20E89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DD567-48AE-8943-81DD-9156637A4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139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634C6-BE59-C74D-A804-601DBAECC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495D0D-E2F3-024E-8F35-A32E5235C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32F36-110F-AB45-AACD-B967692D6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3/10/21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DE42B-76C3-C74B-87BA-EC1966BCA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2EF09-A125-6A46-98CE-4F27BBF2D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91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2FF95-09A5-AD4A-BF49-549FDD4AE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BA89D-12BA-364D-9D8E-653BBF7F02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5FDF43-F591-C34C-A19D-72C756D41E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0354CF-BB33-C943-A730-FC383D9A5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3/10/21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A13A25-E3C8-964A-A037-7E3FD27AD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AB8329-5603-654D-A660-FFCA319FE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430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CAAB5-2A11-8B46-A36E-45DDB8812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41C71-F1A6-554A-BAD7-8A45038F1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7A02E-E166-EF46-9DEE-108AEC16E0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33CE42-B52C-2942-9A4A-0E4F45F1D8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58C1D2-B4E4-AD4A-B8B1-F8B44B8785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72365E-B55D-7344-998C-79153FB40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3/10/21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75CC9F-B7E5-914A-B6F0-00ADC6CAD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7BF07D-E313-CA4B-BB34-30A3407DE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940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6C080-AE3B-2D44-8F1B-F94E3E24C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FEBD38-3EC2-604B-8909-0751DE753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3/10/21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F0E821-C95F-7943-8614-AE9CB9DF3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A9F50-050E-B643-A486-F0E340093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589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CDF785-C2CE-4F41-9244-07C54AA90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3/10/21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5C8366-9719-1346-8CA9-FA98FA13A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423BB-263D-BA4B-8180-9360C24F3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936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9E274-4263-3C44-A67A-88743FEA2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4D437-E545-9241-9B1A-D82348625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325DD7-587D-2243-8C7B-87745F2B63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965333-9154-4F43-AB04-7653AB896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3/10/21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3DF337-B84B-0D43-B9B3-C5C52986D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3FC9BB-65AC-144D-8509-7666472A5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376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35F18-71F5-404F-976D-621F648F9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249791-DC9D-A945-8D0D-D4A9079865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5D363C-D267-8D4B-B5E3-457DC9389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9AEDA4-C4FB-564B-ADE2-E7A907511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3/10/21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C4D42D-FF74-9246-94C3-9723BF584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269DFD-0B4D-FA4F-9E71-D5181F1CB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268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491E7-7FB4-4546-8157-28938279D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29B9C2-E777-4348-BBC7-2890721ED3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7FA6D-4975-5148-9D0D-4F743D24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3/10/21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0D166-568E-2649-9F37-88DC38AA8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5E222-16A1-C947-8B1E-3ACF3F5C5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12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AC76A-2B25-1A44-91BB-8088E2CC1C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78DD8B-CC03-0745-B893-EEF2A385F3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F2342-838E-764F-89C0-BB769EE41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3/10/21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EDFEC-4C70-7847-9681-6C3761311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3DA2E-AD95-AF44-A7A2-774479195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012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955CD2-8FD3-CA4C-99C9-299FEE54E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F91F3E-101C-5342-8747-F474CDCDA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CD303-CF65-3444-86AC-DDE065E379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D852D7-E694-214E-8A12-510E0A0329D2}" type="datetimeFigureOut">
              <a:rPr lang="en-US" smtClean="0"/>
              <a:t>3/10/21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BF9CF-381B-8F4B-B04A-1BC917405E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A368C-50DB-5A48-AFBA-3B62FEFE95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234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ErfnhcEV1O8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http://ml-cheatsheet.readthedocs.io/en/latest/loss_functions.html" TargetMode="External"/><Relationship Id="rId4" Type="http://schemas.openxmlformats.org/officeDocument/2006/relationships/hyperlink" Target="http://neuralnetworksanddeeplearning.com/chap3.html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tats.stackexchange.com/questions/223799/different-definitions-of-the-cross-entropy-loss-function/224491#224491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tiff"/><Relationship Id="rId3" Type="http://schemas.openxmlformats.org/officeDocument/2006/relationships/hyperlink" Target="https://en.wikipedia.org/wiki/Claude_Shannon" TargetMode="External"/><Relationship Id="rId7" Type="http://schemas.openxmlformats.org/officeDocument/2006/relationships/image" Target="../media/image10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hyperlink" Target="https://www.quora.com/What-is-an-intuitive-explanation-of-the-concept-of-entropy-in-information-theory" TargetMode="External"/><Relationship Id="rId4" Type="http://schemas.openxmlformats.org/officeDocument/2006/relationships/hyperlink" Target="https://en.wikipedia.org/wiki/Entropy_(information_theory)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12.png"/><Relationship Id="rId7" Type="http://schemas.openxmlformats.org/officeDocument/2006/relationships/hyperlink" Target="https://en.wikipedia.org/wiki/Richard_Leibler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Solomon_Kullback" TargetMode="External"/><Relationship Id="rId5" Type="http://schemas.openxmlformats.org/officeDocument/2006/relationships/hyperlink" Target="https://en.wikipedia.org/wiki/Kullback%E2%80%93Leibler_divergence" TargetMode="External"/><Relationship Id="rId4" Type="http://schemas.openxmlformats.org/officeDocument/2006/relationships/image" Target="../media/image13.jpg"/><Relationship Id="rId9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jamesmccaffrey.wordpress.com/2013/11/05/why-you-should-use-cross-entropy-error-instead-of-classification-error-or-mean-squared-error-for-neural-network-classifier-training/" TargetMode="External"/><Relationship Id="rId3" Type="http://schemas.openxmlformats.org/officeDocument/2006/relationships/image" Target="../media/image16.png"/><Relationship Id="rId7" Type="http://schemas.openxmlformats.org/officeDocument/2006/relationships/hyperlink" Target="https://www.reddit.com/r/MachineLearning/comments/3klqdh/q_whats_the_difference_between_crossentropy_and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stats.stackexchange.com/questions/31985/definition-and-origin-of-cross-entropy" TargetMode="External"/><Relationship Id="rId5" Type="http://schemas.openxmlformats.org/officeDocument/2006/relationships/hyperlink" Target="https://en.wikipedia.org/wiki/Cross_entropy" TargetMode="External"/><Relationship Id="rId4" Type="http://schemas.openxmlformats.org/officeDocument/2006/relationships/image" Target="../media/image17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tiff"/><Relationship Id="rId5" Type="http://schemas.openxmlformats.org/officeDocument/2006/relationships/image" Target="../media/image21.tiff"/><Relationship Id="rId4" Type="http://schemas.openxmlformats.org/officeDocument/2006/relationships/image" Target="../media/image20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4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28030" y="3245091"/>
            <a:ext cx="2396600" cy="1659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54974" y="109925"/>
            <a:ext cx="6796593" cy="6385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/>
              <a:t>Why Cross-Entropy (CE) loss is better than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/>
              <a:t>Min-Squared Error (MSE) loss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/>
              <a:t>for classification?</a:t>
            </a:r>
            <a:endParaRPr sz="20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(See Andrew Ng’s Machine Learning course on Coursera.)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First, </a:t>
            </a:r>
            <a:r>
              <a:rPr lang="en-US" sz="1600" b="1" dirty="0">
                <a:solidFill>
                  <a:srgbClr val="0070C0"/>
                </a:solidFill>
              </a:rPr>
              <a:t>MSE</a:t>
            </a:r>
            <a:r>
              <a:rPr lang="en-US" sz="1600" dirty="0"/>
              <a:t> can force conversion to a wrong answer.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lvl="0"/>
            <a:r>
              <a:rPr lang="en-US" sz="1400" dirty="0">
                <a:solidFill>
                  <a:srgbClr val="0070C0"/>
                </a:solidFill>
              </a:rPr>
              <a:t>For example, suppose we are doing a medical diagnostics classifier based on a size of the abnormality. Big abnormalities usually mean cancer. We have a set of 100 samples with labels 0=healthy, 1=cancer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70C0"/>
                </a:solidFill>
              </a:rPr>
              <a:t>Suppose we use MSE to train our model and find a threshold above which we say it is cancer. Now suppose we add 20 more data points with very large sizes. They all have label 1 (cancer). Adding these points should not change the transition point. But if we use MSE, then it will shift the transition point toward larger sizes, thus changing diagnosis for some cases.</a:t>
            </a:r>
            <a:endParaRPr sz="1400" dirty="0">
              <a:solidFill>
                <a:srgbClr val="0070C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Second reason against MSE is that </a:t>
            </a:r>
            <a:r>
              <a:rPr lang="en-US" sz="1600" b="1" dirty="0">
                <a:solidFill>
                  <a:srgbClr val="0070C0"/>
                </a:solidFill>
              </a:rPr>
              <a:t>MSE loss function</a:t>
            </a:r>
            <a:r>
              <a:rPr lang="en-US" sz="1600" dirty="0"/>
              <a:t> tend to be 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070C0"/>
                </a:solidFill>
              </a:rPr>
              <a:t>non-convex</a:t>
            </a:r>
            <a:r>
              <a:rPr lang="en-US" sz="1600" dirty="0"/>
              <a:t> - have multiple local minima, thus making it difficult to converge.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Finally, </a:t>
            </a:r>
            <a:r>
              <a:rPr lang="en-US" sz="1600" b="1" dirty="0">
                <a:solidFill>
                  <a:srgbClr val="0070C0"/>
                </a:solidFill>
              </a:rPr>
              <a:t>Cross-Entropy</a:t>
            </a:r>
            <a:r>
              <a:rPr lang="en-US" sz="1600" dirty="0"/>
              <a:t> gives bigger gradients and better conversion.</a:t>
            </a:r>
            <a:endParaRPr sz="1600" dirty="0"/>
          </a:p>
        </p:txBody>
      </p:sp>
      <p:pic>
        <p:nvPicPr>
          <p:cNvPr id="102" name="Google Shape;10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39150" y="4743450"/>
            <a:ext cx="3752850" cy="211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45974" y="0"/>
            <a:ext cx="5446026" cy="29895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1142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348900" y="94797"/>
            <a:ext cx="10806780" cy="6763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Cross-entropy loss = log loss 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16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https://www.youtube.com/watch?v=ErfnhcEV1O8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16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http://neuralnetworksanddeeplearning.com/chap3.html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16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http://ml-cheatsheet.readthedocs.io/en/latest/loss_functions.html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machine learning (logistic regression, neural networks) cross-entropy (CE) is used to measure the difference between the actual and desired output. Note that this CE is different from CE used in information theory.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 we have a network which solves classification problem and has one output node (neuron) which outputs a number “a” between 0 and 1. The desired output of binary classification (label y) should be either 0 or 1.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define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CrossEntropy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() function as following: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def </a:t>
            </a:r>
            <a:r>
              <a:rPr lang="en-US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CrossEntropy</a:t>
            </a:r>
            <a:r>
              <a:rPr lang="en-US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y_target</a:t>
            </a:r>
            <a:r>
              <a:rPr lang="en-US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, a):</a:t>
            </a:r>
            <a:endParaRPr dirty="0"/>
          </a:p>
          <a:p>
            <a:pPr lvl="0"/>
            <a:r>
              <a:rPr lang="en-US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  if </a:t>
            </a:r>
            <a:r>
              <a:rPr lang="en-US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y_target</a:t>
            </a:r>
            <a:r>
              <a:rPr lang="en-US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== 1: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      return -log(a)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  return -log(1 - a) 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 how this function returns very big number if </a:t>
            </a:r>
            <a:r>
              <a:rPr lang="en-US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differ.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example,  if y == 1 and a is close to 0, then –log(a) will be a very large positive number.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when a is close to 1, then the output will be close to zero. </a:t>
            </a:r>
            <a:b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 Cross-Entropy loss function gives big gradients – and makes learning faster.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 that we can write the same logic without if/else: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def </a:t>
            </a:r>
            <a:r>
              <a:rPr lang="en-US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CrossEntropy</a:t>
            </a:r>
            <a:r>
              <a:rPr lang="en-US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(y, a):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  return –( y*log(a) + (1-y)*ln(1-a) 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" name="Google Shape;102;p14">
            <a:extLst>
              <a:ext uri="{FF2B5EF4-FFF2-40B4-BE49-F238E27FC236}">
                <a16:creationId xmlns:a16="http://schemas.microsoft.com/office/drawing/2014/main" id="{6277C838-8E75-0840-A45F-00BCF8D8EEDB}"/>
              </a:ext>
            </a:extLst>
          </p:cNvPr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43294" y="2873829"/>
            <a:ext cx="2799806" cy="15152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8430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1903" y="2311586"/>
            <a:ext cx="4915787" cy="983157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2551904" y="3603313"/>
            <a:ext cx="578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if the output is several nodes (not just one) – then we sum over all of them: 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51903" y="4617606"/>
            <a:ext cx="5596769" cy="99942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90;p13">
            <a:extLst>
              <a:ext uri="{FF2B5EF4-FFF2-40B4-BE49-F238E27FC236}">
                <a16:creationId xmlns:a16="http://schemas.microsoft.com/office/drawing/2014/main" id="{A1E07DEF-0D1E-1344-9E0C-EC559C4358B0}"/>
              </a:ext>
            </a:extLst>
          </p:cNvPr>
          <p:cNvSpPr txBox="1"/>
          <p:nvPr/>
        </p:nvSpPr>
        <p:spPr>
          <a:xfrm>
            <a:off x="2551904" y="1297294"/>
            <a:ext cx="578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0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If we have “n” training samples, then the total Cross-Entropy will be simply a sum of them: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08841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/>
          <p:nvPr/>
        </p:nvSpPr>
        <p:spPr>
          <a:xfrm>
            <a:off x="483673" y="539752"/>
            <a:ext cx="11139365" cy="5977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242729"/>
                </a:solidFill>
              </a:rPr>
              <a:t>Note that this formula:  </a:t>
            </a:r>
            <a:endParaRPr sz="1600" dirty="0">
              <a:solidFill>
                <a:srgbClr val="242729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242729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242729"/>
                </a:solidFill>
              </a:rPr>
              <a:t>    C=−(1/n)∑( y*ln(a)  +  (1−y)*ln(1−a) )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be also rewritten using notation (a1=a, a2=1-a, y1=y, y2=1-y) as: 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242729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 dirty="0">
                <a:solidFill>
                  <a:srgbClr val="242729"/>
                </a:solidFill>
              </a:rPr>
              <a:t>    C=−(1/n)∑( y</a:t>
            </a:r>
            <a:r>
              <a:rPr lang="en-US" sz="1600" baseline="-25000" dirty="0">
                <a:solidFill>
                  <a:srgbClr val="242729"/>
                </a:solidFill>
              </a:rPr>
              <a:t>1</a:t>
            </a:r>
            <a:r>
              <a:rPr lang="en-US" sz="1600" dirty="0">
                <a:solidFill>
                  <a:srgbClr val="242729"/>
                </a:solidFill>
              </a:rPr>
              <a:t>*ln(a</a:t>
            </a:r>
            <a:r>
              <a:rPr lang="en-US" sz="1600" baseline="-25000" dirty="0">
                <a:solidFill>
                  <a:srgbClr val="242729"/>
                </a:solidFill>
              </a:rPr>
              <a:t>1</a:t>
            </a:r>
            <a:r>
              <a:rPr lang="en-US" sz="1600" dirty="0">
                <a:solidFill>
                  <a:srgbClr val="242729"/>
                </a:solidFill>
              </a:rPr>
              <a:t>)  +  y</a:t>
            </a:r>
            <a:r>
              <a:rPr lang="en-US" sz="1600" baseline="-25000" dirty="0">
                <a:solidFill>
                  <a:srgbClr val="242729"/>
                </a:solidFill>
              </a:rPr>
              <a:t>2</a:t>
            </a:r>
            <a:r>
              <a:rPr lang="en-US" sz="1600" dirty="0">
                <a:solidFill>
                  <a:srgbClr val="242729"/>
                </a:solidFill>
              </a:rPr>
              <a:t>*ln(a</a:t>
            </a:r>
            <a:r>
              <a:rPr lang="en-US" sz="1600" baseline="-25000" dirty="0">
                <a:solidFill>
                  <a:srgbClr val="242729"/>
                </a:solidFill>
              </a:rPr>
              <a:t>2</a:t>
            </a:r>
            <a:r>
              <a:rPr lang="en-US" sz="1600" dirty="0">
                <a:solidFill>
                  <a:srgbClr val="242729"/>
                </a:solidFill>
              </a:rPr>
              <a:t>) )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242729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242729"/>
                </a:solidFill>
              </a:rPr>
              <a:t>or</a:t>
            </a:r>
            <a:endParaRPr sz="1600" dirty="0">
              <a:solidFill>
                <a:srgbClr val="242729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242729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242729"/>
                </a:solidFill>
              </a:rPr>
              <a:t>    C=−(1/n)∑∑ </a:t>
            </a:r>
            <a:r>
              <a:rPr lang="en-US" sz="1600" dirty="0" err="1">
                <a:solidFill>
                  <a:srgbClr val="242729"/>
                </a:solidFill>
              </a:rPr>
              <a:t>y</a:t>
            </a:r>
            <a:r>
              <a:rPr lang="en-US" sz="1600" baseline="-25000" dirty="0" err="1">
                <a:solidFill>
                  <a:srgbClr val="242729"/>
                </a:solidFill>
              </a:rPr>
              <a:t>j</a:t>
            </a:r>
            <a:r>
              <a:rPr lang="en-US" sz="1600" dirty="0">
                <a:solidFill>
                  <a:srgbClr val="242729"/>
                </a:solidFill>
              </a:rPr>
              <a:t>*ln(</a:t>
            </a:r>
            <a:r>
              <a:rPr lang="en-US" sz="1600" dirty="0" err="1">
                <a:solidFill>
                  <a:srgbClr val="242729"/>
                </a:solidFill>
              </a:rPr>
              <a:t>a</a:t>
            </a:r>
            <a:r>
              <a:rPr lang="en-US" sz="1600" baseline="-25000" dirty="0" err="1">
                <a:solidFill>
                  <a:srgbClr val="242729"/>
                </a:solidFill>
              </a:rPr>
              <a:t>j</a:t>
            </a:r>
            <a:r>
              <a:rPr lang="en-US" sz="1600" dirty="0">
                <a:solidFill>
                  <a:srgbClr val="242729"/>
                </a:solidFill>
              </a:rPr>
              <a:t>) </a:t>
            </a:r>
            <a:endParaRPr sz="1600" dirty="0">
              <a:solidFill>
                <a:srgbClr val="242729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242729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242729"/>
                </a:solidFill>
              </a:rPr>
              <a:t>where we sum by j (0,1) and by number of samples “n”.</a:t>
            </a:r>
            <a:endParaRPr sz="1600" dirty="0">
              <a:solidFill>
                <a:srgbClr val="242729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242729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242729"/>
                </a:solidFill>
              </a:rPr>
              <a:t>In this form it looks the same as formula for </a:t>
            </a:r>
            <a:r>
              <a:rPr lang="en-US" sz="1600" b="1" dirty="0">
                <a:solidFill>
                  <a:srgbClr val="0070C0"/>
                </a:solidFill>
              </a:rPr>
              <a:t>log-likelihood</a:t>
            </a:r>
            <a:r>
              <a:rPr lang="en-US" sz="1600" dirty="0">
                <a:solidFill>
                  <a:srgbClr val="242729"/>
                </a:solidFill>
              </a:rPr>
              <a:t> or </a:t>
            </a:r>
            <a:r>
              <a:rPr lang="en-US" sz="1600" b="1" dirty="0">
                <a:solidFill>
                  <a:srgbClr val="0070C0"/>
                </a:solidFill>
              </a:rPr>
              <a:t>cross-entropy</a:t>
            </a:r>
            <a:endParaRPr sz="1600" b="1" dirty="0">
              <a:solidFill>
                <a:srgbClr val="0070C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242729"/>
                </a:solidFill>
              </a:rPr>
              <a:t>in information theory (see next slides).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solidFill>
                <a:srgbClr val="242729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242729"/>
                </a:solidFill>
              </a:rPr>
              <a:t>But note that in information theory the characters in the formula have different meaning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242729"/>
                </a:solidFill>
              </a:rPr>
              <a:t>and the formula is used for different domain  (probability distributions, likelihood,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242729"/>
                </a:solidFill>
              </a:rPr>
              <a:t>independent variables, gaussian distribution, </a:t>
            </a:r>
            <a:r>
              <a:rPr lang="en-US" sz="1600" dirty="0" err="1">
                <a:solidFill>
                  <a:srgbClr val="242729"/>
                </a:solidFill>
              </a:rPr>
              <a:t>etc</a:t>
            </a:r>
            <a:r>
              <a:rPr lang="en-US" sz="1600" dirty="0">
                <a:solidFill>
                  <a:srgbClr val="242729"/>
                </a:solidFill>
              </a:rPr>
              <a:t>).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 also here: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https://stats.stackexchange.com/questions/223799/different-definitions-of-the-cross-entropy-loss-function/224491#224491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13684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/>
          <p:nvPr/>
        </p:nvSpPr>
        <p:spPr>
          <a:xfrm>
            <a:off x="0" y="458574"/>
            <a:ext cx="7620000" cy="639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likelihood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(L) of a parameter value (or vector of parameter values), </a:t>
            </a:r>
            <a:r>
              <a:rPr lang="en-US" i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θ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given outcomes x, is equal to the </a:t>
            </a:r>
            <a:r>
              <a:rPr lang="en-US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probability (density)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assumed for those observed outcomes given those parameter values.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many applications, the natural logarithm of the likelihood function, called the </a:t>
            </a:r>
            <a:r>
              <a:rPr lang="en-US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log-likelihood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is more convenient to work with. Because the logarithm is a monotonically increasing function, the logarithm of a function achieves its maximum value at the same points as the function itself, and hence the log-likelihood can be used in place of the likelihood in </a:t>
            </a:r>
            <a:r>
              <a:rPr lang="en-US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maximum likelihood estimation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related techniques.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Finding the maximum of a function often involves taking the derivative of a function and solving for the parameter being maximized, and this is often easier when the function being maximized is a log-likelihood rather than the original likelihood function.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example, some likelihood functions are for the parameters that explain a collection of statistically independent observations. In such a situation, the likelihood function factors into a </a:t>
            </a:r>
            <a:r>
              <a:rPr lang="en-US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individual likelihood functions. The logarithm of this product is a </a:t>
            </a:r>
            <a:r>
              <a:rPr lang="en-US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sum</a:t>
            </a:r>
            <a:r>
              <a:rPr lang="en-US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individual logarithms, and the derivative of a sum of terms is often easier to compute than the derivative of a product. 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0" y="0"/>
            <a:ext cx="3023400" cy="6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Log-likelihood</a:t>
            </a:r>
            <a:endParaRPr sz="2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1" name="Google Shape;111;p15"/>
          <p:cNvSpPr txBox="1"/>
          <p:nvPr/>
        </p:nvSpPr>
        <p:spPr>
          <a:xfrm>
            <a:off x="7808698" y="812594"/>
            <a:ext cx="3579910" cy="1768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 = P(x | </a:t>
            </a:r>
            <a:r>
              <a:rPr lang="en-US" sz="2800" i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θ</a:t>
            </a:r>
            <a: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ln(L)</a:t>
            </a:r>
            <a:endParaRPr sz="280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12" name="Google Shape;11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8698" y="4005137"/>
            <a:ext cx="3898109" cy="123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09748" y="5435687"/>
            <a:ext cx="3898100" cy="11842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4126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/>
          <p:nvPr/>
        </p:nvSpPr>
        <p:spPr>
          <a:xfrm>
            <a:off x="41924" y="2181763"/>
            <a:ext cx="7071395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Claude Shannon (1916-2001)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American mathematician, electrical engineer, and cryptographer 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known as "the father of information theory".</a:t>
            </a:r>
            <a:endParaRPr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Landmark </a:t>
            </a:r>
            <a:r>
              <a:rPr lang="en-US" sz="1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paper:"A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Mathematical Theory of Communication" (1948)</a:t>
            </a:r>
            <a:endParaRPr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12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https://en.wikipedia.org/wiki/Claude_Shannon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12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https://en.wikipedia.org/wiki/Entropy_(information_theory)</a:t>
            </a: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12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https://www.quora.com/What-is-an-intuitive-explanation-of-the-concept-of-entropy-in-information-theory</a:t>
            </a: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/>
          </a:p>
        </p:txBody>
      </p:sp>
      <p:pic>
        <p:nvPicPr>
          <p:cNvPr id="120" name="Google Shape;120;p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74177" y="132787"/>
            <a:ext cx="2032000" cy="20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6562846" y="451413"/>
            <a:ext cx="185194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Shannon entropy</a:t>
            </a:r>
            <a:endParaRPr/>
          </a:p>
        </p:txBody>
      </p:sp>
      <p:cxnSp>
        <p:nvCxnSpPr>
          <p:cNvPr id="122" name="Google Shape;122;p16"/>
          <p:cNvCxnSpPr>
            <a:stCxn id="121" idx="3"/>
          </p:cNvCxnSpPr>
          <p:nvPr/>
        </p:nvCxnSpPr>
        <p:spPr>
          <a:xfrm>
            <a:off x="8414795" y="636079"/>
            <a:ext cx="1250100" cy="394200"/>
          </a:xfrm>
          <a:prstGeom prst="straightConnector1">
            <a:avLst/>
          </a:prstGeom>
          <a:noFill/>
          <a:ln w="222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4" name="Google Shape;124;p16"/>
          <p:cNvSpPr txBox="1"/>
          <p:nvPr/>
        </p:nvSpPr>
        <p:spPr>
          <a:xfrm>
            <a:off x="7577236" y="2651848"/>
            <a:ext cx="4591934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Shannon entropy provides an absolute limit </a:t>
            </a:r>
            <a:b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the best possible average length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lossless encoding or compression </a:t>
            </a:r>
            <a:b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an information source.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DC227C3-7F29-F44D-B27B-FF5F654E3E92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0659" y="1047255"/>
            <a:ext cx="3980543" cy="111753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F70F5DA-3BF3-9540-870F-D159079DFDBF}"/>
              </a:ext>
            </a:extLst>
          </p:cNvPr>
          <p:cNvSpPr txBox="1"/>
          <p:nvPr/>
        </p:nvSpPr>
        <p:spPr>
          <a:xfrm>
            <a:off x="165722" y="4098263"/>
            <a:ext cx="627070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                                        Simple way to understand the formula:</a:t>
            </a:r>
          </a:p>
          <a:p>
            <a:endParaRPr lang="en-US" sz="1600" dirty="0"/>
          </a:p>
          <a:p>
            <a:r>
              <a:rPr lang="en-US" sz="1600" dirty="0"/>
              <a:t>If "p" is probability of an event, </a:t>
            </a:r>
          </a:p>
          <a:p>
            <a:r>
              <a:rPr lang="en-US" sz="1600" dirty="0"/>
              <a:t>then we can use (1/p) as a measure of the information.</a:t>
            </a:r>
          </a:p>
          <a:p>
            <a:endParaRPr lang="en-US" sz="1600" dirty="0"/>
          </a:p>
          <a:p>
            <a:r>
              <a:rPr lang="en-US" sz="1600" dirty="0"/>
              <a:t>If event is common (the sun rose up as usual), it adds little information.</a:t>
            </a:r>
          </a:p>
          <a:p>
            <a:r>
              <a:rPr lang="en-US" sz="1600" dirty="0"/>
              <a:t>If event is rare (say, probability is 1/100), then messages about </a:t>
            </a:r>
          </a:p>
          <a:p>
            <a:r>
              <a:rPr lang="en-US" sz="1600" dirty="0"/>
              <a:t>this event carries more information.</a:t>
            </a:r>
          </a:p>
          <a:p>
            <a:endParaRPr lang="en-US" sz="1600" dirty="0"/>
          </a:p>
          <a:p>
            <a:r>
              <a:rPr lang="en-US" sz="1600" dirty="0"/>
              <a:t>So we can use </a:t>
            </a:r>
            <a:r>
              <a:rPr lang="en-US" sz="1600" b="1" dirty="0">
                <a:solidFill>
                  <a:srgbClr val="FF0000"/>
                </a:solidFill>
              </a:rPr>
              <a:t>(1/p)</a:t>
            </a:r>
            <a:r>
              <a:rPr lang="en-US" sz="1600" dirty="0"/>
              <a:t> as a </a:t>
            </a:r>
            <a:r>
              <a:rPr lang="en-US" sz="1600" b="1" dirty="0">
                <a:solidFill>
                  <a:srgbClr val="FF0000"/>
                </a:solidFill>
              </a:rPr>
              <a:t>measure of information</a:t>
            </a:r>
            <a:r>
              <a:rPr lang="en-US" sz="1600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DE87C6-C3E5-9942-8DE3-A131300B3749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924" y="26701"/>
            <a:ext cx="3588635" cy="20198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4A2ABE3-2F1F-3F49-AAA8-C1FBE851E4E7}"/>
              </a:ext>
            </a:extLst>
          </p:cNvPr>
          <p:cNvSpPr txBox="1"/>
          <p:nvPr/>
        </p:nvSpPr>
        <p:spPr>
          <a:xfrm>
            <a:off x="6431332" y="4693214"/>
            <a:ext cx="56445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In practice we use log(1/p) because we do </a:t>
            </a:r>
          </a:p>
          <a:p>
            <a:r>
              <a:rPr lang="en-US" sz="1600" dirty="0"/>
              <a:t>binary encoding to compress our messages.</a:t>
            </a:r>
          </a:p>
          <a:p>
            <a:endParaRPr lang="en-US" sz="1600" dirty="0"/>
          </a:p>
          <a:p>
            <a:r>
              <a:rPr lang="en-US" sz="1600" dirty="0"/>
              <a:t>So we simply calculate  </a:t>
            </a:r>
          </a:p>
          <a:p>
            <a:endParaRPr lang="en-US" sz="1600" dirty="0"/>
          </a:p>
          <a:p>
            <a:r>
              <a:rPr lang="en-US" sz="1600" dirty="0"/>
              <a:t>sum(probability*information) = sum(p*log(1/p)) = </a:t>
            </a:r>
            <a:r>
              <a:rPr lang="en-US" sz="1600" b="1" dirty="0">
                <a:solidFill>
                  <a:srgbClr val="FF0000"/>
                </a:solidFill>
              </a:rPr>
              <a:t>- sum(p*log(p))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63440F1-B3FE-F445-A3A6-4C16B09DE1B6}"/>
              </a:ext>
            </a:extLst>
          </p:cNvPr>
          <p:cNvCxnSpPr/>
          <p:nvPr/>
        </p:nvCxnSpPr>
        <p:spPr>
          <a:xfrm flipV="1">
            <a:off x="6329548" y="4524499"/>
            <a:ext cx="0" cy="23212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6843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/>
          <p:nvPr/>
        </p:nvSpPr>
        <p:spPr>
          <a:xfrm>
            <a:off x="6096000" y="67268"/>
            <a:ext cx="456042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Kullback</a:t>
            </a:r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lang="en-US" sz="2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Leibler</a:t>
            </a:r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Divergence </a:t>
            </a:r>
            <a:endParaRPr sz="2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0" y="2645873"/>
            <a:ext cx="6412675" cy="1836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14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</a:p>
          <a:p>
            <a:pPr lvl="0"/>
            <a:r>
              <a:rPr lang="en-U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report weather in </a:t>
            </a:r>
            <a:r>
              <a:rPr lang="en-US" sz="14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1400" b="1" dirty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ahara desert</a:t>
            </a:r>
            <a:r>
              <a:rPr lang="en-US" sz="14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it is optimal to use short encoding for sunny days, because they are most frequent.</a:t>
            </a:r>
          </a:p>
          <a:p>
            <a:pPr lvl="0"/>
            <a:endParaRPr lang="en-US" sz="14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lvl="0"/>
            <a:r>
              <a:rPr lang="en-US" sz="14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To report weather in </a:t>
            </a:r>
            <a:r>
              <a:rPr lang="en-US" sz="1400" b="1" dirty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Seattle</a:t>
            </a:r>
            <a:r>
              <a:rPr lang="en-US" sz="14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it is optimal to use shorter messages for rainy days.</a:t>
            </a:r>
          </a:p>
          <a:p>
            <a:endParaRPr lang="en-US" sz="14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r>
              <a:rPr lang="en-US" sz="14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If we would use the message encoding scheme </a:t>
            </a:r>
            <a:r>
              <a:rPr lang="en-US" sz="1400" b="1" dirty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optimized for Sahara</a:t>
            </a:r>
            <a:r>
              <a:rPr lang="en-US" sz="14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to encode messages for </a:t>
            </a:r>
            <a:r>
              <a:rPr lang="en-US" sz="1400" b="1" dirty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Seattle</a:t>
            </a:r>
            <a:r>
              <a:rPr lang="en-US" sz="14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, we would end up with messages which are </a:t>
            </a:r>
            <a:r>
              <a:rPr lang="en-US" sz="1400" b="1" dirty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longer than needed</a:t>
            </a:r>
            <a:r>
              <a:rPr lang="en-US" sz="14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.</a:t>
            </a:r>
          </a:p>
        </p:txBody>
      </p:sp>
      <p:sp>
        <p:nvSpPr>
          <p:cNvPr id="131" name="Google Shape;131;p17"/>
          <p:cNvSpPr txBox="1"/>
          <p:nvPr/>
        </p:nvSpPr>
        <p:spPr>
          <a:xfrm>
            <a:off x="11083" y="1863524"/>
            <a:ext cx="1890292" cy="6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Solomon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Kullback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(1907-1994)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2304335" y="1863524"/>
            <a:ext cx="16452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Richard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Leibler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(1914-2003)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700457" cy="1752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43627" y="7957"/>
            <a:ext cx="1766637" cy="174482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6096000" y="620697"/>
            <a:ext cx="5428813" cy="1678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The KL-divergence is the penalty (in bits) you'll have to pay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if you try to compress data from one distribution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using a scheme optimized for another.</a:t>
            </a:r>
            <a:endParaRPr sz="1600" dirty="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16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https://en.wikipedia.org/wiki/Kullback–Leibler_divergence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16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https://en.wikipedia.org/wiki/Solomon_Kullback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b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16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https://en.wikipedia.org/wiki/Richard_Leibler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dirty="0"/>
          </a:p>
        </p:txBody>
      </p:sp>
      <p:pic>
        <p:nvPicPr>
          <p:cNvPr id="1026" name="Picture 2" descr="Sahara | Location, History, Map, Countries, Animals, &amp; Facts | Britannica">
            <a:extLst>
              <a:ext uri="{FF2B5EF4-FFF2-40B4-BE49-F238E27FC236}">
                <a16:creationId xmlns:a16="http://schemas.microsoft.com/office/drawing/2014/main" id="{B87C3339-6E25-CC4F-A632-AC121CF9CD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15789" y="2645873"/>
            <a:ext cx="1634647" cy="1087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eattle Lovers in the Rain Art Print Seattle paintings rain | Etsy">
            <a:extLst>
              <a:ext uri="{FF2B5EF4-FFF2-40B4-BE49-F238E27FC236}">
                <a16:creationId xmlns:a16="http://schemas.microsoft.com/office/drawing/2014/main" id="{3F5C1B14-A4BF-7B48-8543-24BE821C1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675631" y="3275492"/>
            <a:ext cx="1098676" cy="1389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53DE176-DE4F-DD4E-BB4F-545ABBC96A5A}"/>
              </a:ext>
            </a:extLst>
          </p:cNvPr>
          <p:cNvSpPr txBox="1"/>
          <p:nvPr/>
        </p:nvSpPr>
        <p:spPr>
          <a:xfrm>
            <a:off x="8194597" y="3819696"/>
            <a:ext cx="1461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sunny Sahara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B5044E-6947-9C49-A0AA-24F8A03326D2}"/>
              </a:ext>
            </a:extLst>
          </p:cNvPr>
          <p:cNvSpPr txBox="1"/>
          <p:nvPr/>
        </p:nvSpPr>
        <p:spPr>
          <a:xfrm>
            <a:off x="10596823" y="4833257"/>
            <a:ext cx="1458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rainy Seattle</a:t>
            </a:r>
            <a:endParaRPr lang="en-US" dirty="0"/>
          </a:p>
        </p:txBody>
      </p:sp>
      <p:sp>
        <p:nvSpPr>
          <p:cNvPr id="13" name="Google Shape;130;p17">
            <a:extLst>
              <a:ext uri="{FF2B5EF4-FFF2-40B4-BE49-F238E27FC236}">
                <a16:creationId xmlns:a16="http://schemas.microsoft.com/office/drawing/2014/main" id="{D172B9C6-159B-C440-85B1-58E60B8BE84A}"/>
              </a:ext>
            </a:extLst>
          </p:cNvPr>
          <p:cNvSpPr txBox="1"/>
          <p:nvPr/>
        </p:nvSpPr>
        <p:spPr>
          <a:xfrm>
            <a:off x="2030872" y="4603221"/>
            <a:ext cx="6084917" cy="2186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070C0"/>
                </a:solidFill>
                <a:latin typeface="Calibri"/>
                <a:cs typeface="Calibri"/>
                <a:sym typeface="Calibri"/>
              </a:rPr>
              <a:t>More precisely:</a:t>
            </a:r>
            <a:r>
              <a:rPr lang="en-U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your data really comes from probability distribution </a:t>
            </a:r>
            <a:r>
              <a:rPr lang="en-US" sz="14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you use a compression scheme optimized for </a:t>
            </a:r>
            <a:r>
              <a:rPr lang="en-US" sz="14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U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divergence </a:t>
            </a:r>
            <a:r>
              <a:rPr lang="en-US" sz="14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D(P||Q)</a:t>
            </a:r>
            <a:r>
              <a:rPr lang="en-U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the number of extra bits you'll require </a:t>
            </a:r>
          </a:p>
          <a:p>
            <a:pPr lvl="0"/>
            <a:r>
              <a:rPr lang="en-U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store a record of each sample from </a:t>
            </a:r>
            <a:r>
              <a:rPr lang="en-US" sz="1400" b="1" dirty="0">
                <a:solidFill>
                  <a:srgbClr val="0070C0"/>
                </a:solidFill>
                <a:ea typeface="Calibri"/>
                <a:cs typeface="Calibri"/>
                <a:sym typeface="Calibri"/>
              </a:rPr>
              <a:t>P</a:t>
            </a:r>
            <a:r>
              <a:rPr lang="en-U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U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US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D(Q||P) ≥ 0</a:t>
            </a:r>
            <a:r>
              <a:rPr lang="en-U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because, by definition, it's the number of bits required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compared to the best possible. </a:t>
            </a:r>
            <a:br>
              <a:rPr lang="en-U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US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generally there's no reason to expect </a:t>
            </a:r>
            <a:r>
              <a:rPr lang="en-US" sz="14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D(P||Q)</a:t>
            </a:r>
            <a:r>
              <a:rPr lang="en-U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be equal to  </a:t>
            </a:r>
            <a:r>
              <a:rPr lang="en-US" sz="14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D(Q||P)</a:t>
            </a:r>
            <a:r>
              <a:rPr lang="en-U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79898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 txBox="1"/>
          <p:nvPr/>
        </p:nvSpPr>
        <p:spPr>
          <a:xfrm>
            <a:off x="0" y="-47953"/>
            <a:ext cx="8727313" cy="3139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Cross Entropy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entropy H(p) of a distribution </a:t>
            </a:r>
            <a:r>
              <a:rPr lang="en-US" sz="1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measures 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many bits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you need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average to encode data from </a:t>
            </a:r>
            <a:r>
              <a:rPr lang="en-US" sz="1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 the code that is optimal for </a:t>
            </a:r>
            <a:r>
              <a:rPr lang="en-US" sz="1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cross-entropy of a distribution </a:t>
            </a:r>
            <a:r>
              <a:rPr lang="en-US" sz="1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 respect to a distribution </a:t>
            </a:r>
            <a:r>
              <a:rPr lang="en-US" sz="1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measures 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many bits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you need on average to encode data from </a:t>
            </a:r>
            <a:r>
              <a:rPr lang="en-US" sz="1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 </a:t>
            </a:r>
            <a:br>
              <a:rPr lang="en-US" sz="1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the code that is optimal for </a:t>
            </a:r>
            <a:r>
              <a:rPr lang="en-US" sz="1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cross entropy for the distributions </a:t>
            </a:r>
            <a:r>
              <a:rPr lang="en-US" sz="1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1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over a given set is defined as follows:</a:t>
            </a:r>
            <a:endParaRPr/>
          </a:p>
        </p:txBody>
      </p:sp>
      <p:pic>
        <p:nvPicPr>
          <p:cNvPr id="141" name="Google Shape;141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80171" y="3003703"/>
            <a:ext cx="5867400" cy="73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/>
          <p:nvPr/>
        </p:nvSpPr>
        <p:spPr>
          <a:xfrm>
            <a:off x="3831221" y="3875385"/>
            <a:ext cx="216446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H(p) – entropy of p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6460604" y="3875385"/>
            <a:ext cx="4512196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Kullback–Leibler divergence of q from p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D(p||q) &gt;= 0 , because it represents additional bits needed to encode data with distribution p using encoding optimal for distribution q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18"/>
          <p:cNvCxnSpPr/>
          <p:nvPr/>
        </p:nvCxnSpPr>
        <p:spPr>
          <a:xfrm rot="10800000" flipH="1">
            <a:off x="5197034" y="3495539"/>
            <a:ext cx="208345" cy="379846"/>
          </a:xfrm>
          <a:prstGeom prst="straightConnector1">
            <a:avLst/>
          </a:prstGeom>
          <a:noFill/>
          <a:ln w="222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5" name="Google Shape;145;p18"/>
          <p:cNvCxnSpPr/>
          <p:nvPr/>
        </p:nvCxnSpPr>
        <p:spPr>
          <a:xfrm rot="10800000">
            <a:off x="6864513" y="3601017"/>
            <a:ext cx="337355" cy="295399"/>
          </a:xfrm>
          <a:prstGeom prst="straightConnector1">
            <a:avLst/>
          </a:prstGeom>
          <a:noFill/>
          <a:ln w="222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46" name="Google Shape;146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80171" y="4858457"/>
            <a:ext cx="41021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0" y="4491790"/>
            <a:ext cx="720186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discrete p &amp; q: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72263" y="5986105"/>
            <a:ext cx="11620015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https://en.wikipedia.org/wiki/Cross_entropy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http://stats.stackexchange.com/questions/31985/definition-and-origin-of-cross-entropy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https://www.reddit.com/r/MachineLearning/comments/3klqdh/q_whats_the_difference_between_crossentropy_and/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https://jamesmccaffrey.wordpress.com/2013/11/05/why-you-should-use-cross-entropy-error-instead-of-classification-error-or-mean-squared-error-for-neural-network-classifier-training/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1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360352" y="1070494"/>
            <a:ext cx="2667638" cy="625427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6740323" y="74345"/>
            <a:ext cx="5451677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… the output vector represents a probability distribution, and cross-entropy indicates the distance between what the network believes this distribution should be, and what the teacher says it should be …</a:t>
            </a:r>
            <a:endParaRPr sz="16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… You should use the cost function that matches your output units and your probabilistic modeling assumptions. For a multi-class classification, that means a softmax + cross entropy. For regression (assuming a Gaussian distribution) - squared error…</a:t>
            </a:r>
            <a:endParaRPr sz="16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947798" y="3895306"/>
            <a:ext cx="216446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Cross-entropy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" name="Google Shape;152;p18"/>
          <p:cNvCxnSpPr/>
          <p:nvPr/>
        </p:nvCxnSpPr>
        <p:spPr>
          <a:xfrm rot="10800000" flipH="1">
            <a:off x="1758387" y="3569408"/>
            <a:ext cx="208345" cy="379846"/>
          </a:xfrm>
          <a:prstGeom prst="straightConnector1">
            <a:avLst/>
          </a:prstGeom>
          <a:noFill/>
          <a:ln w="222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53" name="Google Shape;153;p18"/>
          <p:cNvSpPr txBox="1"/>
          <p:nvPr/>
        </p:nvSpPr>
        <p:spPr>
          <a:xfrm>
            <a:off x="6459881" y="4746751"/>
            <a:ext cx="525490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Cross-Entropy is always greater than Entropy,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because D(p||q) &gt;= 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67347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9"/>
          <p:cNvSpPr txBox="1"/>
          <p:nvPr/>
        </p:nvSpPr>
        <p:spPr>
          <a:xfrm>
            <a:off x="188259" y="2283297"/>
            <a:ext cx="5704889" cy="486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</a:rPr>
              <a:t>Entropy in Statistical Mechanics:</a:t>
            </a:r>
            <a:endParaRPr sz="2400" b="1" dirty="0">
              <a:solidFill>
                <a:schemeClr val="dk1"/>
              </a:solidFill>
            </a:endParaRPr>
          </a:p>
        </p:txBody>
      </p:sp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8802" y="2174762"/>
            <a:ext cx="2961210" cy="86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>
            <a:off x="188259" y="3011396"/>
            <a:ext cx="6898341" cy="1103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The summation is over all the possible microstates of the system.</a:t>
            </a:r>
            <a:endParaRPr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p</a:t>
            </a:r>
            <a:r>
              <a:rPr lang="en-US" sz="2000" baseline="-25000" dirty="0"/>
              <a:t>i</a:t>
            </a:r>
            <a:r>
              <a:rPr lang="en-US" sz="2000" dirty="0"/>
              <a:t> is the probability that the system is in the </a:t>
            </a:r>
            <a:r>
              <a:rPr lang="en-US" sz="2000" dirty="0" err="1"/>
              <a:t>i-th</a:t>
            </a:r>
            <a:r>
              <a:rPr lang="en-US" sz="2000" dirty="0"/>
              <a:t> microstate.</a:t>
            </a:r>
            <a:endParaRPr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k</a:t>
            </a:r>
            <a:r>
              <a:rPr lang="en-US" sz="2000" baseline="-25000" dirty="0"/>
              <a:t>B</a:t>
            </a:r>
            <a:r>
              <a:rPr lang="en-US" sz="2000" dirty="0"/>
              <a:t> is the Boltzmann constant, equal to 1.38065×10−23 J/K</a:t>
            </a:r>
            <a:endParaRPr sz="2000" dirty="0"/>
          </a:p>
        </p:txBody>
      </p:sp>
      <p:sp>
        <p:nvSpPr>
          <p:cNvPr id="161" name="Google Shape;161;p19"/>
          <p:cNvSpPr txBox="1"/>
          <p:nvPr/>
        </p:nvSpPr>
        <p:spPr>
          <a:xfrm>
            <a:off x="188259" y="4217258"/>
            <a:ext cx="7054719" cy="1743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The second law of thermodynamics states that </a:t>
            </a:r>
            <a:endParaRPr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entropy never decreases spontaneously in </a:t>
            </a:r>
            <a:r>
              <a:rPr lang="en-US" sz="2000" dirty="0">
                <a:solidFill>
                  <a:schemeClr val="dk1"/>
                </a:solidFill>
              </a:rPr>
              <a:t>an isolated system</a:t>
            </a:r>
            <a:r>
              <a:rPr lang="en-US" sz="2000" dirty="0"/>
              <a:t>. </a:t>
            </a:r>
            <a:endParaRPr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The total entropy of any system can't decrease </a:t>
            </a:r>
            <a:endParaRPr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other than by increasing the entropy of some other system.</a:t>
            </a:r>
            <a:endParaRPr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77134B-F8FF-BE4B-A75C-DB4380135002}"/>
              </a:ext>
            </a:extLst>
          </p:cNvPr>
          <p:cNvSpPr txBox="1"/>
          <p:nvPr/>
        </p:nvSpPr>
        <p:spPr>
          <a:xfrm>
            <a:off x="188259" y="692351"/>
            <a:ext cx="73017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Clausius invented the term in 1865. He had noticed that a certain ratio was constant in reversible, or ideal, heat cycles. The ratio was heat exchanged to absolute temperature. Clausius decided that the conserved ratio must correspond to a real, physical quantity, and he named it "entropy".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CEE9FB-5631-AE4E-B11A-22E06E64E3FC}"/>
              </a:ext>
            </a:extLst>
          </p:cNvPr>
          <p:cNvSpPr txBox="1"/>
          <p:nvPr/>
        </p:nvSpPr>
        <p:spPr>
          <a:xfrm>
            <a:off x="188259" y="107576"/>
            <a:ext cx="50023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dk1"/>
                </a:solidFill>
              </a:rPr>
              <a:t>Entropy in Physics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33B424-2F23-DD46-A2D2-624681B05F8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5753" y="266117"/>
            <a:ext cx="1209996" cy="14354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16664F-0736-2B49-9572-2CB03282D275}"/>
              </a:ext>
            </a:extLst>
          </p:cNvPr>
          <p:cNvSpPr txBox="1"/>
          <p:nvPr/>
        </p:nvSpPr>
        <p:spPr>
          <a:xfrm>
            <a:off x="10243977" y="1805430"/>
            <a:ext cx="1813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Rudolf Clausius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14AB24-C3E5-5E41-8047-1998B8683C8A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43977" y="2547520"/>
            <a:ext cx="1813549" cy="15112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148F7F-2BC2-1545-9B80-7158C5B21B86}"/>
              </a:ext>
            </a:extLst>
          </p:cNvPr>
          <p:cNvSpPr txBox="1"/>
          <p:nvPr/>
        </p:nvSpPr>
        <p:spPr>
          <a:xfrm>
            <a:off x="10193767" y="4162629"/>
            <a:ext cx="1913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Ludwig Boltzmann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CFF361-644B-AB40-9E6A-08490880B3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30051" y="4904719"/>
            <a:ext cx="1041400" cy="13462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F556EB7-F996-0D4D-81D9-3BC01D7D769E}"/>
              </a:ext>
            </a:extLst>
          </p:cNvPr>
          <p:cNvSpPr txBox="1"/>
          <p:nvPr/>
        </p:nvSpPr>
        <p:spPr>
          <a:xfrm>
            <a:off x="10122051" y="6354739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Josiah Willard Gibbs</a:t>
            </a:r>
          </a:p>
        </p:txBody>
      </p:sp>
    </p:spTree>
    <p:extLst>
      <p:ext uri="{BB962C8B-B14F-4D97-AF65-F5344CB8AC3E}">
        <p14:creationId xmlns:p14="http://schemas.microsoft.com/office/powerpoint/2010/main" val="315240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986</TotalTime>
  <Words>1904</Words>
  <Application>Microsoft Macintosh PowerPoint</Application>
  <PresentationFormat>Widescreen</PresentationFormat>
  <Paragraphs>161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131</cp:revision>
  <dcterms:created xsi:type="dcterms:W3CDTF">2018-10-10T17:24:46Z</dcterms:created>
  <dcterms:modified xsi:type="dcterms:W3CDTF">2021-03-11T00:38:46Z</dcterms:modified>
</cp:coreProperties>
</file>