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2"/>
  </p:notesMasterIdLst>
  <p:sldIdLst>
    <p:sldId id="256" r:id="rId2"/>
    <p:sldId id="263" r:id="rId3"/>
    <p:sldId id="295" r:id="rId4"/>
    <p:sldId id="296" r:id="rId5"/>
    <p:sldId id="291" r:id="rId6"/>
    <p:sldId id="257" r:id="rId7"/>
    <p:sldId id="258" r:id="rId8"/>
    <p:sldId id="260" r:id="rId9"/>
    <p:sldId id="293" r:id="rId10"/>
    <p:sldId id="294" r:id="rId11"/>
    <p:sldId id="298" r:id="rId12"/>
    <p:sldId id="299" r:id="rId13"/>
    <p:sldId id="301" r:id="rId14"/>
    <p:sldId id="302" r:id="rId15"/>
    <p:sldId id="303" r:id="rId16"/>
    <p:sldId id="304" r:id="rId17"/>
    <p:sldId id="300" r:id="rId18"/>
    <p:sldId id="292" r:id="rId19"/>
    <p:sldId id="262" r:id="rId20"/>
    <p:sldId id="297"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46"/>
    <p:restoredTop sz="94640"/>
  </p:normalViewPr>
  <p:slideViewPr>
    <p:cSldViewPr snapToGrid="0">
      <p:cViewPr varScale="1">
        <p:scale>
          <a:sx n="68" d="100"/>
          <a:sy n="68" d="100"/>
        </p:scale>
        <p:origin x="240" y="10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tiff"/><Relationship Id="rId4" Type="http://schemas.openxmlformats.org/officeDocument/2006/relationships/hyperlink" Target="https://www.geeksforgeeks.org/naive-bayes-classifiers/"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hyperlink" Target="https://www.youtube.com/watch?v=I4dkEALQv34" TargetMode="External"/><Relationship Id="rId7" Type="http://schemas.openxmlformats.org/officeDocument/2006/relationships/hyperlink" Target="https://www.probabilitycourse.com/chapter9/9_1_0_bayesian_inference.php" TargetMode="External"/><Relationship Id="rId2" Type="http://schemas.openxmlformats.org/officeDocument/2006/relationships/hyperlink" Target="https://www.youtube.com/watch?v=Pahyv9i_X2k" TargetMode="External"/><Relationship Id="rId1" Type="http://schemas.openxmlformats.org/officeDocument/2006/relationships/slideLayout" Target="../slideLayouts/slideLayout7.xml"/><Relationship Id="rId6" Type="http://schemas.openxmlformats.org/officeDocument/2006/relationships/hyperlink" Target="https://towardsdatascience.com/probability-concepts-explained-bayesian-inference-for-parameter-estimation-90e8930e5348" TargetMode="External"/><Relationship Id="rId5" Type="http://schemas.openxmlformats.org/officeDocument/2006/relationships/hyperlink" Target="https://en.wikipedia.org/wiki/Bayesian_inference" TargetMode="External"/><Relationship Id="rId4" Type="http://schemas.openxmlformats.org/officeDocument/2006/relationships/hyperlink" Target="https://www.youtube.com/watch?v=yvWlpwnT1nw"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image" Target="../media/image16.tiff"/><Relationship Id="rId1" Type="http://schemas.openxmlformats.org/officeDocument/2006/relationships/slideLayout" Target="../slideLayouts/slideLayout7.xml"/><Relationship Id="rId6" Type="http://schemas.openxmlformats.org/officeDocument/2006/relationships/hyperlink" Target="https://www.youtube.com/watch?v=I4dkEALQv34" TargetMode="External"/><Relationship Id="rId5" Type="http://schemas.openxmlformats.org/officeDocument/2006/relationships/image" Target="../media/image19.jpeg"/><Relationship Id="rId4" Type="http://schemas.openxmlformats.org/officeDocument/2006/relationships/image" Target="../media/image18.tiff"/></Relationships>
</file>

<file path=ppt/slides/_rels/slide1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1.tiff"/><Relationship Id="rId7" Type="http://schemas.openxmlformats.org/officeDocument/2006/relationships/image" Target="../media/image25.tiff"/><Relationship Id="rId2" Type="http://schemas.openxmlformats.org/officeDocument/2006/relationships/hyperlink" Target="https://www.youtube.com/watch?v=yvWlpwnT1nw" TargetMode="External"/><Relationship Id="rId1" Type="http://schemas.openxmlformats.org/officeDocument/2006/relationships/slideLayout" Target="../slideLayouts/slideLayout7.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Pahyv9i_X2k"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29.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hyperlink" Target="https://www.glassdoor.com/Interview/bayesian-interview-questions-SRCH_KT0,8.ht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60056" y="2848755"/>
            <a:ext cx="2180460" cy="1015663"/>
          </a:xfrm>
          <a:prstGeom prst="rect">
            <a:avLst/>
          </a:prstGeom>
          <a:noFill/>
        </p:spPr>
        <p:txBody>
          <a:bodyPr wrap="square" rtlCol="0">
            <a:spAutoFit/>
          </a:bodyPr>
          <a:lstStyle/>
          <a:p>
            <a:pPr algn="ctr"/>
            <a:r>
              <a:rPr lang="en-US" sz="1200" dirty="0"/>
              <a:t>"An Essay towards solving a Problem in the Doctrine of Chances",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538024" y="615729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spTree>
    <p:extLst>
      <p:ext uri="{BB962C8B-B14F-4D97-AF65-F5344CB8AC3E}">
        <p14:creationId xmlns:p14="http://schemas.microsoft.com/office/powerpoint/2010/main" val="333321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345301" cy="3108543"/>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a:t>
            </a:r>
            <a:br>
              <a:rPr lang="en-US" dirty="0"/>
            </a:br>
            <a:r>
              <a:rPr lang="en-US" dirty="0"/>
              <a:t>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a:t>
            </a:r>
          </a:p>
          <a:p>
            <a:r>
              <a:rPr lang="en-US" dirty="0"/>
              <a:t>to define a prior probability distribution </a:t>
            </a:r>
          </a:p>
          <a:p>
            <a:r>
              <a:rPr lang="en-US" dirty="0"/>
              <a:t>on the possible values of the unknown parameters</a:t>
            </a:r>
          </a:p>
          <a:p>
            <a:r>
              <a:rPr lang="en-US" dirty="0"/>
              <a:t>and computing their probabilities </a:t>
            </a:r>
          </a:p>
          <a:p>
            <a:r>
              <a:rPr lang="en-US" dirty="0"/>
              <a:t>(solving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a:t>
            </a:r>
          </a:p>
          <a:p>
            <a:r>
              <a:rPr lang="en-US" dirty="0"/>
              <a:t>in selecting a prior model / distribution. </a:t>
            </a:r>
          </a:p>
          <a:p>
            <a:endParaRPr lang="en-US" dirty="0"/>
          </a:p>
          <a:p>
            <a:r>
              <a:rPr lang="en-US" b="1" dirty="0">
                <a:solidFill>
                  <a:srgbClr val="FF0000"/>
                </a:solidFill>
              </a:rPr>
              <a:t>Bayesians</a:t>
            </a:r>
            <a:r>
              <a:rPr lang="en-US" dirty="0"/>
              <a:t> snap back that at least they have a model, </a:t>
            </a:r>
          </a:p>
          <a:p>
            <a:r>
              <a:rPr lang="en-US" dirty="0"/>
              <a:t>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Bayesian Inference</a:t>
            </a:r>
          </a:p>
        </p:txBody>
      </p:sp>
      <p:sp>
        <p:nvSpPr>
          <p:cNvPr id="3" name="TextBox 2">
            <a:extLst>
              <a:ext uri="{FF2B5EF4-FFF2-40B4-BE49-F238E27FC236}">
                <a16:creationId xmlns:a16="http://schemas.microsoft.com/office/drawing/2014/main" id="{1B04CBF4-4519-044C-8F82-2F79F39C8DAC}"/>
              </a:ext>
            </a:extLst>
          </p:cNvPr>
          <p:cNvSpPr txBox="1"/>
          <p:nvPr/>
        </p:nvSpPr>
        <p:spPr>
          <a:xfrm>
            <a:off x="130629" y="736270"/>
            <a:ext cx="7125194" cy="5970865"/>
          </a:xfrm>
          <a:prstGeom prst="rect">
            <a:avLst/>
          </a:prstGeom>
          <a:noFill/>
        </p:spPr>
        <p:txBody>
          <a:bodyPr wrap="square" rtlCol="0">
            <a:spAutoFit/>
          </a:bodyPr>
          <a:lstStyle/>
          <a:p>
            <a:r>
              <a:rPr lang="en-US" dirty="0"/>
              <a:t>Bayesian inference is a method of statistical inference </a:t>
            </a:r>
          </a:p>
          <a:p>
            <a:r>
              <a:rPr lang="en-US" dirty="0"/>
              <a:t>in which Bayes' theorem is used to update the probability</a:t>
            </a:r>
          </a:p>
          <a:p>
            <a:r>
              <a:rPr lang="en-US" dirty="0"/>
              <a:t>for a hypothesis as more evidence or information becomes available. </a:t>
            </a:r>
          </a:p>
          <a:p>
            <a:endParaRPr lang="en-US" dirty="0"/>
          </a:p>
          <a:p>
            <a:r>
              <a:rPr lang="en-US" dirty="0"/>
              <a:t>Examples of typical problems:</a:t>
            </a:r>
          </a:p>
          <a:p>
            <a:endParaRPr lang="en-US" dirty="0"/>
          </a:p>
          <a:p>
            <a:pPr marL="285750" indent="-285750">
              <a:buFont typeface="Arial" panose="020B0604020202020204" pitchFamily="34" charset="0"/>
              <a:buChar char="•"/>
            </a:pPr>
            <a:r>
              <a:rPr lang="en-US" dirty="0"/>
              <a:t>Estimate the bias of a coin. We need to estimate P(</a:t>
            </a:r>
            <a:r>
              <a:rPr lang="el-GR" dirty="0"/>
              <a:t>θ</a:t>
            </a:r>
            <a:r>
              <a:rPr lang="en-US" dirty="0"/>
              <a:t>), where </a:t>
            </a:r>
            <a:r>
              <a:rPr lang="el-GR" dirty="0"/>
              <a:t>θ</a:t>
            </a:r>
            <a:r>
              <a:rPr lang="en-US" dirty="0"/>
              <a:t> is the proportion of heads. - </a:t>
            </a:r>
            <a:r>
              <a:rPr lang="en-US" dirty="0">
                <a:hlinkClick r:id="rId2"/>
              </a:rPr>
              <a:t>https://www.youtube.com/watch?v=Pahyv9i_X2k</a:t>
            </a:r>
            <a:r>
              <a:rPr lang="en-US" dirty="0"/>
              <a:t> </a:t>
            </a:r>
          </a:p>
          <a:p>
            <a:endParaRPr lang="en-US" dirty="0"/>
          </a:p>
          <a:p>
            <a:pPr marL="285750" indent="-285750">
              <a:buFont typeface="Arial" panose="020B0604020202020204" pitchFamily="34" charset="0"/>
              <a:buChar char="•"/>
            </a:pPr>
            <a:r>
              <a:rPr lang="en-US" dirty="0"/>
              <a:t>We have 50 data samples x</a:t>
            </a:r>
            <a:r>
              <a:rPr lang="en-US" baseline="-25000" dirty="0"/>
              <a:t>1</a:t>
            </a:r>
            <a:r>
              <a:rPr lang="en-US" dirty="0"/>
              <a:t> .. x</a:t>
            </a:r>
            <a:r>
              <a:rPr lang="en-US" baseline="-25000" dirty="0"/>
              <a:t>50</a:t>
            </a:r>
            <a:r>
              <a:rPr lang="en-US" dirty="0"/>
              <a:t> which presumably follow exponential probability distribution </a:t>
            </a:r>
            <a:r>
              <a:rPr lang="el-GR" b="1" dirty="0"/>
              <a:t>λ</a:t>
            </a:r>
            <a:r>
              <a:rPr lang="en-US" b="1" dirty="0"/>
              <a:t>e</a:t>
            </a:r>
            <a:r>
              <a:rPr lang="en-US" b="1" baseline="30000" dirty="0"/>
              <a:t>-</a:t>
            </a:r>
            <a:r>
              <a:rPr lang="el-GR" b="1" baseline="30000" dirty="0"/>
              <a:t>λ</a:t>
            </a:r>
            <a:r>
              <a:rPr lang="en-US" b="1" baseline="30000" dirty="0"/>
              <a:t>x</a:t>
            </a:r>
            <a:r>
              <a:rPr lang="en-US" dirty="0"/>
              <a:t> . Estimate </a:t>
            </a:r>
            <a:r>
              <a:rPr lang="el-GR" b="1" dirty="0"/>
              <a:t>λ</a:t>
            </a:r>
            <a:r>
              <a:rPr lang="en-US" dirty="0"/>
              <a:t> . - </a:t>
            </a:r>
            <a:r>
              <a:rPr lang="en-US" dirty="0">
                <a:hlinkClick r:id="rId3"/>
              </a:rPr>
              <a:t>https://www.youtube.com/watch?v=I4dkEALQv34</a:t>
            </a:r>
            <a:r>
              <a:rPr lang="en-US" dirty="0"/>
              <a:t> </a:t>
            </a:r>
          </a:p>
          <a:p>
            <a:endParaRPr lang="en-US" dirty="0"/>
          </a:p>
          <a:p>
            <a:pPr marL="285750" indent="-285750">
              <a:buFont typeface="Arial" panose="020B0604020202020204" pitchFamily="34" charset="0"/>
              <a:buChar char="•"/>
            </a:pPr>
            <a:r>
              <a:rPr lang="en-US" dirty="0"/>
              <a:t>We have sample of 10 children, 3 of them are literate (can read). We need to evaluate number of children who can read in the population. We presume that children are independent, that population is uniform, etc. We can use binomial distribution. - </a:t>
            </a:r>
            <a:r>
              <a:rPr lang="en-US" dirty="0">
                <a:hlinkClick r:id="rId4"/>
              </a:rPr>
              <a:t>https://www.youtube.com/watch?v=yvWlpwnT1nw</a:t>
            </a:r>
            <a:r>
              <a:rPr lang="en-US" dirty="0"/>
              <a:t> </a:t>
            </a:r>
          </a:p>
          <a:p>
            <a:endParaRPr lang="en-US" dirty="0"/>
          </a:p>
          <a:p>
            <a:pPr marL="285750" indent="-285750">
              <a:buFont typeface="Arial" panose="020B0604020202020204" pitchFamily="34" charset="0"/>
              <a:buChar char="•"/>
            </a:pPr>
            <a:r>
              <a:rPr lang="en-US" dirty="0"/>
              <a:t>We have 100 damaged flash drives which is a sample of much bigger set.</a:t>
            </a:r>
            <a:br>
              <a:rPr lang="en-US" dirty="0"/>
            </a:br>
            <a:r>
              <a:rPr lang="en-US" dirty="0"/>
              <a:t>80% of these damaged drives have coffee stains on them.</a:t>
            </a:r>
            <a:br>
              <a:rPr lang="en-US" dirty="0"/>
            </a:br>
            <a:r>
              <a:rPr lang="en-US" dirty="0"/>
              <a:t>Estimate probability (and credible interval) that coffee is causing the damage?</a:t>
            </a:r>
          </a:p>
          <a:p>
            <a:endParaRPr lang="en-US" dirty="0"/>
          </a:p>
          <a:p>
            <a:endParaRPr lang="en-US" dirty="0"/>
          </a:p>
          <a:p>
            <a:pPr marL="285750" indent="-285750">
              <a:buFont typeface="Arial" panose="020B0604020202020204" pitchFamily="34" charset="0"/>
              <a:buChar char="•"/>
            </a:pPr>
            <a:r>
              <a:rPr lang="en-US" sz="1200" dirty="0">
                <a:hlinkClick r:id="rId5"/>
              </a:rPr>
              <a:t>https://en.wikipedia.org/wiki/Bayesian_inference</a:t>
            </a:r>
            <a:r>
              <a:rPr lang="en-US" sz="1200" dirty="0"/>
              <a:t> </a:t>
            </a:r>
          </a:p>
          <a:p>
            <a:pPr marL="285750" indent="-285750">
              <a:buFont typeface="Arial" panose="020B0604020202020204" pitchFamily="34" charset="0"/>
              <a:buChar char="•"/>
            </a:pPr>
            <a:r>
              <a:rPr lang="en-US" sz="1200" dirty="0">
                <a:hlinkClick r:id="rId6"/>
              </a:rPr>
              <a:t>https://towardsdatascience.com/probability-concepts-explained-bayesian-inference-for-parameter-estimation-90e8930e5348</a:t>
            </a:r>
            <a:r>
              <a:rPr lang="en-US" sz="1200" dirty="0"/>
              <a:t> </a:t>
            </a:r>
          </a:p>
          <a:p>
            <a:pPr marL="285750" indent="-285750">
              <a:buFont typeface="Arial" panose="020B0604020202020204" pitchFamily="34" charset="0"/>
              <a:buChar char="•"/>
            </a:pPr>
            <a:r>
              <a:rPr lang="en-US" sz="1200" dirty="0">
                <a:hlinkClick r:id="rId7"/>
              </a:rPr>
              <a:t>https://www.probabilitycourse.com/chapter9/9_1_0_bayesian_inference.php</a:t>
            </a:r>
            <a:r>
              <a:rPr lang="en-US" sz="1200" dirty="0"/>
              <a:t> </a:t>
            </a:r>
          </a:p>
          <a:p>
            <a:pPr marL="285750" indent="-285750">
              <a:buFont typeface="Arial" panose="020B0604020202020204" pitchFamily="34" charset="0"/>
              <a:buChar char="•"/>
            </a:pPr>
            <a:r>
              <a:rPr lang="en-US" sz="1200" dirty="0"/>
              <a:t>--</a:t>
            </a:r>
          </a:p>
          <a:p>
            <a:endParaRPr lang="en-US" dirty="0"/>
          </a:p>
        </p:txBody>
      </p:sp>
      <p:pic>
        <p:nvPicPr>
          <p:cNvPr id="1026" name="Picture 2" descr="Example of Bayesian inference with a prior distribution, a posterior... |  Download Scientific Diagram">
            <a:extLst>
              <a:ext uri="{FF2B5EF4-FFF2-40B4-BE49-F238E27FC236}">
                <a16:creationId xmlns:a16="http://schemas.microsoft.com/office/drawing/2014/main" id="{52EBAB0B-4DA4-B648-A32C-113FC45C1799}"/>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l="15843" r="15195"/>
          <a:stretch/>
        </p:blipFill>
        <p:spPr bwMode="auto">
          <a:xfrm>
            <a:off x="8407730" y="299182"/>
            <a:ext cx="3503220" cy="1600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0B03AF5-0ABE-D24C-BD4E-D703BB877028}"/>
              </a:ext>
            </a:extLst>
          </p:cNvPr>
          <p:cNvSpPr txBox="1"/>
          <p:nvPr/>
        </p:nvSpPr>
        <p:spPr>
          <a:xfrm>
            <a:off x="5522026" y="37572"/>
            <a:ext cx="2576945" cy="307777"/>
          </a:xfrm>
          <a:prstGeom prst="rect">
            <a:avLst/>
          </a:prstGeom>
          <a:noFill/>
        </p:spPr>
        <p:txBody>
          <a:bodyPr wrap="square" rtlCol="0">
            <a:spAutoFit/>
          </a:bodyPr>
          <a:lstStyle/>
          <a:p>
            <a:r>
              <a:rPr lang="en-US" dirty="0"/>
              <a:t>Page Under Construction</a:t>
            </a:r>
          </a:p>
        </p:txBody>
      </p:sp>
    </p:spTree>
    <p:extLst>
      <p:ext uri="{BB962C8B-B14F-4D97-AF65-F5344CB8AC3E}">
        <p14:creationId xmlns:p14="http://schemas.microsoft.com/office/powerpoint/2010/main" val="40197571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1 - exponential</a:t>
            </a:r>
          </a:p>
        </p:txBody>
      </p:sp>
      <p:pic>
        <p:nvPicPr>
          <p:cNvPr id="4" name="Picture 3">
            <a:extLst>
              <a:ext uri="{FF2B5EF4-FFF2-40B4-BE49-F238E27FC236}">
                <a16:creationId xmlns:a16="http://schemas.microsoft.com/office/drawing/2014/main" id="{F89887AE-03E3-D84A-896C-B4E9A7411A9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721927" y="37572"/>
            <a:ext cx="3500526" cy="2804236"/>
          </a:xfrm>
          <a:prstGeom prst="rect">
            <a:avLst/>
          </a:prstGeom>
        </p:spPr>
      </p:pic>
      <p:pic>
        <p:nvPicPr>
          <p:cNvPr id="7" name="Picture 6">
            <a:extLst>
              <a:ext uri="{FF2B5EF4-FFF2-40B4-BE49-F238E27FC236}">
                <a16:creationId xmlns:a16="http://schemas.microsoft.com/office/drawing/2014/main" id="{DF32C525-381C-F041-BE86-097D8747726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721927" y="3336799"/>
            <a:ext cx="1604817" cy="1214914"/>
          </a:xfrm>
          <a:prstGeom prst="rect">
            <a:avLst/>
          </a:prstGeom>
        </p:spPr>
      </p:pic>
      <p:sp>
        <p:nvSpPr>
          <p:cNvPr id="8" name="TextBox 7">
            <a:extLst>
              <a:ext uri="{FF2B5EF4-FFF2-40B4-BE49-F238E27FC236}">
                <a16:creationId xmlns:a16="http://schemas.microsoft.com/office/drawing/2014/main" id="{8F80D991-C076-6145-9149-D86D17FCC03E}"/>
              </a:ext>
            </a:extLst>
          </p:cNvPr>
          <p:cNvSpPr txBox="1"/>
          <p:nvPr/>
        </p:nvSpPr>
        <p:spPr>
          <a:xfrm>
            <a:off x="7472190" y="3663788"/>
            <a:ext cx="2322974" cy="461665"/>
          </a:xfrm>
          <a:prstGeom prst="rect">
            <a:avLst/>
          </a:prstGeom>
          <a:noFill/>
        </p:spPr>
        <p:txBody>
          <a:bodyPr wrap="square" rtlCol="0">
            <a:spAutoFit/>
          </a:bodyPr>
          <a:lstStyle/>
          <a:p>
            <a:r>
              <a:rPr lang="en-US" sz="1200" dirty="0"/>
              <a:t>Step 2 – generated 1000 values (prior distribution)</a:t>
            </a:r>
          </a:p>
        </p:txBody>
      </p:sp>
      <p:pic>
        <p:nvPicPr>
          <p:cNvPr id="10" name="Picture 9">
            <a:extLst>
              <a:ext uri="{FF2B5EF4-FFF2-40B4-BE49-F238E27FC236}">
                <a16:creationId xmlns:a16="http://schemas.microsoft.com/office/drawing/2014/main" id="{584CDA89-CD45-1C4C-85D6-A9B5DD35AF3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21927" y="4925286"/>
            <a:ext cx="1518644" cy="1214915"/>
          </a:xfrm>
          <a:prstGeom prst="rect">
            <a:avLst/>
          </a:prstGeom>
        </p:spPr>
      </p:pic>
      <p:sp>
        <p:nvSpPr>
          <p:cNvPr id="12" name="TextBox 11">
            <a:extLst>
              <a:ext uri="{FF2B5EF4-FFF2-40B4-BE49-F238E27FC236}">
                <a16:creationId xmlns:a16="http://schemas.microsoft.com/office/drawing/2014/main" id="{346D33D7-2EFA-7746-AAAE-40E0D7749D75}"/>
              </a:ext>
            </a:extLst>
          </p:cNvPr>
          <p:cNvSpPr txBox="1"/>
          <p:nvPr/>
        </p:nvSpPr>
        <p:spPr>
          <a:xfrm>
            <a:off x="7588964" y="5205612"/>
            <a:ext cx="2322974" cy="461665"/>
          </a:xfrm>
          <a:prstGeom prst="rect">
            <a:avLst/>
          </a:prstGeom>
          <a:noFill/>
        </p:spPr>
        <p:txBody>
          <a:bodyPr wrap="square" rtlCol="0">
            <a:spAutoFit/>
          </a:bodyPr>
          <a:lstStyle/>
          <a:p>
            <a:r>
              <a:rPr lang="en-US" sz="1200" dirty="0"/>
              <a:t>Step 4 – posterior distribution,</a:t>
            </a:r>
          </a:p>
          <a:p>
            <a:r>
              <a:rPr lang="en-US" sz="1200" dirty="0"/>
              <a:t>confidence interval</a:t>
            </a:r>
          </a:p>
        </p:txBody>
      </p:sp>
      <p:pic>
        <p:nvPicPr>
          <p:cNvPr id="11" name="Picture 10">
            <a:extLst>
              <a:ext uri="{FF2B5EF4-FFF2-40B4-BE49-F238E27FC236}">
                <a16:creationId xmlns:a16="http://schemas.microsoft.com/office/drawing/2014/main" id="{F8103F5D-D3A6-0E4D-8566-DB6C456E59D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938" y="4925286"/>
            <a:ext cx="1518644" cy="1264781"/>
          </a:xfrm>
          <a:prstGeom prst="rect">
            <a:avLst/>
          </a:prstGeom>
        </p:spPr>
      </p:pic>
      <p:sp>
        <p:nvSpPr>
          <p:cNvPr id="14" name="TextBox 13">
            <a:extLst>
              <a:ext uri="{FF2B5EF4-FFF2-40B4-BE49-F238E27FC236}">
                <a16:creationId xmlns:a16="http://schemas.microsoft.com/office/drawing/2014/main" id="{DED664E5-2E16-1C45-BDD3-190F3A074F5D}"/>
              </a:ext>
            </a:extLst>
          </p:cNvPr>
          <p:cNvSpPr txBox="1"/>
          <p:nvPr/>
        </p:nvSpPr>
        <p:spPr>
          <a:xfrm>
            <a:off x="-14817" y="680867"/>
            <a:ext cx="5591298" cy="5509200"/>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exponential </a:t>
            </a:r>
          </a:p>
          <a:p>
            <a:r>
              <a:rPr lang="en-US" sz="1200" dirty="0"/>
              <a:t>probability distribution </a:t>
            </a:r>
            <a:r>
              <a:rPr lang="el-GR" sz="1200" b="1" dirty="0">
                <a:solidFill>
                  <a:srgbClr val="00B050"/>
                </a:solidFill>
              </a:rPr>
              <a:t>λ</a:t>
            </a:r>
            <a:r>
              <a:rPr lang="en-US" sz="1200" b="1" dirty="0">
                <a:solidFill>
                  <a:srgbClr val="00B050"/>
                </a:solidFill>
              </a:rPr>
              <a:t>e</a:t>
            </a:r>
            <a:r>
              <a:rPr lang="en-US" sz="1200" b="1" baseline="30000" dirty="0">
                <a:solidFill>
                  <a:srgbClr val="00B050"/>
                </a:solidFill>
              </a:rPr>
              <a:t>-</a:t>
            </a:r>
            <a:r>
              <a:rPr lang="el-GR" sz="1200" b="1" baseline="30000" dirty="0">
                <a:solidFill>
                  <a:srgbClr val="00B050"/>
                </a:solidFill>
              </a:rPr>
              <a:t>λ</a:t>
            </a:r>
            <a:r>
              <a:rPr lang="en-US" sz="1200" b="1" baseline="30000" dirty="0">
                <a:solidFill>
                  <a:srgbClr val="00B050"/>
                </a:solidFill>
              </a:rPr>
              <a:t>x</a:t>
            </a:r>
            <a:r>
              <a:rPr lang="en-US" sz="1200" dirty="0"/>
              <a:t> . </a:t>
            </a:r>
          </a:p>
          <a:p>
            <a:r>
              <a:rPr lang="en-US" sz="1200" dirty="0"/>
              <a:t>Please estimate the value of </a:t>
            </a:r>
            <a:r>
              <a:rPr lang="el-GR" sz="1200" b="1" dirty="0">
                <a:solidFill>
                  <a:srgbClr val="00B050"/>
                </a:solidFill>
              </a:rPr>
              <a:t>λ</a:t>
            </a:r>
            <a:r>
              <a:rPr lang="en-US" sz="1200" dirty="0"/>
              <a:t> . </a:t>
            </a:r>
          </a:p>
          <a:p>
            <a:endParaRPr lang="en-US" sz="1200" dirty="0"/>
          </a:p>
          <a:p>
            <a:r>
              <a:rPr lang="en-US" sz="1200" dirty="0"/>
              <a:t>- </a:t>
            </a:r>
            <a:r>
              <a:rPr lang="en-US" sz="1200" dirty="0">
                <a:hlinkClick r:id="rId6"/>
              </a:rPr>
              <a:t>https://www.youtube.com/watch?v=I4dkEALQv34</a:t>
            </a:r>
            <a:r>
              <a:rPr lang="en-US" sz="1200" dirty="0"/>
              <a:t> </a:t>
            </a:r>
          </a:p>
          <a:p>
            <a:endParaRPr lang="en-US" sz="1200" dirty="0"/>
          </a:p>
          <a:p>
            <a:r>
              <a:rPr lang="en-US" sz="1200" dirty="0"/>
              <a:t>Method 1: "Point Estimation" = "Maximum Likelihood Estimation".</a:t>
            </a:r>
          </a:p>
          <a:p>
            <a:r>
              <a:rPr lang="el-GR" sz="1200" b="1" dirty="0">
                <a:solidFill>
                  <a:srgbClr val="00B050"/>
                </a:solidFill>
              </a:rPr>
              <a:t>λ</a:t>
            </a:r>
            <a:r>
              <a:rPr lang="en-US" sz="1200" b="1" dirty="0">
                <a:solidFill>
                  <a:srgbClr val="00B050"/>
                </a:solidFill>
              </a:rPr>
              <a:t> = 1/m, </a:t>
            </a:r>
          </a:p>
          <a:p>
            <a:r>
              <a:rPr lang="en-US" sz="1200" dirty="0"/>
              <a:t>where m = mean(x</a:t>
            </a:r>
            <a:r>
              <a:rPr lang="en-US" sz="1200" baseline="-25000" dirty="0"/>
              <a:t>i</a:t>
            </a:r>
            <a:r>
              <a:rPr lang="en-US" sz="1200" dirty="0"/>
              <a:t>) = (x</a:t>
            </a:r>
            <a:r>
              <a:rPr lang="en-US" sz="1200" baseline="-25000" dirty="0"/>
              <a:t>1</a:t>
            </a:r>
            <a:r>
              <a:rPr lang="en-US" sz="1200" dirty="0"/>
              <a:t> + ...+ x</a:t>
            </a:r>
            <a:r>
              <a:rPr lang="en-US" sz="1200" baseline="-25000" dirty="0"/>
              <a:t>50</a:t>
            </a:r>
            <a:r>
              <a:rPr lang="en-US" sz="1200" dirty="0"/>
              <a:t>)/50</a:t>
            </a:r>
          </a:p>
          <a:p>
            <a:endParaRPr lang="en-US" sz="1200" dirty="0"/>
          </a:p>
          <a:p>
            <a:r>
              <a:rPr lang="en-US" sz="1200" dirty="0"/>
              <a:t>Method 2: Interval Estimation = "Bayesian Inference".</a:t>
            </a:r>
          </a:p>
          <a:p>
            <a:r>
              <a:rPr lang="en-US" sz="1200" dirty="0"/>
              <a:t>  Estimate a distribution of possible values of  </a:t>
            </a:r>
            <a:r>
              <a:rPr lang="el-GR" sz="1200" b="1" dirty="0">
                <a:solidFill>
                  <a:srgbClr val="00B050"/>
                </a:solidFill>
              </a:rPr>
              <a:t>λ</a:t>
            </a:r>
            <a:r>
              <a:rPr lang="en-US" sz="1200" dirty="0"/>
              <a:t> .</a:t>
            </a:r>
          </a:p>
          <a:p>
            <a:endParaRPr lang="en-US" sz="1200" dirty="0"/>
          </a:p>
          <a:p>
            <a:r>
              <a:rPr lang="en-US" sz="1200" dirty="0"/>
              <a:t>Step 1 – assume a </a:t>
            </a:r>
            <a:r>
              <a:rPr lang="en-US" sz="1200" dirty="0">
                <a:solidFill>
                  <a:srgbClr val="FF0000"/>
                </a:solidFill>
              </a:rPr>
              <a:t>prior distribution</a:t>
            </a:r>
            <a:r>
              <a:rPr lang="en-US" sz="1200" dirty="0"/>
              <a:t> of </a:t>
            </a:r>
            <a:r>
              <a:rPr lang="el-GR" sz="1200" b="1" dirty="0">
                <a:solidFill>
                  <a:srgbClr val="00B050"/>
                </a:solidFill>
              </a:rPr>
              <a:t>λ</a:t>
            </a:r>
            <a:r>
              <a:rPr lang="en-US" sz="1200" b="1" dirty="0">
                <a:solidFill>
                  <a:srgbClr val="00B050"/>
                </a:solidFill>
              </a:rPr>
              <a:t> </a:t>
            </a:r>
            <a:r>
              <a:rPr lang="en-US" sz="1200" dirty="0"/>
              <a:t>without accounting for observed data. For example, make it flat uniform in range (1,6).</a:t>
            </a:r>
          </a:p>
          <a:p>
            <a:endParaRPr lang="en-US" sz="1200" dirty="0"/>
          </a:p>
          <a:p>
            <a:r>
              <a:rPr lang="en-US" sz="1200" dirty="0"/>
              <a:t>Step2 – generate random </a:t>
            </a:r>
            <a:r>
              <a:rPr lang="el-GR" sz="1200" b="1" dirty="0">
                <a:solidFill>
                  <a:srgbClr val="00B050"/>
                </a:solidFill>
              </a:rPr>
              <a:t>λ</a:t>
            </a:r>
            <a:r>
              <a:rPr lang="en-US" sz="1200" b="1" dirty="0">
                <a:solidFill>
                  <a:srgbClr val="00B050"/>
                </a:solidFill>
              </a:rPr>
              <a:t> </a:t>
            </a:r>
            <a:r>
              <a:rPr lang="en-US" sz="1200" dirty="0"/>
              <a:t>values following the </a:t>
            </a:r>
            <a:r>
              <a:rPr lang="en-US" sz="1200" dirty="0">
                <a:solidFill>
                  <a:srgbClr val="FF0000"/>
                </a:solidFill>
              </a:rPr>
              <a:t>prior distribution</a:t>
            </a:r>
            <a:r>
              <a:rPr lang="en-US" sz="1200" dirty="0"/>
              <a:t> .</a:t>
            </a:r>
          </a:p>
          <a:p>
            <a:r>
              <a:rPr lang="en-US" sz="1200" dirty="0"/>
              <a:t>  generate thousand random values </a:t>
            </a:r>
            <a:r>
              <a:rPr lang="el-GR" sz="1200" b="1" dirty="0">
                <a:solidFill>
                  <a:srgbClr val="00B050"/>
                </a:solidFill>
              </a:rPr>
              <a:t>λ</a:t>
            </a:r>
            <a:r>
              <a:rPr lang="en-US" sz="1200" b="1" dirty="0">
                <a:solidFill>
                  <a:srgbClr val="00B050"/>
                </a:solidFill>
              </a:rPr>
              <a:t> </a:t>
            </a:r>
            <a:r>
              <a:rPr lang="en-US" sz="1200" dirty="0"/>
              <a:t>in range (1,6)</a:t>
            </a:r>
          </a:p>
          <a:p>
            <a:endParaRPr lang="en-US" sz="1200" dirty="0"/>
          </a:p>
          <a:p>
            <a:r>
              <a:rPr lang="en-US" sz="1200" dirty="0"/>
              <a:t>Step 3 – compute the likelihood of each generated </a:t>
            </a:r>
            <a:r>
              <a:rPr lang="el-GR" sz="1200" b="1" dirty="0">
                <a:solidFill>
                  <a:srgbClr val="00B050"/>
                </a:solidFill>
              </a:rPr>
              <a:t>λ</a:t>
            </a:r>
            <a:r>
              <a:rPr lang="en-US" sz="1200" dirty="0"/>
              <a:t> . </a:t>
            </a:r>
          </a:p>
          <a:p>
            <a:r>
              <a:rPr lang="en-US" sz="1200" dirty="0"/>
              <a:t>      L(</a:t>
            </a:r>
            <a:r>
              <a:rPr lang="el-GR" sz="1200" b="1" dirty="0">
                <a:solidFill>
                  <a:srgbClr val="00B050"/>
                </a:solidFill>
              </a:rPr>
              <a:t>λ</a:t>
            </a:r>
            <a:r>
              <a:rPr lang="en-US" sz="1200" b="1" baseline="-25000" dirty="0">
                <a:solidFill>
                  <a:srgbClr val="00B050"/>
                </a:solidFill>
              </a:rPr>
              <a:t>n</a:t>
            </a:r>
            <a:r>
              <a:rPr lang="en-US" sz="1200" dirty="0">
                <a:solidFill>
                  <a:schemeClr val="tx1"/>
                </a:solidFill>
              </a:rPr>
              <a:t>) = The probability of observing data x</a:t>
            </a:r>
            <a:r>
              <a:rPr lang="en-US" sz="1200" baseline="-25000" dirty="0">
                <a:solidFill>
                  <a:schemeClr val="tx1"/>
                </a:solidFill>
              </a:rPr>
              <a:t>1</a:t>
            </a:r>
            <a:r>
              <a:rPr lang="en-US" sz="1200" dirty="0">
                <a:solidFill>
                  <a:schemeClr val="tx1"/>
                </a:solidFill>
              </a:rPr>
              <a:t>...x</a:t>
            </a:r>
            <a:r>
              <a:rPr lang="en-US" sz="1200" baseline="-25000" dirty="0">
                <a:solidFill>
                  <a:schemeClr val="tx1"/>
                </a:solidFill>
              </a:rPr>
              <a:t>50</a:t>
            </a:r>
            <a:r>
              <a:rPr lang="en-US" sz="1200" dirty="0">
                <a:solidFill>
                  <a:schemeClr val="tx1"/>
                </a:solidFill>
              </a:rPr>
              <a:t> and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endParaRPr lang="en-US" sz="1200" dirty="0">
              <a:solidFill>
                <a:schemeClr val="tx1"/>
              </a:solidFill>
            </a:endParaRPr>
          </a:p>
          <a:p>
            <a:r>
              <a:rPr lang="en-US" sz="1200" dirty="0"/>
              <a:t>      =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a:t>
            </a:r>
          </a:p>
          <a:p>
            <a:r>
              <a:rPr lang="en-US" sz="1200" dirty="0"/>
              <a:t>   where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1/(6-1) = 0.2</a:t>
            </a:r>
          </a:p>
          <a:p>
            <a:r>
              <a:rPr lang="en-US" sz="1200" dirty="0"/>
              <a:t>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 </a:t>
            </a:r>
            <a:r>
              <a:rPr lang="el-GR" sz="1200" dirty="0">
                <a:solidFill>
                  <a:schemeClr val="tx1"/>
                </a:solidFill>
              </a:rPr>
              <a:t>λ</a:t>
            </a:r>
            <a:r>
              <a:rPr lang="en-US" sz="1200" baseline="-25000" dirty="0">
                <a:solidFill>
                  <a:schemeClr val="tx1"/>
                </a:solidFill>
              </a:rPr>
              <a:t>n </a:t>
            </a:r>
            <a:r>
              <a:rPr lang="en-US" sz="1200" dirty="0">
                <a:solidFill>
                  <a:schemeClr val="tx1"/>
                </a:solidFill>
              </a:rPr>
              <a:t>e</a:t>
            </a:r>
            <a:r>
              <a:rPr lang="en-US" sz="1200" baseline="30000" dirty="0">
                <a:solidFill>
                  <a:schemeClr val="tx1"/>
                </a:solidFill>
              </a:rPr>
              <a:t>-</a:t>
            </a:r>
            <a:r>
              <a:rPr lang="el-GR" sz="1200" baseline="30000" dirty="0">
                <a:solidFill>
                  <a:schemeClr val="tx1"/>
                </a:solidFill>
              </a:rPr>
              <a:t>λ</a:t>
            </a:r>
            <a:r>
              <a:rPr lang="en-US" sz="1200" baseline="-25000" dirty="0" err="1">
                <a:solidFill>
                  <a:schemeClr val="tx1"/>
                </a:solidFill>
              </a:rPr>
              <a:t>n</a:t>
            </a:r>
            <a:r>
              <a:rPr lang="en-US" sz="1200" baseline="30000" dirty="0" err="1">
                <a:solidFill>
                  <a:schemeClr val="tx1"/>
                </a:solidFill>
              </a:rPr>
              <a:t>x</a:t>
            </a:r>
            <a:r>
              <a:rPr lang="en-US" sz="1200" baseline="-25000" dirty="0" err="1">
                <a:solidFill>
                  <a:schemeClr val="tx1"/>
                </a:solidFill>
              </a:rPr>
              <a:t>i</a:t>
            </a:r>
            <a:r>
              <a:rPr lang="en-US" sz="1200" baseline="-25000" dirty="0">
                <a:solidFill>
                  <a:schemeClr val="tx1"/>
                </a:solidFill>
              </a:rPr>
              <a:t> </a:t>
            </a:r>
            <a:r>
              <a:rPr lang="en-US" sz="1200" dirty="0">
                <a:solidFill>
                  <a:schemeClr val="tx1"/>
                </a:solidFill>
              </a:rPr>
              <a:t>dx</a:t>
            </a:r>
            <a:endParaRPr lang="en-US" sz="1200" dirty="0"/>
          </a:p>
          <a:p>
            <a:endParaRPr lang="en-US" sz="1200" dirty="0"/>
          </a:p>
          <a:p>
            <a:r>
              <a:rPr lang="en-US" sz="1200" dirty="0"/>
              <a:t>Step 4 – draw the posterior distribution of </a:t>
            </a:r>
            <a:r>
              <a:rPr lang="el-GR" sz="1200" b="1" dirty="0">
                <a:solidFill>
                  <a:srgbClr val="00B050"/>
                </a:solidFill>
              </a:rPr>
              <a:t>λ</a:t>
            </a:r>
            <a:r>
              <a:rPr lang="en-US" sz="1200" dirty="0"/>
              <a:t> .  </a:t>
            </a:r>
            <a:r>
              <a:rPr lang="en-US" sz="1200" dirty="0" err="1"/>
              <a:t>Pr</a:t>
            </a:r>
            <a:r>
              <a:rPr lang="en-US" sz="1200" dirty="0"/>
              <a:t>(</a:t>
            </a:r>
            <a:r>
              <a:rPr lang="el-GR" sz="1200" b="1" dirty="0">
                <a:solidFill>
                  <a:srgbClr val="00B050"/>
                </a:solidFill>
              </a:rPr>
              <a:t>λ</a:t>
            </a:r>
            <a:r>
              <a:rPr lang="en-US" sz="1200" dirty="0"/>
              <a:t> | observed data)</a:t>
            </a:r>
          </a:p>
          <a:p>
            <a:r>
              <a:rPr lang="en-US" dirty="0"/>
              <a:t>   Posterior probability </a:t>
            </a:r>
            <a:r>
              <a:rPr lang="en-US" dirty="0" err="1"/>
              <a:t>Pr</a:t>
            </a:r>
            <a:r>
              <a:rPr lang="en-US" dirty="0"/>
              <a:t> (</a:t>
            </a:r>
            <a:r>
              <a:rPr lang="el-GR" dirty="0">
                <a:solidFill>
                  <a:schemeClr val="tx1"/>
                </a:solidFill>
              </a:rPr>
              <a:t>λ</a:t>
            </a:r>
            <a:r>
              <a:rPr lang="en-US" dirty="0">
                <a:solidFill>
                  <a:schemeClr val="tx1"/>
                </a:solidFill>
              </a:rPr>
              <a:t> = </a:t>
            </a:r>
            <a:r>
              <a:rPr lang="el-GR" dirty="0">
                <a:solidFill>
                  <a:schemeClr val="tx1"/>
                </a:solidFill>
              </a:rPr>
              <a:t>λ</a:t>
            </a:r>
            <a:r>
              <a:rPr lang="en-US" baseline="-25000" dirty="0">
                <a:solidFill>
                  <a:schemeClr val="tx1"/>
                </a:solidFill>
              </a:rPr>
              <a:t>n</a:t>
            </a:r>
            <a:r>
              <a:rPr lang="en-US" dirty="0"/>
              <a:t> | data)  is proportional to L(</a:t>
            </a:r>
            <a:r>
              <a:rPr lang="el-GR" b="1" dirty="0">
                <a:solidFill>
                  <a:srgbClr val="00B050"/>
                </a:solidFill>
              </a:rPr>
              <a:t>λ</a:t>
            </a:r>
            <a:r>
              <a:rPr lang="en-US" b="1" baseline="-25000" dirty="0">
                <a:solidFill>
                  <a:srgbClr val="00B050"/>
                </a:solidFill>
              </a:rPr>
              <a:t>n</a:t>
            </a:r>
            <a:r>
              <a:rPr lang="en-US" dirty="0">
                <a:solidFill>
                  <a:schemeClr val="tx1"/>
                </a:solidFill>
              </a:rPr>
              <a:t>) </a:t>
            </a:r>
          </a:p>
          <a:p>
            <a:endParaRPr lang="en-US" dirty="0"/>
          </a:p>
        </p:txBody>
      </p:sp>
    </p:spTree>
    <p:extLst>
      <p:ext uri="{BB962C8B-B14F-4D97-AF65-F5344CB8AC3E}">
        <p14:creationId xmlns:p14="http://schemas.microsoft.com/office/powerpoint/2010/main" val="1763970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Gaussian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4572000" cy="830997"/>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a:t>
            </a:r>
          </a:p>
          <a:p>
            <a:r>
              <a:rPr lang="en-US" sz="1200" dirty="0"/>
              <a:t>normal Gaussian distribution with some mean and sigma.</a:t>
            </a:r>
          </a:p>
          <a:p>
            <a:r>
              <a:rPr lang="en-US" sz="1200" dirty="0"/>
              <a:t>Please estimate the values of mean and sigma.</a:t>
            </a:r>
          </a:p>
        </p:txBody>
      </p:sp>
      <p:pic>
        <p:nvPicPr>
          <p:cNvPr id="5" name="Picture 4">
            <a:extLst>
              <a:ext uri="{FF2B5EF4-FFF2-40B4-BE49-F238E27FC236}">
                <a16:creationId xmlns:a16="http://schemas.microsoft.com/office/drawing/2014/main" id="{C01A3C05-4152-034C-B3E0-6C4C5778A22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2659" y="560792"/>
            <a:ext cx="5858329" cy="2514600"/>
          </a:xfrm>
          <a:prstGeom prst="rect">
            <a:avLst/>
          </a:prstGeom>
        </p:spPr>
      </p:pic>
    </p:spTree>
    <p:extLst>
      <p:ext uri="{BB962C8B-B14F-4D97-AF65-F5344CB8AC3E}">
        <p14:creationId xmlns:p14="http://schemas.microsoft.com/office/powerpoint/2010/main" val="5063993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3 – How Many Children Can Read ?</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5213268" cy="1569660"/>
          </a:xfrm>
          <a:prstGeom prst="rect">
            <a:avLst/>
          </a:prstGeom>
          <a:noFill/>
        </p:spPr>
        <p:txBody>
          <a:bodyPr wrap="square" rtlCol="0">
            <a:spAutoFit/>
          </a:bodyPr>
          <a:lstStyle/>
          <a:p>
            <a:r>
              <a:rPr lang="en-US" sz="1200" dirty="0"/>
              <a:t>We have sample of 10 children, 3 of them are literate (can read). We need to evaluate number of children who can read in the population. </a:t>
            </a:r>
          </a:p>
          <a:p>
            <a:endParaRPr lang="en-US" sz="1200" dirty="0"/>
          </a:p>
          <a:p>
            <a:r>
              <a:rPr lang="en-US" sz="1200" dirty="0"/>
              <a:t>We presume that children are independent, that population is uniform, etc. </a:t>
            </a:r>
          </a:p>
          <a:p>
            <a:r>
              <a:rPr lang="en-US" sz="1200" dirty="0"/>
              <a:t>We can use binomial distribution. </a:t>
            </a:r>
          </a:p>
          <a:p>
            <a:r>
              <a:rPr lang="en-US" sz="1200" dirty="0"/>
              <a:t>- </a:t>
            </a:r>
            <a:r>
              <a:rPr lang="en-US" sz="1200" dirty="0">
                <a:hlinkClick r:id="rId2"/>
              </a:rPr>
              <a:t>https://www.youtube.com/watch?v=yvWlpwnT1nw</a:t>
            </a:r>
            <a:r>
              <a:rPr lang="en-US" sz="1200" dirty="0"/>
              <a:t> </a:t>
            </a:r>
          </a:p>
          <a:p>
            <a:endParaRPr lang="en-US" sz="1200" dirty="0"/>
          </a:p>
          <a:p>
            <a:endParaRPr lang="en-US" sz="1200" dirty="0"/>
          </a:p>
        </p:txBody>
      </p:sp>
      <p:pic>
        <p:nvPicPr>
          <p:cNvPr id="3" name="Picture 2">
            <a:extLst>
              <a:ext uri="{FF2B5EF4-FFF2-40B4-BE49-F238E27FC236}">
                <a16:creationId xmlns:a16="http://schemas.microsoft.com/office/drawing/2014/main" id="{ED78D932-E041-E84C-A583-497021BF7E2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55534" y="2297171"/>
            <a:ext cx="2712933" cy="1987550"/>
          </a:xfrm>
          <a:prstGeom prst="rect">
            <a:avLst/>
          </a:prstGeom>
        </p:spPr>
      </p:pic>
      <p:pic>
        <p:nvPicPr>
          <p:cNvPr id="4" name="Picture 3">
            <a:extLst>
              <a:ext uri="{FF2B5EF4-FFF2-40B4-BE49-F238E27FC236}">
                <a16:creationId xmlns:a16="http://schemas.microsoft.com/office/drawing/2014/main" id="{4F66711F-3F7E-A94B-9A27-3E813592D73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55534" y="4560830"/>
            <a:ext cx="2712933" cy="1987550"/>
          </a:xfrm>
          <a:prstGeom prst="rect">
            <a:avLst/>
          </a:prstGeom>
        </p:spPr>
      </p:pic>
      <p:pic>
        <p:nvPicPr>
          <p:cNvPr id="5" name="Picture 4">
            <a:extLst>
              <a:ext uri="{FF2B5EF4-FFF2-40B4-BE49-F238E27FC236}">
                <a16:creationId xmlns:a16="http://schemas.microsoft.com/office/drawing/2014/main" id="{58937095-09E3-D34F-98FA-ACB1E792113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168650" y="2297171"/>
            <a:ext cx="2712933" cy="1987550"/>
          </a:xfrm>
          <a:prstGeom prst="rect">
            <a:avLst/>
          </a:prstGeom>
        </p:spPr>
      </p:pic>
      <p:pic>
        <p:nvPicPr>
          <p:cNvPr id="6" name="Picture 5">
            <a:extLst>
              <a:ext uri="{FF2B5EF4-FFF2-40B4-BE49-F238E27FC236}">
                <a16:creationId xmlns:a16="http://schemas.microsoft.com/office/drawing/2014/main" id="{AE9272F8-C664-3543-BB36-E2E5AFD854AB}"/>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168650" y="4562040"/>
            <a:ext cx="2711282" cy="1986340"/>
          </a:xfrm>
          <a:prstGeom prst="rect">
            <a:avLst/>
          </a:prstGeom>
        </p:spPr>
      </p:pic>
      <p:pic>
        <p:nvPicPr>
          <p:cNvPr id="7" name="Picture 6">
            <a:extLst>
              <a:ext uri="{FF2B5EF4-FFF2-40B4-BE49-F238E27FC236}">
                <a16:creationId xmlns:a16="http://schemas.microsoft.com/office/drawing/2014/main" id="{F0E58C40-B695-4B42-B615-15EE0BF59B1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096000" y="4562040"/>
            <a:ext cx="2711282" cy="1986340"/>
          </a:xfrm>
          <a:prstGeom prst="rect">
            <a:avLst/>
          </a:prstGeom>
        </p:spPr>
      </p:pic>
      <p:sp>
        <p:nvSpPr>
          <p:cNvPr id="8" name="TextBox 7">
            <a:extLst>
              <a:ext uri="{FF2B5EF4-FFF2-40B4-BE49-F238E27FC236}">
                <a16:creationId xmlns:a16="http://schemas.microsoft.com/office/drawing/2014/main" id="{518489C0-6FB3-7A4B-9A4F-307B788AC944}"/>
              </a:ext>
            </a:extLst>
          </p:cNvPr>
          <p:cNvSpPr txBox="1"/>
          <p:nvPr/>
        </p:nvSpPr>
        <p:spPr>
          <a:xfrm>
            <a:off x="6813466" y="4037610"/>
            <a:ext cx="1276350" cy="523220"/>
          </a:xfrm>
          <a:prstGeom prst="rect">
            <a:avLst/>
          </a:prstGeom>
          <a:noFill/>
        </p:spPr>
        <p:txBody>
          <a:bodyPr wrap="square" rtlCol="0">
            <a:spAutoFit/>
          </a:bodyPr>
          <a:lstStyle/>
          <a:p>
            <a:r>
              <a:rPr lang="en-US" dirty="0"/>
              <a:t>Increased Sample Size</a:t>
            </a:r>
          </a:p>
        </p:txBody>
      </p:sp>
      <p:sp>
        <p:nvSpPr>
          <p:cNvPr id="10" name="TextBox 9">
            <a:extLst>
              <a:ext uri="{FF2B5EF4-FFF2-40B4-BE49-F238E27FC236}">
                <a16:creationId xmlns:a16="http://schemas.microsoft.com/office/drawing/2014/main" id="{CD4E59FF-94DA-BE4B-A2B6-E0A0365E44BA}"/>
              </a:ext>
            </a:extLst>
          </p:cNvPr>
          <p:cNvSpPr txBox="1"/>
          <p:nvPr/>
        </p:nvSpPr>
        <p:spPr>
          <a:xfrm>
            <a:off x="9023350" y="4808480"/>
            <a:ext cx="1276350" cy="307777"/>
          </a:xfrm>
          <a:prstGeom prst="rect">
            <a:avLst/>
          </a:prstGeom>
          <a:noFill/>
        </p:spPr>
        <p:txBody>
          <a:bodyPr wrap="square" rtlCol="0">
            <a:spAutoFit/>
          </a:bodyPr>
          <a:lstStyle/>
          <a:p>
            <a:r>
              <a:rPr lang="en-US" dirty="0"/>
              <a:t>Prior</a:t>
            </a:r>
          </a:p>
        </p:txBody>
      </p:sp>
      <p:sp>
        <p:nvSpPr>
          <p:cNvPr id="11" name="TextBox 10">
            <a:extLst>
              <a:ext uri="{FF2B5EF4-FFF2-40B4-BE49-F238E27FC236}">
                <a16:creationId xmlns:a16="http://schemas.microsoft.com/office/drawing/2014/main" id="{7AA8ACDC-C4EF-1C4A-8827-C3FA843623C3}"/>
              </a:ext>
            </a:extLst>
          </p:cNvPr>
          <p:cNvSpPr txBox="1"/>
          <p:nvPr/>
        </p:nvSpPr>
        <p:spPr>
          <a:xfrm>
            <a:off x="9023350" y="5400716"/>
            <a:ext cx="1276350" cy="307777"/>
          </a:xfrm>
          <a:prstGeom prst="rect">
            <a:avLst/>
          </a:prstGeom>
          <a:noFill/>
        </p:spPr>
        <p:txBody>
          <a:bodyPr wrap="square" rtlCol="0">
            <a:spAutoFit/>
          </a:bodyPr>
          <a:lstStyle/>
          <a:p>
            <a:r>
              <a:rPr lang="en-US" dirty="0"/>
              <a:t>Likelihood</a:t>
            </a:r>
          </a:p>
        </p:txBody>
      </p:sp>
      <p:sp>
        <p:nvSpPr>
          <p:cNvPr id="12" name="TextBox 11">
            <a:extLst>
              <a:ext uri="{FF2B5EF4-FFF2-40B4-BE49-F238E27FC236}">
                <a16:creationId xmlns:a16="http://schemas.microsoft.com/office/drawing/2014/main" id="{637BD549-1D1A-324E-9F6E-1D3B226117E0}"/>
              </a:ext>
            </a:extLst>
          </p:cNvPr>
          <p:cNvSpPr txBox="1"/>
          <p:nvPr/>
        </p:nvSpPr>
        <p:spPr>
          <a:xfrm>
            <a:off x="9023350" y="5992952"/>
            <a:ext cx="1276350" cy="307777"/>
          </a:xfrm>
          <a:prstGeom prst="rect">
            <a:avLst/>
          </a:prstGeom>
          <a:noFill/>
        </p:spPr>
        <p:txBody>
          <a:bodyPr wrap="square" rtlCol="0">
            <a:spAutoFit/>
          </a:bodyPr>
          <a:lstStyle/>
          <a:p>
            <a:r>
              <a:rPr lang="en-US" dirty="0"/>
              <a:t>Posterior</a:t>
            </a:r>
          </a:p>
        </p:txBody>
      </p:sp>
    </p:spTree>
    <p:extLst>
      <p:ext uri="{BB962C8B-B14F-4D97-AF65-F5344CB8AC3E}">
        <p14:creationId xmlns:p14="http://schemas.microsoft.com/office/powerpoint/2010/main" val="25292179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4 – Coin Bias Estimation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5213268" cy="1015663"/>
          </a:xfrm>
          <a:prstGeom prst="rect">
            <a:avLst/>
          </a:prstGeom>
          <a:noFill/>
        </p:spPr>
        <p:txBody>
          <a:bodyPr wrap="square" rtlCol="0">
            <a:spAutoFit/>
          </a:bodyPr>
          <a:lstStyle/>
          <a:p>
            <a:r>
              <a:rPr lang="en-US" sz="1200" dirty="0"/>
              <a:t>Estimate the bias of a coin. </a:t>
            </a:r>
          </a:p>
          <a:p>
            <a:r>
              <a:rPr lang="en-US" sz="1200" dirty="0"/>
              <a:t>We need to estimate P(</a:t>
            </a:r>
            <a:r>
              <a:rPr lang="el-GR" sz="1200" dirty="0"/>
              <a:t>θ</a:t>
            </a:r>
            <a:r>
              <a:rPr lang="en-US" sz="1200" dirty="0"/>
              <a:t>), where </a:t>
            </a:r>
            <a:r>
              <a:rPr lang="el-GR" sz="1200" dirty="0"/>
              <a:t>θ</a:t>
            </a:r>
            <a:r>
              <a:rPr lang="en-US" sz="1200" dirty="0"/>
              <a:t> is the proportion of heads.</a:t>
            </a:r>
          </a:p>
          <a:p>
            <a:r>
              <a:rPr lang="en-US" sz="1200" dirty="0"/>
              <a:t> - </a:t>
            </a:r>
            <a:r>
              <a:rPr lang="en-US" sz="1200" dirty="0">
                <a:hlinkClick r:id="rId2"/>
              </a:rPr>
              <a:t>https://www.youtube.com/watch?v=Pahyv9i_X2k</a:t>
            </a:r>
            <a:r>
              <a:rPr lang="en-US" sz="1200" dirty="0"/>
              <a:t> </a:t>
            </a:r>
          </a:p>
          <a:p>
            <a:endParaRPr lang="en-US" sz="1200" dirty="0"/>
          </a:p>
          <a:p>
            <a:endParaRPr lang="en-US" sz="1200" dirty="0"/>
          </a:p>
        </p:txBody>
      </p:sp>
    </p:spTree>
    <p:extLst>
      <p:ext uri="{BB962C8B-B14F-4D97-AF65-F5344CB8AC3E}">
        <p14:creationId xmlns:p14="http://schemas.microsoft.com/office/powerpoint/2010/main" val="3873802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1" y="37572"/>
            <a:ext cx="9274629" cy="523220"/>
          </a:xfrm>
          <a:prstGeom prst="rect">
            <a:avLst/>
          </a:prstGeom>
          <a:noFill/>
        </p:spPr>
        <p:txBody>
          <a:bodyPr wrap="square" rtlCol="0">
            <a:spAutoFit/>
          </a:bodyPr>
          <a:lstStyle/>
          <a:p>
            <a:r>
              <a:rPr lang="en-US" sz="2800" b="1" dirty="0"/>
              <a:t>Exercise 5 – Coffee stains and Damaged Flash Drives</a:t>
            </a:r>
          </a:p>
        </p:txBody>
      </p:sp>
      <p:sp>
        <p:nvSpPr>
          <p:cNvPr id="13" name="TextBox 12">
            <a:extLst>
              <a:ext uri="{FF2B5EF4-FFF2-40B4-BE49-F238E27FC236}">
                <a16:creationId xmlns:a16="http://schemas.microsoft.com/office/drawing/2014/main" id="{CCB040D0-EE6B-6747-B044-7BB207CED700}"/>
              </a:ext>
            </a:extLst>
          </p:cNvPr>
          <p:cNvSpPr txBox="1"/>
          <p:nvPr/>
        </p:nvSpPr>
        <p:spPr>
          <a:xfrm>
            <a:off x="-1" y="727511"/>
            <a:ext cx="5438899" cy="830997"/>
          </a:xfrm>
          <a:prstGeom prst="rect">
            <a:avLst/>
          </a:prstGeom>
          <a:noFill/>
        </p:spPr>
        <p:txBody>
          <a:bodyPr wrap="square" rtlCol="0">
            <a:spAutoFit/>
          </a:bodyPr>
          <a:lstStyle/>
          <a:p>
            <a:r>
              <a:rPr lang="en-US" sz="1200" dirty="0"/>
              <a:t>We have 100 damaged flash drives which is a sample of much bigger set.</a:t>
            </a:r>
            <a:br>
              <a:rPr lang="en-US" sz="1200" dirty="0"/>
            </a:br>
            <a:r>
              <a:rPr lang="en-US" sz="1200" dirty="0"/>
              <a:t>80% of these damaged drives have coffee stains on them.</a:t>
            </a:r>
          </a:p>
          <a:p>
            <a:br>
              <a:rPr lang="en-US" sz="1200" dirty="0"/>
            </a:br>
            <a:r>
              <a:rPr lang="en-US" sz="1200" dirty="0"/>
              <a:t>Estimate probability (and credible interval) that coffee is causing the damage?</a:t>
            </a:r>
          </a:p>
        </p:txBody>
      </p:sp>
    </p:spTree>
    <p:extLst>
      <p:ext uri="{BB962C8B-B14F-4D97-AF65-F5344CB8AC3E}">
        <p14:creationId xmlns:p14="http://schemas.microsoft.com/office/powerpoint/2010/main" val="4128884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F2ED839-B118-9D48-B600-42594516EAD9}"/>
              </a:ext>
            </a:extLst>
          </p:cNvPr>
          <p:cNvSpPr txBox="1"/>
          <p:nvPr/>
        </p:nvSpPr>
        <p:spPr>
          <a:xfrm>
            <a:off x="726473" y="3185796"/>
            <a:ext cx="3206337" cy="2031325"/>
          </a:xfrm>
          <a:prstGeom prst="rect">
            <a:avLst/>
          </a:prstGeom>
          <a:noFill/>
        </p:spPr>
        <p:txBody>
          <a:bodyPr wrap="square" rtlCol="0">
            <a:spAutoFit/>
          </a:bodyPr>
          <a:lstStyle/>
          <a:p>
            <a:r>
              <a:rPr lang="en-US" dirty="0"/>
              <a:t>Bayesian Inference for a normal Mean</a:t>
            </a:r>
          </a:p>
          <a:p>
            <a:r>
              <a:rPr lang="en-US" dirty="0"/>
              <a:t>xxx</a:t>
            </a:r>
          </a:p>
          <a:p>
            <a:endParaRPr lang="en-US" dirty="0"/>
          </a:p>
          <a:p>
            <a:r>
              <a:rPr lang="en-US" dirty="0"/>
              <a:t>Conjugate Priors</a:t>
            </a:r>
          </a:p>
          <a:p>
            <a:r>
              <a:rPr lang="en-US" dirty="0"/>
              <a:t>xxx</a:t>
            </a:r>
          </a:p>
          <a:p>
            <a:endParaRPr lang="en-US" dirty="0"/>
          </a:p>
          <a:p>
            <a:r>
              <a:rPr lang="en-US" dirty="0"/>
              <a:t>Credible Intervals</a:t>
            </a:r>
          </a:p>
          <a:p>
            <a:r>
              <a:rPr lang="en-US" dirty="0"/>
              <a:t>xxx</a:t>
            </a:r>
          </a:p>
          <a:p>
            <a:endParaRPr lang="en-US" dirty="0"/>
          </a:p>
        </p:txBody>
      </p:sp>
    </p:spTree>
    <p:extLst>
      <p:ext uri="{BB962C8B-B14F-4D97-AF65-F5344CB8AC3E}">
        <p14:creationId xmlns:p14="http://schemas.microsoft.com/office/powerpoint/2010/main" val="42308183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6342828" cy="738664"/>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r>
              <a:rPr lang="en-US" dirty="0"/>
              <a:t>Estimate probability (and credible interval) that coffee is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4109673" y="2068519"/>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40%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16387" y="1974106"/>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63208"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2439126"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1164672"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3065807" y="2935014"/>
            <a:ext cx="1246477"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        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2679402" y="197410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3" name="Google Shape;96;p13">
            <a:extLst>
              <a:ext uri="{FF2B5EF4-FFF2-40B4-BE49-F238E27FC236}">
                <a16:creationId xmlns:a16="http://schemas.microsoft.com/office/drawing/2014/main" id="{569DD241-518F-8F46-AE6A-34E80876D3BC}"/>
              </a:ext>
            </a:extLst>
          </p:cNvPr>
          <p:cNvSpPr/>
          <p:nvPr/>
        </p:nvSpPr>
        <p:spPr>
          <a:xfrm>
            <a:off x="116387" y="4517792"/>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2089797"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2439126"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2136366"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3467734"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2675922" y="4499611"/>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0" name="Google Shape;89;p13">
            <a:extLst>
              <a:ext uri="{FF2B5EF4-FFF2-40B4-BE49-F238E27FC236}">
                <a16:creationId xmlns:a16="http://schemas.microsoft.com/office/drawing/2014/main" id="{B62C94EF-0889-7846-B479-937B9CC58C28}"/>
              </a:ext>
            </a:extLst>
          </p:cNvPr>
          <p:cNvSpPr txBox="1"/>
          <p:nvPr/>
        </p:nvSpPr>
        <p:spPr>
          <a:xfrm>
            <a:off x="4116279" y="4617542"/>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5%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80%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80%*5% = 4%</a:t>
            </a:r>
          </a:p>
        </p:txBody>
      </p:sp>
      <p:sp>
        <p:nvSpPr>
          <p:cNvPr id="4" name="TextBox 3">
            <a:extLst>
              <a:ext uri="{FF2B5EF4-FFF2-40B4-BE49-F238E27FC236}">
                <a16:creationId xmlns:a16="http://schemas.microsoft.com/office/drawing/2014/main" id="{39A90BC2-B4D8-E240-A189-C3C7F0FC7086}"/>
              </a:ext>
            </a:extLst>
          </p:cNvPr>
          <p:cNvSpPr txBox="1"/>
          <p:nvPr/>
        </p:nvSpPr>
        <p:spPr>
          <a:xfrm>
            <a:off x="8930917" y="2068519"/>
            <a:ext cx="3245613" cy="2123658"/>
          </a:xfrm>
          <a:prstGeom prst="rect">
            <a:avLst/>
          </a:prstGeom>
          <a:noFill/>
        </p:spPr>
        <p:txBody>
          <a:bodyPr wrap="square" rtlCol="0">
            <a:spAutoFit/>
          </a:bodyPr>
          <a:lstStyle/>
          <a:p>
            <a:r>
              <a:rPr lang="en-US" sz="1200" dirty="0"/>
              <a:t>Possible approach to calculating P(B|A):</a:t>
            </a:r>
          </a:p>
          <a:p>
            <a:endParaRPr lang="en-US" sz="1200" dirty="0"/>
          </a:p>
          <a:p>
            <a:pPr marL="171450" indent="-171450">
              <a:buFont typeface="Arial" panose="020B0604020202020204" pitchFamily="34" charset="0"/>
              <a:buChar char="•"/>
            </a:pPr>
            <a:r>
              <a:rPr lang="en-US" sz="1200" dirty="0"/>
              <a:t>We fix P(A|B)=0.8 and P(B) = 0.05.</a:t>
            </a:r>
          </a:p>
          <a:p>
            <a:pPr marL="171450" indent="-171450">
              <a:buFont typeface="Arial" panose="020B0604020202020204" pitchFamily="34" charset="0"/>
              <a:buChar char="•"/>
            </a:pPr>
            <a:r>
              <a:rPr lang="en-US" sz="1200" dirty="0"/>
              <a:t>Then we use Bayes formula to </a:t>
            </a:r>
            <a:br>
              <a:rPr lang="en-US" sz="1200" dirty="0"/>
            </a:br>
            <a:r>
              <a:rPr lang="en-US" sz="1200" dirty="0"/>
              <a:t>express P(B|A) as function of P(A).</a:t>
            </a:r>
          </a:p>
          <a:p>
            <a:pPr marL="171450" indent="-171450">
              <a:buFont typeface="Arial" panose="020B0604020202020204" pitchFamily="34" charset="0"/>
              <a:buChar char="•"/>
            </a:pPr>
            <a:r>
              <a:rPr lang="en-US" sz="1200" dirty="0"/>
              <a:t>Then presuming that all values of P(A) </a:t>
            </a:r>
            <a:br>
              <a:rPr lang="en-US" sz="1200" dirty="0"/>
            </a:br>
            <a:r>
              <a:rPr lang="en-US" sz="1200" dirty="0"/>
              <a:t>are equally possible (flat prior), </a:t>
            </a:r>
            <a:br>
              <a:rPr lang="en-US" sz="1200" dirty="0"/>
            </a:br>
            <a:r>
              <a:rPr lang="en-US" sz="1200" dirty="0"/>
              <a:t>we calculate average P(B|A).</a:t>
            </a:r>
          </a:p>
          <a:p>
            <a:pPr marL="171450" indent="-171450">
              <a:buFont typeface="Arial" panose="020B0604020202020204" pitchFamily="34" charset="0"/>
              <a:buChar char="•"/>
            </a:pPr>
            <a:r>
              <a:rPr lang="en-US" sz="1200" dirty="0"/>
              <a:t>Alternatively we use some reasonable guess of the prior (not flat) – to get better posterior.</a:t>
            </a:r>
          </a:p>
        </p:txBody>
      </p:sp>
    </p:spTree>
    <p:extLst>
      <p:ext uri="{BB962C8B-B14F-4D97-AF65-F5344CB8AC3E}">
        <p14:creationId xmlns:p14="http://schemas.microsoft.com/office/powerpoint/2010/main" val="418091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6E1CEB-F40C-EB46-AE42-94921324FD7D}"/>
              </a:ext>
            </a:extLst>
          </p:cNvPr>
          <p:cNvSpPr txBox="1"/>
          <p:nvPr/>
        </p:nvSpPr>
        <p:spPr>
          <a:xfrm>
            <a:off x="-1" y="37572"/>
            <a:ext cx="8277101" cy="400110"/>
          </a:xfrm>
          <a:prstGeom prst="rect">
            <a:avLst/>
          </a:prstGeom>
          <a:noFill/>
        </p:spPr>
        <p:txBody>
          <a:bodyPr wrap="square" rtlCol="0">
            <a:spAutoFit/>
          </a:bodyPr>
          <a:lstStyle/>
          <a:p>
            <a:r>
              <a:rPr lang="en-US" sz="2000" b="1" dirty="0"/>
              <a:t>Bayesian Exercise Questions &amp; Conditional Probability Questions</a:t>
            </a:r>
          </a:p>
        </p:txBody>
      </p:sp>
      <p:sp>
        <p:nvSpPr>
          <p:cNvPr id="3" name="TextBox 2">
            <a:extLst>
              <a:ext uri="{FF2B5EF4-FFF2-40B4-BE49-F238E27FC236}">
                <a16:creationId xmlns:a16="http://schemas.microsoft.com/office/drawing/2014/main" id="{42F87632-23F8-1548-BE7C-6E509D69DC76}"/>
              </a:ext>
            </a:extLst>
          </p:cNvPr>
          <p:cNvSpPr txBox="1"/>
          <p:nvPr/>
        </p:nvSpPr>
        <p:spPr>
          <a:xfrm>
            <a:off x="118753" y="560792"/>
            <a:ext cx="8906494" cy="4185761"/>
          </a:xfrm>
          <a:prstGeom prst="rect">
            <a:avLst/>
          </a:prstGeom>
          <a:noFill/>
        </p:spPr>
        <p:txBody>
          <a:bodyPr wrap="square" rtlCol="0">
            <a:spAutoFit/>
          </a:bodyPr>
          <a:lstStyle/>
          <a:p>
            <a:pPr marL="285750" indent="-285750">
              <a:buFont typeface="Arial" panose="020B0604020202020204" pitchFamily="34" charset="0"/>
              <a:buChar char="•"/>
            </a:pPr>
            <a:r>
              <a:rPr lang="en-US" dirty="0"/>
              <a:t>A jar has 1000 coins, of which 999 are fair and 1 is double-headed. </a:t>
            </a:r>
            <a:br>
              <a:rPr lang="en-US" dirty="0"/>
            </a:br>
            <a:r>
              <a:rPr lang="en-US" dirty="0"/>
              <a:t>Pick a coin at random, and toss it 10 times. </a:t>
            </a:r>
            <a:br>
              <a:rPr lang="en-US" dirty="0"/>
            </a:br>
            <a:r>
              <a:rPr lang="en-US" dirty="0"/>
              <a:t>Given that you see 10 heads, what is the probability that the next toss of that coin is also a head?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50% of all people who receive a first interview receive a second interview.</a:t>
            </a:r>
            <a:br>
              <a:rPr lang="en-US" dirty="0"/>
            </a:br>
            <a:r>
              <a:rPr lang="en-US" dirty="0"/>
              <a:t>95% of those who got a second interview felt they had a good first interview.</a:t>
            </a:r>
            <a:br>
              <a:rPr lang="en-US" dirty="0"/>
            </a:br>
            <a:r>
              <a:rPr lang="en-US" dirty="0"/>
              <a:t>75% of those who didn't get a second interview felt they had a good first interview.</a:t>
            </a:r>
            <a:br>
              <a:rPr lang="en-US" dirty="0"/>
            </a:br>
            <a:r>
              <a:rPr lang="en-US" dirty="0"/>
              <a:t>If you feel that you had a good first interview, what is the probability you will receive a second interview?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You're about to get on a plane to Seattle. You want to know if you should bring an umbrella. You call 3 random friends of yours who live there and ask each independently if it's raining. Each of your friends has a 2/3 chance of telling you the truth and a 1/3 chance of messing with you by lying. All 3 friends tell you that "Yes" it is raining. What is the probability that it's actually raining in Seattle?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Drawing a pair of (x, y) from a joint Gaussian distribution with 0 covariance. Knowing the </a:t>
            </a:r>
            <a:r>
              <a:rPr lang="en-US" dirty="0" err="1"/>
              <a:t>stndard</a:t>
            </a:r>
            <a:r>
              <a:rPr lang="en-US" dirty="0"/>
              <a:t> deviations of x and y and knowing z = x + y, what is your best guess for x?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 babies in a room, 2 boys and 3 girls. one baby with unknown sex is added. Randomly choose one baby and the result is a boy. What's the prob that the added baby is a boy?</a:t>
            </a:r>
          </a:p>
        </p:txBody>
      </p:sp>
      <p:sp>
        <p:nvSpPr>
          <p:cNvPr id="4" name="TextBox 3">
            <a:extLst>
              <a:ext uri="{FF2B5EF4-FFF2-40B4-BE49-F238E27FC236}">
                <a16:creationId xmlns:a16="http://schemas.microsoft.com/office/drawing/2014/main" id="{1233587D-200E-7241-9DB9-3DF608B2814A}"/>
              </a:ext>
            </a:extLst>
          </p:cNvPr>
          <p:cNvSpPr txBox="1"/>
          <p:nvPr/>
        </p:nvSpPr>
        <p:spPr>
          <a:xfrm>
            <a:off x="118753" y="5700156"/>
            <a:ext cx="9239003" cy="738664"/>
          </a:xfrm>
          <a:prstGeom prst="rect">
            <a:avLst/>
          </a:prstGeom>
          <a:noFill/>
        </p:spPr>
        <p:txBody>
          <a:bodyPr wrap="square" rtlCol="0">
            <a:spAutoFit/>
          </a:bodyPr>
          <a:lstStyle/>
          <a:p>
            <a:r>
              <a:rPr lang="en-US" dirty="0"/>
              <a:t> - </a:t>
            </a:r>
            <a:r>
              <a:rPr lang="en-US" dirty="0">
                <a:hlinkClick r:id="rId2"/>
              </a:rPr>
              <a:t>https://www.glassdoor.com/Interview/bayesian-interview-questions-SRCH_KT0,8.htm</a:t>
            </a:r>
            <a:r>
              <a:rPr lang="en-US" dirty="0"/>
              <a:t> – </a:t>
            </a:r>
          </a:p>
          <a:p>
            <a:r>
              <a:rPr lang="en-US" dirty="0"/>
              <a:t> - - </a:t>
            </a:r>
          </a:p>
          <a:p>
            <a:endParaRPr lang="en-US" dirty="0"/>
          </a:p>
        </p:txBody>
      </p:sp>
    </p:spTree>
    <p:extLst>
      <p:ext uri="{BB962C8B-B14F-4D97-AF65-F5344CB8AC3E}">
        <p14:creationId xmlns:p14="http://schemas.microsoft.com/office/powerpoint/2010/main" val="219627307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896</TotalTime>
  <Words>4059</Words>
  <Application>Microsoft Macintosh PowerPoint</Application>
  <PresentationFormat>Widescreen</PresentationFormat>
  <Paragraphs>383</Paragraphs>
  <Slides>20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95</cp:revision>
  <dcterms:modified xsi:type="dcterms:W3CDTF">2021-05-04T13:34:56Z</dcterms:modified>
</cp:coreProperties>
</file>