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56" r:id="rId2"/>
    <p:sldId id="263" r:id="rId3"/>
    <p:sldId id="305" r:id="rId4"/>
    <p:sldId id="295" r:id="rId5"/>
    <p:sldId id="296" r:id="rId6"/>
    <p:sldId id="291" r:id="rId7"/>
    <p:sldId id="257" r:id="rId8"/>
    <p:sldId id="258" r:id="rId9"/>
    <p:sldId id="260" r:id="rId10"/>
    <p:sldId id="293" r:id="rId11"/>
    <p:sldId id="294" r:id="rId12"/>
    <p:sldId id="298" r:id="rId13"/>
    <p:sldId id="302" r:id="rId14"/>
    <p:sldId id="299" r:id="rId15"/>
    <p:sldId id="301" r:id="rId16"/>
    <p:sldId id="303" r:id="rId17"/>
    <p:sldId id="300" r:id="rId18"/>
    <p:sldId id="292" r:id="rId19"/>
    <p:sldId id="262" r:id="rId20"/>
    <p:sldId id="306" r:id="rId21"/>
    <p:sldId id="297"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60"/>
    <p:restoredTop sz="94699"/>
  </p:normalViewPr>
  <p:slideViewPr>
    <p:cSldViewPr snapToGrid="0">
      <p:cViewPr varScale="1">
        <p:scale>
          <a:sx n="103" d="100"/>
          <a:sy n="103" d="100"/>
        </p:scale>
        <p:origin x="104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hyperlink" Target="https://youarenotsosmart.com/2016/01/02/yanss-065-survivorship-bias-rebroadcast/" TargetMode="External"/><Relationship Id="rId3" Type="http://schemas.openxmlformats.org/officeDocument/2006/relationships/hyperlink" Target="https://www.youtube.com/watch?v=p60-Jdq754A" TargetMode="External"/><Relationship Id="rId7" Type="http://schemas.openxmlformats.org/officeDocument/2006/relationships/hyperlink" Target="https://people.ucsc.edu/~msmangel/Wald.pdf"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tiff"/><Relationship Id="rId4" Type="http://schemas.openxmlformats.org/officeDocument/2006/relationships/hyperlink" Target="https://www.geeksforgeeks.org/naive-bayes-classifiers/"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I4dkEALQv34" TargetMode="External"/><Relationship Id="rId3" Type="http://schemas.openxmlformats.org/officeDocument/2006/relationships/hyperlink" Target="https://towardsdatascience.com/probability-concepts-explained-bayesian-inference-for-parameter-estimation-90e8930e5348" TargetMode="External"/><Relationship Id="rId7" Type="http://schemas.openxmlformats.org/officeDocument/2006/relationships/hyperlink" Target="https://www.youtube.com/watch?v=yvWlpwnT1nw" TargetMode="External"/><Relationship Id="rId2" Type="http://schemas.openxmlformats.org/officeDocument/2006/relationships/hyperlink" Target="https://en.wikipedia.org/wiki/Bayesian_inference" TargetMode="Externa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hyperlink" Target="http://christianherta.de/lehre/dataScience/bayesian/introduction_into_bayesian_inference_with_pymc.slides.php" TargetMode="External"/><Relationship Id="rId10" Type="http://schemas.openxmlformats.org/officeDocument/2006/relationships/image" Target="../media/image16.jpeg"/><Relationship Id="rId4" Type="http://schemas.openxmlformats.org/officeDocument/2006/relationships/hyperlink" Target="https://www.probabilitycourse.com/chapter9/9_1_0_bayesian_inference.php" TargetMode="External"/><Relationship Id="rId9" Type="http://schemas.openxmlformats.org/officeDocument/2006/relationships/hyperlink" Target="https://www.youtube.com/watch?v=Pahyv9i_X2k"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yvWlpwnT1nw" TargetMode="External"/><Relationship Id="rId3" Type="http://schemas.openxmlformats.org/officeDocument/2006/relationships/image" Target="../media/image18.tiff"/><Relationship Id="rId7" Type="http://schemas.openxmlformats.org/officeDocument/2006/relationships/image" Target="../media/image22.tiff"/><Relationship Id="rId2" Type="http://schemas.openxmlformats.org/officeDocument/2006/relationships/image" Target="../media/image17.tiff"/><Relationship Id="rId1" Type="http://schemas.openxmlformats.org/officeDocument/2006/relationships/slideLayout" Target="../slideLayouts/slideLayout7.xml"/><Relationship Id="rId6" Type="http://schemas.openxmlformats.org/officeDocument/2006/relationships/image" Target="../media/image21.tiff"/><Relationship Id="rId5" Type="http://schemas.openxmlformats.org/officeDocument/2006/relationships/image" Target="../media/image20.tiff"/><Relationship Id="rId10" Type="http://schemas.openxmlformats.org/officeDocument/2006/relationships/image" Target="../media/image24.jpeg"/><Relationship Id="rId4" Type="http://schemas.openxmlformats.org/officeDocument/2006/relationships/image" Target="../media/image19.tiff"/><Relationship Id="rId9" Type="http://schemas.openxmlformats.org/officeDocument/2006/relationships/image" Target="../media/image23.jpeg"/></Relationships>
</file>

<file path=ppt/slides/_rels/slide14.xml.rels><?xml version="1.0" encoding="UTF-8" standalone="yes"?>
<Relationships xmlns="http://schemas.openxmlformats.org/package/2006/relationships"><Relationship Id="rId3" Type="http://schemas.openxmlformats.org/officeDocument/2006/relationships/image" Target="../media/image26.tiff"/><Relationship Id="rId2" Type="http://schemas.openxmlformats.org/officeDocument/2006/relationships/image" Target="../media/image25.tiff"/><Relationship Id="rId1" Type="http://schemas.openxmlformats.org/officeDocument/2006/relationships/slideLayout" Target="../slideLayouts/slideLayout7.xml"/><Relationship Id="rId6" Type="http://schemas.openxmlformats.org/officeDocument/2006/relationships/hyperlink" Target="https://www.youtube.com/watch?v=I4dkEALQv34" TargetMode="External"/><Relationship Id="rId5" Type="http://schemas.openxmlformats.org/officeDocument/2006/relationships/image" Target="../media/image28.jpeg"/><Relationship Id="rId4" Type="http://schemas.openxmlformats.org/officeDocument/2006/relationships/image" Target="../media/image27.tiff"/></Relationships>
</file>

<file path=ppt/slides/_rels/slide1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watch?v=Pahyv9i_X2k"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35.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hyperlink" Target="https://docs.pymc.io/" TargetMode="External"/><Relationship Id="rId13" Type="http://schemas.openxmlformats.org/officeDocument/2006/relationships/image" Target="../media/image38.tiff"/><Relationship Id="rId3" Type="http://schemas.openxmlformats.org/officeDocument/2006/relationships/hyperlink" Target="https://scikit-learn.org/stable/modules/generated/sklearn.naive_bayes.GaussianNB.html" TargetMode="External"/><Relationship Id="rId7" Type="http://schemas.openxmlformats.org/officeDocument/2006/relationships/hyperlink" Target="https://pystan.readthedocs.io/en/latest/" TargetMode="External"/><Relationship Id="rId12" Type="http://schemas.openxmlformats.org/officeDocument/2006/relationships/image" Target="../media/image37.jpeg"/><Relationship Id="rId2" Type="http://schemas.openxmlformats.org/officeDocument/2006/relationships/hyperlink" Target="https://scikit-learn.org/stable/modules/naive_bayes.html" TargetMode="External"/><Relationship Id="rId16"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hyperlink" Target="https://mc-stan.org/users/interfaces/pystan" TargetMode="External"/><Relationship Id="rId11" Type="http://schemas.openxmlformats.org/officeDocument/2006/relationships/image" Target="../media/image36.png"/><Relationship Id="rId5" Type="http://schemas.openxmlformats.org/officeDocument/2006/relationships/hyperlink" Target="https://scikit-learn.org/stable/modules/linear_model.html#bayesian-regression" TargetMode="External"/><Relationship Id="rId15" Type="http://schemas.openxmlformats.org/officeDocument/2006/relationships/image" Target="../media/image40.png"/><Relationship Id="rId10" Type="http://schemas.openxmlformats.org/officeDocument/2006/relationships/hyperlink" Target="https://www.tensorflow.org/probability" TargetMode="External"/><Relationship Id="rId4" Type="http://schemas.openxmlformats.org/officeDocument/2006/relationships/hyperlink" Target="https://scikit-learn.org/stable/modules/generated/sklearn.naive_bayes.MultinomialNB.html" TargetMode="External"/><Relationship Id="rId9" Type="http://schemas.openxmlformats.org/officeDocument/2006/relationships/hyperlink" Target="https://pyro.ai/" TargetMode="External"/><Relationship Id="rId14" Type="http://schemas.openxmlformats.org/officeDocument/2006/relationships/image" Target="../media/image39.png"/></Relationships>
</file>

<file path=ppt/slides/_rels/slide21.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60056" y="2848755"/>
            <a:ext cx="2180460" cy="1015663"/>
          </a:xfrm>
          <a:prstGeom prst="rect">
            <a:avLst/>
          </a:prstGeom>
          <a:noFill/>
        </p:spPr>
        <p:txBody>
          <a:bodyPr wrap="square" rtlCol="0">
            <a:spAutoFit/>
          </a:bodyPr>
          <a:lstStyle/>
          <a:p>
            <a:pPr algn="ctr"/>
            <a:r>
              <a:rPr lang="en-US" sz="1200" dirty="0"/>
              <a:t>"An Essay towards solving a Problem in the Doctrine of Chances",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401753"/>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endParaRPr lang="en-US" sz="800" dirty="0"/>
          </a:p>
          <a:p>
            <a:r>
              <a:rPr lang="en-US" dirty="0"/>
              <a:t>But statistician Abraham Wald (Statistical Research Group (SRG) - Military Panel at Columbia University) has recommended adding armor to the areas that showed the least damage. His reasoning was that the sample didn't include the planes which were shot down.</a:t>
            </a:r>
          </a:p>
          <a:p>
            <a:endParaRPr lang="en-US" sz="800" dirty="0"/>
          </a:p>
          <a:p>
            <a:r>
              <a:rPr lang="en-US" dirty="0"/>
              <a:t>This is a very good example demonstrating that it is dangerous to use data "as is" to create a model, because the data may be biased to start with, and it can easily lead to creating a biased model.</a:t>
            </a:r>
            <a:br>
              <a:rPr lang="en-US" dirty="0"/>
            </a:br>
            <a:br>
              <a:rPr lang="en-US" sz="800"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sz="800"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sz="800"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sz="800"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sz="800"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
        <p:nvSpPr>
          <p:cNvPr id="2" name="TextBox 1">
            <a:extLst>
              <a:ext uri="{FF2B5EF4-FFF2-40B4-BE49-F238E27FC236}">
                <a16:creationId xmlns:a16="http://schemas.microsoft.com/office/drawing/2014/main" id="{07789739-19F1-2B48-92A1-6C60983C6616}"/>
              </a:ext>
            </a:extLst>
          </p:cNvPr>
          <p:cNvSpPr txBox="1"/>
          <p:nvPr/>
        </p:nvSpPr>
        <p:spPr>
          <a:xfrm>
            <a:off x="5254388" y="3987018"/>
            <a:ext cx="6791838" cy="224676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rgbClr val="0070C0"/>
                </a:solidFill>
              </a:rPr>
              <a:t>Data on killed (downed) aircrafts was unobservable</a:t>
            </a:r>
            <a:r>
              <a:rPr lang="en-US" dirty="0"/>
              <a:t>. Without such data, Wald set to work on the problem of estimating the probability that an aircraft that has sustained a fixed number of hits will survive an additional hit.</a:t>
            </a:r>
          </a:p>
          <a:p>
            <a:pPr marL="285750" indent="-285750">
              <a:buFont typeface="Arial" panose="020B0604020202020204" pitchFamily="34" charset="0"/>
              <a:buChar char="•"/>
            </a:pPr>
            <a:r>
              <a:rPr lang="en-US" dirty="0"/>
              <a:t>He also attempted to estimate the survival probability of an aircraft sustaining a hit to one of various portions of the body, with different failure rates (e.g.. a hit to the nose is more lethal than a hit to the middle of the fuselage).</a:t>
            </a:r>
          </a:p>
          <a:p>
            <a:pPr marL="285750" indent="-285750">
              <a:buFont typeface="Arial" panose="020B0604020202020204" pitchFamily="34" charset="0"/>
              <a:buChar char="•"/>
            </a:pPr>
            <a:r>
              <a:rPr lang="en-US" dirty="0"/>
              <a:t>The work was written as a set of 8 memoranda. Very good description is here:</a:t>
            </a:r>
            <a:br>
              <a:rPr lang="en-US" dirty="0"/>
            </a:br>
            <a:r>
              <a:rPr lang="en-US" dirty="0"/>
              <a:t>   - </a:t>
            </a:r>
            <a:r>
              <a:rPr lang="en-US" dirty="0">
                <a:hlinkClick r:id="rId7"/>
              </a:rPr>
              <a:t>https://people.ucsc.edu/~msmangel/Wald.pdf</a:t>
            </a:r>
            <a:r>
              <a:rPr lang="en-US" dirty="0"/>
              <a:t> </a:t>
            </a:r>
          </a:p>
          <a:p>
            <a:pPr marL="285750" indent="-285750">
              <a:buFont typeface="Arial" panose="020B0604020202020204" pitchFamily="34" charset="0"/>
              <a:buChar char="•"/>
            </a:pPr>
            <a:r>
              <a:rPr lang="en-US" dirty="0"/>
              <a:t>Also here is a 30-min podcast  </a:t>
            </a:r>
            <a:r>
              <a:rPr lang="en-US" dirty="0">
                <a:hlinkClick r:id="rId8"/>
              </a:rPr>
              <a:t>https://youarenotsosmart.com/2016/01/02/yanss-065-survivorship-bias-rebroadcast/</a:t>
            </a:r>
            <a:r>
              <a:rPr lang="en-US" dirty="0"/>
              <a:t> </a:t>
            </a:r>
          </a:p>
        </p:txBody>
      </p:sp>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E31AB4-7740-204E-B42C-A6C2F88F06FA}"/>
              </a:ext>
            </a:extLst>
          </p:cNvPr>
          <p:cNvSpPr/>
          <p:nvPr/>
        </p:nvSpPr>
        <p:spPr>
          <a:xfrm>
            <a:off x="613423" y="1081825"/>
            <a:ext cx="3438659" cy="2347175"/>
          </a:xfrm>
          <a:prstGeom prst="rect">
            <a:avLst/>
          </a:prstGeom>
          <a:solidFill>
            <a:schemeClr val="accent1">
              <a:alpha val="1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TextBox 2">
            <a:extLst>
              <a:ext uri="{FF2B5EF4-FFF2-40B4-BE49-F238E27FC236}">
                <a16:creationId xmlns:a16="http://schemas.microsoft.com/office/drawing/2014/main" id="{FD8F2B0F-F8E3-874A-92B1-5FAAD5BE74E3}"/>
              </a:ext>
            </a:extLst>
          </p:cNvPr>
          <p:cNvSpPr txBox="1"/>
          <p:nvPr/>
        </p:nvSpPr>
        <p:spPr>
          <a:xfrm>
            <a:off x="0" y="0"/>
            <a:ext cx="4585855" cy="523220"/>
          </a:xfrm>
          <a:prstGeom prst="rect">
            <a:avLst/>
          </a:prstGeom>
          <a:noFill/>
        </p:spPr>
        <p:txBody>
          <a:bodyPr wrap="square" rtlCol="0">
            <a:spAutoFit/>
          </a:bodyPr>
          <a:lstStyle/>
          <a:p>
            <a:r>
              <a:rPr lang="en-US" sz="2800" b="1" dirty="0"/>
              <a:t>Bayesian Data Analysis</a:t>
            </a:r>
          </a:p>
        </p:txBody>
      </p:sp>
      <p:sp>
        <p:nvSpPr>
          <p:cNvPr id="4" name="TextBox 3">
            <a:extLst>
              <a:ext uri="{FF2B5EF4-FFF2-40B4-BE49-F238E27FC236}">
                <a16:creationId xmlns:a16="http://schemas.microsoft.com/office/drawing/2014/main" id="{344EB4DF-E6B0-BE43-AAD2-125543C30EC4}"/>
              </a:ext>
            </a:extLst>
          </p:cNvPr>
          <p:cNvSpPr txBox="1"/>
          <p:nvPr/>
        </p:nvSpPr>
        <p:spPr>
          <a:xfrm>
            <a:off x="798297" y="1308451"/>
            <a:ext cx="3068910" cy="646331"/>
          </a:xfrm>
          <a:prstGeom prst="rect">
            <a:avLst/>
          </a:prstGeom>
          <a:noFill/>
        </p:spPr>
        <p:txBody>
          <a:bodyPr wrap="square" rtlCol="0">
            <a:spAutoFit/>
          </a:bodyPr>
          <a:lstStyle/>
          <a:p>
            <a:pPr algn="ctr"/>
            <a:r>
              <a:rPr lang="en-US" sz="1800" dirty="0"/>
              <a:t>Unknown Parameters (priors)</a:t>
            </a:r>
          </a:p>
        </p:txBody>
      </p:sp>
      <p:sp>
        <p:nvSpPr>
          <p:cNvPr id="5" name="TextBox 4">
            <a:extLst>
              <a:ext uri="{FF2B5EF4-FFF2-40B4-BE49-F238E27FC236}">
                <a16:creationId xmlns:a16="http://schemas.microsoft.com/office/drawing/2014/main" id="{9BD2C10F-4995-D744-80AD-8D18F2145922}"/>
              </a:ext>
            </a:extLst>
          </p:cNvPr>
          <p:cNvSpPr txBox="1"/>
          <p:nvPr/>
        </p:nvSpPr>
        <p:spPr>
          <a:xfrm>
            <a:off x="798297" y="2748944"/>
            <a:ext cx="3068910" cy="369332"/>
          </a:xfrm>
          <a:prstGeom prst="rect">
            <a:avLst/>
          </a:prstGeom>
          <a:noFill/>
        </p:spPr>
        <p:txBody>
          <a:bodyPr wrap="square" rtlCol="0">
            <a:spAutoFit/>
          </a:bodyPr>
          <a:lstStyle/>
          <a:p>
            <a:pPr algn="ctr"/>
            <a:r>
              <a:rPr lang="en-US" sz="1800" dirty="0"/>
              <a:t>Model to generate data</a:t>
            </a:r>
          </a:p>
        </p:txBody>
      </p:sp>
      <p:sp>
        <p:nvSpPr>
          <p:cNvPr id="6" name="TextBox 5">
            <a:extLst>
              <a:ext uri="{FF2B5EF4-FFF2-40B4-BE49-F238E27FC236}">
                <a16:creationId xmlns:a16="http://schemas.microsoft.com/office/drawing/2014/main" id="{BD18747A-3F88-8B46-958A-68AA13FA2897}"/>
              </a:ext>
            </a:extLst>
          </p:cNvPr>
          <p:cNvSpPr txBox="1"/>
          <p:nvPr/>
        </p:nvSpPr>
        <p:spPr>
          <a:xfrm>
            <a:off x="798297" y="4151248"/>
            <a:ext cx="3068910" cy="369332"/>
          </a:xfrm>
          <a:prstGeom prst="rect">
            <a:avLst/>
          </a:prstGeom>
          <a:noFill/>
        </p:spPr>
        <p:txBody>
          <a:bodyPr wrap="square" rtlCol="0">
            <a:spAutoFit/>
          </a:bodyPr>
          <a:lstStyle/>
          <a:p>
            <a:pPr algn="ctr"/>
            <a:r>
              <a:rPr lang="en-US" sz="1800" dirty="0"/>
              <a:t>Observed Data</a:t>
            </a:r>
          </a:p>
        </p:txBody>
      </p:sp>
      <p:sp>
        <p:nvSpPr>
          <p:cNvPr id="7" name="Down Arrow 6">
            <a:extLst>
              <a:ext uri="{FF2B5EF4-FFF2-40B4-BE49-F238E27FC236}">
                <a16:creationId xmlns:a16="http://schemas.microsoft.com/office/drawing/2014/main" id="{11C8CA14-CFCA-F44D-80AD-26E19612414D}"/>
              </a:ext>
            </a:extLst>
          </p:cNvPr>
          <p:cNvSpPr/>
          <p:nvPr/>
        </p:nvSpPr>
        <p:spPr>
          <a:xfrm>
            <a:off x="2231071" y="2026696"/>
            <a:ext cx="203363" cy="72224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Down Arrow 7">
            <a:extLst>
              <a:ext uri="{FF2B5EF4-FFF2-40B4-BE49-F238E27FC236}">
                <a16:creationId xmlns:a16="http://schemas.microsoft.com/office/drawing/2014/main" id="{A6BF515A-4A50-8943-9DC6-BE6FE6D7A7FE}"/>
              </a:ext>
            </a:extLst>
          </p:cNvPr>
          <p:cNvSpPr/>
          <p:nvPr/>
        </p:nvSpPr>
        <p:spPr>
          <a:xfrm>
            <a:off x="2231071" y="3201831"/>
            <a:ext cx="203363" cy="94941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TextBox 9">
            <a:extLst>
              <a:ext uri="{FF2B5EF4-FFF2-40B4-BE49-F238E27FC236}">
                <a16:creationId xmlns:a16="http://schemas.microsoft.com/office/drawing/2014/main" id="{92B4B3A9-26DA-D046-8E9C-F3AC8C6DDDED}"/>
              </a:ext>
            </a:extLst>
          </p:cNvPr>
          <p:cNvSpPr txBox="1"/>
          <p:nvPr/>
        </p:nvSpPr>
        <p:spPr>
          <a:xfrm>
            <a:off x="5299981" y="690465"/>
            <a:ext cx="4397811" cy="1569660"/>
          </a:xfrm>
          <a:prstGeom prst="rect">
            <a:avLst/>
          </a:prstGeom>
          <a:noFill/>
        </p:spPr>
        <p:txBody>
          <a:bodyPr wrap="square" rtlCol="0">
            <a:spAutoFit/>
          </a:bodyPr>
          <a:lstStyle/>
          <a:p>
            <a:r>
              <a:rPr lang="en-US" sz="1600" dirty="0"/>
              <a:t>We know the observed data.</a:t>
            </a:r>
          </a:p>
          <a:p>
            <a:endParaRPr lang="en-US" sz="1600" dirty="0"/>
          </a:p>
          <a:p>
            <a:r>
              <a:rPr lang="en-US" sz="1600" dirty="0"/>
              <a:t>We are trying to figure out the unknown parameters.</a:t>
            </a:r>
          </a:p>
          <a:p>
            <a:endParaRPr lang="en-US" sz="1600" dirty="0"/>
          </a:p>
          <a:p>
            <a:r>
              <a:rPr lang="en-US" sz="1600" dirty="0"/>
              <a:t>This is the reverse probability problem.</a:t>
            </a:r>
          </a:p>
        </p:txBody>
      </p:sp>
      <p:sp>
        <p:nvSpPr>
          <p:cNvPr id="11" name="TextBox 10">
            <a:extLst>
              <a:ext uri="{FF2B5EF4-FFF2-40B4-BE49-F238E27FC236}">
                <a16:creationId xmlns:a16="http://schemas.microsoft.com/office/drawing/2014/main" id="{D9CCC619-C946-BF4B-AE53-CAE6F9A0BD7D}"/>
              </a:ext>
            </a:extLst>
          </p:cNvPr>
          <p:cNvSpPr txBox="1"/>
          <p:nvPr/>
        </p:nvSpPr>
        <p:spPr>
          <a:xfrm>
            <a:off x="5299980" y="2767280"/>
            <a:ext cx="6587219" cy="1569660"/>
          </a:xfrm>
          <a:prstGeom prst="rect">
            <a:avLst/>
          </a:prstGeom>
          <a:noFill/>
        </p:spPr>
        <p:txBody>
          <a:bodyPr wrap="square" rtlCol="0">
            <a:spAutoFit/>
          </a:bodyPr>
          <a:lstStyle/>
          <a:p>
            <a:r>
              <a:rPr lang="en-US" sz="1600" b="1" dirty="0">
                <a:solidFill>
                  <a:srgbClr val="FF0000"/>
                </a:solidFill>
              </a:rPr>
              <a:t>Bayesian Data Analysis</a:t>
            </a:r>
            <a:r>
              <a:rPr lang="en-US" sz="1600" dirty="0"/>
              <a:t> – a method of figuring our "</a:t>
            </a:r>
            <a:r>
              <a:rPr lang="en-US" sz="1600" b="1" dirty="0">
                <a:solidFill>
                  <a:srgbClr val="0070C0"/>
                </a:solidFill>
              </a:rPr>
              <a:t>unknowns</a:t>
            </a:r>
            <a:r>
              <a:rPr lang="en-US" sz="1600" dirty="0"/>
              <a:t>".</a:t>
            </a:r>
          </a:p>
          <a:p>
            <a:endParaRPr lang="en-US" sz="1600" dirty="0"/>
          </a:p>
          <a:p>
            <a:r>
              <a:rPr lang="en-US" sz="1600" dirty="0"/>
              <a:t>It requires three things:</a:t>
            </a:r>
          </a:p>
          <a:p>
            <a:pPr marL="285750" indent="-285750">
              <a:buFont typeface="Arial" panose="020B0604020202020204" pitchFamily="34" charset="0"/>
              <a:buChar char="•"/>
            </a:pPr>
            <a:r>
              <a:rPr lang="en-US" sz="1600" b="1" dirty="0">
                <a:solidFill>
                  <a:srgbClr val="0070C0"/>
                </a:solidFill>
              </a:rPr>
              <a:t>Data</a:t>
            </a:r>
          </a:p>
          <a:p>
            <a:pPr marL="285750" indent="-285750">
              <a:buFont typeface="Arial" panose="020B0604020202020204" pitchFamily="34" charset="0"/>
              <a:buChar char="•"/>
            </a:pPr>
            <a:r>
              <a:rPr lang="en-US" sz="1600" b="1" dirty="0">
                <a:solidFill>
                  <a:srgbClr val="0070C0"/>
                </a:solidFill>
              </a:rPr>
              <a:t>Generative model</a:t>
            </a:r>
          </a:p>
          <a:p>
            <a:pPr marL="285750" indent="-285750">
              <a:buFont typeface="Arial" panose="020B0604020202020204" pitchFamily="34" charset="0"/>
              <a:buChar char="•"/>
            </a:pPr>
            <a:r>
              <a:rPr lang="en-US" sz="1600" b="1" dirty="0">
                <a:solidFill>
                  <a:srgbClr val="0070C0"/>
                </a:solidFill>
              </a:rPr>
              <a:t>Priors</a:t>
            </a:r>
            <a:r>
              <a:rPr lang="en-US" sz="1600" dirty="0"/>
              <a:t> – what information the model has before seeing the data.</a:t>
            </a:r>
          </a:p>
        </p:txBody>
      </p:sp>
    </p:spTree>
    <p:extLst>
      <p:ext uri="{BB962C8B-B14F-4D97-AF65-F5344CB8AC3E}">
        <p14:creationId xmlns:p14="http://schemas.microsoft.com/office/powerpoint/2010/main" val="393128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983724" y="16260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pic>
        <p:nvPicPr>
          <p:cNvPr id="2050" name="Picture 2" descr="jakevdp (Jake Vanderplas) · GitHub">
            <a:extLst>
              <a:ext uri="{FF2B5EF4-FFF2-40B4-BE49-F238E27FC236}">
                <a16:creationId xmlns:a16="http://schemas.microsoft.com/office/drawing/2014/main" id="{5D6298A0-DEB9-1946-AA2C-515B38CD732B}"/>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537849" y="855953"/>
            <a:ext cx="1377826" cy="137782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66EA754E-B414-0E46-A7C6-0D49F68F18AE}"/>
              </a:ext>
            </a:extLst>
          </p:cNvPr>
          <p:cNvSpPr txBox="1"/>
          <p:nvPr/>
        </p:nvSpPr>
        <p:spPr>
          <a:xfrm>
            <a:off x="10387167" y="2200247"/>
            <a:ext cx="1610870" cy="309062"/>
          </a:xfrm>
          <a:prstGeom prst="rect">
            <a:avLst/>
          </a:prstGeom>
          <a:noFill/>
        </p:spPr>
        <p:txBody>
          <a:bodyPr wrap="square" rtlCol="0">
            <a:spAutoFit/>
          </a:bodyPr>
          <a:lstStyle/>
          <a:p>
            <a:pPr algn="ctr"/>
            <a:r>
              <a:rPr lang="en-US" dirty="0"/>
              <a:t>Jake </a:t>
            </a:r>
            <a:r>
              <a:rPr lang="en-US" dirty="0" err="1"/>
              <a:t>VanderPlas</a:t>
            </a:r>
            <a:endParaRPr lang="en-US" dirty="0"/>
          </a:p>
        </p:txBody>
      </p:sp>
    </p:spTree>
    <p:extLst>
      <p:ext uri="{BB962C8B-B14F-4D97-AF65-F5344CB8AC3E}">
        <p14:creationId xmlns:p14="http://schemas.microsoft.com/office/powerpoint/2010/main" val="333321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345301" cy="3108543"/>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a:t>
            </a:r>
            <a:br>
              <a:rPr lang="en-US" dirty="0"/>
            </a:br>
            <a:r>
              <a:rPr lang="en-US" dirty="0"/>
              <a:t>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a:t>
            </a:r>
          </a:p>
          <a:p>
            <a:r>
              <a:rPr lang="en-US" dirty="0"/>
              <a:t>to define a prior probability distribution </a:t>
            </a:r>
          </a:p>
          <a:p>
            <a:r>
              <a:rPr lang="en-US" dirty="0"/>
              <a:t>on the possible values of the unknown parameters</a:t>
            </a:r>
          </a:p>
          <a:p>
            <a:r>
              <a:rPr lang="en-US" dirty="0"/>
              <a:t>and computing their probabilities </a:t>
            </a:r>
          </a:p>
          <a:p>
            <a:r>
              <a:rPr lang="en-US" dirty="0"/>
              <a:t>(solving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a:t>
            </a:r>
          </a:p>
          <a:p>
            <a:r>
              <a:rPr lang="en-US" dirty="0"/>
              <a:t>in selecting a prior model / distribution. </a:t>
            </a:r>
          </a:p>
          <a:p>
            <a:endParaRPr lang="en-US" dirty="0"/>
          </a:p>
          <a:p>
            <a:r>
              <a:rPr lang="en-US" b="1" dirty="0">
                <a:solidFill>
                  <a:srgbClr val="FF0000"/>
                </a:solidFill>
              </a:rPr>
              <a:t>Bayesians</a:t>
            </a:r>
            <a:r>
              <a:rPr lang="en-US" dirty="0"/>
              <a:t> snap back that at least they have a model, </a:t>
            </a:r>
          </a:p>
          <a:p>
            <a:r>
              <a:rPr lang="en-US" dirty="0"/>
              <a:t>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a:t>
            </a:r>
            <a:r>
              <a:rPr lang="en-US" b="1" dirty="0">
                <a:solidFill>
                  <a:srgbClr val="00B050"/>
                </a:solidFill>
                <a:latin typeface="Calibri"/>
                <a:ea typeface="Calibri"/>
                <a:cs typeface="Calibri"/>
                <a:sym typeface="Calibri"/>
              </a:rPr>
              <a:t>without calculatin</a:t>
            </a:r>
            <a:r>
              <a:rPr lang="en-US" b="1" dirty="0">
                <a:solidFill>
                  <a:srgbClr val="00B050"/>
                </a:solidFill>
                <a:latin typeface="Calibri"/>
                <a:cs typeface="Calibri"/>
                <a:sym typeface="Calibri"/>
              </a:rPr>
              <a:t>g derivatives</a:t>
            </a:r>
            <a:r>
              <a:rPr lang="en-US" dirty="0">
                <a:solidFill>
                  <a:schemeClr val="dk1"/>
                </a:solidFill>
                <a:latin typeface="Calibri"/>
                <a:cs typeface="Calibri"/>
                <a:sym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3607496" cy="830997"/>
          </a:xfrm>
          <a:prstGeom prst="rect">
            <a:avLst/>
          </a:prstGeom>
          <a:noFill/>
        </p:spPr>
        <p:txBody>
          <a:bodyPr wrap="square" rtlCol="0">
            <a:spAutoFit/>
          </a:bodyPr>
          <a:lstStyle/>
          <a:p>
            <a:r>
              <a:rPr lang="en-US" sz="2400" b="1" dirty="0">
                <a:solidFill>
                  <a:srgbClr val="0070C0"/>
                </a:solidFill>
              </a:rPr>
              <a:t>Bayesian Inference</a:t>
            </a:r>
          </a:p>
          <a:p>
            <a:r>
              <a:rPr lang="en-US" sz="2400" b="1" dirty="0">
                <a:solidFill>
                  <a:srgbClr val="0070C0"/>
                </a:solidFill>
              </a:rPr>
              <a:t>Bayesian Estimation</a:t>
            </a:r>
          </a:p>
        </p:txBody>
      </p:sp>
      <p:sp>
        <p:nvSpPr>
          <p:cNvPr id="3" name="TextBox 2">
            <a:extLst>
              <a:ext uri="{FF2B5EF4-FFF2-40B4-BE49-F238E27FC236}">
                <a16:creationId xmlns:a16="http://schemas.microsoft.com/office/drawing/2014/main" id="{1B04CBF4-4519-044C-8F82-2F79F39C8DAC}"/>
              </a:ext>
            </a:extLst>
          </p:cNvPr>
          <p:cNvSpPr txBox="1"/>
          <p:nvPr/>
        </p:nvSpPr>
        <p:spPr>
          <a:xfrm>
            <a:off x="3607496" y="5834758"/>
            <a:ext cx="7298871" cy="1015663"/>
          </a:xfrm>
          <a:prstGeom prst="rect">
            <a:avLst/>
          </a:prstGeom>
          <a:noFill/>
        </p:spPr>
        <p:txBody>
          <a:bodyPr wrap="square" rtlCol="0">
            <a:spAutoFit/>
          </a:bodyPr>
          <a:lstStyle/>
          <a:p>
            <a:pPr marL="285750" indent="-285750">
              <a:buFont typeface="Arial" panose="020B0604020202020204" pitchFamily="34" charset="0"/>
              <a:buChar char="•"/>
            </a:pPr>
            <a:r>
              <a:rPr lang="en-US" sz="1000" dirty="0">
                <a:hlinkClick r:id="rId2"/>
              </a:rPr>
              <a:t>https://en.wikipedia.org/wiki/Bayesian_inference</a:t>
            </a:r>
            <a:r>
              <a:rPr lang="en-US" sz="1000" dirty="0"/>
              <a:t> </a:t>
            </a:r>
          </a:p>
          <a:p>
            <a:pPr marL="285750" indent="-285750">
              <a:buFont typeface="Arial" panose="020B0604020202020204" pitchFamily="34" charset="0"/>
              <a:buChar char="•"/>
            </a:pPr>
            <a:r>
              <a:rPr lang="en-US" sz="1000" dirty="0">
                <a:hlinkClick r:id="rId3"/>
              </a:rPr>
              <a:t>https://towardsdatascience.com/probability-concepts-explained-bayesian-inference-for-parameter-estimation-90e8930e5348</a:t>
            </a:r>
            <a:r>
              <a:rPr lang="en-US" sz="1000" dirty="0"/>
              <a:t> </a:t>
            </a:r>
          </a:p>
          <a:p>
            <a:pPr marL="285750" indent="-285750">
              <a:buFont typeface="Arial" panose="020B0604020202020204" pitchFamily="34" charset="0"/>
              <a:buChar char="•"/>
            </a:pPr>
            <a:r>
              <a:rPr lang="en-US" sz="1000" dirty="0">
                <a:hlinkClick r:id="rId4"/>
              </a:rPr>
              <a:t>https://www.probabilitycourse.com/chapter9/9_1_0_bayesian_inference.php</a:t>
            </a:r>
            <a:r>
              <a:rPr lang="en-US" sz="1000" dirty="0"/>
              <a:t> </a:t>
            </a:r>
          </a:p>
          <a:p>
            <a:pPr marL="285750" indent="-285750">
              <a:buFont typeface="Arial" panose="020B0604020202020204" pitchFamily="34" charset="0"/>
              <a:buChar char="•"/>
            </a:pPr>
            <a:r>
              <a:rPr lang="en-US" sz="1000" dirty="0">
                <a:hlinkClick r:id="rId5"/>
              </a:rPr>
              <a:t>http://christianherta.de/lehre/dataScience/bayesian/introduction_into_bayesian_inference_with_pymc.slides.php</a:t>
            </a:r>
            <a:r>
              <a:rPr lang="en-US" sz="1000" dirty="0"/>
              <a:t> </a:t>
            </a:r>
          </a:p>
          <a:p>
            <a:pPr marL="285750" indent="-285750">
              <a:buFont typeface="Arial" panose="020B0604020202020204" pitchFamily="34" charset="0"/>
              <a:buChar char="•"/>
            </a:pPr>
            <a:r>
              <a:rPr lang="en-US" sz="1000" dirty="0"/>
              <a:t>--</a:t>
            </a:r>
          </a:p>
        </p:txBody>
      </p:sp>
      <p:pic>
        <p:nvPicPr>
          <p:cNvPr id="1026" name="Picture 2" descr="Example of Bayesian inference with a prior distribution, a posterior... |  Download Scientific Diagram">
            <a:extLst>
              <a:ext uri="{FF2B5EF4-FFF2-40B4-BE49-F238E27FC236}">
                <a16:creationId xmlns:a16="http://schemas.microsoft.com/office/drawing/2014/main" id="{52EBAB0B-4DA4-B648-A32C-113FC45C1799}"/>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l="15843" r="15195"/>
          <a:stretch/>
        </p:blipFill>
        <p:spPr bwMode="auto">
          <a:xfrm>
            <a:off x="8407730" y="299182"/>
            <a:ext cx="3503220" cy="1600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B03AF5-0ABE-D24C-BD4E-D703BB877028}"/>
              </a:ext>
            </a:extLst>
          </p:cNvPr>
          <p:cNvSpPr txBox="1"/>
          <p:nvPr/>
        </p:nvSpPr>
        <p:spPr>
          <a:xfrm>
            <a:off x="5522026" y="37572"/>
            <a:ext cx="2576945" cy="307777"/>
          </a:xfrm>
          <a:prstGeom prst="rect">
            <a:avLst/>
          </a:prstGeom>
          <a:noFill/>
        </p:spPr>
        <p:txBody>
          <a:bodyPr wrap="square" rtlCol="0">
            <a:spAutoFit/>
          </a:bodyPr>
          <a:lstStyle/>
          <a:p>
            <a:r>
              <a:rPr lang="en-US" dirty="0"/>
              <a:t>Page Under Construction</a:t>
            </a:r>
          </a:p>
        </p:txBody>
      </p:sp>
      <p:sp>
        <p:nvSpPr>
          <p:cNvPr id="7" name="TextBox 6">
            <a:extLst>
              <a:ext uri="{FF2B5EF4-FFF2-40B4-BE49-F238E27FC236}">
                <a16:creationId xmlns:a16="http://schemas.microsoft.com/office/drawing/2014/main" id="{2690C9AC-6D70-EA4B-91BC-9BE4C7BA8CA9}"/>
              </a:ext>
            </a:extLst>
          </p:cNvPr>
          <p:cNvSpPr txBox="1"/>
          <p:nvPr/>
        </p:nvSpPr>
        <p:spPr>
          <a:xfrm>
            <a:off x="0" y="1099282"/>
            <a:ext cx="7298871" cy="4616648"/>
          </a:xfrm>
          <a:prstGeom prst="rect">
            <a:avLst/>
          </a:prstGeom>
          <a:noFill/>
        </p:spPr>
        <p:txBody>
          <a:bodyPr wrap="square" rtlCol="0">
            <a:spAutoFit/>
          </a:bodyPr>
          <a:lstStyle/>
          <a:p>
            <a:r>
              <a:rPr lang="en-US" dirty="0"/>
              <a:t>Bayesian inference is a method of statistical inference </a:t>
            </a:r>
          </a:p>
          <a:p>
            <a:r>
              <a:rPr lang="en-US" dirty="0"/>
              <a:t>in which Bayes' theorem is used to update the probability</a:t>
            </a:r>
          </a:p>
          <a:p>
            <a:r>
              <a:rPr lang="en-US" dirty="0"/>
              <a:t>for </a:t>
            </a:r>
            <a:r>
              <a:rPr lang="en-US" b="1" dirty="0">
                <a:solidFill>
                  <a:srgbClr val="0070C0"/>
                </a:solidFill>
              </a:rPr>
              <a:t>a hypothesis</a:t>
            </a:r>
            <a:r>
              <a:rPr lang="en-US" dirty="0"/>
              <a:t> as more evidence or information </a:t>
            </a:r>
          </a:p>
          <a:p>
            <a:r>
              <a:rPr lang="en-US" dirty="0"/>
              <a:t>becomes available. </a:t>
            </a:r>
          </a:p>
          <a:p>
            <a:endParaRPr lang="en-US" dirty="0"/>
          </a:p>
          <a:p>
            <a:r>
              <a:rPr lang="en-US" dirty="0"/>
              <a:t>Examples of typical problems:</a:t>
            </a:r>
          </a:p>
          <a:p>
            <a:endParaRPr lang="en-US" dirty="0"/>
          </a:p>
          <a:p>
            <a:pPr marL="342900" indent="-342900">
              <a:buFont typeface="+mj-lt"/>
              <a:buAutoNum type="arabicPeriod"/>
            </a:pPr>
            <a:r>
              <a:rPr lang="en-US" dirty="0"/>
              <a:t>We have sample of 10 children, 3 of them are literate (can read). We need to evaluate number of children who can read in the population. We presume that children are independent, that population is uniform, etc. We can use binomial distribution. - </a:t>
            </a:r>
            <a:r>
              <a:rPr lang="en-US" dirty="0">
                <a:hlinkClick r:id="rId7"/>
              </a:rPr>
              <a:t>https://www.youtube.com/watch?v=yvWlpwnT1nw</a:t>
            </a:r>
            <a:r>
              <a:rPr lang="en-US" dirty="0"/>
              <a:t> </a:t>
            </a:r>
          </a:p>
          <a:p>
            <a:pPr marL="342900" indent="-342900">
              <a:buFont typeface="+mj-lt"/>
              <a:buAutoNum type="arabicPeriod"/>
            </a:pPr>
            <a:endParaRPr lang="en-US" dirty="0"/>
          </a:p>
          <a:p>
            <a:pPr marL="342900" indent="-342900">
              <a:buFont typeface="+mj-lt"/>
              <a:buAutoNum type="arabicPeriod"/>
            </a:pPr>
            <a:r>
              <a:rPr lang="en-US" dirty="0"/>
              <a:t>We have 50 data samples x</a:t>
            </a:r>
            <a:r>
              <a:rPr lang="en-US" baseline="-25000" dirty="0"/>
              <a:t>1</a:t>
            </a:r>
            <a:r>
              <a:rPr lang="en-US" dirty="0"/>
              <a:t> .. x</a:t>
            </a:r>
            <a:r>
              <a:rPr lang="en-US" baseline="-25000" dirty="0"/>
              <a:t>50</a:t>
            </a:r>
            <a:r>
              <a:rPr lang="en-US" dirty="0"/>
              <a:t> which presumably follow exponential probability distribution </a:t>
            </a:r>
            <a:r>
              <a:rPr lang="el-GR" b="1" dirty="0"/>
              <a:t>λ</a:t>
            </a:r>
            <a:r>
              <a:rPr lang="en-US" b="1" dirty="0"/>
              <a:t>e</a:t>
            </a:r>
            <a:r>
              <a:rPr lang="en-US" b="1" baseline="30000" dirty="0"/>
              <a:t>-</a:t>
            </a:r>
            <a:r>
              <a:rPr lang="el-GR" b="1" baseline="30000" dirty="0"/>
              <a:t>λ</a:t>
            </a:r>
            <a:r>
              <a:rPr lang="en-US" b="1" baseline="30000" dirty="0"/>
              <a:t>x</a:t>
            </a:r>
            <a:r>
              <a:rPr lang="en-US" dirty="0"/>
              <a:t> . Estimate </a:t>
            </a:r>
            <a:r>
              <a:rPr lang="el-GR" b="1" dirty="0"/>
              <a:t>λ</a:t>
            </a:r>
            <a:r>
              <a:rPr lang="en-US" dirty="0"/>
              <a:t> . - </a:t>
            </a:r>
            <a:r>
              <a:rPr lang="en-US" dirty="0">
                <a:hlinkClick r:id="rId8"/>
              </a:rPr>
              <a:t>https://www.youtube.com/watch?v=I4dkEALQv34</a:t>
            </a:r>
            <a:r>
              <a:rPr lang="en-US" dirty="0"/>
              <a:t> </a:t>
            </a:r>
          </a:p>
          <a:p>
            <a:pPr marL="342900" indent="-342900">
              <a:buFont typeface="+mj-lt"/>
              <a:buAutoNum type="arabicPeriod"/>
            </a:pPr>
            <a:endParaRPr lang="en-US" dirty="0"/>
          </a:p>
          <a:p>
            <a:pPr marL="342900" indent="-342900">
              <a:buFont typeface="+mj-lt"/>
              <a:buAutoNum type="arabicPeriod"/>
            </a:pPr>
            <a:r>
              <a:rPr lang="en-US" dirty="0"/>
              <a:t>Estimate the bias of a coin. We need to estimate P(</a:t>
            </a:r>
            <a:r>
              <a:rPr lang="el-GR" dirty="0"/>
              <a:t>θ</a:t>
            </a:r>
            <a:r>
              <a:rPr lang="en-US" dirty="0"/>
              <a:t>), where </a:t>
            </a:r>
            <a:r>
              <a:rPr lang="el-GR" dirty="0"/>
              <a:t>θ</a:t>
            </a:r>
            <a:r>
              <a:rPr lang="en-US" dirty="0"/>
              <a:t> is the proportion of heads. - </a:t>
            </a:r>
            <a:r>
              <a:rPr lang="en-US" dirty="0">
                <a:hlinkClick r:id="rId9"/>
              </a:rPr>
              <a:t>https://www.youtube.com/watch?v=Pahyv9i_X2k</a:t>
            </a:r>
            <a:r>
              <a:rPr lang="en-US" dirty="0"/>
              <a:t> </a:t>
            </a:r>
          </a:p>
          <a:p>
            <a:pPr marL="342900" indent="-342900">
              <a:buFont typeface="+mj-lt"/>
              <a:buAutoNum type="arabicPeriod"/>
            </a:pPr>
            <a:endParaRPr lang="en-US" dirty="0"/>
          </a:p>
          <a:p>
            <a:pPr marL="342900" indent="-342900">
              <a:buFont typeface="+mj-lt"/>
              <a:buAutoNum type="arabicPeriod"/>
            </a:pPr>
            <a:r>
              <a:rPr lang="en-US" dirty="0"/>
              <a:t>We have 100 damaged flash drives which is a sample of much bigger set.</a:t>
            </a:r>
            <a:br>
              <a:rPr lang="en-US" dirty="0"/>
            </a:br>
            <a:r>
              <a:rPr lang="en-US" dirty="0"/>
              <a:t>80% of these damaged drives have coffee stains on them.</a:t>
            </a:r>
            <a:br>
              <a:rPr lang="en-US" dirty="0"/>
            </a:br>
            <a:r>
              <a:rPr lang="en-US" dirty="0"/>
              <a:t>Estimate probability (and credible interval) that coffee is causing the damage?</a:t>
            </a:r>
          </a:p>
        </p:txBody>
      </p:sp>
      <p:pic>
        <p:nvPicPr>
          <p:cNvPr id="4" name="Picture 2" descr="Posterior Distribution - an overview | ScienceDirect Topics">
            <a:extLst>
              <a:ext uri="{FF2B5EF4-FFF2-40B4-BE49-F238E27FC236}">
                <a16:creationId xmlns:a16="http://schemas.microsoft.com/office/drawing/2014/main" id="{CEA4947C-3142-0D4B-95C9-263473499FB2}"/>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915832" y="2386702"/>
            <a:ext cx="1995118" cy="2780430"/>
          </a:xfrm>
          <a:prstGeom prst="rect">
            <a:avLst/>
          </a:prstGeom>
          <a:noFill/>
          <a:extLst>
            <a:ext uri="{909E8E84-426E-40DD-AFC4-6F175D3DCCD1}">
              <a14:hiddenFill xmlns:a14="http://schemas.microsoft.com/office/drawing/2010/main">
                <a:solidFill>
                  <a:srgbClr val="FFFFFF"/>
                </a:solidFill>
              </a14:hiddenFill>
            </a:ext>
          </a:extLst>
        </p:spPr>
      </p:pic>
      <p:sp>
        <p:nvSpPr>
          <p:cNvPr id="5" name="Down Arrow 4">
            <a:extLst>
              <a:ext uri="{FF2B5EF4-FFF2-40B4-BE49-F238E27FC236}">
                <a16:creationId xmlns:a16="http://schemas.microsoft.com/office/drawing/2014/main" id="{568F8C97-730A-8142-88F6-9FFCFC9A61EB}"/>
              </a:ext>
            </a:extLst>
          </p:cNvPr>
          <p:cNvSpPr/>
          <p:nvPr/>
        </p:nvSpPr>
        <p:spPr>
          <a:xfrm>
            <a:off x="8098972" y="2438218"/>
            <a:ext cx="1621226" cy="2780430"/>
          </a:xfrm>
          <a:prstGeom prst="downArrow">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3DFD721-123D-204B-AFE0-D17539A91EDE}"/>
              </a:ext>
            </a:extLst>
          </p:cNvPr>
          <p:cNvSpPr txBox="1"/>
          <p:nvPr/>
        </p:nvSpPr>
        <p:spPr>
          <a:xfrm>
            <a:off x="8500526" y="2680246"/>
            <a:ext cx="837127" cy="369332"/>
          </a:xfrm>
          <a:prstGeom prst="rect">
            <a:avLst/>
          </a:prstGeom>
          <a:noFill/>
        </p:spPr>
        <p:txBody>
          <a:bodyPr wrap="square" rtlCol="0">
            <a:spAutoFit/>
          </a:bodyPr>
          <a:lstStyle/>
          <a:p>
            <a:pPr algn="ctr"/>
            <a:r>
              <a:rPr lang="en-US" sz="1800" b="1" dirty="0">
                <a:solidFill>
                  <a:srgbClr val="FF0000"/>
                </a:solidFill>
              </a:rPr>
              <a:t>Prior</a:t>
            </a:r>
          </a:p>
        </p:txBody>
      </p:sp>
      <p:sp>
        <p:nvSpPr>
          <p:cNvPr id="10" name="TextBox 9">
            <a:extLst>
              <a:ext uri="{FF2B5EF4-FFF2-40B4-BE49-F238E27FC236}">
                <a16:creationId xmlns:a16="http://schemas.microsoft.com/office/drawing/2014/main" id="{1BF5DD88-7604-6042-B781-961D2D4C4483}"/>
              </a:ext>
            </a:extLst>
          </p:cNvPr>
          <p:cNvSpPr txBox="1"/>
          <p:nvPr/>
        </p:nvSpPr>
        <p:spPr>
          <a:xfrm>
            <a:off x="8213068" y="3599851"/>
            <a:ext cx="1393034" cy="369332"/>
          </a:xfrm>
          <a:prstGeom prst="rect">
            <a:avLst/>
          </a:prstGeom>
          <a:noFill/>
        </p:spPr>
        <p:txBody>
          <a:bodyPr wrap="square" rtlCol="0">
            <a:spAutoFit/>
          </a:bodyPr>
          <a:lstStyle/>
          <a:p>
            <a:pPr algn="ctr"/>
            <a:r>
              <a:rPr lang="en-US" sz="1800" b="1" dirty="0">
                <a:solidFill>
                  <a:srgbClr val="FF0000"/>
                </a:solidFill>
              </a:rPr>
              <a:t>Likelihood</a:t>
            </a:r>
          </a:p>
        </p:txBody>
      </p:sp>
      <p:sp>
        <p:nvSpPr>
          <p:cNvPr id="11" name="TextBox 10">
            <a:extLst>
              <a:ext uri="{FF2B5EF4-FFF2-40B4-BE49-F238E27FC236}">
                <a16:creationId xmlns:a16="http://schemas.microsoft.com/office/drawing/2014/main" id="{8A3DB6B0-E514-F04F-AC27-BA8645C0773D}"/>
              </a:ext>
            </a:extLst>
          </p:cNvPr>
          <p:cNvSpPr txBox="1"/>
          <p:nvPr/>
        </p:nvSpPr>
        <p:spPr>
          <a:xfrm>
            <a:off x="8293994" y="4527347"/>
            <a:ext cx="1250193" cy="369332"/>
          </a:xfrm>
          <a:prstGeom prst="rect">
            <a:avLst/>
          </a:prstGeom>
          <a:noFill/>
        </p:spPr>
        <p:txBody>
          <a:bodyPr wrap="square" rtlCol="0">
            <a:spAutoFit/>
          </a:bodyPr>
          <a:lstStyle/>
          <a:p>
            <a:pPr algn="ctr"/>
            <a:r>
              <a:rPr lang="en-US" sz="1800" b="1" dirty="0">
                <a:solidFill>
                  <a:srgbClr val="FF0000"/>
                </a:solidFill>
              </a:rPr>
              <a:t>Posterior</a:t>
            </a:r>
          </a:p>
        </p:txBody>
      </p:sp>
    </p:spTree>
    <p:extLst>
      <p:ext uri="{BB962C8B-B14F-4D97-AF65-F5344CB8AC3E}">
        <p14:creationId xmlns:p14="http://schemas.microsoft.com/office/powerpoint/2010/main" val="4019757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1 – How Many Children Can Read ?</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402106"/>
            <a:ext cx="7057068" cy="338554"/>
          </a:xfrm>
          <a:prstGeom prst="rect">
            <a:avLst/>
          </a:prstGeom>
          <a:noFill/>
        </p:spPr>
        <p:txBody>
          <a:bodyPr wrap="square" rtlCol="0">
            <a:spAutoFit/>
          </a:bodyPr>
          <a:lstStyle/>
          <a:p>
            <a:r>
              <a:rPr lang="en-US" sz="1600" dirty="0"/>
              <a:t>We have sample of </a:t>
            </a:r>
            <a:r>
              <a:rPr lang="en-US" sz="1600" b="1" dirty="0"/>
              <a:t>10 children</a:t>
            </a:r>
            <a:r>
              <a:rPr lang="en-US" sz="1600" dirty="0"/>
              <a:t>, </a:t>
            </a:r>
            <a:r>
              <a:rPr lang="en-US" sz="1600" b="1" dirty="0"/>
              <a:t>3 of them are literate</a:t>
            </a:r>
            <a:r>
              <a:rPr lang="en-US" sz="1600" dirty="0"/>
              <a:t> (can read). </a:t>
            </a:r>
          </a:p>
        </p:txBody>
      </p:sp>
      <p:pic>
        <p:nvPicPr>
          <p:cNvPr id="3" name="Picture 2">
            <a:extLst>
              <a:ext uri="{FF2B5EF4-FFF2-40B4-BE49-F238E27FC236}">
                <a16:creationId xmlns:a16="http://schemas.microsoft.com/office/drawing/2014/main" id="{ED78D932-E041-E84C-A583-497021BF7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5324" y="2730305"/>
            <a:ext cx="2712933" cy="1987550"/>
          </a:xfrm>
          <a:prstGeom prst="rect">
            <a:avLst/>
          </a:prstGeom>
        </p:spPr>
      </p:pic>
      <p:pic>
        <p:nvPicPr>
          <p:cNvPr id="4" name="Picture 3">
            <a:extLst>
              <a:ext uri="{FF2B5EF4-FFF2-40B4-BE49-F238E27FC236}">
                <a16:creationId xmlns:a16="http://schemas.microsoft.com/office/drawing/2014/main" id="{4F66711F-3F7E-A94B-9A27-3E813592D7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5324" y="4801460"/>
            <a:ext cx="2712933" cy="1987550"/>
          </a:xfrm>
          <a:prstGeom prst="rect">
            <a:avLst/>
          </a:prstGeom>
        </p:spPr>
      </p:pic>
      <p:pic>
        <p:nvPicPr>
          <p:cNvPr id="5" name="Picture 4">
            <a:extLst>
              <a:ext uri="{FF2B5EF4-FFF2-40B4-BE49-F238E27FC236}">
                <a16:creationId xmlns:a16="http://schemas.microsoft.com/office/drawing/2014/main" id="{58937095-09E3-D34F-98FA-ACB1E79211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088440" y="2730305"/>
            <a:ext cx="2712933" cy="1987550"/>
          </a:xfrm>
          <a:prstGeom prst="rect">
            <a:avLst/>
          </a:prstGeom>
        </p:spPr>
      </p:pic>
      <p:pic>
        <p:nvPicPr>
          <p:cNvPr id="6" name="Picture 5">
            <a:extLst>
              <a:ext uri="{FF2B5EF4-FFF2-40B4-BE49-F238E27FC236}">
                <a16:creationId xmlns:a16="http://schemas.microsoft.com/office/drawing/2014/main" id="{AE9272F8-C664-3543-BB36-E2E5AFD854A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088440" y="4802670"/>
            <a:ext cx="2711282" cy="1986340"/>
          </a:xfrm>
          <a:prstGeom prst="rect">
            <a:avLst/>
          </a:prstGeom>
        </p:spPr>
      </p:pic>
      <p:pic>
        <p:nvPicPr>
          <p:cNvPr id="7" name="Picture 6">
            <a:extLst>
              <a:ext uri="{FF2B5EF4-FFF2-40B4-BE49-F238E27FC236}">
                <a16:creationId xmlns:a16="http://schemas.microsoft.com/office/drawing/2014/main" id="{F0E58C40-B695-4B42-B615-15EE0BF59B1A}"/>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015790" y="4802670"/>
            <a:ext cx="2711282" cy="1986340"/>
          </a:xfrm>
          <a:prstGeom prst="rect">
            <a:avLst/>
          </a:prstGeom>
        </p:spPr>
      </p:pic>
      <p:sp>
        <p:nvSpPr>
          <p:cNvPr id="8" name="TextBox 7">
            <a:extLst>
              <a:ext uri="{FF2B5EF4-FFF2-40B4-BE49-F238E27FC236}">
                <a16:creationId xmlns:a16="http://schemas.microsoft.com/office/drawing/2014/main" id="{518489C0-6FB3-7A4B-9A4F-307B788AC944}"/>
              </a:ext>
            </a:extLst>
          </p:cNvPr>
          <p:cNvSpPr txBox="1"/>
          <p:nvPr/>
        </p:nvSpPr>
        <p:spPr>
          <a:xfrm>
            <a:off x="6733256" y="4278240"/>
            <a:ext cx="1276350" cy="523220"/>
          </a:xfrm>
          <a:prstGeom prst="rect">
            <a:avLst/>
          </a:prstGeom>
          <a:noFill/>
        </p:spPr>
        <p:txBody>
          <a:bodyPr wrap="square" rtlCol="0">
            <a:spAutoFit/>
          </a:bodyPr>
          <a:lstStyle/>
          <a:p>
            <a:r>
              <a:rPr lang="en-US" b="1" dirty="0">
                <a:solidFill>
                  <a:srgbClr val="00B050"/>
                </a:solidFill>
              </a:rPr>
              <a:t>Increased Sample Size</a:t>
            </a:r>
          </a:p>
        </p:txBody>
      </p:sp>
      <p:sp>
        <p:nvSpPr>
          <p:cNvPr id="10" name="TextBox 9">
            <a:extLst>
              <a:ext uri="{FF2B5EF4-FFF2-40B4-BE49-F238E27FC236}">
                <a16:creationId xmlns:a16="http://schemas.microsoft.com/office/drawing/2014/main" id="{CD4E59FF-94DA-BE4B-A2B6-E0A0365E44BA}"/>
              </a:ext>
            </a:extLst>
          </p:cNvPr>
          <p:cNvSpPr txBox="1"/>
          <p:nvPr/>
        </p:nvSpPr>
        <p:spPr>
          <a:xfrm>
            <a:off x="8943139" y="5049110"/>
            <a:ext cx="2366545" cy="307777"/>
          </a:xfrm>
          <a:prstGeom prst="rect">
            <a:avLst/>
          </a:prstGeom>
          <a:noFill/>
        </p:spPr>
        <p:txBody>
          <a:bodyPr wrap="square" rtlCol="0">
            <a:spAutoFit/>
          </a:bodyPr>
          <a:lstStyle/>
          <a:p>
            <a:r>
              <a:rPr lang="en-US" b="1" dirty="0">
                <a:solidFill>
                  <a:srgbClr val="00B050"/>
                </a:solidFill>
              </a:rPr>
              <a:t>Prior  (many Hypotheses)</a:t>
            </a:r>
          </a:p>
        </p:txBody>
      </p:sp>
      <p:sp>
        <p:nvSpPr>
          <p:cNvPr id="11" name="TextBox 10">
            <a:extLst>
              <a:ext uri="{FF2B5EF4-FFF2-40B4-BE49-F238E27FC236}">
                <a16:creationId xmlns:a16="http://schemas.microsoft.com/office/drawing/2014/main" id="{7AA8ACDC-C4EF-1C4A-8827-C3FA843623C3}"/>
              </a:ext>
            </a:extLst>
          </p:cNvPr>
          <p:cNvSpPr txBox="1"/>
          <p:nvPr/>
        </p:nvSpPr>
        <p:spPr>
          <a:xfrm>
            <a:off x="8943140" y="5641346"/>
            <a:ext cx="2366544" cy="307777"/>
          </a:xfrm>
          <a:prstGeom prst="rect">
            <a:avLst/>
          </a:prstGeom>
          <a:noFill/>
        </p:spPr>
        <p:txBody>
          <a:bodyPr wrap="square" rtlCol="0">
            <a:spAutoFit/>
          </a:bodyPr>
          <a:lstStyle/>
          <a:p>
            <a:r>
              <a:rPr lang="en-US" b="1" dirty="0">
                <a:solidFill>
                  <a:srgbClr val="00B050"/>
                </a:solidFill>
              </a:rPr>
              <a:t>Likelihood (from Data)</a:t>
            </a:r>
          </a:p>
        </p:txBody>
      </p:sp>
      <p:sp>
        <p:nvSpPr>
          <p:cNvPr id="12" name="TextBox 11">
            <a:extLst>
              <a:ext uri="{FF2B5EF4-FFF2-40B4-BE49-F238E27FC236}">
                <a16:creationId xmlns:a16="http://schemas.microsoft.com/office/drawing/2014/main" id="{637BD549-1D1A-324E-9F6E-1D3B226117E0}"/>
              </a:ext>
            </a:extLst>
          </p:cNvPr>
          <p:cNvSpPr txBox="1"/>
          <p:nvPr/>
        </p:nvSpPr>
        <p:spPr>
          <a:xfrm>
            <a:off x="8943140" y="6233582"/>
            <a:ext cx="2366544" cy="307777"/>
          </a:xfrm>
          <a:prstGeom prst="rect">
            <a:avLst/>
          </a:prstGeom>
          <a:noFill/>
        </p:spPr>
        <p:txBody>
          <a:bodyPr wrap="square" rtlCol="0">
            <a:spAutoFit/>
          </a:bodyPr>
          <a:lstStyle/>
          <a:p>
            <a:r>
              <a:rPr lang="en-US" b="1" dirty="0">
                <a:solidFill>
                  <a:srgbClr val="00B050"/>
                </a:solidFill>
              </a:rPr>
              <a:t>Posterior (combination)</a:t>
            </a:r>
          </a:p>
        </p:txBody>
      </p:sp>
      <p:sp>
        <p:nvSpPr>
          <p:cNvPr id="16" name="TextBox 15">
            <a:extLst>
              <a:ext uri="{FF2B5EF4-FFF2-40B4-BE49-F238E27FC236}">
                <a16:creationId xmlns:a16="http://schemas.microsoft.com/office/drawing/2014/main" id="{CB21DEFB-400B-EC41-8148-718E9493529F}"/>
              </a:ext>
            </a:extLst>
          </p:cNvPr>
          <p:cNvSpPr txBox="1"/>
          <p:nvPr/>
        </p:nvSpPr>
        <p:spPr>
          <a:xfrm>
            <a:off x="7886370" y="1452814"/>
            <a:ext cx="4305630" cy="2677656"/>
          </a:xfrm>
          <a:prstGeom prst="rect">
            <a:avLst/>
          </a:prstGeom>
          <a:solidFill>
            <a:schemeClr val="accent6">
              <a:lumMod val="20000"/>
              <a:lumOff val="80000"/>
            </a:schemeClr>
          </a:solidFill>
        </p:spPr>
        <p:txBody>
          <a:bodyPr wrap="square" rtlCol="0">
            <a:spAutoFit/>
          </a:bodyPr>
          <a:lstStyle/>
          <a:p>
            <a:r>
              <a:rPr lang="en-US" dirty="0"/>
              <a:t>We try different </a:t>
            </a:r>
            <a:r>
              <a:rPr lang="en-US" b="1" dirty="0">
                <a:solidFill>
                  <a:srgbClr val="FF0000"/>
                </a:solidFill>
              </a:rPr>
              <a:t>Prior</a:t>
            </a:r>
            <a:r>
              <a:rPr lang="en-US" dirty="0"/>
              <a:t> functions P(</a:t>
            </a:r>
            <a:r>
              <a:rPr lang="el-GR" dirty="0"/>
              <a:t>θ</a:t>
            </a:r>
            <a:r>
              <a:rPr lang="en-US" dirty="0"/>
              <a:t>) </a:t>
            </a:r>
          </a:p>
          <a:p>
            <a:endParaRPr lang="en-US" dirty="0"/>
          </a:p>
          <a:p>
            <a:r>
              <a:rPr lang="en-US" dirty="0"/>
              <a:t>Then we can estimate the </a:t>
            </a:r>
            <a:r>
              <a:rPr lang="en-US" b="1" dirty="0">
                <a:solidFill>
                  <a:srgbClr val="FF0000"/>
                </a:solidFill>
              </a:rPr>
              <a:t>Likelihood</a:t>
            </a:r>
            <a:r>
              <a:rPr lang="en-US" dirty="0"/>
              <a:t> function from observed data as </a:t>
            </a:r>
            <a:r>
              <a:rPr lang="en-US" b="1" dirty="0">
                <a:solidFill>
                  <a:srgbClr val="0070C0"/>
                </a:solidFill>
              </a:rPr>
              <a:t>Binomial distribution</a:t>
            </a:r>
            <a:r>
              <a:rPr lang="en-US" dirty="0"/>
              <a:t> :</a:t>
            </a:r>
          </a:p>
          <a:p>
            <a:r>
              <a:rPr lang="en-US" b="1" dirty="0" err="1">
                <a:solidFill>
                  <a:srgbClr val="0070C0"/>
                </a:solidFill>
              </a:rPr>
              <a:t>binom.pmf</a:t>
            </a:r>
            <a:r>
              <a:rPr lang="en-US" b="1" dirty="0">
                <a:solidFill>
                  <a:srgbClr val="0070C0"/>
                </a:solidFill>
              </a:rPr>
              <a:t>(x, n, p)</a:t>
            </a:r>
            <a:r>
              <a:rPr lang="en-US" dirty="0"/>
              <a:t> , where n=sample size, x=number of literate kids, p=</a:t>
            </a:r>
            <a:r>
              <a:rPr lang="el-GR" dirty="0"/>
              <a:t>θ</a:t>
            </a:r>
            <a:r>
              <a:rPr lang="en-US" dirty="0"/>
              <a:t>=Literacy rate </a:t>
            </a:r>
          </a:p>
          <a:p>
            <a:endParaRPr lang="en-US" dirty="0"/>
          </a:p>
          <a:p>
            <a:r>
              <a:rPr lang="en-US" dirty="0"/>
              <a:t>Finally we can calculate </a:t>
            </a:r>
            <a:r>
              <a:rPr lang="en-US" b="1" dirty="0">
                <a:solidFill>
                  <a:srgbClr val="FF0000"/>
                </a:solidFill>
              </a:rPr>
              <a:t>Posterior distribution </a:t>
            </a:r>
            <a:r>
              <a:rPr lang="en-US" dirty="0"/>
              <a:t> using Bayes formula (without denominator P(x), which is constant, depends only on data "x" )</a:t>
            </a:r>
          </a:p>
          <a:p>
            <a:endParaRPr lang="en-US" dirty="0"/>
          </a:p>
          <a:p>
            <a:r>
              <a:rPr lang="en-US" dirty="0"/>
              <a:t>    P(</a:t>
            </a:r>
            <a:r>
              <a:rPr lang="el-GR" dirty="0"/>
              <a:t>θ</a:t>
            </a:r>
            <a:r>
              <a:rPr lang="en-US" dirty="0"/>
              <a:t> | x) </a:t>
            </a:r>
            <a:r>
              <a:rPr lang="en-US" dirty="0">
                <a:sym typeface="Wingdings" pitchFamily="2" charset="2"/>
              </a:rPr>
              <a:t>=</a:t>
            </a:r>
            <a:r>
              <a:rPr lang="en-US" dirty="0"/>
              <a:t> P(x|</a:t>
            </a:r>
            <a:r>
              <a:rPr lang="el-GR" dirty="0"/>
              <a:t>θ</a:t>
            </a:r>
            <a:r>
              <a:rPr lang="en-US" dirty="0"/>
              <a:t>) * P(</a:t>
            </a:r>
            <a:r>
              <a:rPr lang="el-GR" dirty="0"/>
              <a:t>θ</a:t>
            </a:r>
            <a:r>
              <a:rPr lang="en-US" dirty="0"/>
              <a:t>)</a:t>
            </a:r>
          </a:p>
        </p:txBody>
      </p:sp>
      <p:sp>
        <p:nvSpPr>
          <p:cNvPr id="17" name="TextBox 16">
            <a:extLst>
              <a:ext uri="{FF2B5EF4-FFF2-40B4-BE49-F238E27FC236}">
                <a16:creationId xmlns:a16="http://schemas.microsoft.com/office/drawing/2014/main" id="{E58001A0-66A1-9345-9AC0-0D34470AF616}"/>
              </a:ext>
            </a:extLst>
          </p:cNvPr>
          <p:cNvSpPr txBox="1"/>
          <p:nvPr/>
        </p:nvSpPr>
        <p:spPr>
          <a:xfrm>
            <a:off x="793614" y="2444686"/>
            <a:ext cx="1362943" cy="307777"/>
          </a:xfrm>
          <a:prstGeom prst="rect">
            <a:avLst/>
          </a:prstGeom>
          <a:noFill/>
        </p:spPr>
        <p:txBody>
          <a:bodyPr wrap="square" rtlCol="0">
            <a:spAutoFit/>
          </a:bodyPr>
          <a:lstStyle/>
          <a:p>
            <a:r>
              <a:rPr lang="en-US" b="1" dirty="0">
                <a:solidFill>
                  <a:srgbClr val="00B050"/>
                </a:solidFill>
              </a:rPr>
              <a:t>Change Prior</a:t>
            </a:r>
          </a:p>
        </p:txBody>
      </p:sp>
      <p:sp>
        <p:nvSpPr>
          <p:cNvPr id="18" name="TextBox 17">
            <a:extLst>
              <a:ext uri="{FF2B5EF4-FFF2-40B4-BE49-F238E27FC236}">
                <a16:creationId xmlns:a16="http://schemas.microsoft.com/office/drawing/2014/main" id="{A50554F9-33AD-8E4A-A6A0-A61CD003CC00}"/>
              </a:ext>
            </a:extLst>
          </p:cNvPr>
          <p:cNvSpPr txBox="1"/>
          <p:nvPr/>
        </p:nvSpPr>
        <p:spPr>
          <a:xfrm>
            <a:off x="3305620" y="2438740"/>
            <a:ext cx="2311090" cy="307777"/>
          </a:xfrm>
          <a:prstGeom prst="rect">
            <a:avLst/>
          </a:prstGeom>
          <a:noFill/>
        </p:spPr>
        <p:txBody>
          <a:bodyPr wrap="square" rtlCol="0">
            <a:spAutoFit/>
          </a:bodyPr>
          <a:lstStyle/>
          <a:p>
            <a:r>
              <a:rPr lang="en-US" b="1" dirty="0">
                <a:solidFill>
                  <a:srgbClr val="00B050"/>
                </a:solidFill>
              </a:rPr>
              <a:t>Change Data / Likelihood</a:t>
            </a:r>
          </a:p>
        </p:txBody>
      </p:sp>
      <p:pic>
        <p:nvPicPr>
          <p:cNvPr id="9" name="Picture 8">
            <a:extLst>
              <a:ext uri="{FF2B5EF4-FFF2-40B4-BE49-F238E27FC236}">
                <a16:creationId xmlns:a16="http://schemas.microsoft.com/office/drawing/2014/main" id="{22AF3A29-5739-F040-A6EE-6B9376B4F8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9818315" y="330367"/>
            <a:ext cx="2324100" cy="660400"/>
          </a:xfrm>
          <a:prstGeom prst="rect">
            <a:avLst/>
          </a:prstGeom>
        </p:spPr>
      </p:pic>
      <p:sp>
        <p:nvSpPr>
          <p:cNvPr id="14" name="TextBox 13">
            <a:extLst>
              <a:ext uri="{FF2B5EF4-FFF2-40B4-BE49-F238E27FC236}">
                <a16:creationId xmlns:a16="http://schemas.microsoft.com/office/drawing/2014/main" id="{42CCD526-9AC4-7C4D-8364-2BCCCF58C3E5}"/>
              </a:ext>
            </a:extLst>
          </p:cNvPr>
          <p:cNvSpPr txBox="1"/>
          <p:nvPr/>
        </p:nvSpPr>
        <p:spPr>
          <a:xfrm>
            <a:off x="9818315" y="36592"/>
            <a:ext cx="1808709" cy="307777"/>
          </a:xfrm>
          <a:prstGeom prst="rect">
            <a:avLst/>
          </a:prstGeom>
          <a:noFill/>
        </p:spPr>
        <p:txBody>
          <a:bodyPr wrap="square" rtlCol="0">
            <a:spAutoFit/>
          </a:bodyPr>
          <a:lstStyle/>
          <a:p>
            <a:r>
              <a:rPr lang="en-US" dirty="0"/>
              <a:t>Binomial Distribution</a:t>
            </a:r>
          </a:p>
        </p:txBody>
      </p:sp>
      <p:sp>
        <p:nvSpPr>
          <p:cNvPr id="15" name="Down Arrow 14">
            <a:extLst>
              <a:ext uri="{FF2B5EF4-FFF2-40B4-BE49-F238E27FC236}">
                <a16:creationId xmlns:a16="http://schemas.microsoft.com/office/drawing/2014/main" id="{8F1F6B84-E02C-714B-A889-0780879217CC}"/>
              </a:ext>
            </a:extLst>
          </p:cNvPr>
          <p:cNvSpPr/>
          <p:nvPr/>
        </p:nvSpPr>
        <p:spPr>
          <a:xfrm rot="3648071">
            <a:off x="6431189" y="2844913"/>
            <a:ext cx="825363" cy="1112125"/>
          </a:xfrm>
          <a:prstGeom prst="downArrow">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30D0526-1D3A-EA4A-951A-265143D80F77}"/>
              </a:ext>
            </a:extLst>
          </p:cNvPr>
          <p:cNvSpPr txBox="1"/>
          <p:nvPr/>
        </p:nvSpPr>
        <p:spPr>
          <a:xfrm>
            <a:off x="0" y="1255432"/>
            <a:ext cx="7057068" cy="1138773"/>
          </a:xfrm>
          <a:prstGeom prst="rect">
            <a:avLst/>
          </a:prstGeom>
          <a:noFill/>
        </p:spPr>
        <p:txBody>
          <a:bodyPr wrap="square" rtlCol="0">
            <a:spAutoFit/>
          </a:bodyPr>
          <a:lstStyle/>
          <a:p>
            <a:r>
              <a:rPr lang="en-US" sz="1600" dirty="0"/>
              <a:t>We need to evaluate the literacy rate </a:t>
            </a:r>
            <a:r>
              <a:rPr lang="el-GR" sz="1600" dirty="0"/>
              <a:t>θ</a:t>
            </a:r>
            <a:r>
              <a:rPr lang="en-US" sz="1600" dirty="0"/>
              <a:t>  (percentage of children who can read) in the population. </a:t>
            </a:r>
            <a:endParaRPr lang="en-US" sz="1200" dirty="0"/>
          </a:p>
          <a:p>
            <a:r>
              <a:rPr lang="en-US" sz="1200" dirty="0"/>
              <a:t>We presume that children are independent, that population is uniform, etc. </a:t>
            </a:r>
          </a:p>
          <a:p>
            <a:r>
              <a:rPr lang="en-US" sz="1200" dirty="0"/>
              <a:t>We can use binomial distribution for likelihood function. </a:t>
            </a:r>
          </a:p>
          <a:p>
            <a:r>
              <a:rPr lang="en-US" sz="1200" dirty="0"/>
              <a:t>- </a:t>
            </a:r>
            <a:r>
              <a:rPr lang="en-US" sz="1200" dirty="0">
                <a:hlinkClick r:id="rId8"/>
              </a:rPr>
              <a:t>https://www.youtube.com/watch?v=yvWlpwnT1nw</a:t>
            </a:r>
            <a:r>
              <a:rPr lang="en-US" sz="1200" dirty="0"/>
              <a:t> </a:t>
            </a:r>
          </a:p>
        </p:txBody>
      </p:sp>
      <p:pic>
        <p:nvPicPr>
          <p:cNvPr id="1028" name="Picture 4" descr="Boy Reading Book Outline Stock Illustrations – 760 Boy Reading Book Outline  Stock Illustrations, Vectors &amp; Clipart - Dreamstime">
            <a:extLst>
              <a:ext uri="{FF2B5EF4-FFF2-40B4-BE49-F238E27FC236}">
                <a16:creationId xmlns:a16="http://schemas.microsoft.com/office/drawing/2014/main" id="{40619F64-57EE-6A4C-9B53-5C007FEC9852}"/>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1089375"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Boy Reading Book Outline Stock Illustrations – 760 Boy Reading Book Outline  Stock Illustrations, Vectors &amp; Clipart - Dreamstime">
            <a:extLst>
              <a:ext uri="{FF2B5EF4-FFF2-40B4-BE49-F238E27FC236}">
                <a16:creationId xmlns:a16="http://schemas.microsoft.com/office/drawing/2014/main" id="{9D0864A7-86E8-1B49-9097-CE290E750850}"/>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2069871"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4" descr="Boy Reading Book Outline Stock Illustrations – 760 Boy Reading Book Outline  Stock Illustrations, Vectors &amp; Clipart - Dreamstime">
            <a:extLst>
              <a:ext uri="{FF2B5EF4-FFF2-40B4-BE49-F238E27FC236}">
                <a16:creationId xmlns:a16="http://schemas.microsoft.com/office/drawing/2014/main" id="{E3805C6D-7B99-EF42-AE48-500D6C0E00EC}"/>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599127"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4" descr="Boy Reading Book Outline Stock Illustrations – 760 Boy Reading Book Outline  Stock Illustrations, Vectors &amp; Clipart - Dreamstime">
            <a:extLst>
              <a:ext uri="{FF2B5EF4-FFF2-40B4-BE49-F238E27FC236}">
                <a16:creationId xmlns:a16="http://schemas.microsoft.com/office/drawing/2014/main" id="{F4C8897B-D1DB-984E-BD40-F6E8F54CFADD}"/>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1579623"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6" descr="Boy Reading Book Outline Stock Illustrations – 760 Boy Reading Book Outline  Stock Illustrations, Vectors &amp; Clipart - Dreamstime">
            <a:extLst>
              <a:ext uri="{FF2B5EF4-FFF2-40B4-BE49-F238E27FC236}">
                <a16:creationId xmlns:a16="http://schemas.microsoft.com/office/drawing/2014/main" id="{23676CD5-3841-4140-96B6-ADC6A512390E}"/>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2552292"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6" descr="Boy Reading Book Outline Stock Illustrations – 760 Boy Reading Book Outline  Stock Illustrations, Vectors &amp; Clipart - Dreamstime">
            <a:extLst>
              <a:ext uri="{FF2B5EF4-FFF2-40B4-BE49-F238E27FC236}">
                <a16:creationId xmlns:a16="http://schemas.microsoft.com/office/drawing/2014/main" id="{A1C2C2CF-35B8-6C48-B49E-9563489C9059}"/>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034713"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Boy Reading Book Outline Stock Illustrations – 760 Boy Reading Book Outline  Stock Illustrations, Vectors &amp; Clipart - Dreamstime">
            <a:extLst>
              <a:ext uri="{FF2B5EF4-FFF2-40B4-BE49-F238E27FC236}">
                <a16:creationId xmlns:a16="http://schemas.microsoft.com/office/drawing/2014/main" id="{69BF1247-FF67-5943-9D52-0EBC7509F47D}"/>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517134"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Boy Reading Book Outline Stock Illustrations – 760 Boy Reading Book Outline  Stock Illustrations, Vectors &amp; Clipart - Dreamstime">
            <a:extLst>
              <a:ext uri="{FF2B5EF4-FFF2-40B4-BE49-F238E27FC236}">
                <a16:creationId xmlns:a16="http://schemas.microsoft.com/office/drawing/2014/main" id="{8B0EEF28-CAE6-6248-BEF1-7739B5DD85D5}"/>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999555"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Boy Reading Book Outline Stock Illustrations – 760 Boy Reading Book Outline  Stock Illustrations, Vectors &amp; Clipart - Dreamstime">
            <a:extLst>
              <a:ext uri="{FF2B5EF4-FFF2-40B4-BE49-F238E27FC236}">
                <a16:creationId xmlns:a16="http://schemas.microsoft.com/office/drawing/2014/main" id="{7A0224BF-BD58-E045-897C-C5EA6B27E20B}"/>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4481976"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Boy Reading Book Outline Stock Illustrations – 760 Boy Reading Book Outline  Stock Illustrations, Vectors &amp; Clipart - Dreamstime">
            <a:extLst>
              <a:ext uri="{FF2B5EF4-FFF2-40B4-BE49-F238E27FC236}">
                <a16:creationId xmlns:a16="http://schemas.microsoft.com/office/drawing/2014/main" id="{9DE4ACC5-10FB-C043-94A8-B0CFF33E2162}"/>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4964397" y="773087"/>
            <a:ext cx="236647" cy="4854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2179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exponential</a:t>
            </a:r>
          </a:p>
        </p:txBody>
      </p:sp>
      <p:pic>
        <p:nvPicPr>
          <p:cNvPr id="4" name="Picture 3">
            <a:extLst>
              <a:ext uri="{FF2B5EF4-FFF2-40B4-BE49-F238E27FC236}">
                <a16:creationId xmlns:a16="http://schemas.microsoft.com/office/drawing/2014/main" id="{F89887AE-03E3-D84A-896C-B4E9A7411A9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721927" y="37572"/>
            <a:ext cx="3500526" cy="2804236"/>
          </a:xfrm>
          <a:prstGeom prst="rect">
            <a:avLst/>
          </a:prstGeom>
        </p:spPr>
      </p:pic>
      <p:pic>
        <p:nvPicPr>
          <p:cNvPr id="7" name="Picture 6">
            <a:extLst>
              <a:ext uri="{FF2B5EF4-FFF2-40B4-BE49-F238E27FC236}">
                <a16:creationId xmlns:a16="http://schemas.microsoft.com/office/drawing/2014/main" id="{DF32C525-381C-F041-BE86-097D874772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21927" y="3336799"/>
            <a:ext cx="1604817" cy="1214914"/>
          </a:xfrm>
          <a:prstGeom prst="rect">
            <a:avLst/>
          </a:prstGeom>
        </p:spPr>
      </p:pic>
      <p:sp>
        <p:nvSpPr>
          <p:cNvPr id="8" name="TextBox 7">
            <a:extLst>
              <a:ext uri="{FF2B5EF4-FFF2-40B4-BE49-F238E27FC236}">
                <a16:creationId xmlns:a16="http://schemas.microsoft.com/office/drawing/2014/main" id="{8F80D991-C076-6145-9149-D86D17FCC03E}"/>
              </a:ext>
            </a:extLst>
          </p:cNvPr>
          <p:cNvSpPr txBox="1"/>
          <p:nvPr/>
        </p:nvSpPr>
        <p:spPr>
          <a:xfrm>
            <a:off x="7472190" y="3663788"/>
            <a:ext cx="2322974" cy="461665"/>
          </a:xfrm>
          <a:prstGeom prst="rect">
            <a:avLst/>
          </a:prstGeom>
          <a:noFill/>
        </p:spPr>
        <p:txBody>
          <a:bodyPr wrap="square" rtlCol="0">
            <a:spAutoFit/>
          </a:bodyPr>
          <a:lstStyle/>
          <a:p>
            <a:r>
              <a:rPr lang="en-US" sz="1200" dirty="0"/>
              <a:t>Step 2 – generated 1000 values of </a:t>
            </a:r>
            <a:r>
              <a:rPr lang="el-GR" sz="1200" b="1" dirty="0">
                <a:solidFill>
                  <a:srgbClr val="00B050"/>
                </a:solidFill>
              </a:rPr>
              <a:t>λ</a:t>
            </a:r>
            <a:r>
              <a:rPr lang="en-US" sz="1200" b="1" dirty="0">
                <a:solidFill>
                  <a:srgbClr val="00B050"/>
                </a:solidFill>
              </a:rPr>
              <a:t> </a:t>
            </a:r>
            <a:r>
              <a:rPr lang="en-US" sz="1200" dirty="0"/>
              <a:t>(prior distribution)</a:t>
            </a:r>
          </a:p>
        </p:txBody>
      </p:sp>
      <p:pic>
        <p:nvPicPr>
          <p:cNvPr id="10" name="Picture 9">
            <a:extLst>
              <a:ext uri="{FF2B5EF4-FFF2-40B4-BE49-F238E27FC236}">
                <a16:creationId xmlns:a16="http://schemas.microsoft.com/office/drawing/2014/main" id="{584CDA89-CD45-1C4C-85D6-A9B5DD35AF3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21927" y="4925286"/>
            <a:ext cx="1518644" cy="1214915"/>
          </a:xfrm>
          <a:prstGeom prst="rect">
            <a:avLst/>
          </a:prstGeom>
        </p:spPr>
      </p:pic>
      <p:sp>
        <p:nvSpPr>
          <p:cNvPr id="12" name="TextBox 11">
            <a:extLst>
              <a:ext uri="{FF2B5EF4-FFF2-40B4-BE49-F238E27FC236}">
                <a16:creationId xmlns:a16="http://schemas.microsoft.com/office/drawing/2014/main" id="{346D33D7-2EFA-7746-AAAE-40E0D7749D75}"/>
              </a:ext>
            </a:extLst>
          </p:cNvPr>
          <p:cNvSpPr txBox="1"/>
          <p:nvPr/>
        </p:nvSpPr>
        <p:spPr>
          <a:xfrm>
            <a:off x="7588964" y="5205612"/>
            <a:ext cx="2322974" cy="461665"/>
          </a:xfrm>
          <a:prstGeom prst="rect">
            <a:avLst/>
          </a:prstGeom>
          <a:noFill/>
        </p:spPr>
        <p:txBody>
          <a:bodyPr wrap="square" rtlCol="0">
            <a:spAutoFit/>
          </a:bodyPr>
          <a:lstStyle/>
          <a:p>
            <a:r>
              <a:rPr lang="en-US" sz="1200" dirty="0"/>
              <a:t>Step 4 – posterior distribution,</a:t>
            </a:r>
          </a:p>
          <a:p>
            <a:r>
              <a:rPr lang="en-US" sz="1200" dirty="0"/>
              <a:t>confidence interval</a:t>
            </a:r>
          </a:p>
        </p:txBody>
      </p:sp>
      <p:pic>
        <p:nvPicPr>
          <p:cNvPr id="11" name="Picture 10">
            <a:extLst>
              <a:ext uri="{FF2B5EF4-FFF2-40B4-BE49-F238E27FC236}">
                <a16:creationId xmlns:a16="http://schemas.microsoft.com/office/drawing/2014/main" id="{F8103F5D-D3A6-0E4D-8566-DB6C456E59D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938" y="4925286"/>
            <a:ext cx="1518644" cy="1264781"/>
          </a:xfrm>
          <a:prstGeom prst="rect">
            <a:avLst/>
          </a:prstGeom>
        </p:spPr>
      </p:pic>
      <p:sp>
        <p:nvSpPr>
          <p:cNvPr id="14" name="TextBox 13">
            <a:extLst>
              <a:ext uri="{FF2B5EF4-FFF2-40B4-BE49-F238E27FC236}">
                <a16:creationId xmlns:a16="http://schemas.microsoft.com/office/drawing/2014/main" id="{DED664E5-2E16-1C45-BDD3-190F3A074F5D}"/>
              </a:ext>
            </a:extLst>
          </p:cNvPr>
          <p:cNvSpPr txBox="1"/>
          <p:nvPr/>
        </p:nvSpPr>
        <p:spPr>
          <a:xfrm>
            <a:off x="-14817" y="680867"/>
            <a:ext cx="5591298" cy="5509200"/>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exponential </a:t>
            </a:r>
          </a:p>
          <a:p>
            <a:r>
              <a:rPr lang="en-US" sz="1200" dirty="0"/>
              <a:t>probability distribution </a:t>
            </a:r>
            <a:r>
              <a:rPr lang="el-GR" sz="1200" b="1" dirty="0">
                <a:solidFill>
                  <a:srgbClr val="00B050"/>
                </a:solidFill>
              </a:rPr>
              <a:t>λ</a:t>
            </a:r>
            <a:r>
              <a:rPr lang="en-US" sz="1200" b="1" dirty="0">
                <a:solidFill>
                  <a:srgbClr val="00B050"/>
                </a:solidFill>
              </a:rPr>
              <a:t>e</a:t>
            </a:r>
            <a:r>
              <a:rPr lang="en-US" sz="1200" b="1" baseline="30000" dirty="0">
                <a:solidFill>
                  <a:srgbClr val="00B050"/>
                </a:solidFill>
              </a:rPr>
              <a:t>-</a:t>
            </a:r>
            <a:r>
              <a:rPr lang="el-GR" sz="1200" b="1" baseline="30000" dirty="0">
                <a:solidFill>
                  <a:srgbClr val="00B050"/>
                </a:solidFill>
              </a:rPr>
              <a:t>λ</a:t>
            </a:r>
            <a:r>
              <a:rPr lang="en-US" sz="1200" b="1" baseline="30000" dirty="0">
                <a:solidFill>
                  <a:srgbClr val="00B050"/>
                </a:solidFill>
              </a:rPr>
              <a:t>x</a:t>
            </a:r>
            <a:r>
              <a:rPr lang="en-US" sz="1200" dirty="0"/>
              <a:t> . </a:t>
            </a:r>
          </a:p>
          <a:p>
            <a:r>
              <a:rPr lang="en-US" sz="1200" dirty="0"/>
              <a:t>Please estimate the value of </a:t>
            </a:r>
            <a:r>
              <a:rPr lang="el-GR" sz="1200" b="1" dirty="0">
                <a:solidFill>
                  <a:srgbClr val="00B050"/>
                </a:solidFill>
              </a:rPr>
              <a:t>λ</a:t>
            </a:r>
            <a:r>
              <a:rPr lang="en-US" sz="1200" dirty="0"/>
              <a:t> . </a:t>
            </a:r>
          </a:p>
          <a:p>
            <a:endParaRPr lang="en-US" sz="1200" dirty="0"/>
          </a:p>
          <a:p>
            <a:r>
              <a:rPr lang="en-US" sz="1200" dirty="0"/>
              <a:t>- </a:t>
            </a:r>
            <a:r>
              <a:rPr lang="en-US" sz="1200" dirty="0">
                <a:hlinkClick r:id="rId6"/>
              </a:rPr>
              <a:t>https://www.youtube.com/watch?v=I4dkEALQv34</a:t>
            </a:r>
            <a:r>
              <a:rPr lang="en-US" sz="1200" dirty="0"/>
              <a:t> </a:t>
            </a:r>
          </a:p>
          <a:p>
            <a:endParaRPr lang="en-US" sz="1200" dirty="0"/>
          </a:p>
          <a:p>
            <a:r>
              <a:rPr lang="en-US" sz="1200" dirty="0"/>
              <a:t>Method 1: "Point Estimation" = "Maximum Likelihood Estimation".</a:t>
            </a:r>
          </a:p>
          <a:p>
            <a:r>
              <a:rPr lang="el-GR" sz="1200" b="1" dirty="0">
                <a:solidFill>
                  <a:srgbClr val="00B050"/>
                </a:solidFill>
              </a:rPr>
              <a:t>λ</a:t>
            </a:r>
            <a:r>
              <a:rPr lang="en-US" sz="1200" b="1" dirty="0">
                <a:solidFill>
                  <a:srgbClr val="00B050"/>
                </a:solidFill>
              </a:rPr>
              <a:t> = 1/m, </a:t>
            </a:r>
          </a:p>
          <a:p>
            <a:r>
              <a:rPr lang="en-US" sz="1200" dirty="0"/>
              <a:t>where m = mean(x</a:t>
            </a:r>
            <a:r>
              <a:rPr lang="en-US" sz="1200" baseline="-25000" dirty="0"/>
              <a:t>i</a:t>
            </a:r>
            <a:r>
              <a:rPr lang="en-US" sz="1200" dirty="0"/>
              <a:t>) = (x</a:t>
            </a:r>
            <a:r>
              <a:rPr lang="en-US" sz="1200" baseline="-25000" dirty="0"/>
              <a:t>1</a:t>
            </a:r>
            <a:r>
              <a:rPr lang="en-US" sz="1200" dirty="0"/>
              <a:t> + ...+ x</a:t>
            </a:r>
            <a:r>
              <a:rPr lang="en-US" sz="1200" baseline="-25000" dirty="0"/>
              <a:t>50</a:t>
            </a:r>
            <a:r>
              <a:rPr lang="en-US" sz="1200" dirty="0"/>
              <a:t>)/50</a:t>
            </a:r>
          </a:p>
          <a:p>
            <a:endParaRPr lang="en-US" sz="1200" dirty="0"/>
          </a:p>
          <a:p>
            <a:r>
              <a:rPr lang="en-US" sz="1200" dirty="0"/>
              <a:t>Method 2: Interval Estimation = "Bayesian Inference".</a:t>
            </a:r>
          </a:p>
          <a:p>
            <a:r>
              <a:rPr lang="en-US" sz="1200" dirty="0"/>
              <a:t>  Estimate a distribution of possible values of  </a:t>
            </a:r>
            <a:r>
              <a:rPr lang="el-GR" sz="1200" b="1" dirty="0">
                <a:solidFill>
                  <a:srgbClr val="00B050"/>
                </a:solidFill>
              </a:rPr>
              <a:t>λ</a:t>
            </a:r>
            <a:r>
              <a:rPr lang="en-US" sz="1200" dirty="0"/>
              <a:t> .</a:t>
            </a:r>
          </a:p>
          <a:p>
            <a:endParaRPr lang="en-US" sz="1200" dirty="0"/>
          </a:p>
          <a:p>
            <a:r>
              <a:rPr lang="en-US" sz="1200" dirty="0"/>
              <a:t>Step 1 – assume a </a:t>
            </a:r>
            <a:r>
              <a:rPr lang="en-US" sz="1200" dirty="0">
                <a:solidFill>
                  <a:srgbClr val="FF0000"/>
                </a:solidFill>
              </a:rPr>
              <a:t>prior distribution</a:t>
            </a:r>
            <a:r>
              <a:rPr lang="en-US" sz="1200" dirty="0"/>
              <a:t> of </a:t>
            </a:r>
            <a:r>
              <a:rPr lang="el-GR" sz="1200" b="1" dirty="0">
                <a:solidFill>
                  <a:srgbClr val="00B050"/>
                </a:solidFill>
              </a:rPr>
              <a:t>λ</a:t>
            </a:r>
            <a:r>
              <a:rPr lang="en-US" sz="1200" b="1" dirty="0">
                <a:solidFill>
                  <a:srgbClr val="00B050"/>
                </a:solidFill>
              </a:rPr>
              <a:t> </a:t>
            </a:r>
            <a:r>
              <a:rPr lang="en-US" sz="1200" dirty="0"/>
              <a:t>without accounting for observed data. For example, make it flat uniform in range (1,6).</a:t>
            </a:r>
          </a:p>
          <a:p>
            <a:endParaRPr lang="en-US" sz="1200" dirty="0"/>
          </a:p>
          <a:p>
            <a:r>
              <a:rPr lang="en-US" sz="1200" dirty="0"/>
              <a:t>Step2 – generate random </a:t>
            </a:r>
            <a:r>
              <a:rPr lang="el-GR" sz="1200" b="1" dirty="0">
                <a:solidFill>
                  <a:srgbClr val="00B050"/>
                </a:solidFill>
              </a:rPr>
              <a:t>λ</a:t>
            </a:r>
            <a:r>
              <a:rPr lang="en-US" sz="1200" b="1" dirty="0">
                <a:solidFill>
                  <a:srgbClr val="00B050"/>
                </a:solidFill>
              </a:rPr>
              <a:t> </a:t>
            </a:r>
            <a:r>
              <a:rPr lang="en-US" sz="1200" dirty="0"/>
              <a:t>values following the </a:t>
            </a:r>
            <a:r>
              <a:rPr lang="en-US" sz="1200" dirty="0">
                <a:solidFill>
                  <a:srgbClr val="FF0000"/>
                </a:solidFill>
              </a:rPr>
              <a:t>prior distribution</a:t>
            </a:r>
            <a:r>
              <a:rPr lang="en-US" sz="1200" dirty="0"/>
              <a:t> .</a:t>
            </a:r>
          </a:p>
          <a:p>
            <a:r>
              <a:rPr lang="en-US" sz="1200" dirty="0"/>
              <a:t>  generate thousand random values </a:t>
            </a:r>
            <a:r>
              <a:rPr lang="el-GR" sz="1200" b="1" dirty="0">
                <a:solidFill>
                  <a:srgbClr val="00B050"/>
                </a:solidFill>
              </a:rPr>
              <a:t>λ</a:t>
            </a:r>
            <a:r>
              <a:rPr lang="en-US" sz="1200" b="1" dirty="0">
                <a:solidFill>
                  <a:srgbClr val="00B050"/>
                </a:solidFill>
              </a:rPr>
              <a:t> </a:t>
            </a:r>
            <a:r>
              <a:rPr lang="en-US" sz="1200" dirty="0"/>
              <a:t>in range (1,6)</a:t>
            </a:r>
          </a:p>
          <a:p>
            <a:endParaRPr lang="en-US" sz="1200" dirty="0"/>
          </a:p>
          <a:p>
            <a:r>
              <a:rPr lang="en-US" sz="1200" dirty="0"/>
              <a:t>Step 3 – compute the likelihood of each generated </a:t>
            </a:r>
            <a:r>
              <a:rPr lang="el-GR" sz="1200" b="1" dirty="0">
                <a:solidFill>
                  <a:srgbClr val="00B050"/>
                </a:solidFill>
              </a:rPr>
              <a:t>λ</a:t>
            </a:r>
            <a:r>
              <a:rPr lang="en-US" sz="1200" dirty="0"/>
              <a:t> . </a:t>
            </a:r>
          </a:p>
          <a:p>
            <a:r>
              <a:rPr lang="en-US" sz="1200" dirty="0"/>
              <a:t>      L(</a:t>
            </a:r>
            <a:r>
              <a:rPr lang="el-GR" sz="1200" b="1" dirty="0">
                <a:solidFill>
                  <a:srgbClr val="00B050"/>
                </a:solidFill>
              </a:rPr>
              <a:t>λ</a:t>
            </a:r>
            <a:r>
              <a:rPr lang="en-US" sz="1200" b="1" baseline="-25000" dirty="0">
                <a:solidFill>
                  <a:srgbClr val="00B050"/>
                </a:solidFill>
              </a:rPr>
              <a:t>n</a:t>
            </a:r>
            <a:r>
              <a:rPr lang="en-US" sz="1200" dirty="0">
                <a:solidFill>
                  <a:schemeClr val="tx1"/>
                </a:solidFill>
              </a:rPr>
              <a:t>) = The probability of observing data x</a:t>
            </a:r>
            <a:r>
              <a:rPr lang="en-US" sz="1200" baseline="-25000" dirty="0">
                <a:solidFill>
                  <a:schemeClr val="tx1"/>
                </a:solidFill>
              </a:rPr>
              <a:t>1</a:t>
            </a:r>
            <a:r>
              <a:rPr lang="en-US" sz="1200" dirty="0">
                <a:solidFill>
                  <a:schemeClr val="tx1"/>
                </a:solidFill>
              </a:rPr>
              <a:t>...x</a:t>
            </a:r>
            <a:r>
              <a:rPr lang="en-US" sz="1200" baseline="-25000" dirty="0">
                <a:solidFill>
                  <a:schemeClr val="tx1"/>
                </a:solidFill>
              </a:rPr>
              <a:t>50</a:t>
            </a:r>
            <a:r>
              <a:rPr lang="en-US" sz="1200" dirty="0">
                <a:solidFill>
                  <a:schemeClr val="tx1"/>
                </a:solidFill>
              </a:rPr>
              <a:t> and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endParaRPr lang="en-US" sz="1200" dirty="0">
              <a:solidFill>
                <a:schemeClr val="tx1"/>
              </a:solidFill>
            </a:endParaRPr>
          </a:p>
          <a:p>
            <a:r>
              <a:rPr lang="en-US" sz="1200" dirty="0"/>
              <a:t>      =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a:t>
            </a:r>
          </a:p>
          <a:p>
            <a:r>
              <a:rPr lang="en-US" sz="1200" dirty="0"/>
              <a:t>   where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1/(6-1) = 0.2</a:t>
            </a:r>
          </a:p>
          <a:p>
            <a:r>
              <a:rPr lang="en-US" sz="1200" dirty="0"/>
              <a:t>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 </a:t>
            </a:r>
            <a:r>
              <a:rPr lang="el-GR" sz="1200" dirty="0">
                <a:solidFill>
                  <a:schemeClr val="tx1"/>
                </a:solidFill>
              </a:rPr>
              <a:t>λ</a:t>
            </a:r>
            <a:r>
              <a:rPr lang="en-US" sz="1200" baseline="-25000" dirty="0">
                <a:solidFill>
                  <a:schemeClr val="tx1"/>
                </a:solidFill>
              </a:rPr>
              <a:t>n </a:t>
            </a:r>
            <a:r>
              <a:rPr lang="en-US" sz="1200" dirty="0">
                <a:solidFill>
                  <a:schemeClr val="tx1"/>
                </a:solidFill>
              </a:rPr>
              <a:t>e</a:t>
            </a:r>
            <a:r>
              <a:rPr lang="en-US" sz="1200" baseline="30000" dirty="0">
                <a:solidFill>
                  <a:schemeClr val="tx1"/>
                </a:solidFill>
              </a:rPr>
              <a:t>-</a:t>
            </a:r>
            <a:r>
              <a:rPr lang="el-GR" sz="1200" baseline="30000" dirty="0">
                <a:solidFill>
                  <a:schemeClr val="tx1"/>
                </a:solidFill>
              </a:rPr>
              <a:t>λ</a:t>
            </a:r>
            <a:r>
              <a:rPr lang="en-US" sz="1200" baseline="-25000" dirty="0" err="1">
                <a:solidFill>
                  <a:schemeClr val="tx1"/>
                </a:solidFill>
              </a:rPr>
              <a:t>n</a:t>
            </a:r>
            <a:r>
              <a:rPr lang="en-US" sz="1200" baseline="30000" dirty="0" err="1">
                <a:solidFill>
                  <a:schemeClr val="tx1"/>
                </a:solidFill>
              </a:rPr>
              <a:t>x</a:t>
            </a:r>
            <a:r>
              <a:rPr lang="en-US" sz="1200" baseline="-25000" dirty="0" err="1">
                <a:solidFill>
                  <a:schemeClr val="tx1"/>
                </a:solidFill>
              </a:rPr>
              <a:t>i</a:t>
            </a:r>
            <a:r>
              <a:rPr lang="en-US" sz="1200" baseline="-25000" dirty="0">
                <a:solidFill>
                  <a:schemeClr val="tx1"/>
                </a:solidFill>
              </a:rPr>
              <a:t> </a:t>
            </a:r>
            <a:r>
              <a:rPr lang="en-US" sz="1200" dirty="0">
                <a:solidFill>
                  <a:schemeClr val="tx1"/>
                </a:solidFill>
              </a:rPr>
              <a:t>dx</a:t>
            </a:r>
            <a:endParaRPr lang="en-US" sz="1200" dirty="0"/>
          </a:p>
          <a:p>
            <a:endParaRPr lang="en-US" sz="1200" dirty="0"/>
          </a:p>
          <a:p>
            <a:r>
              <a:rPr lang="en-US" sz="1200" dirty="0"/>
              <a:t>Step 4 – draw the posterior distribution of </a:t>
            </a:r>
            <a:r>
              <a:rPr lang="el-GR" sz="1200" b="1" dirty="0">
                <a:solidFill>
                  <a:srgbClr val="00B050"/>
                </a:solidFill>
              </a:rPr>
              <a:t>λ</a:t>
            </a:r>
            <a:r>
              <a:rPr lang="en-US" sz="1200" dirty="0"/>
              <a:t> .  </a:t>
            </a:r>
            <a:r>
              <a:rPr lang="en-US" sz="1200" dirty="0" err="1"/>
              <a:t>Pr</a:t>
            </a:r>
            <a:r>
              <a:rPr lang="en-US" sz="1200" dirty="0"/>
              <a:t>(</a:t>
            </a:r>
            <a:r>
              <a:rPr lang="el-GR" sz="1200" b="1" dirty="0">
                <a:solidFill>
                  <a:srgbClr val="00B050"/>
                </a:solidFill>
              </a:rPr>
              <a:t>λ</a:t>
            </a:r>
            <a:r>
              <a:rPr lang="en-US" sz="1200" dirty="0"/>
              <a:t> | observed data)</a:t>
            </a:r>
          </a:p>
          <a:p>
            <a:r>
              <a:rPr lang="en-US" dirty="0"/>
              <a:t>   Posterior probability </a:t>
            </a:r>
            <a:r>
              <a:rPr lang="en-US" dirty="0" err="1"/>
              <a:t>Pr</a:t>
            </a:r>
            <a:r>
              <a:rPr lang="en-US" dirty="0"/>
              <a:t> (</a:t>
            </a:r>
            <a:r>
              <a:rPr lang="el-GR" dirty="0">
                <a:solidFill>
                  <a:schemeClr val="tx1"/>
                </a:solidFill>
              </a:rPr>
              <a:t>λ</a:t>
            </a:r>
            <a:r>
              <a:rPr lang="en-US" dirty="0">
                <a:solidFill>
                  <a:schemeClr val="tx1"/>
                </a:solidFill>
              </a:rPr>
              <a:t> = </a:t>
            </a:r>
            <a:r>
              <a:rPr lang="el-GR" dirty="0">
                <a:solidFill>
                  <a:schemeClr val="tx1"/>
                </a:solidFill>
              </a:rPr>
              <a:t>λ</a:t>
            </a:r>
            <a:r>
              <a:rPr lang="en-US" baseline="-25000" dirty="0">
                <a:solidFill>
                  <a:schemeClr val="tx1"/>
                </a:solidFill>
              </a:rPr>
              <a:t>n</a:t>
            </a:r>
            <a:r>
              <a:rPr lang="en-US" dirty="0"/>
              <a:t> | data)  is proportional to L(</a:t>
            </a:r>
            <a:r>
              <a:rPr lang="el-GR" b="1" dirty="0">
                <a:solidFill>
                  <a:srgbClr val="00B050"/>
                </a:solidFill>
              </a:rPr>
              <a:t>λ</a:t>
            </a:r>
            <a:r>
              <a:rPr lang="en-US" b="1" baseline="-25000" dirty="0">
                <a:solidFill>
                  <a:srgbClr val="00B050"/>
                </a:solidFill>
              </a:rPr>
              <a:t>n</a:t>
            </a:r>
            <a:r>
              <a:rPr lang="en-US" dirty="0">
                <a:solidFill>
                  <a:schemeClr val="tx1"/>
                </a:solidFill>
              </a:rPr>
              <a:t>) </a:t>
            </a:r>
          </a:p>
          <a:p>
            <a:endParaRPr lang="en-US" dirty="0"/>
          </a:p>
        </p:txBody>
      </p:sp>
    </p:spTree>
    <p:extLst>
      <p:ext uri="{BB962C8B-B14F-4D97-AF65-F5344CB8AC3E}">
        <p14:creationId xmlns:p14="http://schemas.microsoft.com/office/powerpoint/2010/main" val="17639708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Gaussian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4572000" cy="830997"/>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a:t>
            </a:r>
          </a:p>
          <a:p>
            <a:r>
              <a:rPr lang="en-US" sz="1200" dirty="0"/>
              <a:t>normal Gaussian distribution with some mean and sigma.</a:t>
            </a:r>
          </a:p>
          <a:p>
            <a:r>
              <a:rPr lang="en-US" sz="1200" dirty="0"/>
              <a:t>Please estimate the values of mean and sigma.</a:t>
            </a:r>
          </a:p>
        </p:txBody>
      </p:sp>
      <p:pic>
        <p:nvPicPr>
          <p:cNvPr id="5" name="Picture 4">
            <a:extLst>
              <a:ext uri="{FF2B5EF4-FFF2-40B4-BE49-F238E27FC236}">
                <a16:creationId xmlns:a16="http://schemas.microsoft.com/office/drawing/2014/main" id="{C01A3C05-4152-034C-B3E0-6C4C5778A22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2659" y="560792"/>
            <a:ext cx="5858329" cy="2514600"/>
          </a:xfrm>
          <a:prstGeom prst="rect">
            <a:avLst/>
          </a:prstGeom>
        </p:spPr>
      </p:pic>
      <p:sp>
        <p:nvSpPr>
          <p:cNvPr id="6" name="TextBox 5">
            <a:extLst>
              <a:ext uri="{FF2B5EF4-FFF2-40B4-BE49-F238E27FC236}">
                <a16:creationId xmlns:a16="http://schemas.microsoft.com/office/drawing/2014/main" id="{DDFBA8E8-DF37-3E4D-935A-5D3649F096ED}"/>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506399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4 – Coin Bias Estimation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5213268" cy="1015663"/>
          </a:xfrm>
          <a:prstGeom prst="rect">
            <a:avLst/>
          </a:prstGeom>
          <a:noFill/>
        </p:spPr>
        <p:txBody>
          <a:bodyPr wrap="square" rtlCol="0">
            <a:spAutoFit/>
          </a:bodyPr>
          <a:lstStyle/>
          <a:p>
            <a:r>
              <a:rPr lang="en-US" sz="1200" dirty="0"/>
              <a:t>Estimate the bias of a coin. </a:t>
            </a:r>
          </a:p>
          <a:p>
            <a:r>
              <a:rPr lang="en-US" sz="1200" dirty="0"/>
              <a:t>We need to estimate P(</a:t>
            </a:r>
            <a:r>
              <a:rPr lang="el-GR" sz="1200" dirty="0"/>
              <a:t>θ</a:t>
            </a:r>
            <a:r>
              <a:rPr lang="en-US" sz="1200" dirty="0"/>
              <a:t>), where </a:t>
            </a:r>
            <a:r>
              <a:rPr lang="el-GR" sz="1200" dirty="0"/>
              <a:t>θ</a:t>
            </a:r>
            <a:r>
              <a:rPr lang="en-US" sz="1200" dirty="0"/>
              <a:t> is the proportion of heads.</a:t>
            </a:r>
          </a:p>
          <a:p>
            <a:r>
              <a:rPr lang="en-US" sz="1200" dirty="0"/>
              <a:t> - </a:t>
            </a:r>
            <a:r>
              <a:rPr lang="en-US" sz="1200" dirty="0">
                <a:hlinkClick r:id="rId2"/>
              </a:rPr>
              <a:t>https://www.youtube.com/watch?v=Pahyv9i_X2k</a:t>
            </a:r>
            <a:r>
              <a:rPr lang="en-US" sz="1200" dirty="0"/>
              <a:t> </a:t>
            </a:r>
          </a:p>
          <a:p>
            <a:endParaRPr lang="en-US" sz="1200" dirty="0"/>
          </a:p>
          <a:p>
            <a:endParaRPr lang="en-US" sz="1200" dirty="0"/>
          </a:p>
        </p:txBody>
      </p:sp>
      <p:sp>
        <p:nvSpPr>
          <p:cNvPr id="4" name="TextBox 3">
            <a:extLst>
              <a:ext uri="{FF2B5EF4-FFF2-40B4-BE49-F238E27FC236}">
                <a16:creationId xmlns:a16="http://schemas.microsoft.com/office/drawing/2014/main" id="{3B108155-1A92-1B4B-8DFA-2AE7E8721930}"/>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3873802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F2ED839-B118-9D48-B600-42594516EAD9}"/>
              </a:ext>
            </a:extLst>
          </p:cNvPr>
          <p:cNvSpPr txBox="1"/>
          <p:nvPr/>
        </p:nvSpPr>
        <p:spPr>
          <a:xfrm>
            <a:off x="8010838" y="3657123"/>
            <a:ext cx="4079558" cy="1600438"/>
          </a:xfrm>
          <a:prstGeom prst="rect">
            <a:avLst/>
          </a:prstGeom>
          <a:noFill/>
        </p:spPr>
        <p:txBody>
          <a:bodyPr wrap="square" rtlCol="0">
            <a:spAutoFit/>
          </a:bodyPr>
          <a:lstStyle/>
          <a:p>
            <a:r>
              <a:rPr lang="en-US" sz="2000" b="1" dirty="0">
                <a:solidFill>
                  <a:srgbClr val="FF0000"/>
                </a:solidFill>
              </a:rPr>
              <a:t>Credible Interval</a:t>
            </a:r>
          </a:p>
          <a:p>
            <a:endParaRPr lang="en-US" sz="800" dirty="0"/>
          </a:p>
          <a:p>
            <a:r>
              <a:rPr lang="en-US" dirty="0"/>
              <a:t>In Bayesian statistics, a credible interval </a:t>
            </a:r>
          </a:p>
          <a:p>
            <a:r>
              <a:rPr lang="en-US" dirty="0"/>
              <a:t>in the posterior probability distribution</a:t>
            </a:r>
          </a:p>
          <a:p>
            <a:r>
              <a:rPr lang="en-US" dirty="0"/>
              <a:t>is an interval within which </a:t>
            </a:r>
          </a:p>
          <a:p>
            <a:r>
              <a:rPr lang="en-US" dirty="0"/>
              <a:t>an unobserved parameter value falls </a:t>
            </a:r>
          </a:p>
          <a:p>
            <a:r>
              <a:rPr lang="en-US" dirty="0"/>
              <a:t>with a given probability (usually 95%).</a:t>
            </a:r>
          </a:p>
        </p:txBody>
      </p:sp>
      <p:sp>
        <p:nvSpPr>
          <p:cNvPr id="2" name="TextBox 1">
            <a:extLst>
              <a:ext uri="{FF2B5EF4-FFF2-40B4-BE49-F238E27FC236}">
                <a16:creationId xmlns:a16="http://schemas.microsoft.com/office/drawing/2014/main" id="{A2E925B5-C306-C84C-A0C3-4D5E4E705A6A}"/>
              </a:ext>
            </a:extLst>
          </p:cNvPr>
          <p:cNvSpPr txBox="1"/>
          <p:nvPr/>
        </p:nvSpPr>
        <p:spPr>
          <a:xfrm>
            <a:off x="101602" y="903692"/>
            <a:ext cx="6515100" cy="5232202"/>
          </a:xfrm>
          <a:prstGeom prst="rect">
            <a:avLst/>
          </a:prstGeom>
          <a:noFill/>
        </p:spPr>
        <p:txBody>
          <a:bodyPr wrap="square" rtlCol="0">
            <a:spAutoFit/>
          </a:bodyPr>
          <a:lstStyle/>
          <a:p>
            <a:r>
              <a:rPr lang="en-US" sz="2000" b="1" dirty="0">
                <a:solidFill>
                  <a:srgbClr val="FF0000"/>
                </a:solidFill>
              </a:rPr>
              <a:t>Conjugate Distributions</a:t>
            </a:r>
          </a:p>
          <a:p>
            <a:r>
              <a:rPr lang="en-US" sz="2000" b="1" dirty="0">
                <a:solidFill>
                  <a:srgbClr val="FF0000"/>
                </a:solidFill>
              </a:rPr>
              <a:t>Conjugate Prior</a:t>
            </a:r>
          </a:p>
          <a:p>
            <a:endParaRPr lang="en-US" dirty="0"/>
          </a:p>
          <a:p>
            <a:r>
              <a:rPr lang="en-US" dirty="0"/>
              <a:t>In Bayesian probability theory, if the posterior distributions </a:t>
            </a:r>
            <a:r>
              <a:rPr lang="en-US" b="1" dirty="0">
                <a:solidFill>
                  <a:srgbClr val="0070C0"/>
                </a:solidFill>
              </a:rPr>
              <a:t>p(</a:t>
            </a:r>
            <a:r>
              <a:rPr lang="el-GR" b="1" dirty="0">
                <a:solidFill>
                  <a:srgbClr val="0070C0"/>
                </a:solidFill>
              </a:rPr>
              <a:t>θ | </a:t>
            </a:r>
            <a:r>
              <a:rPr lang="en-US" b="1" dirty="0">
                <a:solidFill>
                  <a:srgbClr val="0070C0"/>
                </a:solidFill>
              </a:rPr>
              <a:t>x)</a:t>
            </a:r>
            <a:r>
              <a:rPr lang="en-US" dirty="0"/>
              <a:t> are in the same probability distribution family as the prior probability distribution </a:t>
            </a:r>
            <a:r>
              <a:rPr lang="en-US" b="1" dirty="0">
                <a:solidFill>
                  <a:srgbClr val="0070C0"/>
                </a:solidFill>
              </a:rPr>
              <a:t>p(</a:t>
            </a:r>
            <a:r>
              <a:rPr lang="el-GR" b="1" dirty="0">
                <a:solidFill>
                  <a:srgbClr val="0070C0"/>
                </a:solidFill>
              </a:rPr>
              <a:t>θ)</a:t>
            </a:r>
            <a:r>
              <a:rPr lang="el-GR" dirty="0"/>
              <a:t>, </a:t>
            </a:r>
            <a:endParaRPr lang="en-US" dirty="0"/>
          </a:p>
          <a:p>
            <a:r>
              <a:rPr lang="en-US" dirty="0"/>
              <a:t>then:</a:t>
            </a:r>
          </a:p>
          <a:p>
            <a:pPr marL="285750" indent="-285750">
              <a:buFont typeface="Arial" panose="020B0604020202020204" pitchFamily="34" charset="0"/>
              <a:buChar char="•"/>
            </a:pPr>
            <a:r>
              <a:rPr lang="en-US" dirty="0"/>
              <a:t>the </a:t>
            </a:r>
            <a:r>
              <a:rPr lang="en-US" b="1" dirty="0">
                <a:solidFill>
                  <a:srgbClr val="0070C0"/>
                </a:solidFill>
              </a:rPr>
              <a:t>prior and posterior </a:t>
            </a:r>
            <a:r>
              <a:rPr lang="en-US" dirty="0"/>
              <a:t>are then called </a:t>
            </a:r>
            <a:r>
              <a:rPr lang="en-US" b="1" dirty="0">
                <a:solidFill>
                  <a:srgbClr val="FF0000"/>
                </a:solidFill>
              </a:rPr>
              <a:t>conjugate distributions</a:t>
            </a:r>
            <a:r>
              <a:rPr lang="en-US" dirty="0"/>
              <a:t>, </a:t>
            </a:r>
          </a:p>
          <a:p>
            <a:pPr marL="285750" indent="-285750">
              <a:buFont typeface="Arial" panose="020B0604020202020204" pitchFamily="34" charset="0"/>
              <a:buChar char="•"/>
            </a:pPr>
            <a:r>
              <a:rPr lang="en-US" dirty="0"/>
              <a:t>and the </a:t>
            </a:r>
            <a:r>
              <a:rPr lang="en-US" b="1" dirty="0">
                <a:solidFill>
                  <a:srgbClr val="0070C0"/>
                </a:solidFill>
              </a:rPr>
              <a:t>prior</a:t>
            </a:r>
            <a:r>
              <a:rPr lang="en-US" dirty="0"/>
              <a:t> is called a </a:t>
            </a:r>
            <a:r>
              <a:rPr lang="en-US" b="1" dirty="0">
                <a:solidFill>
                  <a:srgbClr val="FF0000"/>
                </a:solidFill>
              </a:rPr>
              <a:t>conjugate prior</a:t>
            </a:r>
            <a:r>
              <a:rPr lang="en-US" dirty="0"/>
              <a:t> for the </a:t>
            </a:r>
            <a:r>
              <a:rPr lang="en-US" b="1" dirty="0">
                <a:solidFill>
                  <a:srgbClr val="0070C0"/>
                </a:solidFill>
              </a:rPr>
              <a:t>likelihood function</a:t>
            </a:r>
            <a:r>
              <a:rPr lang="en-US" dirty="0"/>
              <a:t> p(x | </a:t>
            </a:r>
            <a:r>
              <a:rPr lang="el-GR" dirty="0"/>
              <a:t>θ). </a:t>
            </a:r>
            <a:endParaRPr lang="en-US" dirty="0"/>
          </a:p>
          <a:p>
            <a:endParaRPr lang="en-US" dirty="0"/>
          </a:p>
          <a:p>
            <a:r>
              <a:rPr lang="en-US" dirty="0"/>
              <a:t>Example 1:</a:t>
            </a:r>
          </a:p>
          <a:p>
            <a:endParaRPr lang="en-US" dirty="0"/>
          </a:p>
          <a:p>
            <a:r>
              <a:rPr lang="en-US" dirty="0"/>
              <a:t>The </a:t>
            </a:r>
            <a:r>
              <a:rPr lang="en-US" b="1" dirty="0">
                <a:solidFill>
                  <a:srgbClr val="FF0000"/>
                </a:solidFill>
              </a:rPr>
              <a:t>Gaussian family</a:t>
            </a:r>
            <a:r>
              <a:rPr lang="en-US" dirty="0"/>
              <a:t> is conjugate to itself (or </a:t>
            </a:r>
            <a:r>
              <a:rPr lang="en-US" b="1" dirty="0">
                <a:solidFill>
                  <a:srgbClr val="FF0000"/>
                </a:solidFill>
              </a:rPr>
              <a:t>self-conjugate</a:t>
            </a:r>
            <a:r>
              <a:rPr lang="en-US" dirty="0"/>
              <a:t>) with respect to a </a:t>
            </a:r>
            <a:r>
              <a:rPr lang="en-US" b="1" dirty="0">
                <a:solidFill>
                  <a:srgbClr val="FF0000"/>
                </a:solidFill>
              </a:rPr>
              <a:t>Gaussian </a:t>
            </a:r>
            <a:r>
              <a:rPr lang="en-US" b="1" dirty="0">
                <a:solidFill>
                  <a:srgbClr val="0070C0"/>
                </a:solidFill>
              </a:rPr>
              <a:t>likelihood</a:t>
            </a:r>
            <a:r>
              <a:rPr lang="en-US" dirty="0"/>
              <a:t> function. </a:t>
            </a:r>
          </a:p>
          <a:p>
            <a:r>
              <a:rPr lang="en-US" dirty="0"/>
              <a:t>If the likelihood function is </a:t>
            </a:r>
            <a:r>
              <a:rPr lang="en-US" b="1" dirty="0">
                <a:solidFill>
                  <a:srgbClr val="FF0000"/>
                </a:solidFill>
              </a:rPr>
              <a:t>Gaussian</a:t>
            </a:r>
            <a:r>
              <a:rPr lang="en-US" dirty="0"/>
              <a:t>, choosing a </a:t>
            </a:r>
            <a:r>
              <a:rPr lang="en-US" b="1" dirty="0">
                <a:solidFill>
                  <a:srgbClr val="FF0000"/>
                </a:solidFill>
              </a:rPr>
              <a:t>Gaussian </a:t>
            </a:r>
            <a:r>
              <a:rPr lang="en-US" b="1" dirty="0">
                <a:solidFill>
                  <a:srgbClr val="0070C0"/>
                </a:solidFill>
              </a:rPr>
              <a:t>prior</a:t>
            </a:r>
            <a:r>
              <a:rPr lang="en-US" dirty="0"/>
              <a:t> over the mean will ensure that the </a:t>
            </a:r>
            <a:r>
              <a:rPr lang="en-US" b="1" dirty="0">
                <a:solidFill>
                  <a:srgbClr val="0070C0"/>
                </a:solidFill>
              </a:rPr>
              <a:t>posterior distribution</a:t>
            </a:r>
            <a:r>
              <a:rPr lang="en-US" b="1" dirty="0">
                <a:solidFill>
                  <a:srgbClr val="FF0000"/>
                </a:solidFill>
              </a:rPr>
              <a:t> </a:t>
            </a:r>
            <a:r>
              <a:rPr lang="en-US" dirty="0">
                <a:solidFill>
                  <a:schemeClr val="tx1"/>
                </a:solidFill>
              </a:rPr>
              <a:t>is also</a:t>
            </a:r>
            <a:r>
              <a:rPr lang="en-US" b="1" dirty="0">
                <a:solidFill>
                  <a:srgbClr val="FF0000"/>
                </a:solidFill>
              </a:rPr>
              <a:t> Gaussian</a:t>
            </a:r>
            <a:r>
              <a:rPr lang="en-US" dirty="0"/>
              <a:t>. </a:t>
            </a:r>
          </a:p>
          <a:p>
            <a:endParaRPr lang="en-US" dirty="0"/>
          </a:p>
          <a:p>
            <a:r>
              <a:rPr lang="en-US" dirty="0"/>
              <a:t>This means that the </a:t>
            </a:r>
            <a:r>
              <a:rPr lang="en-US" b="1" dirty="0">
                <a:solidFill>
                  <a:srgbClr val="FF0000"/>
                </a:solidFill>
              </a:rPr>
              <a:t>Gaussian distribution</a:t>
            </a:r>
            <a:r>
              <a:rPr lang="en-US" dirty="0"/>
              <a:t> is a conjugate prior for the </a:t>
            </a:r>
            <a:r>
              <a:rPr lang="en-US" b="1" dirty="0">
                <a:solidFill>
                  <a:srgbClr val="0070C0"/>
                </a:solidFill>
              </a:rPr>
              <a:t>likelihood</a:t>
            </a:r>
            <a:r>
              <a:rPr lang="en-US" dirty="0"/>
              <a:t> that is also Gaussian. </a:t>
            </a:r>
          </a:p>
          <a:p>
            <a:endParaRPr lang="en-US" dirty="0"/>
          </a:p>
          <a:p>
            <a:r>
              <a:rPr lang="en-US" dirty="0"/>
              <a:t>Example 2:</a:t>
            </a:r>
          </a:p>
          <a:p>
            <a:endParaRPr lang="en-US" dirty="0"/>
          </a:p>
          <a:p>
            <a:r>
              <a:rPr lang="en-US" dirty="0"/>
              <a:t>The </a:t>
            </a:r>
            <a:r>
              <a:rPr lang="en-US" b="1" dirty="0">
                <a:solidFill>
                  <a:srgbClr val="FF0000"/>
                </a:solidFill>
              </a:rPr>
              <a:t>beta distribution</a:t>
            </a:r>
            <a:r>
              <a:rPr lang="en-US" dirty="0"/>
              <a:t> is the conjugate prior for many distributions: </a:t>
            </a:r>
          </a:p>
          <a:p>
            <a:r>
              <a:rPr lang="en-US" dirty="0"/>
              <a:t>    </a:t>
            </a:r>
            <a:r>
              <a:rPr lang="en-US" b="1" dirty="0">
                <a:solidFill>
                  <a:srgbClr val="0070C0"/>
                </a:solidFill>
              </a:rPr>
              <a:t>Bernoulli, binomial, negative binomial, geometric distributions</a:t>
            </a:r>
            <a:r>
              <a:rPr lang="en-US" dirty="0"/>
              <a:t>.</a:t>
            </a:r>
          </a:p>
        </p:txBody>
      </p:sp>
      <p:sp>
        <p:nvSpPr>
          <p:cNvPr id="4" name="TextBox 3">
            <a:extLst>
              <a:ext uri="{FF2B5EF4-FFF2-40B4-BE49-F238E27FC236}">
                <a16:creationId xmlns:a16="http://schemas.microsoft.com/office/drawing/2014/main" id="{0D567E5F-290B-DE49-836D-8B7AA86D7483}"/>
              </a:ext>
            </a:extLst>
          </p:cNvPr>
          <p:cNvSpPr txBox="1"/>
          <p:nvPr/>
        </p:nvSpPr>
        <p:spPr>
          <a:xfrm>
            <a:off x="-1" y="37572"/>
            <a:ext cx="5600701" cy="523220"/>
          </a:xfrm>
          <a:prstGeom prst="rect">
            <a:avLst/>
          </a:prstGeom>
          <a:noFill/>
        </p:spPr>
        <p:txBody>
          <a:bodyPr wrap="square" rtlCol="0">
            <a:spAutoFit/>
          </a:bodyPr>
          <a:lstStyle/>
          <a:p>
            <a:r>
              <a:rPr lang="en-US" sz="2800" b="1" dirty="0"/>
              <a:t>Bayesian Inference - continued</a:t>
            </a:r>
          </a:p>
        </p:txBody>
      </p:sp>
      <p:pic>
        <p:nvPicPr>
          <p:cNvPr id="1026" name="Picture 2" descr="Do You Know Credible Interval. Don't Mess up Your Next Data… | by Shaw Lu |  Towards Data Science">
            <a:extLst>
              <a:ext uri="{FF2B5EF4-FFF2-40B4-BE49-F238E27FC236}">
                <a16:creationId xmlns:a16="http://schemas.microsoft.com/office/drawing/2014/main" id="{B667D2BD-D19A-0A43-AB63-B5E2DFEFEC79}"/>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77184" y="5257561"/>
            <a:ext cx="2400659" cy="160043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CD26C95-B775-434B-9812-58AEDE80A0D2}"/>
              </a:ext>
            </a:extLst>
          </p:cNvPr>
          <p:cNvSpPr txBox="1"/>
          <p:nvPr/>
        </p:nvSpPr>
        <p:spPr>
          <a:xfrm>
            <a:off x="8010838" y="368128"/>
            <a:ext cx="4079559" cy="2246769"/>
          </a:xfrm>
          <a:prstGeom prst="rect">
            <a:avLst/>
          </a:prstGeom>
          <a:noFill/>
        </p:spPr>
        <p:txBody>
          <a:bodyPr wrap="square" rtlCol="0">
            <a:spAutoFit/>
          </a:bodyPr>
          <a:lstStyle/>
          <a:p>
            <a:r>
              <a:rPr lang="en-US" sz="2000" b="1" dirty="0">
                <a:solidFill>
                  <a:srgbClr val="FF0000"/>
                </a:solidFill>
              </a:rPr>
              <a:t>Nuisance Parameters</a:t>
            </a:r>
          </a:p>
          <a:p>
            <a:endParaRPr lang="en-US" sz="800" dirty="0"/>
          </a:p>
          <a:p>
            <a:r>
              <a:rPr lang="en-US" dirty="0"/>
              <a:t>Nuisance parameters occur when reality and data are complex enough to require models with multiple parameters, but inferential interest is confined to a reduced set of parameters.</a:t>
            </a:r>
          </a:p>
          <a:p>
            <a:endParaRPr lang="en-US" dirty="0"/>
          </a:p>
          <a:p>
            <a:r>
              <a:rPr lang="en-US" dirty="0"/>
              <a:t>Nuisance parameters are often variances,</a:t>
            </a:r>
          </a:p>
          <a:p>
            <a:r>
              <a:rPr lang="en-US" dirty="0"/>
              <a:t>or some unknown parameters (think about black box with some invisible parameters inside).</a:t>
            </a:r>
          </a:p>
        </p:txBody>
      </p:sp>
      <p:pic>
        <p:nvPicPr>
          <p:cNvPr id="5122" name="Picture 2" descr="Black Box for Vehicles">
            <a:extLst>
              <a:ext uri="{FF2B5EF4-FFF2-40B4-BE49-F238E27FC236}">
                <a16:creationId xmlns:a16="http://schemas.microsoft.com/office/drawing/2014/main" id="{468BF0D6-6A62-1543-8017-1C553CF4DE13}"/>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9207340" y="2637297"/>
            <a:ext cx="1222910" cy="43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8183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6342828" cy="738664"/>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r>
              <a:rPr lang="en-US" dirty="0"/>
              <a:t>Estimate probability (and credible interval) that coffee is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2123658"/>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a:p>
            <a:pPr marL="171450" indent="-171450">
              <a:buFont typeface="Arial" panose="020B0604020202020204" pitchFamily="34" charset="0"/>
              <a:buChar char="•"/>
            </a:pPr>
            <a:r>
              <a:rPr lang="en-US" sz="1200" dirty="0"/>
              <a:t>Alternatively we use some reasonable guess of the prior (not flat) – to get better posterior.</a:t>
            </a:r>
          </a:p>
        </p:txBody>
      </p:sp>
    </p:spTree>
    <p:extLst>
      <p:ext uri="{BB962C8B-B14F-4D97-AF65-F5344CB8AC3E}">
        <p14:creationId xmlns:p14="http://schemas.microsoft.com/office/powerpoint/2010/main" val="418091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FEE87B2-5B9C-5C4C-93EC-F7473021FFC2}"/>
              </a:ext>
            </a:extLst>
          </p:cNvPr>
          <p:cNvSpPr txBox="1"/>
          <p:nvPr/>
        </p:nvSpPr>
        <p:spPr>
          <a:xfrm>
            <a:off x="234778" y="185351"/>
            <a:ext cx="3991233" cy="523220"/>
          </a:xfrm>
          <a:prstGeom prst="rect">
            <a:avLst/>
          </a:prstGeom>
          <a:noFill/>
        </p:spPr>
        <p:txBody>
          <a:bodyPr wrap="square" rtlCol="0">
            <a:spAutoFit/>
          </a:bodyPr>
          <a:lstStyle/>
          <a:p>
            <a:r>
              <a:rPr lang="en-US" sz="2800" b="1" dirty="0"/>
              <a:t>Tools and Libraries</a:t>
            </a:r>
          </a:p>
        </p:txBody>
      </p:sp>
      <p:sp>
        <p:nvSpPr>
          <p:cNvPr id="5" name="TextBox 4">
            <a:extLst>
              <a:ext uri="{FF2B5EF4-FFF2-40B4-BE49-F238E27FC236}">
                <a16:creationId xmlns:a16="http://schemas.microsoft.com/office/drawing/2014/main" id="{A8E7B846-443F-764F-8F5D-80476415DB61}"/>
              </a:ext>
            </a:extLst>
          </p:cNvPr>
          <p:cNvSpPr txBox="1"/>
          <p:nvPr/>
        </p:nvSpPr>
        <p:spPr>
          <a:xfrm>
            <a:off x="3002691" y="827902"/>
            <a:ext cx="8872152" cy="4832092"/>
          </a:xfrm>
          <a:prstGeom prst="rect">
            <a:avLst/>
          </a:prstGeom>
          <a:noFill/>
        </p:spPr>
        <p:txBody>
          <a:bodyPr wrap="square" rtlCol="0">
            <a:spAutoFit/>
          </a:bodyPr>
          <a:lstStyle/>
          <a:p>
            <a:pPr marL="285750" indent="-285750">
              <a:buFont typeface="Arial" panose="020B0604020202020204" pitchFamily="34" charset="0"/>
              <a:buChar char="•"/>
            </a:pPr>
            <a:r>
              <a:rPr lang="en-US" dirty="0"/>
              <a:t>Scikit-learn </a:t>
            </a:r>
            <a:br>
              <a:rPr lang="en-US" dirty="0"/>
            </a:br>
            <a:r>
              <a:rPr lang="en-US" dirty="0"/>
              <a:t>- </a:t>
            </a:r>
            <a:r>
              <a:rPr lang="en-US" dirty="0">
                <a:hlinkClick r:id="rId2"/>
              </a:rPr>
              <a:t>https://scikit-learn.org/stable/modules/naive_bayes.html</a:t>
            </a:r>
            <a:r>
              <a:rPr lang="en-US" dirty="0"/>
              <a:t> -</a:t>
            </a:r>
            <a:br>
              <a:rPr lang="en-US" dirty="0"/>
            </a:br>
            <a:r>
              <a:rPr lang="en-US" dirty="0"/>
              <a:t>- </a:t>
            </a:r>
            <a:r>
              <a:rPr lang="en-US" dirty="0">
                <a:hlinkClick r:id="rId3"/>
              </a:rPr>
              <a:t>https://scikit-learn.org/stable/modules/generated/sklearn.naive_bayes.GaussianNB.html</a:t>
            </a:r>
            <a:r>
              <a:rPr lang="en-US" dirty="0"/>
              <a:t> - </a:t>
            </a:r>
            <a:br>
              <a:rPr lang="en-US" dirty="0"/>
            </a:br>
            <a:r>
              <a:rPr lang="en-US" dirty="0"/>
              <a:t>- </a:t>
            </a:r>
            <a:r>
              <a:rPr lang="en-US" dirty="0">
                <a:hlinkClick r:id="rId4"/>
              </a:rPr>
              <a:t>https://scikit-learn.org/stable/modules/generated/sklearn.naive_bayes.MultinomialNB.html</a:t>
            </a:r>
            <a:r>
              <a:rPr lang="en-US" dirty="0"/>
              <a:t> - </a:t>
            </a:r>
            <a:br>
              <a:rPr lang="en-US" dirty="0"/>
            </a:br>
            <a:r>
              <a:rPr lang="en-US" dirty="0"/>
              <a:t>- </a:t>
            </a:r>
            <a:r>
              <a:rPr lang="en-US" dirty="0">
                <a:hlinkClick r:id="rId5"/>
              </a:rPr>
              <a:t>https://scikit-learn.org/stable/modules/linear_model.html#bayesian-regression</a:t>
            </a:r>
            <a:r>
              <a:rPr lang="en-US" dirty="0"/>
              <a:t> </a:t>
            </a:r>
            <a:br>
              <a:rPr lang="en-US" dirty="0"/>
            </a:br>
            <a:r>
              <a:rPr lang="en-US" dirty="0"/>
              <a:t>- etc.</a:t>
            </a:r>
          </a:p>
          <a:p>
            <a:pPr marL="285750" indent="-285750">
              <a:buFont typeface="Arial" panose="020B0604020202020204" pitchFamily="34" charset="0"/>
              <a:buChar char="•"/>
            </a:pPr>
            <a:r>
              <a:rPr lang="en-US" dirty="0" err="1"/>
              <a:t>PyStan</a:t>
            </a:r>
            <a:r>
              <a:rPr lang="en-US" dirty="0"/>
              <a:t> - </a:t>
            </a:r>
            <a:r>
              <a:rPr lang="en-US" dirty="0" err="1"/>
              <a:t>PyStan</a:t>
            </a:r>
            <a:r>
              <a:rPr lang="en-US" dirty="0"/>
              <a:t> is a Python interface to Stan, a package for Bayesian inference.</a:t>
            </a:r>
            <a:br>
              <a:rPr lang="en-US" dirty="0"/>
            </a:br>
            <a:r>
              <a:rPr lang="en-US" dirty="0"/>
              <a:t>- </a:t>
            </a:r>
            <a:r>
              <a:rPr lang="en-US" dirty="0">
                <a:hlinkClick r:id="rId6"/>
              </a:rPr>
              <a:t>https://mc-stan.org/users/interfaces/pystan</a:t>
            </a:r>
            <a:r>
              <a:rPr lang="en-US" dirty="0"/>
              <a:t> </a:t>
            </a:r>
            <a:br>
              <a:rPr lang="en-US" dirty="0"/>
            </a:br>
            <a:r>
              <a:rPr lang="en-US" dirty="0"/>
              <a:t>- </a:t>
            </a:r>
            <a:r>
              <a:rPr lang="en-US" dirty="0">
                <a:hlinkClick r:id="rId7"/>
              </a:rPr>
              <a:t>https://pystan.readthedocs.io/en/latest/</a:t>
            </a:r>
            <a:r>
              <a:rPr lang="en-US" dirty="0"/>
              <a:t> -  </a:t>
            </a:r>
          </a:p>
          <a:p>
            <a:pPr marL="285750" indent="-285750">
              <a:buFont typeface="Arial" panose="020B0604020202020204" pitchFamily="34" charset="0"/>
              <a:buChar char="•"/>
            </a:pPr>
            <a:r>
              <a:rPr lang="en-US" dirty="0"/>
              <a:t>PyMC3 - Python package for Bayesian statistical modeling and probabilistic machine learning which focuses on advanced Markov chain Monte Carlo and variational fitting algorithms. It was originally built on Theano.</a:t>
            </a:r>
            <a:br>
              <a:rPr lang="en-US" dirty="0"/>
            </a:br>
            <a:r>
              <a:rPr lang="en-US" dirty="0"/>
              <a:t> - </a:t>
            </a:r>
            <a:r>
              <a:rPr lang="en-US" dirty="0">
                <a:hlinkClick r:id="rId8"/>
              </a:rPr>
              <a:t>https://docs.pymc.io/</a:t>
            </a:r>
            <a:r>
              <a:rPr lang="en-US" dirty="0"/>
              <a:t> - </a:t>
            </a:r>
          </a:p>
          <a:p>
            <a:pPr marL="285750" indent="-285750">
              <a:buFont typeface="Arial" panose="020B0604020202020204" pitchFamily="34" charset="0"/>
              <a:buChar char="•"/>
            </a:pPr>
            <a:r>
              <a:rPr lang="en-US" dirty="0"/>
              <a:t>Pyro - a universal probabilistic programming language (PPL) written in Python and supported by </a:t>
            </a:r>
            <a:r>
              <a:rPr lang="en-US" dirty="0" err="1"/>
              <a:t>PyTorch</a:t>
            </a:r>
            <a:r>
              <a:rPr lang="en-US" dirty="0"/>
              <a:t> on the backend. Pyro enables flexible and expressive deep probabilistic modeling, unifying the best of modern deep learning and Bayesian modeling. </a:t>
            </a:r>
            <a:br>
              <a:rPr lang="en-US" dirty="0"/>
            </a:br>
            <a:r>
              <a:rPr lang="en-US" dirty="0"/>
              <a:t> - </a:t>
            </a:r>
            <a:r>
              <a:rPr lang="en-US" dirty="0">
                <a:hlinkClick r:id="rId9"/>
              </a:rPr>
              <a:t>https://pyro.ai/</a:t>
            </a:r>
            <a:r>
              <a:rPr lang="en-US" dirty="0"/>
              <a:t> - </a:t>
            </a:r>
          </a:p>
          <a:p>
            <a:pPr marL="285750" indent="-285750">
              <a:buFont typeface="Arial" panose="020B0604020202020204" pitchFamily="34" charset="0"/>
              <a:buChar char="•"/>
            </a:pPr>
            <a:r>
              <a:rPr lang="en-US" dirty="0"/>
              <a:t>TensorFlow Probability is a library for probabilistic reasoning and statistical analysis.</a:t>
            </a:r>
            <a:br>
              <a:rPr lang="en-US" dirty="0"/>
            </a:br>
            <a:r>
              <a:rPr lang="en-US" dirty="0"/>
              <a:t> - </a:t>
            </a:r>
            <a:r>
              <a:rPr lang="en-US" dirty="0">
                <a:hlinkClick r:id="rId10"/>
              </a:rPr>
              <a:t>https://www.tensorflow.org/probability</a:t>
            </a:r>
            <a:r>
              <a:rPr lang="en-US" dirty="0"/>
              <a:t> - </a:t>
            </a:r>
          </a:p>
          <a:p>
            <a:pPr marL="285750" indent="-285750">
              <a:buFont typeface="Arial" panose="020B0604020202020204" pitchFamily="34" charset="0"/>
              <a:buChar char="•"/>
            </a:pPr>
            <a:r>
              <a:rPr lang="en-US" dirty="0"/>
              <a:t>Edward - a python library on top of TensorFlow for probabilistic modeling, inference, and criticism.</a:t>
            </a:r>
            <a:br>
              <a:rPr lang="en-US" dirty="0"/>
            </a:br>
            <a:r>
              <a:rPr lang="en-US" dirty="0"/>
              <a:t> - http://</a:t>
            </a:r>
            <a:r>
              <a:rPr lang="en-US" dirty="0" err="1"/>
              <a:t>edwardlib.org</a:t>
            </a:r>
            <a:r>
              <a:rPr lang="en-US" dirty="0"/>
              <a:t>/ – </a:t>
            </a:r>
            <a:br>
              <a:rPr lang="en-US" dirty="0"/>
            </a:br>
            <a:r>
              <a:rPr lang="en-US" dirty="0"/>
              <a:t> --</a:t>
            </a:r>
          </a:p>
        </p:txBody>
      </p:sp>
      <p:pic>
        <p:nvPicPr>
          <p:cNvPr id="1026" name="Picture 2" descr="Pyro">
            <a:extLst>
              <a:ext uri="{FF2B5EF4-FFF2-40B4-BE49-F238E27FC236}">
                <a16:creationId xmlns:a16="http://schemas.microsoft.com/office/drawing/2014/main" id="{1AF695B5-D650-C441-BB64-995A0C18AAE4}"/>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1668162" y="3793701"/>
            <a:ext cx="727885" cy="61766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C948C60E-514C-CC40-B888-A4369EDDF5AB}"/>
              </a:ext>
            </a:extLst>
          </p:cNvPr>
          <p:cNvPicPr>
            <a:picLocks noChangeAspect="1" noChangeArrowheads="1"/>
          </p:cNvPicPr>
          <p:nvPr/>
        </p:nvPicPr>
        <p:blipFill rotWithShape="1">
          <a:blip r:embed="rId12" cstate="email">
            <a:extLst>
              <a:ext uri="{28A0092B-C50C-407E-A947-70E740481C1C}">
                <a14:useLocalDpi xmlns:a14="http://schemas.microsoft.com/office/drawing/2010/main"/>
              </a:ext>
            </a:extLst>
          </a:blip>
          <a:srcRect r="-179"/>
          <a:stretch/>
        </p:blipFill>
        <p:spPr bwMode="auto">
          <a:xfrm>
            <a:off x="352876" y="2918209"/>
            <a:ext cx="2324093" cy="767487"/>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12" descr="PyStan 使用入门| R bloggers">
            <a:extLst>
              <a:ext uri="{FF2B5EF4-FFF2-40B4-BE49-F238E27FC236}">
                <a16:creationId xmlns:a16="http://schemas.microsoft.com/office/drawing/2014/main" id="{6650C9E9-BDF7-A744-A22E-893BB1917E8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D4318B43-9864-0C41-AC6B-0884C16E3A66}"/>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897244" y="1918094"/>
            <a:ext cx="735275" cy="947469"/>
          </a:xfrm>
          <a:prstGeom prst="rect">
            <a:avLst/>
          </a:prstGeom>
        </p:spPr>
      </p:pic>
      <p:pic>
        <p:nvPicPr>
          <p:cNvPr id="1038" name="Picture 14">
            <a:extLst>
              <a:ext uri="{FF2B5EF4-FFF2-40B4-BE49-F238E27FC236}">
                <a16:creationId xmlns:a16="http://schemas.microsoft.com/office/drawing/2014/main" id="{0657378E-A893-504A-BF1E-D05E91804B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1102230" y="864563"/>
            <a:ext cx="1470378" cy="79147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ensorFlow Probability">
            <a:extLst>
              <a:ext uri="{FF2B5EF4-FFF2-40B4-BE49-F238E27FC236}">
                <a16:creationId xmlns:a16="http://schemas.microsoft.com/office/drawing/2014/main" id="{5C1F8093-950C-2441-82AD-4753925096D2}"/>
              </a:ext>
            </a:extLst>
          </p:cNvPr>
          <p:cNvPicPr>
            <a:picLocks noChangeAspect="1" noChangeArrowheads="1"/>
          </p:cNvPicPr>
          <p:nvPr/>
        </p:nvPicPr>
        <p:blipFill rotWithShape="1">
          <a:blip r:embed="rId15" cstate="email">
            <a:extLst>
              <a:ext uri="{28A0092B-C50C-407E-A947-70E740481C1C}">
                <a14:useLocalDpi xmlns:a14="http://schemas.microsoft.com/office/drawing/2010/main"/>
              </a:ext>
            </a:extLst>
          </a:blip>
          <a:srcRect/>
          <a:stretch/>
        </p:blipFill>
        <p:spPr bwMode="auto">
          <a:xfrm>
            <a:off x="2116426" y="4519368"/>
            <a:ext cx="582943" cy="648931"/>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Edward">
            <a:extLst>
              <a:ext uri="{FF2B5EF4-FFF2-40B4-BE49-F238E27FC236}">
                <a16:creationId xmlns:a16="http://schemas.microsoft.com/office/drawing/2014/main" id="{662476BE-EE68-064C-B734-7CC4DA8CA0AA}"/>
              </a:ext>
            </a:extLst>
          </p:cNvPr>
          <p:cNvPicPr>
            <a:picLocks noChangeAspect="1" noChangeArrowheads="1"/>
          </p:cNvPicPr>
          <p:nvPr/>
        </p:nvPicPr>
        <p:blipFill>
          <a:blip r:embed="rId16" cstate="email">
            <a:extLst>
              <a:ext uri="{28A0092B-C50C-407E-A947-70E740481C1C}">
                <a14:useLocalDpi xmlns:a14="http://schemas.microsoft.com/office/drawing/2010/main"/>
              </a:ext>
            </a:extLst>
          </a:blip>
          <a:srcRect/>
          <a:stretch>
            <a:fillRect/>
          </a:stretch>
        </p:blipFill>
        <p:spPr bwMode="auto">
          <a:xfrm>
            <a:off x="1618153" y="5276304"/>
            <a:ext cx="827902" cy="827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45922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1243</TotalTime>
  <Words>4914</Words>
  <Application>Microsoft Macintosh PowerPoint</Application>
  <PresentationFormat>Widescreen</PresentationFormat>
  <Paragraphs>450</Paragraphs>
  <Slides>21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129</cp:revision>
  <dcterms:modified xsi:type="dcterms:W3CDTF">2021-05-09T17:47:07Z</dcterms:modified>
</cp:coreProperties>
</file>