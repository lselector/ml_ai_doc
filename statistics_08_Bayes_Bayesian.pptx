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63" r:id="rId3"/>
    <p:sldId id="295" r:id="rId4"/>
    <p:sldId id="296" r:id="rId5"/>
    <p:sldId id="291" r:id="rId6"/>
    <p:sldId id="292" r:id="rId7"/>
    <p:sldId id="257" r:id="rId8"/>
    <p:sldId id="258" r:id="rId9"/>
    <p:sldId id="260" r:id="rId10"/>
    <p:sldId id="293" r:id="rId11"/>
    <p:sldId id="294" r:id="rId12"/>
    <p:sldId id="262" r:id="rId13"/>
    <p:sldId id="297"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29"/>
    <p:restoredTop sz="94729"/>
  </p:normalViewPr>
  <p:slideViewPr>
    <p:cSldViewPr snapToGrid="0">
      <p:cViewPr varScale="1">
        <p:scale>
          <a:sx n="108" d="100"/>
          <a:sy n="108" d="100"/>
        </p:scale>
        <p:origin x="20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2" Type="http://schemas.openxmlformats.org/officeDocument/2006/relationships/hyperlink" Target="https://www.youtube.com/watch?v=KhAUfqhLak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tiff"/><Relationship Id="rId4" Type="http://schemas.openxmlformats.org/officeDocument/2006/relationships/hyperlink" Target="https://www.geeksforgeeks.org/naive-bayes-classifiers/"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cs.toronto.edu/~hinton/science.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18.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hyperlink" Target="https://www.glassdoor.com/Interview/bayesian-interview-questions-SRCH_KT0,8.htm"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49491" y="2860142"/>
            <a:ext cx="2217637" cy="1384995"/>
          </a:xfrm>
          <a:prstGeom prst="rect">
            <a:avLst/>
          </a:prstGeom>
          <a:noFill/>
        </p:spPr>
        <p:txBody>
          <a:bodyPr wrap="square" rtlCol="0">
            <a:spAutoFit/>
          </a:bodyPr>
          <a:lstStyle/>
          <a:p>
            <a:pPr algn="ctr"/>
            <a:r>
              <a:rPr lang="en-US" dirty="0"/>
              <a:t>Bayes "solution" to a problem of inverse probability, was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538024" y="615729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spTree>
    <p:extLst>
      <p:ext uri="{BB962C8B-B14F-4D97-AF65-F5344CB8AC3E}">
        <p14:creationId xmlns:p14="http://schemas.microsoft.com/office/powerpoint/2010/main" val="333321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560001" cy="2893100"/>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 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 – and computing their probabilities (solving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in selecting a prior model / distribution. </a:t>
            </a:r>
          </a:p>
          <a:p>
            <a:endParaRPr lang="en-US" dirty="0"/>
          </a:p>
          <a:p>
            <a:r>
              <a:rPr lang="en-US" b="1" dirty="0">
                <a:solidFill>
                  <a:srgbClr val="FF0000"/>
                </a:solidFill>
              </a:rPr>
              <a:t>Bayesians</a:t>
            </a:r>
            <a:r>
              <a:rPr lang="en-US" dirty="0"/>
              <a:t> snap back that at least they have a model, 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4325394" cy="954107"/>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endParaRPr lang="en-US" dirty="0"/>
          </a:p>
          <a:p>
            <a:r>
              <a:rPr lang="en-US" dirty="0"/>
              <a:t>What can we say about coffee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4109673" y="2068519"/>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40%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16387" y="1974106"/>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63208"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2439126"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1164672"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3065807" y="2935014"/>
            <a:ext cx="1246477"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        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2679402" y="197410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3" name="Google Shape;96;p13">
            <a:extLst>
              <a:ext uri="{FF2B5EF4-FFF2-40B4-BE49-F238E27FC236}">
                <a16:creationId xmlns:a16="http://schemas.microsoft.com/office/drawing/2014/main" id="{569DD241-518F-8F46-AE6A-34E80876D3BC}"/>
              </a:ext>
            </a:extLst>
          </p:cNvPr>
          <p:cNvSpPr/>
          <p:nvPr/>
        </p:nvSpPr>
        <p:spPr>
          <a:xfrm>
            <a:off x="116387" y="4517792"/>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2089797"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2439126"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2136366"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3467734"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2675922" y="4499611"/>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0" name="Google Shape;89;p13">
            <a:extLst>
              <a:ext uri="{FF2B5EF4-FFF2-40B4-BE49-F238E27FC236}">
                <a16:creationId xmlns:a16="http://schemas.microsoft.com/office/drawing/2014/main" id="{B62C94EF-0889-7846-B479-937B9CC58C28}"/>
              </a:ext>
            </a:extLst>
          </p:cNvPr>
          <p:cNvSpPr txBox="1"/>
          <p:nvPr/>
        </p:nvSpPr>
        <p:spPr>
          <a:xfrm>
            <a:off x="4116279" y="4617542"/>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5%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80%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80%*5% = 4%</a:t>
            </a:r>
          </a:p>
        </p:txBody>
      </p:sp>
      <p:sp>
        <p:nvSpPr>
          <p:cNvPr id="4" name="TextBox 3">
            <a:extLst>
              <a:ext uri="{FF2B5EF4-FFF2-40B4-BE49-F238E27FC236}">
                <a16:creationId xmlns:a16="http://schemas.microsoft.com/office/drawing/2014/main" id="{39A90BC2-B4D8-E240-A189-C3C7F0FC7086}"/>
              </a:ext>
            </a:extLst>
          </p:cNvPr>
          <p:cNvSpPr txBox="1"/>
          <p:nvPr/>
        </p:nvSpPr>
        <p:spPr>
          <a:xfrm>
            <a:off x="8930917" y="2068519"/>
            <a:ext cx="3245613" cy="1569660"/>
          </a:xfrm>
          <a:prstGeom prst="rect">
            <a:avLst/>
          </a:prstGeom>
          <a:noFill/>
        </p:spPr>
        <p:txBody>
          <a:bodyPr wrap="square" rtlCol="0">
            <a:spAutoFit/>
          </a:bodyPr>
          <a:lstStyle/>
          <a:p>
            <a:r>
              <a:rPr lang="en-US" sz="1200" dirty="0"/>
              <a:t>Possible approach to calculating P(B|A):</a:t>
            </a:r>
          </a:p>
          <a:p>
            <a:endParaRPr lang="en-US" sz="1200" dirty="0"/>
          </a:p>
          <a:p>
            <a:pPr marL="171450" indent="-171450">
              <a:buFont typeface="Arial" panose="020B0604020202020204" pitchFamily="34" charset="0"/>
              <a:buChar char="•"/>
            </a:pPr>
            <a:r>
              <a:rPr lang="en-US" sz="1200" dirty="0"/>
              <a:t>We fix P(A|B)=0.8 and P(B) = 0.05.</a:t>
            </a:r>
          </a:p>
          <a:p>
            <a:pPr marL="171450" indent="-171450">
              <a:buFont typeface="Arial" panose="020B0604020202020204" pitchFamily="34" charset="0"/>
              <a:buChar char="•"/>
            </a:pPr>
            <a:r>
              <a:rPr lang="en-US" sz="1200" dirty="0"/>
              <a:t>Then we use Bayes formula to </a:t>
            </a:r>
            <a:br>
              <a:rPr lang="en-US" sz="1200" dirty="0"/>
            </a:br>
            <a:r>
              <a:rPr lang="en-US" sz="1200" dirty="0"/>
              <a:t>express P(B|A) as function of P(A).</a:t>
            </a:r>
          </a:p>
          <a:p>
            <a:pPr marL="171450" indent="-171450">
              <a:buFont typeface="Arial" panose="020B0604020202020204" pitchFamily="34" charset="0"/>
              <a:buChar char="•"/>
            </a:pPr>
            <a:r>
              <a:rPr lang="en-US" sz="1200" dirty="0"/>
              <a:t>Then presuming that all values of P(A) </a:t>
            </a:r>
            <a:br>
              <a:rPr lang="en-US" sz="1200" dirty="0"/>
            </a:br>
            <a:r>
              <a:rPr lang="en-US" sz="1200" dirty="0"/>
              <a:t>are equally possible (flat prior), </a:t>
            </a:r>
            <a:br>
              <a:rPr lang="en-US" sz="1200" dirty="0"/>
            </a:br>
            <a:r>
              <a:rPr lang="en-US" sz="1200" dirty="0"/>
              <a:t>we calculate average P(B|A).</a:t>
            </a:r>
          </a:p>
        </p:txBody>
      </p:sp>
    </p:spTree>
    <p:extLst>
      <p:ext uri="{BB962C8B-B14F-4D97-AF65-F5344CB8AC3E}">
        <p14:creationId xmlns:p14="http://schemas.microsoft.com/office/powerpoint/2010/main" val="418091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021286" y="418578"/>
            <a:ext cx="1715986" cy="1996320"/>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021286" y="3248453"/>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8"/>
            <a:ext cx="6613415" cy="9981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p:txBody>
      </p:sp>
      <p:sp>
        <p:nvSpPr>
          <p:cNvPr id="7" name="Google Shape;107;p14">
            <a:extLst>
              <a:ext uri="{FF2B5EF4-FFF2-40B4-BE49-F238E27FC236}">
                <a16:creationId xmlns:a16="http://schemas.microsoft.com/office/drawing/2014/main" id="{4CCE08F0-3501-EE45-BB4D-DD3F87E80562}"/>
              </a:ext>
            </a:extLst>
          </p:cNvPr>
          <p:cNvSpPr txBox="1"/>
          <p:nvPr/>
        </p:nvSpPr>
        <p:spPr>
          <a:xfrm>
            <a:off x="91342" y="2423668"/>
            <a:ext cx="6428357" cy="148084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each next layer (“B”) is trained on top of the previous layer (“A”).</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is a two-layered artificial neural network.</a:t>
            </a:r>
            <a:endParaRPr lang="en-US" sz="1800" dirty="0">
              <a:solidFill>
                <a:schemeClr val="dk1"/>
              </a:solidFill>
              <a:latin typeface="Calibri"/>
              <a:cs typeface="Calibri"/>
              <a:sym typeface="Calibri"/>
            </a:endParaRPr>
          </a:p>
        </p:txBody>
      </p:sp>
      <p:pic>
        <p:nvPicPr>
          <p:cNvPr id="3" name="Picture 2">
            <a:extLst>
              <a:ext uri="{FF2B5EF4-FFF2-40B4-BE49-F238E27FC236}">
                <a16:creationId xmlns:a16="http://schemas.microsoft.com/office/drawing/2014/main" id="{221CF74C-2765-1A49-9DE4-312EA056AB81}"/>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2476501" y="4071018"/>
            <a:ext cx="1123506" cy="1412016"/>
          </a:xfrm>
          <a:prstGeom prst="rect">
            <a:avLst/>
          </a:prstGeom>
        </p:spPr>
      </p:pic>
      <p:pic>
        <p:nvPicPr>
          <p:cNvPr id="4" name="Picture 3">
            <a:extLst>
              <a:ext uri="{FF2B5EF4-FFF2-40B4-BE49-F238E27FC236}">
                <a16:creationId xmlns:a16="http://schemas.microsoft.com/office/drawing/2014/main" id="{F3F0E989-24F4-954F-8654-A11FAA84E879}"/>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70314" y="4041266"/>
            <a:ext cx="1253671" cy="1417842"/>
          </a:xfrm>
          <a:prstGeom prst="rect">
            <a:avLst/>
          </a:prstGeom>
        </p:spPr>
      </p:pic>
      <p:sp>
        <p:nvSpPr>
          <p:cNvPr id="10" name="Google Shape;107;p14">
            <a:extLst>
              <a:ext uri="{FF2B5EF4-FFF2-40B4-BE49-F238E27FC236}">
                <a16:creationId xmlns:a16="http://schemas.microsoft.com/office/drawing/2014/main" id="{BBAA03BF-9CD1-2742-8F30-65CF844C9AE9}"/>
              </a:ext>
            </a:extLst>
          </p:cNvPr>
          <p:cNvSpPr txBox="1"/>
          <p:nvPr/>
        </p:nvSpPr>
        <p:spPr>
          <a:xfrm>
            <a:off x="183869" y="5485948"/>
            <a:ext cx="6428357" cy="1219839"/>
          </a:xfrm>
          <a:prstGeom prst="rect">
            <a:avLst/>
          </a:prstGeom>
          <a:noFill/>
          <a:ln>
            <a:noFill/>
          </a:ln>
        </p:spPr>
        <p:txBody>
          <a:bodyPr spcFirstLastPara="1" wrap="square" lIns="91425" tIns="45700" rIns="91425" bIns="45700" anchor="t" anchorCtr="0">
            <a:noAutofit/>
          </a:bodyPr>
          <a:lstStyle/>
          <a:p>
            <a:pPr lvl="0"/>
            <a:r>
              <a:rPr lang="en-US" sz="1800" dirty="0">
                <a:solidFill>
                  <a:schemeClr val="dk1"/>
                </a:solidFill>
                <a:latin typeface="Calibri"/>
                <a:cs typeface="Calibri"/>
              </a:rPr>
              <a:t>Geoffrey Hinton &amp; Ruslan </a:t>
            </a:r>
            <a:r>
              <a:rPr lang="en-US" sz="1800" dirty="0" err="1">
                <a:solidFill>
                  <a:schemeClr val="dk1"/>
                </a:solidFill>
                <a:latin typeface="Calibri"/>
                <a:cs typeface="Calibri"/>
              </a:rPr>
              <a:t>Salakhutdinov</a:t>
            </a:r>
            <a:r>
              <a:rPr lang="en-US" sz="1800" dirty="0">
                <a:solidFill>
                  <a:schemeClr val="dk1"/>
                </a:solidFill>
                <a:latin typeface="Calibri"/>
                <a:cs typeface="Calibri"/>
              </a:rPr>
              <a:t> (2006). </a:t>
            </a:r>
          </a:p>
          <a:p>
            <a:pPr lvl="0"/>
            <a:r>
              <a:rPr lang="en-US" sz="1800" dirty="0">
                <a:solidFill>
                  <a:schemeClr val="dk1"/>
                </a:solidFill>
                <a:latin typeface="Calibri"/>
                <a:cs typeface="Calibri"/>
              </a:rPr>
              <a:t>Reducing the dimensionality of data with neural networks.</a:t>
            </a:r>
          </a:p>
          <a:p>
            <a:pPr lvl="0"/>
            <a:r>
              <a:rPr lang="en-US" sz="1800" dirty="0">
                <a:solidFill>
                  <a:schemeClr val="dk1"/>
                </a:solidFill>
                <a:latin typeface="Calibri"/>
                <a:cs typeface="Calibri"/>
              </a:rPr>
              <a:t>Science, 313, 504 – 507.</a:t>
            </a:r>
          </a:p>
          <a:p>
            <a:pPr lvl="0"/>
            <a:r>
              <a:rPr lang="en-US" sz="1800" dirty="0">
                <a:solidFill>
                  <a:schemeClr val="dk1"/>
                </a:solidFill>
                <a:latin typeface="Calibri"/>
                <a:cs typeface="Calibri"/>
                <a:sym typeface="Calibri"/>
              </a:rPr>
              <a:t> - </a:t>
            </a:r>
            <a:r>
              <a:rPr lang="en-US" sz="1800" dirty="0">
                <a:solidFill>
                  <a:schemeClr val="dk1"/>
                </a:solidFill>
                <a:latin typeface="Calibri"/>
                <a:cs typeface="Calibri"/>
                <a:sym typeface="Calibri"/>
                <a:hlinkClick r:id="rId7"/>
              </a:rPr>
              <a:t>https://www.cs.toronto.edu/~hinton/science.pdf</a:t>
            </a:r>
            <a:r>
              <a:rPr lang="en-US" sz="1800" dirty="0">
                <a:solidFill>
                  <a:schemeClr val="dk1"/>
                </a:solidFill>
                <a:latin typeface="Calibri"/>
                <a:cs typeface="Calibri"/>
                <a:sym typeface="Calibri"/>
              </a:rPr>
              <a:t> </a:t>
            </a:r>
          </a:p>
        </p:txBody>
      </p:sp>
      <p:sp>
        <p:nvSpPr>
          <p:cNvPr id="6" name="TextBox 5">
            <a:extLst>
              <a:ext uri="{FF2B5EF4-FFF2-40B4-BE49-F238E27FC236}">
                <a16:creationId xmlns:a16="http://schemas.microsoft.com/office/drawing/2014/main" id="{AC6499AC-2623-244C-B653-E3602A825F7E}"/>
              </a:ext>
            </a:extLst>
          </p:cNvPr>
          <p:cNvSpPr txBox="1"/>
          <p:nvPr/>
        </p:nvSpPr>
        <p:spPr>
          <a:xfrm>
            <a:off x="8118388" y="5609967"/>
            <a:ext cx="2001795" cy="307777"/>
          </a:xfrm>
          <a:prstGeom prst="rect">
            <a:avLst/>
          </a:prstGeom>
          <a:noFill/>
        </p:spPr>
        <p:txBody>
          <a:bodyPr wrap="square" rtlCol="0">
            <a:spAutoFit/>
          </a:bodyPr>
          <a:lstStyle/>
          <a:p>
            <a:r>
              <a:rPr lang="en-US" dirty="0"/>
              <a:t>A Deep Belief Network</a:t>
            </a:r>
          </a:p>
        </p:txBody>
      </p:sp>
    </p:spTree>
    <p:extLst>
      <p:ext uri="{BB962C8B-B14F-4D97-AF65-F5344CB8AC3E}">
        <p14:creationId xmlns:p14="http://schemas.microsoft.com/office/powerpoint/2010/main" val="4205312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a:t>
            </a:r>
          </a:p>
          <a:p>
            <a:r>
              <a:rPr lang="en-US" b="1" dirty="0">
                <a:solidFill>
                  <a:srgbClr val="00B050"/>
                </a:solidFill>
                <a:latin typeface="Calibri"/>
                <a:cs typeface="Calibri"/>
              </a:rPr>
              <a:t>optimal hyperparameters for Machine Learning models</a:t>
            </a:r>
            <a:r>
              <a:rPr lang="en-US" dirty="0">
                <a:solidFill>
                  <a:schemeClr val="dk1"/>
                </a:solidFill>
                <a:latin typeface="Calibri"/>
                <a:cs typeface="Calibri"/>
              </a:rPr>
              <a:t> </a:t>
            </a:r>
          </a:p>
          <a:p>
            <a:r>
              <a:rPr lang="en-US" dirty="0">
                <a:solidFill>
                  <a:schemeClr val="dk1"/>
                </a:solidFill>
                <a:latin typeface="Calibri"/>
                <a:cs typeface="Calibri"/>
              </a:rPr>
              <a:t>(it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a:t>
            </a:r>
            <a:r>
              <a:rPr lang="en-US" b="1" dirty="0">
                <a:solidFill>
                  <a:srgbClr val="00B050"/>
                </a:solidFill>
                <a:latin typeface="Calibri"/>
                <a:cs typeface="Calibri"/>
                <a:sym typeface="Calibri"/>
              </a:rPr>
              <a:t>exploration and exploitation</a:t>
            </a:r>
            <a:r>
              <a:rPr lang="en-US" dirty="0">
                <a:solidFill>
                  <a:schemeClr val="dk1"/>
                </a:solidFill>
                <a:latin typeface="Calibri"/>
                <a:cs typeface="Calibri"/>
                <a:sym typeface="Calibri"/>
              </a:rPr>
              <a:t>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6E1CEB-F40C-EB46-AE42-94921324FD7D}"/>
              </a:ext>
            </a:extLst>
          </p:cNvPr>
          <p:cNvSpPr txBox="1"/>
          <p:nvPr/>
        </p:nvSpPr>
        <p:spPr>
          <a:xfrm>
            <a:off x="-1" y="37572"/>
            <a:ext cx="8277101" cy="400110"/>
          </a:xfrm>
          <a:prstGeom prst="rect">
            <a:avLst/>
          </a:prstGeom>
          <a:noFill/>
        </p:spPr>
        <p:txBody>
          <a:bodyPr wrap="square" rtlCol="0">
            <a:spAutoFit/>
          </a:bodyPr>
          <a:lstStyle/>
          <a:p>
            <a:r>
              <a:rPr lang="en-US" sz="2000" b="1" dirty="0"/>
              <a:t>Bayesian Exercise Questions &amp; Conditional Probability Questions</a:t>
            </a:r>
          </a:p>
        </p:txBody>
      </p:sp>
      <p:sp>
        <p:nvSpPr>
          <p:cNvPr id="3" name="TextBox 2">
            <a:extLst>
              <a:ext uri="{FF2B5EF4-FFF2-40B4-BE49-F238E27FC236}">
                <a16:creationId xmlns:a16="http://schemas.microsoft.com/office/drawing/2014/main" id="{42F87632-23F8-1548-BE7C-6E509D69DC76}"/>
              </a:ext>
            </a:extLst>
          </p:cNvPr>
          <p:cNvSpPr txBox="1"/>
          <p:nvPr/>
        </p:nvSpPr>
        <p:spPr>
          <a:xfrm>
            <a:off x="118753" y="560792"/>
            <a:ext cx="8906494" cy="4185761"/>
          </a:xfrm>
          <a:prstGeom prst="rect">
            <a:avLst/>
          </a:prstGeom>
          <a:noFill/>
        </p:spPr>
        <p:txBody>
          <a:bodyPr wrap="square" rtlCol="0">
            <a:spAutoFit/>
          </a:bodyPr>
          <a:lstStyle/>
          <a:p>
            <a:pPr marL="285750" indent="-285750">
              <a:buFont typeface="Arial" panose="020B0604020202020204" pitchFamily="34" charset="0"/>
              <a:buChar char="•"/>
            </a:pPr>
            <a:r>
              <a:rPr lang="en-US" dirty="0"/>
              <a:t>A jar has 1000 coins, of which 999 are fair and 1 is double-headed. </a:t>
            </a:r>
            <a:br>
              <a:rPr lang="en-US" dirty="0"/>
            </a:br>
            <a:r>
              <a:rPr lang="en-US" dirty="0"/>
              <a:t>Pick a coin at random, and toss it 10 times. </a:t>
            </a:r>
            <a:br>
              <a:rPr lang="en-US" dirty="0"/>
            </a:br>
            <a:r>
              <a:rPr lang="en-US" dirty="0"/>
              <a:t>Given that you see 10 heads, what is the probability that the next toss of that coin is also a head?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50% of all people who receive a first interview receive a second interview.</a:t>
            </a:r>
            <a:br>
              <a:rPr lang="en-US" dirty="0"/>
            </a:br>
            <a:r>
              <a:rPr lang="en-US" dirty="0"/>
              <a:t>95% of those who got a second interview felt they had a good first interview.</a:t>
            </a:r>
            <a:br>
              <a:rPr lang="en-US" dirty="0"/>
            </a:br>
            <a:r>
              <a:rPr lang="en-US" dirty="0"/>
              <a:t>75% of those who didn't get a second interview felt they had a good first interview.</a:t>
            </a:r>
            <a:br>
              <a:rPr lang="en-US" dirty="0"/>
            </a:br>
            <a:r>
              <a:rPr lang="en-US" dirty="0"/>
              <a:t>If you feel that you had a good first interview, what is the probability you will receive a second interview?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You're about to get on a plane to Seattle. You want to know if you should bring an umbrella. You call 3 random friends of yours who live there and ask each independently if it's raining. Each of your friends has a 2/3 chance of telling you the truth and a 1/3 chance of messing with you by lying. All 3 friends tell you that "Yes" it is raining. What is the probability that it's actually raining in Seattle?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Drawing a pair of (x, y) from a joint Gaussian distribution with 0 covariance. Knowing the </a:t>
            </a:r>
            <a:r>
              <a:rPr lang="en-US" dirty="0" err="1"/>
              <a:t>stndard</a:t>
            </a:r>
            <a:r>
              <a:rPr lang="en-US" dirty="0"/>
              <a:t> deviations of x and y and knowing z = x + y, what is your best guess for x?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 babies in a room, 2 boys and 3 girls. one baby with unknown sex is added. Randomly choose one baby and the result is a boy. What's the prob that the added baby is a boy?</a:t>
            </a:r>
          </a:p>
        </p:txBody>
      </p:sp>
      <p:sp>
        <p:nvSpPr>
          <p:cNvPr id="4" name="TextBox 3">
            <a:extLst>
              <a:ext uri="{FF2B5EF4-FFF2-40B4-BE49-F238E27FC236}">
                <a16:creationId xmlns:a16="http://schemas.microsoft.com/office/drawing/2014/main" id="{1233587D-200E-7241-9DB9-3DF608B2814A}"/>
              </a:ext>
            </a:extLst>
          </p:cNvPr>
          <p:cNvSpPr txBox="1"/>
          <p:nvPr/>
        </p:nvSpPr>
        <p:spPr>
          <a:xfrm>
            <a:off x="118753" y="5700156"/>
            <a:ext cx="9239003" cy="738664"/>
          </a:xfrm>
          <a:prstGeom prst="rect">
            <a:avLst/>
          </a:prstGeom>
          <a:noFill/>
        </p:spPr>
        <p:txBody>
          <a:bodyPr wrap="square" rtlCol="0">
            <a:spAutoFit/>
          </a:bodyPr>
          <a:lstStyle/>
          <a:p>
            <a:r>
              <a:rPr lang="en-US" dirty="0"/>
              <a:t> - </a:t>
            </a:r>
            <a:r>
              <a:rPr lang="en-US" dirty="0">
                <a:hlinkClick r:id="rId2"/>
              </a:rPr>
              <a:t>https://www.glassdoor.com/Interview/bayesian-interview-questions-SRCH_KT0,8.htm</a:t>
            </a:r>
            <a:r>
              <a:rPr lang="en-US" dirty="0"/>
              <a:t> – </a:t>
            </a:r>
          </a:p>
          <a:p>
            <a:r>
              <a:rPr lang="en-US" dirty="0"/>
              <a:t> - - </a:t>
            </a:r>
          </a:p>
          <a:p>
            <a:endParaRPr lang="en-US" dirty="0"/>
          </a:p>
        </p:txBody>
      </p:sp>
    </p:spTree>
    <p:extLst>
      <p:ext uri="{BB962C8B-B14F-4D97-AF65-F5344CB8AC3E}">
        <p14:creationId xmlns:p14="http://schemas.microsoft.com/office/powerpoint/2010/main" val="219627307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781</TotalTime>
  <Words>3249</Words>
  <Application>Microsoft Macintosh PowerPoint</Application>
  <PresentationFormat>Widescreen</PresentationFormat>
  <Paragraphs>295</Paragraphs>
  <Slides>13</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75</cp:revision>
  <dcterms:modified xsi:type="dcterms:W3CDTF">2021-05-03T03:22:13Z</dcterms:modified>
</cp:coreProperties>
</file>