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tiff" ContentType="image/tif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61" r:id="rId3"/>
    <p:sldId id="265" r:id="rId4"/>
    <p:sldId id="266" r:id="rId5"/>
    <p:sldId id="267" r:id="rId6"/>
    <p:sldId id="262" r:id="rId7"/>
    <p:sldId id="257" r:id="rId8"/>
    <p:sldId id="258" r:id="rId9"/>
    <p:sldId id="264" r:id="rId10"/>
    <p:sldId id="263" r:id="rId11"/>
    <p:sldId id="259" r:id="rId1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05"/>
    <p:restoredTop sz="94649"/>
  </p:normalViewPr>
  <p:slideViewPr>
    <p:cSldViewPr snapToGrid="0" snapToObjects="1">
      <p:cViewPr varScale="1">
        <p:scale>
          <a:sx n="97" d="100"/>
          <a:sy n="97" d="100"/>
        </p:scale>
        <p:origin x="11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v Selector" userId="314cf8c1-d356-4160-b242-72dee3bb7a46" providerId="ADAL" clId="{4A2EED6F-F6F3-E84D-AB7E-543A4DCD1B22}"/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7819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54190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274218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67183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/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image" Target="../media/image2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tiff"/><Relationship Id="rId5" Type="http://schemas.openxmlformats.org/officeDocument/2006/relationships/image" Target="../media/image4.jpeg"/><Relationship Id="rId4" Type="http://schemas.openxmlformats.org/officeDocument/2006/relationships/hyperlink" Target="https://victorzhou.com/blog/gini-impurity/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jpeg"/><Relationship Id="rId3" Type="http://schemas.openxmlformats.org/officeDocument/2006/relationships/hyperlink" Target="https://www.rulequest.com/see5-info.html" TargetMode="External"/><Relationship Id="rId7" Type="http://schemas.openxmlformats.org/officeDocument/2006/relationships/hyperlink" Target="https://www.rulequest.com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rulequest.com/Personal/" TargetMode="External"/><Relationship Id="rId5" Type="http://schemas.openxmlformats.org/officeDocument/2006/relationships/image" Target="../media/image7.jpeg"/><Relationship Id="rId4" Type="http://schemas.openxmlformats.org/officeDocument/2006/relationships/hyperlink" Target="https://www.rulequest.com/download.html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towardsdatascience.com/clearly-explained-top-2-types-of-decision-trees-chaid-cart-8695e441e73e" TargetMode="External"/><Relationship Id="rId2" Type="http://schemas.openxmlformats.org/officeDocument/2006/relationships/hyperlink" Target="https://en.wikipedia.org/wiki/Chi-square_automatic_interaction_detection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tat.berkeley.edu/~breiman/RandomForests/cc_software.htm" TargetMode="External"/><Relationship Id="rId3" Type="http://schemas.openxmlformats.org/officeDocument/2006/relationships/image" Target="../media/image9.tiff"/><Relationship Id="rId7" Type="http://schemas.openxmlformats.org/officeDocument/2006/relationships/image" Target="../media/image1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tiff"/><Relationship Id="rId11" Type="http://schemas.openxmlformats.org/officeDocument/2006/relationships/image" Target="../media/image16.tiff"/><Relationship Id="rId5" Type="http://schemas.openxmlformats.org/officeDocument/2006/relationships/image" Target="../media/image11.jpeg"/><Relationship Id="rId10" Type="http://schemas.openxmlformats.org/officeDocument/2006/relationships/image" Target="../media/image15.tiff"/><Relationship Id="rId4" Type="http://schemas.openxmlformats.org/officeDocument/2006/relationships/image" Target="../media/image10.jpeg"/><Relationship Id="rId9" Type="http://schemas.openxmlformats.org/officeDocument/2006/relationships/image" Target="../media/image1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dnuggets.com/2017/02/stacking-models-imropved-predictions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tiff"/><Relationship Id="rId4" Type="http://schemas.openxmlformats.org/officeDocument/2006/relationships/image" Target="../media/image17.tif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tiff"/><Relationship Id="rId3" Type="http://schemas.openxmlformats.org/officeDocument/2006/relationships/image" Target="../media/image21.tiff"/><Relationship Id="rId7" Type="http://schemas.openxmlformats.org/officeDocument/2006/relationships/image" Target="../media/image2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tiff"/><Relationship Id="rId5" Type="http://schemas.openxmlformats.org/officeDocument/2006/relationships/image" Target="../media/image23.tiff"/><Relationship Id="rId4" Type="http://schemas.openxmlformats.org/officeDocument/2006/relationships/image" Target="../media/image22.tif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tiff"/><Relationship Id="rId5" Type="http://schemas.openxmlformats.org/officeDocument/2006/relationships/image" Target="../media/image29.tiff"/><Relationship Id="rId4" Type="http://schemas.openxmlformats.org/officeDocument/2006/relationships/image" Target="../media/image28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analyticsvidhya.com/blog/2016/03/complete-guide-parameter-tuning-xgboost-with-codes-python/" TargetMode="External"/><Relationship Id="rId3" Type="http://schemas.openxmlformats.org/officeDocument/2006/relationships/hyperlink" Target="https://statweb.stanford.edu/~jhf/ftp/trebst.pdf" TargetMode="External"/><Relationship Id="rId7" Type="http://schemas.openxmlformats.org/officeDocument/2006/relationships/hyperlink" Target="http://zhanpengfang.github.io/418home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1505.01866" TargetMode="External"/><Relationship Id="rId11" Type="http://schemas.openxmlformats.org/officeDocument/2006/relationships/hyperlink" Target="https://en.wikipedia.org/wiki/Xgboost" TargetMode="External"/><Relationship Id="rId5" Type="http://schemas.openxmlformats.org/officeDocument/2006/relationships/hyperlink" Target="https://xgboost.readthedocs.io/en/latest/model.html" TargetMode="External"/><Relationship Id="rId10" Type="http://schemas.openxmlformats.org/officeDocument/2006/relationships/hyperlink" Target="https://en.wikipedia.org/wiki/Gradient_boosting" TargetMode="External"/><Relationship Id="rId4" Type="http://schemas.openxmlformats.org/officeDocument/2006/relationships/hyperlink" Target="http://homes.cs.washington.edu/~tqchen/pdf/BoostedTree.pdf" TargetMode="External"/><Relationship Id="rId9" Type="http://schemas.openxmlformats.org/officeDocument/2006/relationships/hyperlink" Target="https://www.quora.com/What-is-the-difference-between-the-R-gbm-gradient-boosting-machine-and-xgboost-extreme-gradient-boosting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465775" y="726320"/>
            <a:ext cx="8446997" cy="476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Ensemble Learning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Idea - train several models to do predictions.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Combine predictions of these models to get a better predictor.</a:t>
            </a:r>
          </a:p>
          <a:p>
            <a:pPr lvl="0"/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possible to combine any types of models into one predictor.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commonly people combine variations of similar models, like </a:t>
            </a:r>
            <a:r>
              <a:rPr 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decision trees 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Two most famous approaches are:</a:t>
            </a:r>
          </a:p>
          <a:p>
            <a:pPr lvl="0"/>
            <a:r>
              <a:rPr 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"Random Forest"</a:t>
            </a:r>
          </a:p>
          <a:p>
            <a:pPr lvl="0"/>
            <a:r>
              <a:rPr 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 - "Gradient Boosted Trees"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 the hood these models combine 100, 200 or more similar trees.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differences are in how you select the data to train those trees,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how you combine the predictions of these trees.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Below we look at these two classes of models.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98864B3-D28E-C946-8FCE-C6042459B522}"/>
              </a:ext>
            </a:extLst>
          </p:cNvPr>
          <p:cNvSpPr txBox="1"/>
          <p:nvPr/>
        </p:nvSpPr>
        <p:spPr>
          <a:xfrm>
            <a:off x="9782287" y="118334"/>
            <a:ext cx="24097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Data Science</a:t>
            </a:r>
          </a:p>
          <a:p>
            <a:endParaRPr lang="en-US" sz="2000" b="1" dirty="0"/>
          </a:p>
          <a:p>
            <a:r>
              <a:rPr lang="en-US" sz="2000" b="1" dirty="0"/>
              <a:t>Machine Learning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192506" y="64169"/>
            <a:ext cx="3332572" cy="464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Decision Tree (DT)</a:t>
            </a:r>
            <a:endParaRPr dirty="0"/>
          </a:p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103165" y="528850"/>
            <a:ext cx="4812072" cy="2757689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3"/>
          <p:cNvSpPr txBox="1"/>
          <p:nvPr/>
        </p:nvSpPr>
        <p:spPr>
          <a:xfrm>
            <a:off x="192506" y="3824909"/>
            <a:ext cx="5227633" cy="24979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There are many decision-tree building algorithms, for example: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ID3 (Iterative </a:t>
            </a:r>
            <a:r>
              <a:rPr lang="en-US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Dichotomiser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3)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uses smallest entropy metrics 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C4.5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successor of ID3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CART (Classification And Regression Tree)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uses Gini metrics 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CHAID (</a:t>
            </a:r>
            <a:r>
              <a:rPr lang="en-US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CHi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-squared Automatic Interaction Detector)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Performs multi-level splits when computing classification trees.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MARS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extends decision trees to handle numerical data better.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Conditional Inference Trees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 Statistics-based approach that uses non-parametric tests as splitting criteria, corrected for multiple testing to avoid overfitting. This approach results in unbiased predictor selection and does not require pruning.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88;p13">
            <a:extLst>
              <a:ext uri="{FF2B5EF4-FFF2-40B4-BE49-F238E27FC236}">
                <a16:creationId xmlns:a16="http://schemas.microsoft.com/office/drawing/2014/main" id="{05BDF544-D33D-B545-9E62-0F7A3B617D4F}"/>
              </a:ext>
            </a:extLst>
          </p:cNvPr>
          <p:cNvSpPr txBox="1"/>
          <p:nvPr/>
        </p:nvSpPr>
        <p:spPr>
          <a:xfrm>
            <a:off x="192507" y="649394"/>
            <a:ext cx="5452920" cy="2491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DT goes from observations about an item (represented in the branches) to conclusions about the item's target value (represented in the leaves).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DT can do classification or regression.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DTs are intuitive and easily interpretable.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Algorithms for constructing DTs usually work top-down, by choosing a variable at each step that best splits the set of items.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test all possible splits (or some subset) to decide how to split.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Simplicity is best, so we want to keep our tree small.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do so, at each step we should choose the split that results in the purest daughter nodes.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953517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88;p13">
            <a:extLst>
              <a:ext uri="{FF2B5EF4-FFF2-40B4-BE49-F238E27FC236}">
                <a16:creationId xmlns:a16="http://schemas.microsoft.com/office/drawing/2014/main" id="{84700BB5-82A4-5245-B96F-988ED1CACDD1}"/>
              </a:ext>
            </a:extLst>
          </p:cNvPr>
          <p:cNvSpPr txBox="1"/>
          <p:nvPr/>
        </p:nvSpPr>
        <p:spPr>
          <a:xfrm>
            <a:off x="0" y="0"/>
            <a:ext cx="2835966" cy="503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Gini Impurity 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8A07F-9CBD-2C49-89D3-715F0133C414}"/>
              </a:ext>
            </a:extLst>
          </p:cNvPr>
          <p:cNvSpPr txBox="1"/>
          <p:nvPr/>
        </p:nvSpPr>
        <p:spPr>
          <a:xfrm>
            <a:off x="145774" y="704633"/>
            <a:ext cx="4895950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Gini Impurity  (I</a:t>
            </a:r>
            <a:r>
              <a:rPr lang="en-US" b="1" baseline="-25000" dirty="0">
                <a:solidFill>
                  <a:srgbClr val="0070C0"/>
                </a:solidFill>
              </a:rPr>
              <a:t>G</a:t>
            </a:r>
            <a:r>
              <a:rPr lang="en-US" b="1" dirty="0">
                <a:solidFill>
                  <a:srgbClr val="0070C0"/>
                </a:solidFill>
              </a:rPr>
              <a:t>)</a:t>
            </a:r>
            <a:r>
              <a:rPr lang="en-US" dirty="0"/>
              <a:t> - metrics used by CART method for making splitting decisions on categorical features.</a:t>
            </a:r>
          </a:p>
          <a:p>
            <a:endParaRPr lang="en-US" dirty="0"/>
          </a:p>
          <a:p>
            <a:r>
              <a:rPr lang="en-US" dirty="0"/>
              <a:t>Gini impurity is a measure of how often a randomly chosen element from the set would be </a:t>
            </a:r>
            <a:r>
              <a:rPr lang="en-US" b="1" dirty="0">
                <a:solidFill>
                  <a:srgbClr val="0070C0"/>
                </a:solidFill>
              </a:rPr>
              <a:t>incorrectly labeled</a:t>
            </a:r>
            <a:r>
              <a:rPr lang="en-US" b="1" dirty="0"/>
              <a:t> </a:t>
            </a:r>
            <a:r>
              <a:rPr lang="en-US" dirty="0"/>
              <a:t>if it was randomly labeled according to the distribution of labels in the subset.</a:t>
            </a:r>
          </a:p>
          <a:p>
            <a:endParaRPr lang="en-US" dirty="0"/>
          </a:p>
          <a:p>
            <a:r>
              <a:rPr lang="en-US" dirty="0"/>
              <a:t>Gini max value is 0.5, and min value is 0 (when all cases in the node fall into a single target category).</a:t>
            </a:r>
          </a:p>
          <a:p>
            <a:endParaRPr lang="en-US" dirty="0"/>
          </a:p>
          <a:p>
            <a:r>
              <a:rPr lang="en-US" dirty="0"/>
              <a:t>If we have a set of items with J classes {1,2,..,J},</a:t>
            </a:r>
          </a:p>
          <a:p>
            <a:r>
              <a:rPr lang="en-US" dirty="0"/>
              <a:t>and p</a:t>
            </a:r>
            <a:r>
              <a:rPr lang="en-US" baseline="-25000" dirty="0"/>
              <a:t>i</a:t>
            </a:r>
            <a:r>
              <a:rPr lang="en-US" dirty="0"/>
              <a:t> is the fraction of items of </a:t>
            </a:r>
            <a:r>
              <a:rPr lang="en-US" dirty="0" err="1"/>
              <a:t>i-th</a:t>
            </a:r>
            <a:r>
              <a:rPr lang="en-US" dirty="0"/>
              <a:t> class, then it can be shown that :</a:t>
            </a:r>
          </a:p>
          <a:p>
            <a:endParaRPr lang="en-US" dirty="0"/>
          </a:p>
          <a:p>
            <a:r>
              <a:rPr lang="en-US" dirty="0"/>
              <a:t>                  </a:t>
            </a:r>
            <a:r>
              <a:rPr lang="en-US" sz="2000" b="1" dirty="0">
                <a:solidFill>
                  <a:srgbClr val="0070C0"/>
                </a:solidFill>
              </a:rPr>
              <a:t> I</a:t>
            </a:r>
            <a:r>
              <a:rPr lang="en-US" sz="2000" b="1" baseline="-25000" dirty="0">
                <a:solidFill>
                  <a:srgbClr val="0070C0"/>
                </a:solidFill>
              </a:rPr>
              <a:t>G</a:t>
            </a:r>
            <a:r>
              <a:rPr lang="en-US" sz="2000" b="1" dirty="0">
                <a:solidFill>
                  <a:srgbClr val="0070C0"/>
                </a:solidFill>
              </a:rPr>
              <a:t> = 1 – sum(p</a:t>
            </a:r>
            <a:r>
              <a:rPr lang="en-US" sz="2000" b="1" baseline="-25000" dirty="0">
                <a:solidFill>
                  <a:srgbClr val="0070C0"/>
                </a:solidFill>
              </a:rPr>
              <a:t>i</a:t>
            </a:r>
            <a:r>
              <a:rPr lang="en-US" sz="2000" b="1" baseline="30000" dirty="0">
                <a:solidFill>
                  <a:srgbClr val="0070C0"/>
                </a:solidFill>
              </a:rPr>
              <a:t>2</a:t>
            </a:r>
            <a:r>
              <a:rPr lang="en-US" sz="2000" b="1" dirty="0">
                <a:solidFill>
                  <a:srgbClr val="0070C0"/>
                </a:solidFill>
              </a:rPr>
              <a:t>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389231-6EC2-3440-B8E8-976BA179E174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4975198"/>
            <a:ext cx="5041724" cy="4979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0CDFD4A-BDA0-304F-A877-29351DC4095D}"/>
              </a:ext>
            </a:extLst>
          </p:cNvPr>
          <p:cNvSpPr txBox="1"/>
          <p:nvPr/>
        </p:nvSpPr>
        <p:spPr>
          <a:xfrm>
            <a:off x="274131" y="5844213"/>
            <a:ext cx="10336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fraction of incorrectly labeled</a:t>
            </a:r>
          </a:p>
        </p:txBody>
      </p:sp>
      <p:sp>
        <p:nvSpPr>
          <p:cNvPr id="13" name="Down Arrow 12">
            <a:extLst>
              <a:ext uri="{FF2B5EF4-FFF2-40B4-BE49-F238E27FC236}">
                <a16:creationId xmlns:a16="http://schemas.microsoft.com/office/drawing/2014/main" id="{3B13B625-C63D-654B-B224-6C649AEA0CB1}"/>
              </a:ext>
            </a:extLst>
          </p:cNvPr>
          <p:cNvSpPr/>
          <p:nvPr/>
        </p:nvSpPr>
        <p:spPr>
          <a:xfrm rot="11813512">
            <a:off x="834887" y="5499653"/>
            <a:ext cx="106017" cy="31805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own Arrow 16">
            <a:extLst>
              <a:ext uri="{FF2B5EF4-FFF2-40B4-BE49-F238E27FC236}">
                <a16:creationId xmlns:a16="http://schemas.microsoft.com/office/drawing/2014/main" id="{7CEB661B-0D67-574D-BAFC-838FD0DE878D}"/>
              </a:ext>
            </a:extLst>
          </p:cNvPr>
          <p:cNvSpPr/>
          <p:nvPr/>
        </p:nvSpPr>
        <p:spPr>
          <a:xfrm rot="6886914">
            <a:off x="3879494" y="3937724"/>
            <a:ext cx="66779" cy="147949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19CE564-3057-DE43-AEBC-382E4D0C782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42990" y="744382"/>
            <a:ext cx="6096000" cy="65595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B854F66-4C34-1644-9DB8-D2A499FF92F3}"/>
              </a:ext>
            </a:extLst>
          </p:cNvPr>
          <p:cNvSpPr txBox="1"/>
          <p:nvPr/>
        </p:nvSpPr>
        <p:spPr>
          <a:xfrm>
            <a:off x="5975047" y="18952"/>
            <a:ext cx="59403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you look at the documentation for the </a:t>
            </a:r>
            <a:r>
              <a:rPr lang="en-US" dirty="0" err="1"/>
              <a:t>DecisionTreeClassifier</a:t>
            </a:r>
            <a:r>
              <a:rPr lang="en-US" dirty="0"/>
              <a:t> class in </a:t>
            </a:r>
            <a:r>
              <a:rPr lang="en-US" dirty="0" err="1"/>
              <a:t>scikit</a:t>
            </a:r>
            <a:r>
              <a:rPr lang="en-US" dirty="0"/>
              <a:t>-learn, you’ll see something like this for the criterion parameter: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09A9544-F094-154E-957A-209399AF3B5A}"/>
              </a:ext>
            </a:extLst>
          </p:cNvPr>
          <p:cNvSpPr txBox="1"/>
          <p:nvPr/>
        </p:nvSpPr>
        <p:spPr>
          <a:xfrm>
            <a:off x="6042990" y="1516125"/>
            <a:ext cx="609599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training a decision tree, the best split is chosen by maximizing the Gini Gain, which is calculated by subtracting the weighted impurities of the branches from the original impurity </a:t>
            </a:r>
            <a:r>
              <a:rPr lang="en-US" sz="1100" dirty="0"/>
              <a:t>- </a:t>
            </a:r>
            <a:r>
              <a:rPr lang="en-US" sz="1100" dirty="0">
                <a:hlinkClick r:id="rId4"/>
              </a:rPr>
              <a:t>https://victorzhou.com/blog/gini-impurity/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A00475-FB7D-E545-A0D5-25E47F6D5D33}"/>
              </a:ext>
            </a:extLst>
          </p:cNvPr>
          <p:cNvSpPr txBox="1"/>
          <p:nvPr/>
        </p:nvSpPr>
        <p:spPr>
          <a:xfrm>
            <a:off x="7679993" y="2784986"/>
            <a:ext cx="4458997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Name "Gini" comes from economics.</a:t>
            </a:r>
          </a:p>
          <a:p>
            <a:r>
              <a:rPr lang="en-US" sz="1200" b="1" dirty="0" err="1">
                <a:solidFill>
                  <a:srgbClr val="0070C0"/>
                </a:solidFill>
              </a:rPr>
              <a:t>Corrado</a:t>
            </a:r>
            <a:r>
              <a:rPr lang="en-US" sz="1200" b="1" dirty="0">
                <a:solidFill>
                  <a:srgbClr val="0070C0"/>
                </a:solidFill>
              </a:rPr>
              <a:t> Gini</a:t>
            </a:r>
            <a:r>
              <a:rPr lang="en-US" sz="1200" dirty="0"/>
              <a:t> - Italian statistician and sociologist. </a:t>
            </a:r>
          </a:p>
          <a:p>
            <a:r>
              <a:rPr lang="en-US" sz="1200" dirty="0"/>
              <a:t>He has published his paper Variability and Mutability in 1912.</a:t>
            </a:r>
          </a:p>
          <a:p>
            <a:r>
              <a:rPr lang="en-US" sz="1200" dirty="0"/>
              <a:t>He has introduced a coefficient</a:t>
            </a:r>
          </a:p>
          <a:p>
            <a:r>
              <a:rPr lang="en-US" sz="1200" dirty="0"/>
              <a:t>(Gini coefficient, sometimes called the Gini index or Gini ratio.).</a:t>
            </a:r>
          </a:p>
          <a:p>
            <a:r>
              <a:rPr lang="en-US" sz="1200" dirty="0"/>
              <a:t>It is a measure of statistical dispersion intended to represent the income inequality or wealth inequality within a nation or any other group of people.</a:t>
            </a:r>
          </a:p>
          <a:p>
            <a:r>
              <a:rPr lang="en-US" sz="1200" dirty="0"/>
              <a:t>The coefficient ranges from 0 (or 0%) to 1 (or 100%), with 0 representing perfect equality and 1 representing perfect inequality.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D5637F1-F216-9343-923C-5E5303E0A4D0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28058" y="2891002"/>
            <a:ext cx="1574800" cy="155797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1216FE15-804B-E748-BD6C-5D1A19830D04}"/>
              </a:ext>
            </a:extLst>
          </p:cNvPr>
          <p:cNvSpPr txBox="1"/>
          <p:nvPr/>
        </p:nvSpPr>
        <p:spPr>
          <a:xfrm>
            <a:off x="6028058" y="4487773"/>
            <a:ext cx="1574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Corrado</a:t>
            </a:r>
            <a:r>
              <a:rPr lang="en-US" dirty="0"/>
              <a:t> Gini </a:t>
            </a:r>
          </a:p>
          <a:p>
            <a:pPr algn="ctr"/>
            <a:r>
              <a:rPr lang="en-US" dirty="0"/>
              <a:t>1884-1965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14FFDA6-52F3-754E-B046-653BBDFC9E3A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576919" y="5224172"/>
            <a:ext cx="4368651" cy="1323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908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5.googleusercontent.com/zt2CJXisj-hLRWhTGxrDl0FwTOY93cUZKkNgKqljr_v7dVnPWjbEUyf7nyvDJrlBbz7hHPGH5_z4-NTWHHglrQkT9cie4ykLmWzoKjUhiBc3pvJRyBw24kJ4Xz4vuz8uL1uXEbdejWw">
            <a:extLst>
              <a:ext uri="{FF2B5EF4-FFF2-40B4-BE49-F238E27FC236}">
                <a16:creationId xmlns:a16="http://schemas.microsoft.com/office/drawing/2014/main" id="{3433A25D-0B3C-3F4C-8D1B-878FB82665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730414" y="3676085"/>
            <a:ext cx="1934819" cy="503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Google Shape;88;p13">
            <a:extLst>
              <a:ext uri="{FF2B5EF4-FFF2-40B4-BE49-F238E27FC236}">
                <a16:creationId xmlns:a16="http://schemas.microsoft.com/office/drawing/2014/main" id="{84700BB5-82A4-5245-B96F-988ED1CACDD1}"/>
              </a:ext>
            </a:extLst>
          </p:cNvPr>
          <p:cNvSpPr txBox="1"/>
          <p:nvPr/>
        </p:nvSpPr>
        <p:spPr>
          <a:xfrm>
            <a:off x="-1" y="0"/>
            <a:ext cx="7222436" cy="503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Smalest</a:t>
            </a:r>
            <a:r>
              <a:rPr lang="en-US" sz="2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Entropy (Largest Information Gain)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A30E86-4544-E940-A08B-B262B27EFD2B}"/>
              </a:ext>
            </a:extLst>
          </p:cNvPr>
          <p:cNvSpPr txBox="1"/>
          <p:nvPr/>
        </p:nvSpPr>
        <p:spPr>
          <a:xfrm>
            <a:off x="116465" y="898080"/>
            <a:ext cx="7728822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ID3 (ID.3 = Iterative </a:t>
            </a:r>
            <a:r>
              <a:rPr lang="en-US" dirty="0" err="1"/>
              <a:t>Dichotomiser</a:t>
            </a:r>
            <a:r>
              <a:rPr lang="en-US" dirty="0"/>
              <a:t> 3)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algorithm invented by Ross Quinlan (1986)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used to generate a decision tree from a dataset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070C0"/>
                </a:solidFill>
              </a:rPr>
              <a:t>splits data by an attribute that has smallest average entropy of the split</a:t>
            </a:r>
            <a:br>
              <a:rPr lang="en-US" b="1" dirty="0">
                <a:solidFill>
                  <a:srgbClr val="0070C0"/>
                </a:solidFill>
              </a:rPr>
            </a:br>
            <a:r>
              <a:rPr lang="en-US" b="1" dirty="0">
                <a:solidFill>
                  <a:srgbClr val="0070C0"/>
                </a:solidFill>
              </a:rPr>
              <a:t>(or largest information gain)</a:t>
            </a:r>
          </a:p>
          <a:p>
            <a:endParaRPr lang="en-US" dirty="0"/>
          </a:p>
          <a:p>
            <a:r>
              <a:rPr lang="en-US" dirty="0"/>
              <a:t>C4.5 is an extension of ID3, used for classification, has following advantages: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handles both continuous and discrete attributes (creates a threshold and then splits the list)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handles missing attributes data (simply not using them in entropy calculations).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handles attributes with differing costs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pruning trees after creation (attempts to remove </a:t>
            </a:r>
            <a:r>
              <a:rPr lang="en-US" dirty="0" err="1"/>
              <a:t>inefective</a:t>
            </a:r>
            <a:r>
              <a:rPr lang="en-US" dirty="0"/>
              <a:t> branches or replace them with leaf nodes).</a:t>
            </a:r>
          </a:p>
          <a:p>
            <a:endParaRPr lang="en-US" dirty="0"/>
          </a:p>
          <a:p>
            <a:r>
              <a:rPr lang="en-US" dirty="0"/>
              <a:t>C5.0 algorithm - improved C4.5:</a:t>
            </a:r>
          </a:p>
          <a:p>
            <a:r>
              <a:rPr lang="en-US" dirty="0"/>
              <a:t> - </a:t>
            </a:r>
            <a:r>
              <a:rPr lang="en-US" dirty="0">
                <a:hlinkClick r:id="rId3"/>
              </a:rPr>
              <a:t>https://www.rulequest.com/see5-info.html</a:t>
            </a:r>
            <a:br>
              <a:rPr lang="en-US" dirty="0"/>
            </a:br>
            <a:r>
              <a:rPr lang="en-US" dirty="0"/>
              <a:t> - </a:t>
            </a:r>
            <a:r>
              <a:rPr lang="en-US" dirty="0">
                <a:hlinkClick r:id="rId4"/>
              </a:rPr>
              <a:t>https://www.rulequest.com/download.html</a:t>
            </a:r>
            <a:r>
              <a:rPr lang="en-US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much-much faster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less memory usage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builds smaller decision trees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support for boosting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support for weighting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automating winnowing (removing not effective attributes)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8787D5-4D81-F241-9199-8C86CD31122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966737" y="71783"/>
            <a:ext cx="2159000" cy="1625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BCD4CE1-AC79-934A-AD2D-813B625C5451}"/>
              </a:ext>
            </a:extLst>
          </p:cNvPr>
          <p:cNvSpPr txBox="1"/>
          <p:nvPr/>
        </p:nvSpPr>
        <p:spPr>
          <a:xfrm>
            <a:off x="8787804" y="1869184"/>
            <a:ext cx="30242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John Ross Quinlan</a:t>
            </a:r>
          </a:p>
          <a:p>
            <a:r>
              <a:rPr lang="en-US" dirty="0"/>
              <a:t>Inventor of canonical C4.5 and ID3 algorithms.  Currently running his  company </a:t>
            </a:r>
            <a:r>
              <a:rPr lang="en-US" b="1" dirty="0" err="1">
                <a:solidFill>
                  <a:srgbClr val="0070C0"/>
                </a:solidFill>
              </a:rPr>
              <a:t>RuleQuest</a:t>
            </a:r>
            <a:r>
              <a:rPr lang="en-US" b="1" dirty="0">
                <a:solidFill>
                  <a:srgbClr val="0070C0"/>
                </a:solidFill>
              </a:rPr>
              <a:t> Research</a:t>
            </a:r>
            <a:r>
              <a:rPr lang="en-US" dirty="0"/>
              <a:t>.</a:t>
            </a:r>
          </a:p>
          <a:p>
            <a:r>
              <a:rPr lang="en-US" sz="1100" dirty="0"/>
              <a:t> - </a:t>
            </a:r>
            <a:r>
              <a:rPr lang="en-US" sz="1100" dirty="0">
                <a:hlinkClick r:id="rId6"/>
              </a:rPr>
              <a:t>https://www.rulequest.com/Personal/</a:t>
            </a:r>
            <a:r>
              <a:rPr lang="en-US" sz="1100" dirty="0"/>
              <a:t> </a:t>
            </a:r>
          </a:p>
          <a:p>
            <a:r>
              <a:rPr lang="en-US" sz="1100" dirty="0"/>
              <a:t> - </a:t>
            </a:r>
            <a:r>
              <a:rPr lang="en-US" sz="1100" dirty="0">
                <a:hlinkClick r:id="rId7"/>
              </a:rPr>
              <a:t>https://www.rulequest.com/</a:t>
            </a:r>
            <a:r>
              <a:rPr lang="en-US" sz="1100" dirty="0"/>
              <a:t> 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FA94EE3-5F8C-244B-9C3E-4EA603F75A6F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795538" y="53012"/>
            <a:ext cx="1074015" cy="161102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4FD95DE-1C34-D545-802B-00FC2149AEF9}"/>
              </a:ext>
            </a:extLst>
          </p:cNvPr>
          <p:cNvSpPr txBox="1"/>
          <p:nvPr/>
        </p:nvSpPr>
        <p:spPr>
          <a:xfrm>
            <a:off x="8730414" y="4548133"/>
            <a:ext cx="26901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Pure node :    entropy = 0</a:t>
            </a:r>
          </a:p>
          <a:p>
            <a:endParaRPr lang="en-US" dirty="0"/>
          </a:p>
          <a:p>
            <a:r>
              <a:rPr lang="en-US" dirty="0"/>
              <a:t>Information Gain = 1 - Entropy</a:t>
            </a:r>
          </a:p>
        </p:txBody>
      </p:sp>
    </p:spTree>
    <p:extLst>
      <p:ext uri="{BB962C8B-B14F-4D97-AF65-F5344CB8AC3E}">
        <p14:creationId xmlns:p14="http://schemas.microsoft.com/office/powerpoint/2010/main" val="31493665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8;p13">
            <a:extLst>
              <a:ext uri="{FF2B5EF4-FFF2-40B4-BE49-F238E27FC236}">
                <a16:creationId xmlns:a16="http://schemas.microsoft.com/office/drawing/2014/main" id="{DEA174C0-A039-B847-8BB3-5AA8F78E47EA}"/>
              </a:ext>
            </a:extLst>
          </p:cNvPr>
          <p:cNvSpPr txBox="1"/>
          <p:nvPr/>
        </p:nvSpPr>
        <p:spPr>
          <a:xfrm>
            <a:off x="-1" y="0"/>
            <a:ext cx="6122505" cy="861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CHAID – </a:t>
            </a:r>
          </a:p>
          <a:p>
            <a:pPr lvl="0"/>
            <a:r>
              <a:rPr lang="en-US" sz="24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Chi-Squared Automatic Interaction Detection </a:t>
            </a:r>
            <a:endParaRPr lang="en-US" sz="24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A79D2B-C817-194E-A302-636B50DCD192}"/>
              </a:ext>
            </a:extLst>
          </p:cNvPr>
          <p:cNvSpPr txBox="1"/>
          <p:nvPr/>
        </p:nvSpPr>
        <p:spPr>
          <a:xfrm>
            <a:off x="79514" y="1258956"/>
            <a:ext cx="630803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CHAID</a:t>
            </a:r>
            <a:r>
              <a:rPr lang="en-US" dirty="0"/>
              <a:t> - Chi-Squared Automatic Interaction Detection.</a:t>
            </a:r>
          </a:p>
          <a:p>
            <a:r>
              <a:rPr lang="en-US" dirty="0"/>
              <a:t>It was originally proposed by Gordon V. </a:t>
            </a:r>
            <a:r>
              <a:rPr lang="en-US" dirty="0" err="1"/>
              <a:t>Kass</a:t>
            </a:r>
            <a:r>
              <a:rPr lang="en-US" dirty="0"/>
              <a:t> in 1980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https://en.wikipedia.org/wiki/Chi-square_automatic_interaction_detection</a:t>
            </a:r>
            <a:r>
              <a:rPr lang="en-US" dirty="0"/>
              <a:t>    </a:t>
            </a:r>
          </a:p>
          <a:p>
            <a:endParaRPr lang="en-US" dirty="0"/>
          </a:p>
          <a:p>
            <a:r>
              <a:rPr lang="en-US" dirty="0"/>
              <a:t>This algorithm used only for categorical variables.</a:t>
            </a:r>
          </a:p>
          <a:p>
            <a:endParaRPr lang="en-US" dirty="0"/>
          </a:p>
          <a:p>
            <a:r>
              <a:rPr lang="en-US" dirty="0"/>
              <a:t>In practice, CHAID is often used in the context of direct marketing to select groups of consumers and predict how their responses to some variables affect other variables.</a:t>
            </a:r>
          </a:p>
          <a:p>
            <a:endParaRPr lang="en-US" dirty="0"/>
          </a:p>
          <a:p>
            <a:r>
              <a:rPr lang="en-US" dirty="0"/>
              <a:t>Good explanation of CHAID vs CART:</a:t>
            </a:r>
          </a:p>
          <a:p>
            <a:r>
              <a:rPr lang="en-US" dirty="0">
                <a:hlinkClick r:id="rId3"/>
              </a:rPr>
              <a:t>https://towardsdatascience.com/clearly-explained-top-2-types-of-decision-trees-chaid-cart-8695e441e73e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0325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BF7A372-4D94-D94C-87E4-5827F75CB1D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104" y="111809"/>
            <a:ext cx="1983764" cy="3224424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DEA79D9-43B0-9F43-B435-414DCA25ABCF}"/>
              </a:ext>
            </a:extLst>
          </p:cNvPr>
          <p:cNvSpPr/>
          <p:nvPr/>
        </p:nvSpPr>
        <p:spPr>
          <a:xfrm>
            <a:off x="-1596" y="3309555"/>
            <a:ext cx="5301183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Classification and </a:t>
            </a:r>
          </a:p>
          <a:p>
            <a:r>
              <a:rPr lang="en-US" dirty="0"/>
              <a:t>Regression Trees </a:t>
            </a:r>
          </a:p>
          <a:p>
            <a:r>
              <a:rPr lang="en-US" dirty="0"/>
              <a:t>(1984) by BFOS (BFOS = </a:t>
            </a:r>
            <a:r>
              <a:rPr lang="en-US" dirty="0" err="1"/>
              <a:t>Breiman</a:t>
            </a:r>
            <a:r>
              <a:rPr lang="en-US" dirty="0"/>
              <a:t>, Friedman, </a:t>
            </a:r>
            <a:r>
              <a:rPr lang="en-US" dirty="0" err="1"/>
              <a:t>Olshen</a:t>
            </a:r>
            <a:r>
              <a:rPr lang="en-US" dirty="0"/>
              <a:t>, Stone)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3085B9-B6F3-794C-A977-0C0731C6B4C8}"/>
              </a:ext>
            </a:extLst>
          </p:cNvPr>
          <p:cNvSpPr txBox="1"/>
          <p:nvPr/>
        </p:nvSpPr>
        <p:spPr>
          <a:xfrm>
            <a:off x="2504350" y="2286562"/>
            <a:ext cx="17438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Leo </a:t>
            </a:r>
            <a:r>
              <a:rPr lang="en-US" dirty="0" err="1"/>
              <a:t>Breiman</a:t>
            </a:r>
            <a:endParaRPr lang="en-US" dirty="0"/>
          </a:p>
          <a:p>
            <a:r>
              <a:rPr lang="en-US" dirty="0"/>
              <a:t>UC Berkeley</a:t>
            </a:r>
          </a:p>
          <a:p>
            <a:r>
              <a:rPr lang="en-US" dirty="0"/>
              <a:t>Statistics</a:t>
            </a:r>
          </a:p>
          <a:p>
            <a:r>
              <a:rPr lang="en-US" dirty="0"/>
              <a:t>1928-2005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F03599-CC6E-5C41-BDC8-9C8619CC9404}"/>
              </a:ext>
            </a:extLst>
          </p:cNvPr>
          <p:cNvSpPr txBox="1"/>
          <p:nvPr/>
        </p:nvSpPr>
        <p:spPr>
          <a:xfrm>
            <a:off x="4219438" y="2282932"/>
            <a:ext cx="187084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Jerome H. Friedman</a:t>
            </a:r>
          </a:p>
          <a:p>
            <a:r>
              <a:rPr lang="en-US" dirty="0"/>
              <a:t>Statistics</a:t>
            </a:r>
          </a:p>
          <a:p>
            <a:r>
              <a:rPr lang="en-US" dirty="0"/>
              <a:t>UC Berkeley,</a:t>
            </a:r>
          </a:p>
          <a:p>
            <a:r>
              <a:rPr lang="en-US" dirty="0"/>
              <a:t>Stanford </a:t>
            </a:r>
          </a:p>
          <a:p>
            <a:r>
              <a:rPr lang="en-US" dirty="0"/>
              <a:t>1939-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657D343-0D10-B643-8FC6-142FD1E7E02A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01112" y="119435"/>
            <a:ext cx="1707495" cy="210411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26D1703-96EA-C849-9B11-015AED550725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76423" y="127843"/>
            <a:ext cx="1066281" cy="166873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D1D9786-9992-0C4E-8E22-CA6385735496}"/>
              </a:ext>
            </a:extLst>
          </p:cNvPr>
          <p:cNvSpPr txBox="1"/>
          <p:nvPr/>
        </p:nvSpPr>
        <p:spPr>
          <a:xfrm>
            <a:off x="7895338" y="1813225"/>
            <a:ext cx="157195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Charles J. Stone</a:t>
            </a:r>
          </a:p>
          <a:p>
            <a:r>
              <a:rPr lang="en-US" dirty="0"/>
              <a:t>Math, Probability</a:t>
            </a:r>
          </a:p>
          <a:p>
            <a:r>
              <a:rPr lang="en-US" dirty="0"/>
              <a:t>UCLA,</a:t>
            </a:r>
          </a:p>
          <a:p>
            <a:r>
              <a:rPr lang="en-US" dirty="0"/>
              <a:t>UC Berkeley</a:t>
            </a:r>
          </a:p>
          <a:p>
            <a:r>
              <a:rPr lang="en-US" dirty="0"/>
              <a:t>1936-2019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76003F-B313-754B-BBC5-287A31E9B74C}"/>
              </a:ext>
            </a:extLst>
          </p:cNvPr>
          <p:cNvSpPr txBox="1"/>
          <p:nvPr/>
        </p:nvSpPr>
        <p:spPr>
          <a:xfrm>
            <a:off x="6220073" y="1905989"/>
            <a:ext cx="1723763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Richard A. </a:t>
            </a:r>
            <a:r>
              <a:rPr lang="en-US" dirty="0" err="1"/>
              <a:t>Olshen</a:t>
            </a:r>
            <a:endParaRPr lang="en-US" dirty="0"/>
          </a:p>
          <a:p>
            <a:r>
              <a:rPr lang="en-US" dirty="0"/>
              <a:t>Biostatistics</a:t>
            </a:r>
          </a:p>
          <a:p>
            <a:r>
              <a:rPr lang="en-US" dirty="0"/>
              <a:t>UC Berkeley,</a:t>
            </a:r>
          </a:p>
          <a:p>
            <a:r>
              <a:rPr lang="en-US" dirty="0"/>
              <a:t>Stanford </a:t>
            </a:r>
          </a:p>
          <a:p>
            <a:r>
              <a:rPr lang="en-US" dirty="0"/>
              <a:t>1942-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CEFCA8-4B98-AD4F-9479-0B10FFB0BF87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089" y="4948581"/>
            <a:ext cx="2709801" cy="1813646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B060C38-A1E7-6046-9D7C-007896BBF9F8}"/>
              </a:ext>
            </a:extLst>
          </p:cNvPr>
          <p:cNvSpPr/>
          <p:nvPr/>
        </p:nvSpPr>
        <p:spPr>
          <a:xfrm>
            <a:off x="216985" y="4232354"/>
            <a:ext cx="228736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Random Decision Forests</a:t>
            </a:r>
          </a:p>
          <a:p>
            <a:r>
              <a:rPr lang="en-US" dirty="0"/>
              <a:t>(1995) by Tin Kam Ho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F78D0F1-9A08-5D4A-97BB-8122277974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3812" y="4364874"/>
            <a:ext cx="1630710" cy="163071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1728BC4D-516C-0D4D-B65D-D369E3647149}"/>
              </a:ext>
            </a:extLst>
          </p:cNvPr>
          <p:cNvSpPr/>
          <p:nvPr/>
        </p:nvSpPr>
        <p:spPr>
          <a:xfrm>
            <a:off x="3073812" y="5995584"/>
            <a:ext cx="4063697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Tin Kam Ho</a:t>
            </a:r>
          </a:p>
          <a:p>
            <a:r>
              <a:rPr lang="en-US" dirty="0"/>
              <a:t>at Bell Labs in NJ. </a:t>
            </a:r>
          </a:p>
          <a:p>
            <a:r>
              <a:rPr lang="en-US" dirty="0"/>
              <a:t>then AI at IBM (since 2014)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B48AC9-E576-E744-92B2-E763E1447DA2}"/>
              </a:ext>
            </a:extLst>
          </p:cNvPr>
          <p:cNvSpPr txBox="1"/>
          <p:nvPr/>
        </p:nvSpPr>
        <p:spPr>
          <a:xfrm>
            <a:off x="9497066" y="5161546"/>
            <a:ext cx="2447508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Adele Cutler</a:t>
            </a:r>
          </a:p>
          <a:p>
            <a:r>
              <a:rPr lang="en-US" dirty="0"/>
              <a:t>UC Berkeley, then Utah State University.</a:t>
            </a:r>
          </a:p>
          <a:p>
            <a:r>
              <a:rPr lang="en-US" dirty="0"/>
              <a:t>Wrote original Random Forest in Fortran with Leo </a:t>
            </a:r>
            <a:r>
              <a:rPr lang="en-US" dirty="0" err="1"/>
              <a:t>Breiman</a:t>
            </a:r>
            <a:r>
              <a:rPr lang="en-US" dirty="0"/>
              <a:t> in 2002-2003</a:t>
            </a:r>
          </a:p>
          <a:p>
            <a:r>
              <a:rPr lang="en-US" sz="900" dirty="0">
                <a:hlinkClick r:id="rId8"/>
              </a:rPr>
              <a:t>https://www.stat.berkeley.edu/~breiman/RandomForests/cc_software.htm</a:t>
            </a:r>
            <a:endParaRPr lang="en-US" sz="90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5D8B940-76B6-9340-B562-0C49BF2B99BF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19064" y="3313971"/>
            <a:ext cx="1847575" cy="184757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C2EE3D6-5661-E043-8FBF-61E1B832D2AB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86366" y="119615"/>
            <a:ext cx="1707496" cy="2099225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DDB316-63C9-4141-9D55-33BA0E490EA9}"/>
              </a:ext>
            </a:extLst>
          </p:cNvPr>
          <p:cNvCxnSpPr>
            <a:cxnSpLocks/>
          </p:cNvCxnSpPr>
          <p:nvPr/>
        </p:nvCxnSpPr>
        <p:spPr>
          <a:xfrm>
            <a:off x="53089" y="4101661"/>
            <a:ext cx="6852412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C12C7018-A64D-3843-A3D7-B3887AEA88BC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264234" y="137238"/>
            <a:ext cx="1418894" cy="176875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5B43EE-12BE-5543-9411-AD1B22B57A75}"/>
              </a:ext>
            </a:extLst>
          </p:cNvPr>
          <p:cNvSpPr txBox="1"/>
          <p:nvPr/>
        </p:nvSpPr>
        <p:spPr>
          <a:xfrm>
            <a:off x="10226459" y="913314"/>
            <a:ext cx="156812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FORTRAN</a:t>
            </a:r>
          </a:p>
          <a:p>
            <a:r>
              <a:rPr lang="en-US" b="1" dirty="0">
                <a:solidFill>
                  <a:srgbClr val="0070C0"/>
                </a:solidFill>
              </a:rPr>
              <a:t>Random Forest</a:t>
            </a:r>
          </a:p>
          <a:p>
            <a:r>
              <a:rPr lang="en-US" b="1" dirty="0">
                <a:solidFill>
                  <a:srgbClr val="0070C0"/>
                </a:solidFill>
              </a:rPr>
              <a:t>2002-2003</a:t>
            </a:r>
          </a:p>
        </p:txBody>
      </p:sp>
      <p:sp>
        <p:nvSpPr>
          <p:cNvPr id="11" name="Down Arrow 10">
            <a:extLst>
              <a:ext uri="{FF2B5EF4-FFF2-40B4-BE49-F238E27FC236}">
                <a16:creationId xmlns:a16="http://schemas.microsoft.com/office/drawing/2014/main" id="{487AA1AD-C5E4-494A-BD01-824F4BFD7D70}"/>
              </a:ext>
            </a:extLst>
          </p:cNvPr>
          <p:cNvSpPr/>
          <p:nvPr/>
        </p:nvSpPr>
        <p:spPr>
          <a:xfrm>
            <a:off x="10617702" y="1813225"/>
            <a:ext cx="416392" cy="118620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861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0" y="0"/>
            <a:ext cx="9259614" cy="67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Ensemble Learning Methods with Decision Trees </a:t>
            </a:r>
            <a:b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Main idea - a group of “weak learners” come together (vote) to form a “strong learner”.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Three main ways - </a:t>
            </a:r>
            <a:r>
              <a:rPr lang="en-US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Bagging, Boosting, Stacking</a:t>
            </a:r>
            <a:endParaRPr sz="1600" b="1" dirty="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Bagging reduces variance, Boosting reduces bias, Stacking improve predictive force 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itchFamily="2" charset="2"/>
              </a:rPr>
              <a:t> 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==============================================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FF"/>
                </a:solidFill>
                <a:latin typeface="Calibri"/>
                <a:cs typeface="Calibri"/>
                <a:sym typeface="Calibri"/>
              </a:rPr>
              <a:t>Random Forest 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parallel independent learners, democratic equal-weight voting.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 - </a:t>
            </a:r>
            <a:r>
              <a:rPr lang="en-US" sz="1600" b="1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Random Forest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a specific case of </a:t>
            </a:r>
            <a:r>
              <a:rPr lang="en-US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Bagging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</a:t>
            </a:r>
            <a:r>
              <a:rPr lang="en-US" sz="16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Bootstrap (Data Sampling) + Aggregating (voting)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have N = 1 million photos to train an algorithm to determine if a photo has an elephant in it.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train </a:t>
            </a:r>
            <a:r>
              <a:rPr lang="en-US" sz="16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approx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00" b="1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sqrt(N)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200 decision trees. 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tree gets a random subset of data (for example, 10K photos), and a random subset of features to look for (legs, trunk, ears, etc.).  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Trees are trained independently.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Once trained, these trees can "look" at a test photo to make a determination, and then democratically vote their decision (is there an elephant there or not?)</a:t>
            </a:r>
          </a:p>
          <a:p>
            <a:pPr lvl="0"/>
            <a:endParaRPr lang="en-US"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==============================================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FF"/>
                </a:solidFill>
                <a:latin typeface="Calibri"/>
                <a:cs typeface="Calibri"/>
                <a:sym typeface="Calibri"/>
              </a:rPr>
              <a:t>Boosted Trees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trees trained sequentially (</a:t>
            </a:r>
            <a:r>
              <a:rPr lang="en-US" sz="16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Boosting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 1</a:t>
            </a:r>
            <a:r>
              <a:rPr lang="en-US" sz="16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tree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 2</a:t>
            </a:r>
            <a:r>
              <a:rPr lang="en-US" sz="16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nd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tree concentrating on fixing errors left after 1</a:t>
            </a:r>
            <a:r>
              <a:rPr lang="en-US" sz="16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tree, combine trees (weighted voting)</a:t>
            </a:r>
          </a:p>
          <a:p>
            <a:pPr lvl="0"/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Train 3</a:t>
            </a:r>
            <a:r>
              <a:rPr lang="en-US" sz="16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rd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tree concentrating on fixing errors left after 1</a:t>
            </a:r>
            <a:r>
              <a:rPr lang="en-US" sz="16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2</a:t>
            </a:r>
            <a:r>
              <a:rPr lang="en-US" sz="1600" baseline="30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nd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trees, etc.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Continue boosting accuracy by adding trees.</a:t>
            </a:r>
          </a:p>
          <a:p>
            <a:endParaRPr lang="en-US"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==============================================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Stacking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(Meta-learner) - train several different models, and then train model on top of their outputs</a:t>
            </a:r>
            <a:endParaRPr sz="1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18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https://www.kdnuggets.com/2017/02/stacking-models-imropved-predictions.html</a:t>
            </a: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527F17-E84E-E846-AF96-56820D75E80B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55447" y="1715814"/>
            <a:ext cx="2284248" cy="171318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A1770D4-8E7C-9445-BB4C-26DEC612CE96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36694" y="3779426"/>
            <a:ext cx="2284248" cy="265510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255564" y="177725"/>
            <a:ext cx="4852464" cy="1476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Bootstrap Sampling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method of preparing a set of data samples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sampling them (with replacement) from original data set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93693C-0F3A-804B-9BB8-F9E34878B6C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3682" y="2495929"/>
            <a:ext cx="5097517" cy="3823138"/>
          </a:xfrm>
          <a:prstGeom prst="rect">
            <a:avLst/>
          </a:prstGeom>
        </p:spPr>
      </p:pic>
      <p:pic>
        <p:nvPicPr>
          <p:cNvPr id="5" name="Google Shape;96;p14">
            <a:extLst>
              <a:ext uri="{FF2B5EF4-FFF2-40B4-BE49-F238E27FC236}">
                <a16:creationId xmlns:a16="http://schemas.microsoft.com/office/drawing/2014/main" id="{43FCCCFC-3C64-254C-94C8-2587F2161CCA}"/>
              </a:ext>
            </a:extLst>
          </p:cNvPr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45188" y="4407498"/>
            <a:ext cx="1949375" cy="22933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99;p14">
            <a:extLst>
              <a:ext uri="{FF2B5EF4-FFF2-40B4-BE49-F238E27FC236}">
                <a16:creationId xmlns:a16="http://schemas.microsoft.com/office/drawing/2014/main" id="{C4B05C5E-3DE0-AF4C-85D2-84229E14D805}"/>
              </a:ext>
            </a:extLst>
          </p:cNvPr>
          <p:cNvSpPr txBox="1"/>
          <p:nvPr/>
        </p:nvSpPr>
        <p:spPr>
          <a:xfrm>
            <a:off x="8765628" y="3326006"/>
            <a:ext cx="3352497" cy="941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Another meaning of the word bootstrap: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"pull oneself over a fence by one's bootstraps"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0" y="30538"/>
            <a:ext cx="4046484" cy="621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Boosting Algorithms</a:t>
            </a:r>
          </a:p>
        </p:txBody>
      </p:sp>
      <p:sp>
        <p:nvSpPr>
          <p:cNvPr id="7" name="Google Shape;104;p15">
            <a:extLst>
              <a:ext uri="{FF2B5EF4-FFF2-40B4-BE49-F238E27FC236}">
                <a16:creationId xmlns:a16="http://schemas.microsoft.com/office/drawing/2014/main" id="{78FD9845-18A0-D740-BE73-A04198B9426D}"/>
              </a:ext>
            </a:extLst>
          </p:cNvPr>
          <p:cNvSpPr txBox="1"/>
          <p:nvPr/>
        </p:nvSpPr>
        <p:spPr>
          <a:xfrm>
            <a:off x="-5255" y="474769"/>
            <a:ext cx="5780690" cy="406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practice you need to test which one works better for you.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3E4339-33ED-D143-9BE2-AD1480E24539}"/>
              </a:ext>
            </a:extLst>
          </p:cNvPr>
          <p:cNvSpPr txBox="1"/>
          <p:nvPr/>
        </p:nvSpPr>
        <p:spPr>
          <a:xfrm>
            <a:off x="7704083" y="2507542"/>
            <a:ext cx="4487917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Wikipedia:</a:t>
            </a:r>
          </a:p>
          <a:p>
            <a:endParaRPr lang="en-US" dirty="0"/>
          </a:p>
          <a:p>
            <a:r>
              <a:rPr lang="en-US" dirty="0"/>
              <a:t>The idea of gradient boosting originated in the observation by </a:t>
            </a:r>
            <a:r>
              <a:rPr lang="en-US" b="1" dirty="0">
                <a:solidFill>
                  <a:srgbClr val="0070C0"/>
                </a:solidFill>
              </a:rPr>
              <a:t>Leo </a:t>
            </a:r>
            <a:r>
              <a:rPr lang="en-US" b="1" dirty="0" err="1">
                <a:solidFill>
                  <a:srgbClr val="0070C0"/>
                </a:solidFill>
              </a:rPr>
              <a:t>Breiman</a:t>
            </a:r>
            <a:r>
              <a:rPr lang="en-US" dirty="0"/>
              <a:t> that boosting can be interpreted as an optimization algorithm on a suitable cost function (1997, Berkeley). </a:t>
            </a:r>
          </a:p>
          <a:p>
            <a:endParaRPr lang="en-US" dirty="0"/>
          </a:p>
          <a:p>
            <a:r>
              <a:rPr lang="en-US" dirty="0"/>
              <a:t>Explicit regression gradient boosting algorithms were subsequently developed by </a:t>
            </a:r>
            <a:r>
              <a:rPr lang="en-US" b="1" dirty="0">
                <a:solidFill>
                  <a:srgbClr val="0070C0"/>
                </a:solidFill>
              </a:rPr>
              <a:t>Jerome H. Friedman</a:t>
            </a:r>
            <a:r>
              <a:rPr lang="en-US" dirty="0"/>
              <a:t> (1999, Berkeley)</a:t>
            </a:r>
          </a:p>
          <a:p>
            <a:endParaRPr lang="en-US" dirty="0"/>
          </a:p>
          <a:p>
            <a:r>
              <a:rPr lang="en-US" dirty="0"/>
              <a:t>... simultaneously with the more general functional gradient boosting perspective of </a:t>
            </a:r>
            <a:r>
              <a:rPr lang="en-US" b="1" dirty="0" err="1">
                <a:solidFill>
                  <a:srgbClr val="0070C0"/>
                </a:solidFill>
              </a:rPr>
              <a:t>Llew</a:t>
            </a:r>
            <a:r>
              <a:rPr lang="en-US" b="1" dirty="0">
                <a:solidFill>
                  <a:srgbClr val="0070C0"/>
                </a:solidFill>
              </a:rPr>
              <a:t> Mason, Jonathan Baxter, Peter Bartlett and Marcus </a:t>
            </a:r>
            <a:r>
              <a:rPr lang="en-US" b="1" dirty="0" err="1">
                <a:solidFill>
                  <a:srgbClr val="0070C0"/>
                </a:solidFill>
              </a:rPr>
              <a:t>Frean</a:t>
            </a:r>
            <a:r>
              <a:rPr lang="en-US" dirty="0"/>
              <a:t> (1999).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827E66-1C05-B04C-9AB5-2A47A3BFEFA5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34159" y="2507542"/>
            <a:ext cx="1102313" cy="12564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631B49-6F11-5544-9448-FE2B93DB432C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90782" y="4679172"/>
            <a:ext cx="1192925" cy="6393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EC75FCD-38D4-9C47-B27F-BE2872EB612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2526" y="5916168"/>
            <a:ext cx="1189970" cy="4670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3EB7E4-CAF1-4E4A-8004-ACEE3CDFF72F}"/>
              </a:ext>
            </a:extLst>
          </p:cNvPr>
          <p:cNvSpPr txBox="1"/>
          <p:nvPr/>
        </p:nvSpPr>
        <p:spPr>
          <a:xfrm>
            <a:off x="37423" y="1173722"/>
            <a:ext cx="3762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AdaBoost - Yoav Freund &amp; Robert </a:t>
            </a:r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Schapire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(2003 Gödel Prize).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6C6370-8D22-BD4D-A729-E7FA4756D967}"/>
              </a:ext>
            </a:extLst>
          </p:cNvPr>
          <p:cNvSpPr txBox="1"/>
          <p:nvPr/>
        </p:nvSpPr>
        <p:spPr>
          <a:xfrm>
            <a:off x="1579635" y="2919394"/>
            <a:ext cx="37627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(2014-2016, )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more flexible and optimized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37333-044B-254E-B1A2-26B01871400E}"/>
              </a:ext>
            </a:extLst>
          </p:cNvPr>
          <p:cNvSpPr txBox="1"/>
          <p:nvPr/>
        </p:nvSpPr>
        <p:spPr>
          <a:xfrm>
            <a:off x="334159" y="4604501"/>
            <a:ext cx="35692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Light GBM (2016, Microsoft)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– fast-performing, distributed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(GBM = Gradient Boosting Machine)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63C5B4-A0A5-A746-B80C-2EE3A0FB96FE}"/>
              </a:ext>
            </a:extLst>
          </p:cNvPr>
          <p:cNvSpPr txBox="1"/>
          <p:nvPr/>
        </p:nvSpPr>
        <p:spPr>
          <a:xfrm>
            <a:off x="1436472" y="5831529"/>
            <a:ext cx="48873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CatBoost</a:t>
            </a:r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(2017, Yandex – Russian search engine) </a:t>
            </a:r>
          </a:p>
          <a:p>
            <a:pPr lvl="0"/>
            <a:r>
              <a:rPr lang="en-US"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 can handle huge amounts of data, very good with categorical data, can use multiple GPUs.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B561CF-E1C7-2340-ABC0-116F3FA5CED1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589" y="852830"/>
            <a:ext cx="2364779" cy="178662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DC51E36-878F-3C4F-9CF3-4CAA18F405DE}"/>
              </a:ext>
            </a:extLst>
          </p:cNvPr>
          <p:cNvSpPr txBox="1"/>
          <p:nvPr/>
        </p:nvSpPr>
        <p:spPr>
          <a:xfrm>
            <a:off x="244822" y="3752902"/>
            <a:ext cx="51171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Tianqi</a:t>
            </a:r>
            <a:r>
              <a:rPr lang="en-US" sz="1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Chen - </a:t>
            </a:r>
            <a:r>
              <a:rPr lang="en-US" sz="1600" dirty="0"/>
              <a:t>Ph.D. student at University of Washington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3CD124-A6B3-E34C-8B6C-399BA7FD5077}"/>
              </a:ext>
            </a:extLst>
          </p:cNvPr>
          <p:cNvSpPr txBox="1"/>
          <p:nvPr/>
        </p:nvSpPr>
        <p:spPr>
          <a:xfrm>
            <a:off x="8079485" y="1603178"/>
            <a:ext cx="13428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Leo </a:t>
            </a:r>
            <a:r>
              <a:rPr lang="en-US" dirty="0" err="1"/>
              <a:t>Breiman</a:t>
            </a:r>
            <a:endParaRPr lang="en-US" dirty="0"/>
          </a:p>
          <a:p>
            <a:r>
              <a:rPr lang="en-US" dirty="0"/>
              <a:t>UC Berkeley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31119C8-1DA1-4249-B708-5C3F4B8B6B80}"/>
              </a:ext>
            </a:extLst>
          </p:cNvPr>
          <p:cNvSpPr txBox="1"/>
          <p:nvPr/>
        </p:nvSpPr>
        <p:spPr>
          <a:xfrm>
            <a:off x="10015728" y="1606306"/>
            <a:ext cx="20317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Jerome H. Friedman</a:t>
            </a:r>
          </a:p>
          <a:p>
            <a:r>
              <a:rPr lang="en-US" dirty="0"/>
              <a:t>UC Berkeley,</a:t>
            </a:r>
          </a:p>
          <a:p>
            <a:r>
              <a:rPr lang="en-US" dirty="0"/>
              <a:t>Stanford 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9FB4D68-2958-EA46-88EB-5D20CB6315F5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080247" y="98974"/>
            <a:ext cx="1223510" cy="150771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A743E50-B883-4C4C-9EF2-AEFF0837645F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79485" y="98974"/>
            <a:ext cx="1223510" cy="1504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9225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/>
        </p:nvSpPr>
        <p:spPr>
          <a:xfrm>
            <a:off x="234544" y="282829"/>
            <a:ext cx="4289955" cy="11778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2000" b="1" dirty="0">
                <a:solidFill>
                  <a:schemeClr val="dk1"/>
                </a:solidFill>
              </a:rPr>
              <a:t>Gradient Boosting</a:t>
            </a:r>
            <a:r>
              <a:rPr lang="en-US" sz="1600" dirty="0">
                <a:solidFill>
                  <a:schemeClr val="dk1"/>
                </a:solidFill>
              </a:rPr>
              <a:t> </a:t>
            </a:r>
          </a:p>
          <a:p>
            <a:pPr lvl="0"/>
            <a:r>
              <a:rPr lang="en-US" sz="1600" dirty="0">
                <a:solidFill>
                  <a:schemeClr val="dk1"/>
                </a:solidFill>
              </a:rPr>
              <a:t>is named so because on each steep </a:t>
            </a:r>
          </a:p>
          <a:p>
            <a:pPr lvl="0"/>
            <a:r>
              <a:rPr lang="en-US" sz="1600" dirty="0">
                <a:solidFill>
                  <a:schemeClr val="dk1"/>
                </a:solidFill>
              </a:rPr>
              <a:t>it is improving (boosting) the decision </a:t>
            </a:r>
          </a:p>
          <a:p>
            <a:pPr lvl="0"/>
            <a:r>
              <a:rPr lang="en-US" sz="1600" dirty="0">
                <a:solidFill>
                  <a:schemeClr val="dk1"/>
                </a:solidFill>
              </a:rPr>
              <a:t>by decreasing the error (Gradient Descent)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7AAADF-6426-AD44-91B7-B4F37E97F28E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79522" y="4870603"/>
            <a:ext cx="1831063" cy="183106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1993F2-CFB9-CB48-8295-A2BC10102CA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338610" y="4856985"/>
            <a:ext cx="2681105" cy="16788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010486-C520-3146-A8CC-A93BFD5C74E9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7461" y="4648254"/>
            <a:ext cx="2007750" cy="19812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A42C72B-03E3-0E47-8007-B7BAB267D476}"/>
              </a:ext>
            </a:extLst>
          </p:cNvPr>
          <p:cNvSpPr txBox="1"/>
          <p:nvPr/>
        </p:nvSpPr>
        <p:spPr>
          <a:xfrm>
            <a:off x="6417496" y="3939248"/>
            <a:ext cx="26487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Gradient vector is perpendicular to level curves</a:t>
            </a:r>
          </a:p>
        </p:txBody>
      </p:sp>
      <p:sp>
        <p:nvSpPr>
          <p:cNvPr id="12" name="Google Shape;104;p15">
            <a:extLst>
              <a:ext uri="{FF2B5EF4-FFF2-40B4-BE49-F238E27FC236}">
                <a16:creationId xmlns:a16="http://schemas.microsoft.com/office/drawing/2014/main" id="{0296E398-0027-6C40-8311-CD29E12B3B33}"/>
              </a:ext>
            </a:extLst>
          </p:cNvPr>
          <p:cNvSpPr txBox="1"/>
          <p:nvPr/>
        </p:nvSpPr>
        <p:spPr>
          <a:xfrm>
            <a:off x="307461" y="4439523"/>
            <a:ext cx="2775851" cy="417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US" sz="1600" dirty="0">
                <a:solidFill>
                  <a:schemeClr val="dk1"/>
                </a:solidFill>
              </a:rPr>
              <a:t>Understand gradient vector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0FF5F85-0D2A-2044-9B89-F083C99C4508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12386" y="438094"/>
            <a:ext cx="4652579" cy="26485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BA54C2-0DD1-264C-BA80-A4B1315D134C}"/>
              </a:ext>
            </a:extLst>
          </p:cNvPr>
          <p:cNvSpPr txBox="1"/>
          <p:nvPr/>
        </p:nvSpPr>
        <p:spPr>
          <a:xfrm>
            <a:off x="8808075" y="177299"/>
            <a:ext cx="29209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dk1"/>
                </a:solidFill>
              </a:rPr>
              <a:t>Boosting can overfit – so we need </a:t>
            </a:r>
          </a:p>
          <a:p>
            <a:r>
              <a:rPr lang="en-US" dirty="0">
                <a:solidFill>
                  <a:schemeClr val="dk1"/>
                </a:solidFill>
              </a:rPr>
              <a:t>to test against "validation data set"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B88FE-0D8C-1F45-BF1B-9BA17A910217}"/>
              </a:ext>
            </a:extLst>
          </p:cNvPr>
          <p:cNvSpPr txBox="1"/>
          <p:nvPr/>
        </p:nvSpPr>
        <p:spPr>
          <a:xfrm>
            <a:off x="3317631" y="3352800"/>
            <a:ext cx="281851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dk1"/>
                </a:solidFill>
              </a:rPr>
              <a:t>Gradient Descent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559259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6"/>
          <p:cNvSpPr txBox="1"/>
          <p:nvPr/>
        </p:nvSpPr>
        <p:spPr>
          <a:xfrm>
            <a:off x="277508" y="44246"/>
            <a:ext cx="11597656" cy="67842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boosting trees model is originally proposed by Friedman et al.</a:t>
            </a:r>
          </a:p>
          <a:p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has coined the term GBM = </a:t>
            </a:r>
            <a:r>
              <a:rPr lang="en-US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Gradient Boosting Machine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“Gradient Boosting” - </a:t>
            </a:r>
            <a:r>
              <a:rPr lang="en-US" i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Greedy Function Approximation: A Gradient Boosting Machine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by Friedman (1999)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https://statweb.stanford.edu/~jhf/ftp/trebst.pdf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was created by </a:t>
            </a: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Tianqi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Chen. It is a library implementing GBM – and optimized for trees.</a:t>
            </a:r>
          </a:p>
          <a:p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"XG" in </a:t>
            </a: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XGBoost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“Extreme Gradient Boosting”.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Tianqi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Chen - Introduction to Boosted Trees (2016)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http://homes.cs.washington.edu/~tqchen/pdf/BoostedTree.pdf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https://xgboost.readthedocs.io/en/latest/model.html</a:t>
            </a:r>
            <a:endParaRPr lang="en-US" u="sng" dirty="0">
              <a:solidFill>
                <a:schemeClr val="hlink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 err="1"/>
              <a:t>XGBoost</a:t>
            </a:r>
            <a:r>
              <a:rPr lang="en-US" dirty="0"/>
              <a:t> </a:t>
            </a:r>
          </a:p>
          <a:p>
            <a:pPr lvl="0"/>
            <a:r>
              <a:rPr lang="en-US" dirty="0"/>
              <a:t> - uses "Regularized Gradient Boosting" model which prevents overfitting and gives better performance</a:t>
            </a:r>
          </a:p>
          <a:p>
            <a:pPr lvl="0"/>
            <a:r>
              <a:rPr lang="en-US" dirty="0"/>
              <a:t> - uses sparse matrices with sparsity aware algorithms to reduce memory and increase performance</a:t>
            </a:r>
          </a:p>
          <a:p>
            <a:pPr lvl="0"/>
            <a:r>
              <a:rPr lang="en-US" dirty="0"/>
              <a:t> - better support for </a:t>
            </a:r>
            <a:r>
              <a:rPr lang="en-US" dirty="0">
                <a:solidFill>
                  <a:schemeClr val="dk1"/>
                </a:solidFill>
              </a:rPr>
              <a:t>multicore parallel processing - reduces training time</a:t>
            </a:r>
          </a:p>
          <a:p>
            <a:pPr lvl="0"/>
            <a:endParaRPr lang="en-US" dirty="0">
              <a:solidFill>
                <a:schemeClr val="dk1"/>
              </a:solidFill>
            </a:endParaRPr>
          </a:p>
          <a:p>
            <a:pPr lvl="0"/>
            <a:r>
              <a:rPr lang="en-US" dirty="0">
                <a:solidFill>
                  <a:schemeClr val="dk1"/>
                </a:solidFill>
              </a:rPr>
              <a:t>2015 - DART: Dropouts meet Multiple Additive Regression Trees</a:t>
            </a:r>
          </a:p>
          <a:p>
            <a:pPr lvl="0"/>
            <a:r>
              <a:rPr lang="en-US" dirty="0">
                <a:solidFill>
                  <a:schemeClr val="dk1"/>
                </a:solidFill>
              </a:rPr>
              <a:t> - </a:t>
            </a:r>
            <a:r>
              <a:rPr lang="en-US" u="sng" dirty="0">
                <a:solidFill>
                  <a:schemeClr val="hlink"/>
                </a:solidFill>
                <a:hlinkClick r:id="rId6"/>
              </a:rPr>
              <a:t>https://arxiv.org/abs/1505.01866</a:t>
            </a:r>
            <a:endParaRPr lang="en-US" dirty="0">
              <a:solidFill>
                <a:schemeClr val="dk1"/>
              </a:solidFill>
            </a:endParaRPr>
          </a:p>
          <a:p>
            <a:pPr lvl="0"/>
            <a:r>
              <a:rPr lang="en-US" dirty="0">
                <a:solidFill>
                  <a:schemeClr val="dk1"/>
                </a:solidFill>
              </a:rPr>
              <a:t> - </a:t>
            </a:r>
            <a:r>
              <a:rPr lang="en-US" u="sng" dirty="0">
                <a:solidFill>
                  <a:schemeClr val="hlink"/>
                </a:solidFill>
                <a:hlinkClick r:id="rId7"/>
              </a:rPr>
              <a:t>http://zhanpengfang.github.io/418home.html</a:t>
            </a:r>
            <a:endParaRPr lang="en-US" dirty="0">
              <a:solidFill>
                <a:schemeClr val="dk1"/>
              </a:solidFill>
            </a:endParaRPr>
          </a:p>
          <a:p>
            <a:pPr lvl="0"/>
            <a:r>
              <a:rPr lang="en-US" dirty="0">
                <a:solidFill>
                  <a:schemeClr val="dk1"/>
                </a:solidFill>
              </a:rPr>
              <a:t> - </a:t>
            </a:r>
            <a:r>
              <a:rPr lang="en-US" u="sng" dirty="0">
                <a:solidFill>
                  <a:schemeClr val="hlink"/>
                </a:solidFill>
                <a:hlinkClick r:id="rId8"/>
              </a:rPr>
              <a:t>https://www.analyticsvidhya.com/blog/2016/03/complete-guide-parameter-tuning-xgboost-with-codes-python/</a:t>
            </a:r>
            <a:endParaRPr lang="en-US" dirty="0">
              <a:solidFill>
                <a:schemeClr val="dk1"/>
              </a:solidFill>
            </a:endParaRPr>
          </a:p>
          <a:p>
            <a:pPr lvl="0"/>
            <a:r>
              <a:rPr lang="en-US" dirty="0">
                <a:solidFill>
                  <a:schemeClr val="dk1"/>
                </a:solidFill>
              </a:rPr>
              <a:t> - </a:t>
            </a:r>
            <a:r>
              <a:rPr lang="en-US" u="sng" dirty="0">
                <a:solidFill>
                  <a:schemeClr val="hlink"/>
                </a:solidFill>
                <a:hlinkClick r:id="rId9"/>
              </a:rPr>
              <a:t>https://www.quora.com/What-is-the-difference-between-the-R-gbm-gradient-boosting-machine-and-xgboost-extreme-gradient-boosting</a:t>
            </a:r>
            <a:endParaRPr lang="en-US" dirty="0">
              <a:solidFill>
                <a:schemeClr val="dk1"/>
              </a:solidFill>
            </a:endParaRPr>
          </a:p>
          <a:p>
            <a:pPr lvl="0"/>
            <a:endParaRPr lang="en-US" dirty="0">
              <a:solidFill>
                <a:schemeClr val="dk1"/>
              </a:solidFill>
            </a:endParaRPr>
          </a:p>
          <a:p>
            <a:pPr lvl="0"/>
            <a:r>
              <a:rPr lang="en-US" dirty="0">
                <a:solidFill>
                  <a:schemeClr val="dk1"/>
                </a:solidFill>
              </a:rPr>
              <a:t>- </a:t>
            </a:r>
            <a:r>
              <a:rPr lang="en-US" u="sng" dirty="0">
                <a:solidFill>
                  <a:schemeClr val="hlink"/>
                </a:solidFill>
                <a:hlinkClick r:id="rId10"/>
              </a:rPr>
              <a:t>https://en.wikipedia.org/wiki/Gradient_boosting</a:t>
            </a:r>
            <a:endParaRPr lang="en-US" dirty="0">
              <a:solidFill>
                <a:schemeClr val="dk1"/>
              </a:solidFill>
            </a:endParaRPr>
          </a:p>
          <a:p>
            <a:pPr lvl="0"/>
            <a:r>
              <a:rPr lang="en-US" dirty="0">
                <a:solidFill>
                  <a:schemeClr val="dk1"/>
                </a:solidFill>
              </a:rPr>
              <a:t>- </a:t>
            </a:r>
            <a:r>
              <a:rPr lang="en-US" u="sng" dirty="0">
                <a:solidFill>
                  <a:schemeClr val="hlink"/>
                </a:solidFill>
                <a:hlinkClick r:id="rId11"/>
              </a:rPr>
              <a:t>https://en.wikipedia.org/wiki/Xgboost</a:t>
            </a:r>
            <a:r>
              <a:rPr lang="en-US" dirty="0">
                <a:solidFill>
                  <a:schemeClr val="dk1"/>
                </a:solidFill>
              </a:rPr>
              <a:t> </a:t>
            </a:r>
          </a:p>
          <a:p>
            <a:pPr lvl="0"/>
            <a:endParaRPr lang="en-US" dirty="0">
              <a:solidFill>
                <a:schemeClr val="dk1"/>
              </a:solidFill>
            </a:endParaRPr>
          </a:p>
          <a:p>
            <a:pPr lvl="0"/>
            <a:r>
              <a:rPr lang="en-US" dirty="0">
                <a:solidFill>
                  <a:schemeClr val="dk1"/>
                </a:solidFill>
              </a:rPr>
              <a:t>=============================================</a:t>
            </a:r>
          </a:p>
          <a:p>
            <a:pPr lvl="0"/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Leo 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</a:rPr>
              <a:t>Breiman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, Jerome Friedman, CART, BFOS on 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</a:rPr>
              <a:t>youtube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:</a:t>
            </a:r>
          </a:p>
          <a:p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 - https://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</a:rPr>
              <a:t>www.youtube.com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</a:rPr>
              <a:t>watch?v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=t8ooi_tJHSE – 2 min, Working with Leo 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</a:rPr>
              <a:t>Breiman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 on Random Forests, Adele Cutler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- https://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www.youtube.com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watch?v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=JIXeMj1zwVU – 5min, CART</a:t>
            </a:r>
          </a:p>
          <a:p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- https://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www.youtube.com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watch?v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=-Ju0Czc9GmA – 4min, 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The Birth of BFOS: 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</a:rPr>
              <a:t>Breiman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, Freidman, 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</a:rPr>
              <a:t>Olshen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 and Stone</a:t>
            </a:r>
            <a:endParaRPr lang="en-US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- https://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www.youtube.com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watch?v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=XaeQo1KSmjA – 4min, 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CART and Cross-Validation, Data Mining</a:t>
            </a:r>
            <a:endParaRPr lang="en-US" dirty="0">
              <a:solidFill>
                <a:schemeClr val="dk1"/>
              </a:solidFill>
              <a:latin typeface="Calibri"/>
              <a:cs typeface="Calibri"/>
              <a:sym typeface="Calibri"/>
            </a:endParaRPr>
          </a:p>
          <a:p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 - https://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www.youtube.com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/</a:t>
            </a:r>
            <a:r>
              <a:rPr lang="en-US" dirty="0" err="1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watch?v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=8hupHmBVvb0 – 4min, 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</a:rPr>
              <a:t>Jerome Friedman, Data Mining Software Founding Father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</TotalTime>
  <Words>2044</Words>
  <Application>Microsoft Macintosh PowerPoint</Application>
  <PresentationFormat>Widescreen</PresentationFormat>
  <Paragraphs>223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18</cp:revision>
  <dcterms:modified xsi:type="dcterms:W3CDTF">2020-08-31T18:37:00Z</dcterms:modified>
</cp:coreProperties>
</file>