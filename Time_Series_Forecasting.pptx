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64" r:id="rId2"/>
    <p:sldId id="259" r:id="rId3"/>
    <p:sldId id="263" r:id="rId4"/>
    <p:sldId id="270" r:id="rId5"/>
    <p:sldId id="271" r:id="rId6"/>
    <p:sldId id="272" r:id="rId7"/>
    <p:sldId id="327" r:id="rId8"/>
    <p:sldId id="261" r:id="rId9"/>
    <p:sldId id="273" r:id="rId10"/>
    <p:sldId id="274" r:id="rId11"/>
    <p:sldId id="325" r:id="rId12"/>
    <p:sldId id="324" r:id="rId13"/>
    <p:sldId id="275" r:id="rId14"/>
    <p:sldId id="260" r:id="rId15"/>
    <p:sldId id="269" r:id="rId16"/>
    <p:sldId id="32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87"/>
    <p:restoredTop sz="94717"/>
  </p:normalViewPr>
  <p:slideViewPr>
    <p:cSldViewPr snapToGrid="0" snapToObjects="1">
      <p:cViewPr varScale="1">
        <p:scale>
          <a:sx n="97" d="100"/>
          <a:sy n="97" d="100"/>
        </p:scale>
        <p:origin x="208"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ccfd3fc44_0_2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g3ccfd3fc44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4eb86a6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4eb86a6d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3a4eb86a6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4eb86a6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4eb86a6d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3a4eb86a6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4090830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4eb86a6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4eb86a6d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3a4eb86a6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275996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4eb86a6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4eb86a6d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3a4eb86a6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4266980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d5bee0b5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d5bee0b5a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g3d5bee0b5a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d5bee0b5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d5bee0b5a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g3d5bee0b5a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720825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d5bee0b5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d5bee0b5a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g3d5bee0b5a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149659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6719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8789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d5bee0b5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d5bee0b5a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g3d5bee0b5a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380089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d5559a5d7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3d5559a5d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6251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4eb86a6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4eb86a6d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3a4eb86a6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210169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d5bee0b5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d5bee0b5a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6" name="Google Shape;126;g3d5bee0b5a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180234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pawarbi.github.io/blog/forecasting/python/powerbi/forecasting_in_powerbi/2020/04/24/timeseries-powerbi.html" TargetMode="External"/><Relationship Id="rId3" Type="http://schemas.openxmlformats.org/officeDocument/2006/relationships/image" Target="../media/image5.tiff"/><Relationship Id="rId7" Type="http://schemas.openxmlformats.org/officeDocument/2006/relationships/hyperlink" Target="https://stoneridgesoftware.com/take-advantage-of-forecasting-in-power-bi-with-the-analytics-pane/"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powerbi.microsoft.com/en-us/blog/introducing-new-forecasting-capabilities-in-power-view-for-office-365/#:~:text=The%20Power%20BI%20Team&amp;text=Forecasting%20in%20Power%20View%20utilizes,from%20a%20series%20of%20data" TargetMode="External"/><Relationship Id="rId5" Type="http://schemas.openxmlformats.org/officeDocument/2006/relationships/hyperlink" Target="https://powerbi.microsoft.com/es-es/blog/describing-the-forecasting-models-in-power-view/#ETSAAA" TargetMode="External"/><Relationship Id="rId4" Type="http://schemas.openxmlformats.org/officeDocument/2006/relationships/hyperlink" Target="https://otexts.com/fpp2/holt-winters.html" TargetMode="External"/><Relationship Id="rId9" Type="http://schemas.openxmlformats.org/officeDocument/2006/relationships/hyperlink" Target="https://pawarbi.github.io/blog/forecasting/python/powerbi/forecasting_in_powerbi/2020/04/24/timeseries-powerbi.html#ETS(AAN)"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github.com/ourownstory/neural_prophet" TargetMode="External"/><Relationship Id="rId3" Type="http://schemas.openxmlformats.org/officeDocument/2006/relationships/hyperlink" Target="https://github.com/facebook/prophet" TargetMode="External"/><Relationship Id="rId7" Type="http://schemas.openxmlformats.org/officeDocument/2006/relationships/hyperlink" Target="https://towardsdatascience.com/neural-prophet-a-time-series-modeling-library-based-on-neural-networks-dd02dc8d868d"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databricks.com/blog/2020/01/27/time-series-forecasting-prophet-spark.html" TargetMode="External"/><Relationship Id="rId11" Type="http://schemas.openxmlformats.org/officeDocument/2006/relationships/image" Target="../media/image6.jpeg"/><Relationship Id="rId5" Type="http://schemas.openxmlformats.org/officeDocument/2006/relationships/hyperlink" Target="https://facebook.github.io/prophet/docs/quick_start.html" TargetMode="External"/><Relationship Id="rId10" Type="http://schemas.openxmlformats.org/officeDocument/2006/relationships/hyperlink" Target="https://ai.facebook.com/blog/ar-net-a-simple-autoregressive-neural-network-for-time-series/" TargetMode="External"/><Relationship Id="rId4" Type="http://schemas.openxmlformats.org/officeDocument/2006/relationships/hyperlink" Target="https://youtu.be/pOYAXv15r3A" TargetMode="External"/><Relationship Id="rId9" Type="http://schemas.openxmlformats.org/officeDocument/2006/relationships/hyperlink" Target="https://pytorch.org/"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docs.microsoft.com/en-us/azure/synapse-analytics/machine-learning/tutorial-automl"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hyperlink" Target="https://www.sqlshack.com/microsoft-time-series-in-sql-server/"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callcentrehelper.com/calculate-forecast-accuracy-113808.htm"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hyperlink" Target="https://towardsdatascience.com/diy-simple-exponential-smoothing-with-python-dbb570d30fb5" TargetMode="External"/><Relationship Id="rId5" Type="http://schemas.openxmlformats.org/officeDocument/2006/relationships/hyperlink" Target="https://towardsdatascience.com/simple-exponential-smoothing-749fc5631bed" TargetMode="Externa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hyperlink" Target="https://towardsdatascience.com/holt-winters-exponential-smoothing-d703072c0572" TargetMode="External"/><Relationship Id="rId7" Type="http://schemas.openxmlformats.org/officeDocument/2006/relationships/image" Target="../media/image16.tiff"/><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tiff"/><Relationship Id="rId5" Type="http://schemas.openxmlformats.org/officeDocument/2006/relationships/image" Target="../media/image14.png"/><Relationship Id="rId4" Type="http://schemas.openxmlformats.org/officeDocument/2006/relationships/hyperlink" Target="https://orangematter.solarwinds.com/2019/12/15/holt-winters-forecasting-simplified/"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hyperlink" Target="https://people.duke.edu/~rnau/411arim.htm" TargetMode="External"/><Relationship Id="rId7" Type="http://schemas.openxmlformats.org/officeDocument/2006/relationships/hyperlink" Target="https://365datascience.com/tutorials/python-tutorials/sarimax/"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hyperlink" Target="https://www.statsmodels.org/dev/examples/notebooks/generated/statespace_sarimax_stata.html" TargetMode="External"/><Relationship Id="rId5" Type="http://schemas.openxmlformats.org/officeDocument/2006/relationships/hyperlink" Target="https://en.wikipedia.org/wiki/Autoregressive_integrated_moving_average" TargetMode="External"/><Relationship Id="rId4" Type="http://schemas.openxmlformats.org/officeDocument/2006/relationships/hyperlink" Target="https://en.wikipedia.org/wiki/Autoregressive%E2%80%93moving-average_mode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20.png"/><Relationship Id="rId7" Type="http://schemas.openxmlformats.org/officeDocument/2006/relationships/image" Target="../media/image24.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jpg"/><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td9QLuijh9c"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6.tiff"/></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hyperlink" Target="https://machinelearningmastery.com/multivariate-time-series-forecasting-lstms-keras/" TargetMode="External"/><Relationship Id="rId7" Type="http://schemas.openxmlformats.org/officeDocument/2006/relationships/image" Target="../media/image30.tiff"/><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hyperlink" Target="https://github.com/Azure/MachineLearningSamples-EnergyDemandTimeSeriesForecasting" TargetMode="External"/><Relationship Id="rId5" Type="http://schemas.openxmlformats.org/officeDocument/2006/relationships/hyperlink" Target="https://medium.com/machine-learning-world/neural-networks-for-algorithmic-trading-2-1-multivariate-time-series-ab016ce70f57" TargetMode="External"/><Relationship Id="rId4" Type="http://schemas.openxmlformats.org/officeDocument/2006/relationships/hyperlink" Target="https://machinelearningmastery.com/time-series-prediction-with-deep-learning-in-python-with-kera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machinelearningmastery.com/"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https://towardsdatascience.com/using-gradient-boosting-for-time-series-prediction-tasks-600fac66a5fc" TargetMode="External"/><Relationship Id="rId5" Type="http://schemas.openxmlformats.org/officeDocument/2006/relationships/hyperlink" Target="https://www.kaggle.com/getting-started/48536" TargetMode="External"/><Relationship Id="rId4" Type="http://schemas.openxmlformats.org/officeDocument/2006/relationships/hyperlink" Target="https://machinelearningmastery.com/xgboost-for-time-series-forecas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0F4EAC-E786-1B49-B7B2-BBBF7BFBCAE6}"/>
              </a:ext>
            </a:extLst>
          </p:cNvPr>
          <p:cNvSpPr txBox="1"/>
          <p:nvPr/>
        </p:nvSpPr>
        <p:spPr>
          <a:xfrm>
            <a:off x="2678723" y="188010"/>
            <a:ext cx="6834553" cy="769441"/>
          </a:xfrm>
          <a:prstGeom prst="rect">
            <a:avLst/>
          </a:prstGeom>
          <a:noFill/>
        </p:spPr>
        <p:txBody>
          <a:bodyPr wrap="square" rtlCol="0">
            <a:spAutoFit/>
          </a:bodyPr>
          <a:lstStyle/>
          <a:p>
            <a:r>
              <a:rPr lang="en-US" sz="4400" b="1" dirty="0"/>
              <a:t>Time Series Forecasting</a:t>
            </a:r>
          </a:p>
        </p:txBody>
      </p:sp>
      <p:pic>
        <p:nvPicPr>
          <p:cNvPr id="1026" name="Picture 2" descr="Introduction to the Fundamentals of Time Series Data and Analysis - Aptech">
            <a:extLst>
              <a:ext uri="{FF2B5EF4-FFF2-40B4-BE49-F238E27FC236}">
                <a16:creationId xmlns:a16="http://schemas.microsoft.com/office/drawing/2014/main" id="{5544B544-8E57-CB41-B552-85125F818853}"/>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4114800"/>
            <a:ext cx="54864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utorial: Time Series Analysis with Pandas – Dataquest">
            <a:extLst>
              <a:ext uri="{FF2B5EF4-FFF2-40B4-BE49-F238E27FC236}">
                <a16:creationId xmlns:a16="http://schemas.microsoft.com/office/drawing/2014/main" id="{F8C62D82-4F9E-8D48-B035-8F8D1AD30AA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402850" y="4565650"/>
            <a:ext cx="5535151" cy="210434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rend Forecasting Models and Seasonality with Time Series | R-bloggers">
            <a:extLst>
              <a:ext uri="{FF2B5EF4-FFF2-40B4-BE49-F238E27FC236}">
                <a16:creationId xmlns:a16="http://schemas.microsoft.com/office/drawing/2014/main" id="{AE634DB7-5B43-4F42-8843-1A478C5B008F}"/>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203949" y="1084451"/>
            <a:ext cx="4618653"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ime Series Analysis and Forecasting Definition and Examples - Magoosh  Statistics Blog">
            <a:extLst>
              <a:ext uri="{FF2B5EF4-FFF2-40B4-BE49-F238E27FC236}">
                <a16:creationId xmlns:a16="http://schemas.microsoft.com/office/drawing/2014/main" id="{2FAFBD36-8B44-BD46-96B2-F41BAC45F037}"/>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7460" y="1084451"/>
            <a:ext cx="5311479" cy="2627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5768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6"/>
          <p:cNvSpPr txBox="1"/>
          <p:nvPr/>
        </p:nvSpPr>
        <p:spPr>
          <a:xfrm>
            <a:off x="985299" y="1201160"/>
            <a:ext cx="9006840" cy="4676180"/>
          </a:xfrm>
          <a:prstGeom prst="rect">
            <a:avLst/>
          </a:prstGeom>
          <a:noFill/>
          <a:ln>
            <a:noFill/>
          </a:ln>
        </p:spPr>
        <p:txBody>
          <a:bodyPr spcFirstLastPara="1" wrap="square" lIns="91425" tIns="45700" rIns="91425" bIns="45700" anchor="t" anchorCtr="0">
            <a:noAutofit/>
          </a:bodyPr>
          <a:lstStyle/>
          <a:p>
            <a:pPr marL="171450" lvl="0" indent="-171450">
              <a:buFont typeface="Arial" panose="020B0604020202020204" pitchFamily="34" charset="0"/>
              <a:buChar char="•"/>
            </a:pPr>
            <a:r>
              <a:rPr lang="en-US" sz="1600" dirty="0">
                <a:solidFill>
                  <a:schemeClr val="dk1"/>
                </a:solidFill>
                <a:latin typeface="Calibri"/>
                <a:ea typeface="Calibri"/>
                <a:cs typeface="Calibri"/>
                <a:sym typeface="Calibri"/>
              </a:rPr>
              <a:t>Qualitative, Naive (forecast = last value, or an average of last period)</a:t>
            </a:r>
          </a:p>
          <a:p>
            <a:pPr marL="171450" lvl="0" indent="-171450">
              <a:buFont typeface="Arial" panose="020B0604020202020204" pitchFamily="34" charset="0"/>
              <a:buChar char="•"/>
            </a:pPr>
            <a:r>
              <a:rPr lang="en-US" sz="1600" b="1" dirty="0">
                <a:solidFill>
                  <a:srgbClr val="FF0000"/>
                </a:solidFill>
                <a:latin typeface="Calibri"/>
                <a:ea typeface="Calibri"/>
                <a:cs typeface="Calibri"/>
                <a:sym typeface="Calibri"/>
              </a:rPr>
              <a:t>Trend, Linear Regression</a:t>
            </a:r>
          </a:p>
          <a:p>
            <a:pPr marL="171450" lvl="0" indent="-171450">
              <a:buFont typeface="Arial" panose="020B0604020202020204" pitchFamily="34" charset="0"/>
              <a:buChar char="•"/>
            </a:pPr>
            <a:r>
              <a:rPr lang="en-US" sz="1600" b="1" dirty="0">
                <a:solidFill>
                  <a:srgbClr val="FF0000"/>
                </a:solidFill>
                <a:latin typeface="Calibri"/>
                <a:ea typeface="Calibri"/>
                <a:cs typeface="Calibri"/>
                <a:sym typeface="Calibri"/>
              </a:rPr>
              <a:t>Multivariate Linear Regression</a:t>
            </a:r>
            <a:endParaRPr lang="en-US" sz="1600" dirty="0">
              <a:solidFill>
                <a:schemeClr val="dk1"/>
              </a:solidFill>
              <a:latin typeface="Calibri"/>
              <a:ea typeface="Calibri"/>
              <a:cs typeface="Calibri"/>
              <a:sym typeface="Calibri"/>
            </a:endParaRPr>
          </a:p>
          <a:p>
            <a:pPr marL="171450" lvl="0" indent="-171450">
              <a:buFont typeface="Arial" panose="020B0604020202020204" pitchFamily="34" charset="0"/>
              <a:buChar char="•"/>
            </a:pPr>
            <a:r>
              <a:rPr lang="en-US" sz="1600" b="1" dirty="0">
                <a:solidFill>
                  <a:srgbClr val="FF0000"/>
                </a:solidFill>
                <a:latin typeface="Calibri"/>
                <a:ea typeface="Calibri"/>
                <a:cs typeface="Calibri"/>
                <a:sym typeface="Calibri"/>
              </a:rPr>
              <a:t>Exponential Smoothing</a:t>
            </a:r>
            <a:r>
              <a:rPr lang="en-US" sz="1600" dirty="0">
                <a:solidFill>
                  <a:schemeClr val="dk1"/>
                </a:solidFill>
                <a:latin typeface="Calibri"/>
                <a:ea typeface="Calibri"/>
                <a:cs typeface="Calibri"/>
                <a:sym typeface="Calibri"/>
              </a:rPr>
              <a:t> (weighted moving average)</a:t>
            </a:r>
          </a:p>
          <a:p>
            <a:pPr marL="171450" lvl="0" indent="-171450">
              <a:buFont typeface="Arial" panose="020B0604020202020204" pitchFamily="34" charset="0"/>
              <a:buChar char="•"/>
            </a:pPr>
            <a:r>
              <a:rPr lang="en-US" sz="1600" b="1" dirty="0">
                <a:solidFill>
                  <a:srgbClr val="FF0000"/>
                </a:solidFill>
                <a:latin typeface="Calibri"/>
                <a:cs typeface="Calibri"/>
                <a:sym typeface="Calibri"/>
              </a:rPr>
              <a:t>Holt-Winters</a:t>
            </a:r>
            <a:r>
              <a:rPr lang="en-US" sz="1600" dirty="0">
                <a:solidFill>
                  <a:schemeClr val="dk1"/>
                </a:solidFill>
                <a:latin typeface="Calibri"/>
                <a:ea typeface="Calibri"/>
                <a:cs typeface="Calibri"/>
                <a:sym typeface="Calibri"/>
              </a:rPr>
              <a:t> = Triple Exponential Smoothing (smooth, trend, seasonality)</a:t>
            </a:r>
          </a:p>
          <a:p>
            <a:pPr marL="171450" indent="-171450">
              <a:buFont typeface="Arial" panose="020B0604020202020204" pitchFamily="34" charset="0"/>
              <a:buChar char="•"/>
            </a:pPr>
            <a:r>
              <a:rPr lang="en-US" sz="1600" b="1" dirty="0">
                <a:solidFill>
                  <a:srgbClr val="FF0000"/>
                </a:solidFill>
                <a:latin typeface="Calibri"/>
                <a:cs typeface="Calibri"/>
                <a:sym typeface="Calibri"/>
              </a:rPr>
              <a:t>Seasonality</a:t>
            </a:r>
            <a:r>
              <a:rPr lang="en-US" sz="1600" dirty="0">
                <a:solidFill>
                  <a:schemeClr val="dk1"/>
                </a:solidFill>
                <a:latin typeface="Calibri"/>
                <a:ea typeface="Calibri"/>
                <a:cs typeface="Calibri"/>
                <a:sym typeface="Calibri"/>
              </a:rPr>
              <a:t> in the model using Fourier decomposition (over 4+ years)</a:t>
            </a:r>
          </a:p>
          <a:p>
            <a:pPr marL="171450" lvl="0" indent="-171450">
              <a:buFont typeface="Arial" panose="020B0604020202020204" pitchFamily="34" charset="0"/>
              <a:buChar char="•"/>
            </a:pPr>
            <a:r>
              <a:rPr lang="en-US" sz="1600" b="1" dirty="0">
                <a:solidFill>
                  <a:srgbClr val="FF0000"/>
                </a:solidFill>
                <a:latin typeface="Calibri"/>
                <a:cs typeface="Calibri"/>
                <a:sym typeface="Calibri"/>
              </a:rPr>
              <a:t>ARMA</a:t>
            </a:r>
            <a:r>
              <a:rPr lang="en-US" sz="1600" dirty="0">
                <a:solidFill>
                  <a:schemeClr val="dk1"/>
                </a:solidFill>
                <a:latin typeface="Calibri"/>
                <a:ea typeface="Calibri"/>
                <a:cs typeface="Calibri"/>
                <a:sym typeface="Calibri"/>
              </a:rPr>
              <a:t> (Auto-Regressive Moving Average), </a:t>
            </a:r>
            <a:r>
              <a:rPr lang="en-US" sz="1600" b="1" dirty="0">
                <a:solidFill>
                  <a:srgbClr val="FF0000"/>
                </a:solidFill>
                <a:latin typeface="Calibri"/>
                <a:cs typeface="Calibri"/>
                <a:sym typeface="Calibri"/>
              </a:rPr>
              <a:t>ARIMA</a:t>
            </a:r>
            <a:r>
              <a:rPr lang="en-US" sz="1600" dirty="0">
                <a:solidFill>
                  <a:schemeClr val="dk1"/>
                </a:solidFill>
                <a:latin typeface="Calibri"/>
                <a:ea typeface="Calibri"/>
                <a:cs typeface="Calibri"/>
                <a:sym typeface="Calibri"/>
              </a:rPr>
              <a:t> (Auto-Regressive Integrated Moving Average)</a:t>
            </a:r>
            <a:br>
              <a:rPr lang="en-US" sz="1600" dirty="0">
                <a:solidFill>
                  <a:schemeClr val="dk1"/>
                </a:solidFill>
                <a:latin typeface="Calibri"/>
                <a:ea typeface="Calibri"/>
                <a:cs typeface="Calibri"/>
                <a:sym typeface="Calibri"/>
              </a:rPr>
            </a:br>
            <a:r>
              <a:rPr lang="en-US" sz="1600" b="1" dirty="0">
                <a:solidFill>
                  <a:srgbClr val="FF0000"/>
                </a:solidFill>
                <a:latin typeface="Calibri"/>
                <a:cs typeface="Calibri"/>
                <a:sym typeface="Calibri"/>
              </a:rPr>
              <a:t>SARIMA</a:t>
            </a:r>
            <a:r>
              <a:rPr lang="en-US" sz="1600" dirty="0">
                <a:solidFill>
                  <a:schemeClr val="dk1"/>
                </a:solidFill>
                <a:latin typeface="Calibri"/>
                <a:ea typeface="Calibri"/>
                <a:cs typeface="Calibri"/>
                <a:sym typeface="Calibri"/>
              </a:rPr>
              <a:t> (S=Seasonality), </a:t>
            </a:r>
            <a:r>
              <a:rPr lang="en-US" sz="1600" b="1" dirty="0">
                <a:solidFill>
                  <a:srgbClr val="FF0000"/>
                </a:solidFill>
                <a:latin typeface="Calibri"/>
                <a:cs typeface="Calibri"/>
                <a:sym typeface="Calibri"/>
              </a:rPr>
              <a:t>SARIMAX</a:t>
            </a:r>
            <a:r>
              <a:rPr lang="en-US" sz="1600" dirty="0">
                <a:solidFill>
                  <a:schemeClr val="dk1"/>
                </a:solidFill>
                <a:latin typeface="Calibri"/>
                <a:ea typeface="Calibri"/>
                <a:cs typeface="Calibri"/>
                <a:sym typeface="Calibri"/>
              </a:rPr>
              <a:t> (X - </a:t>
            </a:r>
            <a:r>
              <a:rPr lang="en-US" sz="1600" dirty="0" err="1">
                <a:solidFill>
                  <a:schemeClr val="dk1"/>
                </a:solidFill>
                <a:latin typeface="Calibri"/>
                <a:ea typeface="Calibri"/>
                <a:cs typeface="Calibri"/>
                <a:sym typeface="Calibri"/>
              </a:rPr>
              <a:t>eXogenous</a:t>
            </a:r>
            <a:r>
              <a:rPr lang="en-US" sz="1600" dirty="0">
                <a:solidFill>
                  <a:schemeClr val="dk1"/>
                </a:solidFill>
                <a:latin typeface="Calibri"/>
                <a:ea typeface="Calibri"/>
                <a:cs typeface="Calibri"/>
                <a:sym typeface="Calibri"/>
              </a:rPr>
              <a:t> regressors) </a:t>
            </a:r>
          </a:p>
          <a:p>
            <a:pPr marL="171450" lvl="0" indent="-171450">
              <a:buFont typeface="Arial" panose="020B0604020202020204" pitchFamily="34" charset="0"/>
              <a:buChar char="•"/>
            </a:pPr>
            <a:r>
              <a:rPr lang="en-US" sz="1600" dirty="0">
                <a:solidFill>
                  <a:schemeClr val="dk1"/>
                </a:solidFill>
                <a:latin typeface="Calibri"/>
                <a:ea typeface="Calibri"/>
                <a:cs typeface="Calibri"/>
                <a:sym typeface="Calibri"/>
              </a:rPr>
              <a:t>Auto-correlations, bivariate cross-correlation, multivariate time series analysis</a:t>
            </a:r>
          </a:p>
          <a:p>
            <a:pPr marL="171450" lvl="0" indent="-171450">
              <a:buFont typeface="Arial" panose="020B0604020202020204" pitchFamily="34" charset="0"/>
              <a:buChar char="•"/>
            </a:pPr>
            <a:r>
              <a:rPr lang="en-US" sz="1600" b="1" dirty="0">
                <a:solidFill>
                  <a:srgbClr val="FF0000"/>
                </a:solidFill>
                <a:latin typeface="Calibri"/>
                <a:ea typeface="Calibri"/>
                <a:cs typeface="Calibri"/>
                <a:sym typeface="Calibri"/>
              </a:rPr>
              <a:t>Causal</a:t>
            </a:r>
            <a:r>
              <a:rPr lang="en-US" sz="1600" dirty="0">
                <a:solidFill>
                  <a:schemeClr val="dk1"/>
                </a:solidFill>
                <a:latin typeface="Calibri"/>
                <a:ea typeface="Calibri"/>
                <a:cs typeface="Calibri"/>
                <a:sym typeface="Calibri"/>
              </a:rPr>
              <a:t> (cause-effect) - modeling specific causes/drivers that can influence the target value</a:t>
            </a:r>
            <a:br>
              <a:rPr lang="en-US" sz="1600" dirty="0">
                <a:solidFill>
                  <a:schemeClr val="dk1"/>
                </a:solidFill>
                <a:latin typeface="Calibri"/>
                <a:ea typeface="Calibri"/>
                <a:cs typeface="Calibri"/>
                <a:sym typeface="Calibri"/>
              </a:rPr>
            </a:br>
            <a:r>
              <a:rPr lang="en-US" sz="1600" dirty="0">
                <a:solidFill>
                  <a:schemeClr val="dk1"/>
                </a:solidFill>
                <a:latin typeface="Calibri"/>
                <a:ea typeface="Calibri"/>
                <a:cs typeface="Calibri"/>
                <a:sym typeface="Calibri"/>
              </a:rPr>
              <a:t>(drivers – number of resources, spending on advertising, promotion, legal change, </a:t>
            </a:r>
            <a:br>
              <a:rPr lang="en-US" sz="1600" dirty="0">
                <a:solidFill>
                  <a:schemeClr val="dk1"/>
                </a:solidFill>
                <a:latin typeface="Calibri"/>
                <a:ea typeface="Calibri"/>
                <a:cs typeface="Calibri"/>
                <a:sym typeface="Calibri"/>
              </a:rPr>
            </a:br>
            <a:r>
              <a:rPr lang="en-US" sz="1600" dirty="0">
                <a:solidFill>
                  <a:schemeClr val="dk1"/>
                </a:solidFill>
                <a:latin typeface="Calibri"/>
                <a:ea typeface="Calibri"/>
                <a:cs typeface="Calibri"/>
                <a:sym typeface="Calibri"/>
              </a:rPr>
              <a:t>                  website redesign, sport event, new law, election, etc.).</a:t>
            </a:r>
            <a:br>
              <a:rPr lang="en-US" sz="1600" dirty="0">
                <a:solidFill>
                  <a:schemeClr val="dk1"/>
                </a:solidFill>
                <a:latin typeface="Calibri"/>
                <a:ea typeface="Calibri"/>
                <a:cs typeface="Calibri"/>
                <a:sym typeface="Calibri"/>
              </a:rPr>
            </a:br>
            <a:r>
              <a:rPr lang="en-US" sz="1600" dirty="0">
                <a:solidFill>
                  <a:schemeClr val="dk1"/>
                </a:solidFill>
                <a:latin typeface="Calibri"/>
                <a:ea typeface="Calibri"/>
                <a:cs typeface="Calibri"/>
                <a:sym typeface="Calibri"/>
              </a:rPr>
              <a:t>Some drivers cause permanent shift, others – temporary response. </a:t>
            </a:r>
          </a:p>
          <a:p>
            <a:pPr marL="171450" lvl="0" indent="-171450">
              <a:buFont typeface="Arial" panose="020B0604020202020204" pitchFamily="34" charset="0"/>
              <a:buChar char="•"/>
            </a:pPr>
            <a:r>
              <a:rPr lang="en-US" sz="1600" b="1" dirty="0">
                <a:solidFill>
                  <a:srgbClr val="FF0000"/>
                </a:solidFill>
                <a:latin typeface="Calibri"/>
                <a:ea typeface="Calibri"/>
                <a:cs typeface="Calibri"/>
                <a:sym typeface="Calibri"/>
              </a:rPr>
              <a:t>Random Walk Simulation (Monte-Carlo)</a:t>
            </a:r>
            <a:r>
              <a:rPr lang="en-US" sz="1600" dirty="0">
                <a:solidFill>
                  <a:schemeClr val="dk1"/>
                </a:solidFill>
                <a:latin typeface="Calibri"/>
                <a:ea typeface="Calibri"/>
                <a:cs typeface="Calibri"/>
                <a:sym typeface="Calibri"/>
              </a:rPr>
              <a:t> – when having causal model</a:t>
            </a:r>
          </a:p>
          <a:p>
            <a:pPr marL="171450" lvl="0" indent="-171450">
              <a:buFont typeface="Arial" panose="020B0604020202020204" pitchFamily="34" charset="0"/>
              <a:buChar char="•"/>
            </a:pPr>
            <a:r>
              <a:rPr lang="en-US" sz="1600" b="1" dirty="0">
                <a:solidFill>
                  <a:srgbClr val="FF0000"/>
                </a:solidFill>
                <a:latin typeface="Calibri"/>
                <a:ea typeface="Calibri"/>
                <a:cs typeface="Calibri"/>
                <a:sym typeface="Calibri"/>
              </a:rPr>
              <a:t>Classification</a:t>
            </a:r>
            <a:r>
              <a:rPr lang="en-US" sz="1600" dirty="0">
                <a:solidFill>
                  <a:schemeClr val="dk1"/>
                </a:solidFill>
                <a:latin typeface="Calibri"/>
                <a:ea typeface="Calibri"/>
                <a:cs typeface="Calibri"/>
                <a:sym typeface="Calibri"/>
              </a:rPr>
              <a:t> (Random Forest, Boosting, etc.) - "this type of ... historically was causing ..."</a:t>
            </a:r>
          </a:p>
          <a:p>
            <a:pPr marL="171450" lvl="0" indent="-171450">
              <a:buFont typeface="Arial" panose="020B0604020202020204" pitchFamily="34" charset="0"/>
              <a:buChar char="•"/>
            </a:pPr>
            <a:r>
              <a:rPr lang="en-US" sz="1600" b="1" dirty="0">
                <a:solidFill>
                  <a:srgbClr val="FF0000"/>
                </a:solidFill>
                <a:latin typeface="Calibri"/>
                <a:ea typeface="Calibri"/>
                <a:cs typeface="Calibri"/>
                <a:sym typeface="Calibri"/>
              </a:rPr>
              <a:t>Neural Networks</a:t>
            </a:r>
            <a:r>
              <a:rPr lang="en-US" sz="1600" dirty="0">
                <a:solidFill>
                  <a:schemeClr val="dk1"/>
                </a:solidFill>
                <a:latin typeface="Calibri"/>
                <a:ea typeface="Calibri"/>
                <a:cs typeface="Calibri"/>
                <a:sym typeface="Calibri"/>
              </a:rPr>
              <a:t> - LSTM (Long Short Term Memory), multivariate LSTM, GRU (Gated Recurrent Unit)</a:t>
            </a:r>
          </a:p>
          <a:p>
            <a:pPr marL="171450" lvl="0" indent="-171450">
              <a:buFont typeface="Arial" panose="020B0604020202020204" pitchFamily="34" charset="0"/>
              <a:buChar char="•"/>
            </a:pPr>
            <a:r>
              <a:rPr lang="en-US" sz="1600" b="1" dirty="0">
                <a:solidFill>
                  <a:srgbClr val="FF0000"/>
                </a:solidFill>
                <a:latin typeface="Calibri"/>
                <a:ea typeface="Calibri"/>
                <a:cs typeface="Calibri"/>
                <a:sym typeface="Calibri"/>
              </a:rPr>
              <a:t>Facebook </a:t>
            </a:r>
            <a:r>
              <a:rPr lang="en-US" sz="1600" b="1" dirty="0" err="1">
                <a:solidFill>
                  <a:srgbClr val="FF0000"/>
                </a:solidFill>
                <a:latin typeface="Calibri"/>
                <a:ea typeface="Calibri"/>
                <a:cs typeface="Calibri"/>
                <a:sym typeface="Calibri"/>
              </a:rPr>
              <a:t>Prohpet</a:t>
            </a:r>
            <a:r>
              <a:rPr lang="en-US" sz="1600" dirty="0">
                <a:solidFill>
                  <a:schemeClr val="dk1"/>
                </a:solidFill>
                <a:latin typeface="Calibri"/>
                <a:ea typeface="Calibri"/>
                <a:cs typeface="Calibri"/>
                <a:sym typeface="Calibri"/>
              </a:rPr>
              <a:t> - </a:t>
            </a:r>
          </a:p>
          <a:p>
            <a:pPr marL="171450" lvl="0" indent="-171450">
              <a:buFont typeface="Arial" panose="020B0604020202020204" pitchFamily="34" charset="0"/>
              <a:buChar char="•"/>
            </a:pPr>
            <a:r>
              <a:rPr lang="en-US" sz="1600" b="1" dirty="0">
                <a:solidFill>
                  <a:srgbClr val="FF0000"/>
                </a:solidFill>
                <a:latin typeface="Calibri"/>
                <a:ea typeface="Calibri"/>
                <a:cs typeface="Calibri"/>
                <a:sym typeface="Calibri"/>
              </a:rPr>
              <a:t>Azure </a:t>
            </a:r>
            <a:r>
              <a:rPr lang="en-US" sz="1600" b="1" dirty="0" err="1">
                <a:solidFill>
                  <a:srgbClr val="FF0000"/>
                </a:solidFill>
                <a:latin typeface="Calibri"/>
                <a:ea typeface="Calibri"/>
                <a:cs typeface="Calibri"/>
                <a:sym typeface="Calibri"/>
              </a:rPr>
              <a:t>AutoML</a:t>
            </a:r>
            <a:r>
              <a:rPr lang="en-US" sz="1600" dirty="0">
                <a:solidFill>
                  <a:schemeClr val="dk1"/>
                </a:solidFill>
                <a:latin typeface="Calibri"/>
                <a:ea typeface="Calibri"/>
                <a:cs typeface="Calibri"/>
                <a:sym typeface="Calibri"/>
              </a:rPr>
              <a:t> - </a:t>
            </a:r>
          </a:p>
          <a:p>
            <a:pPr marL="171450" lvl="0" indent="-171450">
              <a:buFont typeface="Arial" panose="020B0604020202020204" pitchFamily="34" charset="0"/>
              <a:buChar char="•"/>
            </a:pPr>
            <a:r>
              <a:rPr lang="en-US" sz="1600" dirty="0">
                <a:solidFill>
                  <a:schemeClr val="dk1"/>
                </a:solidFill>
                <a:latin typeface="Calibri"/>
                <a:ea typeface="Calibri"/>
                <a:cs typeface="Calibri"/>
                <a:sym typeface="Calibri"/>
              </a:rPr>
              <a:t>etc.</a:t>
            </a:r>
          </a:p>
        </p:txBody>
      </p:sp>
      <p:sp>
        <p:nvSpPr>
          <p:cNvPr id="2" name="TextBox 1">
            <a:extLst>
              <a:ext uri="{FF2B5EF4-FFF2-40B4-BE49-F238E27FC236}">
                <a16:creationId xmlns:a16="http://schemas.microsoft.com/office/drawing/2014/main" id="{FFE5E9E0-0BAD-1A46-9604-4AA4F8BED33C}"/>
              </a:ext>
            </a:extLst>
          </p:cNvPr>
          <p:cNvSpPr txBox="1"/>
          <p:nvPr/>
        </p:nvSpPr>
        <p:spPr>
          <a:xfrm>
            <a:off x="137160" y="114300"/>
            <a:ext cx="3509010" cy="523220"/>
          </a:xfrm>
          <a:prstGeom prst="rect">
            <a:avLst/>
          </a:prstGeom>
          <a:noFill/>
        </p:spPr>
        <p:txBody>
          <a:bodyPr wrap="square" rtlCol="0">
            <a:spAutoFit/>
          </a:bodyPr>
          <a:lstStyle/>
          <a:p>
            <a:r>
              <a:rPr lang="en-US" sz="2800" b="1" dirty="0">
                <a:solidFill>
                  <a:schemeClr val="dk1"/>
                </a:solidFill>
                <a:latin typeface="Calibri"/>
                <a:ea typeface="Calibri"/>
                <a:cs typeface="Calibri"/>
                <a:sym typeface="Calibri"/>
              </a:rPr>
              <a:t>Forecasting methods</a:t>
            </a:r>
            <a:endParaRPr lang="en-US" sz="2800"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p:nvPr/>
        </p:nvSpPr>
        <p:spPr>
          <a:xfrm>
            <a:off x="108488" y="0"/>
            <a:ext cx="4954293" cy="74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t>Forecasting in Power BI</a:t>
            </a:r>
            <a:endParaRPr sz="3000" b="1" dirty="0"/>
          </a:p>
        </p:txBody>
      </p:sp>
      <p:sp>
        <p:nvSpPr>
          <p:cNvPr id="141" name="Google Shape;141;p20"/>
          <p:cNvSpPr txBox="1"/>
          <p:nvPr/>
        </p:nvSpPr>
        <p:spPr>
          <a:xfrm>
            <a:off x="0" y="574369"/>
            <a:ext cx="7904136" cy="2035627"/>
          </a:xfrm>
          <a:prstGeom prst="rect">
            <a:avLst/>
          </a:prstGeom>
          <a:noFill/>
          <a:ln>
            <a:noFill/>
          </a:ln>
        </p:spPr>
        <p:txBody>
          <a:bodyPr spcFirstLastPara="1" wrap="square" lIns="91425" tIns="91425" rIns="91425" bIns="91425" anchor="t" anchorCtr="0">
            <a:noAutofit/>
          </a:bodyPr>
          <a:lstStyle/>
          <a:p>
            <a:pPr lvl="0"/>
            <a:r>
              <a:rPr lang="en-US" sz="2000" dirty="0"/>
              <a:t>Power BI uses exponential smoothing and </a:t>
            </a:r>
            <a:r>
              <a:rPr lang="en-US" sz="2000" dirty="0" err="1"/>
              <a:t>backtesting</a:t>
            </a:r>
            <a:r>
              <a:rPr lang="en-US" sz="2000" dirty="0"/>
              <a:t> (hindcasting). </a:t>
            </a:r>
          </a:p>
          <a:p>
            <a:pPr lvl="0"/>
            <a:r>
              <a:rPr lang="en-US" sz="2000" dirty="0"/>
              <a:t>There are two algorithms:</a:t>
            </a:r>
          </a:p>
          <a:p>
            <a:pPr lvl="0"/>
            <a:r>
              <a:rPr lang="en-US" sz="2000" dirty="0"/>
              <a:t>    .... a variation of the Holt-Winters algorithm for the seasonal data</a:t>
            </a:r>
            <a:br>
              <a:rPr lang="en-US" sz="2000" dirty="0"/>
            </a:br>
            <a:r>
              <a:rPr lang="en-US" sz="2000" dirty="0"/>
              <a:t>         with a few changes to deal with noisy data</a:t>
            </a:r>
          </a:p>
          <a:p>
            <a:pPr lvl="0"/>
            <a:r>
              <a:rPr lang="en-US" sz="2000" dirty="0"/>
              <a:t>    .... a simpler model for non-seasonal data which has a term for additive trend and additive error</a:t>
            </a:r>
          </a:p>
        </p:txBody>
      </p:sp>
      <p:pic>
        <p:nvPicPr>
          <p:cNvPr id="2" name="Picture 1">
            <a:extLst>
              <a:ext uri="{FF2B5EF4-FFF2-40B4-BE49-F238E27FC236}">
                <a16:creationId xmlns:a16="http://schemas.microsoft.com/office/drawing/2014/main" id="{5751FF1C-2171-DD45-9193-C64575B2E1C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105618" y="574887"/>
            <a:ext cx="3579247" cy="1743925"/>
          </a:xfrm>
          <a:prstGeom prst="rect">
            <a:avLst/>
          </a:prstGeom>
          <a:ln w="25400">
            <a:solidFill>
              <a:schemeClr val="accent1"/>
            </a:solidFill>
          </a:ln>
        </p:spPr>
      </p:pic>
      <p:sp>
        <p:nvSpPr>
          <p:cNvPr id="3" name="TextBox 2">
            <a:extLst>
              <a:ext uri="{FF2B5EF4-FFF2-40B4-BE49-F238E27FC236}">
                <a16:creationId xmlns:a16="http://schemas.microsoft.com/office/drawing/2014/main" id="{E73F2D2B-7DD1-1C48-B912-C3496DD395D1}"/>
              </a:ext>
            </a:extLst>
          </p:cNvPr>
          <p:cNvSpPr txBox="1"/>
          <p:nvPr/>
        </p:nvSpPr>
        <p:spPr>
          <a:xfrm>
            <a:off x="7129220" y="97069"/>
            <a:ext cx="5062780" cy="369332"/>
          </a:xfrm>
          <a:prstGeom prst="rect">
            <a:avLst/>
          </a:prstGeom>
          <a:noFill/>
        </p:spPr>
        <p:txBody>
          <a:bodyPr wrap="square" rtlCol="0">
            <a:spAutoFit/>
          </a:bodyPr>
          <a:lstStyle/>
          <a:p>
            <a:r>
              <a:rPr lang="en-US" sz="1800" b="1" dirty="0">
                <a:solidFill>
                  <a:srgbClr val="0070C0"/>
                </a:solidFill>
                <a:latin typeface="+mn-lt"/>
              </a:rPr>
              <a:t>Holt-Winters’ multiplicative method (~ 1960)</a:t>
            </a:r>
          </a:p>
        </p:txBody>
      </p:sp>
      <p:sp>
        <p:nvSpPr>
          <p:cNvPr id="6" name="Google Shape;141;p20">
            <a:extLst>
              <a:ext uri="{FF2B5EF4-FFF2-40B4-BE49-F238E27FC236}">
                <a16:creationId xmlns:a16="http://schemas.microsoft.com/office/drawing/2014/main" id="{98CAB5FE-8DA7-6346-A9E8-04CC02D57F04}"/>
              </a:ext>
            </a:extLst>
          </p:cNvPr>
          <p:cNvSpPr txBox="1"/>
          <p:nvPr/>
        </p:nvSpPr>
        <p:spPr>
          <a:xfrm>
            <a:off x="0" y="3178837"/>
            <a:ext cx="12083512" cy="3652113"/>
          </a:xfrm>
          <a:prstGeom prst="rect">
            <a:avLst/>
          </a:prstGeom>
          <a:noFill/>
          <a:ln>
            <a:noFill/>
          </a:ln>
        </p:spPr>
        <p:txBody>
          <a:bodyPr spcFirstLastPara="1" wrap="square" lIns="91425" tIns="91425" rIns="91425" bIns="91425" anchor="t" anchorCtr="0">
            <a:noAutofit/>
          </a:bodyPr>
          <a:lstStyle/>
          <a:p>
            <a:pPr lvl="0"/>
            <a:r>
              <a:rPr lang="en-US" sz="2000" dirty="0"/>
              <a:t>For the seasonal forecasting, PBI modify the Holt-Winters algorithm by computing the sum of squares of prediction errors for what is called a validation window, instead of using the one-step ahead. </a:t>
            </a:r>
          </a:p>
          <a:p>
            <a:pPr lvl="0"/>
            <a:endParaRPr lang="en-US" sz="2000" dirty="0"/>
          </a:p>
          <a:p>
            <a:pPr lvl="0"/>
            <a:r>
              <a:rPr lang="en-US" sz="2000" dirty="0"/>
              <a:t>Another modification they make is when they detect large variations, they adjust the trend of the time window to a more recent to capture the overall trend of the time series.</a:t>
            </a:r>
          </a:p>
          <a:p>
            <a:pPr lvl="0"/>
            <a:endParaRPr lang="en-US" sz="2000" dirty="0"/>
          </a:p>
          <a:p>
            <a:pPr lvl="0"/>
            <a:r>
              <a:rPr lang="en-US" dirty="0">
                <a:latin typeface="+mn-lt"/>
              </a:rPr>
              <a:t>  ... </a:t>
            </a:r>
            <a:r>
              <a:rPr lang="en-US" dirty="0">
                <a:latin typeface="+mn-lt"/>
                <a:hlinkClick r:id="rId4"/>
              </a:rPr>
              <a:t>https://otexts.com/fpp2/holt-winters.html</a:t>
            </a:r>
            <a:r>
              <a:rPr lang="en-US" dirty="0">
                <a:latin typeface="+mn-lt"/>
              </a:rPr>
              <a:t> - </a:t>
            </a:r>
          </a:p>
          <a:p>
            <a:pPr lvl="0"/>
            <a:r>
              <a:rPr lang="en-US" dirty="0">
                <a:latin typeface="+mn-lt"/>
              </a:rPr>
              <a:t>  ... </a:t>
            </a:r>
            <a:r>
              <a:rPr lang="en-US" dirty="0">
                <a:latin typeface="+mn-lt"/>
                <a:hlinkClick r:id="rId5"/>
              </a:rPr>
              <a:t>https://powerbi.microsoft.com/es-es/blog/describing-the-forecasting-models-in-power-view/#ETSAAA</a:t>
            </a:r>
            <a:r>
              <a:rPr lang="en-US" dirty="0">
                <a:latin typeface="+mn-lt"/>
              </a:rPr>
              <a:t> - </a:t>
            </a:r>
          </a:p>
          <a:p>
            <a:pPr lvl="0"/>
            <a:r>
              <a:rPr lang="en-US" dirty="0"/>
              <a:t>  ... </a:t>
            </a:r>
            <a:r>
              <a:rPr lang="en-US" dirty="0">
                <a:hlinkClick r:id="rId6"/>
              </a:rPr>
              <a:t>https://powerbi.microsoft.com/en-us/blog/introducing-new-forecasting-capabilities-in-power-view-for-office-365/#:~:text=The%20Power%20BI%20Team&amp;text=Forecasting%20in%20Power%20View%20utilizes,from%20a%20series%20of%20data</a:t>
            </a:r>
            <a:r>
              <a:rPr lang="en-US" dirty="0"/>
              <a:t> - </a:t>
            </a:r>
          </a:p>
          <a:p>
            <a:pPr lvl="0"/>
            <a:r>
              <a:rPr lang="en-US" dirty="0"/>
              <a:t>   ... </a:t>
            </a:r>
            <a:r>
              <a:rPr lang="en-US" dirty="0">
                <a:hlinkClick r:id="rId7"/>
              </a:rPr>
              <a:t>https://stoneridgesoftware.com/take-advantage-of-forecasting-in-power-bi-with-the-analytics-pane/</a:t>
            </a:r>
            <a:r>
              <a:rPr lang="en-US" dirty="0"/>
              <a:t> - </a:t>
            </a:r>
          </a:p>
          <a:p>
            <a:pPr lvl="0"/>
            <a:r>
              <a:rPr lang="en-US" dirty="0"/>
              <a:t>   ... </a:t>
            </a:r>
            <a:r>
              <a:rPr lang="en-US" dirty="0">
                <a:hlinkClick r:id="rId8"/>
              </a:rPr>
              <a:t>https://pawarbi.github.io/blog/forecasting/python/powerbi/forecasting_in_powerbi/2020/04/24/timeseries-powerbi.html</a:t>
            </a:r>
            <a:r>
              <a:rPr lang="en-US" dirty="0"/>
              <a:t> - </a:t>
            </a:r>
          </a:p>
          <a:p>
            <a:pPr lvl="0"/>
            <a:r>
              <a:rPr lang="en-US" dirty="0"/>
              <a:t>   ... </a:t>
            </a:r>
            <a:r>
              <a:rPr lang="en-US" dirty="0">
                <a:hlinkClick r:id="rId9"/>
              </a:rPr>
              <a:t>https://pawarbi.github.io/blog/forecasting/python/powerbi/forecasting_in_powerbi/2020/04/24/timeseries-powerbi.html#ETS(AAN)</a:t>
            </a:r>
            <a:r>
              <a:rPr lang="en-US" dirty="0"/>
              <a:t> - </a:t>
            </a:r>
          </a:p>
          <a:p>
            <a:pPr lvl="0"/>
            <a:r>
              <a:rPr lang="en-US" sz="1100" dirty="0"/>
              <a:t> </a:t>
            </a:r>
            <a:endParaRPr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p:nvPr/>
        </p:nvSpPr>
        <p:spPr>
          <a:xfrm>
            <a:off x="-1" y="0"/>
            <a:ext cx="7284203" cy="71292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t>Forecasting using Facebook Prophet</a:t>
            </a:r>
            <a:endParaRPr sz="3000" b="1" dirty="0"/>
          </a:p>
        </p:txBody>
      </p:sp>
      <p:sp>
        <p:nvSpPr>
          <p:cNvPr id="141" name="Google Shape;141;p20"/>
          <p:cNvSpPr txBox="1"/>
          <p:nvPr/>
        </p:nvSpPr>
        <p:spPr>
          <a:xfrm>
            <a:off x="-2" y="671295"/>
            <a:ext cx="7919635" cy="618670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t>.. </a:t>
            </a:r>
            <a:r>
              <a:rPr lang="en-US" sz="1600" u="sng" dirty="0">
                <a:solidFill>
                  <a:schemeClr val="hlink"/>
                </a:solidFill>
                <a:hlinkClick r:id="rId3"/>
              </a:rPr>
              <a:t>https://github.com/facebook/prophet</a:t>
            </a:r>
            <a:r>
              <a:rPr lang="en-US" sz="1600" u="sng" dirty="0">
                <a:solidFill>
                  <a:schemeClr val="hlink"/>
                </a:solidFill>
              </a:rPr>
              <a:t> </a:t>
            </a:r>
            <a:r>
              <a:rPr lang="en-US" sz="1600" dirty="0"/>
              <a:t> - </a:t>
            </a:r>
          </a:p>
          <a:p>
            <a:pPr lvl="0"/>
            <a:r>
              <a:rPr lang="en-US" sz="1600" dirty="0"/>
              <a:t>.. </a:t>
            </a:r>
            <a:r>
              <a:rPr lang="en-US" sz="1600" dirty="0">
                <a:hlinkClick r:id="rId4"/>
              </a:rPr>
              <a:t>https://youtu.be/pOYAXv15r3A</a:t>
            </a:r>
            <a:r>
              <a:rPr lang="en-US" sz="1600" dirty="0"/>
              <a:t> - (video)</a:t>
            </a:r>
          </a:p>
          <a:p>
            <a:pPr lvl="0"/>
            <a:r>
              <a:rPr lang="en-US" sz="1600" dirty="0"/>
              <a:t>.. </a:t>
            </a:r>
            <a:r>
              <a:rPr lang="en-US" sz="1600" dirty="0">
                <a:hlinkClick r:id="rId5"/>
              </a:rPr>
              <a:t>https://facebook.github.io/prophet/docs/quick_start.html</a:t>
            </a:r>
            <a:r>
              <a:rPr lang="en-US" sz="1600" dirty="0"/>
              <a:t> - </a:t>
            </a:r>
          </a:p>
          <a:p>
            <a:pPr lvl="0"/>
            <a:r>
              <a:rPr lang="en-US" sz="1600" dirty="0"/>
              <a:t>.. </a:t>
            </a:r>
            <a:r>
              <a:rPr lang="en-US" sz="1600" dirty="0">
                <a:hlinkClick r:id="rId6"/>
              </a:rPr>
              <a:t>https://databricks.com/blog/2020/01/27/time-series-forecasting-prophet-spark.html</a:t>
            </a:r>
            <a:r>
              <a:rPr lang="en-US" sz="1600" dirty="0"/>
              <a:t> - </a:t>
            </a:r>
            <a:endParaRPr sz="1600" dirty="0"/>
          </a:p>
          <a:p>
            <a:pPr marL="0" lvl="0" indent="0" algn="l" rtl="0">
              <a:spcBef>
                <a:spcPts val="0"/>
              </a:spcBef>
              <a:spcAft>
                <a:spcPts val="0"/>
              </a:spcAft>
              <a:buNone/>
            </a:pPr>
            <a:r>
              <a:rPr lang="en-US" sz="2000" dirty="0">
                <a:solidFill>
                  <a:srgbClr val="24292E"/>
                </a:solidFill>
                <a:highlight>
                  <a:srgbClr val="FFFFFF"/>
                </a:highlight>
              </a:rPr>
              <a:t>.. Forecasting time series data based on an additive model where non-linear trends are fit with yearly, weekly, and daily seasonality, plus holiday effects.</a:t>
            </a:r>
          </a:p>
          <a:p>
            <a:pPr marL="0" lvl="0" indent="0" algn="l" rtl="0">
              <a:spcBef>
                <a:spcPts val="0"/>
              </a:spcBef>
              <a:spcAft>
                <a:spcPts val="0"/>
              </a:spcAft>
              <a:buNone/>
            </a:pPr>
            <a:r>
              <a:rPr lang="en-US" sz="2000" dirty="0">
                <a:solidFill>
                  <a:srgbClr val="24292E"/>
                </a:solidFill>
                <a:highlight>
                  <a:srgbClr val="FFFFFF"/>
                </a:highlight>
              </a:rPr>
              <a:t>.. It works best with time series that have strong seasonal effects and several seasons of historical data. </a:t>
            </a:r>
          </a:p>
          <a:p>
            <a:pPr marL="0" lvl="0" indent="0" algn="l" rtl="0">
              <a:spcBef>
                <a:spcPts val="0"/>
              </a:spcBef>
              <a:spcAft>
                <a:spcPts val="0"/>
              </a:spcAft>
              <a:buNone/>
            </a:pPr>
            <a:r>
              <a:rPr lang="en-US" sz="2000" dirty="0">
                <a:solidFill>
                  <a:srgbClr val="24292E"/>
                </a:solidFill>
                <a:highlight>
                  <a:srgbClr val="FFFFFF"/>
                </a:highlight>
              </a:rPr>
              <a:t>.. Prophet is robust to missing data and shifts in the trend, and typically handles outliers well.</a:t>
            </a:r>
          </a:p>
          <a:p>
            <a:pPr marL="0" lvl="0" indent="0" algn="l" rtl="0">
              <a:spcBef>
                <a:spcPts val="0"/>
              </a:spcBef>
              <a:spcAft>
                <a:spcPts val="0"/>
              </a:spcAft>
              <a:buNone/>
            </a:pPr>
            <a:endParaRPr lang="en-US" sz="2000" dirty="0">
              <a:solidFill>
                <a:srgbClr val="24292E"/>
              </a:solidFill>
              <a:highlight>
                <a:srgbClr val="FFFFFF"/>
              </a:highlight>
            </a:endParaRPr>
          </a:p>
          <a:p>
            <a:pPr marL="0" lvl="0" indent="0" algn="l" rtl="0">
              <a:spcBef>
                <a:spcPts val="0"/>
              </a:spcBef>
              <a:spcAft>
                <a:spcPts val="0"/>
              </a:spcAft>
              <a:buNone/>
            </a:pPr>
            <a:r>
              <a:rPr lang="en-US" sz="2800" b="1" dirty="0">
                <a:solidFill>
                  <a:srgbClr val="24292E"/>
                </a:solidFill>
                <a:highlight>
                  <a:srgbClr val="FFFFFF"/>
                </a:highlight>
              </a:rPr>
              <a:t>Neural Prophet</a:t>
            </a:r>
          </a:p>
          <a:p>
            <a:pPr lvl="0"/>
            <a:r>
              <a:rPr lang="en-US" sz="1600" dirty="0">
                <a:solidFill>
                  <a:srgbClr val="24292E"/>
                </a:solidFill>
              </a:rPr>
              <a:t>.. </a:t>
            </a:r>
            <a:r>
              <a:rPr lang="en-US" sz="1600" dirty="0">
                <a:solidFill>
                  <a:srgbClr val="24292E"/>
                </a:solidFill>
                <a:hlinkClick r:id="rId7"/>
              </a:rPr>
              <a:t>https://towardsdatascience.com/neural-prophet-a-time-series-modeling-library-based-on-neural-networks-dd02dc8d868d</a:t>
            </a:r>
            <a:r>
              <a:rPr lang="en-US" sz="1600" dirty="0">
                <a:solidFill>
                  <a:srgbClr val="24292E"/>
                </a:solidFill>
              </a:rPr>
              <a:t> - </a:t>
            </a:r>
            <a:endParaRPr lang="en-US" sz="1600" dirty="0">
              <a:solidFill>
                <a:srgbClr val="24292E"/>
              </a:solidFill>
              <a:highlight>
                <a:srgbClr val="FFFFFF"/>
              </a:highlight>
            </a:endParaRPr>
          </a:p>
          <a:p>
            <a:pPr lvl="0"/>
            <a:r>
              <a:rPr lang="en-US" sz="1600" dirty="0">
                <a:solidFill>
                  <a:srgbClr val="24292E"/>
                </a:solidFill>
              </a:rPr>
              <a:t>.. </a:t>
            </a:r>
            <a:r>
              <a:rPr lang="en-US" sz="1600" dirty="0">
                <a:solidFill>
                  <a:srgbClr val="24292E"/>
                </a:solidFill>
                <a:hlinkClick r:id="rId8"/>
              </a:rPr>
              <a:t>https://github.com/ourownstory/neural_prophet</a:t>
            </a:r>
            <a:r>
              <a:rPr lang="en-US" sz="1600" dirty="0">
                <a:solidFill>
                  <a:srgbClr val="24292E"/>
                </a:solidFill>
              </a:rPr>
              <a:t> - </a:t>
            </a:r>
          </a:p>
          <a:p>
            <a:pPr lvl="0"/>
            <a:r>
              <a:rPr lang="en-US" sz="2000" dirty="0">
                <a:solidFill>
                  <a:srgbClr val="24292E"/>
                </a:solidFill>
              </a:rPr>
              <a:t>.. Much faster than Prophet, uses </a:t>
            </a:r>
            <a:r>
              <a:rPr lang="en-US" sz="2000" dirty="0" err="1">
                <a:solidFill>
                  <a:srgbClr val="24292E"/>
                </a:solidFill>
              </a:rPr>
              <a:t>PyTorch</a:t>
            </a:r>
            <a:r>
              <a:rPr lang="en-US" sz="2000" dirty="0">
                <a:solidFill>
                  <a:srgbClr val="24292E"/>
                </a:solidFill>
              </a:rPr>
              <a:t> - </a:t>
            </a:r>
            <a:r>
              <a:rPr lang="en-US" sz="1600" dirty="0">
                <a:solidFill>
                  <a:srgbClr val="24292E"/>
                </a:solidFill>
                <a:hlinkClick r:id="rId9"/>
              </a:rPr>
              <a:t>https://pytorch.org/</a:t>
            </a:r>
            <a:r>
              <a:rPr lang="en-US" sz="2000" dirty="0">
                <a:solidFill>
                  <a:srgbClr val="24292E"/>
                </a:solidFill>
              </a:rPr>
              <a:t> , </a:t>
            </a:r>
            <a:br>
              <a:rPr lang="en-US" sz="2000" dirty="0">
                <a:solidFill>
                  <a:srgbClr val="24292E"/>
                </a:solidFill>
              </a:rPr>
            </a:br>
            <a:r>
              <a:rPr lang="en-US" sz="2000" dirty="0">
                <a:solidFill>
                  <a:srgbClr val="24292E"/>
                </a:solidFill>
              </a:rPr>
              <a:t>   uses AR-Net for modeling time-series autocorrelation</a:t>
            </a:r>
            <a:br>
              <a:rPr lang="en-US" dirty="0">
                <a:solidFill>
                  <a:srgbClr val="24292E"/>
                </a:solidFill>
              </a:rPr>
            </a:br>
            <a:r>
              <a:rPr lang="en-US" dirty="0">
                <a:solidFill>
                  <a:srgbClr val="24292E"/>
                </a:solidFill>
              </a:rPr>
              <a:t>    .. </a:t>
            </a:r>
            <a:r>
              <a:rPr lang="en-US" sz="1200" dirty="0">
                <a:solidFill>
                  <a:srgbClr val="24292E"/>
                </a:solidFill>
                <a:hlinkClick r:id="rId10"/>
              </a:rPr>
              <a:t>https://ai.facebook.com/blog/ar-net-a-simple-autoregressive-neural-network-for-time-series/</a:t>
            </a:r>
            <a:r>
              <a:rPr lang="en-US" sz="2000" dirty="0">
                <a:solidFill>
                  <a:srgbClr val="24292E"/>
                </a:solidFill>
              </a:rPr>
              <a:t> - </a:t>
            </a:r>
          </a:p>
          <a:p>
            <a:pPr lvl="0"/>
            <a:r>
              <a:rPr lang="en-US" sz="2000" dirty="0">
                <a:solidFill>
                  <a:srgbClr val="24292E"/>
                </a:solidFill>
              </a:rPr>
              <a:t>.. Custom losses and metrics, configurable non-linear layers of feed-forward neural networks, etc.</a:t>
            </a:r>
            <a:endParaRPr sz="2000" dirty="0">
              <a:solidFill>
                <a:srgbClr val="24292E"/>
              </a:solidFill>
              <a:highlight>
                <a:srgbClr val="FFFFFF"/>
              </a:highlight>
            </a:endParaRPr>
          </a:p>
          <a:p>
            <a:pPr marL="0" lvl="0" indent="0" algn="l" rtl="0">
              <a:spcBef>
                <a:spcPts val="0"/>
              </a:spcBef>
              <a:spcAft>
                <a:spcPts val="0"/>
              </a:spcAft>
              <a:buNone/>
            </a:pPr>
            <a:endParaRPr sz="2000" dirty="0"/>
          </a:p>
        </p:txBody>
      </p:sp>
      <p:sp>
        <p:nvSpPr>
          <p:cNvPr id="2" name="TextBox 1">
            <a:extLst>
              <a:ext uri="{FF2B5EF4-FFF2-40B4-BE49-F238E27FC236}">
                <a16:creationId xmlns:a16="http://schemas.microsoft.com/office/drawing/2014/main" id="{7C7DFBC6-F0D9-4143-8EE2-D04A0EE3363C}"/>
              </a:ext>
            </a:extLst>
          </p:cNvPr>
          <p:cNvSpPr txBox="1"/>
          <p:nvPr/>
        </p:nvSpPr>
        <p:spPr>
          <a:xfrm>
            <a:off x="8074616" y="3367550"/>
            <a:ext cx="4117383" cy="3416320"/>
          </a:xfrm>
          <a:prstGeom prst="rect">
            <a:avLst/>
          </a:prstGeom>
          <a:noFill/>
        </p:spPr>
        <p:txBody>
          <a:bodyPr wrap="square" rtlCol="0">
            <a:spAutoFit/>
          </a:bodyPr>
          <a:lstStyle/>
          <a:p>
            <a:r>
              <a:rPr lang="en-US" sz="1800" dirty="0"/>
              <a:t>The input to Prophet is always a </a:t>
            </a:r>
            <a:r>
              <a:rPr lang="en-US" sz="1800" dirty="0" err="1"/>
              <a:t>dataframe</a:t>
            </a:r>
            <a:r>
              <a:rPr lang="en-US" sz="1800" dirty="0"/>
              <a:t> with two columns: </a:t>
            </a:r>
            <a:r>
              <a:rPr lang="en-US" sz="1800" b="1" dirty="0">
                <a:solidFill>
                  <a:srgbClr val="FF0000"/>
                </a:solidFill>
              </a:rPr>
              <a:t>ds</a:t>
            </a:r>
            <a:r>
              <a:rPr lang="en-US" sz="1800" dirty="0"/>
              <a:t> and </a:t>
            </a:r>
            <a:r>
              <a:rPr lang="en-US" sz="1800" b="1" dirty="0">
                <a:solidFill>
                  <a:srgbClr val="FF0000"/>
                </a:solidFill>
              </a:rPr>
              <a:t>y</a:t>
            </a:r>
            <a:r>
              <a:rPr lang="en-US" sz="1800" dirty="0"/>
              <a:t>. </a:t>
            </a:r>
          </a:p>
          <a:p>
            <a:endParaRPr lang="en-US" sz="1800" dirty="0"/>
          </a:p>
          <a:p>
            <a:r>
              <a:rPr lang="en-US" sz="1800" dirty="0"/>
              <a:t>The </a:t>
            </a:r>
            <a:r>
              <a:rPr lang="en-US" sz="1800" b="1" dirty="0">
                <a:solidFill>
                  <a:srgbClr val="FF0000"/>
                </a:solidFill>
              </a:rPr>
              <a:t>ds</a:t>
            </a:r>
            <a:r>
              <a:rPr lang="en-US" sz="1800" dirty="0"/>
              <a:t> (</a:t>
            </a:r>
            <a:r>
              <a:rPr lang="en-US" sz="1800" dirty="0" err="1"/>
              <a:t>datestamp</a:t>
            </a:r>
            <a:r>
              <a:rPr lang="en-US" sz="1800" dirty="0"/>
              <a:t>) column should be of a format expected by Pandas, ideally </a:t>
            </a:r>
            <a:r>
              <a:rPr lang="en-US" sz="1800" b="1" dirty="0">
                <a:solidFill>
                  <a:srgbClr val="0070C0"/>
                </a:solidFill>
              </a:rPr>
              <a:t>YYYY-MM-DD</a:t>
            </a:r>
            <a:r>
              <a:rPr lang="en-US" sz="1800" dirty="0"/>
              <a:t> for a date or </a:t>
            </a:r>
            <a:r>
              <a:rPr lang="en-US" sz="1800" b="1" dirty="0">
                <a:solidFill>
                  <a:srgbClr val="0070C0"/>
                </a:solidFill>
              </a:rPr>
              <a:t>YYYY-MM-DD HH:MM:SS</a:t>
            </a:r>
            <a:r>
              <a:rPr lang="en-US" sz="1800" dirty="0"/>
              <a:t> for a timestamp. </a:t>
            </a:r>
          </a:p>
          <a:p>
            <a:endParaRPr lang="en-US" sz="1800" dirty="0"/>
          </a:p>
          <a:p>
            <a:r>
              <a:rPr lang="en-US" sz="1800" dirty="0"/>
              <a:t>The </a:t>
            </a:r>
            <a:r>
              <a:rPr lang="en-US" sz="1800" b="1" dirty="0">
                <a:solidFill>
                  <a:srgbClr val="FF0000"/>
                </a:solidFill>
              </a:rPr>
              <a:t>y</a:t>
            </a:r>
            <a:r>
              <a:rPr lang="en-US" sz="1800" dirty="0"/>
              <a:t> column must be numeric, </a:t>
            </a:r>
            <a:br>
              <a:rPr lang="en-US" sz="1800" dirty="0"/>
            </a:br>
            <a:r>
              <a:rPr lang="en-US" sz="1800" dirty="0"/>
              <a:t>and represents the measurement we wish to forecast.</a:t>
            </a:r>
          </a:p>
        </p:txBody>
      </p:sp>
      <p:pic>
        <p:nvPicPr>
          <p:cNvPr id="2052" name="Picture 4">
            <a:extLst>
              <a:ext uri="{FF2B5EF4-FFF2-40B4-BE49-F238E27FC236}">
                <a16:creationId xmlns:a16="http://schemas.microsoft.com/office/drawing/2014/main" id="{A041AD6D-A1C8-2749-A819-6018FC2A4B4C}"/>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8337651" y="74130"/>
            <a:ext cx="3854350" cy="231261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4ED66B3-DDD7-9546-81AF-02491A174D48}"/>
              </a:ext>
            </a:extLst>
          </p:cNvPr>
          <p:cNvSpPr txBox="1"/>
          <p:nvPr/>
        </p:nvSpPr>
        <p:spPr>
          <a:xfrm>
            <a:off x="8337650" y="2386740"/>
            <a:ext cx="3854350" cy="923330"/>
          </a:xfrm>
          <a:prstGeom prst="rect">
            <a:avLst/>
          </a:prstGeom>
          <a:noFill/>
        </p:spPr>
        <p:txBody>
          <a:bodyPr wrap="square" rtlCol="0">
            <a:spAutoFit/>
          </a:bodyPr>
          <a:lstStyle/>
          <a:p>
            <a:r>
              <a:rPr lang="en-US" sz="1800" dirty="0">
                <a:solidFill>
                  <a:srgbClr val="0070C0"/>
                </a:solidFill>
              </a:rPr>
              <a:t>black dots - actuals</a:t>
            </a:r>
          </a:p>
          <a:p>
            <a:r>
              <a:rPr lang="en-US" sz="1800" dirty="0">
                <a:solidFill>
                  <a:srgbClr val="0070C0"/>
                </a:solidFill>
              </a:rPr>
              <a:t>dark blue - predictions</a:t>
            </a:r>
          </a:p>
          <a:p>
            <a:r>
              <a:rPr lang="en-US" sz="1800" dirty="0">
                <a:solidFill>
                  <a:srgbClr val="0070C0"/>
                </a:solidFill>
              </a:rPr>
              <a:t>light blue - 95% uncertainty intervals</a:t>
            </a:r>
          </a:p>
        </p:txBody>
      </p:sp>
    </p:spTree>
    <p:extLst>
      <p:ext uri="{BB962C8B-B14F-4D97-AF65-F5344CB8AC3E}">
        <p14:creationId xmlns:p14="http://schemas.microsoft.com/office/powerpoint/2010/main" val="2650307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p:nvPr/>
        </p:nvSpPr>
        <p:spPr>
          <a:xfrm>
            <a:off x="123986" y="108488"/>
            <a:ext cx="7597613" cy="108531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t>Forecasting Using Azure </a:t>
            </a:r>
            <a:r>
              <a:rPr lang="en-US" sz="3000" b="1" dirty="0" err="1"/>
              <a:t>AutoML</a:t>
            </a:r>
            <a:endParaRPr lang="en-US" sz="3000" b="1" dirty="0"/>
          </a:p>
          <a:p>
            <a:pPr marL="0" lvl="0" indent="0" algn="l" rtl="0">
              <a:spcBef>
                <a:spcPts val="0"/>
              </a:spcBef>
              <a:spcAft>
                <a:spcPts val="0"/>
              </a:spcAft>
              <a:buNone/>
            </a:pPr>
            <a:r>
              <a:rPr lang="en-US" sz="3000" b="1" dirty="0"/>
              <a:t>or MSFT Time Series in SQL Server</a:t>
            </a:r>
            <a:endParaRPr sz="3000" b="1" dirty="0"/>
          </a:p>
        </p:txBody>
      </p:sp>
      <p:sp>
        <p:nvSpPr>
          <p:cNvPr id="2" name="Rectangle 1">
            <a:extLst>
              <a:ext uri="{FF2B5EF4-FFF2-40B4-BE49-F238E27FC236}">
                <a16:creationId xmlns:a16="http://schemas.microsoft.com/office/drawing/2014/main" id="{A8AA0AC0-69A1-414A-B5D0-966256CDCD28}"/>
              </a:ext>
            </a:extLst>
          </p:cNvPr>
          <p:cNvSpPr/>
          <p:nvPr/>
        </p:nvSpPr>
        <p:spPr>
          <a:xfrm>
            <a:off x="428787" y="1360342"/>
            <a:ext cx="6096000" cy="1815882"/>
          </a:xfrm>
          <a:prstGeom prst="rect">
            <a:avLst/>
          </a:prstGeom>
        </p:spPr>
        <p:txBody>
          <a:bodyPr>
            <a:spAutoFit/>
          </a:bodyPr>
          <a:lstStyle/>
          <a:p>
            <a:r>
              <a:rPr lang="en-US" dirty="0" err="1"/>
              <a:t>AutoML</a:t>
            </a:r>
            <a:r>
              <a:rPr lang="en-US" dirty="0"/>
              <a:t> Wizard - </a:t>
            </a:r>
            <a:r>
              <a:rPr lang="en-US" dirty="0">
                <a:hlinkClick r:id="rId3" tooltip="https://docs.microsoft.com/en-us/azure/synapse-analytics/machine-learning/tutorial-automl"/>
              </a:rPr>
              <a:t>https://docs.microsoft.com/en-us/azure/synapse-analytics/machine-learning/tutorial-automl</a:t>
            </a:r>
            <a:r>
              <a:rPr lang="en-US" dirty="0"/>
              <a:t> </a:t>
            </a:r>
          </a:p>
          <a:p>
            <a:endParaRPr lang="en-US" dirty="0"/>
          </a:p>
          <a:p>
            <a:endParaRPr lang="en-US" dirty="0"/>
          </a:p>
          <a:p>
            <a:r>
              <a:rPr lang="en-US" dirty="0"/>
              <a:t>Microsoft Time Series in SQL Server</a:t>
            </a:r>
          </a:p>
          <a:p>
            <a:r>
              <a:rPr lang="en-US" dirty="0"/>
              <a:t> - </a:t>
            </a:r>
            <a:r>
              <a:rPr lang="en-US" dirty="0">
                <a:hlinkClick r:id="rId4"/>
              </a:rPr>
              <a:t>https://www.sqlshack.com/microsoft-time-series-in-sql-server/</a:t>
            </a:r>
            <a:endParaRPr lang="en-US" dirty="0"/>
          </a:p>
          <a:p>
            <a:endParaRPr lang="en-US" dirty="0"/>
          </a:p>
          <a:p>
            <a:endParaRPr lang="en-US" dirty="0"/>
          </a:p>
        </p:txBody>
      </p:sp>
      <p:pic>
        <p:nvPicPr>
          <p:cNvPr id="3" name="Picture 2">
            <a:extLst>
              <a:ext uri="{FF2B5EF4-FFF2-40B4-BE49-F238E27FC236}">
                <a16:creationId xmlns:a16="http://schemas.microsoft.com/office/drawing/2014/main" id="{F2557A33-66CA-4A47-925B-DE365334535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412470" y="126002"/>
            <a:ext cx="4655543" cy="4318998"/>
          </a:xfrm>
          <a:prstGeom prst="rect">
            <a:avLst/>
          </a:prstGeom>
        </p:spPr>
      </p:pic>
      <p:pic>
        <p:nvPicPr>
          <p:cNvPr id="4" name="Picture 3">
            <a:extLst>
              <a:ext uri="{FF2B5EF4-FFF2-40B4-BE49-F238E27FC236}">
                <a16:creationId xmlns:a16="http://schemas.microsoft.com/office/drawing/2014/main" id="{BD4AA27C-2E22-2548-B170-B1D8A8578C43}"/>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23987" y="3176224"/>
            <a:ext cx="4536749" cy="3479800"/>
          </a:xfrm>
          <a:prstGeom prst="rect">
            <a:avLst/>
          </a:prstGeom>
        </p:spPr>
      </p:pic>
      <p:sp>
        <p:nvSpPr>
          <p:cNvPr id="5" name="Right Arrow 4">
            <a:extLst>
              <a:ext uri="{FF2B5EF4-FFF2-40B4-BE49-F238E27FC236}">
                <a16:creationId xmlns:a16="http://schemas.microsoft.com/office/drawing/2014/main" id="{9CD268FB-2EF2-2E4E-A3C0-11D85635191E}"/>
              </a:ext>
            </a:extLst>
          </p:cNvPr>
          <p:cNvSpPr/>
          <p:nvPr/>
        </p:nvSpPr>
        <p:spPr>
          <a:xfrm rot="20251039">
            <a:off x="6553973" y="4149397"/>
            <a:ext cx="824524" cy="3165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753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p:nvPr/>
        </p:nvSpPr>
        <p:spPr>
          <a:xfrm>
            <a:off x="123987" y="108488"/>
            <a:ext cx="6524786" cy="74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t>Model Quality Evaluation</a:t>
            </a:r>
            <a:endParaRPr sz="3000" b="1" dirty="0"/>
          </a:p>
        </p:txBody>
      </p:sp>
      <p:sp>
        <p:nvSpPr>
          <p:cNvPr id="2" name="Rectangle 1">
            <a:extLst>
              <a:ext uri="{FF2B5EF4-FFF2-40B4-BE49-F238E27FC236}">
                <a16:creationId xmlns:a16="http://schemas.microsoft.com/office/drawing/2014/main" id="{A8AA0AC0-69A1-414A-B5D0-966256CDCD28}"/>
              </a:ext>
            </a:extLst>
          </p:cNvPr>
          <p:cNvSpPr/>
          <p:nvPr/>
        </p:nvSpPr>
        <p:spPr>
          <a:xfrm>
            <a:off x="123986" y="1106115"/>
            <a:ext cx="6137329" cy="707886"/>
          </a:xfrm>
          <a:prstGeom prst="rect">
            <a:avLst/>
          </a:prstGeom>
        </p:spPr>
        <p:txBody>
          <a:bodyPr wrap="square">
            <a:spAutoFit/>
          </a:bodyPr>
          <a:lstStyle/>
          <a:p>
            <a:r>
              <a:rPr lang="en-US" sz="2000" dirty="0">
                <a:latin typeface="+mn-lt"/>
              </a:rPr>
              <a:t>How to Calculate Forecast Accuracy</a:t>
            </a:r>
            <a:r>
              <a:rPr lang="en-US" sz="2000" dirty="0">
                <a:solidFill>
                  <a:schemeClr val="dk1"/>
                </a:solidFill>
                <a:latin typeface="+mn-lt"/>
                <a:ea typeface="Calibri"/>
                <a:cs typeface="Calibri"/>
                <a:sym typeface="Calibri"/>
              </a:rPr>
              <a:t>:</a:t>
            </a:r>
            <a:br>
              <a:rPr lang="en-US" dirty="0">
                <a:solidFill>
                  <a:schemeClr val="dk1"/>
                </a:solidFill>
                <a:latin typeface="+mn-lt"/>
                <a:ea typeface="Calibri"/>
                <a:cs typeface="Calibri"/>
                <a:sym typeface="Calibri"/>
              </a:rPr>
            </a:br>
            <a:r>
              <a:rPr lang="en-US" dirty="0">
                <a:solidFill>
                  <a:schemeClr val="dk1"/>
                </a:solidFill>
                <a:latin typeface="+mn-lt"/>
                <a:ea typeface="Calibri"/>
                <a:cs typeface="Calibri"/>
                <a:sym typeface="Calibri"/>
              </a:rPr>
              <a:t> </a:t>
            </a:r>
            <a:r>
              <a:rPr lang="en-US" u="sng" dirty="0">
                <a:solidFill>
                  <a:schemeClr val="hlink"/>
                </a:solidFill>
                <a:latin typeface="+mn-lt"/>
                <a:ea typeface="Calibri"/>
                <a:cs typeface="Calibri"/>
                <a:sym typeface="Calibri"/>
                <a:hlinkClick r:id="rId3"/>
              </a:rPr>
              <a:t>https://www.callcentrehelper.com/calculate-forecast-accuracy-113808.htm</a:t>
            </a:r>
            <a:r>
              <a:rPr lang="en-US" sz="2000" dirty="0">
                <a:solidFill>
                  <a:schemeClr val="dk1"/>
                </a:solidFill>
                <a:latin typeface="+mn-lt"/>
                <a:ea typeface="Calibri"/>
                <a:cs typeface="Calibri"/>
                <a:sym typeface="Calibri"/>
              </a:rPr>
              <a:t> </a:t>
            </a:r>
            <a:endParaRPr lang="en-US" sz="2000" dirty="0">
              <a:latin typeface="+mn-lt"/>
            </a:endParaRPr>
          </a:p>
        </p:txBody>
      </p:sp>
      <p:pic>
        <p:nvPicPr>
          <p:cNvPr id="3078" name="Picture 6" descr="Mape Equation Photos Download JPG, PNG, GIF, RAW, TIFF, PSD, PDF and Watch  Online">
            <a:extLst>
              <a:ext uri="{FF2B5EF4-FFF2-40B4-BE49-F238E27FC236}">
                <a16:creationId xmlns:a16="http://schemas.microsoft.com/office/drawing/2014/main" id="{1A861CB4-0D6A-7345-858B-C8E9BB6812EE}"/>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754519" y="2197083"/>
            <a:ext cx="3276600" cy="30099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Measuring Forecast Accuracy: The Complete Guide | RELEX Solutions">
            <a:extLst>
              <a:ext uri="{FF2B5EF4-FFF2-40B4-BE49-F238E27FC236}">
                <a16:creationId xmlns:a16="http://schemas.microsoft.com/office/drawing/2014/main" id="{50C2D2AC-839E-8D42-BCC0-95D483387428}"/>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l="22786" t="28327" b="7593"/>
          <a:stretch/>
        </p:blipFill>
        <p:spPr bwMode="auto">
          <a:xfrm>
            <a:off x="7800922" y="422069"/>
            <a:ext cx="4267091" cy="205624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F3BE338-6E7B-A347-9277-0B5D1345872A}"/>
              </a:ext>
            </a:extLst>
          </p:cNvPr>
          <p:cNvSpPr txBox="1"/>
          <p:nvPr/>
        </p:nvSpPr>
        <p:spPr>
          <a:xfrm>
            <a:off x="123986" y="2732537"/>
            <a:ext cx="4016214" cy="1938992"/>
          </a:xfrm>
          <a:prstGeom prst="rect">
            <a:avLst/>
          </a:prstGeom>
          <a:noFill/>
        </p:spPr>
        <p:txBody>
          <a:bodyPr wrap="square" rtlCol="0">
            <a:spAutoFit/>
          </a:bodyPr>
          <a:lstStyle/>
          <a:p>
            <a:r>
              <a:rPr lang="en-US" sz="2000" dirty="0"/>
              <a:t>Mean Squared Error</a:t>
            </a:r>
          </a:p>
          <a:p>
            <a:endParaRPr lang="en-US" sz="2000" dirty="0"/>
          </a:p>
          <a:p>
            <a:endParaRPr lang="en-US" sz="2000" dirty="0"/>
          </a:p>
          <a:p>
            <a:endParaRPr lang="en-US" sz="2000" dirty="0"/>
          </a:p>
          <a:p>
            <a:endParaRPr lang="en-US" sz="2000" dirty="0"/>
          </a:p>
          <a:p>
            <a:r>
              <a:rPr lang="en-US" sz="2000" dirty="0"/>
              <a:t>Mean Absolute Percentage Error</a:t>
            </a:r>
          </a:p>
        </p:txBody>
      </p:sp>
      <p:pic>
        <p:nvPicPr>
          <p:cNvPr id="3082" name="Picture 10" descr="Statistical Forecast Errors">
            <a:extLst>
              <a:ext uri="{FF2B5EF4-FFF2-40B4-BE49-F238E27FC236}">
                <a16:creationId xmlns:a16="http://schemas.microsoft.com/office/drawing/2014/main" id="{8A4215F6-B861-4249-96BF-C6357C9BB823}"/>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092915" y="5473155"/>
            <a:ext cx="4962497" cy="96277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E783D0A-462A-884F-9F86-01A8F99E2BAB}"/>
              </a:ext>
            </a:extLst>
          </p:cNvPr>
          <p:cNvSpPr txBox="1"/>
          <p:nvPr/>
        </p:nvSpPr>
        <p:spPr>
          <a:xfrm>
            <a:off x="3982097" y="5666265"/>
            <a:ext cx="1273014" cy="400110"/>
          </a:xfrm>
          <a:prstGeom prst="rect">
            <a:avLst/>
          </a:prstGeom>
          <a:noFill/>
        </p:spPr>
        <p:txBody>
          <a:bodyPr wrap="square" rtlCol="0">
            <a:spAutoFit/>
          </a:bodyPr>
          <a:lstStyle/>
          <a:p>
            <a:r>
              <a:rPr lang="en-US" sz="2000" dirty="0"/>
              <a:t>MAPE = </a:t>
            </a:r>
          </a:p>
        </p:txBody>
      </p:sp>
    </p:spTree>
    <p:extLst>
      <p:ext uri="{BB962C8B-B14F-4D97-AF65-F5344CB8AC3E}">
        <p14:creationId xmlns:p14="http://schemas.microsoft.com/office/powerpoint/2010/main" val="765944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E680AC-2D65-9142-91DD-4A19F8E85DC3}"/>
              </a:ext>
            </a:extLst>
          </p:cNvPr>
          <p:cNvSpPr txBox="1"/>
          <p:nvPr/>
        </p:nvSpPr>
        <p:spPr>
          <a:xfrm>
            <a:off x="3101008" y="2890391"/>
            <a:ext cx="5764696" cy="1077218"/>
          </a:xfrm>
          <a:prstGeom prst="rect">
            <a:avLst/>
          </a:prstGeom>
          <a:noFill/>
        </p:spPr>
        <p:txBody>
          <a:bodyPr wrap="square" rtlCol="0">
            <a:spAutoFit/>
          </a:bodyPr>
          <a:lstStyle/>
          <a:p>
            <a:pPr algn="ctr"/>
            <a:r>
              <a:rPr lang="en-US" sz="3200" b="1" dirty="0">
                <a:solidFill>
                  <a:srgbClr val="0070C0"/>
                </a:solidFill>
              </a:rPr>
              <a:t>More Details about different forecasting models</a:t>
            </a:r>
          </a:p>
        </p:txBody>
      </p:sp>
    </p:spTree>
    <p:extLst>
      <p:ext uri="{BB962C8B-B14F-4D97-AF65-F5344CB8AC3E}">
        <p14:creationId xmlns:p14="http://schemas.microsoft.com/office/powerpoint/2010/main" val="1493948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p:nvPr/>
        </p:nvSpPr>
        <p:spPr>
          <a:xfrm>
            <a:off x="0" y="0"/>
            <a:ext cx="6778171" cy="28464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Exponential Smoothing</a:t>
            </a:r>
            <a:endParaRPr lang="en-US" dirty="0">
              <a:solidFill>
                <a:schemeClr val="dk1"/>
              </a:solidFill>
              <a:latin typeface="Calibri"/>
              <a:ea typeface="Calibri"/>
              <a:cs typeface="Calibri"/>
              <a:sym typeface="Calibri"/>
            </a:endParaRPr>
          </a:p>
          <a:p>
            <a:r>
              <a:rPr lang="en-US" b="1" dirty="0">
                <a:solidFill>
                  <a:srgbClr val="0000FF"/>
                </a:solidFill>
                <a:latin typeface="Calibri"/>
                <a:ea typeface="Calibri"/>
                <a:cs typeface="Calibri"/>
                <a:sym typeface="Calibri"/>
              </a:rPr>
              <a:t>Exponential Smoothing</a:t>
            </a:r>
            <a:r>
              <a:rPr lang="en-US" dirty="0">
                <a:solidFill>
                  <a:schemeClr val="dk1"/>
                </a:solidFill>
                <a:latin typeface="Calibri"/>
                <a:ea typeface="Calibri"/>
                <a:cs typeface="Calibri"/>
                <a:sym typeface="Calibri"/>
              </a:rPr>
              <a:t> - a weighted moving average, </a:t>
            </a:r>
          </a:p>
          <a:p>
            <a:r>
              <a:rPr lang="en-US" dirty="0">
                <a:solidFill>
                  <a:schemeClr val="dk1"/>
                </a:solidFill>
                <a:latin typeface="Calibri"/>
                <a:ea typeface="Calibri"/>
                <a:cs typeface="Calibri"/>
                <a:sym typeface="Calibri"/>
              </a:rPr>
              <a:t>where weights decline exponentially for older events.</a:t>
            </a:r>
          </a:p>
          <a:p>
            <a:r>
              <a:rPr lang="en-US" dirty="0">
                <a:solidFill>
                  <a:schemeClr val="dk1"/>
                </a:solidFill>
                <a:latin typeface="Calibri"/>
                <a:ea typeface="Calibri"/>
                <a:cs typeface="Calibri"/>
                <a:sym typeface="Calibri"/>
              </a:rPr>
              <a:t>If x(t) is real time series, then we construct forecast f(t)</a:t>
            </a:r>
          </a:p>
          <a:p>
            <a:r>
              <a:rPr lang="en-US" dirty="0">
                <a:solidFill>
                  <a:schemeClr val="dk1"/>
                </a:solidFill>
                <a:latin typeface="Calibri"/>
                <a:ea typeface="Calibri"/>
                <a:cs typeface="Calibri"/>
                <a:sym typeface="Calibri"/>
              </a:rPr>
              <a:t>step by step using formula:</a:t>
            </a:r>
          </a:p>
          <a:p>
            <a:endParaRPr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    f</a:t>
            </a:r>
            <a:r>
              <a:rPr lang="en-US" sz="2000" baseline="-25000" dirty="0">
                <a:solidFill>
                  <a:schemeClr val="dk1"/>
                </a:solidFill>
                <a:latin typeface="Calibri"/>
                <a:ea typeface="Calibri"/>
                <a:cs typeface="Calibri"/>
                <a:sym typeface="Calibri"/>
              </a:rPr>
              <a:t>t+1</a:t>
            </a:r>
            <a:r>
              <a:rPr lang="en-US" sz="2000" dirty="0">
                <a:solidFill>
                  <a:schemeClr val="dk1"/>
                </a:solidFill>
                <a:latin typeface="Calibri"/>
                <a:ea typeface="Calibri"/>
                <a:cs typeface="Calibri"/>
                <a:sym typeface="Calibri"/>
              </a:rPr>
              <a:t> = a*</a:t>
            </a:r>
            <a:r>
              <a:rPr lang="en-US" sz="2000" dirty="0" err="1">
                <a:solidFill>
                  <a:schemeClr val="dk1"/>
                </a:solidFill>
                <a:latin typeface="Calibri"/>
                <a:ea typeface="Calibri"/>
                <a:cs typeface="Calibri"/>
                <a:sym typeface="Calibri"/>
              </a:rPr>
              <a:t>x</a:t>
            </a:r>
            <a:r>
              <a:rPr lang="en-US" sz="2000" baseline="-25000" dirty="0" err="1">
                <a:solidFill>
                  <a:schemeClr val="dk1"/>
                </a:solidFill>
                <a:latin typeface="Calibri"/>
                <a:ea typeface="Calibri"/>
                <a:cs typeface="Calibri"/>
                <a:sym typeface="Calibri"/>
              </a:rPr>
              <a:t>t</a:t>
            </a:r>
            <a:r>
              <a:rPr lang="en-US" sz="2000" dirty="0">
                <a:solidFill>
                  <a:schemeClr val="dk1"/>
                </a:solidFill>
                <a:latin typeface="Calibri"/>
                <a:ea typeface="Calibri"/>
                <a:cs typeface="Calibri"/>
                <a:sym typeface="Calibri"/>
              </a:rPr>
              <a:t> + (1-a)*f</a:t>
            </a:r>
            <a:r>
              <a:rPr lang="en-US" sz="2000" baseline="-25000" dirty="0">
                <a:solidFill>
                  <a:schemeClr val="dk1"/>
                </a:solidFill>
                <a:latin typeface="Calibri"/>
                <a:ea typeface="Calibri"/>
                <a:cs typeface="Calibri"/>
                <a:sym typeface="Calibri"/>
              </a:rPr>
              <a:t>t </a:t>
            </a:r>
            <a:r>
              <a:rPr lang="en-US" dirty="0">
                <a:solidFill>
                  <a:schemeClr val="dk1"/>
                </a:solidFill>
                <a:latin typeface="Calibri"/>
                <a:ea typeface="Calibri"/>
                <a:cs typeface="Calibri"/>
                <a:sym typeface="Calibri"/>
              </a:rPr>
              <a:t>   </a:t>
            </a:r>
          </a:p>
          <a:p>
            <a:pPr marL="0" marR="0" lvl="0" indent="0" algn="l" rtl="0">
              <a:spcBef>
                <a:spcPts val="0"/>
              </a:spcBef>
              <a:spcAft>
                <a:spcPts val="0"/>
              </a:spcAft>
              <a:buNone/>
            </a:pPr>
            <a:endParaRPr lang="en-US"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We initiate f</a:t>
            </a:r>
            <a:r>
              <a:rPr lang="en-US" baseline="-25000" dirty="0">
                <a:solidFill>
                  <a:schemeClr val="dk1"/>
                </a:solidFill>
                <a:latin typeface="Calibri"/>
                <a:ea typeface="Calibri"/>
                <a:cs typeface="Calibri"/>
                <a:sym typeface="Calibri"/>
              </a:rPr>
              <a:t>0</a:t>
            </a:r>
            <a:r>
              <a:rPr lang="en-US" dirty="0">
                <a:solidFill>
                  <a:schemeClr val="dk1"/>
                </a:solidFill>
                <a:latin typeface="Calibri"/>
                <a:ea typeface="Calibri"/>
                <a:cs typeface="Calibri"/>
                <a:sym typeface="Calibri"/>
              </a:rPr>
              <a:t> as an average of first several points. </a:t>
            </a:r>
          </a:p>
          <a:p>
            <a:pPr marL="0" marR="0" lvl="0" indent="0" algn="l" rtl="0">
              <a:spcBef>
                <a:spcPts val="0"/>
              </a:spcBef>
              <a:spcAft>
                <a:spcPts val="0"/>
              </a:spcAft>
              <a:buNone/>
            </a:pPr>
            <a:r>
              <a:rPr lang="en-US" dirty="0">
                <a:solidFill>
                  <a:schemeClr val="dk1"/>
                </a:solidFill>
                <a:latin typeface="Calibri"/>
                <a:ea typeface="Calibri"/>
                <a:cs typeface="Calibri"/>
                <a:sym typeface="Calibri"/>
              </a:rPr>
              <a:t>For future points (once we out of historical period) we simply extrapolate last value into the future.</a:t>
            </a:r>
          </a:p>
          <a:p>
            <a:pPr marL="0" marR="0" lvl="0" indent="0" algn="l" rtl="0">
              <a:spcBef>
                <a:spcPts val="0"/>
              </a:spcBef>
              <a:spcAft>
                <a:spcPts val="0"/>
              </a:spcAft>
              <a:buNone/>
            </a:pPr>
            <a:endParaRPr lang="en-US" sz="2000" baseline="-25000" dirty="0">
              <a:solidFill>
                <a:schemeClr val="dk1"/>
              </a:solidFill>
              <a:latin typeface="Calibri"/>
              <a:ea typeface="Calibri"/>
              <a:cs typeface="Calibri"/>
              <a:sym typeface="Calibri"/>
            </a:endParaRPr>
          </a:p>
          <a:p>
            <a:pPr marL="0" marR="0" lvl="0" indent="0" algn="l" rtl="0">
              <a:spcBef>
                <a:spcPts val="0"/>
              </a:spcBef>
              <a:spcAft>
                <a:spcPts val="0"/>
              </a:spcAft>
              <a:buNone/>
            </a:pPr>
            <a:endParaRPr lang="en-US" sz="2000" baseline="-25000" dirty="0">
              <a:solidFill>
                <a:schemeClr val="dk1"/>
              </a:solidFill>
              <a:latin typeface="Calibri"/>
              <a:ea typeface="Calibri"/>
              <a:cs typeface="Calibri"/>
              <a:sym typeface="Calibri"/>
            </a:endParaRPr>
          </a:p>
        </p:txBody>
      </p:sp>
      <p:pic>
        <p:nvPicPr>
          <p:cNvPr id="129" name="Google Shape;129;p18"/>
          <p:cNvPicPr preferRelativeResize="0"/>
          <p:nvPr/>
        </p:nvPicPr>
        <p:blipFill rotWithShape="1">
          <a:blip r:embed="rId3" cstate="email">
            <a:alphaModFix/>
            <a:extLst>
              <a:ext uri="{28A0092B-C50C-407E-A947-70E740481C1C}">
                <a14:useLocalDpi xmlns:a14="http://schemas.microsoft.com/office/drawing/2010/main"/>
              </a:ext>
            </a:extLst>
          </a:blip>
          <a:srcRect t="12175"/>
          <a:stretch/>
        </p:blipFill>
        <p:spPr>
          <a:xfrm>
            <a:off x="7165227" y="1056262"/>
            <a:ext cx="4343400" cy="1790177"/>
          </a:xfrm>
          <a:prstGeom prst="rect">
            <a:avLst/>
          </a:prstGeom>
          <a:noFill/>
          <a:ln>
            <a:noFill/>
          </a:ln>
        </p:spPr>
      </p:pic>
      <p:pic>
        <p:nvPicPr>
          <p:cNvPr id="1026" name="Picture 2" descr="Image for post">
            <a:extLst>
              <a:ext uri="{FF2B5EF4-FFF2-40B4-BE49-F238E27FC236}">
                <a16:creationId xmlns:a16="http://schemas.microsoft.com/office/drawing/2014/main" id="{D4D2EF01-C6EF-E54E-86C9-14DDAC47CBB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26174" y="3870884"/>
            <a:ext cx="4826472" cy="221778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FC961FE-A4E4-2C4A-8106-1500FF1E73F4}"/>
              </a:ext>
            </a:extLst>
          </p:cNvPr>
          <p:cNvSpPr txBox="1"/>
          <p:nvPr/>
        </p:nvSpPr>
        <p:spPr>
          <a:xfrm>
            <a:off x="6563204" y="3813057"/>
            <a:ext cx="5169877" cy="954107"/>
          </a:xfrm>
          <a:prstGeom prst="rect">
            <a:avLst/>
          </a:prstGeom>
          <a:noFill/>
        </p:spPr>
        <p:txBody>
          <a:bodyPr wrap="square" rtlCol="0">
            <a:spAutoFit/>
          </a:bodyPr>
          <a:lstStyle/>
          <a:p>
            <a:r>
              <a:rPr lang="en-US" dirty="0"/>
              <a:t>Limitations of simple exponential smoothing model:</a:t>
            </a:r>
          </a:p>
          <a:p>
            <a:pPr marL="285750" indent="-285750">
              <a:buFont typeface="Arial" panose="020B0604020202020204" pitchFamily="34" charset="0"/>
              <a:buChar char="•"/>
            </a:pPr>
            <a:r>
              <a:rPr lang="en-US" dirty="0"/>
              <a:t>it does not project trends</a:t>
            </a:r>
          </a:p>
          <a:p>
            <a:pPr marL="285750" indent="-285750">
              <a:buFont typeface="Arial" panose="020B0604020202020204" pitchFamily="34" charset="0"/>
              <a:buChar char="•"/>
            </a:pPr>
            <a:r>
              <a:rPr lang="en-US" dirty="0"/>
              <a:t>it does not recognize seasonal patterns </a:t>
            </a:r>
          </a:p>
          <a:p>
            <a:pPr marL="285750" indent="-285750">
              <a:buFont typeface="Arial" panose="020B0604020202020204" pitchFamily="34" charset="0"/>
              <a:buChar char="•"/>
            </a:pPr>
            <a:r>
              <a:rPr lang="en-US" dirty="0"/>
              <a:t>it cannot use any external information</a:t>
            </a:r>
          </a:p>
        </p:txBody>
      </p:sp>
      <p:sp>
        <p:nvSpPr>
          <p:cNvPr id="3" name="TextBox 2">
            <a:extLst>
              <a:ext uri="{FF2B5EF4-FFF2-40B4-BE49-F238E27FC236}">
                <a16:creationId xmlns:a16="http://schemas.microsoft.com/office/drawing/2014/main" id="{1DAB3B11-06C9-174F-95A3-DD401CCCC3F1}"/>
              </a:ext>
            </a:extLst>
          </p:cNvPr>
          <p:cNvSpPr txBox="1"/>
          <p:nvPr/>
        </p:nvSpPr>
        <p:spPr>
          <a:xfrm>
            <a:off x="6330461" y="5590981"/>
            <a:ext cx="5635365" cy="830997"/>
          </a:xfrm>
          <a:prstGeom prst="rect">
            <a:avLst/>
          </a:prstGeom>
          <a:noFill/>
        </p:spPr>
        <p:txBody>
          <a:bodyPr wrap="square" rtlCol="0">
            <a:spAutoFit/>
          </a:bodyPr>
          <a:lstStyle/>
          <a:p>
            <a:r>
              <a:rPr lang="en-US" dirty="0"/>
              <a:t>Good simple explanations by Nicolas </a:t>
            </a:r>
            <a:r>
              <a:rPr lang="en-US" dirty="0" err="1"/>
              <a:t>Vandeput</a:t>
            </a:r>
            <a:r>
              <a:rPr lang="en-US" dirty="0"/>
              <a:t>:</a:t>
            </a:r>
          </a:p>
          <a:p>
            <a:r>
              <a:rPr lang="en-US" sz="1000" dirty="0"/>
              <a:t>.. </a:t>
            </a:r>
            <a:r>
              <a:rPr lang="en-US" sz="1000" dirty="0">
                <a:hlinkClick r:id="rId5"/>
              </a:rPr>
              <a:t>https://towardsdatascience.com/simple-exponential-smoothing-749fc5631bed</a:t>
            </a:r>
            <a:endParaRPr lang="en-US" sz="1000" dirty="0"/>
          </a:p>
          <a:p>
            <a:r>
              <a:rPr lang="en-US" dirty="0"/>
              <a:t>Python code:</a:t>
            </a:r>
          </a:p>
          <a:p>
            <a:r>
              <a:rPr lang="en-US" sz="1000" dirty="0"/>
              <a:t>.. </a:t>
            </a:r>
            <a:r>
              <a:rPr lang="en-US" sz="1000" dirty="0">
                <a:hlinkClick r:id="rId6"/>
              </a:rPr>
              <a:t>https://towardsdatascience.com/diy-simple-exponential-smoothing-with-python-dbb570d30fb5</a:t>
            </a:r>
            <a:r>
              <a:rPr lang="en-US" sz="1000"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p:nvPr/>
        </p:nvSpPr>
        <p:spPr>
          <a:xfrm>
            <a:off x="0" y="1"/>
            <a:ext cx="8065477" cy="5040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Holt-Winters = Triple Exponential Smoothing</a:t>
            </a:r>
            <a:endParaRPr dirty="0">
              <a:solidFill>
                <a:schemeClr val="dk1"/>
              </a:solidFill>
              <a:latin typeface="Calibri"/>
              <a:ea typeface="Calibri"/>
              <a:cs typeface="Calibri"/>
              <a:sym typeface="Calibri"/>
            </a:endParaRPr>
          </a:p>
        </p:txBody>
      </p:sp>
      <p:sp>
        <p:nvSpPr>
          <p:cNvPr id="9" name="Google Shape;128;p18">
            <a:extLst>
              <a:ext uri="{FF2B5EF4-FFF2-40B4-BE49-F238E27FC236}">
                <a16:creationId xmlns:a16="http://schemas.microsoft.com/office/drawing/2014/main" id="{8F7BEC96-1F67-3A4A-BDC6-D3E7C2840DF6}"/>
              </a:ext>
            </a:extLst>
          </p:cNvPr>
          <p:cNvSpPr txBox="1"/>
          <p:nvPr/>
        </p:nvSpPr>
        <p:spPr>
          <a:xfrm>
            <a:off x="105509" y="740026"/>
            <a:ext cx="5892800" cy="161886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solidFill>
                  <a:srgbClr val="0000FF"/>
                </a:solidFill>
                <a:latin typeface="Calibri"/>
                <a:ea typeface="Calibri"/>
                <a:cs typeface="Calibri"/>
                <a:sym typeface="Calibri"/>
              </a:rPr>
              <a:t>Holt-Winters = Triple Exponential Smoothing</a:t>
            </a:r>
            <a:endParaRPr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  1st smoothing (level) -exponential  smoothing for value</a:t>
            </a:r>
            <a:endParaRPr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  2nd smoothing (trend) - exponential smoothing for slope</a:t>
            </a:r>
            <a:endParaRPr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  3rd smoothing - exponential smoothing comparing to previous cycle</a:t>
            </a:r>
          </a:p>
          <a:p>
            <a:pPr marL="0" marR="0" lvl="0" indent="0" algn="l" rtl="0">
              <a:spcBef>
                <a:spcPts val="0"/>
              </a:spcBef>
              <a:spcAft>
                <a:spcPts val="0"/>
              </a:spcAft>
              <a:buNone/>
            </a:pPr>
            <a:endParaRPr lang="en-US" dirty="0">
              <a:solidFill>
                <a:schemeClr val="dk1"/>
              </a:solidFill>
              <a:latin typeface="Calibri"/>
              <a:ea typeface="Calibri"/>
              <a:cs typeface="Calibri"/>
              <a:sym typeface="Calibri"/>
            </a:endParaRPr>
          </a:p>
          <a:p>
            <a:r>
              <a:rPr lang="en-US" sz="1000" dirty="0">
                <a:solidFill>
                  <a:schemeClr val="dk1"/>
                </a:solidFill>
                <a:latin typeface="Calibri"/>
                <a:ea typeface="Calibri"/>
                <a:cs typeface="Calibri"/>
                <a:sym typeface="Calibri"/>
              </a:rPr>
              <a:t>.. </a:t>
            </a:r>
            <a:r>
              <a:rPr lang="en-US" sz="1000" dirty="0">
                <a:hlinkClick r:id="rId3"/>
              </a:rPr>
              <a:t>https://towardsdatascience.com/holt-winters-exponential-smoothing-d703072c0572</a:t>
            </a:r>
            <a:r>
              <a:rPr lang="en-US" sz="1000" dirty="0"/>
              <a:t> </a:t>
            </a:r>
            <a:r>
              <a:rPr lang="en-US" sz="1000" dirty="0">
                <a:solidFill>
                  <a:schemeClr val="dk1"/>
                </a:solidFill>
                <a:latin typeface="Calibri"/>
                <a:cs typeface="Calibri"/>
                <a:sym typeface="Calibri"/>
              </a:rPr>
              <a:t>- </a:t>
            </a:r>
          </a:p>
          <a:p>
            <a:r>
              <a:rPr lang="en-US" sz="1000" dirty="0">
                <a:solidFill>
                  <a:schemeClr val="dk1"/>
                </a:solidFill>
                <a:latin typeface="Calibri"/>
                <a:cs typeface="Calibri"/>
                <a:sym typeface="Calibri"/>
              </a:rPr>
              <a:t>.. </a:t>
            </a:r>
            <a:r>
              <a:rPr lang="en-US" sz="1000" dirty="0">
                <a:solidFill>
                  <a:schemeClr val="dk1"/>
                </a:solidFill>
                <a:latin typeface="Calibri"/>
                <a:cs typeface="Calibri"/>
                <a:sym typeface="Calibri"/>
                <a:hlinkClick r:id="rId4"/>
              </a:rPr>
              <a:t>https://orangematter.solarwinds.com/2019/12/15/holt-winters-forecasting-simplified/</a:t>
            </a:r>
            <a:r>
              <a:rPr lang="en-US" sz="1000" dirty="0">
                <a:solidFill>
                  <a:schemeClr val="dk1"/>
                </a:solidFill>
                <a:latin typeface="Calibri"/>
                <a:cs typeface="Calibri"/>
                <a:sym typeface="Calibri"/>
              </a:rPr>
              <a:t> - </a:t>
            </a:r>
          </a:p>
          <a:p>
            <a:endParaRPr lang="en-US" dirty="0"/>
          </a:p>
        </p:txBody>
      </p:sp>
      <p:pic>
        <p:nvPicPr>
          <p:cNvPr id="2050" name="Picture 2" descr="Image result for Holt-Winters">
            <a:extLst>
              <a:ext uri="{FF2B5EF4-FFF2-40B4-BE49-F238E27FC236}">
                <a16:creationId xmlns:a16="http://schemas.microsoft.com/office/drawing/2014/main" id="{50DB63C9-A6E3-0A48-A20C-8E2C5C0B8D9C}"/>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6351245" y="655798"/>
            <a:ext cx="5630758" cy="281537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D60DFCA-74E1-1A45-B43C-846D9E2B3AE0}"/>
              </a:ext>
            </a:extLst>
          </p:cNvPr>
          <p:cNvSpPr txBox="1"/>
          <p:nvPr/>
        </p:nvSpPr>
        <p:spPr>
          <a:xfrm>
            <a:off x="5784574" y="3700603"/>
            <a:ext cx="6310188" cy="3108543"/>
          </a:xfrm>
          <a:prstGeom prst="rect">
            <a:avLst/>
          </a:prstGeom>
          <a:noFill/>
        </p:spPr>
        <p:txBody>
          <a:bodyPr wrap="square" rtlCol="0">
            <a:spAutoFit/>
          </a:bodyPr>
          <a:lstStyle/>
          <a:p>
            <a:r>
              <a:rPr lang="en-US" dirty="0"/>
              <a:t>The </a:t>
            </a:r>
            <a:r>
              <a:rPr lang="en-US" b="1" dirty="0">
                <a:solidFill>
                  <a:srgbClr val="FF0000"/>
                </a:solidFill>
              </a:rPr>
              <a:t>additive method</a:t>
            </a:r>
            <a:r>
              <a:rPr lang="en-US" dirty="0"/>
              <a:t> is preferred when the seasonal variations are roughly constant through the series, while the multiplicative method is preferred when the seasonal variations are changing proportional to the level of the series. </a:t>
            </a:r>
          </a:p>
          <a:p>
            <a:endParaRPr lang="en-US" dirty="0"/>
          </a:p>
          <a:p>
            <a:r>
              <a:rPr lang="en-US" dirty="0"/>
              <a:t>With the additive method, the seasonal component is expressed in absolute terms in the scale of the observed series, and in the level equation the series is seasonally adjusted by subtracting the seasonal component. </a:t>
            </a:r>
          </a:p>
          <a:p>
            <a:endParaRPr lang="en-US" dirty="0"/>
          </a:p>
          <a:p>
            <a:r>
              <a:rPr lang="en-US" dirty="0"/>
              <a:t>Within each year, the seasonal component will add up to approximately zero. </a:t>
            </a:r>
          </a:p>
          <a:p>
            <a:endParaRPr lang="en-US" dirty="0"/>
          </a:p>
          <a:p>
            <a:r>
              <a:rPr lang="en-US" dirty="0"/>
              <a:t>With the </a:t>
            </a:r>
            <a:r>
              <a:rPr lang="en-US" b="1" dirty="0">
                <a:solidFill>
                  <a:srgbClr val="FF0000"/>
                </a:solidFill>
              </a:rPr>
              <a:t>multiplicative method</a:t>
            </a:r>
            <a:r>
              <a:rPr lang="en-US" dirty="0"/>
              <a:t>, the seasonal component is expressed in relative terms (percentages), and the series is seasonally adjusted by dividing through by the seasonal component. Within each year, the seasonal component will sum up to approximately  m .</a:t>
            </a:r>
          </a:p>
        </p:txBody>
      </p:sp>
      <p:pic>
        <p:nvPicPr>
          <p:cNvPr id="3" name="Picture 2">
            <a:extLst>
              <a:ext uri="{FF2B5EF4-FFF2-40B4-BE49-F238E27FC236}">
                <a16:creationId xmlns:a16="http://schemas.microsoft.com/office/drawing/2014/main" id="{A25F395D-2DD2-F945-AD69-70D068587F2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64159" y="2544907"/>
            <a:ext cx="4864100" cy="1587500"/>
          </a:xfrm>
          <a:prstGeom prst="rect">
            <a:avLst/>
          </a:prstGeom>
        </p:spPr>
      </p:pic>
      <p:cxnSp>
        <p:nvCxnSpPr>
          <p:cNvPr id="5" name="Straight Connector 4">
            <a:extLst>
              <a:ext uri="{FF2B5EF4-FFF2-40B4-BE49-F238E27FC236}">
                <a16:creationId xmlns:a16="http://schemas.microsoft.com/office/drawing/2014/main" id="{71EF05C6-4BC3-A444-89AC-DF4DD5D6CD6B}"/>
              </a:ext>
            </a:extLst>
          </p:cNvPr>
          <p:cNvCxnSpPr/>
          <p:nvPr/>
        </p:nvCxnSpPr>
        <p:spPr>
          <a:xfrm>
            <a:off x="105509" y="4499113"/>
            <a:ext cx="5480282" cy="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4EB62CB-4CD1-F149-8453-3BEE646144D2}"/>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64159" y="4766654"/>
            <a:ext cx="4305300" cy="2095500"/>
          </a:xfrm>
          <a:prstGeom prst="rect">
            <a:avLst/>
          </a:prstGeom>
        </p:spPr>
      </p:pic>
      <p:sp>
        <p:nvSpPr>
          <p:cNvPr id="7" name="TextBox 6">
            <a:extLst>
              <a:ext uri="{FF2B5EF4-FFF2-40B4-BE49-F238E27FC236}">
                <a16:creationId xmlns:a16="http://schemas.microsoft.com/office/drawing/2014/main" id="{9B610057-1274-DC4B-BCC8-5DC9A6703367}"/>
              </a:ext>
            </a:extLst>
          </p:cNvPr>
          <p:cNvSpPr txBox="1"/>
          <p:nvPr/>
        </p:nvSpPr>
        <p:spPr>
          <a:xfrm>
            <a:off x="105510" y="2358889"/>
            <a:ext cx="2226874" cy="307777"/>
          </a:xfrm>
          <a:prstGeom prst="rect">
            <a:avLst/>
          </a:prstGeom>
          <a:noFill/>
        </p:spPr>
        <p:txBody>
          <a:bodyPr wrap="square" rtlCol="0">
            <a:spAutoFit/>
          </a:bodyPr>
          <a:lstStyle/>
          <a:p>
            <a:r>
              <a:rPr lang="en-US" b="1" dirty="0">
                <a:solidFill>
                  <a:srgbClr val="FF0000"/>
                </a:solidFill>
              </a:rPr>
              <a:t>additive method</a:t>
            </a:r>
            <a:endParaRPr lang="en-US" dirty="0"/>
          </a:p>
        </p:txBody>
      </p:sp>
      <p:sp>
        <p:nvSpPr>
          <p:cNvPr id="11" name="TextBox 10">
            <a:extLst>
              <a:ext uri="{FF2B5EF4-FFF2-40B4-BE49-F238E27FC236}">
                <a16:creationId xmlns:a16="http://schemas.microsoft.com/office/drawing/2014/main" id="{EB5E961E-E792-2C4F-B628-EA96DAA2CD00}"/>
              </a:ext>
            </a:extLst>
          </p:cNvPr>
          <p:cNvSpPr txBox="1"/>
          <p:nvPr/>
        </p:nvSpPr>
        <p:spPr>
          <a:xfrm>
            <a:off x="105510" y="4567647"/>
            <a:ext cx="2226874" cy="307777"/>
          </a:xfrm>
          <a:prstGeom prst="rect">
            <a:avLst/>
          </a:prstGeom>
          <a:noFill/>
        </p:spPr>
        <p:txBody>
          <a:bodyPr wrap="square" rtlCol="0">
            <a:spAutoFit/>
          </a:bodyPr>
          <a:lstStyle/>
          <a:p>
            <a:r>
              <a:rPr lang="en-US" b="1" dirty="0">
                <a:solidFill>
                  <a:srgbClr val="FF0000"/>
                </a:solidFill>
              </a:rPr>
              <a:t>multiplicative method</a:t>
            </a:r>
            <a:endParaRPr lang="en-US" dirty="0"/>
          </a:p>
        </p:txBody>
      </p:sp>
    </p:spTree>
    <p:extLst>
      <p:ext uri="{BB962C8B-B14F-4D97-AF65-F5344CB8AC3E}">
        <p14:creationId xmlns:p14="http://schemas.microsoft.com/office/powerpoint/2010/main" val="942223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p:nvPr/>
        </p:nvSpPr>
        <p:spPr>
          <a:xfrm>
            <a:off x="0" y="1"/>
            <a:ext cx="6778171" cy="5861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ARMA, ARIMA, SARIMAX</a:t>
            </a:r>
          </a:p>
          <a:p>
            <a:pPr marL="0" marR="0" lvl="0" indent="0" algn="l" rtl="0">
              <a:spcBef>
                <a:spcPts val="0"/>
              </a:spcBef>
              <a:spcAft>
                <a:spcPts val="0"/>
              </a:spcAft>
              <a:buNone/>
            </a:pPr>
            <a:endParaRPr lang="en-US" sz="3200" b="1" dirty="0">
              <a:solidFill>
                <a:schemeClr val="dk1"/>
              </a:solidFill>
              <a:latin typeface="Calibri"/>
              <a:ea typeface="Calibri"/>
              <a:cs typeface="Calibri"/>
              <a:sym typeface="Calibri"/>
            </a:endParaRPr>
          </a:p>
          <a:p>
            <a:pPr marL="0" marR="0" lvl="0" indent="0" algn="l" rtl="0">
              <a:spcBef>
                <a:spcPts val="0"/>
              </a:spcBef>
              <a:spcAft>
                <a:spcPts val="0"/>
              </a:spcAft>
              <a:buNone/>
            </a:pPr>
            <a:endParaRPr dirty="0">
              <a:solidFill>
                <a:schemeClr val="dk1"/>
              </a:solidFill>
              <a:latin typeface="Calibri"/>
              <a:ea typeface="Calibri"/>
              <a:cs typeface="Calibri"/>
              <a:sym typeface="Calibri"/>
            </a:endParaRPr>
          </a:p>
        </p:txBody>
      </p:sp>
      <p:sp>
        <p:nvSpPr>
          <p:cNvPr id="8" name="Google Shape;128;p18">
            <a:extLst>
              <a:ext uri="{FF2B5EF4-FFF2-40B4-BE49-F238E27FC236}">
                <a16:creationId xmlns:a16="http://schemas.microsoft.com/office/drawing/2014/main" id="{D598FE8A-37DA-C645-93E9-755976293881}"/>
              </a:ext>
            </a:extLst>
          </p:cNvPr>
          <p:cNvSpPr txBox="1"/>
          <p:nvPr/>
        </p:nvSpPr>
        <p:spPr>
          <a:xfrm>
            <a:off x="106016" y="3615013"/>
            <a:ext cx="5817706" cy="21353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solidFill>
                  <a:srgbClr val="0000FF"/>
                </a:solidFill>
                <a:latin typeface="Calibri"/>
                <a:ea typeface="Calibri"/>
                <a:cs typeface="Calibri"/>
                <a:sym typeface="Calibri"/>
              </a:rPr>
              <a:t>ARMA (Auto-Regressive Moving Average)</a:t>
            </a:r>
            <a:r>
              <a:rPr lang="en-US" dirty="0">
                <a:solidFill>
                  <a:schemeClr val="dk1"/>
                </a:solidFill>
                <a:latin typeface="Calibri"/>
                <a:ea typeface="Calibri"/>
                <a:cs typeface="Calibri"/>
                <a:sym typeface="Calibri"/>
              </a:rPr>
              <a:t> - tries to describe a process </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as a sum of two processes - signal (AR) and noise (MA) - and then </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extrapolate signal into the future. </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  </a:t>
            </a:r>
            <a:r>
              <a:rPr lang="en-US" u="sng" dirty="0">
                <a:solidFill>
                  <a:schemeClr val="hlink"/>
                </a:solidFill>
                <a:latin typeface="Calibri"/>
                <a:ea typeface="Calibri"/>
                <a:cs typeface="Calibri"/>
                <a:sym typeface="Calibri"/>
                <a:hlinkClick r:id="rId3"/>
              </a:rPr>
              <a:t>https://people.duke.edu/~rnau/411arim.htm</a:t>
            </a:r>
            <a:endParaRPr dirty="0">
              <a:solidFill>
                <a:schemeClr val="dk1"/>
              </a:solidFill>
              <a:latin typeface="Calibri"/>
              <a:ea typeface="Calibri"/>
              <a:cs typeface="Calibri"/>
              <a:sym typeface="Calibri"/>
            </a:endParaRPr>
          </a:p>
          <a:p>
            <a:pPr marL="0" marR="0" lvl="0" indent="0" algn="l" rtl="0">
              <a:spcBef>
                <a:spcPts val="0"/>
              </a:spcBef>
              <a:spcAft>
                <a:spcPts val="0"/>
              </a:spcAft>
              <a:buNone/>
            </a:pPr>
            <a:endParaRPr lang="en-US"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ARMA(t) = AR(t) + MA(t), where AR is a weighted sum of "P" previous </a:t>
            </a:r>
            <a:r>
              <a:rPr lang="en-US" b="1" dirty="0">
                <a:solidFill>
                  <a:schemeClr val="dk1"/>
                </a:solidFill>
                <a:latin typeface="Calibri"/>
                <a:ea typeface="Calibri"/>
                <a:cs typeface="Calibri"/>
                <a:sym typeface="Calibri"/>
              </a:rPr>
              <a:t>values</a:t>
            </a:r>
            <a:r>
              <a:rPr lang="en-US" dirty="0">
                <a:solidFill>
                  <a:schemeClr val="dk1"/>
                </a:solidFill>
                <a:latin typeface="Calibri"/>
                <a:ea typeface="Calibri"/>
                <a:cs typeface="Calibri"/>
                <a:sym typeface="Calibri"/>
              </a:rPr>
              <a:t>, </a:t>
            </a:r>
            <a:endParaRPr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and MA is weighted average of "Q" previous (white noise) </a:t>
            </a:r>
            <a:r>
              <a:rPr lang="en-US" b="1" dirty="0">
                <a:solidFill>
                  <a:schemeClr val="dk1"/>
                </a:solidFill>
                <a:latin typeface="Calibri"/>
                <a:ea typeface="Calibri"/>
                <a:cs typeface="Calibri"/>
                <a:sym typeface="Calibri"/>
              </a:rPr>
              <a:t>errors</a:t>
            </a:r>
            <a:r>
              <a:rPr lang="en-US" dirty="0">
                <a:solidFill>
                  <a:schemeClr val="dk1"/>
                </a:solidFill>
                <a:latin typeface="Calibri"/>
                <a:ea typeface="Calibri"/>
                <a:cs typeface="Calibri"/>
                <a:sym typeface="Calibri"/>
              </a:rPr>
              <a:t>: </a:t>
            </a:r>
            <a:endParaRPr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   AR :   Y(t) = a0 + a1*Y(t-1) + ... + </a:t>
            </a:r>
            <a:r>
              <a:rPr lang="en-US" dirty="0" err="1">
                <a:solidFill>
                  <a:schemeClr val="dk1"/>
                </a:solidFill>
                <a:latin typeface="Calibri"/>
                <a:ea typeface="Calibri"/>
                <a:cs typeface="Calibri"/>
                <a:sym typeface="Calibri"/>
              </a:rPr>
              <a:t>aP</a:t>
            </a:r>
            <a:r>
              <a:rPr lang="en-US" dirty="0">
                <a:solidFill>
                  <a:schemeClr val="dk1"/>
                </a:solidFill>
                <a:latin typeface="Calibri"/>
                <a:ea typeface="Calibri"/>
                <a:cs typeface="Calibri"/>
                <a:sym typeface="Calibri"/>
              </a:rPr>
              <a:t>*Y(t-P) + </a:t>
            </a:r>
            <a:endParaRPr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                        Z(t) -b1*Z(t-1) - ... -</a:t>
            </a:r>
            <a:r>
              <a:rPr lang="en-US" dirty="0" err="1">
                <a:solidFill>
                  <a:schemeClr val="dk1"/>
                </a:solidFill>
                <a:latin typeface="Calibri"/>
                <a:ea typeface="Calibri"/>
                <a:cs typeface="Calibri"/>
                <a:sym typeface="Calibri"/>
              </a:rPr>
              <a:t>bQ</a:t>
            </a:r>
            <a:r>
              <a:rPr lang="en-US" dirty="0">
                <a:solidFill>
                  <a:schemeClr val="dk1"/>
                </a:solidFill>
                <a:latin typeface="Calibri"/>
                <a:ea typeface="Calibri"/>
                <a:cs typeface="Calibri"/>
                <a:sym typeface="Calibri"/>
              </a:rPr>
              <a:t>*Z(t-Q)</a:t>
            </a:r>
          </a:p>
        </p:txBody>
      </p:sp>
      <p:sp>
        <p:nvSpPr>
          <p:cNvPr id="2" name="TextBox 1">
            <a:extLst>
              <a:ext uri="{FF2B5EF4-FFF2-40B4-BE49-F238E27FC236}">
                <a16:creationId xmlns:a16="http://schemas.microsoft.com/office/drawing/2014/main" id="{BC6685CB-A5E0-3148-829D-B3B5958E583C}"/>
              </a:ext>
            </a:extLst>
          </p:cNvPr>
          <p:cNvSpPr txBox="1"/>
          <p:nvPr/>
        </p:nvSpPr>
        <p:spPr>
          <a:xfrm>
            <a:off x="165969" y="1818667"/>
            <a:ext cx="5353878" cy="646331"/>
          </a:xfrm>
          <a:prstGeom prst="rect">
            <a:avLst/>
          </a:prstGeom>
          <a:noFill/>
        </p:spPr>
        <p:txBody>
          <a:bodyPr wrap="square" rtlCol="0">
            <a:spAutoFit/>
          </a:bodyPr>
          <a:lstStyle/>
          <a:p>
            <a:r>
              <a:rPr lang="en-US" sz="900" dirty="0"/>
              <a:t>- </a:t>
            </a:r>
            <a:r>
              <a:rPr lang="en-US" sz="900" dirty="0">
                <a:hlinkClick r:id="rId4"/>
              </a:rPr>
              <a:t>https://en.wikipedia.org/wiki/Autoregressive%E2%80%93moving-average_model</a:t>
            </a:r>
            <a:endParaRPr lang="en-US" sz="900" dirty="0"/>
          </a:p>
          <a:p>
            <a:r>
              <a:rPr lang="en-US" sz="900" dirty="0"/>
              <a:t>- </a:t>
            </a:r>
            <a:r>
              <a:rPr lang="en-US" sz="900" dirty="0">
                <a:hlinkClick r:id="rId5"/>
              </a:rPr>
              <a:t>https://en.wikipedia.org/wiki/Autoregressive_integrated_moving_average</a:t>
            </a:r>
            <a:r>
              <a:rPr lang="en-US" sz="900" dirty="0"/>
              <a:t> </a:t>
            </a:r>
          </a:p>
          <a:p>
            <a:r>
              <a:rPr lang="en-US" sz="900" dirty="0"/>
              <a:t>- </a:t>
            </a:r>
            <a:r>
              <a:rPr lang="en-US" sz="900" dirty="0">
                <a:hlinkClick r:id="rId6"/>
              </a:rPr>
              <a:t>https://www.statsmodels.org/dev/examples/notebooks/generated/statespace_sarimax_stata.html</a:t>
            </a:r>
            <a:endParaRPr lang="en-US" sz="900" dirty="0"/>
          </a:p>
          <a:p>
            <a:r>
              <a:rPr lang="en-US" sz="900" dirty="0"/>
              <a:t>- </a:t>
            </a:r>
            <a:r>
              <a:rPr lang="en-US" sz="900" dirty="0">
                <a:hlinkClick r:id="rId7"/>
              </a:rPr>
              <a:t>https://365datascience.com/tutorials/python-tutorials/sarimax/</a:t>
            </a:r>
            <a:r>
              <a:rPr lang="en-US" sz="900" dirty="0"/>
              <a:t> </a:t>
            </a:r>
          </a:p>
        </p:txBody>
      </p:sp>
      <p:sp>
        <p:nvSpPr>
          <p:cNvPr id="9" name="Google Shape;128;p18">
            <a:extLst>
              <a:ext uri="{FF2B5EF4-FFF2-40B4-BE49-F238E27FC236}">
                <a16:creationId xmlns:a16="http://schemas.microsoft.com/office/drawing/2014/main" id="{D65D3AF7-4B80-F748-B9FA-DB34ED3F16CD}"/>
              </a:ext>
            </a:extLst>
          </p:cNvPr>
          <p:cNvSpPr txBox="1"/>
          <p:nvPr/>
        </p:nvSpPr>
        <p:spPr>
          <a:xfrm>
            <a:off x="6830992" y="481539"/>
            <a:ext cx="5108713" cy="29770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solidFill>
                  <a:srgbClr val="0000FF"/>
                </a:solidFill>
                <a:latin typeface="Calibri"/>
                <a:ea typeface="Calibri"/>
                <a:cs typeface="Calibri"/>
                <a:sym typeface="Calibri"/>
              </a:rPr>
              <a:t>ARIMA(</a:t>
            </a:r>
            <a:r>
              <a:rPr lang="en-US" b="1" dirty="0" err="1">
                <a:solidFill>
                  <a:srgbClr val="0000FF"/>
                </a:solidFill>
                <a:latin typeface="Calibri"/>
                <a:ea typeface="Calibri"/>
                <a:cs typeface="Calibri"/>
                <a:sym typeface="Calibri"/>
              </a:rPr>
              <a:t>p,d,q</a:t>
            </a:r>
            <a:r>
              <a:rPr lang="en-US" b="1" dirty="0">
                <a:solidFill>
                  <a:srgbClr val="0000FF"/>
                </a:solidFill>
                <a:latin typeface="Calibri"/>
                <a:ea typeface="Calibri"/>
                <a:cs typeface="Calibri"/>
                <a:sym typeface="Calibri"/>
              </a:rPr>
              <a:t>)</a:t>
            </a:r>
            <a:r>
              <a:rPr lang="en-US" dirty="0">
                <a:solidFill>
                  <a:schemeClr val="dk1"/>
                </a:solidFill>
                <a:latin typeface="Calibri"/>
                <a:ea typeface="Calibri"/>
                <a:cs typeface="Calibri"/>
                <a:sym typeface="Calibri"/>
              </a:rPr>
              <a:t> (Auto-Regressive Integrated Moving Average)</a:t>
            </a:r>
            <a:endParaRPr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dirty="0">
                <a:solidFill>
                  <a:schemeClr val="dk1"/>
                </a:solidFill>
                <a:latin typeface="Calibri"/>
                <a:ea typeface="Calibri"/>
                <a:cs typeface="Calibri"/>
                <a:sym typeface="Calibri"/>
              </a:rPr>
              <a:t>    p - number of autoregressive terms,</a:t>
            </a: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    d - number of nonseasonal differences needed for stationarity</a:t>
            </a: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    q - number of lagged forecast errors</a:t>
            </a:r>
            <a:endParaRPr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dirty="0">
                <a:solidFill>
                  <a:schemeClr val="dk1"/>
                </a:solidFill>
                <a:latin typeface="Calibri"/>
                <a:ea typeface="Calibri"/>
                <a:cs typeface="Calibri"/>
                <a:sym typeface="Calibri"/>
              </a:rPr>
              <a:t>ARIMA(1,0,0)  - 1st order autoregressive model</a:t>
            </a:r>
            <a:endParaRPr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dirty="0">
                <a:solidFill>
                  <a:schemeClr val="dk1"/>
                </a:solidFill>
                <a:latin typeface="Calibri"/>
                <a:ea typeface="Calibri"/>
                <a:cs typeface="Calibri"/>
                <a:sym typeface="Calibri"/>
              </a:rPr>
              <a:t>ARIMA(2,0,0)) - oscillations</a:t>
            </a:r>
            <a:endParaRPr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dirty="0">
                <a:solidFill>
                  <a:schemeClr val="dk1"/>
                </a:solidFill>
                <a:latin typeface="Calibri"/>
                <a:ea typeface="Calibri"/>
                <a:cs typeface="Calibri"/>
                <a:sym typeface="Calibri"/>
              </a:rPr>
              <a:t>ARIMA(0,1,0)  - random walk</a:t>
            </a:r>
            <a:endParaRPr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dirty="0">
                <a:solidFill>
                  <a:schemeClr val="dk1"/>
                </a:solidFill>
                <a:latin typeface="Calibri"/>
                <a:ea typeface="Calibri"/>
                <a:cs typeface="Calibri"/>
                <a:sym typeface="Calibri"/>
              </a:rPr>
              <a:t>ARIMA(1,1,0)  - differenced first-order autoregressive model</a:t>
            </a:r>
            <a:endParaRPr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dirty="0">
                <a:solidFill>
                  <a:schemeClr val="dk1"/>
                </a:solidFill>
                <a:latin typeface="Calibri"/>
                <a:ea typeface="Calibri"/>
                <a:cs typeface="Calibri"/>
                <a:sym typeface="Calibri"/>
              </a:rPr>
              <a:t>ARIMA(0,1,1)  - simple exponential smoothing: </a:t>
            </a:r>
            <a:endParaRPr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dirty="0">
                <a:solidFill>
                  <a:schemeClr val="dk1"/>
                </a:solidFill>
                <a:latin typeface="Calibri"/>
                <a:ea typeface="Calibri"/>
                <a:cs typeface="Calibri"/>
                <a:sym typeface="Calibri"/>
              </a:rPr>
              <a:t>ARIMA(0,1,1)  - simple exponential smoothing with growth</a:t>
            </a:r>
          </a:p>
          <a:p>
            <a:pPr marL="0" marR="0" lvl="0" indent="0" algn="l" rtl="0">
              <a:spcBef>
                <a:spcPts val="0"/>
              </a:spcBef>
              <a:spcAft>
                <a:spcPts val="0"/>
              </a:spcAft>
              <a:buClr>
                <a:schemeClr val="dk1"/>
              </a:buClr>
              <a:buSzPts val="1100"/>
              <a:buFont typeface="Arial"/>
              <a:buNone/>
            </a:pPr>
            <a:r>
              <a:rPr lang="en-US" dirty="0">
                <a:solidFill>
                  <a:schemeClr val="dk1"/>
                </a:solidFill>
                <a:latin typeface="Calibri"/>
                <a:ea typeface="Calibri"/>
                <a:cs typeface="Calibri"/>
                <a:sym typeface="Calibri"/>
              </a:rPr>
              <a:t>ARIMA(1,1,1) - ...</a:t>
            </a:r>
            <a:endParaRPr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dirty="0">
                <a:solidFill>
                  <a:schemeClr val="dk1"/>
                </a:solidFill>
                <a:latin typeface="Calibri"/>
                <a:ea typeface="Calibri"/>
                <a:cs typeface="Calibri"/>
                <a:sym typeface="Calibri"/>
              </a:rPr>
              <a:t>ARIMA(0,2,1)  - linear exponential smoothing</a:t>
            </a: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ARIMA(0,2,2)  - linear exponential smoothing</a:t>
            </a:r>
            <a:endParaRPr dirty="0">
              <a:solidFill>
                <a:schemeClr val="dk1"/>
              </a:solidFill>
              <a:latin typeface="Calibri"/>
              <a:ea typeface="Calibri"/>
              <a:cs typeface="Calibri"/>
              <a:sym typeface="Calibri"/>
            </a:endParaRPr>
          </a:p>
        </p:txBody>
      </p:sp>
      <p:sp>
        <p:nvSpPr>
          <p:cNvPr id="6" name="TextBox 5">
            <a:extLst>
              <a:ext uri="{FF2B5EF4-FFF2-40B4-BE49-F238E27FC236}">
                <a16:creationId xmlns:a16="http://schemas.microsoft.com/office/drawing/2014/main" id="{8180C755-DD96-C042-A638-27D59017ED9D}"/>
              </a:ext>
            </a:extLst>
          </p:cNvPr>
          <p:cNvSpPr txBox="1"/>
          <p:nvPr/>
        </p:nvSpPr>
        <p:spPr>
          <a:xfrm>
            <a:off x="106016" y="801780"/>
            <a:ext cx="5989984" cy="738664"/>
          </a:xfrm>
          <a:prstGeom prst="rect">
            <a:avLst/>
          </a:prstGeom>
          <a:noFill/>
        </p:spPr>
        <p:txBody>
          <a:bodyPr wrap="square" rtlCol="0">
            <a:spAutoFit/>
          </a:bodyPr>
          <a:lstStyle/>
          <a:p>
            <a:r>
              <a:rPr lang="en-US" dirty="0"/>
              <a:t>Auto-Regressive Moving Average model</a:t>
            </a:r>
          </a:p>
          <a:p>
            <a:r>
              <a:rPr lang="en-US" dirty="0"/>
              <a:t>Auto-Regressive Integrated Moving Average model</a:t>
            </a:r>
          </a:p>
          <a:p>
            <a:r>
              <a:rPr lang="en-US" dirty="0"/>
              <a:t>Seasonal Autoregressive Integrated Moving Average Exogenous model</a:t>
            </a:r>
          </a:p>
        </p:txBody>
      </p:sp>
      <p:sp>
        <p:nvSpPr>
          <p:cNvPr id="7" name="TextBox 6">
            <a:extLst>
              <a:ext uri="{FF2B5EF4-FFF2-40B4-BE49-F238E27FC236}">
                <a16:creationId xmlns:a16="http://schemas.microsoft.com/office/drawing/2014/main" id="{A080A7CF-07C5-414D-81FC-46AC439CAC30}"/>
              </a:ext>
            </a:extLst>
          </p:cNvPr>
          <p:cNvSpPr txBox="1"/>
          <p:nvPr/>
        </p:nvSpPr>
        <p:spPr>
          <a:xfrm>
            <a:off x="6830992" y="4468976"/>
            <a:ext cx="1311965" cy="304800"/>
          </a:xfrm>
          <a:prstGeom prst="rect">
            <a:avLst/>
          </a:prstGeom>
          <a:noFill/>
        </p:spPr>
        <p:txBody>
          <a:bodyPr wrap="square" rtlCol="0">
            <a:spAutoFit/>
          </a:bodyPr>
          <a:lstStyle/>
          <a:p>
            <a:r>
              <a:rPr lang="en-US" b="1" dirty="0">
                <a:solidFill>
                  <a:srgbClr val="0000FF"/>
                </a:solidFill>
                <a:latin typeface="Calibri"/>
                <a:cs typeface="Calibri"/>
              </a:rPr>
              <a:t>SARIMAX</a:t>
            </a:r>
          </a:p>
        </p:txBody>
      </p:sp>
      <p:pic>
        <p:nvPicPr>
          <p:cNvPr id="1032" name="Picture 8">
            <a:extLst>
              <a:ext uri="{FF2B5EF4-FFF2-40B4-BE49-F238E27FC236}">
                <a16:creationId xmlns:a16="http://schemas.microsoft.com/office/drawing/2014/main" id="{659F6FA5-4E2F-8C42-88FD-B0170927BD79}"/>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6830992" y="4773776"/>
            <a:ext cx="4950401" cy="1953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9565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4"/>
          <p:cNvSpPr txBox="1">
            <a:spLocks noGrp="1"/>
          </p:cNvSpPr>
          <p:nvPr>
            <p:ph type="title"/>
          </p:nvPr>
        </p:nvSpPr>
        <p:spPr>
          <a:xfrm>
            <a:off x="98612" y="1"/>
            <a:ext cx="5764306" cy="65890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000"/>
              <a:buFont typeface="Calibri"/>
              <a:buNone/>
            </a:pPr>
            <a:r>
              <a:rPr lang="en-US" sz="4000" b="0" i="0" u="none" strike="noStrike" cap="none" dirty="0">
                <a:solidFill>
                  <a:schemeClr val="dk1"/>
                </a:solidFill>
                <a:latin typeface="Calibri"/>
                <a:ea typeface="Calibri"/>
                <a:cs typeface="Calibri"/>
                <a:sym typeface="Calibri"/>
              </a:rPr>
              <a:t>Monte Carlo Examples:</a:t>
            </a:r>
            <a:endParaRPr sz="4000" b="0" i="0" u="none" strike="noStrike" cap="none" dirty="0">
              <a:solidFill>
                <a:schemeClr val="dk1"/>
              </a:solidFill>
              <a:latin typeface="Calibri"/>
              <a:ea typeface="Calibri"/>
              <a:cs typeface="Calibri"/>
              <a:sym typeface="Calibri"/>
            </a:endParaRPr>
          </a:p>
        </p:txBody>
      </p:sp>
      <p:pic>
        <p:nvPicPr>
          <p:cNvPr id="104" name="Google Shape;104;p14"/>
          <p:cNvPicPr preferRelativeResize="0"/>
          <p:nvPr/>
        </p:nvPicPr>
        <p:blipFill rotWithShape="1">
          <a:blip r:embed="rId3">
            <a:alphaModFix/>
          </a:blip>
          <a:srcRect/>
          <a:stretch/>
        </p:blipFill>
        <p:spPr>
          <a:xfrm>
            <a:off x="5980535" y="1559856"/>
            <a:ext cx="4983749" cy="3818965"/>
          </a:xfrm>
          <a:prstGeom prst="rect">
            <a:avLst/>
          </a:prstGeom>
          <a:noFill/>
          <a:ln>
            <a:noFill/>
          </a:ln>
        </p:spPr>
      </p:pic>
      <p:pic>
        <p:nvPicPr>
          <p:cNvPr id="105" name="Google Shape;105;p14"/>
          <p:cNvPicPr preferRelativeResize="0"/>
          <p:nvPr/>
        </p:nvPicPr>
        <p:blipFill rotWithShape="1">
          <a:blip r:embed="rId4">
            <a:alphaModFix/>
          </a:blip>
          <a:srcRect/>
          <a:stretch/>
        </p:blipFill>
        <p:spPr>
          <a:xfrm>
            <a:off x="240179" y="1958038"/>
            <a:ext cx="5454274" cy="2627406"/>
          </a:xfrm>
          <a:prstGeom prst="rect">
            <a:avLst/>
          </a:prstGeom>
          <a:noFill/>
          <a:ln>
            <a:noFill/>
          </a:ln>
        </p:spPr>
      </p:pic>
      <p:sp>
        <p:nvSpPr>
          <p:cNvPr id="106" name="Google Shape;106;p14"/>
          <p:cNvSpPr txBox="1"/>
          <p:nvPr/>
        </p:nvSpPr>
        <p:spPr>
          <a:xfrm>
            <a:off x="240179" y="5009489"/>
            <a:ext cx="5271247"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In the example above relative error is ~1/sqrt(N)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 1/sqrt(259.0) = 0.062  (or ~6%)</a:t>
            </a:r>
            <a:endParaRPr sz="1800" dirty="0">
              <a:solidFill>
                <a:schemeClr val="dk1"/>
              </a:solidFill>
              <a:latin typeface="Calibri"/>
              <a:ea typeface="Calibri"/>
              <a:cs typeface="Calibri"/>
              <a:sym typeface="Calibri"/>
            </a:endParaRPr>
          </a:p>
        </p:txBody>
      </p:sp>
      <p:cxnSp>
        <p:nvCxnSpPr>
          <p:cNvPr id="107" name="Google Shape;107;p14"/>
          <p:cNvCxnSpPr/>
          <p:nvPr/>
        </p:nvCxnSpPr>
        <p:spPr>
          <a:xfrm>
            <a:off x="6333565" y="3657598"/>
            <a:ext cx="5715000" cy="0"/>
          </a:xfrm>
          <a:prstGeom prst="straightConnector1">
            <a:avLst/>
          </a:prstGeom>
          <a:noFill/>
          <a:ln w="9525" cap="flat" cmpd="sng">
            <a:solidFill>
              <a:schemeClr val="accent1"/>
            </a:solidFill>
            <a:prstDash val="solid"/>
            <a:miter lim="800000"/>
            <a:headEnd type="none" w="sm" len="sm"/>
            <a:tailEnd type="none" w="sm" len="sm"/>
          </a:ln>
        </p:spPr>
      </p:cxnSp>
      <p:sp>
        <p:nvSpPr>
          <p:cNvPr id="108" name="Google Shape;108;p14"/>
          <p:cNvSpPr/>
          <p:nvPr/>
        </p:nvSpPr>
        <p:spPr>
          <a:xfrm>
            <a:off x="10954373" y="2070847"/>
            <a:ext cx="1160777" cy="2705682"/>
          </a:xfrm>
          <a:custGeom>
            <a:avLst/>
            <a:gdLst/>
            <a:ahLst/>
            <a:cxnLst/>
            <a:rect l="l" t="t" r="r" b="b"/>
            <a:pathLst>
              <a:path w="120000" h="120000" extrusionOk="0">
                <a:moveTo>
                  <a:pt x="514" y="0"/>
                </a:moveTo>
                <a:cubicBezTo>
                  <a:pt x="2252" y="4025"/>
                  <a:pt x="3990" y="8051"/>
                  <a:pt x="8855" y="12524"/>
                </a:cubicBezTo>
                <a:cubicBezTo>
                  <a:pt x="13721" y="16997"/>
                  <a:pt x="23683" y="23358"/>
                  <a:pt x="29707" y="26837"/>
                </a:cubicBezTo>
                <a:cubicBezTo>
                  <a:pt x="35731" y="30316"/>
                  <a:pt x="38280" y="31111"/>
                  <a:pt x="44999" y="33397"/>
                </a:cubicBezTo>
                <a:cubicBezTo>
                  <a:pt x="51718" y="35684"/>
                  <a:pt x="61681" y="38268"/>
                  <a:pt x="70022" y="40554"/>
                </a:cubicBezTo>
                <a:cubicBezTo>
                  <a:pt x="78362" y="42840"/>
                  <a:pt x="87167" y="44729"/>
                  <a:pt x="95044" y="47114"/>
                </a:cubicBezTo>
                <a:cubicBezTo>
                  <a:pt x="102922" y="49500"/>
                  <a:pt x="114274" y="51389"/>
                  <a:pt x="117286" y="54868"/>
                </a:cubicBezTo>
                <a:cubicBezTo>
                  <a:pt x="120298" y="58346"/>
                  <a:pt x="122847" y="62919"/>
                  <a:pt x="113116" y="67988"/>
                </a:cubicBezTo>
                <a:cubicBezTo>
                  <a:pt x="103385" y="73058"/>
                  <a:pt x="74655" y="80711"/>
                  <a:pt x="58900" y="85284"/>
                </a:cubicBezTo>
                <a:cubicBezTo>
                  <a:pt x="43145" y="89856"/>
                  <a:pt x="27159" y="91546"/>
                  <a:pt x="18586" y="95422"/>
                </a:cubicBezTo>
                <a:cubicBezTo>
                  <a:pt x="10014" y="99299"/>
                  <a:pt x="10477" y="104666"/>
                  <a:pt x="7465" y="108543"/>
                </a:cubicBezTo>
                <a:cubicBezTo>
                  <a:pt x="4453" y="112419"/>
                  <a:pt x="1673" y="116793"/>
                  <a:pt x="514" y="118682"/>
                </a:cubicBezTo>
                <a:cubicBezTo>
                  <a:pt x="-643" y="120570"/>
                  <a:pt x="514" y="119874"/>
                  <a:pt x="514" y="119874"/>
                </a:cubicBezTo>
              </a:path>
            </a:pathLst>
          </a:cu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TextBox 1">
            <a:extLst>
              <a:ext uri="{FF2B5EF4-FFF2-40B4-BE49-F238E27FC236}">
                <a16:creationId xmlns:a16="http://schemas.microsoft.com/office/drawing/2014/main" id="{F5E5BCC9-D4DE-DA4B-8902-7FE2DC3D025B}"/>
              </a:ext>
            </a:extLst>
          </p:cNvPr>
          <p:cNvSpPr txBox="1"/>
          <p:nvPr/>
        </p:nvSpPr>
        <p:spPr>
          <a:xfrm>
            <a:off x="6333565" y="5655820"/>
            <a:ext cx="5715000" cy="369332"/>
          </a:xfrm>
          <a:prstGeom prst="rect">
            <a:avLst/>
          </a:prstGeom>
          <a:noFill/>
        </p:spPr>
        <p:txBody>
          <a:bodyPr wrap="square" rtlCol="0">
            <a:spAutoFit/>
          </a:bodyPr>
          <a:lstStyle/>
          <a:p>
            <a:r>
              <a:rPr lang="en-US" dirty="0"/>
              <a:t>MCMC – Marko Chain Monte Carlo (random walk)</a:t>
            </a:r>
          </a:p>
        </p:txBody>
      </p:sp>
    </p:spTree>
    <p:extLst>
      <p:ext uri="{BB962C8B-B14F-4D97-AF65-F5344CB8AC3E}">
        <p14:creationId xmlns:p14="http://schemas.microsoft.com/office/powerpoint/2010/main" val="480527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title"/>
          </p:nvPr>
        </p:nvSpPr>
        <p:spPr>
          <a:xfrm>
            <a:off x="0" y="0"/>
            <a:ext cx="10515600" cy="1325563"/>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Calibri"/>
              <a:buNone/>
            </a:pPr>
            <a:r>
              <a:rPr lang="en-US" sz="4400" b="0" i="0" u="none" strike="noStrike" cap="none" dirty="0">
                <a:solidFill>
                  <a:schemeClr val="dk1"/>
                </a:solidFill>
                <a:latin typeface="Calibri"/>
                <a:ea typeface="Calibri"/>
                <a:cs typeface="Calibri"/>
                <a:sym typeface="Calibri"/>
              </a:rPr>
              <a:t>What is “Monte Carlo” ?</a:t>
            </a:r>
            <a:endParaRPr sz="4400" b="0" i="0" u="none" strike="noStrike" cap="none" dirty="0">
              <a:solidFill>
                <a:schemeClr val="dk1"/>
              </a:solidFill>
              <a:latin typeface="Calibri"/>
              <a:ea typeface="Calibri"/>
              <a:cs typeface="Calibri"/>
              <a:sym typeface="Calibri"/>
            </a:endParaRPr>
          </a:p>
        </p:txBody>
      </p:sp>
      <p:sp>
        <p:nvSpPr>
          <p:cNvPr id="89" name="Google Shape;89;p13"/>
          <p:cNvSpPr txBox="1"/>
          <p:nvPr/>
        </p:nvSpPr>
        <p:spPr>
          <a:xfrm>
            <a:off x="5817903" y="1125574"/>
            <a:ext cx="6233270" cy="5509200"/>
          </a:xfrm>
          <a:prstGeom prst="rect">
            <a:avLst/>
          </a:prstGeom>
          <a:noFill/>
          <a:ln>
            <a:noFill/>
          </a:ln>
        </p:spPr>
        <p:txBody>
          <a:bodyPr spcFirstLastPara="1" wrap="square" lIns="91425" tIns="45700" rIns="91425" bIns="45700" anchor="t" anchorCtr="0">
            <a:noAutofit/>
          </a:bodyPr>
          <a:lstStyle/>
          <a:p>
            <a:pPr lvl="0"/>
            <a:r>
              <a:rPr lang="en-US" sz="2000" b="1" dirty="0">
                <a:solidFill>
                  <a:srgbClr val="0070C0"/>
                </a:solidFill>
                <a:ea typeface="Calibri"/>
                <a:cs typeface="Calibri"/>
                <a:sym typeface="Calibri"/>
              </a:rPr>
              <a:t>Monte Carlo</a:t>
            </a:r>
            <a:r>
              <a:rPr lang="en-US" sz="2000" b="0" i="0" u="none" strike="noStrike" cap="none" dirty="0">
                <a:solidFill>
                  <a:schemeClr val="dk1"/>
                </a:solidFill>
                <a:latin typeface="Calibri"/>
                <a:ea typeface="Calibri"/>
                <a:cs typeface="Calibri"/>
                <a:sym typeface="Calibri"/>
              </a:rPr>
              <a:t> method - use random sampling to obtain numerical results. It was </a:t>
            </a:r>
            <a:r>
              <a:rPr lang="en-US" sz="2000" dirty="0">
                <a:solidFill>
                  <a:schemeClr val="dk1"/>
                </a:solidFill>
                <a:latin typeface="Calibri"/>
                <a:ea typeface="Calibri"/>
                <a:cs typeface="Calibri"/>
                <a:sym typeface="Calibri"/>
              </a:rPr>
              <a:t>invented in the late 1940s by </a:t>
            </a:r>
            <a:r>
              <a:rPr lang="en-US" sz="2000" b="1" dirty="0">
                <a:solidFill>
                  <a:srgbClr val="FF0000"/>
                </a:solidFill>
                <a:latin typeface="Calibri"/>
                <a:ea typeface="Calibri"/>
                <a:cs typeface="Calibri"/>
                <a:sym typeface="Calibri"/>
              </a:rPr>
              <a:t>Stanislaw </a:t>
            </a:r>
            <a:r>
              <a:rPr lang="en-US" sz="2000" b="1" dirty="0" err="1">
                <a:solidFill>
                  <a:srgbClr val="FF0000"/>
                </a:solidFill>
                <a:latin typeface="Calibri"/>
                <a:ea typeface="Calibri"/>
                <a:cs typeface="Calibri"/>
                <a:sym typeface="Calibri"/>
              </a:rPr>
              <a:t>Ulam</a:t>
            </a:r>
            <a:r>
              <a:rPr lang="en-US" sz="2000" dirty="0">
                <a:solidFill>
                  <a:schemeClr val="dk1"/>
                </a:solidFill>
                <a:latin typeface="Calibri"/>
                <a:ea typeface="Calibri"/>
                <a:cs typeface="Calibri"/>
                <a:sym typeface="Calibri"/>
              </a:rPr>
              <a:t>, while he was working on nuclear weapons projects at the Los Alamos National Laboratory. </a:t>
            </a: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lvl="0"/>
            <a:r>
              <a:rPr lang="en-US" sz="2000" b="1" dirty="0">
                <a:solidFill>
                  <a:srgbClr val="FF0000"/>
                </a:solidFill>
                <a:latin typeface="Calibri"/>
                <a:ea typeface="Calibri"/>
                <a:cs typeface="Calibri"/>
                <a:sym typeface="Calibri"/>
              </a:rPr>
              <a:t>Nicholas Metropolis</a:t>
            </a:r>
            <a:r>
              <a:rPr lang="en-US" sz="2000" dirty="0">
                <a:solidFill>
                  <a:schemeClr val="dk1"/>
                </a:solidFill>
                <a:latin typeface="Calibri"/>
                <a:ea typeface="Calibri"/>
                <a:cs typeface="Calibri"/>
                <a:sym typeface="Calibri"/>
              </a:rPr>
              <a:t>  has suggested using the name </a:t>
            </a:r>
            <a:r>
              <a:rPr lang="en-US" sz="2000" b="1" dirty="0">
                <a:solidFill>
                  <a:srgbClr val="0070C0"/>
                </a:solidFill>
                <a:latin typeface="Calibri"/>
                <a:ea typeface="Calibri"/>
                <a:cs typeface="Calibri"/>
                <a:sym typeface="Calibri"/>
              </a:rPr>
              <a:t>Monte Carlo</a:t>
            </a:r>
            <a:r>
              <a:rPr lang="en-US" sz="2000" dirty="0">
                <a:solidFill>
                  <a:schemeClr val="dk1"/>
                </a:solidFill>
                <a:latin typeface="Calibri"/>
                <a:ea typeface="Calibri"/>
                <a:cs typeface="Calibri"/>
                <a:sym typeface="Calibri"/>
              </a:rPr>
              <a:t>, which refers to the </a:t>
            </a:r>
            <a:r>
              <a:rPr lang="en-US" sz="2000" b="1" dirty="0">
                <a:solidFill>
                  <a:srgbClr val="0070C0"/>
                </a:solidFill>
                <a:ea typeface="Calibri"/>
                <a:cs typeface="Calibri"/>
                <a:sym typeface="Calibri"/>
              </a:rPr>
              <a:t>Monte Carlo</a:t>
            </a:r>
            <a:r>
              <a:rPr lang="en-US" sz="2000" dirty="0">
                <a:solidFill>
                  <a:schemeClr val="dk1"/>
                </a:solidFill>
                <a:latin typeface="Calibri"/>
                <a:ea typeface="Calibri"/>
                <a:cs typeface="Calibri"/>
                <a:sym typeface="Calibri"/>
              </a:rPr>
              <a:t> Casino in Monaco.</a:t>
            </a:r>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lvl="0"/>
            <a:r>
              <a:rPr lang="en-US" sz="2000" b="1" dirty="0">
                <a:solidFill>
                  <a:srgbClr val="0070C0"/>
                </a:solidFill>
                <a:ea typeface="Calibri"/>
                <a:cs typeface="Calibri"/>
                <a:sym typeface="Calibri"/>
              </a:rPr>
              <a:t>Monte Carlo</a:t>
            </a:r>
            <a:r>
              <a:rPr lang="en-US" sz="2000" dirty="0">
                <a:solidFill>
                  <a:schemeClr val="dk1"/>
                </a:solidFill>
                <a:latin typeface="Calibri"/>
                <a:ea typeface="Calibri"/>
                <a:cs typeface="Calibri"/>
                <a:sym typeface="Calibri"/>
              </a:rPr>
              <a:t> officially refers to an administrative area of the Principality of Monaco, specifically the ward of Monte Carlo/</a:t>
            </a:r>
            <a:r>
              <a:rPr lang="en-US" sz="2000" dirty="0" err="1">
                <a:solidFill>
                  <a:schemeClr val="dk1"/>
                </a:solidFill>
                <a:latin typeface="Calibri"/>
                <a:ea typeface="Calibri"/>
                <a:cs typeface="Calibri"/>
                <a:sym typeface="Calibri"/>
              </a:rPr>
              <a:t>Spélugues</a:t>
            </a:r>
            <a:r>
              <a:rPr lang="en-US" sz="2000" dirty="0">
                <a:solidFill>
                  <a:schemeClr val="dk1"/>
                </a:solidFill>
                <a:latin typeface="Calibri"/>
                <a:ea typeface="Calibri"/>
                <a:cs typeface="Calibri"/>
                <a:sym typeface="Calibri"/>
              </a:rPr>
              <a:t>, where the </a:t>
            </a:r>
            <a:r>
              <a:rPr lang="en-US" sz="2000" b="1" dirty="0">
                <a:solidFill>
                  <a:srgbClr val="0070C0"/>
                </a:solidFill>
                <a:ea typeface="Calibri"/>
                <a:cs typeface="Calibri"/>
                <a:sym typeface="Calibri"/>
              </a:rPr>
              <a:t>Monte Carlo</a:t>
            </a:r>
            <a:r>
              <a:rPr lang="en-US" sz="2000" dirty="0">
                <a:solidFill>
                  <a:schemeClr val="dk1"/>
                </a:solidFill>
                <a:latin typeface="Calibri"/>
                <a:ea typeface="Calibri"/>
                <a:cs typeface="Calibri"/>
                <a:sym typeface="Calibri"/>
              </a:rPr>
              <a:t> Casino is located. </a:t>
            </a: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Casino’s name “</a:t>
            </a:r>
            <a:r>
              <a:rPr lang="en-US" sz="2000" b="1" dirty="0">
                <a:solidFill>
                  <a:srgbClr val="FF0000"/>
                </a:solidFill>
                <a:latin typeface="Calibri"/>
                <a:ea typeface="Calibri"/>
                <a:cs typeface="Calibri"/>
                <a:sym typeface="Calibri"/>
              </a:rPr>
              <a:t>Monte Carlo</a:t>
            </a:r>
            <a:r>
              <a:rPr lang="en-US" sz="2000" dirty="0">
                <a:solidFill>
                  <a:schemeClr val="dk1"/>
                </a:solidFill>
                <a:latin typeface="Calibri"/>
                <a:ea typeface="Calibri"/>
                <a:cs typeface="Calibri"/>
                <a:sym typeface="Calibri"/>
              </a:rPr>
              <a:t>” means literally "</a:t>
            </a:r>
            <a:r>
              <a:rPr lang="en-US" sz="2000" b="1" dirty="0">
                <a:solidFill>
                  <a:srgbClr val="FF0000"/>
                </a:solidFill>
                <a:latin typeface="Calibri"/>
                <a:ea typeface="Calibri"/>
                <a:cs typeface="Calibri"/>
                <a:sym typeface="Calibri"/>
              </a:rPr>
              <a:t>Mount Charles</a:t>
            </a:r>
            <a:r>
              <a:rPr lang="en-US" sz="2000" dirty="0">
                <a:solidFill>
                  <a:schemeClr val="dk1"/>
                </a:solidFill>
                <a:latin typeface="Calibri"/>
                <a:ea typeface="Calibri"/>
                <a:cs typeface="Calibri"/>
                <a:sym typeface="Calibri"/>
              </a:rPr>
              <a:t>”. It was chosen in 1863 in honor of Charles III, Prince of Monaco.</a:t>
            </a:r>
            <a:endParaRPr sz="2000" dirty="0">
              <a:solidFill>
                <a:schemeClr val="dk1"/>
              </a:solidFill>
              <a:latin typeface="Calibri"/>
              <a:ea typeface="Calibri"/>
              <a:cs typeface="Calibri"/>
              <a:sym typeface="Calibri"/>
            </a:endParaRPr>
          </a:p>
        </p:txBody>
      </p:sp>
      <p:pic>
        <p:nvPicPr>
          <p:cNvPr id="90" name="Google Shape;90;p13"/>
          <p:cNvPicPr preferRelativeResize="0"/>
          <p:nvPr/>
        </p:nvPicPr>
        <p:blipFill rotWithShape="1">
          <a:blip r:embed="rId3">
            <a:alphaModFix/>
          </a:blip>
          <a:srcRect/>
          <a:stretch/>
        </p:blipFill>
        <p:spPr>
          <a:xfrm>
            <a:off x="0" y="5372131"/>
            <a:ext cx="2666451" cy="1485870"/>
          </a:xfrm>
          <a:prstGeom prst="rect">
            <a:avLst/>
          </a:prstGeom>
          <a:noFill/>
          <a:ln>
            <a:noFill/>
          </a:ln>
        </p:spPr>
      </p:pic>
      <p:pic>
        <p:nvPicPr>
          <p:cNvPr id="91" name="Google Shape;91;p13"/>
          <p:cNvPicPr preferRelativeResize="0"/>
          <p:nvPr/>
        </p:nvPicPr>
        <p:blipFill rotWithShape="1">
          <a:blip r:embed="rId4">
            <a:alphaModFix/>
          </a:blip>
          <a:srcRect/>
          <a:stretch/>
        </p:blipFill>
        <p:spPr>
          <a:xfrm>
            <a:off x="2813325" y="5372131"/>
            <a:ext cx="1868300" cy="1262643"/>
          </a:xfrm>
          <a:prstGeom prst="rect">
            <a:avLst/>
          </a:prstGeom>
          <a:noFill/>
          <a:ln>
            <a:noFill/>
          </a:ln>
        </p:spPr>
      </p:pic>
      <p:pic>
        <p:nvPicPr>
          <p:cNvPr id="92" name="Google Shape;92;p13"/>
          <p:cNvPicPr preferRelativeResize="0"/>
          <p:nvPr/>
        </p:nvPicPr>
        <p:blipFill rotWithShape="1">
          <a:blip r:embed="rId5">
            <a:alphaModFix/>
          </a:blip>
          <a:srcRect/>
          <a:stretch/>
        </p:blipFill>
        <p:spPr>
          <a:xfrm>
            <a:off x="83291" y="4112025"/>
            <a:ext cx="2030506" cy="853242"/>
          </a:xfrm>
          <a:prstGeom prst="rect">
            <a:avLst/>
          </a:prstGeom>
          <a:noFill/>
          <a:ln>
            <a:noFill/>
          </a:ln>
        </p:spPr>
      </p:pic>
      <p:pic>
        <p:nvPicPr>
          <p:cNvPr id="93" name="Google Shape;93;p13"/>
          <p:cNvPicPr preferRelativeResize="0"/>
          <p:nvPr/>
        </p:nvPicPr>
        <p:blipFill rotWithShape="1">
          <a:blip r:embed="rId6">
            <a:alphaModFix/>
          </a:blip>
          <a:srcRect/>
          <a:stretch/>
        </p:blipFill>
        <p:spPr>
          <a:xfrm>
            <a:off x="121023" y="1147135"/>
            <a:ext cx="1524000" cy="1727200"/>
          </a:xfrm>
          <a:prstGeom prst="rect">
            <a:avLst/>
          </a:prstGeom>
          <a:noFill/>
          <a:ln>
            <a:noFill/>
          </a:ln>
        </p:spPr>
      </p:pic>
      <p:sp>
        <p:nvSpPr>
          <p:cNvPr id="94" name="Google Shape;94;p13"/>
          <p:cNvSpPr txBox="1"/>
          <p:nvPr/>
        </p:nvSpPr>
        <p:spPr>
          <a:xfrm>
            <a:off x="0" y="2989874"/>
            <a:ext cx="170147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Stanislaw Ulam</a:t>
            </a:r>
            <a:endParaRPr sz="1800">
              <a:solidFill>
                <a:schemeClr val="dk1"/>
              </a:solidFill>
              <a:latin typeface="Calibri"/>
              <a:ea typeface="Calibri"/>
              <a:cs typeface="Calibri"/>
              <a:sym typeface="Calibri"/>
            </a:endParaRPr>
          </a:p>
        </p:txBody>
      </p:sp>
      <p:pic>
        <p:nvPicPr>
          <p:cNvPr id="95" name="Google Shape;95;p13"/>
          <p:cNvPicPr preferRelativeResize="0"/>
          <p:nvPr/>
        </p:nvPicPr>
        <p:blipFill rotWithShape="1">
          <a:blip r:embed="rId7">
            <a:alphaModFix/>
          </a:blip>
          <a:srcRect/>
          <a:stretch/>
        </p:blipFill>
        <p:spPr>
          <a:xfrm>
            <a:off x="1701479" y="1147136"/>
            <a:ext cx="1351004" cy="1756928"/>
          </a:xfrm>
          <a:prstGeom prst="rect">
            <a:avLst/>
          </a:prstGeom>
          <a:noFill/>
          <a:ln>
            <a:noFill/>
          </a:ln>
        </p:spPr>
      </p:pic>
      <p:pic>
        <p:nvPicPr>
          <p:cNvPr id="96" name="Google Shape;96;p13"/>
          <p:cNvPicPr preferRelativeResize="0"/>
          <p:nvPr/>
        </p:nvPicPr>
        <p:blipFill rotWithShape="1">
          <a:blip r:embed="rId8">
            <a:alphaModFix/>
          </a:blip>
          <a:srcRect/>
          <a:stretch/>
        </p:blipFill>
        <p:spPr>
          <a:xfrm>
            <a:off x="3168438" y="1162276"/>
            <a:ext cx="1513187" cy="1741787"/>
          </a:xfrm>
          <a:prstGeom prst="rect">
            <a:avLst/>
          </a:prstGeom>
          <a:noFill/>
          <a:ln>
            <a:noFill/>
          </a:ln>
        </p:spPr>
      </p:pic>
      <p:sp>
        <p:nvSpPr>
          <p:cNvPr id="97" name="Google Shape;97;p13"/>
          <p:cNvSpPr txBox="1"/>
          <p:nvPr/>
        </p:nvSpPr>
        <p:spPr>
          <a:xfrm>
            <a:off x="1535573" y="3021505"/>
            <a:ext cx="211045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John von Neuman</a:t>
            </a:r>
            <a:endParaRPr sz="1800">
              <a:solidFill>
                <a:schemeClr val="dk1"/>
              </a:solidFill>
              <a:latin typeface="Calibri"/>
              <a:ea typeface="Calibri"/>
              <a:cs typeface="Calibri"/>
              <a:sym typeface="Calibri"/>
            </a:endParaRPr>
          </a:p>
        </p:txBody>
      </p:sp>
      <p:sp>
        <p:nvSpPr>
          <p:cNvPr id="98" name="Google Shape;98;p13"/>
          <p:cNvSpPr txBox="1"/>
          <p:nvPr/>
        </p:nvSpPr>
        <p:spPr>
          <a:xfrm>
            <a:off x="3358853" y="2962784"/>
            <a:ext cx="214050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Nicholas Metropolis</a:t>
            </a:r>
            <a:endParaRPr/>
          </a:p>
        </p:txBody>
      </p:sp>
    </p:spTree>
    <p:extLst>
      <p:ext uri="{BB962C8B-B14F-4D97-AF65-F5344CB8AC3E}">
        <p14:creationId xmlns:p14="http://schemas.microsoft.com/office/powerpoint/2010/main" val="3994472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p:nvPr/>
        </p:nvSpPr>
        <p:spPr>
          <a:xfrm>
            <a:off x="0" y="1"/>
            <a:ext cx="10111409" cy="504092"/>
          </a:xfrm>
          <a:prstGeom prst="rect">
            <a:avLst/>
          </a:prstGeom>
          <a:noFill/>
          <a:ln>
            <a:noFill/>
          </a:ln>
        </p:spPr>
        <p:txBody>
          <a:bodyPr spcFirstLastPara="1" wrap="square" lIns="91425" tIns="45700" rIns="91425" bIns="45700" anchor="t" anchorCtr="0">
            <a:noAutofit/>
          </a:bodyPr>
          <a:lstStyle/>
          <a:p>
            <a:pPr lvl="0"/>
            <a:r>
              <a:rPr lang="en-US" sz="3200" b="1" dirty="0">
                <a:solidFill>
                  <a:schemeClr val="dk1"/>
                </a:solidFill>
                <a:latin typeface="Calibri"/>
                <a:ea typeface="Calibri"/>
                <a:cs typeface="Calibri"/>
                <a:sym typeface="Calibri"/>
              </a:rPr>
              <a:t>Time series forecasting with Multiple Linear Regression</a:t>
            </a:r>
            <a:endParaRPr dirty="0">
              <a:solidFill>
                <a:schemeClr val="dk1"/>
              </a:solidFill>
              <a:latin typeface="Calibri"/>
              <a:ea typeface="Calibri"/>
              <a:cs typeface="Calibri"/>
              <a:sym typeface="Calibri"/>
            </a:endParaRPr>
          </a:p>
        </p:txBody>
      </p:sp>
      <p:sp>
        <p:nvSpPr>
          <p:cNvPr id="9" name="Google Shape;128;p18">
            <a:extLst>
              <a:ext uri="{FF2B5EF4-FFF2-40B4-BE49-F238E27FC236}">
                <a16:creationId xmlns:a16="http://schemas.microsoft.com/office/drawing/2014/main" id="{8F7BEC96-1F67-3A4A-BDC6-D3E7C2840DF6}"/>
              </a:ext>
            </a:extLst>
          </p:cNvPr>
          <p:cNvSpPr txBox="1"/>
          <p:nvPr/>
        </p:nvSpPr>
        <p:spPr>
          <a:xfrm>
            <a:off x="105508" y="740025"/>
            <a:ext cx="6626595" cy="2155575"/>
          </a:xfrm>
          <a:prstGeom prst="rect">
            <a:avLst/>
          </a:prstGeom>
          <a:noFill/>
          <a:ln>
            <a:noFill/>
          </a:ln>
        </p:spPr>
        <p:txBody>
          <a:bodyPr spcFirstLastPara="1" wrap="square" lIns="91425" tIns="45700" rIns="91425" bIns="45700" anchor="t" anchorCtr="0">
            <a:noAutofit/>
          </a:bodyPr>
          <a:lstStyle/>
          <a:p>
            <a:pPr lvl="0"/>
            <a:r>
              <a:rPr lang="en-US" dirty="0">
                <a:solidFill>
                  <a:schemeClr val="tx1"/>
                </a:solidFill>
                <a:latin typeface="Calibri"/>
                <a:ea typeface="Calibri"/>
                <a:cs typeface="Calibri"/>
                <a:sym typeface="Calibri"/>
              </a:rPr>
              <a:t>Use multi-dimensional linear regression to get coefficients of the model.</a:t>
            </a:r>
          </a:p>
          <a:p>
            <a:pPr lvl="0"/>
            <a:r>
              <a:rPr lang="en-US" dirty="0">
                <a:solidFill>
                  <a:schemeClr val="tx1"/>
                </a:solidFill>
                <a:latin typeface="Calibri"/>
                <a:ea typeface="Calibri"/>
                <a:cs typeface="Calibri"/>
                <a:sym typeface="Calibri"/>
              </a:rPr>
              <a:t>  .. Take quarterly values (or monthly values) – and put them into separate columns.</a:t>
            </a:r>
          </a:p>
          <a:p>
            <a:pPr lvl="0"/>
            <a:r>
              <a:rPr lang="en-US" dirty="0">
                <a:solidFill>
                  <a:schemeClr val="tx1"/>
                </a:solidFill>
                <a:latin typeface="Calibri"/>
                <a:ea typeface="Calibri"/>
                <a:cs typeface="Calibri"/>
                <a:sym typeface="Calibri"/>
              </a:rPr>
              <a:t>     This way we have multiple time </a:t>
            </a:r>
            <a:r>
              <a:rPr lang="en-US" dirty="0" err="1">
                <a:solidFill>
                  <a:schemeClr val="tx1"/>
                </a:solidFill>
                <a:latin typeface="Calibri"/>
                <a:ea typeface="Calibri"/>
                <a:cs typeface="Calibri"/>
                <a:sym typeface="Calibri"/>
              </a:rPr>
              <a:t>serieses</a:t>
            </a:r>
            <a:r>
              <a:rPr lang="en-US" dirty="0">
                <a:solidFill>
                  <a:schemeClr val="tx1"/>
                </a:solidFill>
                <a:latin typeface="Calibri"/>
                <a:ea typeface="Calibri"/>
                <a:cs typeface="Calibri"/>
                <a:sym typeface="Calibri"/>
              </a:rPr>
              <a:t> </a:t>
            </a:r>
          </a:p>
          <a:p>
            <a:pPr lvl="0"/>
            <a:r>
              <a:rPr lang="en-US" dirty="0">
                <a:solidFill>
                  <a:schemeClr val="tx1"/>
                </a:solidFill>
                <a:latin typeface="Calibri"/>
                <a:ea typeface="Calibri"/>
                <a:cs typeface="Calibri"/>
                <a:sym typeface="Calibri"/>
              </a:rPr>
              <a:t>  .. Model trend as a polynomial function – need to tune coefficients. </a:t>
            </a:r>
          </a:p>
          <a:p>
            <a:pPr lvl="0"/>
            <a:endParaRPr lang="en-US" dirty="0">
              <a:solidFill>
                <a:schemeClr val="tx1"/>
              </a:solidFill>
              <a:latin typeface="Calibri"/>
              <a:ea typeface="Calibri"/>
              <a:cs typeface="Calibri"/>
              <a:sym typeface="Calibri"/>
            </a:endParaRPr>
          </a:p>
          <a:p>
            <a:pPr lvl="0"/>
            <a:r>
              <a:rPr lang="en-US" dirty="0">
                <a:solidFill>
                  <a:schemeClr val="tx1"/>
                </a:solidFill>
                <a:latin typeface="Calibri"/>
                <a:ea typeface="Calibri"/>
                <a:cs typeface="Calibri"/>
                <a:sym typeface="Calibri"/>
              </a:rPr>
              <a:t>We use regular linear regression model to find best fit and find coefficients.</a:t>
            </a:r>
          </a:p>
          <a:p>
            <a:pPr lvl="0"/>
            <a:endParaRPr lang="en-US" dirty="0">
              <a:solidFill>
                <a:schemeClr val="tx1"/>
              </a:solidFill>
              <a:latin typeface="Calibri"/>
              <a:ea typeface="Calibri"/>
              <a:cs typeface="Calibri"/>
              <a:sym typeface="Calibri"/>
            </a:endParaRPr>
          </a:p>
          <a:p>
            <a:pPr lvl="0"/>
            <a:r>
              <a:rPr lang="en-US" dirty="0">
                <a:solidFill>
                  <a:schemeClr val="tx1"/>
                </a:solidFill>
                <a:latin typeface="Calibri"/>
                <a:ea typeface="Calibri"/>
                <a:cs typeface="Calibri"/>
                <a:sym typeface="Calibri"/>
              </a:rPr>
              <a:t>Here is a nice description with Python code:</a:t>
            </a:r>
          </a:p>
          <a:p>
            <a:pPr lvl="0"/>
            <a:r>
              <a:rPr lang="en-US" dirty="0">
                <a:solidFill>
                  <a:schemeClr val="tx1"/>
                </a:solidFill>
                <a:latin typeface="Calibri"/>
                <a:ea typeface="Calibri"/>
                <a:cs typeface="Calibri"/>
                <a:sym typeface="Calibri"/>
              </a:rPr>
              <a:t> - </a:t>
            </a:r>
            <a:r>
              <a:rPr lang="en-US" dirty="0">
                <a:solidFill>
                  <a:schemeClr val="tx1"/>
                </a:solidFill>
                <a:latin typeface="Calibri"/>
                <a:ea typeface="Calibri"/>
                <a:cs typeface="Calibri"/>
                <a:sym typeface="Calibri"/>
                <a:hlinkClick r:id="rId3"/>
              </a:rPr>
              <a:t>https://www.youtube.com/watch?v=td9QLuijh9c</a:t>
            </a:r>
            <a:r>
              <a:rPr lang="en-US" dirty="0">
                <a:solidFill>
                  <a:schemeClr val="tx1"/>
                </a:solidFill>
                <a:latin typeface="Calibri"/>
                <a:ea typeface="Calibri"/>
                <a:cs typeface="Calibri"/>
                <a:sym typeface="Calibri"/>
              </a:rPr>
              <a:t> </a:t>
            </a:r>
          </a:p>
          <a:p>
            <a:pPr lvl="0"/>
            <a:endParaRPr lang="en-US" dirty="0">
              <a:solidFill>
                <a:schemeClr val="tx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6E061529-AA92-DA42-94CF-F672A3F17A1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580832" y="3131532"/>
            <a:ext cx="7030335" cy="3325314"/>
          </a:xfrm>
          <a:prstGeom prst="rect">
            <a:avLst/>
          </a:prstGeom>
        </p:spPr>
      </p:pic>
    </p:spTree>
    <p:extLst>
      <p:ext uri="{BB962C8B-B14F-4D97-AF65-F5344CB8AC3E}">
        <p14:creationId xmlns:p14="http://schemas.microsoft.com/office/powerpoint/2010/main" val="2815330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p:nvPr/>
        </p:nvSpPr>
        <p:spPr>
          <a:xfrm>
            <a:off x="0" y="0"/>
            <a:ext cx="7025400" cy="3345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Regression: Ridge, LASSO, Elastic Net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Multivariate (multiple) Linear Regression Regularization.</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Suppose we have a OLS (Ordinary Linear Squared) regression where two parameters x1 &amp; x2 </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are not orthogonal, but in fact highly correlated.</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Then there may be is infinite number of coefficients which will fit the model.</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For example, (x1 - x2), (10*x1 - 10*x2), (100*x1 - 100*x2), etc.</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If we are trying to minimize the cost function in the multidimensional </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space of coefficients, we will get an infinite diagonal groove (ridge) for x1=x2.</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Any place at the bottom of this ridge is equally good for us.</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So we will get a big variability in possible values of coefficients for x1 &amp; x2.</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The solution will be unstable.</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We can reduce this variability by adding additional regularization factor like this:</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p:txBody>
      </p:sp>
      <p:pic>
        <p:nvPicPr>
          <p:cNvPr id="117" name="Google Shape;117;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768703" y="4231125"/>
            <a:ext cx="3549800" cy="1810400"/>
          </a:xfrm>
          <a:prstGeom prst="rect">
            <a:avLst/>
          </a:prstGeom>
          <a:noFill/>
          <a:ln>
            <a:noFill/>
          </a:ln>
        </p:spPr>
      </p:pic>
      <p:pic>
        <p:nvPicPr>
          <p:cNvPr id="118" name="Google Shape;118;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895201" y="223025"/>
            <a:ext cx="5296801" cy="2665060"/>
          </a:xfrm>
          <a:prstGeom prst="rect">
            <a:avLst/>
          </a:prstGeom>
          <a:noFill/>
          <a:ln>
            <a:noFill/>
          </a:ln>
        </p:spPr>
      </p:pic>
      <p:pic>
        <p:nvPicPr>
          <p:cNvPr id="119" name="Google Shape;119;p17"/>
          <p:cNvPicPr preferRelativeResize="0"/>
          <p:nvPr/>
        </p:nvPicPr>
        <p:blipFill>
          <a:blip r:embed="rId5">
            <a:alphaModFix/>
          </a:blip>
          <a:stretch>
            <a:fillRect/>
          </a:stretch>
        </p:blipFill>
        <p:spPr>
          <a:xfrm>
            <a:off x="390275" y="3345300"/>
            <a:ext cx="5267325" cy="885825"/>
          </a:xfrm>
          <a:prstGeom prst="rect">
            <a:avLst/>
          </a:prstGeom>
          <a:noFill/>
          <a:ln>
            <a:noFill/>
          </a:ln>
        </p:spPr>
      </p:pic>
      <p:sp>
        <p:nvSpPr>
          <p:cNvPr id="120" name="Google Shape;120;p17"/>
          <p:cNvSpPr txBox="1"/>
          <p:nvPr/>
        </p:nvSpPr>
        <p:spPr>
          <a:xfrm>
            <a:off x="0" y="4231125"/>
            <a:ext cx="7025400" cy="266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latin typeface="Calibri"/>
                <a:ea typeface="Calibri"/>
                <a:cs typeface="Calibri"/>
                <a:sym typeface="Calibri"/>
              </a:rPr>
              <a:t>When we minimizing this expression, bigger  "lambda" value will cause smaller "beta" values, thus keeping the coefficients "beta" from becoming too large. </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This is called "</a:t>
            </a:r>
            <a:r>
              <a:rPr lang="en-US" b="1">
                <a:solidFill>
                  <a:srgbClr val="0000FF"/>
                </a:solidFill>
                <a:latin typeface="Calibri"/>
                <a:ea typeface="Calibri"/>
                <a:cs typeface="Calibri"/>
                <a:sym typeface="Calibri"/>
              </a:rPr>
              <a:t>Ridge Regression</a:t>
            </a:r>
            <a:r>
              <a:rPr lang="en-US">
                <a:solidFill>
                  <a:schemeClr val="dk1"/>
                </a:solidFill>
                <a:latin typeface="Calibri"/>
                <a:ea typeface="Calibri"/>
                <a:cs typeface="Calibri"/>
                <a:sym typeface="Calibri"/>
              </a:rPr>
              <a:t>". It changes the infinitely long ridge into a local minimum.</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In </a:t>
            </a:r>
            <a:r>
              <a:rPr lang="en-US" b="1">
                <a:solidFill>
                  <a:srgbClr val="0000FF"/>
                </a:solidFill>
                <a:latin typeface="Calibri"/>
                <a:ea typeface="Calibri"/>
                <a:cs typeface="Calibri"/>
                <a:sym typeface="Calibri"/>
              </a:rPr>
              <a:t>Ridge Regression</a:t>
            </a:r>
            <a:r>
              <a:rPr lang="en-US">
                <a:solidFill>
                  <a:schemeClr val="dk1"/>
                </a:solidFill>
                <a:latin typeface="Calibri"/>
                <a:ea typeface="Calibri"/>
                <a:cs typeface="Calibri"/>
                <a:sym typeface="Calibri"/>
              </a:rPr>
              <a:t> we add a "</a:t>
            </a:r>
            <a:r>
              <a:rPr lang="en-US" b="1">
                <a:solidFill>
                  <a:srgbClr val="0000FF"/>
                </a:solidFill>
                <a:latin typeface="Calibri"/>
                <a:ea typeface="Calibri"/>
                <a:cs typeface="Calibri"/>
                <a:sym typeface="Calibri"/>
              </a:rPr>
              <a:t>regularization</a:t>
            </a:r>
            <a:r>
              <a:rPr lang="en-US">
                <a:solidFill>
                  <a:schemeClr val="dk1"/>
                </a:solidFill>
                <a:latin typeface="Calibri"/>
                <a:ea typeface="Calibri"/>
                <a:cs typeface="Calibri"/>
                <a:sym typeface="Calibri"/>
              </a:rPr>
              <a:t>" term as sum of squares (</a:t>
            </a:r>
            <a:r>
              <a:rPr lang="en-US" b="1">
                <a:solidFill>
                  <a:srgbClr val="0000FF"/>
                </a:solidFill>
                <a:latin typeface="Calibri"/>
                <a:ea typeface="Calibri"/>
                <a:cs typeface="Calibri"/>
                <a:sym typeface="Calibri"/>
              </a:rPr>
              <a:t>L2 norm</a:t>
            </a:r>
            <a:r>
              <a:rPr lang="en-US">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If instead we use </a:t>
            </a:r>
            <a:r>
              <a:rPr lang="en-US" b="1">
                <a:solidFill>
                  <a:srgbClr val="0000FF"/>
                </a:solidFill>
                <a:latin typeface="Calibri"/>
                <a:ea typeface="Calibri"/>
                <a:cs typeface="Calibri"/>
                <a:sym typeface="Calibri"/>
              </a:rPr>
              <a:t>L1 norm</a:t>
            </a:r>
            <a:r>
              <a:rPr lang="en-US">
                <a:solidFill>
                  <a:schemeClr val="dk1"/>
                </a:solidFill>
                <a:latin typeface="Calibri"/>
                <a:ea typeface="Calibri"/>
                <a:cs typeface="Calibri"/>
                <a:sym typeface="Calibri"/>
              </a:rPr>
              <a:t> (sum of abs values) - it is called "LASSO Regression",</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where </a:t>
            </a:r>
            <a:r>
              <a:rPr lang="en-US" b="1">
                <a:solidFill>
                  <a:srgbClr val="0000FF"/>
                </a:solidFill>
                <a:latin typeface="Calibri"/>
                <a:ea typeface="Calibri"/>
                <a:cs typeface="Calibri"/>
                <a:sym typeface="Calibri"/>
              </a:rPr>
              <a:t>LASSO = Least Absolute Shrinkage and Selection Operator</a:t>
            </a:r>
            <a:r>
              <a:rPr lang="en-US">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LASSO favors solutions on the tips of the bounding surface for coefficients, where some of coefficients are zero. Thus it favors "sparse" solutions.</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A combination of Ridge Regression and LASSO Regression is called "</a:t>
            </a:r>
            <a:r>
              <a:rPr lang="en-US" b="1">
                <a:solidFill>
                  <a:srgbClr val="0000FF"/>
                </a:solidFill>
                <a:latin typeface="Calibri"/>
                <a:ea typeface="Calibri"/>
                <a:cs typeface="Calibri"/>
                <a:sym typeface="Calibri"/>
              </a:rPr>
              <a:t>Elastic Net</a:t>
            </a:r>
            <a:r>
              <a:rPr lang="en-US">
                <a:solidFill>
                  <a:schemeClr val="dk1"/>
                </a:solidFill>
                <a:latin typeface="Calibri"/>
                <a:ea typeface="Calibri"/>
                <a:cs typeface="Calibri"/>
                <a:sym typeface="Calibri"/>
              </a:rPr>
              <a:t>"</a:t>
            </a:r>
            <a:endParaRPr/>
          </a:p>
        </p:txBody>
      </p:sp>
      <p:sp>
        <p:nvSpPr>
          <p:cNvPr id="121" name="Google Shape;121;p17"/>
          <p:cNvSpPr txBox="1"/>
          <p:nvPr/>
        </p:nvSpPr>
        <p:spPr>
          <a:xfrm>
            <a:off x="7090350" y="3025700"/>
            <a:ext cx="4906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Why Ridge Regression is called Ridge ...</a:t>
            </a:r>
            <a:endParaRPr/>
          </a:p>
        </p:txBody>
      </p:sp>
      <p:sp>
        <p:nvSpPr>
          <p:cNvPr id="122" name="Google Shape;122;p17"/>
          <p:cNvSpPr txBox="1"/>
          <p:nvPr/>
        </p:nvSpPr>
        <p:spPr>
          <a:xfrm>
            <a:off x="7173950" y="6151750"/>
            <a:ext cx="4906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Why LASSO favors sparse solutions</a:t>
            </a:r>
            <a:endParaRPr/>
          </a:p>
        </p:txBody>
      </p:sp>
    </p:spTree>
    <p:extLst>
      <p:ext uri="{BB962C8B-B14F-4D97-AF65-F5344CB8AC3E}">
        <p14:creationId xmlns:p14="http://schemas.microsoft.com/office/powerpoint/2010/main" val="813067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p:nvPr/>
        </p:nvSpPr>
        <p:spPr>
          <a:xfrm>
            <a:off x="123986" y="108488"/>
            <a:ext cx="7253207" cy="743400"/>
          </a:xfrm>
          <a:prstGeom prst="rect">
            <a:avLst/>
          </a:prstGeom>
          <a:noFill/>
          <a:ln>
            <a:noFill/>
          </a:ln>
        </p:spPr>
        <p:txBody>
          <a:bodyPr spcFirstLastPara="1" wrap="square" lIns="91425" tIns="91425" rIns="91425" bIns="91425" anchor="t" anchorCtr="0">
            <a:noAutofit/>
          </a:bodyPr>
          <a:lstStyle/>
          <a:p>
            <a:pPr lvl="0"/>
            <a:r>
              <a:rPr lang="en-US" sz="3000" b="1" dirty="0"/>
              <a:t>Multivariate Forecasting Using LSTM</a:t>
            </a:r>
            <a:endParaRPr sz="3000" b="1" dirty="0"/>
          </a:p>
        </p:txBody>
      </p:sp>
      <p:sp>
        <p:nvSpPr>
          <p:cNvPr id="141" name="Google Shape;141;p20"/>
          <p:cNvSpPr txBox="1"/>
          <p:nvPr/>
        </p:nvSpPr>
        <p:spPr>
          <a:xfrm>
            <a:off x="278930" y="1059300"/>
            <a:ext cx="9255600" cy="4739400"/>
          </a:xfrm>
          <a:prstGeom prst="rect">
            <a:avLst/>
          </a:prstGeom>
          <a:noFill/>
          <a:ln>
            <a:noFill/>
          </a:ln>
        </p:spPr>
        <p:txBody>
          <a:bodyPr spcFirstLastPara="1" wrap="square" lIns="91425" tIns="91425" rIns="91425" bIns="91425" anchor="t" anchorCtr="0">
            <a:noAutofit/>
          </a:bodyPr>
          <a:lstStyle/>
          <a:p>
            <a:pPr lvl="0">
              <a:buClr>
                <a:schemeClr val="dk1"/>
              </a:buClr>
            </a:pPr>
            <a:r>
              <a:rPr lang="en-US" sz="2000" dirty="0">
                <a:solidFill>
                  <a:schemeClr val="dk1"/>
                </a:solidFill>
                <a:latin typeface="Calibri"/>
                <a:ea typeface="Calibri"/>
                <a:cs typeface="Calibri"/>
                <a:sym typeface="Calibri"/>
              </a:rPr>
              <a:t>Multivariate Time Series Forecasting with LSTMs in </a:t>
            </a:r>
            <a:r>
              <a:rPr lang="en-US" sz="2000" dirty="0" err="1">
                <a:solidFill>
                  <a:schemeClr val="dk1"/>
                </a:solidFill>
                <a:latin typeface="Calibri"/>
                <a:ea typeface="Calibri"/>
                <a:cs typeface="Calibri"/>
                <a:sym typeface="Calibri"/>
              </a:rPr>
              <a:t>Keras</a:t>
            </a:r>
            <a:r>
              <a:rPr lang="en-US" sz="2000" dirty="0">
                <a:solidFill>
                  <a:schemeClr val="dk1"/>
                </a:solidFill>
                <a:latin typeface="Calibri"/>
                <a:ea typeface="Calibri"/>
                <a:cs typeface="Calibri"/>
                <a:sym typeface="Calibri"/>
              </a:rPr>
              <a:t> (2020) - by Jason Brownlee</a:t>
            </a:r>
            <a:endParaRPr sz="20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sz="2000" dirty="0">
                <a:solidFill>
                  <a:schemeClr val="dk1"/>
                </a:solidFill>
                <a:latin typeface="Calibri"/>
                <a:ea typeface="Calibri"/>
                <a:cs typeface="Calibri"/>
                <a:sym typeface="Calibri"/>
              </a:rPr>
              <a:t> - </a:t>
            </a:r>
            <a:r>
              <a:rPr lang="en-US" sz="2000" u="sng" dirty="0">
                <a:solidFill>
                  <a:schemeClr val="hlink"/>
                </a:solidFill>
                <a:latin typeface="Calibri"/>
                <a:ea typeface="Calibri"/>
                <a:cs typeface="Calibri"/>
                <a:sym typeface="Calibri"/>
                <a:hlinkClick r:id="rId3"/>
              </a:rPr>
              <a:t>https://machinelearningmastery.com/multivariate-time-series-forecasting-lstms-keras/</a:t>
            </a:r>
            <a:endParaRPr sz="20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endParaRPr sz="2000" dirty="0">
              <a:solidFill>
                <a:schemeClr val="dk1"/>
              </a:solidFill>
              <a:latin typeface="Calibri"/>
              <a:ea typeface="Calibri"/>
              <a:cs typeface="Calibri"/>
              <a:sym typeface="Calibri"/>
            </a:endParaRPr>
          </a:p>
          <a:p>
            <a:pPr lvl="0">
              <a:buClr>
                <a:schemeClr val="dk1"/>
              </a:buClr>
            </a:pPr>
            <a:r>
              <a:rPr lang="en-US" sz="2000" dirty="0">
                <a:solidFill>
                  <a:schemeClr val="dk1"/>
                </a:solidFill>
                <a:latin typeface="Calibri"/>
                <a:ea typeface="Calibri"/>
                <a:cs typeface="Calibri"/>
                <a:sym typeface="Calibri"/>
              </a:rPr>
              <a:t>Time Series Prediction With Deep Learning in </a:t>
            </a:r>
            <a:r>
              <a:rPr lang="en-US" sz="2000" dirty="0" err="1">
                <a:solidFill>
                  <a:schemeClr val="dk1"/>
                </a:solidFill>
                <a:latin typeface="Calibri"/>
                <a:ea typeface="Calibri"/>
                <a:cs typeface="Calibri"/>
                <a:sym typeface="Calibri"/>
              </a:rPr>
              <a:t>Keras</a:t>
            </a:r>
            <a:r>
              <a:rPr lang="en-US" sz="2000" dirty="0">
                <a:solidFill>
                  <a:schemeClr val="dk1"/>
                </a:solidFill>
                <a:latin typeface="Calibri"/>
                <a:ea typeface="Calibri"/>
                <a:cs typeface="Calibri"/>
                <a:sym typeface="Calibri"/>
              </a:rPr>
              <a:t> (2020) - by Jason Brownlee</a:t>
            </a:r>
            <a:endParaRPr sz="20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sz="2000" dirty="0">
                <a:solidFill>
                  <a:schemeClr val="dk1"/>
                </a:solidFill>
                <a:latin typeface="Calibri"/>
                <a:ea typeface="Calibri"/>
                <a:cs typeface="Calibri"/>
                <a:sym typeface="Calibri"/>
              </a:rPr>
              <a:t> - </a:t>
            </a:r>
            <a:r>
              <a:rPr lang="en-US" sz="2000" u="sng" dirty="0">
                <a:solidFill>
                  <a:schemeClr val="hlink"/>
                </a:solidFill>
                <a:latin typeface="Calibri"/>
                <a:ea typeface="Calibri"/>
                <a:cs typeface="Calibri"/>
                <a:sym typeface="Calibri"/>
                <a:hlinkClick r:id="rId4"/>
              </a:rPr>
              <a:t>https://machinelearningmastery.com/time-series-prediction-with-deep-learning-in-python-with-keras/</a:t>
            </a:r>
            <a:endParaRPr sz="2000" dirty="0">
              <a:solidFill>
                <a:schemeClr val="dk1"/>
              </a:solidFill>
              <a:latin typeface="Calibri"/>
              <a:ea typeface="Calibri"/>
              <a:cs typeface="Calibri"/>
              <a:sym typeface="Calibri"/>
            </a:endParaRPr>
          </a:p>
          <a:p>
            <a:pPr marL="0" lvl="0" indent="0" algn="l" rtl="0">
              <a:spcBef>
                <a:spcPts val="0"/>
              </a:spcBef>
              <a:spcAft>
                <a:spcPts val="0"/>
              </a:spcAft>
              <a:buNone/>
            </a:pPr>
            <a:endParaRPr lang="en-US" sz="2000" dirty="0"/>
          </a:p>
          <a:p>
            <a:pPr lvl="0"/>
            <a:r>
              <a:rPr lang="en-US" sz="2000" dirty="0">
                <a:solidFill>
                  <a:schemeClr val="dk1"/>
                </a:solidFill>
                <a:latin typeface="Calibri"/>
                <a:ea typeface="Calibri"/>
                <a:cs typeface="Calibri"/>
                <a:sym typeface="Calibri"/>
              </a:rPr>
              <a:t>Neural networks for algorithmic trading. Multivariate time series (2017)</a:t>
            </a:r>
          </a:p>
          <a:p>
            <a:pPr lvl="0"/>
            <a:r>
              <a:rPr lang="en-US" sz="2000" dirty="0">
                <a:solidFill>
                  <a:schemeClr val="dk1"/>
                </a:solidFill>
                <a:latin typeface="Calibri"/>
                <a:ea typeface="Calibri"/>
                <a:cs typeface="Calibri"/>
                <a:sym typeface="Calibri"/>
              </a:rPr>
              <a:t> - </a:t>
            </a:r>
            <a:r>
              <a:rPr lang="en-US" sz="2000" u="sng" dirty="0">
                <a:solidFill>
                  <a:schemeClr val="hlink"/>
                </a:solidFill>
                <a:latin typeface="Calibri"/>
                <a:ea typeface="Calibri"/>
                <a:cs typeface="Calibri"/>
                <a:sym typeface="Calibri"/>
                <a:hlinkClick r:id="rId5"/>
              </a:rPr>
              <a:t>https://medium.com/machine-learning-world/neural-networks-for-algorithmic-trading-2-1-multivariate-time-series-ab016ce70f57</a:t>
            </a:r>
            <a:endParaRPr lang="en-US" sz="2000" dirty="0">
              <a:solidFill>
                <a:schemeClr val="dk1"/>
              </a:solidFill>
              <a:latin typeface="Calibri"/>
              <a:ea typeface="Calibri"/>
              <a:cs typeface="Calibri"/>
              <a:sym typeface="Calibri"/>
            </a:endParaRPr>
          </a:p>
          <a:p>
            <a:pPr lvl="0"/>
            <a:endParaRPr lang="en-US" sz="2000" dirty="0">
              <a:solidFill>
                <a:schemeClr val="dk1"/>
              </a:solidFill>
              <a:latin typeface="Calibri"/>
              <a:ea typeface="Calibri"/>
              <a:cs typeface="Calibri"/>
              <a:sym typeface="Calibri"/>
            </a:endParaRPr>
          </a:p>
          <a:p>
            <a:pPr lvl="0"/>
            <a:r>
              <a:rPr lang="en-US" sz="2000" dirty="0">
                <a:solidFill>
                  <a:schemeClr val="dk1"/>
                </a:solidFill>
                <a:latin typeface="Calibri"/>
                <a:ea typeface="Calibri"/>
                <a:cs typeface="Calibri"/>
                <a:sym typeface="Calibri"/>
              </a:rPr>
              <a:t>Energy Demand Time Series Forecasting (2017)</a:t>
            </a:r>
          </a:p>
          <a:p>
            <a:pPr lvl="0"/>
            <a:r>
              <a:rPr lang="en-US" sz="2000" dirty="0">
                <a:solidFill>
                  <a:schemeClr val="dk1"/>
                </a:solidFill>
                <a:latin typeface="Calibri"/>
                <a:ea typeface="Calibri"/>
                <a:cs typeface="Calibri"/>
                <a:sym typeface="Calibri"/>
              </a:rPr>
              <a:t> - </a:t>
            </a:r>
            <a:r>
              <a:rPr lang="en-US" sz="2000" u="sng" dirty="0">
                <a:solidFill>
                  <a:schemeClr val="hlink"/>
                </a:solidFill>
                <a:latin typeface="Calibri"/>
                <a:ea typeface="Calibri"/>
                <a:cs typeface="Calibri"/>
                <a:sym typeface="Calibri"/>
                <a:hlinkClick r:id="rId6"/>
              </a:rPr>
              <a:t>https://github.com/Azure/MachineLearningSamples-EnergyDemandTimeSeriesForecasting</a:t>
            </a:r>
            <a:endParaRPr lang="en-US" sz="2000" dirty="0">
              <a:solidFill>
                <a:schemeClr val="dk1"/>
              </a:solidFill>
              <a:latin typeface="Calibri"/>
              <a:ea typeface="Calibri"/>
              <a:cs typeface="Calibri"/>
              <a:sym typeface="Calibri"/>
            </a:endParaRPr>
          </a:p>
          <a:p>
            <a:pPr marL="0" lvl="0" indent="0" algn="l" rtl="0">
              <a:spcBef>
                <a:spcPts val="0"/>
              </a:spcBef>
              <a:spcAft>
                <a:spcPts val="0"/>
              </a:spcAft>
              <a:buNone/>
            </a:pPr>
            <a:endParaRPr sz="2000" dirty="0"/>
          </a:p>
        </p:txBody>
      </p:sp>
      <p:pic>
        <p:nvPicPr>
          <p:cNvPr id="2" name="Picture 1">
            <a:extLst>
              <a:ext uri="{FF2B5EF4-FFF2-40B4-BE49-F238E27FC236}">
                <a16:creationId xmlns:a16="http://schemas.microsoft.com/office/drawing/2014/main" id="{A605C3C9-07DC-A547-9DA7-C5B2F7CD7F4B}"/>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022747" y="4495800"/>
            <a:ext cx="2993737" cy="2253712"/>
          </a:xfrm>
          <a:prstGeom prst="rect">
            <a:avLst/>
          </a:prstGeom>
        </p:spPr>
      </p:pic>
    </p:spTree>
    <p:extLst>
      <p:ext uri="{BB962C8B-B14F-4D97-AF65-F5344CB8AC3E}">
        <p14:creationId xmlns:p14="http://schemas.microsoft.com/office/powerpoint/2010/main" val="3599632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p:nvPr/>
        </p:nvSpPr>
        <p:spPr>
          <a:xfrm>
            <a:off x="1" y="1"/>
            <a:ext cx="6546574" cy="504092"/>
          </a:xfrm>
          <a:prstGeom prst="rect">
            <a:avLst/>
          </a:prstGeom>
          <a:noFill/>
          <a:ln>
            <a:noFill/>
          </a:ln>
        </p:spPr>
        <p:txBody>
          <a:bodyPr spcFirstLastPara="1" wrap="square" lIns="91425" tIns="45700" rIns="91425" bIns="45700" anchor="t" anchorCtr="0">
            <a:noAutofit/>
          </a:bodyPr>
          <a:lstStyle/>
          <a:p>
            <a:pPr lvl="0"/>
            <a:r>
              <a:rPr lang="en-US" sz="3200" b="1" dirty="0" err="1">
                <a:solidFill>
                  <a:schemeClr val="dk1"/>
                </a:solidFill>
                <a:latin typeface="Calibri"/>
                <a:ea typeface="Calibri"/>
                <a:cs typeface="Calibri"/>
                <a:sym typeface="Calibri"/>
              </a:rPr>
              <a:t>XGBoost</a:t>
            </a:r>
            <a:r>
              <a:rPr lang="en-US" sz="3200" b="1" dirty="0">
                <a:solidFill>
                  <a:schemeClr val="dk1"/>
                </a:solidFill>
                <a:latin typeface="Calibri"/>
                <a:ea typeface="Calibri"/>
                <a:cs typeface="Calibri"/>
                <a:sym typeface="Calibri"/>
              </a:rPr>
              <a:t> for Time Series Forecasting</a:t>
            </a:r>
            <a:endParaRPr dirty="0">
              <a:solidFill>
                <a:schemeClr val="dk1"/>
              </a:solidFill>
              <a:latin typeface="Calibri"/>
              <a:ea typeface="Calibri"/>
              <a:cs typeface="Calibri"/>
              <a:sym typeface="Calibri"/>
            </a:endParaRPr>
          </a:p>
        </p:txBody>
      </p:sp>
      <p:sp>
        <p:nvSpPr>
          <p:cNvPr id="9" name="Google Shape;128;p18">
            <a:extLst>
              <a:ext uri="{FF2B5EF4-FFF2-40B4-BE49-F238E27FC236}">
                <a16:creationId xmlns:a16="http://schemas.microsoft.com/office/drawing/2014/main" id="{8F7BEC96-1F67-3A4A-BDC6-D3E7C2840DF6}"/>
              </a:ext>
            </a:extLst>
          </p:cNvPr>
          <p:cNvSpPr txBox="1"/>
          <p:nvPr/>
        </p:nvSpPr>
        <p:spPr>
          <a:xfrm>
            <a:off x="105509" y="740025"/>
            <a:ext cx="5897726" cy="4348810"/>
          </a:xfrm>
          <a:prstGeom prst="rect">
            <a:avLst/>
          </a:prstGeom>
          <a:noFill/>
          <a:ln>
            <a:noFill/>
          </a:ln>
        </p:spPr>
        <p:txBody>
          <a:bodyPr spcFirstLastPara="1" wrap="square" lIns="91425" tIns="45700" rIns="91425" bIns="45700" anchor="t" anchorCtr="0">
            <a:noAutofit/>
          </a:bodyPr>
          <a:lstStyle/>
          <a:p>
            <a:pPr lvl="0"/>
            <a:r>
              <a:rPr lang="en-US" dirty="0">
                <a:solidFill>
                  <a:schemeClr val="tx1"/>
                </a:solidFill>
                <a:latin typeface="Calibri"/>
                <a:ea typeface="Calibri"/>
                <a:cs typeface="Calibri"/>
                <a:sym typeface="Calibri"/>
              </a:rPr>
              <a:t>"""</a:t>
            </a:r>
          </a:p>
          <a:p>
            <a:pPr lvl="0"/>
            <a:r>
              <a:rPr lang="en-US" dirty="0" err="1">
                <a:solidFill>
                  <a:schemeClr val="tx1"/>
                </a:solidFill>
                <a:latin typeface="Calibri"/>
                <a:ea typeface="Calibri"/>
                <a:cs typeface="Calibri"/>
                <a:sym typeface="Calibri"/>
              </a:rPr>
              <a:t>XGBoost</a:t>
            </a:r>
            <a:r>
              <a:rPr lang="en-US" dirty="0">
                <a:solidFill>
                  <a:schemeClr val="tx1"/>
                </a:solidFill>
                <a:latin typeface="Calibri"/>
                <a:ea typeface="Calibri"/>
                <a:cs typeface="Calibri"/>
                <a:sym typeface="Calibri"/>
              </a:rPr>
              <a:t> can be used for time series forecasting, although it requires that the time series dataset be transformed into a supervised learning problem first. </a:t>
            </a:r>
          </a:p>
          <a:p>
            <a:pPr lvl="0"/>
            <a:endParaRPr lang="en-US" dirty="0">
              <a:solidFill>
                <a:schemeClr val="tx1"/>
              </a:solidFill>
              <a:latin typeface="Calibri"/>
              <a:ea typeface="Calibri"/>
              <a:cs typeface="Calibri"/>
              <a:sym typeface="Calibri"/>
            </a:endParaRPr>
          </a:p>
          <a:p>
            <a:pPr lvl="0"/>
            <a:r>
              <a:rPr lang="en-US" dirty="0">
                <a:solidFill>
                  <a:schemeClr val="tx1"/>
                </a:solidFill>
                <a:latin typeface="Calibri"/>
                <a:ea typeface="Calibri"/>
                <a:cs typeface="Calibri"/>
                <a:sym typeface="Calibri"/>
              </a:rPr>
              <a:t>It also requires the use of a specialized technique for evaluating the model called walk-forward validation, as evaluating the model using k-fold cross validation would result in optimistically biased results.</a:t>
            </a:r>
          </a:p>
          <a:p>
            <a:pPr lvl="0"/>
            <a:r>
              <a:rPr lang="en-US" dirty="0">
                <a:solidFill>
                  <a:schemeClr val="tx1"/>
                </a:solidFill>
                <a:latin typeface="Calibri"/>
                <a:ea typeface="Calibri"/>
                <a:cs typeface="Calibri"/>
                <a:sym typeface="Calibri"/>
              </a:rPr>
              <a:t>"""</a:t>
            </a:r>
          </a:p>
          <a:p>
            <a:pPr lvl="0"/>
            <a:r>
              <a:rPr lang="en-US" dirty="0">
                <a:solidFill>
                  <a:schemeClr val="tx1"/>
                </a:solidFill>
                <a:latin typeface="Calibri"/>
                <a:ea typeface="Calibri"/>
                <a:cs typeface="Calibri"/>
                <a:sym typeface="Calibri"/>
              </a:rPr>
              <a:t> - Jason Brownlee</a:t>
            </a:r>
          </a:p>
          <a:p>
            <a:pPr lvl="0"/>
            <a:r>
              <a:rPr lang="en-US" dirty="0">
                <a:solidFill>
                  <a:schemeClr val="tx1"/>
                </a:solidFill>
                <a:latin typeface="Calibri"/>
                <a:ea typeface="Calibri"/>
                <a:cs typeface="Calibri"/>
                <a:sym typeface="Calibri"/>
                <a:hlinkClick r:id="rId3"/>
              </a:rPr>
              <a:t>https://machinelearningmastery.com/</a:t>
            </a:r>
            <a:endParaRPr lang="en-US" dirty="0">
              <a:solidFill>
                <a:schemeClr val="tx1"/>
              </a:solidFill>
              <a:latin typeface="Calibri"/>
              <a:ea typeface="Calibri"/>
              <a:cs typeface="Calibri"/>
              <a:sym typeface="Calibri"/>
            </a:endParaRPr>
          </a:p>
          <a:p>
            <a:pPr lvl="0"/>
            <a:endParaRPr lang="en-US" dirty="0">
              <a:solidFill>
                <a:schemeClr val="tx1"/>
              </a:solidFill>
              <a:latin typeface="Calibri"/>
              <a:ea typeface="Calibri"/>
              <a:cs typeface="Calibri"/>
              <a:sym typeface="Calibri"/>
            </a:endParaRPr>
          </a:p>
          <a:p>
            <a:pPr lvl="0"/>
            <a:r>
              <a:rPr lang="en-US" dirty="0">
                <a:solidFill>
                  <a:schemeClr val="tx1"/>
                </a:solidFill>
                <a:latin typeface="Calibri"/>
                <a:ea typeface="Calibri"/>
                <a:cs typeface="Calibri"/>
                <a:sym typeface="Calibri"/>
              </a:rPr>
              <a:t>Here are some links with python code:</a:t>
            </a:r>
          </a:p>
          <a:p>
            <a:pPr marL="0" marR="0" lvl="0" indent="0" algn="l" rtl="0">
              <a:spcBef>
                <a:spcPts val="0"/>
              </a:spcBef>
              <a:spcAft>
                <a:spcPts val="0"/>
              </a:spcAft>
              <a:buNone/>
            </a:pPr>
            <a:endParaRPr lang="en-US" dirty="0">
              <a:solidFill>
                <a:schemeClr val="tx1"/>
              </a:solidFill>
              <a:latin typeface="Calibri"/>
              <a:ea typeface="Calibri"/>
              <a:cs typeface="Calibri"/>
              <a:sym typeface="Calibri"/>
            </a:endParaRPr>
          </a:p>
          <a:p>
            <a:pPr lvl="0"/>
            <a:r>
              <a:rPr lang="en-US" dirty="0">
                <a:solidFill>
                  <a:schemeClr val="tx1"/>
                </a:solidFill>
                <a:latin typeface="Calibri"/>
                <a:ea typeface="Calibri"/>
                <a:cs typeface="Calibri"/>
                <a:sym typeface="Calibri"/>
              </a:rPr>
              <a:t> - </a:t>
            </a:r>
            <a:r>
              <a:rPr lang="en-US" dirty="0">
                <a:solidFill>
                  <a:schemeClr val="tx1"/>
                </a:solidFill>
                <a:latin typeface="Calibri"/>
                <a:ea typeface="Calibri"/>
                <a:cs typeface="Calibri"/>
                <a:sym typeface="Calibri"/>
                <a:hlinkClick r:id="rId4"/>
              </a:rPr>
              <a:t>https://machinelearningmastery.com/xgboost-for-time-series-forecasting/</a:t>
            </a:r>
            <a:r>
              <a:rPr lang="en-US" dirty="0">
                <a:solidFill>
                  <a:schemeClr val="tx1"/>
                </a:solidFill>
                <a:latin typeface="Calibri"/>
                <a:ea typeface="Calibri"/>
                <a:cs typeface="Calibri"/>
                <a:sym typeface="Calibri"/>
              </a:rPr>
              <a:t> -</a:t>
            </a:r>
          </a:p>
          <a:p>
            <a:pPr lvl="0"/>
            <a:endParaRPr lang="en-US" dirty="0">
              <a:solidFill>
                <a:schemeClr val="tx1"/>
              </a:solidFill>
              <a:latin typeface="Calibri"/>
              <a:ea typeface="Calibri"/>
              <a:cs typeface="Calibri"/>
              <a:sym typeface="Calibri"/>
            </a:endParaRPr>
          </a:p>
          <a:p>
            <a:pPr lvl="0"/>
            <a:r>
              <a:rPr lang="en-US" dirty="0">
                <a:solidFill>
                  <a:schemeClr val="tx1"/>
                </a:solidFill>
                <a:latin typeface="Calibri"/>
                <a:ea typeface="Calibri"/>
                <a:cs typeface="Calibri"/>
                <a:sym typeface="Calibri"/>
              </a:rPr>
              <a:t> - </a:t>
            </a:r>
            <a:r>
              <a:rPr lang="en-US" dirty="0">
                <a:solidFill>
                  <a:schemeClr val="tx1"/>
                </a:solidFill>
                <a:latin typeface="Calibri"/>
                <a:ea typeface="Calibri"/>
                <a:cs typeface="Calibri"/>
                <a:sym typeface="Calibri"/>
                <a:hlinkClick r:id="rId5"/>
              </a:rPr>
              <a:t>https://www.kaggle.com/getting-started/48536</a:t>
            </a:r>
            <a:r>
              <a:rPr lang="en-US" dirty="0">
                <a:solidFill>
                  <a:schemeClr val="tx1"/>
                </a:solidFill>
                <a:latin typeface="Calibri"/>
                <a:ea typeface="Calibri"/>
                <a:cs typeface="Calibri"/>
                <a:sym typeface="Calibri"/>
              </a:rPr>
              <a:t> - </a:t>
            </a:r>
          </a:p>
          <a:p>
            <a:pPr lvl="0"/>
            <a:endParaRPr lang="en-US" dirty="0">
              <a:solidFill>
                <a:schemeClr val="tx1"/>
              </a:solidFill>
              <a:latin typeface="Calibri"/>
              <a:ea typeface="Calibri"/>
              <a:cs typeface="Calibri"/>
              <a:sym typeface="Calibri"/>
            </a:endParaRPr>
          </a:p>
          <a:p>
            <a:pPr lvl="0"/>
            <a:r>
              <a:rPr lang="en-US" dirty="0">
                <a:solidFill>
                  <a:schemeClr val="tx1"/>
                </a:solidFill>
                <a:latin typeface="Calibri"/>
                <a:ea typeface="Calibri"/>
                <a:cs typeface="Calibri"/>
                <a:sym typeface="Calibri"/>
              </a:rPr>
              <a:t> - </a:t>
            </a:r>
            <a:r>
              <a:rPr lang="en-US" dirty="0">
                <a:solidFill>
                  <a:schemeClr val="tx1"/>
                </a:solidFill>
                <a:latin typeface="Calibri"/>
                <a:ea typeface="Calibri"/>
                <a:cs typeface="Calibri"/>
                <a:sym typeface="Calibri"/>
                <a:hlinkClick r:id="rId6"/>
              </a:rPr>
              <a:t>https://towardsdatascience.com/using-gradient-boosting-for-time-series-prediction-tasks-600fac66a5fc</a:t>
            </a:r>
            <a:r>
              <a:rPr lang="en-US" dirty="0">
                <a:solidFill>
                  <a:schemeClr val="tx1"/>
                </a:solidFill>
                <a:latin typeface="Calibri"/>
                <a:ea typeface="Calibri"/>
                <a:cs typeface="Calibri"/>
                <a:sym typeface="Calibri"/>
              </a:rPr>
              <a:t>  </a:t>
            </a:r>
          </a:p>
          <a:p>
            <a:pPr lvl="0"/>
            <a:endParaRPr lang="en-US" dirty="0">
              <a:solidFill>
                <a:schemeClr val="tx1"/>
              </a:solidFill>
              <a:latin typeface="Calibri"/>
              <a:ea typeface="Calibri"/>
              <a:cs typeface="Calibri"/>
              <a:sym typeface="Calibri"/>
            </a:endParaRPr>
          </a:p>
          <a:p>
            <a:pPr marL="0" marR="0" lvl="0" indent="0" algn="l" rtl="0">
              <a:spcBef>
                <a:spcPts val="0"/>
              </a:spcBef>
              <a:spcAft>
                <a:spcPts val="0"/>
              </a:spcAft>
              <a:buNone/>
            </a:pPr>
            <a:endParaRPr lang="en-US" dirty="0">
              <a:solidFill>
                <a:schemeClr val="tx1"/>
              </a:solidFill>
            </a:endParaRPr>
          </a:p>
        </p:txBody>
      </p:sp>
      <p:sp>
        <p:nvSpPr>
          <p:cNvPr id="2" name="TextBox 1">
            <a:extLst>
              <a:ext uri="{FF2B5EF4-FFF2-40B4-BE49-F238E27FC236}">
                <a16:creationId xmlns:a16="http://schemas.microsoft.com/office/drawing/2014/main" id="{CA5CC953-CE3C-7D44-83D5-5B4FA5C9F4ED}"/>
              </a:ext>
            </a:extLst>
          </p:cNvPr>
          <p:cNvSpPr txBox="1"/>
          <p:nvPr/>
        </p:nvSpPr>
        <p:spPr>
          <a:xfrm>
            <a:off x="7316217" y="1074713"/>
            <a:ext cx="4770274" cy="5016758"/>
          </a:xfrm>
          <a:prstGeom prst="rect">
            <a:avLst/>
          </a:prstGeom>
          <a:noFill/>
        </p:spPr>
        <p:txBody>
          <a:bodyPr wrap="square" rtlCol="0">
            <a:spAutoFit/>
          </a:bodyPr>
          <a:lstStyle/>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finalize model and make a prediction for monthly births with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xgboost</a:t>
            </a:r>
            <a:endParaRPr lang="en-US" sz="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from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numpy</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import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asarray</a:t>
            </a:r>
            <a:endParaRPr lang="en-US" sz="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from pandas import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read_csv</a:t>
            </a:r>
            <a:endParaRPr lang="en-US" sz="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from pandas import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DataFrame</a:t>
            </a:r>
            <a:endParaRPr lang="en-US" sz="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from pandas import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concat</a:t>
            </a:r>
            <a:endParaRPr lang="en-US" sz="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from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xgboost</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import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XGBRegressor</a:t>
            </a:r>
            <a:endParaRPr lang="en-US" sz="800" dirty="0">
              <a:solidFill>
                <a:srgbClr val="0070C0"/>
              </a:solidFill>
              <a:latin typeface="Menlo" panose="020B0609030804020204" pitchFamily="49" charset="0"/>
              <a:ea typeface="Menlo" panose="020B0609030804020204" pitchFamily="49" charset="0"/>
              <a:cs typeface="Menlo" panose="020B0609030804020204" pitchFamily="49" charset="0"/>
            </a:endParaRPr>
          </a:p>
          <a:p>
            <a:endParaRPr lang="en-US" sz="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transform a time series dataset into a supervised learning dataset</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def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series_to_supervised</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(data,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n_in</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=1,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n_out</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=1,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dropnan</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=True):</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n_vars</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 1 if type(data) is list else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data.shape</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[1]</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df =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DataFrame</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(data)</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cols = list()</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 input sequence (t-n, ... t-1)</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for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i</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in range(</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n_in</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0, -1):</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cols.append</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df.shift</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i</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 forecast sequence (t, t+1, ...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t+n</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for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i</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in range(0,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n_out</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cols.append</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df.shift</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i</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 put it all together</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agg</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concat</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(cols, axis=1)</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 drop rows with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NaN</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values</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if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dropnan</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agg.dropna</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inplace</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=True)</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return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agg.values</a:t>
            </a:r>
            <a:endParaRPr lang="en-US" sz="800" dirty="0">
              <a:solidFill>
                <a:srgbClr val="0070C0"/>
              </a:solidFill>
              <a:latin typeface="Menlo" panose="020B0609030804020204" pitchFamily="49" charset="0"/>
              <a:ea typeface="Menlo" panose="020B0609030804020204" pitchFamily="49" charset="0"/>
              <a:cs typeface="Menlo" panose="020B0609030804020204" pitchFamily="49" charset="0"/>
            </a:endParaRPr>
          </a:p>
          <a:p>
            <a:endParaRPr lang="en-US" sz="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load the dataset</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series =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read_csv</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('daily-total-female-</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births.csv</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header=0,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index_col</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=0)</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values =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series.values</a:t>
            </a:r>
            <a:endParaRPr lang="en-US" sz="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transform the time series data into supervised learning</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train =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series_to_supervised</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(values,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n_in</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=6)</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split into input and output columns</a:t>
            </a:r>
          </a:p>
          <a:p>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trainX</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trainy</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 train[:, :-1], train[:, -1]</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fit model</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model =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XGBRegressor</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(objective='</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reg:squarederror</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n_estimators</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=1000)</a:t>
            </a:r>
          </a:p>
          <a:p>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model.fit</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trainX</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trainy</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construct an input for a new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preduction</a:t>
            </a:r>
            <a:endParaRPr lang="en-US" sz="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row = values[-6:].flatten()</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make a one-step prediction</a:t>
            </a:r>
          </a:p>
          <a:p>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yhat</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model.predict</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asarray</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([row]))</a:t>
            </a:r>
          </a:p>
          <a:p>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print('Input: %s, Predicted: %.3f' % (row, </a:t>
            </a:r>
            <a:r>
              <a:rPr lang="en-US" sz="800" dirty="0" err="1">
                <a:solidFill>
                  <a:srgbClr val="0070C0"/>
                </a:solidFill>
                <a:latin typeface="Menlo" panose="020B0609030804020204" pitchFamily="49" charset="0"/>
                <a:ea typeface="Menlo" panose="020B0609030804020204" pitchFamily="49" charset="0"/>
                <a:cs typeface="Menlo" panose="020B0609030804020204" pitchFamily="49" charset="0"/>
              </a:rPr>
              <a:t>yhat</a:t>
            </a:r>
            <a:r>
              <a:rPr lang="en-US" sz="800" dirty="0">
                <a:solidFill>
                  <a:srgbClr val="0070C0"/>
                </a:solidFill>
                <a:latin typeface="Menlo" panose="020B0609030804020204" pitchFamily="49" charset="0"/>
                <a:ea typeface="Menlo" panose="020B0609030804020204" pitchFamily="49" charset="0"/>
                <a:cs typeface="Menlo" panose="020B0609030804020204" pitchFamily="49" charset="0"/>
              </a:rPr>
              <a:t>[0]))</a:t>
            </a:r>
          </a:p>
        </p:txBody>
      </p:sp>
    </p:spTree>
    <p:extLst>
      <p:ext uri="{BB962C8B-B14F-4D97-AF65-F5344CB8AC3E}">
        <p14:creationId xmlns:p14="http://schemas.microsoft.com/office/powerpoint/2010/main" val="380189161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758</TotalTime>
  <Words>2743</Words>
  <Application>Microsoft Macintosh PowerPoint</Application>
  <PresentationFormat>Widescreen</PresentationFormat>
  <Paragraphs>264</Paragraphs>
  <Slides>16</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Monte Carlo Examples:</vt:lpstr>
      <vt:lpstr>What is “Monte Carlo”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54</cp:revision>
  <dcterms:modified xsi:type="dcterms:W3CDTF">2021-02-05T21:50:04Z</dcterms:modified>
</cp:coreProperties>
</file>