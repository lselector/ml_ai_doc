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"/>
  </p:notesMasterIdLst>
  <p:sldIdLst>
    <p:sldId id="264" r:id="rId2"/>
    <p:sldId id="259" r:id="rId3"/>
    <p:sldId id="263" r:id="rId4"/>
    <p:sldId id="270" r:id="rId5"/>
    <p:sldId id="269" r:id="rId6"/>
    <p:sldId id="271" r:id="rId7"/>
    <p:sldId id="272" r:id="rId8"/>
    <p:sldId id="261" r:id="rId9"/>
    <p:sldId id="260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585"/>
    <p:restoredTop sz="94729"/>
  </p:normalViewPr>
  <p:slideViewPr>
    <p:cSldViewPr snapToGrid="0" snapToObjects="1">
      <p:cViewPr varScale="1">
        <p:scale>
          <a:sx n="109" d="100"/>
          <a:sy n="109" d="100"/>
        </p:scale>
        <p:origin x="5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d3fc44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ccfd3fc44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eb86a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4eb86a6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a4eb86a6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eb86a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4eb86a6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a4eb86a6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908303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eb86a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4eb86a6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a4eb86a6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01695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eb86a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4eb86a6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a4eb86a6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59961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a4eb86a6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a4eb86a6d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g3a4eb86a6d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669803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5bee0b5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3d5bee0b5a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g3d5bee0b5a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d5559a5d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g3d5559a5d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Font typeface="Arial"/>
              <a:buNone/>
              <a:defRPr sz="24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sz="20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sz="18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sz="16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pawarbi.github.io/blog/forecasting/python/powerbi/forecasting_in_powerbi/2020/04/24/timeseries-powerbi.html" TargetMode="External"/><Relationship Id="rId3" Type="http://schemas.openxmlformats.org/officeDocument/2006/relationships/image" Target="../media/image5.tiff"/><Relationship Id="rId7" Type="http://schemas.openxmlformats.org/officeDocument/2006/relationships/hyperlink" Target="https://stoneridgesoftware.com/take-advantage-of-forecasting-in-power-bi-with-the-analytics-pane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powerbi.microsoft.com/en-us/blog/introducing-new-forecasting-capabilities-in-power-view-for-office-365/#:~:text=The%20Power%20BI%20Team&amp;text=Forecasting%20in%20Power%20View%20utilizes,from%20a%20series%20of%20data" TargetMode="External"/><Relationship Id="rId5" Type="http://schemas.openxmlformats.org/officeDocument/2006/relationships/hyperlink" Target="https://powerbi.microsoft.com/es-es/blog/describing-the-forecasting-models-in-power-view/#ETSAAA" TargetMode="External"/><Relationship Id="rId4" Type="http://schemas.openxmlformats.org/officeDocument/2006/relationships/hyperlink" Target="https://otexts.com/fpp2/holt-winters.html" TargetMode="External"/><Relationship Id="rId9" Type="http://schemas.openxmlformats.org/officeDocument/2006/relationships/hyperlink" Target="https://pawarbi.github.io/blog/forecasting/python/powerbi/forecasting_in_powerbi/2020/04/24/timeseries-powerbi.html#ETS(AAN)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ourownstory/neural_prophet" TargetMode="External"/><Relationship Id="rId3" Type="http://schemas.openxmlformats.org/officeDocument/2006/relationships/hyperlink" Target="https://github.com/facebook/prophet" TargetMode="External"/><Relationship Id="rId7" Type="http://schemas.openxmlformats.org/officeDocument/2006/relationships/hyperlink" Target="https://towardsdatascience.com/neural-prophet-a-time-series-modeling-library-based-on-neural-networks-dd02dc8d868d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databricks.com/blog/2020/01/27/time-series-forecasting-prophet-spark.html" TargetMode="External"/><Relationship Id="rId11" Type="http://schemas.openxmlformats.org/officeDocument/2006/relationships/image" Target="../media/image6.jpeg"/><Relationship Id="rId5" Type="http://schemas.openxmlformats.org/officeDocument/2006/relationships/hyperlink" Target="https://facebook.github.io/prophet/docs/quick_start.html" TargetMode="External"/><Relationship Id="rId10" Type="http://schemas.openxmlformats.org/officeDocument/2006/relationships/hyperlink" Target="https://ai.facebook.com/blog/ar-net-a-simple-autoregressive-neural-network-for-time-series/" TargetMode="External"/><Relationship Id="rId4" Type="http://schemas.openxmlformats.org/officeDocument/2006/relationships/hyperlink" Target="https://youtu.be/pOYAXv15r3A" TargetMode="External"/><Relationship Id="rId9" Type="http://schemas.openxmlformats.org/officeDocument/2006/relationships/hyperlink" Target="https://pytorch.org/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achinelearningmastery.com/multivariate-time-series-forecasting-lstms-keras/" TargetMode="External"/><Relationship Id="rId7" Type="http://schemas.openxmlformats.org/officeDocument/2006/relationships/image" Target="../media/image7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github.com/Azure/MachineLearningSamples-EnergyDemandTimeSeriesForecasting" TargetMode="External"/><Relationship Id="rId5" Type="http://schemas.openxmlformats.org/officeDocument/2006/relationships/hyperlink" Target="https://medium.com/machine-learning-world/neural-networks-for-algorithmic-trading-2-1-multivariate-time-series-ab016ce70f57" TargetMode="External"/><Relationship Id="rId4" Type="http://schemas.openxmlformats.org/officeDocument/2006/relationships/hyperlink" Target="https://machinelearningmastery.com/time-series-prediction-with-deep-learning-in-python-with-keras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microsoft.com/en-us/azure/synapse-analytics/machine-learning/tutorial-auto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tiff"/><Relationship Id="rId5" Type="http://schemas.openxmlformats.org/officeDocument/2006/relationships/image" Target="../media/image8.tiff"/><Relationship Id="rId4" Type="http://schemas.openxmlformats.org/officeDocument/2006/relationships/hyperlink" Target="https://www.sqlshack.com/microsoft-time-series-in-sql-server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allcentrehelper.com/calculate-forecast-accuracy-113808.ht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towardsdatascience.com/holt-winters-exponential-smoothing-d703072c0572" TargetMode="External"/><Relationship Id="rId4" Type="http://schemas.openxmlformats.org/officeDocument/2006/relationships/hyperlink" Target="https://people.duke.edu/~rnau/411arim.htm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0F4EAC-E786-1B49-B7B2-BBBF7BFBCAE6}"/>
              </a:ext>
            </a:extLst>
          </p:cNvPr>
          <p:cNvSpPr txBox="1"/>
          <p:nvPr/>
        </p:nvSpPr>
        <p:spPr>
          <a:xfrm>
            <a:off x="2678723" y="188010"/>
            <a:ext cx="68345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Time Series Forecasting</a:t>
            </a:r>
          </a:p>
        </p:txBody>
      </p:sp>
      <p:pic>
        <p:nvPicPr>
          <p:cNvPr id="1026" name="Picture 2" descr="Introduction to the Fundamentals of Time Series Data and Analysis - Aptech">
            <a:extLst>
              <a:ext uri="{FF2B5EF4-FFF2-40B4-BE49-F238E27FC236}">
                <a16:creationId xmlns:a16="http://schemas.microsoft.com/office/drawing/2014/main" id="{5544B544-8E57-CB41-B552-85125F8188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4114800"/>
            <a:ext cx="54864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utorial: Time Series Analysis with Pandas – Dataquest">
            <a:extLst>
              <a:ext uri="{FF2B5EF4-FFF2-40B4-BE49-F238E27FC236}">
                <a16:creationId xmlns:a16="http://schemas.microsoft.com/office/drawing/2014/main" id="{F8C62D82-4F9E-8D48-B035-8F8D1AD30A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402850" y="4565650"/>
            <a:ext cx="5535151" cy="210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rend Forecasting Models and Seasonality with Time Series | R-bloggers">
            <a:extLst>
              <a:ext uri="{FF2B5EF4-FFF2-40B4-BE49-F238E27FC236}">
                <a16:creationId xmlns:a16="http://schemas.microsoft.com/office/drawing/2014/main" id="{AE634DB7-5B43-4F42-8843-1A478C5B00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203949" y="1084451"/>
            <a:ext cx="4618653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Time Series Analysis and Forecasting Definition and Examples - Magoosh  Statistics Blog">
            <a:extLst>
              <a:ext uri="{FF2B5EF4-FFF2-40B4-BE49-F238E27FC236}">
                <a16:creationId xmlns:a16="http://schemas.microsoft.com/office/drawing/2014/main" id="{2FAFBD36-8B44-BD46-96B2-F41BAC45F0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460" y="1084451"/>
            <a:ext cx="5311479" cy="2627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6576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137160" y="657820"/>
            <a:ext cx="12054840" cy="61201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Qualitative, Naive (last value, average of last period, </a:t>
            </a: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trend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linear </a:t>
            </a: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regression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Exponential Smoothing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(weighted moving average)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Holt-Winters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= Triple Exponential Smoothing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Seasonality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in the model using Fourier decomposition over 4+ years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Auto-Regressive Moving Average (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ARMA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 Auto-Regressive Integrated Moving Average (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ARIMA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),</a:t>
            </a:r>
            <a:b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SARIMA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(S=Seasonality), </a:t>
            </a:r>
            <a:r>
              <a:rPr lang="en-US" sz="20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SARIMAX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(X - </a:t>
            </a:r>
            <a:r>
              <a:rPr lang="en-US" sz="2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eXogenous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regressors)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Auto-correlations, bivariate cross-correlation, multivariate time series analysis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Causal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(cause-effect) - modeling specific causes/events that can influence the target value</a:t>
            </a:r>
            <a:b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(promotion, legal change, website redesign, sport event, new law, election, etc.), </a:t>
            </a:r>
            <a:b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example, a promotion usually causes predictable volume increase over some time. We can learn the shape of this increase from historic data - and apply adjusted versions going forward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Random Walk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Simulation (Monte-Carlo, etc.) – when having causal model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Machine Learning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b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.... Classification (Random Forest, Boosting, etc.) - "this type of ... historically was causing ..."</a:t>
            </a:r>
            <a:b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.... Neural Networks - LSTM (Long Short Term Memory), multivariate LSTM), GRU (Gated Recurrent Unit)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Facebook </a:t>
            </a:r>
            <a:r>
              <a:rPr lang="en-US" sz="20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Prohpet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Azure </a:t>
            </a:r>
            <a:r>
              <a:rPr lang="en-US" sz="2000" b="1" dirty="0" err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AutoML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etc.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E5E9E0-0BAD-1A46-9604-4AA4F8BED33C}"/>
              </a:ext>
            </a:extLst>
          </p:cNvPr>
          <p:cNvSpPr txBox="1"/>
          <p:nvPr/>
        </p:nvSpPr>
        <p:spPr>
          <a:xfrm>
            <a:off x="137160" y="114300"/>
            <a:ext cx="35090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Forecasting methods</a:t>
            </a:r>
            <a:endParaRPr lang="en-US" sz="2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108488" y="0"/>
            <a:ext cx="4954293" cy="7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/>
              <a:t>Forecasting in Power BI</a:t>
            </a:r>
            <a:endParaRPr sz="3000" b="1" dirty="0"/>
          </a:p>
        </p:txBody>
      </p:sp>
      <p:sp>
        <p:nvSpPr>
          <p:cNvPr id="141" name="Google Shape;141;p20"/>
          <p:cNvSpPr txBox="1"/>
          <p:nvPr/>
        </p:nvSpPr>
        <p:spPr>
          <a:xfrm>
            <a:off x="0" y="574369"/>
            <a:ext cx="7904136" cy="203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Power BI uses exponential smoothing and </a:t>
            </a:r>
            <a:r>
              <a:rPr lang="en-US" sz="2000" dirty="0" err="1"/>
              <a:t>backtesting</a:t>
            </a:r>
            <a:r>
              <a:rPr lang="en-US" sz="2000" dirty="0"/>
              <a:t> (hindcasting). </a:t>
            </a:r>
          </a:p>
          <a:p>
            <a:pPr lvl="0"/>
            <a:r>
              <a:rPr lang="en-US" sz="2000" dirty="0"/>
              <a:t>There are two algorithms:</a:t>
            </a:r>
          </a:p>
          <a:p>
            <a:pPr lvl="0"/>
            <a:r>
              <a:rPr lang="en-US" sz="2000" dirty="0"/>
              <a:t>    .... a variation of the Holt-Winters algorithm for the seasonal data</a:t>
            </a:r>
            <a:br>
              <a:rPr lang="en-US" sz="2000" dirty="0"/>
            </a:br>
            <a:r>
              <a:rPr lang="en-US" sz="2000" dirty="0"/>
              <a:t>         with a few changes to deal with noisy data</a:t>
            </a:r>
          </a:p>
          <a:p>
            <a:pPr lvl="0"/>
            <a:r>
              <a:rPr lang="en-US" sz="2000" dirty="0"/>
              <a:t>    .... a simpler model for non-seasonal data which has a term for additive trend and additive error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51FF1C-2171-DD45-9193-C64575B2E1C2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105618" y="574887"/>
            <a:ext cx="3579247" cy="1743925"/>
          </a:xfrm>
          <a:prstGeom prst="rect">
            <a:avLst/>
          </a:prstGeom>
          <a:ln w="2540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3F2D2B-7DD1-1C48-B912-C3496DD395D1}"/>
              </a:ext>
            </a:extLst>
          </p:cNvPr>
          <p:cNvSpPr txBox="1"/>
          <p:nvPr/>
        </p:nvSpPr>
        <p:spPr>
          <a:xfrm>
            <a:off x="7129220" y="97069"/>
            <a:ext cx="5062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  <a:latin typeface="+mn-lt"/>
              </a:rPr>
              <a:t>Holt-Winters’ multiplicative method (~ 1960)</a:t>
            </a:r>
          </a:p>
        </p:txBody>
      </p:sp>
      <p:sp>
        <p:nvSpPr>
          <p:cNvPr id="6" name="Google Shape;141;p20">
            <a:extLst>
              <a:ext uri="{FF2B5EF4-FFF2-40B4-BE49-F238E27FC236}">
                <a16:creationId xmlns:a16="http://schemas.microsoft.com/office/drawing/2014/main" id="{98CAB5FE-8DA7-6346-A9E8-04CC02D57F04}"/>
              </a:ext>
            </a:extLst>
          </p:cNvPr>
          <p:cNvSpPr txBox="1"/>
          <p:nvPr/>
        </p:nvSpPr>
        <p:spPr>
          <a:xfrm>
            <a:off x="0" y="3178837"/>
            <a:ext cx="12083512" cy="3652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2000" dirty="0"/>
              <a:t>For the seasonal forecasting, PBI modify the Holt-Winters algorithm by computing the sum of squares of prediction errors for what is called a validation window, instead of using the one-step ahead. </a:t>
            </a:r>
          </a:p>
          <a:p>
            <a:pPr lvl="0"/>
            <a:endParaRPr lang="en-US" sz="2000" dirty="0"/>
          </a:p>
          <a:p>
            <a:pPr lvl="0"/>
            <a:r>
              <a:rPr lang="en-US" sz="2000" dirty="0"/>
              <a:t>Another modification they make is when they detect large variations, they adjust the trend of the time window to a more recent to capture the overall trend of the time series.</a:t>
            </a:r>
          </a:p>
          <a:p>
            <a:pPr lvl="0"/>
            <a:endParaRPr lang="en-US" sz="2000" dirty="0"/>
          </a:p>
          <a:p>
            <a:pPr lvl="0"/>
            <a:r>
              <a:rPr lang="en-US" dirty="0">
                <a:latin typeface="+mn-lt"/>
              </a:rPr>
              <a:t>  ... </a:t>
            </a:r>
            <a:r>
              <a:rPr lang="en-US" dirty="0">
                <a:latin typeface="+mn-lt"/>
                <a:hlinkClick r:id="rId4"/>
              </a:rPr>
              <a:t>https://otexts.com/fpp2/holt-winters.html</a:t>
            </a:r>
            <a:r>
              <a:rPr lang="en-US" dirty="0">
                <a:latin typeface="+mn-lt"/>
              </a:rPr>
              <a:t> - </a:t>
            </a:r>
          </a:p>
          <a:p>
            <a:pPr lvl="0"/>
            <a:r>
              <a:rPr lang="en-US" dirty="0">
                <a:latin typeface="+mn-lt"/>
              </a:rPr>
              <a:t>  ... </a:t>
            </a:r>
            <a:r>
              <a:rPr lang="en-US" dirty="0">
                <a:latin typeface="+mn-lt"/>
                <a:hlinkClick r:id="rId5"/>
              </a:rPr>
              <a:t>https://powerbi.microsoft.com/es-es/blog/describing-the-forecasting-models-in-power-view/#ETSAAA</a:t>
            </a:r>
            <a:r>
              <a:rPr lang="en-US" dirty="0">
                <a:latin typeface="+mn-lt"/>
              </a:rPr>
              <a:t> - </a:t>
            </a:r>
          </a:p>
          <a:p>
            <a:pPr lvl="0"/>
            <a:r>
              <a:rPr lang="en-US" dirty="0"/>
              <a:t>  ... </a:t>
            </a:r>
            <a:r>
              <a:rPr lang="en-US" dirty="0">
                <a:hlinkClick r:id="rId6"/>
              </a:rPr>
              <a:t>https://powerbi.microsoft.com/en-us/blog/introducing-new-forecasting-capabilities-in-power-view-for-office-365/#:~:text=The%20Power%20BI%20Team&amp;text=Forecasting%20in%20Power%20View%20utilizes,from%20a%20series%20of%20data</a:t>
            </a:r>
            <a:r>
              <a:rPr lang="en-US" dirty="0"/>
              <a:t> - </a:t>
            </a:r>
          </a:p>
          <a:p>
            <a:pPr lvl="0"/>
            <a:r>
              <a:rPr lang="en-US" dirty="0"/>
              <a:t>   ... </a:t>
            </a:r>
            <a:r>
              <a:rPr lang="en-US" dirty="0">
                <a:hlinkClick r:id="rId7"/>
              </a:rPr>
              <a:t>https://stoneridgesoftware.com/take-advantage-of-forecasting-in-power-bi-with-the-analytics-pane/</a:t>
            </a:r>
            <a:r>
              <a:rPr lang="en-US" dirty="0"/>
              <a:t> - </a:t>
            </a:r>
          </a:p>
          <a:p>
            <a:pPr lvl="0"/>
            <a:r>
              <a:rPr lang="en-US" dirty="0"/>
              <a:t>   ... </a:t>
            </a:r>
            <a:r>
              <a:rPr lang="en-US" dirty="0">
                <a:hlinkClick r:id="rId8"/>
              </a:rPr>
              <a:t>https://pawarbi.github.io/blog/forecasting/python/powerbi/forecasting_in_powerbi/2020/04/24/timeseries-powerbi.html</a:t>
            </a:r>
            <a:r>
              <a:rPr lang="en-US" dirty="0"/>
              <a:t> - </a:t>
            </a:r>
          </a:p>
          <a:p>
            <a:pPr lvl="0"/>
            <a:r>
              <a:rPr lang="en-US" dirty="0"/>
              <a:t>   ... </a:t>
            </a:r>
            <a:r>
              <a:rPr lang="en-US" dirty="0">
                <a:hlinkClick r:id="rId9"/>
              </a:rPr>
              <a:t>https://pawarbi.github.io/blog/forecasting/python/powerbi/forecasting_in_powerbi/2020/04/24/timeseries-powerbi.html#ETS(AAN)</a:t>
            </a:r>
            <a:r>
              <a:rPr lang="en-US" dirty="0"/>
              <a:t> - </a:t>
            </a:r>
          </a:p>
          <a:p>
            <a:pPr lvl="0"/>
            <a:r>
              <a:rPr lang="en-US" sz="1100" dirty="0"/>
              <a:t> </a:t>
            </a:r>
            <a:endParaRPr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-1" y="0"/>
            <a:ext cx="7284203" cy="7129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/>
              <a:t>Forecasting using Facebook Prophet</a:t>
            </a:r>
            <a:endParaRPr sz="3000" b="1" dirty="0"/>
          </a:p>
        </p:txBody>
      </p:sp>
      <p:sp>
        <p:nvSpPr>
          <p:cNvPr id="141" name="Google Shape;141;p20"/>
          <p:cNvSpPr txBox="1"/>
          <p:nvPr/>
        </p:nvSpPr>
        <p:spPr>
          <a:xfrm>
            <a:off x="-2" y="671295"/>
            <a:ext cx="7919635" cy="61867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.. </a:t>
            </a:r>
            <a:r>
              <a:rPr lang="en-US" sz="1600" u="sng" dirty="0">
                <a:solidFill>
                  <a:schemeClr val="hlink"/>
                </a:solidFill>
                <a:hlinkClick r:id="rId3"/>
              </a:rPr>
              <a:t>https://github.com/facebook/prophet</a:t>
            </a:r>
            <a:r>
              <a:rPr lang="en-US" sz="1600" u="sng" dirty="0">
                <a:solidFill>
                  <a:schemeClr val="hlink"/>
                </a:solidFill>
              </a:rPr>
              <a:t> </a:t>
            </a:r>
            <a:r>
              <a:rPr lang="en-US" sz="1600" dirty="0"/>
              <a:t> - </a:t>
            </a:r>
          </a:p>
          <a:p>
            <a:pPr lvl="0"/>
            <a:r>
              <a:rPr lang="en-US" sz="1600" dirty="0"/>
              <a:t>.. </a:t>
            </a:r>
            <a:r>
              <a:rPr lang="en-US" sz="1600" dirty="0">
                <a:hlinkClick r:id="rId4"/>
              </a:rPr>
              <a:t>https://youtu.be/pOYAXv15r3A</a:t>
            </a:r>
            <a:r>
              <a:rPr lang="en-US" sz="1600" dirty="0"/>
              <a:t> - (video)</a:t>
            </a:r>
          </a:p>
          <a:p>
            <a:pPr lvl="0"/>
            <a:r>
              <a:rPr lang="en-US" sz="1600" dirty="0"/>
              <a:t>.. </a:t>
            </a:r>
            <a:r>
              <a:rPr lang="en-US" sz="1600" dirty="0">
                <a:hlinkClick r:id="rId5"/>
              </a:rPr>
              <a:t>https://facebook.github.io/prophet/docs/quick_start.html</a:t>
            </a:r>
            <a:r>
              <a:rPr lang="en-US" sz="1600" dirty="0"/>
              <a:t> - </a:t>
            </a:r>
          </a:p>
          <a:p>
            <a:pPr lvl="0"/>
            <a:r>
              <a:rPr lang="en-US" sz="1600" dirty="0"/>
              <a:t>.. </a:t>
            </a:r>
            <a:r>
              <a:rPr lang="en-US" sz="1600" dirty="0">
                <a:hlinkClick r:id="rId6"/>
              </a:rPr>
              <a:t>https://databricks.com/blog/2020/01/27/time-series-forecasting-prophet-spark.html</a:t>
            </a:r>
            <a:r>
              <a:rPr lang="en-US" sz="1600" dirty="0"/>
              <a:t> - </a:t>
            </a:r>
            <a:endParaRPr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24292E"/>
                </a:solidFill>
                <a:highlight>
                  <a:srgbClr val="FFFFFF"/>
                </a:highlight>
              </a:rPr>
              <a:t>.. Forecasting time series data based on an additive model where non-linear trends are fit with yearly, weekly, and daily seasonality, plus holiday effects.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24292E"/>
                </a:solidFill>
                <a:highlight>
                  <a:srgbClr val="FFFFFF"/>
                </a:highlight>
              </a:rPr>
              <a:t>.. It works best with time series that have strong seasonal effects and several seasons of historical data.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rgbClr val="24292E"/>
                </a:solidFill>
                <a:highlight>
                  <a:srgbClr val="FFFFFF"/>
                </a:highlight>
              </a:rPr>
              <a:t>.. Prophet is robust to missing data and shifts in the trend, and typically handles outliers well.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>
              <a:solidFill>
                <a:srgbClr val="24292E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>
                <a:solidFill>
                  <a:srgbClr val="24292E"/>
                </a:solidFill>
                <a:highlight>
                  <a:srgbClr val="FFFFFF"/>
                </a:highlight>
              </a:rPr>
              <a:t>Neural Prophet</a:t>
            </a:r>
          </a:p>
          <a:p>
            <a:pPr lvl="0"/>
            <a:r>
              <a:rPr lang="en-US" sz="1600" dirty="0">
                <a:solidFill>
                  <a:srgbClr val="24292E"/>
                </a:solidFill>
              </a:rPr>
              <a:t>.. </a:t>
            </a:r>
            <a:r>
              <a:rPr lang="en-US" sz="1600" dirty="0">
                <a:solidFill>
                  <a:srgbClr val="24292E"/>
                </a:solidFill>
                <a:hlinkClick r:id="rId7"/>
              </a:rPr>
              <a:t>https://towardsdatascience.com/neural-prophet-a-time-series-modeling-library-based-on-neural-networks-dd02dc8d868d</a:t>
            </a:r>
            <a:r>
              <a:rPr lang="en-US" sz="1600" dirty="0">
                <a:solidFill>
                  <a:srgbClr val="24292E"/>
                </a:solidFill>
              </a:rPr>
              <a:t> - </a:t>
            </a:r>
            <a:endParaRPr lang="en-US" sz="1600" dirty="0">
              <a:solidFill>
                <a:srgbClr val="24292E"/>
              </a:solidFill>
              <a:highlight>
                <a:srgbClr val="FFFFFF"/>
              </a:highlight>
            </a:endParaRPr>
          </a:p>
          <a:p>
            <a:pPr lvl="0"/>
            <a:r>
              <a:rPr lang="en-US" sz="1600" dirty="0">
                <a:solidFill>
                  <a:srgbClr val="24292E"/>
                </a:solidFill>
              </a:rPr>
              <a:t>.. </a:t>
            </a:r>
            <a:r>
              <a:rPr lang="en-US" sz="1600" dirty="0">
                <a:solidFill>
                  <a:srgbClr val="24292E"/>
                </a:solidFill>
                <a:hlinkClick r:id="rId8"/>
              </a:rPr>
              <a:t>https://github.com/ourownstory/neural_prophet</a:t>
            </a:r>
            <a:r>
              <a:rPr lang="en-US" sz="1600" dirty="0">
                <a:solidFill>
                  <a:srgbClr val="24292E"/>
                </a:solidFill>
              </a:rPr>
              <a:t> - </a:t>
            </a:r>
          </a:p>
          <a:p>
            <a:pPr lvl="0"/>
            <a:r>
              <a:rPr lang="en-US" sz="2000" dirty="0">
                <a:solidFill>
                  <a:srgbClr val="24292E"/>
                </a:solidFill>
              </a:rPr>
              <a:t>.. Much faster than Prophet, uses </a:t>
            </a:r>
            <a:r>
              <a:rPr lang="en-US" sz="2000" dirty="0" err="1">
                <a:solidFill>
                  <a:srgbClr val="24292E"/>
                </a:solidFill>
              </a:rPr>
              <a:t>PyTorch</a:t>
            </a:r>
            <a:r>
              <a:rPr lang="en-US" sz="2000" dirty="0">
                <a:solidFill>
                  <a:srgbClr val="24292E"/>
                </a:solidFill>
              </a:rPr>
              <a:t> - </a:t>
            </a:r>
            <a:r>
              <a:rPr lang="en-US" sz="1600" dirty="0">
                <a:solidFill>
                  <a:srgbClr val="24292E"/>
                </a:solidFill>
                <a:hlinkClick r:id="rId9"/>
              </a:rPr>
              <a:t>https://pytorch.org/</a:t>
            </a:r>
            <a:r>
              <a:rPr lang="en-US" sz="2000" dirty="0">
                <a:solidFill>
                  <a:srgbClr val="24292E"/>
                </a:solidFill>
              </a:rPr>
              <a:t> , </a:t>
            </a:r>
            <a:br>
              <a:rPr lang="en-US" sz="2000" dirty="0">
                <a:solidFill>
                  <a:srgbClr val="24292E"/>
                </a:solidFill>
              </a:rPr>
            </a:br>
            <a:r>
              <a:rPr lang="en-US" sz="2000" dirty="0">
                <a:solidFill>
                  <a:srgbClr val="24292E"/>
                </a:solidFill>
              </a:rPr>
              <a:t>   uses AR-Net for modeling time-series autocorrelation</a:t>
            </a:r>
            <a:br>
              <a:rPr lang="en-US" dirty="0">
                <a:solidFill>
                  <a:srgbClr val="24292E"/>
                </a:solidFill>
              </a:rPr>
            </a:br>
            <a:r>
              <a:rPr lang="en-US" dirty="0">
                <a:solidFill>
                  <a:srgbClr val="24292E"/>
                </a:solidFill>
              </a:rPr>
              <a:t>    .. </a:t>
            </a:r>
            <a:r>
              <a:rPr lang="en-US" sz="1200" dirty="0">
                <a:solidFill>
                  <a:srgbClr val="24292E"/>
                </a:solidFill>
                <a:hlinkClick r:id="rId10"/>
              </a:rPr>
              <a:t>https://ai.facebook.com/blog/ar-net-a-simple-autoregressive-neural-network-for-time-series/</a:t>
            </a:r>
            <a:r>
              <a:rPr lang="en-US" sz="2000" dirty="0">
                <a:solidFill>
                  <a:srgbClr val="24292E"/>
                </a:solidFill>
              </a:rPr>
              <a:t> - </a:t>
            </a:r>
          </a:p>
          <a:p>
            <a:pPr lvl="0"/>
            <a:r>
              <a:rPr lang="en-US" sz="2000" dirty="0">
                <a:solidFill>
                  <a:srgbClr val="24292E"/>
                </a:solidFill>
              </a:rPr>
              <a:t>.. Custom losses and metrics, configurable non-linear layers of feed-forward neural networks, etc.</a:t>
            </a:r>
            <a:endParaRPr sz="2000" dirty="0">
              <a:solidFill>
                <a:srgbClr val="24292E"/>
              </a:solidFill>
              <a:highlight>
                <a:srgbClr val="FFFFFF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7DFBC6-F0D9-4143-8EE2-D04A0EE3363C}"/>
              </a:ext>
            </a:extLst>
          </p:cNvPr>
          <p:cNvSpPr txBox="1"/>
          <p:nvPr/>
        </p:nvSpPr>
        <p:spPr>
          <a:xfrm>
            <a:off x="8074616" y="3367550"/>
            <a:ext cx="411738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The input to Prophet is always a </a:t>
            </a:r>
            <a:r>
              <a:rPr lang="en-US" sz="1800" dirty="0" err="1"/>
              <a:t>dataframe</a:t>
            </a:r>
            <a:r>
              <a:rPr lang="en-US" sz="1800" dirty="0"/>
              <a:t> with two columns: </a:t>
            </a:r>
            <a:r>
              <a:rPr lang="en-US" sz="1800" b="1" dirty="0">
                <a:solidFill>
                  <a:srgbClr val="FF0000"/>
                </a:solidFill>
              </a:rPr>
              <a:t>ds</a:t>
            </a:r>
            <a:r>
              <a:rPr lang="en-US" sz="1800" dirty="0"/>
              <a:t> and </a:t>
            </a:r>
            <a:r>
              <a:rPr lang="en-US" sz="1800" b="1" dirty="0">
                <a:solidFill>
                  <a:srgbClr val="FF0000"/>
                </a:solidFill>
              </a:rPr>
              <a:t>y</a:t>
            </a:r>
            <a:r>
              <a:rPr lang="en-US" sz="1800" dirty="0"/>
              <a:t>. </a:t>
            </a:r>
          </a:p>
          <a:p>
            <a:endParaRPr lang="en-US" sz="1800" dirty="0"/>
          </a:p>
          <a:p>
            <a:r>
              <a:rPr lang="en-US" sz="1800" dirty="0"/>
              <a:t>The </a:t>
            </a:r>
            <a:r>
              <a:rPr lang="en-US" sz="1800" b="1" dirty="0">
                <a:solidFill>
                  <a:srgbClr val="FF0000"/>
                </a:solidFill>
              </a:rPr>
              <a:t>ds</a:t>
            </a:r>
            <a:r>
              <a:rPr lang="en-US" sz="1800" dirty="0"/>
              <a:t> (</a:t>
            </a:r>
            <a:r>
              <a:rPr lang="en-US" sz="1800" dirty="0" err="1"/>
              <a:t>datestamp</a:t>
            </a:r>
            <a:r>
              <a:rPr lang="en-US" sz="1800" dirty="0"/>
              <a:t>) column should be of a format expected by Pandas, ideally </a:t>
            </a:r>
            <a:r>
              <a:rPr lang="en-US" sz="1800" b="1" dirty="0">
                <a:solidFill>
                  <a:srgbClr val="0070C0"/>
                </a:solidFill>
              </a:rPr>
              <a:t>YYYY-MM-DD</a:t>
            </a:r>
            <a:r>
              <a:rPr lang="en-US" sz="1800" dirty="0"/>
              <a:t> for a date or </a:t>
            </a:r>
            <a:r>
              <a:rPr lang="en-US" sz="1800" b="1" dirty="0">
                <a:solidFill>
                  <a:srgbClr val="0070C0"/>
                </a:solidFill>
              </a:rPr>
              <a:t>YYYY-MM-DD HH:MM:SS</a:t>
            </a:r>
            <a:r>
              <a:rPr lang="en-US" sz="1800" dirty="0"/>
              <a:t> for a timestamp. </a:t>
            </a:r>
          </a:p>
          <a:p>
            <a:endParaRPr lang="en-US" sz="1800" dirty="0"/>
          </a:p>
          <a:p>
            <a:r>
              <a:rPr lang="en-US" sz="1800" dirty="0"/>
              <a:t>The </a:t>
            </a:r>
            <a:r>
              <a:rPr lang="en-US" sz="1800" b="1" dirty="0">
                <a:solidFill>
                  <a:srgbClr val="FF0000"/>
                </a:solidFill>
              </a:rPr>
              <a:t>y</a:t>
            </a:r>
            <a:r>
              <a:rPr lang="en-US" sz="1800" dirty="0"/>
              <a:t> column must be numeric, </a:t>
            </a:r>
            <a:br>
              <a:rPr lang="en-US" sz="1800" dirty="0"/>
            </a:br>
            <a:r>
              <a:rPr lang="en-US" sz="1800" dirty="0"/>
              <a:t>and represents the measurement we wish to forecast.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A041AD6D-A1C8-2749-A819-6018FC2A4B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37651" y="74130"/>
            <a:ext cx="3854350" cy="23126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ED66B3-DDD7-9546-81AF-02491A174D48}"/>
              </a:ext>
            </a:extLst>
          </p:cNvPr>
          <p:cNvSpPr txBox="1"/>
          <p:nvPr/>
        </p:nvSpPr>
        <p:spPr>
          <a:xfrm>
            <a:off x="8337650" y="2386740"/>
            <a:ext cx="38543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070C0"/>
                </a:solidFill>
              </a:rPr>
              <a:t>black dots - actuals</a:t>
            </a:r>
          </a:p>
          <a:p>
            <a:r>
              <a:rPr lang="en-US" sz="1800" dirty="0">
                <a:solidFill>
                  <a:srgbClr val="0070C0"/>
                </a:solidFill>
              </a:rPr>
              <a:t>dark blue - predictions</a:t>
            </a:r>
          </a:p>
          <a:p>
            <a:r>
              <a:rPr lang="en-US" sz="1800" dirty="0">
                <a:solidFill>
                  <a:srgbClr val="0070C0"/>
                </a:solidFill>
              </a:rPr>
              <a:t>light blue - 95% uncertainty intervals</a:t>
            </a:r>
          </a:p>
        </p:txBody>
      </p:sp>
    </p:spTree>
    <p:extLst>
      <p:ext uri="{BB962C8B-B14F-4D97-AF65-F5344CB8AC3E}">
        <p14:creationId xmlns:p14="http://schemas.microsoft.com/office/powerpoint/2010/main" val="2650307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123986" y="108488"/>
            <a:ext cx="7253207" cy="7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3000" b="1" dirty="0"/>
              <a:t>Multivariate Forecasting Using LSTM</a:t>
            </a:r>
            <a:endParaRPr sz="3000" b="1" dirty="0"/>
          </a:p>
        </p:txBody>
      </p:sp>
      <p:sp>
        <p:nvSpPr>
          <p:cNvPr id="141" name="Google Shape;141;p20"/>
          <p:cNvSpPr txBox="1"/>
          <p:nvPr/>
        </p:nvSpPr>
        <p:spPr>
          <a:xfrm>
            <a:off x="278930" y="1059300"/>
            <a:ext cx="9255600" cy="47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Clr>
                <a:schemeClr val="dk1"/>
              </a:buClr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Multivariate Time Series Forecasting with LSTMs in </a:t>
            </a:r>
            <a:r>
              <a:rPr lang="en-US" sz="2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Keras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(2020) - by Jason Brownlee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https://machinelearningmastery.com/multivariate-time-series-forecasting-lstms-keras/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>
              <a:buClr>
                <a:schemeClr val="dk1"/>
              </a:buClr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Time Series Prediction With Deep Learning in </a:t>
            </a:r>
            <a:r>
              <a:rPr lang="en-US" sz="200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Keras</a:t>
            </a: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(2020) - by Jason Brownlee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https://machinelearningmastery.com/time-series-prediction-with-deep-learning-in-python-with-keras/</a:t>
            </a:r>
            <a:endParaRPr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  <a:p>
            <a:pPr lvl="0"/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Neural networks for algorithmic trading. Multivariate time series (2017)</a:t>
            </a:r>
          </a:p>
          <a:p>
            <a:pPr lvl="0"/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https://medium.com/machine-learning-world/neural-networks-for-algorithmic-trading-2-1-multivariate-time-series-ab016ce70f57</a:t>
            </a:r>
            <a:endParaRPr lang="en-US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Energy Demand Time Series Forecasting (2017)</a:t>
            </a:r>
          </a:p>
          <a:p>
            <a:pPr lvl="0"/>
            <a:r>
              <a:rPr lang="en-US" sz="20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</a:t>
            </a:r>
            <a:r>
              <a:rPr lang="en-US" sz="2000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https://github.com/Azure/MachineLearningSamples-EnergyDemandTimeSeriesForecasting</a:t>
            </a:r>
            <a:endParaRPr lang="en-US" sz="20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05C3C9-07DC-A547-9DA7-C5B2F7CD7F4B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22747" y="4495800"/>
            <a:ext cx="2993737" cy="2253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63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123986" y="108488"/>
            <a:ext cx="7597613" cy="10853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/>
              <a:t>Forecasting Using Azure </a:t>
            </a:r>
            <a:r>
              <a:rPr lang="en-US" sz="3000" b="1" dirty="0" err="1"/>
              <a:t>AutoML</a:t>
            </a:r>
            <a:endParaRPr lang="en-US" sz="3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/>
              <a:t>or MSFT Time Series in SQL Server</a:t>
            </a:r>
            <a:endParaRPr sz="30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AA0AC0-69A1-414A-B5D0-966256CDCD28}"/>
              </a:ext>
            </a:extLst>
          </p:cNvPr>
          <p:cNvSpPr/>
          <p:nvPr/>
        </p:nvSpPr>
        <p:spPr>
          <a:xfrm>
            <a:off x="428787" y="1360342"/>
            <a:ext cx="6096000" cy="181588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err="1"/>
              <a:t>AutoML</a:t>
            </a:r>
            <a:r>
              <a:rPr lang="en-US" dirty="0"/>
              <a:t> Wizard - </a:t>
            </a:r>
            <a:r>
              <a:rPr lang="en-US" dirty="0">
                <a:hlinkClick r:id="rId3" tooltip="https://docs.microsoft.com/en-us/azure/synapse-analytics/machine-learning/tutorial-automl"/>
              </a:rPr>
              <a:t>https://docs.microsoft.com/en-us/azure/synapse-analytics/machine-learning/tutorial-automl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Microsoft Time Series in SQL Server</a:t>
            </a:r>
          </a:p>
          <a:p>
            <a:r>
              <a:rPr lang="en-US" dirty="0"/>
              <a:t> - </a:t>
            </a:r>
            <a:r>
              <a:rPr lang="en-US" dirty="0">
                <a:hlinkClick r:id="rId4"/>
              </a:rPr>
              <a:t>https://www.sqlshack.com/microsoft-time-series-in-sql-server/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2557A33-66CA-4A47-925B-DE365334535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12470" y="126002"/>
            <a:ext cx="4655543" cy="431899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D4AA27C-2E22-2548-B170-B1D8A8578C43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23987" y="3176224"/>
            <a:ext cx="4536749" cy="3479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75314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123987" y="108488"/>
            <a:ext cx="6524786" cy="7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dirty="0"/>
              <a:t>Model Quality Evaluation</a:t>
            </a:r>
            <a:endParaRPr sz="30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AA0AC0-69A1-414A-B5D0-966256CDCD28}"/>
              </a:ext>
            </a:extLst>
          </p:cNvPr>
          <p:cNvSpPr/>
          <p:nvPr/>
        </p:nvSpPr>
        <p:spPr>
          <a:xfrm>
            <a:off x="123986" y="1106115"/>
            <a:ext cx="613732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latin typeface="+mn-lt"/>
              </a:rPr>
              <a:t>How to Calculate Forecast Accuracy</a:t>
            </a: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:</a:t>
            </a:r>
            <a:br>
              <a:rPr lang="en-US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</a:br>
            <a:r>
              <a:rPr lang="en-US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r>
              <a:rPr lang="en-US" u="sng" dirty="0">
                <a:solidFill>
                  <a:schemeClr val="hlink"/>
                </a:solidFill>
                <a:latin typeface="+mn-lt"/>
                <a:ea typeface="Calibri"/>
                <a:cs typeface="Calibri"/>
                <a:sym typeface="Calibri"/>
                <a:hlinkClick r:id="rId3"/>
              </a:rPr>
              <a:t>https://www.callcentrehelper.com/calculate-forecast-accuracy-113808.htm</a:t>
            </a:r>
            <a:r>
              <a:rPr lang="en-US" sz="2000" dirty="0">
                <a:solidFill>
                  <a:schemeClr val="dk1"/>
                </a:solidFill>
                <a:latin typeface="+mn-lt"/>
                <a:ea typeface="Calibri"/>
                <a:cs typeface="Calibri"/>
                <a:sym typeface="Calibri"/>
              </a:rPr>
              <a:t> </a:t>
            </a:r>
            <a:endParaRPr lang="en-US" sz="2000" dirty="0">
              <a:latin typeface="+mn-lt"/>
            </a:endParaRPr>
          </a:p>
        </p:txBody>
      </p:sp>
      <p:pic>
        <p:nvPicPr>
          <p:cNvPr id="3078" name="Picture 6" descr="Mape Equation Photos Download JPG, PNG, GIF, RAW, TIFF, PSD, PDF and Watch  Online">
            <a:extLst>
              <a:ext uri="{FF2B5EF4-FFF2-40B4-BE49-F238E27FC236}">
                <a16:creationId xmlns:a16="http://schemas.microsoft.com/office/drawing/2014/main" id="{1A861CB4-0D6A-7345-858B-C8E9BB6812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3754519" y="2197083"/>
            <a:ext cx="3276600" cy="3009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Measuring Forecast Accuracy: The Complete Guide | RELEX Solutions">
            <a:extLst>
              <a:ext uri="{FF2B5EF4-FFF2-40B4-BE49-F238E27FC236}">
                <a16:creationId xmlns:a16="http://schemas.microsoft.com/office/drawing/2014/main" id="{50C2D2AC-839E-8D42-BCC0-95D48338742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2786" t="28327" b="7593"/>
          <a:stretch/>
        </p:blipFill>
        <p:spPr bwMode="auto">
          <a:xfrm>
            <a:off x="7800922" y="422069"/>
            <a:ext cx="4267091" cy="20562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3BE338-6E7B-A347-9277-0B5D1345872A}"/>
              </a:ext>
            </a:extLst>
          </p:cNvPr>
          <p:cNvSpPr txBox="1"/>
          <p:nvPr/>
        </p:nvSpPr>
        <p:spPr>
          <a:xfrm>
            <a:off x="123986" y="2732537"/>
            <a:ext cx="401621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Mean Squared Error</a:t>
            </a:r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Mean Absolute Percentage Error</a:t>
            </a:r>
          </a:p>
        </p:txBody>
      </p:sp>
      <p:pic>
        <p:nvPicPr>
          <p:cNvPr id="3082" name="Picture 10" descr="Statistical Forecast Errors">
            <a:extLst>
              <a:ext uri="{FF2B5EF4-FFF2-40B4-BE49-F238E27FC236}">
                <a16:creationId xmlns:a16="http://schemas.microsoft.com/office/drawing/2014/main" id="{8A4215F6-B861-4249-96BF-C6357C9BB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092915" y="5473155"/>
            <a:ext cx="4962497" cy="962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E783D0A-462A-884F-9F86-01A8F99E2BAB}"/>
              </a:ext>
            </a:extLst>
          </p:cNvPr>
          <p:cNvSpPr txBox="1"/>
          <p:nvPr/>
        </p:nvSpPr>
        <p:spPr>
          <a:xfrm>
            <a:off x="3982097" y="5666265"/>
            <a:ext cx="12730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MAPE = </a:t>
            </a:r>
          </a:p>
        </p:txBody>
      </p:sp>
    </p:spTree>
    <p:extLst>
      <p:ext uri="{BB962C8B-B14F-4D97-AF65-F5344CB8AC3E}">
        <p14:creationId xmlns:p14="http://schemas.microsoft.com/office/powerpoint/2010/main" val="7659441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/>
        </p:nvSpPr>
        <p:spPr>
          <a:xfrm>
            <a:off x="0" y="0"/>
            <a:ext cx="6778171" cy="14949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Time Series Analysis Techniques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Exponential Smoothing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smoothing using exponential window.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It is a weighted moving average, where weights decline exponentially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older events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s(t+1) = a*x(t) + (1-a)*s(t)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9" name="Google Shape;129;p18"/>
          <p:cNvPicPr preferRelativeResize="0"/>
          <p:nvPr/>
        </p:nvPicPr>
        <p:blipFill rotWithShape="1"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2175"/>
          <a:stretch/>
        </p:blipFill>
        <p:spPr>
          <a:xfrm>
            <a:off x="377850" y="1728823"/>
            <a:ext cx="4343400" cy="179017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E601D6F-164F-D042-9C1E-E77F5750DADD}"/>
              </a:ext>
            </a:extLst>
          </p:cNvPr>
          <p:cNvCxnSpPr>
            <a:cxnSpLocks/>
          </p:cNvCxnSpPr>
          <p:nvPr/>
        </p:nvCxnSpPr>
        <p:spPr>
          <a:xfrm flipV="1">
            <a:off x="5849259" y="1248229"/>
            <a:ext cx="0" cy="5537201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Google Shape;128;p18">
            <a:extLst>
              <a:ext uri="{FF2B5EF4-FFF2-40B4-BE49-F238E27FC236}">
                <a16:creationId xmlns:a16="http://schemas.microsoft.com/office/drawing/2014/main" id="{D598FE8A-37DA-C645-93E9-755976293881}"/>
              </a:ext>
            </a:extLst>
          </p:cNvPr>
          <p:cNvSpPr txBox="1"/>
          <p:nvPr/>
        </p:nvSpPr>
        <p:spPr>
          <a:xfrm>
            <a:off x="6004452" y="1223446"/>
            <a:ext cx="6187548" cy="4411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ARMA (Auto-Regressive Moving Average)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tries to describe a process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 a sum of two processes - signal (AR) and noise (MA) - and then </a:t>
            </a:r>
            <a:b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extrapolate signal into the future. ..  </a:t>
            </a:r>
            <a:r>
              <a:rPr lang="en-US" u="sng" dirty="0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https://people.duke.edu/~rnau/411arim.htm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ARMA(t) = AR(t) + MA(t), where AR is a weighted sum of "P" previous </a:t>
            </a:r>
            <a:r>
              <a:rPr lang="en-US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values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and MA is weighted average of "Q" previous (white noise) </a:t>
            </a:r>
            <a:r>
              <a:rPr lang="en-US" b="1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errors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AR :   Y(t) = a0 + a1*Y(t-1) + ... + 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*Y(t-P) + 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                    Z(t) -b1*Z(t-1) - ... -</a:t>
            </a:r>
            <a:r>
              <a:rPr lang="en-US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bQ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*Z(t-Q)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ARIMA(</a:t>
            </a:r>
            <a:r>
              <a:rPr lang="en-US" b="1" dirty="0" err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p,d,q</a:t>
            </a:r>
            <a:r>
              <a:rPr lang="en-US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(Auto-Regressive Integrated Moving Average)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p - number of autoregressive terms,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d - number of nonseasonal differences needed for stationarity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  q - number of lagged forecast errors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ARIMA(1,0,0)  - 1st order autoregressive model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ARIMA(2,0,0)) - oscillations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ARIMA(0,1,0)  - random walk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ARIMA(1,1,0)  - differenced first-order autoregressive model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ARIMA(0,1,1)  - simple exponential smoothing: 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ARIMA(0,1,1)  - simple exponential smoothing with growth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ARIMA(1,1,1) - ...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ARIMA(0,2,1)  - linear exponential smoothing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ARIMA(0,2,2)  - linear exponential smoothing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28;p18">
            <a:extLst>
              <a:ext uri="{FF2B5EF4-FFF2-40B4-BE49-F238E27FC236}">
                <a16:creationId xmlns:a16="http://schemas.microsoft.com/office/drawing/2014/main" id="{8F7BEC96-1F67-3A4A-BDC6-D3E7C2840DF6}"/>
              </a:ext>
            </a:extLst>
          </p:cNvPr>
          <p:cNvSpPr txBox="1"/>
          <p:nvPr/>
        </p:nvSpPr>
        <p:spPr>
          <a:xfrm>
            <a:off x="1" y="3752856"/>
            <a:ext cx="5892800" cy="1677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Holt-Winters = Triple Exponential Smoothing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1st smoothing (level) -exponential  smoothing for value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2nd smoothing (trend) - exponential smoothing for slope</a:t>
            </a:r>
            <a:endParaRPr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 3rd smoothing - exponential smoothing comparing to previous cycle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.. </a:t>
            </a:r>
            <a:r>
              <a:rPr lang="en-US" dirty="0">
                <a:hlinkClick r:id="rId5"/>
              </a:rPr>
              <a:t>https://towardsdatascience.com/holt-winters-exponential-smoothing-d703072c0572</a:t>
            </a:r>
            <a:r>
              <a:rPr lang="en-US" dirty="0"/>
              <a:t> </a:t>
            </a:r>
            <a:r>
              <a:rPr lang="en-US" dirty="0">
                <a:solidFill>
                  <a:schemeClr val="dk1"/>
                </a:solidFill>
                <a:latin typeface="Calibri"/>
                <a:cs typeface="Calibri"/>
                <a:sym typeface="Calibri"/>
              </a:rPr>
              <a:t>- 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7"/>
          <p:cNvSpPr txBox="1"/>
          <p:nvPr/>
        </p:nvSpPr>
        <p:spPr>
          <a:xfrm>
            <a:off x="0" y="0"/>
            <a:ext cx="7025400" cy="33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Regression: Ridge, LASSO, Elastic Net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Multivariate (multiple) Linear Regression Regularization.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Suppose we have a OLS (Ordinary Linear Squared) regression where two parameters x1 &amp; x2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are not orthogonal, but in fact highly correlated.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Then there may be is infinite number of coefficients which will fit the model.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For example, (x1 - x2), (10*x1 - 10*x2), (100*x1 - 100*x2), etc.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we are trying to minimize the cost function in the multidimensional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space of coefficients, we will get an infinite diagonal groove (ridge) for x1=x2.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Any place at the bottom of this ridge is equally good for us.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 we will get a big variability in possible values of coefficients for x1 &amp; x2.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solution will be unstable.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We can reduce this variability by adding additional regularization factor like this: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7" name="Google Shape;117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8703" y="4231125"/>
            <a:ext cx="3549800" cy="1810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7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95201" y="223025"/>
            <a:ext cx="5296801" cy="26650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0275" y="3345300"/>
            <a:ext cx="5267325" cy="885825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7"/>
          <p:cNvSpPr txBox="1"/>
          <p:nvPr/>
        </p:nvSpPr>
        <p:spPr>
          <a:xfrm>
            <a:off x="0" y="4231125"/>
            <a:ext cx="7025400" cy="266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When we minimizing this expression, bigger  "lambda" value will cause smaller "beta" values, thus keeping the coefficients "beta" from becoming too large. 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is called "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Ridge Regression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". It changes the infinitely long ridge into a local minimum.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Ridge Regression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we add a "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regularization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 term as sum of squares (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L2 norm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instead we use 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L1 norm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(sum of abs values) - it is called "LASSO Regression",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where 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LASSO = Least Absolute Shrinkage and Selection Operator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LASSO favors solutions on the tips of the bounding surface for coefficients, where some of coefficients are zero. Thus it favors "sparse" solutions.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combination of Ridge Regression and LASSO Regression is called "</a:t>
            </a:r>
            <a:r>
              <a:rPr lang="en-US" b="1">
                <a:solidFill>
                  <a:srgbClr val="0000FF"/>
                </a:solidFill>
                <a:latin typeface="Calibri"/>
                <a:ea typeface="Calibri"/>
                <a:cs typeface="Calibri"/>
                <a:sym typeface="Calibri"/>
              </a:rPr>
              <a:t>Elastic Net</a:t>
            </a:r>
            <a:r>
              <a:rPr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</a:t>
            </a:r>
            <a:endParaRPr/>
          </a:p>
        </p:txBody>
      </p:sp>
      <p:sp>
        <p:nvSpPr>
          <p:cNvPr id="121" name="Google Shape;121;p17"/>
          <p:cNvSpPr txBox="1"/>
          <p:nvPr/>
        </p:nvSpPr>
        <p:spPr>
          <a:xfrm>
            <a:off x="7090350" y="3025700"/>
            <a:ext cx="4906500" cy="5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Ridge Regression is called Ridge ...</a:t>
            </a:r>
            <a:endParaRPr/>
          </a:p>
        </p:txBody>
      </p:sp>
      <p:sp>
        <p:nvSpPr>
          <p:cNvPr id="122" name="Google Shape;122;p17"/>
          <p:cNvSpPr txBox="1"/>
          <p:nvPr/>
        </p:nvSpPr>
        <p:spPr>
          <a:xfrm>
            <a:off x="7173950" y="6151750"/>
            <a:ext cx="4906500" cy="5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LASSO favors sparse solutions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549</TotalTime>
  <Words>1645</Words>
  <Application>Microsoft Macintosh PowerPoint</Application>
  <PresentationFormat>Widescreen</PresentationFormat>
  <Paragraphs>142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36</cp:revision>
  <dcterms:modified xsi:type="dcterms:W3CDTF">2021-01-22T04:22:32Z</dcterms:modified>
</cp:coreProperties>
</file>