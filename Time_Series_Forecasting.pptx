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2"/>
  </p:notesMasterIdLst>
  <p:sldIdLst>
    <p:sldId id="264" r:id="rId2"/>
    <p:sldId id="259" r:id="rId3"/>
    <p:sldId id="260" r:id="rId4"/>
    <p:sldId id="261" r:id="rId5"/>
    <p:sldId id="262" r:id="rId6"/>
    <p:sldId id="263" r:id="rId7"/>
    <p:sldId id="256" r:id="rId8"/>
    <p:sldId id="257" r:id="rId9"/>
    <p:sldId id="258" r:id="rId10"/>
    <p:sldId id="265"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895"/>
    <p:restoredTop sz="94729"/>
  </p:normalViewPr>
  <p:slideViewPr>
    <p:cSldViewPr snapToGrid="0" snapToObjects="1">
      <p:cViewPr varScale="1">
        <p:scale>
          <a:sx n="109" d="100"/>
          <a:sy n="109" d="100"/>
        </p:scale>
        <p:origin x="100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ccfd3fc44_0_26: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g3ccfd3fc44_0_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d5559a5d7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4" name="Google Shape;114;g3d5559a5d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ccfd3fc44_0_33: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g3ccfd3fc44_0_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ccfd3fc44_0_5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ccfd3fc44_0_57: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8" name="Google Shape;98;g3ccfd3fc44_0_5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8</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3ccfd3fc44_0_8: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3" name="Google Shape;103;g3ccfd3fc44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hyperlink" Target="https://people.duke.edu/~rnau/411arim.htm"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8" Type="http://schemas.openxmlformats.org/officeDocument/2006/relationships/hyperlink" Target="https://medium.com/machine-learning-world/neural-networks-for-algorithmic-trading-2-1-multivariate-time-series-ab016ce70f57" TargetMode="External"/><Relationship Id="rId3" Type="http://schemas.openxmlformats.org/officeDocument/2006/relationships/hyperlink" Target="https://arxiv.org/pdf/1009.5741.pdf" TargetMode="External"/><Relationship Id="rId7" Type="http://schemas.openxmlformats.org/officeDocument/2006/relationships/hyperlink" Target="https://www.ncbi.nlm.nih.gov/pmc/articles/PMC5576313/"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www.callcentrehelper.com/calculate-forecast-accuracy-113808.htm" TargetMode="External"/><Relationship Id="rId5" Type="http://schemas.openxmlformats.org/officeDocument/2006/relationships/hyperlink" Target="https://www.youtube.com/watch?v=IKwl6CEwQxQ" TargetMode="External"/><Relationship Id="rId4" Type="http://schemas.openxmlformats.org/officeDocument/2006/relationships/hyperlink" Target="https://hbr.org/1971/07/how-to-choose-the-right-forecasting-technique" TargetMode="External"/><Relationship Id="rId9" Type="http://schemas.openxmlformats.org/officeDocument/2006/relationships/hyperlink" Target="https://github.com/Azure/MachineLearningSamples-EnergyDemandTimeSeriesForecasting"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facebook/prophe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hyperlink" Target="https://machinelearningmastery.com/time-series-prediction-with-deep-learning-in-python-with-keras/" TargetMode="External"/><Relationship Id="rId4" Type="http://schemas.openxmlformats.org/officeDocument/2006/relationships/hyperlink" Target="https://machinelearningmastery.com/multivariate-time-series-forecasting-lstms-keras/"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gif"/></Relationships>
</file>

<file path=ppt/slides/_rels/slide8.xml.rels><?xml version="1.0" encoding="UTF-8" standalone="yes"?>
<Relationships xmlns="http://schemas.openxmlformats.org/package/2006/relationships"><Relationship Id="rId3" Type="http://schemas.openxmlformats.org/officeDocument/2006/relationships/hyperlink" Target="https://www.eetimes.com/document.asp?doc_id=1196835" TargetMode="External"/><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0F4EAC-E786-1B49-B7B2-BBBF7BFBCAE6}"/>
              </a:ext>
            </a:extLst>
          </p:cNvPr>
          <p:cNvSpPr txBox="1"/>
          <p:nvPr/>
        </p:nvSpPr>
        <p:spPr>
          <a:xfrm>
            <a:off x="2438400" y="550985"/>
            <a:ext cx="4876800" cy="307777"/>
          </a:xfrm>
          <a:prstGeom prst="rect">
            <a:avLst/>
          </a:prstGeom>
          <a:noFill/>
        </p:spPr>
        <p:txBody>
          <a:bodyPr wrap="square" rtlCol="0">
            <a:spAutoFit/>
          </a:bodyPr>
          <a:lstStyle/>
          <a:p>
            <a:r>
              <a:rPr lang="en-US" dirty="0"/>
              <a:t>Forecasting</a:t>
            </a:r>
          </a:p>
        </p:txBody>
      </p:sp>
    </p:spTree>
    <p:extLst>
      <p:ext uri="{BB962C8B-B14F-4D97-AF65-F5344CB8AC3E}">
        <p14:creationId xmlns:p14="http://schemas.microsoft.com/office/powerpoint/2010/main" val="23657681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6"/>
          <p:cNvSpPr txBox="1"/>
          <p:nvPr/>
        </p:nvSpPr>
        <p:spPr>
          <a:xfrm>
            <a:off x="137160" y="657820"/>
            <a:ext cx="8983394" cy="6120170"/>
          </a:xfrm>
          <a:prstGeom prst="rect">
            <a:avLst/>
          </a:prstGeom>
          <a:noFill/>
          <a:ln>
            <a:noFill/>
          </a:ln>
        </p:spPr>
        <p:txBody>
          <a:bodyPr spcFirstLastPara="1" wrap="square" lIns="91425" tIns="45700" rIns="91425" bIns="45700" anchor="t" anchorCtr="0">
            <a:noAutofit/>
          </a:bodyPr>
          <a:lstStyle/>
          <a:p>
            <a:pPr marL="171450" lvl="0" indent="-171450">
              <a:buFont typeface="Arial" panose="020B0604020202020204" pitchFamily="34" charset="0"/>
              <a:buChar char="•"/>
            </a:pPr>
            <a:r>
              <a:rPr lang="en-US" sz="1200" dirty="0">
                <a:solidFill>
                  <a:schemeClr val="dk1"/>
                </a:solidFill>
                <a:latin typeface="Calibri"/>
                <a:ea typeface="Calibri"/>
                <a:cs typeface="Calibri"/>
                <a:sym typeface="Calibri"/>
              </a:rPr>
              <a:t>qualitative</a:t>
            </a:r>
          </a:p>
          <a:p>
            <a:pPr marL="171450" lvl="0" indent="-171450">
              <a:buFont typeface="Arial" panose="020B0604020202020204" pitchFamily="34" charset="0"/>
              <a:buChar char="•"/>
            </a:pPr>
            <a:r>
              <a:rPr lang="en-US" sz="1200" dirty="0">
                <a:solidFill>
                  <a:schemeClr val="dk1"/>
                </a:solidFill>
                <a:latin typeface="Calibri"/>
                <a:ea typeface="Calibri"/>
                <a:cs typeface="Calibri"/>
                <a:sym typeface="Calibri"/>
              </a:rPr>
              <a:t>time series analysis (linear regression (Ridge, LASSO, </a:t>
            </a:r>
            <a:r>
              <a:rPr lang="en-US" sz="1200" dirty="0" err="1">
                <a:solidFill>
                  <a:schemeClr val="dk1"/>
                </a:solidFill>
                <a:latin typeface="Calibri"/>
                <a:ea typeface="Calibri"/>
                <a:cs typeface="Calibri"/>
                <a:sym typeface="Calibri"/>
              </a:rPr>
              <a:t>ElasticNet</a:t>
            </a:r>
            <a:r>
              <a:rPr lang="en-US" sz="1200" dirty="0">
                <a:solidFill>
                  <a:schemeClr val="dk1"/>
                </a:solidFill>
                <a:latin typeface="Calibri"/>
                <a:ea typeface="Calibri"/>
                <a:cs typeface="Calibri"/>
                <a:sym typeface="Calibri"/>
              </a:rPr>
              <a:t>), ARMA, ARMA)</a:t>
            </a:r>
          </a:p>
          <a:p>
            <a:pPr marL="171450" lvl="7" indent="-171450">
              <a:buFont typeface="Arial" panose="020B0604020202020204" pitchFamily="34" charset="0"/>
              <a:buChar char="•"/>
            </a:pPr>
            <a:r>
              <a:rPr lang="en-US" sz="1200" dirty="0">
                <a:solidFill>
                  <a:schemeClr val="dk1"/>
                </a:solidFill>
                <a:latin typeface="Calibri"/>
                <a:ea typeface="Calibri"/>
                <a:cs typeface="Calibri"/>
                <a:sym typeface="Calibri"/>
              </a:rPr>
              <a:t>trends, auto-correlations, </a:t>
            </a:r>
            <a:r>
              <a:rPr lang="en-US" sz="1200" dirty="0" err="1">
                <a:solidFill>
                  <a:schemeClr val="dk1"/>
                </a:solidFill>
                <a:latin typeface="Calibri"/>
                <a:ea typeface="Calibri"/>
                <a:cs typeface="Calibri"/>
                <a:sym typeface="Calibri"/>
              </a:rPr>
              <a:t>ivariate</a:t>
            </a:r>
            <a:r>
              <a:rPr lang="en-US" sz="1200" dirty="0">
                <a:solidFill>
                  <a:schemeClr val="dk1"/>
                </a:solidFill>
                <a:latin typeface="Calibri"/>
                <a:ea typeface="Calibri"/>
                <a:cs typeface="Calibri"/>
                <a:sym typeface="Calibri"/>
              </a:rPr>
              <a:t> cross-correlation, etc.</a:t>
            </a:r>
          </a:p>
          <a:p>
            <a:pPr marL="171450" lvl="7" indent="-171450">
              <a:buFont typeface="Arial" panose="020B0604020202020204" pitchFamily="34" charset="0"/>
              <a:buChar char="•"/>
            </a:pPr>
            <a:r>
              <a:rPr lang="en-US" sz="1200" dirty="0">
                <a:solidFill>
                  <a:schemeClr val="dk1"/>
                </a:solidFill>
                <a:latin typeface="Calibri"/>
                <a:ea typeface="Calibri"/>
                <a:cs typeface="Calibri"/>
                <a:sym typeface="Calibri"/>
              </a:rPr>
              <a:t>multivariate time series analysis</a:t>
            </a:r>
          </a:p>
          <a:p>
            <a:pPr marL="171450" lvl="7" indent="-171450">
              <a:buFont typeface="Arial" panose="020B0604020202020204" pitchFamily="34" charset="0"/>
              <a:buChar char="•"/>
            </a:pPr>
            <a:r>
              <a:rPr lang="en-US" sz="1200" dirty="0">
                <a:solidFill>
                  <a:schemeClr val="dk1"/>
                </a:solidFill>
                <a:latin typeface="Calibri"/>
                <a:ea typeface="Calibri"/>
                <a:cs typeface="Calibri"/>
                <a:sym typeface="Calibri"/>
              </a:rPr>
              <a:t>seasonality in the model using Fourier decomposition over 4+ years</a:t>
            </a:r>
          </a:p>
          <a:p>
            <a:pPr marL="171450" lvl="0" indent="-171450">
              <a:buFont typeface="Arial" panose="020B0604020202020204" pitchFamily="34" charset="0"/>
              <a:buChar char="•"/>
            </a:pPr>
            <a:r>
              <a:rPr lang="en-US" sz="1200" dirty="0">
                <a:solidFill>
                  <a:schemeClr val="dk1"/>
                </a:solidFill>
                <a:latin typeface="Calibri"/>
                <a:ea typeface="Calibri"/>
                <a:cs typeface="Calibri"/>
                <a:sym typeface="Calibri"/>
              </a:rPr>
              <a:t>causal (cause-effect) - modeling specific causes/events that can influence call volume (promotion, legal change, website redesign, sport event, new law, election, etc.), for example, a promotion usually causes predictable call volume increase over some time. We can learn the shape of this increase from historic data - and apply adjusted versions going forward</a:t>
            </a:r>
          </a:p>
          <a:p>
            <a:pPr lvl="0"/>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4. simulation (Monte-Carlo, etc.)</a:t>
            </a:r>
          </a:p>
          <a:p>
            <a:pPr lvl="0"/>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5. Machine Learning - LSTM (also multivariate LSTM), Random Forest, etc.</a:t>
            </a:r>
          </a:p>
          <a:p>
            <a:pPr lvl="0"/>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a:t>
            </a:r>
          </a:p>
          <a:p>
            <a:pPr lvl="0"/>
            <a:r>
              <a:rPr lang="en-US" sz="1200" dirty="0">
                <a:solidFill>
                  <a:schemeClr val="dk1"/>
                </a:solidFill>
                <a:latin typeface="Calibri"/>
                <a:ea typeface="Calibri"/>
                <a:cs typeface="Calibri"/>
                <a:sym typeface="Calibri"/>
              </a:rPr>
              <a:t>- See also multivariate forecasting in investment, insurance, etc.</a:t>
            </a:r>
          </a:p>
          <a:p>
            <a:pPr lvl="0"/>
            <a:endParaRPr lang="en-US" sz="1200" dirty="0">
              <a:solidFill>
                <a:schemeClr val="dk1"/>
              </a:solidFill>
              <a:latin typeface="Calibri"/>
              <a:ea typeface="Calibri"/>
              <a:cs typeface="Calibri"/>
              <a:sym typeface="Calibri"/>
            </a:endParaRPr>
          </a:p>
          <a:p>
            <a:pPr lvl="0"/>
            <a:r>
              <a:rPr lang="en-US" sz="1200" dirty="0" err="1">
                <a:solidFill>
                  <a:schemeClr val="dk1"/>
                </a:solidFill>
                <a:latin typeface="Calibri"/>
                <a:ea typeface="Calibri"/>
                <a:cs typeface="Calibri"/>
                <a:sym typeface="Calibri"/>
              </a:rPr>
              <a:t>Misc</a:t>
            </a:r>
            <a:r>
              <a:rPr lang="en-US" sz="1200" dirty="0">
                <a:solidFill>
                  <a:schemeClr val="dk1"/>
                </a:solidFill>
                <a:latin typeface="Calibri"/>
                <a:ea typeface="Calibri"/>
                <a:cs typeface="Calibri"/>
                <a:sym typeface="Calibri"/>
              </a:rPr>
              <a:t> notes:</a:t>
            </a:r>
            <a:br>
              <a:rPr lang="en-US" sz="1200" dirty="0">
                <a:solidFill>
                  <a:schemeClr val="dk1"/>
                </a:solidFill>
                <a:latin typeface="Calibri"/>
                <a:ea typeface="Calibri"/>
                <a:cs typeface="Calibri"/>
                <a:sym typeface="Calibri"/>
              </a:rPr>
            </a:b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using a method like MAPE (Mean Absolute Percentage Error) based on intervals) rather than comparing total calls for the whole day. This article gives some guidance - https://</a:t>
            </a:r>
            <a:r>
              <a:rPr lang="en-US" sz="1200" dirty="0" err="1">
                <a:solidFill>
                  <a:schemeClr val="dk1"/>
                </a:solidFill>
                <a:latin typeface="Calibri"/>
                <a:ea typeface="Calibri"/>
                <a:cs typeface="Calibri"/>
                <a:sym typeface="Calibri"/>
              </a:rPr>
              <a:t>www.callcentrehelper.com</a:t>
            </a:r>
            <a:r>
              <a:rPr lang="en-US" sz="1200" dirty="0">
                <a:solidFill>
                  <a:schemeClr val="dk1"/>
                </a:solidFill>
                <a:latin typeface="Calibri"/>
                <a:ea typeface="Calibri"/>
                <a:cs typeface="Calibri"/>
                <a:sym typeface="Calibri"/>
              </a:rPr>
              <a:t>/calculate-forecast-accuracy-113808.htm </a:t>
            </a:r>
            <a:br>
              <a:rPr lang="en-US" sz="1200" dirty="0">
                <a:solidFill>
                  <a:schemeClr val="dk1"/>
                </a:solidFill>
                <a:latin typeface="Calibri"/>
                <a:ea typeface="Calibri"/>
                <a:cs typeface="Calibri"/>
                <a:sym typeface="Calibri"/>
              </a:rPr>
            </a:b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Arithmetic means of each hour of the number of calls received, say in week with three-point moving average smoothing will yielded the most accurate forecasts. At this point, Autoregressive Integrated Moving Averages (ARIMA) model (check if the forecast errors are normally distributed), autocorrelation function (ACF) with residual and time series (</a:t>
            </a:r>
            <a:r>
              <a:rPr lang="en-US" sz="1200" dirty="0" err="1">
                <a:solidFill>
                  <a:schemeClr val="dk1"/>
                </a:solidFill>
                <a:latin typeface="Calibri"/>
                <a:ea typeface="Calibri"/>
                <a:cs typeface="Calibri"/>
                <a:sym typeface="Calibri"/>
              </a:rPr>
              <a:t>ts</a:t>
            </a:r>
            <a:r>
              <a:rPr lang="en-US" sz="1200" dirty="0">
                <a:solidFill>
                  <a:schemeClr val="dk1"/>
                </a:solidFill>
                <a:latin typeface="Calibri"/>
                <a:ea typeface="Calibri"/>
                <a:cs typeface="Calibri"/>
                <a:sym typeface="Calibri"/>
              </a:rPr>
              <a:t>) plots for the series ...</a:t>
            </a:r>
            <a:br>
              <a:rPr lang="en-US" sz="1200" dirty="0">
                <a:solidFill>
                  <a:schemeClr val="dk1"/>
                </a:solidFill>
                <a:latin typeface="Calibri"/>
                <a:ea typeface="Calibri"/>
                <a:cs typeface="Calibri"/>
                <a:sym typeface="Calibri"/>
              </a:rPr>
            </a:b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Build several models or methods, such as the random walk, the exponential smoothing, ARIMA, or regression, depending on the data you have. Select the best model (which generate the lowest RSMFE, for example). Important is to build a benchmark model. Usually, it is the random walk model. If all models do not outperform the random walk, then there is no point to use other models.</a:t>
            </a:r>
          </a:p>
          <a:p>
            <a:pPr lvl="0"/>
            <a:endParaRPr lang="en-US" sz="1200" dirty="0">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FFE5E9E0-0BAD-1A46-9604-4AA4F8BED33C}"/>
              </a:ext>
            </a:extLst>
          </p:cNvPr>
          <p:cNvSpPr txBox="1"/>
          <p:nvPr/>
        </p:nvSpPr>
        <p:spPr>
          <a:xfrm>
            <a:off x="137160" y="114300"/>
            <a:ext cx="3509010" cy="523220"/>
          </a:xfrm>
          <a:prstGeom prst="rect">
            <a:avLst/>
          </a:prstGeom>
          <a:noFill/>
        </p:spPr>
        <p:txBody>
          <a:bodyPr wrap="square" rtlCol="0">
            <a:spAutoFit/>
          </a:bodyPr>
          <a:lstStyle/>
          <a:p>
            <a:r>
              <a:rPr lang="en-US" sz="2800" b="1" dirty="0">
                <a:solidFill>
                  <a:schemeClr val="dk1"/>
                </a:solidFill>
                <a:latin typeface="Calibri"/>
                <a:ea typeface="Calibri"/>
                <a:cs typeface="Calibri"/>
                <a:sym typeface="Calibri"/>
              </a:rPr>
              <a:t>Forecasting methods</a:t>
            </a:r>
            <a:endParaRPr lang="en-US" sz="2800"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7"/>
          <p:cNvSpPr txBox="1"/>
          <p:nvPr/>
        </p:nvSpPr>
        <p:spPr>
          <a:xfrm>
            <a:off x="0" y="0"/>
            <a:ext cx="7025400" cy="3345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a:solidFill>
                  <a:schemeClr val="dk1"/>
                </a:solidFill>
                <a:latin typeface="Calibri"/>
                <a:ea typeface="Calibri"/>
                <a:cs typeface="Calibri"/>
                <a:sym typeface="Calibri"/>
              </a:rPr>
              <a:t>Regression: Ridge, LASSO, Elastic Net</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Multivariate (multiple) Linear Regression Regularization.</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Suppose we have a OLS (Ordinary Linear Squared) regression where two parameters x1 &amp; x2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are not orthogonal, but in fact highly correlated.</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Then there may be is infinite number of coefficients which will fit the model.</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For example, (x1 - x2), (10*x1 - 10*x2), (100*x1 - 100*x2), etc.</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If we are trying to minimize the cost function in the multidimensional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space of coefficients, we will get an infinite diagonal groove (ridge) for x1=x2.</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Any place at the bottom of this ridge is equally good for us.</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So we will get a big variability in possible values of coefficients for x1 &amp; x2.</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The solution will be unstable.</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We can reduce this variability by adding additional regularization factor like this:</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p:txBody>
      </p:sp>
      <p:pic>
        <p:nvPicPr>
          <p:cNvPr id="117" name="Google Shape;117;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768703" y="4231125"/>
            <a:ext cx="3549800" cy="1810400"/>
          </a:xfrm>
          <a:prstGeom prst="rect">
            <a:avLst/>
          </a:prstGeom>
          <a:noFill/>
          <a:ln>
            <a:noFill/>
          </a:ln>
        </p:spPr>
      </p:pic>
      <p:pic>
        <p:nvPicPr>
          <p:cNvPr id="118" name="Google Shape;118;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895201" y="223025"/>
            <a:ext cx="5296801" cy="2665060"/>
          </a:xfrm>
          <a:prstGeom prst="rect">
            <a:avLst/>
          </a:prstGeom>
          <a:noFill/>
          <a:ln>
            <a:noFill/>
          </a:ln>
        </p:spPr>
      </p:pic>
      <p:pic>
        <p:nvPicPr>
          <p:cNvPr id="119" name="Google Shape;119;p17"/>
          <p:cNvPicPr preferRelativeResize="0"/>
          <p:nvPr/>
        </p:nvPicPr>
        <p:blipFill>
          <a:blip r:embed="rId5">
            <a:alphaModFix/>
          </a:blip>
          <a:stretch>
            <a:fillRect/>
          </a:stretch>
        </p:blipFill>
        <p:spPr>
          <a:xfrm>
            <a:off x="390275" y="3345300"/>
            <a:ext cx="5267325" cy="885825"/>
          </a:xfrm>
          <a:prstGeom prst="rect">
            <a:avLst/>
          </a:prstGeom>
          <a:noFill/>
          <a:ln>
            <a:noFill/>
          </a:ln>
        </p:spPr>
      </p:pic>
      <p:sp>
        <p:nvSpPr>
          <p:cNvPr id="120" name="Google Shape;120;p17"/>
          <p:cNvSpPr txBox="1"/>
          <p:nvPr/>
        </p:nvSpPr>
        <p:spPr>
          <a:xfrm>
            <a:off x="0" y="4231125"/>
            <a:ext cx="7025400" cy="266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solidFill>
                  <a:schemeClr val="dk1"/>
                </a:solidFill>
                <a:latin typeface="Calibri"/>
                <a:ea typeface="Calibri"/>
                <a:cs typeface="Calibri"/>
                <a:sym typeface="Calibri"/>
              </a:rPr>
              <a:t>When we minimizing this expression, bigger  "lambda" value will cause smaller "beta" values, thus keeping the coefficients "beta" from becoming too large. </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This is called "</a:t>
            </a:r>
            <a:r>
              <a:rPr lang="en-US" b="1">
                <a:solidFill>
                  <a:srgbClr val="0000FF"/>
                </a:solidFill>
                <a:latin typeface="Calibri"/>
                <a:ea typeface="Calibri"/>
                <a:cs typeface="Calibri"/>
                <a:sym typeface="Calibri"/>
              </a:rPr>
              <a:t>Ridge Regression</a:t>
            </a:r>
            <a:r>
              <a:rPr lang="en-US">
                <a:solidFill>
                  <a:schemeClr val="dk1"/>
                </a:solidFill>
                <a:latin typeface="Calibri"/>
                <a:ea typeface="Calibri"/>
                <a:cs typeface="Calibri"/>
                <a:sym typeface="Calibri"/>
              </a:rPr>
              <a:t>". It changes the infinitely long ridge into a local minimum.</a:t>
            </a:r>
            <a:endParaRPr>
              <a:solidFill>
                <a:schemeClr val="dk1"/>
              </a:solidFill>
              <a:latin typeface="Calibri"/>
              <a:ea typeface="Calibri"/>
              <a:cs typeface="Calibri"/>
              <a:sym typeface="Calibri"/>
            </a:endParaRPr>
          </a:p>
          <a:p>
            <a:pPr marL="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In </a:t>
            </a:r>
            <a:r>
              <a:rPr lang="en-US" b="1">
                <a:solidFill>
                  <a:srgbClr val="0000FF"/>
                </a:solidFill>
                <a:latin typeface="Calibri"/>
                <a:ea typeface="Calibri"/>
                <a:cs typeface="Calibri"/>
                <a:sym typeface="Calibri"/>
              </a:rPr>
              <a:t>Ridge Regression</a:t>
            </a:r>
            <a:r>
              <a:rPr lang="en-US">
                <a:solidFill>
                  <a:schemeClr val="dk1"/>
                </a:solidFill>
                <a:latin typeface="Calibri"/>
                <a:ea typeface="Calibri"/>
                <a:cs typeface="Calibri"/>
                <a:sym typeface="Calibri"/>
              </a:rPr>
              <a:t> we add a "</a:t>
            </a:r>
            <a:r>
              <a:rPr lang="en-US" b="1">
                <a:solidFill>
                  <a:srgbClr val="0000FF"/>
                </a:solidFill>
                <a:latin typeface="Calibri"/>
                <a:ea typeface="Calibri"/>
                <a:cs typeface="Calibri"/>
                <a:sym typeface="Calibri"/>
              </a:rPr>
              <a:t>regularization</a:t>
            </a:r>
            <a:r>
              <a:rPr lang="en-US">
                <a:solidFill>
                  <a:schemeClr val="dk1"/>
                </a:solidFill>
                <a:latin typeface="Calibri"/>
                <a:ea typeface="Calibri"/>
                <a:cs typeface="Calibri"/>
                <a:sym typeface="Calibri"/>
              </a:rPr>
              <a:t>" term as sum of squares (</a:t>
            </a:r>
            <a:r>
              <a:rPr lang="en-US" b="1">
                <a:solidFill>
                  <a:srgbClr val="0000FF"/>
                </a:solidFill>
                <a:latin typeface="Calibri"/>
                <a:ea typeface="Calibri"/>
                <a:cs typeface="Calibri"/>
                <a:sym typeface="Calibri"/>
              </a:rPr>
              <a:t>L2 norm</a:t>
            </a:r>
            <a:r>
              <a:rPr lang="en-US">
                <a:solidFill>
                  <a:schemeClr val="dk1"/>
                </a:solidFill>
                <a:latin typeface="Calibri"/>
                <a:ea typeface="Calibri"/>
                <a:cs typeface="Calibri"/>
                <a:sym typeface="Calibri"/>
              </a:rPr>
              <a:t>).</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If instead we use </a:t>
            </a:r>
            <a:r>
              <a:rPr lang="en-US" b="1">
                <a:solidFill>
                  <a:srgbClr val="0000FF"/>
                </a:solidFill>
                <a:latin typeface="Calibri"/>
                <a:ea typeface="Calibri"/>
                <a:cs typeface="Calibri"/>
                <a:sym typeface="Calibri"/>
              </a:rPr>
              <a:t>L1 norm</a:t>
            </a:r>
            <a:r>
              <a:rPr lang="en-US">
                <a:solidFill>
                  <a:schemeClr val="dk1"/>
                </a:solidFill>
                <a:latin typeface="Calibri"/>
                <a:ea typeface="Calibri"/>
                <a:cs typeface="Calibri"/>
                <a:sym typeface="Calibri"/>
              </a:rPr>
              <a:t> (sum of abs values) - it is called "LASSO Regression",</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where </a:t>
            </a:r>
            <a:r>
              <a:rPr lang="en-US" b="1">
                <a:solidFill>
                  <a:srgbClr val="0000FF"/>
                </a:solidFill>
                <a:latin typeface="Calibri"/>
                <a:ea typeface="Calibri"/>
                <a:cs typeface="Calibri"/>
                <a:sym typeface="Calibri"/>
              </a:rPr>
              <a:t>LASSO = Least Absolute Shrinkage and Selection Operator</a:t>
            </a:r>
            <a:r>
              <a:rPr lang="en-US">
                <a:solidFill>
                  <a:schemeClr val="dk1"/>
                </a:solidFill>
                <a:latin typeface="Calibri"/>
                <a:ea typeface="Calibri"/>
                <a:cs typeface="Calibri"/>
                <a:sym typeface="Calibri"/>
              </a:rPr>
              <a:t>.</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LASSO favors solutions on the tips of the bounding surface for coefficients, where some of coefficients are zero. Thus it favors "sparse" solutions.</a:t>
            </a:r>
            <a:endParaRPr>
              <a:solidFill>
                <a:schemeClr val="dk1"/>
              </a:solidFill>
              <a:latin typeface="Calibri"/>
              <a:ea typeface="Calibri"/>
              <a:cs typeface="Calibri"/>
              <a:sym typeface="Calibri"/>
            </a:endParaRPr>
          </a:p>
          <a:p>
            <a:pPr marL="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A combination of Ridge Regression and LASSO Regression is called "</a:t>
            </a:r>
            <a:r>
              <a:rPr lang="en-US" b="1">
                <a:solidFill>
                  <a:srgbClr val="0000FF"/>
                </a:solidFill>
                <a:latin typeface="Calibri"/>
                <a:ea typeface="Calibri"/>
                <a:cs typeface="Calibri"/>
                <a:sym typeface="Calibri"/>
              </a:rPr>
              <a:t>Elastic Net</a:t>
            </a:r>
            <a:r>
              <a:rPr lang="en-US">
                <a:solidFill>
                  <a:schemeClr val="dk1"/>
                </a:solidFill>
                <a:latin typeface="Calibri"/>
                <a:ea typeface="Calibri"/>
                <a:cs typeface="Calibri"/>
                <a:sym typeface="Calibri"/>
              </a:rPr>
              <a:t>"</a:t>
            </a:r>
            <a:endParaRPr/>
          </a:p>
        </p:txBody>
      </p:sp>
      <p:sp>
        <p:nvSpPr>
          <p:cNvPr id="121" name="Google Shape;121;p17"/>
          <p:cNvSpPr txBox="1"/>
          <p:nvPr/>
        </p:nvSpPr>
        <p:spPr>
          <a:xfrm>
            <a:off x="7090350" y="3025700"/>
            <a:ext cx="4906500" cy="50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Why Ridge Regression is called Ridge ...</a:t>
            </a:r>
            <a:endParaRPr/>
          </a:p>
        </p:txBody>
      </p:sp>
      <p:sp>
        <p:nvSpPr>
          <p:cNvPr id="122" name="Google Shape;122;p17"/>
          <p:cNvSpPr txBox="1"/>
          <p:nvPr/>
        </p:nvSpPr>
        <p:spPr>
          <a:xfrm>
            <a:off x="7173950" y="6151750"/>
            <a:ext cx="4906500" cy="50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Why LASSO favors sparse solutions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0"/>
            <a:ext cx="7025400" cy="65196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a:solidFill>
                  <a:schemeClr val="dk1"/>
                </a:solidFill>
                <a:latin typeface="Calibri"/>
                <a:ea typeface="Calibri"/>
                <a:cs typeface="Calibri"/>
                <a:sym typeface="Calibri"/>
              </a:rPr>
              <a:t>Time Series Analysis Tehniques</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b="1">
                <a:solidFill>
                  <a:srgbClr val="0000FF"/>
                </a:solidFill>
                <a:latin typeface="Calibri"/>
                <a:ea typeface="Calibri"/>
                <a:cs typeface="Calibri"/>
                <a:sym typeface="Calibri"/>
              </a:rPr>
              <a:t>Exponential Smoothing</a:t>
            </a:r>
            <a:r>
              <a:rPr lang="en-US">
                <a:solidFill>
                  <a:schemeClr val="dk1"/>
                </a:solidFill>
                <a:latin typeface="Calibri"/>
                <a:ea typeface="Calibri"/>
                <a:cs typeface="Calibri"/>
                <a:sym typeface="Calibri"/>
              </a:rPr>
              <a:t> - smoothing using exponential window.</a:t>
            </a:r>
            <a:endParaRPr>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a:solidFill>
                  <a:schemeClr val="dk1"/>
                </a:solidFill>
                <a:latin typeface="Calibri"/>
                <a:ea typeface="Calibri"/>
                <a:cs typeface="Calibri"/>
                <a:sym typeface="Calibri"/>
              </a:rPr>
              <a:t>It is a weighted moving average, where weights decline exponentially for older events</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s(t+1) = a*x(t) + (1-a)*s(t)</a:t>
            </a:r>
            <a:endParaRPr>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b="1">
                <a:solidFill>
                  <a:srgbClr val="0000FF"/>
                </a:solidFill>
                <a:latin typeface="Calibri"/>
                <a:ea typeface="Calibri"/>
                <a:cs typeface="Calibri"/>
                <a:sym typeface="Calibri"/>
              </a:rPr>
              <a:t>Holt-Winters = Triple Exponential Smoothing</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1st smoothing (level) -exponential  smoothing for value</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2nd smoothing (trend) - exponential smoothing for slope</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3rd smoothing - exponential smoothing comparing to previous cycle</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b="1">
                <a:solidFill>
                  <a:srgbClr val="0000FF"/>
                </a:solidFill>
                <a:latin typeface="Calibri"/>
                <a:ea typeface="Calibri"/>
                <a:cs typeface="Calibri"/>
                <a:sym typeface="Calibri"/>
              </a:rPr>
              <a:t>ARMA (Auto-Regressive Moving Average)</a:t>
            </a:r>
            <a:r>
              <a:rPr lang="en-US">
                <a:solidFill>
                  <a:schemeClr val="dk1"/>
                </a:solidFill>
                <a:latin typeface="Calibri"/>
                <a:ea typeface="Calibri"/>
                <a:cs typeface="Calibri"/>
                <a:sym typeface="Calibri"/>
              </a:rPr>
              <a:t> - tries to describe a process as a sum of two processes - signal (AR) and noise (MA) - and then extrapolate signal into the future.</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3"/>
              </a:rPr>
              <a:t>https://people.duke.edu/~rnau/411arim.htm</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ARMA(t) = AR(t) + MA(t), where AR is a weighted sum of "P" previous </a:t>
            </a:r>
            <a:r>
              <a:rPr lang="en-US" b="1">
                <a:solidFill>
                  <a:schemeClr val="dk1"/>
                </a:solidFill>
                <a:latin typeface="Calibri"/>
                <a:ea typeface="Calibri"/>
                <a:cs typeface="Calibri"/>
                <a:sym typeface="Calibri"/>
              </a:rPr>
              <a:t>values</a:t>
            </a:r>
            <a:r>
              <a:rPr lang="en-US">
                <a:solidFill>
                  <a:schemeClr val="dk1"/>
                </a:solidFill>
                <a:latin typeface="Calibri"/>
                <a:ea typeface="Calibri"/>
                <a:cs typeface="Calibri"/>
                <a:sym typeface="Calibri"/>
              </a:rPr>
              <a:t>,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and MA is weighted average of "Q" previous (white noise) </a:t>
            </a:r>
            <a:r>
              <a:rPr lang="en-US" b="1">
                <a:solidFill>
                  <a:schemeClr val="dk1"/>
                </a:solidFill>
                <a:latin typeface="Calibri"/>
                <a:ea typeface="Calibri"/>
                <a:cs typeface="Calibri"/>
                <a:sym typeface="Calibri"/>
              </a:rPr>
              <a:t>errors</a:t>
            </a:r>
            <a:r>
              <a:rPr lang="en-US">
                <a:solidFill>
                  <a:schemeClr val="dk1"/>
                </a:solidFill>
                <a:latin typeface="Calibri"/>
                <a:ea typeface="Calibri"/>
                <a:cs typeface="Calibri"/>
                <a:sym typeface="Calibri"/>
              </a:rPr>
              <a:t>: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AR :   Y(t) = a0 + a1*Y(t-1) + ... + aP*Y(t-P) +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Z(t) -b1*Z(t-1) - ... -bQ*Z(t-Q)</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b="1">
                <a:solidFill>
                  <a:srgbClr val="0000FF"/>
                </a:solidFill>
                <a:latin typeface="Calibri"/>
                <a:ea typeface="Calibri"/>
                <a:cs typeface="Calibri"/>
                <a:sym typeface="Calibri"/>
              </a:rPr>
              <a:t>ARIMA(p,d,q)</a:t>
            </a:r>
            <a:r>
              <a:rPr lang="en-US">
                <a:solidFill>
                  <a:schemeClr val="dk1"/>
                </a:solidFill>
                <a:latin typeface="Calibri"/>
                <a:ea typeface="Calibri"/>
                <a:cs typeface="Calibri"/>
                <a:sym typeface="Calibri"/>
              </a:rPr>
              <a:t> (Auto-Regressive Integrated Moving Average)</a:t>
            </a:r>
            <a:endParaRPr>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a:solidFill>
                  <a:schemeClr val="dk1"/>
                </a:solidFill>
                <a:latin typeface="Calibri"/>
                <a:ea typeface="Calibri"/>
                <a:cs typeface="Calibri"/>
                <a:sym typeface="Calibri"/>
              </a:rPr>
              <a:t>    p - number of autoregressive terms,</a:t>
            </a:r>
            <a:endParaRPr>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a:solidFill>
                  <a:schemeClr val="dk1"/>
                </a:solidFill>
                <a:latin typeface="Calibri"/>
                <a:ea typeface="Calibri"/>
                <a:cs typeface="Calibri"/>
                <a:sym typeface="Calibri"/>
              </a:rPr>
              <a:t>    d - number of nonseasonal differences needed for stationarity</a:t>
            </a:r>
            <a:endParaRPr>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a:solidFill>
                  <a:schemeClr val="dk1"/>
                </a:solidFill>
                <a:latin typeface="Calibri"/>
                <a:ea typeface="Calibri"/>
                <a:cs typeface="Calibri"/>
                <a:sym typeface="Calibri"/>
              </a:rPr>
              <a:t>    q - number of lagged forecast errors</a:t>
            </a:r>
            <a:endParaRPr>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a:solidFill>
                  <a:schemeClr val="dk1"/>
                </a:solidFill>
                <a:latin typeface="Calibri"/>
                <a:ea typeface="Calibri"/>
                <a:cs typeface="Calibri"/>
                <a:sym typeface="Calibri"/>
              </a:rPr>
              <a:t>ARIMA(1,0,0)  - 1st order autoregressive model</a:t>
            </a:r>
            <a:endParaRPr>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a:solidFill>
                  <a:schemeClr val="dk1"/>
                </a:solidFill>
                <a:latin typeface="Calibri"/>
                <a:ea typeface="Calibri"/>
                <a:cs typeface="Calibri"/>
                <a:sym typeface="Calibri"/>
              </a:rPr>
              <a:t>ARIMA(2,0,0)) - oscillations</a:t>
            </a:r>
            <a:endParaRPr>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a:solidFill>
                  <a:schemeClr val="dk1"/>
                </a:solidFill>
                <a:latin typeface="Calibri"/>
                <a:ea typeface="Calibri"/>
                <a:cs typeface="Calibri"/>
                <a:sym typeface="Calibri"/>
              </a:rPr>
              <a:t>ARIMA(0,1,0)  - random walk</a:t>
            </a:r>
            <a:endParaRPr>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a:solidFill>
                  <a:schemeClr val="dk1"/>
                </a:solidFill>
                <a:latin typeface="Calibri"/>
                <a:ea typeface="Calibri"/>
                <a:cs typeface="Calibri"/>
                <a:sym typeface="Calibri"/>
              </a:rPr>
              <a:t>ARIMA(1,1,0)  - differenced first-order autoregressive model</a:t>
            </a:r>
            <a:endParaRPr>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a:solidFill>
                  <a:schemeClr val="dk1"/>
                </a:solidFill>
                <a:latin typeface="Calibri"/>
                <a:ea typeface="Calibri"/>
                <a:cs typeface="Calibri"/>
                <a:sym typeface="Calibri"/>
              </a:rPr>
              <a:t>ARIMA(0,1,1)  - simple exponential smoothing: </a:t>
            </a:r>
            <a:endParaRPr>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a:solidFill>
                  <a:schemeClr val="dk1"/>
                </a:solidFill>
                <a:latin typeface="Calibri"/>
                <a:ea typeface="Calibri"/>
                <a:cs typeface="Calibri"/>
                <a:sym typeface="Calibri"/>
              </a:rPr>
              <a:t>ARIMA(0,1,1)  - simple exponential smoothing with growth</a:t>
            </a:r>
            <a:endParaRPr>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a:solidFill>
                  <a:schemeClr val="dk1"/>
                </a:solidFill>
                <a:latin typeface="Calibri"/>
                <a:ea typeface="Calibri"/>
                <a:cs typeface="Calibri"/>
                <a:sym typeface="Calibri"/>
              </a:rPr>
              <a:t>ARIMA(0,2,1)  - linear exponential smoothing</a:t>
            </a:r>
            <a:endParaRPr>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a:solidFill>
                  <a:schemeClr val="dk1"/>
                </a:solidFill>
                <a:latin typeface="Calibri"/>
                <a:ea typeface="Calibri"/>
                <a:cs typeface="Calibri"/>
                <a:sym typeface="Calibri"/>
              </a:rPr>
              <a:t>ARIMA(0,2,2)  - linear exponential smoothing</a:t>
            </a:r>
            <a:endParaRPr>
              <a:solidFill>
                <a:schemeClr val="dk1"/>
              </a:solidFill>
              <a:latin typeface="Calibri"/>
              <a:ea typeface="Calibri"/>
              <a:cs typeface="Calibri"/>
              <a:sym typeface="Calibri"/>
            </a:endParaRPr>
          </a:p>
        </p:txBody>
      </p:sp>
      <p:pic>
        <p:nvPicPr>
          <p:cNvPr id="129" name="Google Shape;129;p18"/>
          <p:cNvPicPr preferRelativeResize="0"/>
          <p:nvPr/>
        </p:nvPicPr>
        <p:blipFill>
          <a:blip r:embed="rId4">
            <a:alphaModFix/>
          </a:blip>
          <a:stretch>
            <a:fillRect/>
          </a:stretch>
        </p:blipFill>
        <p:spPr>
          <a:xfrm>
            <a:off x="7140500" y="356775"/>
            <a:ext cx="4343400" cy="20383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9"/>
          <p:cNvSpPr txBox="1"/>
          <p:nvPr/>
        </p:nvSpPr>
        <p:spPr>
          <a:xfrm>
            <a:off x="0" y="0"/>
            <a:ext cx="12006300" cy="6724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a:solidFill>
                  <a:schemeClr val="dk1"/>
                </a:solidFill>
                <a:latin typeface="Calibri"/>
                <a:ea typeface="Calibri"/>
                <a:cs typeface="Calibri"/>
                <a:sym typeface="Calibri"/>
              </a:rPr>
              <a:t>Some Links</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Workload Forecasting For A Call Center: Methodology And A Case Study (2009)</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3"/>
              </a:rPr>
              <a:t>https://arxiv.org/pdf/1009.5741.pdf</a:t>
            </a:r>
            <a:r>
              <a:rPr lang="en-US">
                <a:solidFill>
                  <a:schemeClr val="dk1"/>
                </a:solidFill>
                <a:latin typeface="Calibri"/>
                <a:ea typeface="Calibri"/>
                <a:cs typeface="Calibri"/>
                <a:sym typeface="Calibri"/>
              </a:rPr>
              <a:t> </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How to Choose the Right Forecasting Technique (1971)</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4"/>
              </a:rPr>
              <a:t>https://hbr.org/1971/07/how-to-choose-the-right-forecasting-technique</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solidFill>
                  <a:schemeClr val="dk1"/>
                </a:solidFill>
              </a:rPr>
              <a:t>Example of an Excel youtube demo of forecasting,</a:t>
            </a:r>
            <a:endParaRPr>
              <a:solidFill>
                <a:schemeClr val="dk1"/>
              </a:solidFill>
            </a:endParaRPr>
          </a:p>
          <a:p>
            <a:pPr marL="0" lvl="0" indent="0" algn="l" rtl="0">
              <a:spcBef>
                <a:spcPts val="0"/>
              </a:spcBef>
              <a:spcAft>
                <a:spcPts val="0"/>
              </a:spcAft>
              <a:buClr>
                <a:schemeClr val="dk1"/>
              </a:buClr>
              <a:buSzPts val="1100"/>
              <a:buFont typeface="Arial"/>
              <a:buNone/>
            </a:pPr>
            <a:r>
              <a:rPr lang="en-US">
                <a:solidFill>
                  <a:schemeClr val="dk1"/>
                </a:solidFill>
              </a:rPr>
              <a:t> - </a:t>
            </a:r>
            <a:r>
              <a:rPr lang="en-US" u="sng">
                <a:solidFill>
                  <a:schemeClr val="hlink"/>
                </a:solidFill>
                <a:hlinkClick r:id="rId5"/>
              </a:rPr>
              <a:t>https://www.youtube.com/watch?v=IKwl6CEwQxQ</a:t>
            </a:r>
            <a:endParaRPr>
              <a:solidFill>
                <a:schemeClr val="dk1"/>
              </a:solidFill>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How to Calculate Forecast Accuracy (2017)</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6"/>
              </a:rPr>
              <a:t>https://www.callcentrehelper.com/calculate-forecast-accuracy-113808.htm</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Daily volume of cases in emergency call centers: construction and validation of a predictive model (2017)</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7"/>
              </a:rPr>
              <a:t>https://www.ncbi.nlm.nih.gov/pmc/articles/PMC5576313/</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Neural networks for algorithmic trading. Multivariate time series</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8"/>
              </a:rPr>
              <a:t>https://medium.com/machine-learning-world/neural-networks-for-algorithmic-trading-2-1-multivariate-time-series-ab016ce70f57</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Energy Demand Time Series Forecasting</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9"/>
              </a:rPr>
              <a:t>https://github.com/Azure/MachineLearningSamples-EnergyDemandTimeSeriesForecasting</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0" y="0"/>
            <a:ext cx="6932400" cy="74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t>Code examples</a:t>
            </a:r>
            <a:endParaRPr sz="3000" b="1"/>
          </a:p>
        </p:txBody>
      </p:sp>
      <p:sp>
        <p:nvSpPr>
          <p:cNvPr id="141" name="Google Shape;141;p20"/>
          <p:cNvSpPr txBox="1"/>
          <p:nvPr/>
        </p:nvSpPr>
        <p:spPr>
          <a:xfrm>
            <a:off x="92950" y="1483100"/>
            <a:ext cx="9255600" cy="473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Prophet: Automatic Forecasting Procedure</a:t>
            </a:r>
            <a:endParaRPr/>
          </a:p>
          <a:p>
            <a:pPr marL="0" lvl="0" indent="0" algn="l" rtl="0">
              <a:spcBef>
                <a:spcPts val="0"/>
              </a:spcBef>
              <a:spcAft>
                <a:spcPts val="0"/>
              </a:spcAft>
              <a:buNone/>
            </a:pPr>
            <a:r>
              <a:rPr lang="en-US"/>
              <a:t> - </a:t>
            </a:r>
            <a:r>
              <a:rPr lang="en-US" u="sng">
                <a:solidFill>
                  <a:schemeClr val="hlink"/>
                </a:solidFill>
                <a:hlinkClick r:id="rId3"/>
              </a:rPr>
              <a:t>https://github.com/facebook/prophet</a:t>
            </a:r>
            <a:endParaRPr/>
          </a:p>
          <a:p>
            <a:pPr marL="0" lvl="0" indent="0" algn="l" rtl="0">
              <a:spcBef>
                <a:spcPts val="0"/>
              </a:spcBef>
              <a:spcAft>
                <a:spcPts val="0"/>
              </a:spcAft>
              <a:buNone/>
            </a:pPr>
            <a:r>
              <a:rPr lang="en-US" sz="1200">
                <a:solidFill>
                  <a:srgbClr val="24292E"/>
                </a:solidFill>
                <a:highlight>
                  <a:srgbClr val="FFFFFF"/>
                </a:highlight>
              </a:rPr>
              <a:t>forecasting time series data based on an additive model where non-linear trends are fit with yearly, weekly, and daily seasonality, plus holiday effects. It works best with time series that have strong seasonal effects and several seasons of historical data. Prophet is robust to missing data and shifts in the trend, and typically handles outliers well.</a:t>
            </a:r>
            <a:endParaRPr sz="1200">
              <a:solidFill>
                <a:srgbClr val="24292E"/>
              </a:solidFill>
              <a:highlight>
                <a:srgbClr val="FFFFFF"/>
              </a:highlight>
            </a:endParaRPr>
          </a:p>
          <a:p>
            <a:pPr marL="0" lvl="0" indent="0" algn="l" rtl="0">
              <a:spcBef>
                <a:spcPts val="0"/>
              </a:spcBef>
              <a:spcAft>
                <a:spcPts val="0"/>
              </a:spcAft>
              <a:buNone/>
            </a:pPr>
            <a:r>
              <a:rPr lang="en-US" sz="1200">
                <a:solidFill>
                  <a:srgbClr val="24292E"/>
                </a:solidFill>
                <a:highlight>
                  <a:srgbClr val="FFFFFF"/>
                </a:highlight>
              </a:rPr>
              <a:t>========================================</a:t>
            </a:r>
            <a:endParaRPr sz="1200">
              <a:solidFill>
                <a:srgbClr val="24292E"/>
              </a:solidFill>
              <a:highlight>
                <a:srgbClr val="FFFFFF"/>
              </a:highlight>
            </a:endParaRPr>
          </a:p>
          <a:p>
            <a:pPr marL="0" lvl="0" indent="0" algn="l" rtl="0">
              <a:spcBef>
                <a:spcPts val="0"/>
              </a:spcBef>
              <a:spcAft>
                <a:spcPts val="0"/>
              </a:spcAft>
              <a:buNone/>
            </a:pPr>
            <a:endParaRPr/>
          </a:p>
          <a:p>
            <a:pPr marL="0" lvl="0" indent="0" algn="l" rtl="0">
              <a:spcBef>
                <a:spcPts val="0"/>
              </a:spcBef>
              <a:spcAft>
                <a:spcPts val="0"/>
              </a:spcAft>
              <a:buClr>
                <a:schemeClr val="dk1"/>
              </a:buClr>
              <a:buFont typeface="Arial"/>
              <a:buNone/>
            </a:pPr>
            <a:r>
              <a:rPr lang="en-US">
                <a:solidFill>
                  <a:schemeClr val="dk1"/>
                </a:solidFill>
                <a:latin typeface="Calibri"/>
                <a:ea typeface="Calibri"/>
                <a:cs typeface="Calibri"/>
                <a:sym typeface="Calibri"/>
              </a:rPr>
              <a:t>Multivariate Time Series Forecasting with LSTMs in Keras</a:t>
            </a:r>
            <a:endParaRPr>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4"/>
              </a:rPr>
              <a:t>https://machinelearningmastery.com/multivariate-time-series-forecasting-lstms-keras/</a:t>
            </a:r>
            <a:endParaRPr>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endParaRPr>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a:solidFill>
                  <a:schemeClr val="dk1"/>
                </a:solidFill>
                <a:latin typeface="Calibri"/>
                <a:ea typeface="Calibri"/>
                <a:cs typeface="Calibri"/>
                <a:sym typeface="Calibri"/>
              </a:rPr>
              <a:t>Time Series Prediction With Deep Learning in Keras</a:t>
            </a:r>
            <a:endParaRPr>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a:solidFill>
                  <a:schemeClr val="dk1"/>
                </a:solidFill>
                <a:latin typeface="Calibri"/>
                <a:ea typeface="Calibri"/>
                <a:cs typeface="Calibri"/>
                <a:sym typeface="Calibri"/>
              </a:rPr>
              <a:t> - </a:t>
            </a:r>
            <a:r>
              <a:rPr lang="en-US" u="sng">
                <a:solidFill>
                  <a:schemeClr val="hlink"/>
                </a:solidFill>
                <a:latin typeface="Calibri"/>
                <a:ea typeface="Calibri"/>
                <a:cs typeface="Calibri"/>
                <a:sym typeface="Calibri"/>
                <a:hlinkClick r:id="rId5"/>
              </a:rPr>
              <a:t>https://machinelearningmastery.com/time-series-prediction-with-deep-learning-in-python-with-keras/</a:t>
            </a:r>
            <a:endParaRPr>
              <a:solidFill>
                <a:schemeClr val="dk1"/>
              </a:solidFill>
              <a:latin typeface="Calibri"/>
              <a:ea typeface="Calibri"/>
              <a:cs typeface="Calibri"/>
              <a:sym typeface="Calibri"/>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US" sz="1200">
                <a:solidFill>
                  <a:srgbClr val="24292E"/>
                </a:solidFill>
                <a:highlight>
                  <a:srgbClr val="FFFFFF"/>
                </a:highlight>
              </a:rPr>
              <a:t>========================================</a:t>
            </a:r>
            <a:endParaRPr sz="1200">
              <a:solidFill>
                <a:srgbClr val="24292E"/>
              </a:solidFill>
              <a:highlight>
                <a:srgbClr val="FFFFFF"/>
              </a:highlight>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3"/>
          <p:cNvSpPr txBox="1"/>
          <p:nvPr/>
        </p:nvSpPr>
        <p:spPr>
          <a:xfrm>
            <a:off x="0" y="0"/>
            <a:ext cx="5427000" cy="3000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a:solidFill>
                  <a:schemeClr val="dk1"/>
                </a:solidFill>
                <a:latin typeface="Calibri"/>
                <a:ea typeface="Calibri"/>
                <a:cs typeface="Calibri"/>
                <a:sym typeface="Calibri"/>
              </a:rPr>
              <a:t>Call volume predictions</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Forecasting calls volume is a common problem:</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Customer service call volume by day (or part of day)</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EMS (Emergency Medical Services) calls</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Sales calls volume</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Virtual Machine Usage in the cloud</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predictions in investments &amp; insurance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 - etc.</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a:solidFill>
                  <a:schemeClr val="dk1"/>
                </a:solidFill>
              </a:rPr>
              <a:t>Balance between service quality (short waiting times, few </a:t>
            </a:r>
            <a:endParaRPr>
              <a:solidFill>
                <a:schemeClr val="dk1"/>
              </a:solidFill>
            </a:endParaRPr>
          </a:p>
          <a:p>
            <a:pPr marL="0" lvl="0" indent="0" algn="l" rtl="0">
              <a:spcBef>
                <a:spcPts val="0"/>
              </a:spcBef>
              <a:spcAft>
                <a:spcPts val="0"/>
              </a:spcAft>
              <a:buClr>
                <a:schemeClr val="dk1"/>
              </a:buClr>
              <a:buSzPts val="1100"/>
              <a:buFont typeface="Arial"/>
              <a:buNone/>
            </a:pPr>
            <a:r>
              <a:rPr lang="en-US">
                <a:solidFill>
                  <a:schemeClr val="dk1"/>
                </a:solidFill>
              </a:rPr>
              <a:t>abandonments) and service efficiency (utilization of agents).</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p:txBody>
      </p:sp>
      <p:sp>
        <p:nvSpPr>
          <p:cNvPr id="89" name="Google Shape;89;p13"/>
          <p:cNvSpPr txBox="1"/>
          <p:nvPr/>
        </p:nvSpPr>
        <p:spPr>
          <a:xfrm>
            <a:off x="0" y="3000300"/>
            <a:ext cx="6040200" cy="144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solidFill>
                  <a:schemeClr val="dk1"/>
                </a:solidFill>
              </a:rPr>
              <a:t>variations and trends in call volume depend on various parameters - like   time of day, day of week, seasonal, trends (within year and growth between years), special events (holidays, promotions, legal changes, sport events, etc.). Number of calls can vary dramatically between days (x5 times or more)</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p>
        </p:txBody>
      </p:sp>
      <p:pic>
        <p:nvPicPr>
          <p:cNvPr id="90" name="Google Shape;90;p1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342263" y="0"/>
            <a:ext cx="4842186" cy="3000375"/>
          </a:xfrm>
          <a:prstGeom prst="rect">
            <a:avLst/>
          </a:prstGeom>
          <a:noFill/>
          <a:ln>
            <a:noFill/>
          </a:ln>
        </p:spPr>
      </p:pic>
      <p:sp>
        <p:nvSpPr>
          <p:cNvPr id="91" name="Google Shape;91;p13"/>
          <p:cNvSpPr txBox="1"/>
          <p:nvPr/>
        </p:nvSpPr>
        <p:spPr>
          <a:xfrm>
            <a:off x="8220750" y="3126325"/>
            <a:ext cx="3085200" cy="47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Variations within one month</a:t>
            </a:r>
            <a:endParaRPr/>
          </a:p>
        </p:txBody>
      </p:sp>
      <p:pic>
        <p:nvPicPr>
          <p:cNvPr id="92" name="Google Shape;92;p13"/>
          <p:cNvPicPr preferRelativeResize="0"/>
          <p:nvPr/>
        </p:nvPicPr>
        <p:blipFill>
          <a:blip r:embed="rId4">
            <a:alphaModFix/>
          </a:blip>
          <a:stretch>
            <a:fillRect/>
          </a:stretch>
        </p:blipFill>
        <p:spPr>
          <a:xfrm>
            <a:off x="7536250" y="3495700"/>
            <a:ext cx="4648200" cy="2847975"/>
          </a:xfrm>
          <a:prstGeom prst="rect">
            <a:avLst/>
          </a:prstGeom>
          <a:noFill/>
          <a:ln>
            <a:noFill/>
          </a:ln>
        </p:spPr>
      </p:pic>
      <p:sp>
        <p:nvSpPr>
          <p:cNvPr id="93" name="Google Shape;93;p13"/>
          <p:cNvSpPr txBox="1"/>
          <p:nvPr/>
        </p:nvSpPr>
        <p:spPr>
          <a:xfrm>
            <a:off x="7889475" y="6386700"/>
            <a:ext cx="4386300" cy="47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Seasonal variations repeating year after year</a:t>
            </a:r>
            <a:endParaRPr/>
          </a:p>
        </p:txBody>
      </p:sp>
      <p:pic>
        <p:nvPicPr>
          <p:cNvPr id="94" name="Google Shape;94;p1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198025" y="4820525"/>
            <a:ext cx="4842174" cy="203747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4"/>
          <p:cNvSpPr txBox="1"/>
          <p:nvPr/>
        </p:nvSpPr>
        <p:spPr>
          <a:xfrm>
            <a:off x="353125" y="944125"/>
            <a:ext cx="9385500" cy="5556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dirty="0">
                <a:solidFill>
                  <a:schemeClr val="accent6">
                    <a:lumMod val="75000"/>
                  </a:schemeClr>
                </a:solidFill>
              </a:rPr>
              <a:t>"""If you've ever stepped into a call center the morning after an unannounced marketing campaign, you likely came to the painful realization that the marketing folks need to be tightly integrated into this process. </a:t>
            </a:r>
            <a:endParaRPr sz="1800" dirty="0">
              <a:solidFill>
                <a:schemeClr val="accent6">
                  <a:lumMod val="75000"/>
                </a:schemeClr>
              </a:solidFill>
            </a:endParaRPr>
          </a:p>
          <a:p>
            <a:pPr marL="0" lvl="0" indent="0" algn="l" rtl="0">
              <a:spcBef>
                <a:spcPts val="0"/>
              </a:spcBef>
              <a:spcAft>
                <a:spcPts val="0"/>
              </a:spcAft>
              <a:buNone/>
            </a:pPr>
            <a:endParaRPr sz="1800" dirty="0">
              <a:solidFill>
                <a:schemeClr val="accent6">
                  <a:lumMod val="75000"/>
                </a:schemeClr>
              </a:solidFill>
            </a:endParaRPr>
          </a:p>
          <a:p>
            <a:pPr marL="0" lvl="0" indent="0" algn="l" rtl="0">
              <a:spcBef>
                <a:spcPts val="0"/>
              </a:spcBef>
              <a:spcAft>
                <a:spcPts val="0"/>
              </a:spcAft>
              <a:buNone/>
            </a:pPr>
            <a:r>
              <a:rPr lang="en-US" sz="1800" dirty="0">
                <a:solidFill>
                  <a:schemeClr val="accent6">
                    <a:lumMod val="75000"/>
                  </a:schemeClr>
                </a:solidFill>
              </a:rPr>
              <a:t>So, too, the people in legal who change terms and conditions; the people in IT who make system changes; and anybody else who impacts the call center's work load. </a:t>
            </a:r>
            <a:endParaRPr sz="1800" dirty="0">
              <a:solidFill>
                <a:schemeClr val="accent6">
                  <a:lumMod val="75000"/>
                </a:schemeClr>
              </a:solidFill>
            </a:endParaRPr>
          </a:p>
          <a:p>
            <a:pPr marL="0" lvl="0" indent="0" algn="l" rtl="0">
              <a:spcBef>
                <a:spcPts val="0"/>
              </a:spcBef>
              <a:spcAft>
                <a:spcPts val="0"/>
              </a:spcAft>
              <a:buNone/>
            </a:pPr>
            <a:endParaRPr sz="1800" dirty="0">
              <a:solidFill>
                <a:schemeClr val="accent6">
                  <a:lumMod val="75000"/>
                </a:schemeClr>
              </a:solidFill>
            </a:endParaRPr>
          </a:p>
          <a:p>
            <a:pPr marL="0" lvl="0" indent="0" algn="l" rtl="0">
              <a:spcBef>
                <a:spcPts val="0"/>
              </a:spcBef>
              <a:spcAft>
                <a:spcPts val="0"/>
              </a:spcAft>
              <a:buNone/>
            </a:pPr>
            <a:r>
              <a:rPr lang="en-US" sz="1800" b="1" dirty="0">
                <a:solidFill>
                  <a:schemeClr val="accent6">
                    <a:lumMod val="75000"/>
                  </a:schemeClr>
                </a:solidFill>
              </a:rPr>
              <a:t>A cross-functional meeting (minimum once per week) is essential. </a:t>
            </a:r>
            <a:endParaRPr sz="1800" b="1" dirty="0">
              <a:solidFill>
                <a:schemeClr val="accent6">
                  <a:lumMod val="75000"/>
                </a:schemeClr>
              </a:solidFill>
            </a:endParaRPr>
          </a:p>
          <a:p>
            <a:pPr marL="0" lvl="0" indent="0" algn="l" rtl="0">
              <a:spcBef>
                <a:spcPts val="0"/>
              </a:spcBef>
              <a:spcAft>
                <a:spcPts val="0"/>
              </a:spcAft>
              <a:buNone/>
            </a:pPr>
            <a:r>
              <a:rPr lang="en-US" sz="1800" b="1" dirty="0">
                <a:solidFill>
                  <a:schemeClr val="accent6">
                    <a:lumMod val="75000"/>
                  </a:schemeClr>
                </a:solidFill>
              </a:rPr>
              <a:t>The motto of this team: No surprises! </a:t>
            </a:r>
            <a:r>
              <a:rPr lang="en-US" sz="1800" dirty="0">
                <a:solidFill>
                  <a:schemeClr val="accent6">
                    <a:lumMod val="75000"/>
                  </a:schemeClr>
                </a:solidFill>
              </a:rPr>
              <a:t>"""</a:t>
            </a:r>
            <a:endParaRPr sz="1800" dirty="0">
              <a:solidFill>
                <a:schemeClr val="accent6">
                  <a:lumMod val="75000"/>
                </a:schemeClr>
              </a:solidFill>
            </a:endParaRPr>
          </a:p>
          <a:p>
            <a:pPr marL="0" lvl="0" indent="0" algn="l" rtl="0">
              <a:spcBef>
                <a:spcPts val="0"/>
              </a:spcBef>
              <a:spcAft>
                <a:spcPts val="0"/>
              </a:spcAft>
              <a:buNone/>
            </a:pPr>
            <a:endParaRPr sz="1800" dirty="0"/>
          </a:p>
          <a:p>
            <a:pPr marL="0" lvl="0" indent="0" algn="l" rtl="0">
              <a:spcBef>
                <a:spcPts val="0"/>
              </a:spcBef>
              <a:spcAft>
                <a:spcPts val="0"/>
              </a:spcAft>
              <a:buNone/>
            </a:pPr>
            <a:r>
              <a:rPr lang="en-US" sz="1800" dirty="0"/>
              <a:t>    from "Improving Your Call Center's Workload Forecast" (2003)</a:t>
            </a:r>
            <a:endParaRPr sz="1800" dirty="0"/>
          </a:p>
          <a:p>
            <a:pPr marL="0" lvl="0" indent="0" algn="l" rtl="0">
              <a:spcBef>
                <a:spcPts val="0"/>
              </a:spcBef>
              <a:spcAft>
                <a:spcPts val="0"/>
              </a:spcAft>
              <a:buClr>
                <a:schemeClr val="dk1"/>
              </a:buClr>
              <a:buSzPts val="1100"/>
              <a:buFont typeface="Arial"/>
              <a:buNone/>
            </a:pPr>
            <a:r>
              <a:rPr lang="en-US" sz="1800" dirty="0"/>
              <a:t>     - </a:t>
            </a:r>
            <a:r>
              <a:rPr lang="en-US" sz="1800" u="sng" dirty="0">
                <a:solidFill>
                  <a:schemeClr val="hlink"/>
                </a:solidFill>
                <a:hlinkClick r:id="rId3"/>
              </a:rPr>
              <a:t>https://www.eetimes.com/document.asp?doc_id=1196835</a:t>
            </a:r>
            <a:endParaRPr sz="1800" dirty="0"/>
          </a:p>
          <a:p>
            <a:pPr marL="0" lvl="0" indent="0" algn="l" rtl="0">
              <a:spcBef>
                <a:spcPts val="0"/>
              </a:spcBef>
              <a:spcAft>
                <a:spcPts val="0"/>
              </a:spcAft>
              <a:buNone/>
            </a:pPr>
            <a:endParaRPr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5"/>
          <p:cNvSpPr txBox="1"/>
          <p:nvPr/>
        </p:nvSpPr>
        <p:spPr>
          <a:xfrm>
            <a:off x="0" y="669250"/>
            <a:ext cx="6035040" cy="548009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1" u="sng" dirty="0">
                <a:solidFill>
                  <a:srgbClr val="0070C0"/>
                </a:solidFill>
                <a:latin typeface="Calibri"/>
                <a:ea typeface="Calibri"/>
                <a:cs typeface="Calibri"/>
                <a:sym typeface="Calibri"/>
              </a:rPr>
              <a:t>Columns for multivariate forecasting:</a:t>
            </a:r>
            <a:endParaRPr sz="1200" b="1" u="sng" dirty="0">
              <a:solidFill>
                <a:srgbClr val="0070C0"/>
              </a:solidFill>
              <a:latin typeface="Calibri"/>
              <a:ea typeface="Calibri"/>
              <a:cs typeface="Calibri"/>
              <a:sym typeface="Calibri"/>
            </a:endParaRPr>
          </a:p>
          <a:p>
            <a:pPr marL="0" lvl="0" indent="0" algn="l" rtl="0">
              <a:spcBef>
                <a:spcPts val="0"/>
              </a:spcBef>
              <a:spcAft>
                <a:spcPts val="0"/>
              </a:spcAft>
              <a:buNone/>
            </a:pPr>
            <a:r>
              <a:rPr lang="en-US" sz="1200" dirty="0">
                <a:solidFill>
                  <a:schemeClr val="dk1"/>
                </a:solidFill>
                <a:latin typeface="Calibri"/>
                <a:ea typeface="Calibri"/>
                <a:cs typeface="Calibri"/>
                <a:sym typeface="Calibri"/>
              </a:rPr>
              <a:t>  - date</a:t>
            </a:r>
            <a:endParaRPr sz="1200" dirty="0">
              <a:solidFill>
                <a:schemeClr val="dk1"/>
              </a:solidFill>
              <a:latin typeface="Calibri"/>
              <a:ea typeface="Calibri"/>
              <a:cs typeface="Calibri"/>
              <a:sym typeface="Calibri"/>
            </a:endParaRPr>
          </a:p>
          <a:p>
            <a:pPr marL="0" lvl="0" indent="0" algn="l" rtl="0">
              <a:spcBef>
                <a:spcPts val="0"/>
              </a:spcBef>
              <a:spcAft>
                <a:spcPts val="0"/>
              </a:spcAft>
              <a:buNone/>
            </a:pPr>
            <a:r>
              <a:rPr lang="en-US" sz="1200" dirty="0">
                <a:solidFill>
                  <a:schemeClr val="dk1"/>
                </a:solidFill>
                <a:latin typeface="Calibri"/>
                <a:ea typeface="Calibri"/>
                <a:cs typeface="Calibri"/>
                <a:sym typeface="Calibri"/>
              </a:rPr>
              <a:t>  - hour (or part of day: overnight, early morning, prime time, etc.)</a:t>
            </a:r>
            <a:endParaRPr sz="12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sz="1200" dirty="0">
                <a:solidFill>
                  <a:schemeClr val="dk1"/>
                </a:solidFill>
                <a:latin typeface="Calibri"/>
                <a:ea typeface="Calibri"/>
                <a:cs typeface="Calibri"/>
                <a:sym typeface="Calibri"/>
              </a:rPr>
              <a:t>  - Holiday (yes / no)</a:t>
            </a:r>
            <a:endParaRPr sz="1200" dirty="0">
              <a:solidFill>
                <a:schemeClr val="dk1"/>
              </a:solidFill>
              <a:latin typeface="Calibri"/>
              <a:ea typeface="Calibri"/>
              <a:cs typeface="Calibri"/>
              <a:sym typeface="Calibri"/>
            </a:endParaRPr>
          </a:p>
          <a:p>
            <a:pPr marL="0" lvl="0" indent="0" algn="l" rtl="0">
              <a:spcBef>
                <a:spcPts val="0"/>
              </a:spcBef>
              <a:spcAft>
                <a:spcPts val="0"/>
              </a:spcAft>
              <a:buNone/>
            </a:pPr>
            <a:r>
              <a:rPr lang="en-US" sz="1200" dirty="0">
                <a:solidFill>
                  <a:schemeClr val="dk1"/>
                </a:solidFill>
                <a:latin typeface="Calibri"/>
                <a:ea typeface="Calibri"/>
                <a:cs typeface="Calibri"/>
                <a:sym typeface="Calibri"/>
              </a:rPr>
              <a:t>  - Day of the week</a:t>
            </a:r>
            <a:endParaRPr sz="1200" dirty="0">
              <a:solidFill>
                <a:schemeClr val="dk1"/>
              </a:solidFill>
              <a:latin typeface="Calibri"/>
              <a:ea typeface="Calibri"/>
              <a:cs typeface="Calibri"/>
              <a:sym typeface="Calibri"/>
            </a:endParaRPr>
          </a:p>
          <a:p>
            <a:pPr marL="0" lvl="0" indent="0" algn="l" rtl="0">
              <a:spcBef>
                <a:spcPts val="0"/>
              </a:spcBef>
              <a:spcAft>
                <a:spcPts val="0"/>
              </a:spcAft>
              <a:buNone/>
            </a:pPr>
            <a:r>
              <a:rPr lang="en-US" sz="1200" dirty="0">
                <a:solidFill>
                  <a:schemeClr val="dk1"/>
                </a:solidFill>
                <a:latin typeface="Calibri"/>
                <a:ea typeface="Calibri"/>
                <a:cs typeface="Calibri"/>
                <a:sym typeface="Calibri"/>
              </a:rPr>
              <a:t>  - Season (Fall, Winter, Spring, Summer)</a:t>
            </a:r>
            <a:endParaRPr sz="1200" dirty="0">
              <a:solidFill>
                <a:schemeClr val="dk1"/>
              </a:solidFill>
              <a:latin typeface="Calibri"/>
              <a:ea typeface="Calibri"/>
              <a:cs typeface="Calibri"/>
              <a:sym typeface="Calibri"/>
            </a:endParaRPr>
          </a:p>
          <a:p>
            <a:pPr marL="0" lvl="0" indent="0" algn="l" rtl="0">
              <a:spcBef>
                <a:spcPts val="0"/>
              </a:spcBef>
              <a:spcAft>
                <a:spcPts val="0"/>
              </a:spcAft>
              <a:buNone/>
            </a:pPr>
            <a:r>
              <a:rPr lang="en-US" sz="1200" dirty="0">
                <a:solidFill>
                  <a:schemeClr val="dk1"/>
                </a:solidFill>
                <a:latin typeface="Calibri"/>
                <a:ea typeface="Calibri"/>
                <a:cs typeface="Calibri"/>
                <a:sym typeface="Calibri"/>
              </a:rPr>
              <a:t>  - Month </a:t>
            </a:r>
            <a:endParaRPr sz="12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sz="1200" dirty="0">
                <a:solidFill>
                  <a:schemeClr val="dk1"/>
                </a:solidFill>
                <a:latin typeface="Calibri"/>
                <a:ea typeface="Calibri"/>
                <a:cs typeface="Calibri"/>
                <a:sym typeface="Calibri"/>
              </a:rPr>
              <a:t>  - Calendar Week (instead of Season?)</a:t>
            </a:r>
            <a:endParaRPr sz="12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sz="1200" dirty="0">
                <a:solidFill>
                  <a:schemeClr val="dk1"/>
                </a:solidFill>
                <a:latin typeface="Calibri"/>
                <a:ea typeface="Calibri"/>
                <a:cs typeface="Calibri"/>
                <a:sym typeface="Calibri"/>
              </a:rPr>
              <a:t>  - billing cycle (or/and day within cycle)?</a:t>
            </a:r>
            <a:endParaRPr sz="12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sz="1200" dirty="0">
                <a:solidFill>
                  <a:schemeClr val="dk1"/>
                </a:solidFill>
                <a:latin typeface="Calibri"/>
                <a:ea typeface="Calibri"/>
                <a:cs typeface="Calibri"/>
                <a:sym typeface="Calibri"/>
              </a:rPr>
              <a:t>  - new services/promotions introduced recently (several columns)</a:t>
            </a:r>
            <a:endParaRPr sz="12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sz="1200" dirty="0">
                <a:solidFill>
                  <a:schemeClr val="dk1"/>
                </a:solidFill>
                <a:latin typeface="Calibri"/>
                <a:ea typeface="Calibri"/>
                <a:cs typeface="Calibri"/>
                <a:sym typeface="Calibri"/>
              </a:rPr>
              <a:t>  - legal term changes (confuse people)</a:t>
            </a:r>
            <a:endParaRPr sz="12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sz="1200" dirty="0">
                <a:solidFill>
                  <a:schemeClr val="dk1"/>
                </a:solidFill>
                <a:latin typeface="Calibri"/>
                <a:ea typeface="Calibri"/>
                <a:cs typeface="Calibri"/>
                <a:sym typeface="Calibri"/>
              </a:rPr>
              <a:t>  - website changes (confuse people)</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 </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  - Number of calls category 1, category 2, etc.</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  - Number of emails, website traffic, calls for automatic service </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     (IVR =  Interactive Voice Response), other platforms</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 - Numbers from previous years (increase over years for this particular day, week, season, etc.)</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 - Number of new clients signed in previous 1-2 weeks</a:t>
            </a:r>
            <a:endParaRPr sz="12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200" dirty="0">
                <a:solidFill>
                  <a:schemeClr val="dk1"/>
                </a:solidFill>
                <a:latin typeface="Calibri"/>
                <a:ea typeface="Calibri"/>
                <a:cs typeface="Calibri"/>
                <a:sym typeface="Calibri"/>
              </a:rPr>
              <a:t> - DJIA (Dow Jones Industrial Average,  S&amp;P 500, VIX, etc.)</a:t>
            </a:r>
            <a:endParaRPr sz="12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200" dirty="0">
                <a:solidFill>
                  <a:schemeClr val="dk1"/>
                </a:solidFill>
                <a:latin typeface="Calibri"/>
                <a:ea typeface="Calibri"/>
                <a:cs typeface="Calibri"/>
                <a:sym typeface="Calibri"/>
              </a:rPr>
              <a:t> - unemployment rate,  rate on personal loans</a:t>
            </a:r>
            <a:endParaRPr sz="12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200" dirty="0">
                <a:solidFill>
                  <a:schemeClr val="dk1"/>
                </a:solidFill>
                <a:latin typeface="Calibri"/>
                <a:ea typeface="Calibri"/>
                <a:cs typeface="Calibri"/>
                <a:sym typeface="Calibri"/>
              </a:rPr>
              <a:t> - volume of news, tweets, google searches, Wikipedia views</a:t>
            </a:r>
            <a:endParaRPr sz="12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200" dirty="0">
                <a:solidFill>
                  <a:schemeClr val="dk1"/>
                </a:solidFill>
                <a:latin typeface="Calibri"/>
                <a:ea typeface="Calibri"/>
                <a:cs typeface="Calibri"/>
                <a:sym typeface="Calibri"/>
              </a:rPr>
              <a:t> - volume of calls in other companies or gov. organizations</a:t>
            </a:r>
            <a:endParaRPr sz="12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sz="1200" dirty="0">
                <a:solidFill>
                  <a:schemeClr val="dk1"/>
                </a:solidFill>
                <a:latin typeface="Calibri"/>
                <a:ea typeface="Calibri"/>
                <a:cs typeface="Calibri"/>
                <a:sym typeface="Calibri"/>
              </a:rPr>
              <a:t> - demographics (number of people entering certain age groups in certain income categories)</a:t>
            </a:r>
            <a:endParaRPr sz="12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 Investor Sentiment analysis</a:t>
            </a:r>
            <a:endParaRPr sz="12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 tax events, cash-flow budget(s)</a:t>
            </a:r>
            <a:endParaRPr sz="12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 competitive pricing, events, merges, etc. </a:t>
            </a:r>
            <a:endParaRPr sz="12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 expert opinion column (manual adjustment)</a:t>
            </a:r>
            <a:endParaRPr sz="1200" dirty="0">
              <a:solidFill>
                <a:schemeClr val="dk1"/>
              </a:solidFill>
              <a:latin typeface="Calibri"/>
              <a:ea typeface="Calibri"/>
              <a:cs typeface="Calibri"/>
              <a:sym typeface="Calibri"/>
            </a:endParaRPr>
          </a:p>
        </p:txBody>
      </p:sp>
      <p:sp>
        <p:nvSpPr>
          <p:cNvPr id="106" name="Google Shape;106;p15"/>
          <p:cNvSpPr txBox="1"/>
          <p:nvPr/>
        </p:nvSpPr>
        <p:spPr>
          <a:xfrm>
            <a:off x="6151750" y="330825"/>
            <a:ext cx="6040200" cy="443548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b="1" u="sng" dirty="0">
                <a:solidFill>
                  <a:srgbClr val="0070C0"/>
                </a:solidFill>
                <a:latin typeface="Calibri" panose="020F0502020204030204" pitchFamily="34" charset="0"/>
                <a:cs typeface="Calibri" panose="020F0502020204030204" pitchFamily="34" charset="0"/>
              </a:rPr>
              <a:t>variations in call volume depending on:</a:t>
            </a:r>
            <a:endParaRPr sz="1200" b="1" u="sng" dirty="0">
              <a:solidFill>
                <a:srgbClr val="0070C0"/>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time of day</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day of week</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special outliers (holiday, elections, sport, competitive actions, strikes, promotions, etc.)</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seasonality</a:t>
            </a:r>
            <a:br>
              <a:rPr lang="en-US" sz="1200" dirty="0">
                <a:solidFill>
                  <a:schemeClr val="dk1"/>
                </a:solidFill>
                <a:latin typeface="Calibri" panose="020F0502020204030204" pitchFamily="34" charset="0"/>
                <a:cs typeface="Calibri" panose="020F0502020204030204" pitchFamily="34" charset="0"/>
              </a:rPr>
            </a:br>
            <a:r>
              <a:rPr lang="en-US" sz="1200" dirty="0">
                <a:solidFill>
                  <a:schemeClr val="dk1"/>
                </a:solidFill>
                <a:latin typeface="Calibri" panose="020F0502020204030204" pitchFamily="34" charset="0"/>
                <a:cs typeface="Calibri" panose="020F0502020204030204" pitchFamily="34" charset="0"/>
              </a:rPr>
              <a:t> - cyclical patterns that repeat any two or three years or more.</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trends in the data (within year, between years).</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growth rates of these trends.</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How number of calls is measured? Corrections on dropped calls</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oscillations (auto-regression)</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ARMA models (Auto Regressive Moving Average)</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Time-series approach:</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apply corrections for trends, outliers, variations (listed above)</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calculate regression (logistic better than linear)</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 revert corrections, apply known events (promotions, ...) </a:t>
            </a: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    which may have effect going forward</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Data: raw observations, hourly totals, 3-point moving average smoothing, trends</a:t>
            </a: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sz="1200" dirty="0">
              <a:solidFill>
                <a:schemeClr val="dk1"/>
              </a:solidFill>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chemeClr val="dk1"/>
                </a:solidFill>
                <a:latin typeface="Calibri" panose="020F0502020204030204" pitchFamily="34" charset="0"/>
                <a:cs typeface="Calibri" panose="020F0502020204030204" pitchFamily="34" charset="0"/>
              </a:rPr>
              <a:t>Types of calls: sales, customer service, troubleshooting, etc.</a:t>
            </a:r>
            <a:endParaRPr sz="1200" dirty="0">
              <a:solidFill>
                <a:schemeClr val="dk1"/>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8A01373A-5B83-304A-A1E8-ADC54B05AA43}"/>
              </a:ext>
            </a:extLst>
          </p:cNvPr>
          <p:cNvSpPr txBox="1"/>
          <p:nvPr/>
        </p:nvSpPr>
        <p:spPr>
          <a:xfrm>
            <a:off x="148590" y="125730"/>
            <a:ext cx="3954780" cy="523220"/>
          </a:xfrm>
          <a:prstGeom prst="rect">
            <a:avLst/>
          </a:prstGeom>
          <a:noFill/>
        </p:spPr>
        <p:txBody>
          <a:bodyPr wrap="square" rtlCol="0">
            <a:spAutoFit/>
          </a:bodyPr>
          <a:lstStyle/>
          <a:p>
            <a:r>
              <a:rPr lang="en-US" sz="2800" b="1" dirty="0">
                <a:solidFill>
                  <a:schemeClr val="dk1"/>
                </a:solidFill>
                <a:latin typeface="Calibri"/>
                <a:ea typeface="Calibri"/>
                <a:cs typeface="Calibri"/>
                <a:sym typeface="Calibri"/>
              </a:rPr>
              <a:t>Call volume predictions</a:t>
            </a:r>
            <a:endParaRPr lang="en-US" sz="28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0F4EAC-E786-1B49-B7B2-BBBF7BFBCAE6}"/>
              </a:ext>
            </a:extLst>
          </p:cNvPr>
          <p:cNvSpPr txBox="1"/>
          <p:nvPr/>
        </p:nvSpPr>
        <p:spPr>
          <a:xfrm>
            <a:off x="2438400" y="550985"/>
            <a:ext cx="4876800" cy="307777"/>
          </a:xfrm>
          <a:prstGeom prst="rect">
            <a:avLst/>
          </a:prstGeom>
          <a:noFill/>
        </p:spPr>
        <p:txBody>
          <a:bodyPr wrap="square" rtlCol="0">
            <a:spAutoFit/>
          </a:bodyPr>
          <a:lstStyle/>
          <a:p>
            <a:r>
              <a:rPr lang="en-US" dirty="0"/>
              <a:t>Financial Forecasting</a:t>
            </a:r>
          </a:p>
        </p:txBody>
      </p:sp>
    </p:spTree>
    <p:extLst>
      <p:ext uri="{BB962C8B-B14F-4D97-AF65-F5344CB8AC3E}">
        <p14:creationId xmlns:p14="http://schemas.microsoft.com/office/powerpoint/2010/main" val="420800503"/>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2016</Words>
  <Application>Microsoft Macintosh PowerPoint</Application>
  <PresentationFormat>Widescreen</PresentationFormat>
  <Paragraphs>189</Paragraphs>
  <Slides>10</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cp:revision>
  <dcterms:modified xsi:type="dcterms:W3CDTF">2021-01-17T05:48:01Z</dcterms:modified>
</cp:coreProperties>
</file>