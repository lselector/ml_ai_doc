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62" r:id="rId2"/>
    <p:sldId id="263" r:id="rId3"/>
    <p:sldId id="264" r:id="rId4"/>
    <p:sldId id="294" r:id="rId5"/>
    <p:sldId id="274" r:id="rId6"/>
    <p:sldId id="273" r:id="rId7"/>
    <p:sldId id="292" r:id="rId8"/>
    <p:sldId id="290" r:id="rId9"/>
    <p:sldId id="293"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4"/>
    <p:restoredTop sz="92169"/>
  </p:normalViewPr>
  <p:slideViewPr>
    <p:cSldViewPr snapToGrid="0" snapToObjects="1">
      <p:cViewPr varScale="1">
        <p:scale>
          <a:sx n="105" d="100"/>
          <a:sy n="105" d="100"/>
        </p:scale>
        <p:origin x="10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630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quora.com/What-are-some-good-books-for-learning-probability-and-statistics"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Bayes%27_theorem" TargetMode="External"/><Relationship Id="rId2" Type="http://schemas.openxmlformats.org/officeDocument/2006/relationships/hyperlink" Target="https://en.wikipedia.org/wiki/Thomas_Bayes" TargetMode="Externa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hyperlink" Target="https://en.wikipedia.org/wiki/Bayesian_inference"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R6d-AbkhBQ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p60-Jdq754A" TargetMode="External"/><Relationship Id="rId2" Type="http://schemas.openxmlformats.org/officeDocument/2006/relationships/hyperlink" Target="https://www.youtube.com/watch?v=B3YQJ5DwTzM" TargetMode="Externa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hyperlink" Target="https://www.youtube.com/watch?v=y8qaI5mpJeA" TargetMode="External"/><Relationship Id="rId4" Type="http://schemas.openxmlformats.org/officeDocument/2006/relationships/hyperlink" Target="https://www.youtube.com/watch?v=Gi4YeRqfb24"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1.tiff"/><Relationship Id="rId3" Type="http://schemas.openxmlformats.org/officeDocument/2006/relationships/hyperlink" Target="https://www.youtube.com/watch?v=bDZieLmya_I" TargetMode="External"/><Relationship Id="rId7" Type="http://schemas.openxmlformats.org/officeDocument/2006/relationships/image" Target="../media/image10.tiff"/><Relationship Id="rId2" Type="http://schemas.openxmlformats.org/officeDocument/2006/relationships/hyperlink" Target="https://en.wikipedia.org/wiki/Boy_or_Girl_paradox" TargetMode="External"/><Relationship Id="rId1" Type="http://schemas.openxmlformats.org/officeDocument/2006/relationships/slideLayout" Target="../slideLayouts/slideLayout2.xml"/><Relationship Id="rId6" Type="http://schemas.openxmlformats.org/officeDocument/2006/relationships/image" Target="../media/image9.tiff"/><Relationship Id="rId5" Type="http://schemas.openxmlformats.org/officeDocument/2006/relationships/image" Target="../media/image8.tiff"/><Relationship Id="rId4" Type="http://schemas.openxmlformats.org/officeDocument/2006/relationships/hyperlink" Target="https://www.youtube.com/watch?v=ElB350w8iJ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FF3915-155C-654B-9482-71A1ADB58F39}"/>
              </a:ext>
            </a:extLst>
          </p:cNvPr>
          <p:cNvSpPr txBox="1"/>
          <p:nvPr/>
        </p:nvSpPr>
        <p:spPr>
          <a:xfrm>
            <a:off x="157655" y="165651"/>
            <a:ext cx="3920359" cy="461665"/>
          </a:xfrm>
          <a:prstGeom prst="rect">
            <a:avLst/>
          </a:prstGeom>
          <a:noFill/>
        </p:spPr>
        <p:txBody>
          <a:bodyPr wrap="square" rtlCol="0">
            <a:spAutoFit/>
          </a:bodyPr>
          <a:lstStyle/>
          <a:p>
            <a:r>
              <a:rPr lang="en-US" sz="2400" b="1" dirty="0"/>
              <a:t>Probability &amp; Statistics</a:t>
            </a:r>
          </a:p>
        </p:txBody>
      </p:sp>
      <p:sp>
        <p:nvSpPr>
          <p:cNvPr id="5" name="TextBox 4">
            <a:extLst>
              <a:ext uri="{FF2B5EF4-FFF2-40B4-BE49-F238E27FC236}">
                <a16:creationId xmlns:a16="http://schemas.microsoft.com/office/drawing/2014/main" id="{0B4D9DED-88C7-6644-AF6D-10C72AB27353}"/>
              </a:ext>
            </a:extLst>
          </p:cNvPr>
          <p:cNvSpPr txBox="1"/>
          <p:nvPr/>
        </p:nvSpPr>
        <p:spPr>
          <a:xfrm>
            <a:off x="157655" y="998483"/>
            <a:ext cx="5549462" cy="5262979"/>
          </a:xfrm>
          <a:prstGeom prst="rect">
            <a:avLst/>
          </a:prstGeom>
          <a:noFill/>
        </p:spPr>
        <p:txBody>
          <a:bodyPr wrap="square" rtlCol="0">
            <a:spAutoFit/>
          </a:bodyPr>
          <a:lstStyle/>
          <a:p>
            <a:r>
              <a:rPr lang="en-US" dirty="0"/>
              <a:t>Books on probability and statistics</a:t>
            </a:r>
          </a:p>
          <a:p>
            <a:r>
              <a:rPr lang="en-US" dirty="0"/>
              <a:t>    </a:t>
            </a:r>
            <a:r>
              <a:rPr lang="en-US" dirty="0">
                <a:hlinkClick r:id="rId2"/>
              </a:rPr>
              <a:t>https://</a:t>
            </a:r>
            <a:r>
              <a:rPr lang="en-US" dirty="0" err="1">
                <a:hlinkClick r:id="rId2"/>
              </a:rPr>
              <a:t>www.quora.com</a:t>
            </a:r>
            <a:r>
              <a:rPr lang="en-US" dirty="0">
                <a:hlinkClick r:id="rId2"/>
              </a:rPr>
              <a:t>/What-are-some-good-books-for-learning-probability-and-statistics</a:t>
            </a:r>
            <a:endParaRPr lang="en-US" dirty="0"/>
          </a:p>
          <a:p>
            <a:endParaRPr lang="en-US" dirty="0"/>
          </a:p>
          <a:p>
            <a:r>
              <a:rPr lang="en-US" dirty="0"/>
              <a:t>Introduction to Probability Theory</a:t>
            </a:r>
          </a:p>
          <a:p>
            <a:endParaRPr lang="en-US" dirty="0"/>
          </a:p>
          <a:p>
            <a:r>
              <a:rPr lang="en-US" dirty="0"/>
              <a:t>Probability Definitions</a:t>
            </a:r>
          </a:p>
          <a:p>
            <a:r>
              <a:rPr lang="en-US" dirty="0"/>
              <a:t>Probability of an event is the measure of the likelihood that </a:t>
            </a:r>
          </a:p>
          <a:p>
            <a:r>
              <a:rPr lang="en-US" dirty="0"/>
              <a:t>the event will occur (in some experiment). </a:t>
            </a:r>
          </a:p>
          <a:p>
            <a:endParaRPr lang="en-US" dirty="0"/>
          </a:p>
          <a:p>
            <a:r>
              <a:rPr lang="en-US" dirty="0"/>
              <a:t>Probability is a number between 0 and 1. </a:t>
            </a:r>
          </a:p>
          <a:p>
            <a:r>
              <a:rPr lang="en-US" dirty="0"/>
              <a:t>But sometimes people express probability using </a:t>
            </a:r>
            <a:r>
              <a:rPr lang="en-US" dirty="0" err="1"/>
              <a:t>percents</a:t>
            </a:r>
            <a:r>
              <a:rPr lang="en-US" dirty="0"/>
              <a:t>.</a:t>
            </a:r>
          </a:p>
          <a:p>
            <a:endParaRPr lang="en-US" dirty="0"/>
          </a:p>
          <a:p>
            <a:r>
              <a:rPr lang="en-US" dirty="0"/>
              <a:t>0 – event is impossible</a:t>
            </a:r>
          </a:p>
          <a:p>
            <a:r>
              <a:rPr lang="en-US" dirty="0"/>
              <a:t>0.5 – the event is just as likely to occur as it is to not occur</a:t>
            </a:r>
          </a:p>
          <a:p>
            <a:r>
              <a:rPr lang="en-US" dirty="0"/>
              <a:t>1 – event will certainly happen, 100%.</a:t>
            </a:r>
          </a:p>
          <a:p>
            <a:endParaRPr lang="en-US" dirty="0"/>
          </a:p>
          <a:p>
            <a:r>
              <a:rPr lang="en-US" dirty="0"/>
              <a:t>The sum of probabilities of all outcomes of an experiment </a:t>
            </a:r>
          </a:p>
          <a:p>
            <a:r>
              <a:rPr lang="en-US" dirty="0"/>
              <a:t>should always be 1.</a:t>
            </a:r>
          </a:p>
          <a:p>
            <a:endParaRPr lang="en-US" dirty="0"/>
          </a:p>
          <a:p>
            <a:r>
              <a:rPr lang="en-US" dirty="0"/>
              <a:t>Outcomes can be combinations of individual events.</a:t>
            </a:r>
          </a:p>
          <a:p>
            <a:endParaRPr lang="en-US" dirty="0"/>
          </a:p>
          <a:p>
            <a:r>
              <a:rPr lang="en-US" dirty="0"/>
              <a:t>For example, if we throw one dice cube – there are 6 possible</a:t>
            </a:r>
          </a:p>
          <a:p>
            <a:r>
              <a:rPr lang="en-US" dirty="0"/>
              <a:t>outcomes (1,2,3,4,5,6), each one has same probability – 1/6.</a:t>
            </a:r>
          </a:p>
        </p:txBody>
      </p:sp>
      <p:sp>
        <p:nvSpPr>
          <p:cNvPr id="6" name="TextBox 5">
            <a:extLst>
              <a:ext uri="{FF2B5EF4-FFF2-40B4-BE49-F238E27FC236}">
                <a16:creationId xmlns:a16="http://schemas.microsoft.com/office/drawing/2014/main" id="{114DD0B7-6869-094A-81E2-14D593C7ED9E}"/>
              </a:ext>
            </a:extLst>
          </p:cNvPr>
          <p:cNvSpPr txBox="1"/>
          <p:nvPr/>
        </p:nvSpPr>
        <p:spPr>
          <a:xfrm>
            <a:off x="6096000" y="588579"/>
            <a:ext cx="6096000" cy="5816977"/>
          </a:xfrm>
          <a:prstGeom prst="rect">
            <a:avLst/>
          </a:prstGeom>
          <a:noFill/>
        </p:spPr>
        <p:txBody>
          <a:bodyPr wrap="square" rtlCol="0">
            <a:spAutoFit/>
          </a:bodyPr>
          <a:lstStyle/>
          <a:p>
            <a:r>
              <a:rPr lang="en-US" dirty="0"/>
              <a:t>If we throw 2 cubes, there are 6*6=36 possible combinations.</a:t>
            </a:r>
          </a:p>
          <a:p>
            <a:r>
              <a:rPr lang="en-US" dirty="0"/>
              <a:t>Probability of each combination is the same – 1/36.</a:t>
            </a:r>
          </a:p>
          <a:p>
            <a:endParaRPr lang="en-US" dirty="0"/>
          </a:p>
          <a:p>
            <a:r>
              <a:rPr lang="en-US" dirty="0"/>
              <a:t>If we define an outcome as a sum of numbers on top side of </a:t>
            </a:r>
          </a:p>
          <a:p>
            <a:r>
              <a:rPr lang="en-US" dirty="0"/>
              <a:t>cubes after the throw, then there are 11 possible outcomes:</a:t>
            </a:r>
          </a:p>
          <a:p>
            <a:endParaRPr lang="en-US" dirty="0"/>
          </a:p>
          <a:p>
            <a:r>
              <a:rPr lang="en-US" sz="1200" dirty="0">
                <a:solidFill>
                  <a:srgbClr val="0070C0"/>
                </a:solidFill>
                <a:latin typeface="Monaco" pitchFamily="2" charset="77"/>
              </a:rPr>
              <a:t>---------------------------------------------------------</a:t>
            </a:r>
          </a:p>
          <a:p>
            <a:r>
              <a:rPr lang="en-US" sz="1200" dirty="0">
                <a:solidFill>
                  <a:srgbClr val="0070C0"/>
                </a:solidFill>
                <a:latin typeface="Monaco" pitchFamily="2" charset="77"/>
              </a:rPr>
              <a:t>Sum    Combinations             Number of</a:t>
            </a:r>
          </a:p>
          <a:p>
            <a:r>
              <a:rPr lang="en-US" sz="1200" dirty="0">
                <a:solidFill>
                  <a:srgbClr val="0070C0"/>
                </a:solidFill>
                <a:latin typeface="Monaco" pitchFamily="2" charset="77"/>
              </a:rPr>
              <a:t>                                combinations  Probability</a:t>
            </a:r>
          </a:p>
          <a:p>
            <a:r>
              <a:rPr lang="en-US" sz="1200" dirty="0">
                <a:solidFill>
                  <a:srgbClr val="0070C0"/>
                </a:solidFill>
                <a:latin typeface="Monaco" pitchFamily="2" charset="77"/>
              </a:rPr>
              <a:t>---------------------------------------------------------</a:t>
            </a:r>
          </a:p>
          <a:p>
            <a:r>
              <a:rPr lang="en-US" sz="1200" dirty="0">
                <a:solidFill>
                  <a:srgbClr val="0070C0"/>
                </a:solidFill>
                <a:latin typeface="Monaco" pitchFamily="2" charset="77"/>
              </a:rPr>
              <a:t>2      1+1                          1             1/36</a:t>
            </a:r>
          </a:p>
          <a:p>
            <a:r>
              <a:rPr lang="en-US" sz="1200" dirty="0">
                <a:solidFill>
                  <a:srgbClr val="0070C0"/>
                </a:solidFill>
                <a:latin typeface="Monaco" pitchFamily="2" charset="77"/>
              </a:rPr>
              <a:t>3      1+2,2+1                      2             2/36</a:t>
            </a:r>
          </a:p>
          <a:p>
            <a:r>
              <a:rPr lang="en-US" sz="1200" dirty="0">
                <a:solidFill>
                  <a:srgbClr val="0070C0"/>
                </a:solidFill>
                <a:latin typeface="Monaco" pitchFamily="2" charset="77"/>
              </a:rPr>
              <a:t>4      1+3,2+2,3+1                  3             3/36</a:t>
            </a:r>
          </a:p>
          <a:p>
            <a:r>
              <a:rPr lang="en-US" sz="1200" dirty="0">
                <a:solidFill>
                  <a:srgbClr val="0070C0"/>
                </a:solidFill>
                <a:latin typeface="Monaco" pitchFamily="2" charset="77"/>
              </a:rPr>
              <a:t>5      1+4,2+3,3+2,4+1              4             4/36</a:t>
            </a:r>
          </a:p>
          <a:p>
            <a:r>
              <a:rPr lang="en-US" sz="1200" dirty="0">
                <a:solidFill>
                  <a:srgbClr val="0070C0"/>
                </a:solidFill>
                <a:latin typeface="Monaco" pitchFamily="2" charset="77"/>
              </a:rPr>
              <a:t>6      1+5,2+4,3+3,4+2,5+1          5             5/36</a:t>
            </a:r>
          </a:p>
          <a:p>
            <a:r>
              <a:rPr lang="en-US" sz="1200" dirty="0">
                <a:solidFill>
                  <a:srgbClr val="0070C0"/>
                </a:solidFill>
                <a:latin typeface="Monaco" pitchFamily="2" charset="77"/>
              </a:rPr>
              <a:t>7      1+6,2+5,3+4,4+3,5+2,6+1      6             6/36</a:t>
            </a:r>
          </a:p>
          <a:p>
            <a:r>
              <a:rPr lang="en-US" sz="1200" dirty="0">
                <a:solidFill>
                  <a:srgbClr val="0070C0"/>
                </a:solidFill>
                <a:latin typeface="Monaco" pitchFamily="2" charset="77"/>
              </a:rPr>
              <a:t>8      2+6,3+5,4+4,5+3,6+2          5             5/36</a:t>
            </a:r>
          </a:p>
          <a:p>
            <a:r>
              <a:rPr lang="en-US" sz="1200" dirty="0">
                <a:solidFill>
                  <a:srgbClr val="0070C0"/>
                </a:solidFill>
                <a:latin typeface="Monaco" pitchFamily="2" charset="77"/>
              </a:rPr>
              <a:t>9      3+6,4+5,5+4,6+3              4             4/36</a:t>
            </a:r>
          </a:p>
          <a:p>
            <a:r>
              <a:rPr lang="en-US" sz="1200" dirty="0">
                <a:solidFill>
                  <a:srgbClr val="0070C0"/>
                </a:solidFill>
                <a:latin typeface="Monaco" pitchFamily="2" charset="77"/>
              </a:rPr>
              <a:t>10     4+6,5+5,6+4                  3             3/36</a:t>
            </a:r>
          </a:p>
          <a:p>
            <a:r>
              <a:rPr lang="en-US" sz="1200" dirty="0">
                <a:solidFill>
                  <a:srgbClr val="0070C0"/>
                </a:solidFill>
                <a:latin typeface="Monaco" pitchFamily="2" charset="77"/>
              </a:rPr>
              <a:t>11     5+6,6+5                      2             2/36</a:t>
            </a:r>
          </a:p>
          <a:p>
            <a:r>
              <a:rPr lang="en-US" sz="1200" dirty="0">
                <a:solidFill>
                  <a:srgbClr val="0070C0"/>
                </a:solidFill>
                <a:latin typeface="Monaco" pitchFamily="2" charset="77"/>
              </a:rPr>
              <a:t>12     6+6                          1             1/36</a:t>
            </a:r>
          </a:p>
          <a:p>
            <a:r>
              <a:rPr lang="en-US" sz="1200" dirty="0">
                <a:solidFill>
                  <a:srgbClr val="0070C0"/>
                </a:solidFill>
                <a:latin typeface="Monaco" pitchFamily="2" charset="77"/>
              </a:rPr>
              <a:t>---------------------------------------------------------</a:t>
            </a:r>
          </a:p>
          <a:p>
            <a:r>
              <a:rPr lang="en-US" sz="1200" dirty="0">
                <a:solidFill>
                  <a:srgbClr val="0070C0"/>
                </a:solidFill>
                <a:latin typeface="Monaco" pitchFamily="2" charset="77"/>
              </a:rPr>
              <a:t>Total                              36              1</a:t>
            </a:r>
            <a:br>
              <a:rPr lang="en-US" sz="1200" dirty="0">
                <a:solidFill>
                  <a:srgbClr val="0070C0"/>
                </a:solidFill>
                <a:latin typeface="Monaco" pitchFamily="2" charset="77"/>
              </a:rPr>
            </a:br>
            <a:endParaRPr lang="en-US" dirty="0"/>
          </a:p>
          <a:p>
            <a:r>
              <a:rPr lang="en-US" dirty="0"/>
              <a:t>From the table above you see how some outcomes can result </a:t>
            </a:r>
          </a:p>
          <a:p>
            <a:r>
              <a:rPr lang="en-US" dirty="0"/>
              <a:t>from more combinations, thus have higher probability of happening.</a:t>
            </a:r>
          </a:p>
          <a:p>
            <a:endParaRPr lang="en-US" dirty="0"/>
          </a:p>
          <a:p>
            <a:r>
              <a:rPr lang="en-US" dirty="0"/>
              <a:t>Note: Events can be mutually exclusive, or not. </a:t>
            </a:r>
          </a:p>
          <a:p>
            <a:r>
              <a:rPr lang="en-US" dirty="0"/>
              <a:t>Also, events may be independent, or dependent on each other.</a:t>
            </a:r>
          </a:p>
        </p:txBody>
      </p:sp>
    </p:spTree>
    <p:extLst>
      <p:ext uri="{BB962C8B-B14F-4D97-AF65-F5344CB8AC3E}">
        <p14:creationId xmlns:p14="http://schemas.microsoft.com/office/powerpoint/2010/main" val="4124639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33A883-0865-B144-AFA6-9A8B821FB9CB}"/>
              </a:ext>
            </a:extLst>
          </p:cNvPr>
          <p:cNvSpPr txBox="1"/>
          <p:nvPr/>
        </p:nvSpPr>
        <p:spPr>
          <a:xfrm>
            <a:off x="220717" y="283779"/>
            <a:ext cx="5728138" cy="5693866"/>
          </a:xfrm>
          <a:prstGeom prst="rect">
            <a:avLst/>
          </a:prstGeom>
          <a:noFill/>
        </p:spPr>
        <p:txBody>
          <a:bodyPr wrap="square" rtlCol="0">
            <a:spAutoFit/>
          </a:bodyPr>
          <a:lstStyle/>
          <a:p>
            <a:r>
              <a:rPr lang="en-US" b="1" dirty="0">
                <a:solidFill>
                  <a:srgbClr val="0070C0"/>
                </a:solidFill>
              </a:rPr>
              <a:t>Marginal Probability </a:t>
            </a:r>
            <a:r>
              <a:rPr lang="en-US" dirty="0"/>
              <a:t>= Simple Probability , a probability </a:t>
            </a:r>
          </a:p>
          <a:p>
            <a:r>
              <a:rPr lang="en-US" dirty="0"/>
              <a:t>of an independent event occurring.</a:t>
            </a:r>
          </a:p>
          <a:p>
            <a:endParaRPr lang="en-US" dirty="0"/>
          </a:p>
          <a:p>
            <a:r>
              <a:rPr lang="en-US" dirty="0"/>
              <a:t>The term “marginal variable” is used to refer to a subset </a:t>
            </a:r>
          </a:p>
          <a:p>
            <a:r>
              <a:rPr lang="en-US" dirty="0"/>
              <a:t>of variables in a table. They called “marginal” because they </a:t>
            </a:r>
          </a:p>
          <a:p>
            <a:r>
              <a:rPr lang="en-US" dirty="0"/>
              <a:t>used to be calculated by summing values in a table along </a:t>
            </a:r>
          </a:p>
          <a:p>
            <a:r>
              <a:rPr lang="en-US" dirty="0"/>
              <a:t>rows or columns , and writing the sum in the margins of the table.</a:t>
            </a:r>
          </a:p>
          <a:p>
            <a:endParaRPr lang="en-US" dirty="0"/>
          </a:p>
          <a:p>
            <a:r>
              <a:rPr lang="en-US" dirty="0"/>
              <a:t>Examples of assigning probability.</a:t>
            </a:r>
          </a:p>
          <a:p>
            <a:endParaRPr lang="en-US" dirty="0"/>
          </a:p>
          <a:p>
            <a:r>
              <a:rPr lang="en-US" b="1" dirty="0">
                <a:solidFill>
                  <a:srgbClr val="0070C0"/>
                </a:solidFill>
              </a:rPr>
              <a:t>Example 1. Tossing a coin.</a:t>
            </a:r>
          </a:p>
          <a:p>
            <a:endParaRPr lang="en-US" dirty="0"/>
          </a:p>
          <a:p>
            <a:r>
              <a:rPr lang="en-US" dirty="0"/>
              <a:t>Possible outcomes : (tails or heads).</a:t>
            </a:r>
          </a:p>
          <a:p>
            <a:r>
              <a:rPr lang="en-US" dirty="0"/>
              <a:t>Events (tails of heads) are mutually exclusive. </a:t>
            </a:r>
          </a:p>
          <a:p>
            <a:r>
              <a:rPr lang="en-US" dirty="0"/>
              <a:t>Their probabilities should be equal.</a:t>
            </a:r>
          </a:p>
          <a:p>
            <a:endParaRPr lang="en-US" dirty="0"/>
          </a:p>
          <a:p>
            <a:r>
              <a:rPr lang="en-US" dirty="0"/>
              <a:t>P</a:t>
            </a:r>
            <a:r>
              <a:rPr lang="en-US" baseline="-25000" dirty="0"/>
              <a:t>t</a:t>
            </a:r>
            <a:r>
              <a:rPr lang="en-US" dirty="0"/>
              <a:t> + P</a:t>
            </a:r>
            <a:r>
              <a:rPr lang="en-US" baseline="-25000" dirty="0"/>
              <a:t>h</a:t>
            </a:r>
            <a:r>
              <a:rPr lang="en-US" dirty="0"/>
              <a:t> = 1</a:t>
            </a:r>
          </a:p>
          <a:p>
            <a:r>
              <a:rPr lang="en-US" dirty="0"/>
              <a:t>P</a:t>
            </a:r>
            <a:r>
              <a:rPr lang="en-US" baseline="-25000" dirty="0"/>
              <a:t>t</a:t>
            </a:r>
            <a:r>
              <a:rPr lang="en-US" dirty="0"/>
              <a:t> = 0.5</a:t>
            </a:r>
          </a:p>
          <a:p>
            <a:r>
              <a:rPr lang="en-US" dirty="0"/>
              <a:t>P</a:t>
            </a:r>
            <a:r>
              <a:rPr lang="en-US" baseline="-25000" dirty="0"/>
              <a:t>h</a:t>
            </a:r>
            <a:r>
              <a:rPr lang="en-US" dirty="0"/>
              <a:t> = 0.5</a:t>
            </a:r>
          </a:p>
          <a:p>
            <a:endParaRPr lang="en-US" dirty="0"/>
          </a:p>
          <a:p>
            <a:r>
              <a:rPr lang="en-US" b="1" dirty="0">
                <a:solidFill>
                  <a:srgbClr val="0070C0"/>
                </a:solidFill>
              </a:rPr>
              <a:t>Example 2. Rolling a die.</a:t>
            </a:r>
          </a:p>
          <a:p>
            <a:endParaRPr lang="en-US" dirty="0"/>
          </a:p>
          <a:p>
            <a:r>
              <a:rPr lang="en-US" dirty="0"/>
              <a:t>Possible outcomes: (1,2,3,4,5,6).</a:t>
            </a:r>
          </a:p>
          <a:p>
            <a:r>
              <a:rPr lang="en-US" dirty="0"/>
              <a:t>They are mutually exclusive, probability equal, sum() = 1</a:t>
            </a:r>
          </a:p>
          <a:p>
            <a:r>
              <a:rPr lang="en-US" dirty="0"/>
              <a:t>So each probability = 1/6 = 0.167 3.</a:t>
            </a:r>
          </a:p>
        </p:txBody>
      </p:sp>
      <p:sp>
        <p:nvSpPr>
          <p:cNvPr id="5" name="TextBox 4">
            <a:extLst>
              <a:ext uri="{FF2B5EF4-FFF2-40B4-BE49-F238E27FC236}">
                <a16:creationId xmlns:a16="http://schemas.microsoft.com/office/drawing/2014/main" id="{4EFE259D-D05B-5F41-8BD0-9A4D34A8B30A}"/>
              </a:ext>
            </a:extLst>
          </p:cNvPr>
          <p:cNvSpPr txBox="1"/>
          <p:nvPr/>
        </p:nvSpPr>
        <p:spPr>
          <a:xfrm>
            <a:off x="6190593" y="663672"/>
            <a:ext cx="6001407" cy="3970318"/>
          </a:xfrm>
          <a:prstGeom prst="rect">
            <a:avLst/>
          </a:prstGeom>
          <a:noFill/>
        </p:spPr>
        <p:txBody>
          <a:bodyPr wrap="square" rtlCol="0">
            <a:spAutoFit/>
          </a:bodyPr>
          <a:lstStyle/>
          <a:p>
            <a:r>
              <a:rPr lang="en-US" b="1" dirty="0">
                <a:solidFill>
                  <a:srgbClr val="0070C0"/>
                </a:solidFill>
              </a:rPr>
              <a:t>Example 3. Job Search.</a:t>
            </a:r>
          </a:p>
          <a:p>
            <a:endParaRPr lang="en-US" dirty="0"/>
          </a:p>
          <a:p>
            <a:r>
              <a:rPr lang="en-US" dirty="0"/>
              <a:t>I get 2 emails with job descriptions every day, 10 per week.</a:t>
            </a:r>
          </a:p>
          <a:p>
            <a:endParaRPr lang="en-US" dirty="0"/>
          </a:p>
          <a:p>
            <a:r>
              <a:rPr lang="en-US" dirty="0"/>
              <a:t>Two of them may be a fit: 2 of 10 (0.2).</a:t>
            </a:r>
          </a:p>
          <a:p>
            <a:endParaRPr lang="en-US" dirty="0"/>
          </a:p>
          <a:p>
            <a:r>
              <a:rPr lang="en-US" dirty="0"/>
              <a:t>So I send an email that I am interested. </a:t>
            </a:r>
          </a:p>
          <a:p>
            <a:r>
              <a:rPr lang="en-US" dirty="0"/>
              <a:t>I am invited to every third position I requested (0.2/3 = 0.067)</a:t>
            </a:r>
          </a:p>
          <a:p>
            <a:endParaRPr lang="en-US" dirty="0"/>
          </a:p>
          <a:p>
            <a:r>
              <a:rPr lang="en-US" dirty="0"/>
              <a:t>And I get 1 position out of 10 initial interviews (0.0067).</a:t>
            </a:r>
          </a:p>
          <a:p>
            <a:endParaRPr lang="en-US" dirty="0"/>
          </a:p>
          <a:p>
            <a:r>
              <a:rPr lang="en-US" dirty="0"/>
              <a:t>So the probability that an incoming email will result </a:t>
            </a:r>
          </a:p>
          <a:p>
            <a:r>
              <a:rPr lang="en-US" dirty="0"/>
              <a:t>in a job is 0.0067, or ~1%. </a:t>
            </a:r>
          </a:p>
          <a:p>
            <a:r>
              <a:rPr lang="en-US" dirty="0"/>
              <a:t>So, I need to consider 100 positions (this will take 10 weeks), </a:t>
            </a:r>
          </a:p>
          <a:p>
            <a:r>
              <a:rPr lang="en-US" dirty="0"/>
              <a:t>send 20 emails asking to invite, go to 6..7 interviews, </a:t>
            </a:r>
          </a:p>
          <a:p>
            <a:r>
              <a:rPr lang="en-US" dirty="0"/>
              <a:t>and eventually get a job.</a:t>
            </a:r>
          </a:p>
          <a:p>
            <a:endParaRPr lang="en-US" dirty="0"/>
          </a:p>
          <a:p>
            <a:r>
              <a:rPr lang="en-US" dirty="0"/>
              <a:t>So job search takes 2..3 months.</a:t>
            </a:r>
          </a:p>
        </p:txBody>
      </p:sp>
    </p:spTree>
    <p:extLst>
      <p:ext uri="{BB962C8B-B14F-4D97-AF65-F5344CB8AC3E}">
        <p14:creationId xmlns:p14="http://schemas.microsoft.com/office/powerpoint/2010/main" val="884266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258901"/>
            <a:ext cx="5675586" cy="6340197"/>
          </a:xfrm>
          <a:prstGeom prst="rect">
            <a:avLst/>
          </a:prstGeom>
          <a:noFill/>
        </p:spPr>
        <p:txBody>
          <a:bodyPr wrap="square" rtlCol="0">
            <a:spAutoFit/>
          </a:bodyPr>
          <a:lstStyle/>
          <a:p>
            <a:r>
              <a:rPr lang="en-US" b="1" dirty="0">
                <a:solidFill>
                  <a:srgbClr val="0070C0"/>
                </a:solidFill>
              </a:rPr>
              <a:t>Rules (Or, And, etc.)</a:t>
            </a:r>
          </a:p>
          <a:p>
            <a:endParaRPr lang="en-US" dirty="0"/>
          </a:p>
          <a:p>
            <a:r>
              <a:rPr lang="en-US" dirty="0"/>
              <a:t>Lets A be an event. </a:t>
            </a:r>
          </a:p>
          <a:p>
            <a:r>
              <a:rPr lang="en-US" dirty="0"/>
              <a:t>P(A) – </a:t>
            </a:r>
            <a:r>
              <a:rPr lang="en-US" dirty="0" err="1"/>
              <a:t>probabiltiy</a:t>
            </a:r>
            <a:r>
              <a:rPr lang="en-US" dirty="0"/>
              <a:t> of event A </a:t>
            </a:r>
          </a:p>
          <a:p>
            <a:r>
              <a:rPr lang="en-US" dirty="0"/>
              <a:t>then: P(A) + P(not A) = 1 </a:t>
            </a:r>
          </a:p>
          <a:p>
            <a:endParaRPr lang="en-US" dirty="0"/>
          </a:p>
          <a:p>
            <a:r>
              <a:rPr lang="en-US" dirty="0"/>
              <a:t>If A and B are events, then: </a:t>
            </a:r>
          </a:p>
          <a:p>
            <a:r>
              <a:rPr lang="en-US" dirty="0"/>
              <a:t>P(A or B) = P(A) + P(B) – P(A and B) </a:t>
            </a:r>
          </a:p>
          <a:p>
            <a:endParaRPr lang="en-US" dirty="0"/>
          </a:p>
          <a:p>
            <a:r>
              <a:rPr lang="en-US" dirty="0"/>
              <a:t>for mutually exclusive events P(A and B) = 0, </a:t>
            </a:r>
          </a:p>
          <a:p>
            <a:r>
              <a:rPr lang="en-US" dirty="0"/>
              <a:t>so P(A or B) = P(A) + P(B)</a:t>
            </a:r>
          </a:p>
          <a:p>
            <a:endParaRPr lang="en-US" dirty="0"/>
          </a:p>
          <a:p>
            <a:r>
              <a:rPr lang="en-US" b="1" dirty="0">
                <a:solidFill>
                  <a:srgbClr val="0070C0"/>
                </a:solidFill>
              </a:rPr>
              <a:t>Venn Diagrams</a:t>
            </a:r>
          </a:p>
          <a:p>
            <a:endParaRPr lang="en-US" dirty="0"/>
          </a:p>
          <a:p>
            <a:r>
              <a:rPr lang="en-US" dirty="0"/>
              <a:t>Venn Diagrams = Graphical representation of events as circles.</a:t>
            </a:r>
          </a:p>
          <a:p>
            <a:r>
              <a:rPr lang="en-US" dirty="0"/>
              <a:t>See many examples – just google images for: Venn Diagram A or B.</a:t>
            </a:r>
          </a:p>
          <a:p>
            <a:endParaRPr lang="en-US" dirty="0"/>
          </a:p>
          <a:p>
            <a:r>
              <a:rPr lang="en-US" dirty="0"/>
              <a:t>For example, this image shows Intersection (A and B),</a:t>
            </a:r>
          </a:p>
          <a:p>
            <a:r>
              <a:rPr lang="en-US" dirty="0"/>
              <a:t>negation of intersection (A but not B, or B but not A),</a:t>
            </a:r>
          </a:p>
          <a:p>
            <a:r>
              <a:rPr lang="en-US" dirty="0"/>
              <a:t>union (A or B), and subtraction (A but not B) :</a:t>
            </a:r>
          </a:p>
          <a:p>
            <a:endParaRPr lang="en-US" dirty="0"/>
          </a:p>
          <a:p>
            <a:r>
              <a:rPr lang="en-US" dirty="0"/>
              <a:t>Conditional Probability</a:t>
            </a:r>
          </a:p>
          <a:p>
            <a:r>
              <a:rPr lang="en-US" dirty="0"/>
              <a:t>P(A|B) – probability of A given that B has occurred.</a:t>
            </a:r>
          </a:p>
          <a:p>
            <a:r>
              <a:rPr lang="en-US" dirty="0"/>
              <a:t>P(A|B) = P(A and B) / P(B) (if P(B) is not zero)</a:t>
            </a:r>
          </a:p>
          <a:p>
            <a:endParaRPr lang="en-US" dirty="0"/>
          </a:p>
          <a:p>
            <a:r>
              <a:rPr lang="en-US" dirty="0"/>
              <a:t>If A &amp; B are independent form each other, then:</a:t>
            </a:r>
          </a:p>
          <a:p>
            <a:r>
              <a:rPr lang="en-US" dirty="0"/>
              <a:t>P(A|B) = P(A)</a:t>
            </a:r>
          </a:p>
          <a:p>
            <a:r>
              <a:rPr lang="en-US" dirty="0"/>
              <a:t>P(B|A) = P(B)</a:t>
            </a:r>
          </a:p>
        </p:txBody>
      </p:sp>
      <p:pic>
        <p:nvPicPr>
          <p:cNvPr id="2" name="Picture 1">
            <a:extLst>
              <a:ext uri="{FF2B5EF4-FFF2-40B4-BE49-F238E27FC236}">
                <a16:creationId xmlns:a16="http://schemas.microsoft.com/office/drawing/2014/main" id="{53B9C2FE-C703-344E-807C-1F34D0C8391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95908" y="258901"/>
            <a:ext cx="5143166" cy="6227906"/>
          </a:xfrm>
          <a:prstGeom prst="rect">
            <a:avLst/>
          </a:prstGeom>
        </p:spPr>
      </p:pic>
    </p:spTree>
    <p:extLst>
      <p:ext uri="{BB962C8B-B14F-4D97-AF65-F5344CB8AC3E}">
        <p14:creationId xmlns:p14="http://schemas.microsoft.com/office/powerpoint/2010/main" val="334538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80BCCA-2C61-AF4F-A60F-52F5007A8787}"/>
              </a:ext>
            </a:extLst>
          </p:cNvPr>
          <p:cNvSpPr txBox="1"/>
          <p:nvPr/>
        </p:nvSpPr>
        <p:spPr>
          <a:xfrm>
            <a:off x="100084" y="2987997"/>
            <a:ext cx="3938899" cy="523220"/>
          </a:xfrm>
          <a:prstGeom prst="rect">
            <a:avLst/>
          </a:prstGeom>
          <a:noFill/>
        </p:spPr>
        <p:txBody>
          <a:bodyPr wrap="none" rtlCol="0">
            <a:spAutoFit/>
          </a:bodyPr>
          <a:lstStyle/>
          <a:p>
            <a:r>
              <a:rPr lang="en-US" sz="2800" b="1" dirty="0"/>
              <a:t>Bonferroni Correction</a:t>
            </a:r>
          </a:p>
        </p:txBody>
      </p:sp>
      <p:sp>
        <p:nvSpPr>
          <p:cNvPr id="39" name="TextBox 38">
            <a:extLst>
              <a:ext uri="{FF2B5EF4-FFF2-40B4-BE49-F238E27FC236}">
                <a16:creationId xmlns:a16="http://schemas.microsoft.com/office/drawing/2014/main" id="{27A304D2-6800-2B40-9474-4647EA280910}"/>
              </a:ext>
            </a:extLst>
          </p:cNvPr>
          <p:cNvSpPr txBox="1"/>
          <p:nvPr/>
        </p:nvSpPr>
        <p:spPr>
          <a:xfrm>
            <a:off x="90466" y="3530593"/>
            <a:ext cx="8639198" cy="3323987"/>
          </a:xfrm>
          <a:prstGeom prst="rect">
            <a:avLst/>
          </a:prstGeom>
          <a:noFill/>
        </p:spPr>
        <p:txBody>
          <a:bodyPr wrap="square" rtlCol="0">
            <a:spAutoFit/>
          </a:bodyPr>
          <a:lstStyle/>
          <a:p>
            <a:r>
              <a:rPr lang="en-US" dirty="0"/>
              <a:t>When conducting multiple tests, the chance of getting a significant (type 1) error increases by pure chance. </a:t>
            </a:r>
          </a:p>
          <a:p>
            <a:r>
              <a:rPr lang="en-US" dirty="0"/>
              <a:t>To correct for this, we proportionally "decrease" the "alpha" value of each test.</a:t>
            </a:r>
          </a:p>
          <a:p>
            <a:endParaRPr lang="en-US" dirty="0"/>
          </a:p>
          <a:p>
            <a:r>
              <a:rPr lang="en-US" dirty="0"/>
              <a:t>Example:</a:t>
            </a:r>
          </a:p>
          <a:p>
            <a:r>
              <a:rPr lang="en-US" dirty="0"/>
              <a:t>Suppose we have Ng = 5 treatment groups.</a:t>
            </a:r>
          </a:p>
          <a:p>
            <a:r>
              <a:rPr lang="en-US" dirty="0"/>
              <a:t>Hull hypothesis is that group members are "equal" in all groups.</a:t>
            </a:r>
          </a:p>
          <a:p>
            <a:r>
              <a:rPr lang="en-US" dirty="0"/>
              <a:t>Alpha = 0.05 ("family alpha rate") – chance of rejecting H0</a:t>
            </a:r>
          </a:p>
          <a:p>
            <a:endParaRPr lang="en-US" dirty="0"/>
          </a:p>
          <a:p>
            <a:r>
              <a:rPr lang="en-US" dirty="0"/>
              <a:t>We decided to make 10 comparisons:</a:t>
            </a:r>
          </a:p>
          <a:p>
            <a:r>
              <a:rPr lang="en-US" dirty="0"/>
              <a:t>    1 to 2, 2 to 3, 3 to 4, 4 to 5, 1 to 3, 2 to 4, 3 to 5, 4 to 1,</a:t>
            </a:r>
          </a:p>
          <a:p>
            <a:r>
              <a:rPr lang="en-US" dirty="0"/>
              <a:t>    (1 &amp; 2) to (3 &amp; 4), (1 &amp; 2) to (4 &amp; 5)</a:t>
            </a:r>
          </a:p>
          <a:p>
            <a:endParaRPr lang="en-US" dirty="0"/>
          </a:p>
          <a:p>
            <a:r>
              <a:rPr lang="en-US" dirty="0"/>
              <a:t>We will use new corrected alpha </a:t>
            </a:r>
            <a:r>
              <a:rPr lang="en-US" dirty="0" err="1"/>
              <a:t>Alpha_new</a:t>
            </a:r>
            <a:r>
              <a:rPr lang="en-US" dirty="0"/>
              <a:t> = Alpha/10 = 0.005 for each of those 10 tests.</a:t>
            </a:r>
          </a:p>
          <a:p>
            <a:r>
              <a:rPr lang="en-US" dirty="0"/>
              <a:t>If any of the 10 tests rejects the H0 (using this small </a:t>
            </a:r>
            <a:r>
              <a:rPr lang="en-US" dirty="0" err="1"/>
              <a:t>Alpha_new</a:t>
            </a:r>
            <a:r>
              <a:rPr lang="en-US" dirty="0"/>
              <a:t> value of 0.005), </a:t>
            </a:r>
          </a:p>
          <a:p>
            <a:r>
              <a:rPr lang="en-US" dirty="0"/>
              <a:t>then we reject H0 for the whole "family".</a:t>
            </a:r>
          </a:p>
        </p:txBody>
      </p:sp>
      <p:sp>
        <p:nvSpPr>
          <p:cNvPr id="8" name="TextBox 7">
            <a:extLst>
              <a:ext uri="{FF2B5EF4-FFF2-40B4-BE49-F238E27FC236}">
                <a16:creationId xmlns:a16="http://schemas.microsoft.com/office/drawing/2014/main" id="{8040F7C3-0742-E84C-B6FF-4D1910EB83F6}"/>
              </a:ext>
            </a:extLst>
          </p:cNvPr>
          <p:cNvSpPr txBox="1"/>
          <p:nvPr/>
        </p:nvSpPr>
        <p:spPr>
          <a:xfrm>
            <a:off x="100084" y="618534"/>
            <a:ext cx="3956532" cy="307777"/>
          </a:xfrm>
          <a:prstGeom prst="rect">
            <a:avLst/>
          </a:prstGeom>
          <a:noFill/>
        </p:spPr>
        <p:txBody>
          <a:bodyPr wrap="square" rtlCol="0">
            <a:spAutoFit/>
          </a:bodyPr>
          <a:lstStyle/>
          <a:p>
            <a:r>
              <a:rPr lang="en-US" dirty="0"/>
              <a:t>P(A∪B) = P(A) + P(B) − P(A∩B) ≤ P(A) + P(B)</a:t>
            </a:r>
          </a:p>
        </p:txBody>
      </p:sp>
      <p:sp>
        <p:nvSpPr>
          <p:cNvPr id="41" name="TextBox 40">
            <a:extLst>
              <a:ext uri="{FF2B5EF4-FFF2-40B4-BE49-F238E27FC236}">
                <a16:creationId xmlns:a16="http://schemas.microsoft.com/office/drawing/2014/main" id="{3D618927-60E0-1D44-9633-4AD4142072CB}"/>
              </a:ext>
            </a:extLst>
          </p:cNvPr>
          <p:cNvSpPr txBox="1"/>
          <p:nvPr/>
        </p:nvSpPr>
        <p:spPr>
          <a:xfrm>
            <a:off x="100084" y="153888"/>
            <a:ext cx="3956532" cy="523220"/>
          </a:xfrm>
          <a:prstGeom prst="rect">
            <a:avLst/>
          </a:prstGeom>
          <a:noFill/>
        </p:spPr>
        <p:txBody>
          <a:bodyPr wrap="none" rtlCol="0">
            <a:spAutoFit/>
          </a:bodyPr>
          <a:lstStyle/>
          <a:p>
            <a:r>
              <a:rPr lang="en-US" sz="2800" b="1" dirty="0"/>
              <a:t>Union Bound Formula</a:t>
            </a:r>
          </a:p>
        </p:txBody>
      </p:sp>
      <p:pic>
        <p:nvPicPr>
          <p:cNvPr id="1058" name="Picture 34" descr="Intersection of Sets using Venn Diagram |Solved Examples of Intersection of  Sets">
            <a:extLst>
              <a:ext uri="{FF2B5EF4-FFF2-40B4-BE49-F238E27FC236}">
                <a16:creationId xmlns:a16="http://schemas.microsoft.com/office/drawing/2014/main" id="{3C3A0D9E-139D-E348-86E2-F8A5072E6B1A}"/>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4369196" y="64079"/>
            <a:ext cx="1449909" cy="907574"/>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751AB79-B70C-CA4C-A7E6-0726676EC2C7}"/>
              </a:ext>
            </a:extLst>
          </p:cNvPr>
          <p:cNvSpPr txBox="1"/>
          <p:nvPr/>
        </p:nvSpPr>
        <p:spPr>
          <a:xfrm>
            <a:off x="100084" y="1062374"/>
            <a:ext cx="3799438" cy="523220"/>
          </a:xfrm>
          <a:prstGeom prst="rect">
            <a:avLst/>
          </a:prstGeom>
          <a:noFill/>
        </p:spPr>
        <p:txBody>
          <a:bodyPr wrap="none" rtlCol="0">
            <a:spAutoFit/>
          </a:bodyPr>
          <a:lstStyle/>
          <a:p>
            <a:r>
              <a:rPr lang="en-US" sz="2800" b="1" dirty="0"/>
              <a:t>Bonferroni Inequality</a:t>
            </a:r>
          </a:p>
        </p:txBody>
      </p:sp>
      <p:sp>
        <p:nvSpPr>
          <p:cNvPr id="44" name="TextBox 43">
            <a:extLst>
              <a:ext uri="{FF2B5EF4-FFF2-40B4-BE49-F238E27FC236}">
                <a16:creationId xmlns:a16="http://schemas.microsoft.com/office/drawing/2014/main" id="{A5B86BFC-66BE-A646-8F44-B9B94AC94CEF}"/>
              </a:ext>
            </a:extLst>
          </p:cNvPr>
          <p:cNvSpPr txBox="1"/>
          <p:nvPr/>
        </p:nvSpPr>
        <p:spPr>
          <a:xfrm>
            <a:off x="100084" y="1563204"/>
            <a:ext cx="4392492" cy="1169551"/>
          </a:xfrm>
          <a:prstGeom prst="rect">
            <a:avLst/>
          </a:prstGeom>
          <a:noFill/>
        </p:spPr>
        <p:txBody>
          <a:bodyPr wrap="square" rtlCol="0">
            <a:spAutoFit/>
          </a:bodyPr>
          <a:lstStyle/>
          <a:p>
            <a:r>
              <a:rPr lang="en-US" dirty="0"/>
              <a:t>P(A∩B) = P(A) + P(B) −  P(A∪B)  &gt;= P(A) + P(B) – 1</a:t>
            </a:r>
          </a:p>
          <a:p>
            <a:endParaRPr lang="en-US" dirty="0"/>
          </a:p>
          <a:p>
            <a:r>
              <a:rPr lang="en-US" dirty="0"/>
              <a:t>A = smart, B = beautiful</a:t>
            </a:r>
          </a:p>
          <a:p>
            <a:r>
              <a:rPr lang="en-US" dirty="0"/>
              <a:t>If P(A) ~ 0.9, and P(B) ~ 0.9, then P(A &amp; B) &gt;= 0.8</a:t>
            </a:r>
          </a:p>
          <a:p>
            <a:r>
              <a:rPr lang="en-US" dirty="0"/>
              <a:t>If P(A) ~ 0.5, and P(B) ~ 0.5, then P(A &amp; B) &gt;= 0.0</a:t>
            </a:r>
          </a:p>
        </p:txBody>
      </p:sp>
      <p:pic>
        <p:nvPicPr>
          <p:cNvPr id="1060" name="Picture 36">
            <a:extLst>
              <a:ext uri="{FF2B5EF4-FFF2-40B4-BE49-F238E27FC236}">
                <a16:creationId xmlns:a16="http://schemas.microsoft.com/office/drawing/2014/main" id="{3C44B8D3-E273-5A46-9144-D6C869F8724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310607" y="49778"/>
            <a:ext cx="2032000" cy="3136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47F983F-9CFE-A44E-A7B9-C3CFCB43D9EF}"/>
              </a:ext>
            </a:extLst>
          </p:cNvPr>
          <p:cNvSpPr txBox="1"/>
          <p:nvPr/>
        </p:nvSpPr>
        <p:spPr>
          <a:xfrm>
            <a:off x="9136015" y="3212688"/>
            <a:ext cx="2381184" cy="830997"/>
          </a:xfrm>
          <a:prstGeom prst="rect">
            <a:avLst/>
          </a:prstGeom>
          <a:noFill/>
        </p:spPr>
        <p:txBody>
          <a:bodyPr wrap="square" rtlCol="0">
            <a:spAutoFit/>
          </a:bodyPr>
          <a:lstStyle/>
          <a:p>
            <a:pPr algn="ctr"/>
            <a:r>
              <a:rPr lang="en-US" sz="1600" dirty="0"/>
              <a:t>Carlo Emilio Bonferroni</a:t>
            </a:r>
          </a:p>
          <a:p>
            <a:pPr algn="ctr"/>
            <a:r>
              <a:rPr lang="en-US" sz="1600" dirty="0"/>
              <a:t>1892 – 1960</a:t>
            </a:r>
          </a:p>
          <a:p>
            <a:pPr algn="ctr"/>
            <a:r>
              <a:rPr lang="en-US" sz="1600" dirty="0"/>
              <a:t>Florence, Italy</a:t>
            </a:r>
          </a:p>
        </p:txBody>
      </p:sp>
      <p:sp>
        <p:nvSpPr>
          <p:cNvPr id="19" name="Rectangle 18">
            <a:extLst>
              <a:ext uri="{FF2B5EF4-FFF2-40B4-BE49-F238E27FC236}">
                <a16:creationId xmlns:a16="http://schemas.microsoft.com/office/drawing/2014/main" id="{6119EA38-394B-1149-A5D7-5874CD2165C4}"/>
              </a:ext>
            </a:extLst>
          </p:cNvPr>
          <p:cNvSpPr/>
          <p:nvPr/>
        </p:nvSpPr>
        <p:spPr>
          <a:xfrm>
            <a:off x="6631776" y="1311966"/>
            <a:ext cx="1111216" cy="1235588"/>
          </a:xfrm>
          <a:prstGeom prst="rect">
            <a:avLst/>
          </a:prstGeom>
          <a:pattFill prst="pct70">
            <a:fgClr>
              <a:srgbClr val="00B0F0"/>
            </a:fgClr>
            <a:bgClr>
              <a:schemeClr val="bg1"/>
            </a:bgClr>
          </a:patt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D1C1BF-D884-184D-AAB1-7C488C7A3375}"/>
              </a:ext>
            </a:extLst>
          </p:cNvPr>
          <p:cNvSpPr/>
          <p:nvPr/>
        </p:nvSpPr>
        <p:spPr>
          <a:xfrm>
            <a:off x="6630240" y="1056304"/>
            <a:ext cx="1111216"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0794473-3895-2444-8768-069DF41B1E0F}"/>
              </a:ext>
            </a:extLst>
          </p:cNvPr>
          <p:cNvSpPr/>
          <p:nvPr/>
        </p:nvSpPr>
        <p:spPr>
          <a:xfrm>
            <a:off x="6632060" y="2547554"/>
            <a:ext cx="1111216"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993AD7B-BEF4-2545-935A-69018E7C08C7}"/>
              </a:ext>
            </a:extLst>
          </p:cNvPr>
          <p:cNvSpPr txBox="1"/>
          <p:nvPr/>
        </p:nvSpPr>
        <p:spPr>
          <a:xfrm>
            <a:off x="6755917" y="1648679"/>
            <a:ext cx="891048" cy="461665"/>
          </a:xfrm>
          <a:prstGeom prst="rect">
            <a:avLst/>
          </a:prstGeom>
          <a:noFill/>
        </p:spPr>
        <p:txBody>
          <a:bodyPr wrap="square" rtlCol="0">
            <a:spAutoFit/>
          </a:bodyPr>
          <a:lstStyle/>
          <a:p>
            <a:r>
              <a:rPr lang="en-US" sz="2400" b="1" dirty="0"/>
              <a:t>A∩B</a:t>
            </a:r>
          </a:p>
        </p:txBody>
      </p:sp>
      <p:sp>
        <p:nvSpPr>
          <p:cNvPr id="24" name="TextBox 23">
            <a:extLst>
              <a:ext uri="{FF2B5EF4-FFF2-40B4-BE49-F238E27FC236}">
                <a16:creationId xmlns:a16="http://schemas.microsoft.com/office/drawing/2014/main" id="{CB6CAA4B-826F-844E-B3B2-51D85197766B}"/>
              </a:ext>
            </a:extLst>
          </p:cNvPr>
          <p:cNvSpPr txBox="1"/>
          <p:nvPr/>
        </p:nvSpPr>
        <p:spPr>
          <a:xfrm>
            <a:off x="7026486" y="2446517"/>
            <a:ext cx="340743" cy="461665"/>
          </a:xfrm>
          <a:prstGeom prst="rect">
            <a:avLst/>
          </a:prstGeom>
          <a:noFill/>
        </p:spPr>
        <p:txBody>
          <a:bodyPr wrap="square" rtlCol="0">
            <a:spAutoFit/>
          </a:bodyPr>
          <a:lstStyle/>
          <a:p>
            <a:r>
              <a:rPr lang="en-US" sz="2400" b="1" dirty="0"/>
              <a:t>B</a:t>
            </a:r>
          </a:p>
        </p:txBody>
      </p:sp>
      <p:sp>
        <p:nvSpPr>
          <p:cNvPr id="25" name="TextBox 24">
            <a:extLst>
              <a:ext uri="{FF2B5EF4-FFF2-40B4-BE49-F238E27FC236}">
                <a16:creationId xmlns:a16="http://schemas.microsoft.com/office/drawing/2014/main" id="{F59478F9-AB32-0445-AD45-45D8902525F5}"/>
              </a:ext>
            </a:extLst>
          </p:cNvPr>
          <p:cNvSpPr txBox="1"/>
          <p:nvPr/>
        </p:nvSpPr>
        <p:spPr>
          <a:xfrm>
            <a:off x="7016326" y="954577"/>
            <a:ext cx="340743" cy="461665"/>
          </a:xfrm>
          <a:prstGeom prst="rect">
            <a:avLst/>
          </a:prstGeom>
          <a:noFill/>
        </p:spPr>
        <p:txBody>
          <a:bodyPr wrap="square" rtlCol="0">
            <a:spAutoFit/>
          </a:bodyPr>
          <a:lstStyle/>
          <a:p>
            <a:r>
              <a:rPr lang="en-US" sz="2400" b="1" dirty="0"/>
              <a:t>A</a:t>
            </a:r>
          </a:p>
        </p:txBody>
      </p:sp>
      <p:sp>
        <p:nvSpPr>
          <p:cNvPr id="26" name="Rectangle 25">
            <a:extLst>
              <a:ext uri="{FF2B5EF4-FFF2-40B4-BE49-F238E27FC236}">
                <a16:creationId xmlns:a16="http://schemas.microsoft.com/office/drawing/2014/main" id="{6EAE7B57-E2D0-3140-9D83-18EB2EBD24F5}"/>
              </a:ext>
            </a:extLst>
          </p:cNvPr>
          <p:cNvSpPr/>
          <p:nvPr/>
        </p:nvSpPr>
        <p:spPr>
          <a:xfrm>
            <a:off x="4588603" y="1308617"/>
            <a:ext cx="1744290" cy="1235588"/>
          </a:xfrm>
          <a:prstGeom prst="rect">
            <a:avLst/>
          </a:prstGeom>
          <a:pattFill prst="pct70">
            <a:fgClr>
              <a:srgbClr val="00B0F0"/>
            </a:fgClr>
            <a:bgClr>
              <a:schemeClr val="bg1"/>
            </a:bgClr>
          </a:patt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1054823-EB2E-0842-8E00-3AD88F5A1450}"/>
              </a:ext>
            </a:extLst>
          </p:cNvPr>
          <p:cNvSpPr/>
          <p:nvPr/>
        </p:nvSpPr>
        <p:spPr>
          <a:xfrm>
            <a:off x="4587067" y="1052955"/>
            <a:ext cx="1744290"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9B47906-0491-E848-AB4F-B39CED1F7B2C}"/>
              </a:ext>
            </a:extLst>
          </p:cNvPr>
          <p:cNvSpPr/>
          <p:nvPr/>
        </p:nvSpPr>
        <p:spPr>
          <a:xfrm>
            <a:off x="4588887" y="2544205"/>
            <a:ext cx="1744290" cy="255662"/>
          </a:xfrm>
          <a:prstGeom prst="rect">
            <a:avLst/>
          </a:prstGeom>
          <a:pattFill prst="pct5">
            <a:fgClr>
              <a:schemeClr val="accent1"/>
            </a:fgClr>
            <a:bgClr>
              <a:schemeClr val="bg1"/>
            </a:bgClr>
          </a:patt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06F8336-A5A2-6543-B55F-745D62CE5E83}"/>
              </a:ext>
            </a:extLst>
          </p:cNvPr>
          <p:cNvSpPr txBox="1"/>
          <p:nvPr/>
        </p:nvSpPr>
        <p:spPr>
          <a:xfrm>
            <a:off x="5013688" y="1645330"/>
            <a:ext cx="891048" cy="461665"/>
          </a:xfrm>
          <a:prstGeom prst="rect">
            <a:avLst/>
          </a:prstGeom>
          <a:noFill/>
        </p:spPr>
        <p:txBody>
          <a:bodyPr wrap="square" rtlCol="0">
            <a:spAutoFit/>
          </a:bodyPr>
          <a:lstStyle/>
          <a:p>
            <a:r>
              <a:rPr lang="en-US" sz="2400" b="1" dirty="0"/>
              <a:t>A∩B</a:t>
            </a:r>
          </a:p>
        </p:txBody>
      </p:sp>
      <p:sp>
        <p:nvSpPr>
          <p:cNvPr id="30" name="TextBox 29">
            <a:extLst>
              <a:ext uri="{FF2B5EF4-FFF2-40B4-BE49-F238E27FC236}">
                <a16:creationId xmlns:a16="http://schemas.microsoft.com/office/drawing/2014/main" id="{B6B312BC-AA97-A949-B869-DE72630F5310}"/>
              </a:ext>
            </a:extLst>
          </p:cNvPr>
          <p:cNvSpPr txBox="1"/>
          <p:nvPr/>
        </p:nvSpPr>
        <p:spPr>
          <a:xfrm>
            <a:off x="5284257" y="2443168"/>
            <a:ext cx="340743" cy="461665"/>
          </a:xfrm>
          <a:prstGeom prst="rect">
            <a:avLst/>
          </a:prstGeom>
          <a:noFill/>
        </p:spPr>
        <p:txBody>
          <a:bodyPr wrap="square" rtlCol="0">
            <a:spAutoFit/>
          </a:bodyPr>
          <a:lstStyle/>
          <a:p>
            <a:r>
              <a:rPr lang="en-US" sz="2400" b="1" dirty="0"/>
              <a:t>B</a:t>
            </a:r>
          </a:p>
        </p:txBody>
      </p:sp>
      <p:sp>
        <p:nvSpPr>
          <p:cNvPr id="31" name="TextBox 30">
            <a:extLst>
              <a:ext uri="{FF2B5EF4-FFF2-40B4-BE49-F238E27FC236}">
                <a16:creationId xmlns:a16="http://schemas.microsoft.com/office/drawing/2014/main" id="{6B667B8B-30DD-9444-BFC2-9A8B64F907CF}"/>
              </a:ext>
            </a:extLst>
          </p:cNvPr>
          <p:cNvSpPr txBox="1"/>
          <p:nvPr/>
        </p:nvSpPr>
        <p:spPr>
          <a:xfrm>
            <a:off x="5274097" y="951228"/>
            <a:ext cx="340743" cy="461665"/>
          </a:xfrm>
          <a:prstGeom prst="rect">
            <a:avLst/>
          </a:prstGeom>
          <a:noFill/>
        </p:spPr>
        <p:txBody>
          <a:bodyPr wrap="square" rtlCol="0">
            <a:spAutoFit/>
          </a:bodyPr>
          <a:lstStyle/>
          <a:p>
            <a:r>
              <a:rPr lang="en-US" sz="2400" b="1" dirty="0"/>
              <a:t>A</a:t>
            </a:r>
          </a:p>
        </p:txBody>
      </p:sp>
      <p:sp>
        <p:nvSpPr>
          <p:cNvPr id="32" name="Rectangle 31">
            <a:extLst>
              <a:ext uri="{FF2B5EF4-FFF2-40B4-BE49-F238E27FC236}">
                <a16:creationId xmlns:a16="http://schemas.microsoft.com/office/drawing/2014/main" id="{284D3EC6-34A6-1049-94C3-144A2434F4C3}"/>
              </a:ext>
            </a:extLst>
          </p:cNvPr>
          <p:cNvSpPr/>
          <p:nvPr/>
        </p:nvSpPr>
        <p:spPr>
          <a:xfrm>
            <a:off x="7751496" y="1053026"/>
            <a:ext cx="880188" cy="1746842"/>
          </a:xfrm>
          <a:prstGeom prst="rect">
            <a:avLst/>
          </a:prstGeom>
          <a:no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7941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8" name="Google Shape;88;p13"/>
              <p:cNvSpPr txBox="1"/>
              <p:nvPr/>
            </p:nvSpPr>
            <p:spPr>
              <a:xfrm>
                <a:off x="45811" y="978513"/>
                <a:ext cx="6187097" cy="2739291"/>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r>
                  <a:rPr lang="en-US" sz="2000" b="0" i="0" u="none" strike="noStrike" cap="none" dirty="0">
                    <a:solidFill>
                      <a:schemeClr val="dk1"/>
                    </a:solidFill>
                    <a:latin typeface="Calibri"/>
                    <a:ea typeface="Calibri"/>
                    <a:cs typeface="Calibri"/>
                    <a:sym typeface="Calibri"/>
                  </a:rPr>
                  <a:t>(conditional probability)</a:t>
                </a:r>
              </a:p>
              <a:p>
                <a:pPr marL="0" marR="0" lvl="0" indent="0" algn="l" rtl="0">
                  <a:spcBef>
                    <a:spcPts val="0"/>
                  </a:spcBef>
                  <a:spcAft>
                    <a:spcPts val="0"/>
                  </a:spcAft>
                  <a:buNone/>
                </a:pPr>
                <a:endParaRPr lang="en-US" sz="20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r>
                  <a:rPr lang="en-US" sz="2000" dirty="0">
                    <a:solidFill>
                      <a:schemeClr val="dk1"/>
                    </a:solidFill>
                    <a:latin typeface="Calibri"/>
                    <a:cs typeface="Calibri"/>
                    <a:sym typeface="Calibri"/>
                  </a:rPr>
                  <a:t>or</a:t>
                </a:r>
              </a:p>
              <a:p>
                <a:pPr algn="ctr"/>
                <a:r>
                  <a:rPr lang="en-US" sz="2000" dirty="0">
                    <a:solidFill>
                      <a:schemeClr val="dk1"/>
                    </a:solidFill>
                    <a:latin typeface="Calibri"/>
                    <a:cs typeface="Calibri"/>
                    <a:sym typeface="Calibri"/>
                  </a:rPr>
                  <a:t>     </a:t>
                </a:r>
                <a14:m>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oMath>
                </a14:m>
                <a:endParaRPr lang="en-US" dirty="0"/>
              </a:p>
              <a:p>
                <a:pPr marL="0" marR="0" lvl="0" indent="0" algn="l" rtl="0">
                  <a:spcBef>
                    <a:spcPts val="0"/>
                  </a:spcBef>
                  <a:spcAft>
                    <a:spcPts val="0"/>
                  </a:spcAft>
                  <a:buNone/>
                </a:pPr>
                <a:endParaRPr lang="en-US" sz="2000" dirty="0">
                  <a:solidFill>
                    <a:schemeClr val="dk1"/>
                  </a:solidFill>
                  <a:latin typeface="Calibri"/>
                  <a:cs typeface="Calibri"/>
                  <a:sym typeface="Calibri"/>
                </a:endParaRPr>
              </a:p>
              <a:p>
                <a:pPr marL="0" marR="0" lvl="0" indent="0" algn="l" rtl="0">
                  <a:spcBef>
                    <a:spcPts val="0"/>
                  </a:spcBef>
                  <a:spcAft>
                    <a:spcPts val="0"/>
                  </a:spcAft>
                  <a:buNone/>
                </a:pPr>
                <a:r>
                  <a:rPr lang="en-US" sz="2400" b="0" i="0" u="none" strike="noStrike" cap="none" dirty="0">
                    <a:solidFill>
                      <a:schemeClr val="dk1"/>
                    </a:solidFill>
                    <a:latin typeface="Calibri"/>
                    <a:ea typeface="Calibri"/>
                    <a:cs typeface="Calibri"/>
                    <a:sym typeface="Calibri"/>
                  </a:rPr>
                  <a:t>where A and B are events, and P(B) not equal 0.</a:t>
                </a:r>
                <a:endParaRPr sz="2400" b="0" i="0" u="none" strike="noStrike" cap="none" dirty="0">
                  <a:solidFill>
                    <a:schemeClr val="dk1"/>
                  </a:solidFill>
                  <a:latin typeface="Calibri"/>
                  <a:ea typeface="Calibri"/>
                  <a:cs typeface="Calibri"/>
                  <a:sym typeface="Calibri"/>
                </a:endParaRPr>
              </a:p>
            </p:txBody>
          </p:sp>
        </mc:Choice>
        <mc:Fallback xmlns="">
          <p:sp>
            <p:nvSpPr>
              <p:cNvPr id="88" name="Google Shape;88;p13"/>
              <p:cNvSpPr txBox="1">
                <a:spLocks noRot="1" noChangeAspect="1" noMove="1" noResize="1" noEditPoints="1" noAdjustHandles="1" noChangeArrowheads="1" noChangeShapeType="1" noTextEdit="1"/>
              </p:cNvSpPr>
              <p:nvPr/>
            </p:nvSpPr>
            <p:spPr>
              <a:xfrm>
                <a:off x="45811" y="978513"/>
                <a:ext cx="6187097" cy="2739291"/>
              </a:xfrm>
              <a:prstGeom prst="rect">
                <a:avLst/>
              </a:prstGeom>
              <a:blipFill>
                <a:blip r:embed="rId3"/>
                <a:stretch>
                  <a:fillRect l="-2051" t="-1743"/>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p:sp>
        <p:nvSpPr>
          <p:cNvPr id="89" name="Google Shape;89;p13"/>
          <p:cNvSpPr txBox="1"/>
          <p:nvPr/>
        </p:nvSpPr>
        <p:spPr>
          <a:xfrm>
            <a:off x="6532782" y="3589349"/>
            <a:ext cx="5637488" cy="32782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Calibri"/>
                <a:ea typeface="Calibri"/>
                <a:cs typeface="Calibri"/>
                <a:sym typeface="Calibri"/>
              </a:rPr>
              <a:t>Intuitive explanation of Bayesian rule (on the left). </a:t>
            </a:r>
          </a:p>
          <a:p>
            <a:pPr marL="0" marR="0" lvl="0" indent="0" algn="l" rtl="0">
              <a:spcBef>
                <a:spcPts val="0"/>
              </a:spcBef>
              <a:spcAft>
                <a:spcPts val="0"/>
              </a:spcAft>
              <a:buNone/>
            </a:pPr>
            <a:r>
              <a:rPr lang="en-US" sz="1800" dirty="0">
                <a:solidFill>
                  <a:schemeClr val="dk1"/>
                </a:solidFill>
                <a:latin typeface="Calibri"/>
                <a:cs typeface="Calibri"/>
                <a:sym typeface="Calibri"/>
              </a:rPr>
              <a:t>A = Happy, B = Rich</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 = 40% = probability of being happy (Yellow)</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 = 5% = probability of being rich (Blue)</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 &amp; B) = 4% = probability of rich &amp; happy (Green)</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P(B|A) = 10% = probability of being rich given that Happy</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P(A|B) = 80% = probability of being happy given that rich</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You can calculate green intersection using two methods: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P(A|B)*P(B) = 80%*5% = 4%</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P(B|A)*P(A) = 10%*40% = 4%</a:t>
            </a:r>
          </a:p>
        </p:txBody>
      </p:sp>
      <p:sp>
        <p:nvSpPr>
          <p:cNvPr id="90" name="Google Shape;90;p13"/>
          <p:cNvSpPr txBox="1"/>
          <p:nvPr/>
        </p:nvSpPr>
        <p:spPr>
          <a:xfrm>
            <a:off x="93257" y="-77443"/>
            <a:ext cx="7972927"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0C0"/>
                </a:solidFill>
                <a:latin typeface="Calibri"/>
                <a:ea typeface="Calibri"/>
                <a:cs typeface="Calibri"/>
                <a:sym typeface="Calibri"/>
              </a:rPr>
              <a:t>Bayesian inference - </a:t>
            </a:r>
            <a:r>
              <a:rPr lang="en-US" sz="2800" dirty="0">
                <a:solidFill>
                  <a:srgbClr val="0070C0"/>
                </a:solidFill>
                <a:latin typeface="Calibri"/>
                <a:ea typeface="Calibri"/>
                <a:cs typeface="Calibri"/>
                <a:sym typeface="Calibri"/>
              </a:rPr>
              <a:t>calculate probability</a:t>
            </a:r>
            <a:endParaRPr dirty="0"/>
          </a:p>
          <a:p>
            <a:pPr marL="0" marR="0" lvl="0" indent="0" algn="l" rtl="0">
              <a:spcBef>
                <a:spcPts val="0"/>
              </a:spcBef>
              <a:spcAft>
                <a:spcPts val="0"/>
              </a:spcAft>
              <a:buNone/>
            </a:pPr>
            <a:r>
              <a:rPr lang="en-US" sz="2800" dirty="0">
                <a:solidFill>
                  <a:srgbClr val="0070C0"/>
                </a:solidFill>
                <a:latin typeface="Calibri"/>
                <a:ea typeface="Calibri"/>
                <a:cs typeface="Calibri"/>
                <a:sym typeface="Calibri"/>
              </a:rPr>
              <a:t>following chains of dependencies or correlations</a:t>
            </a:r>
            <a:endParaRPr dirty="0"/>
          </a:p>
        </p:txBody>
      </p:sp>
      <p:sp>
        <p:nvSpPr>
          <p:cNvPr id="91" name="Google Shape;91;p13"/>
          <p:cNvSpPr txBox="1"/>
          <p:nvPr/>
        </p:nvSpPr>
        <p:spPr>
          <a:xfrm>
            <a:off x="10587787" y="2213811"/>
            <a:ext cx="158817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Thomas Bayes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(1701–1761)</a:t>
            </a:r>
            <a:endParaRPr sz="180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351783" y="0"/>
            <a:ext cx="1818487" cy="2213811"/>
          </a:xfrm>
          <a:prstGeom prst="rect">
            <a:avLst/>
          </a:prstGeom>
          <a:noFill/>
          <a:ln>
            <a:noFill/>
          </a:ln>
        </p:spPr>
      </p:pic>
      <p:sp>
        <p:nvSpPr>
          <p:cNvPr id="96" name="Google Shape;96;p13"/>
          <p:cNvSpPr/>
          <p:nvPr/>
        </p:nvSpPr>
        <p:spPr>
          <a:xfrm>
            <a:off x="523454" y="4272171"/>
            <a:ext cx="4588042"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3"/>
          <p:cNvSpPr/>
          <p:nvPr/>
        </p:nvSpPr>
        <p:spPr>
          <a:xfrm>
            <a:off x="1166937" y="4576971"/>
            <a:ext cx="3224463"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3"/>
          <p:cNvSpPr/>
          <p:nvPr/>
        </p:nvSpPr>
        <p:spPr>
          <a:xfrm>
            <a:off x="3342855" y="5008818"/>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3"/>
          <p:cNvSpPr txBox="1"/>
          <p:nvPr/>
        </p:nvSpPr>
        <p:spPr>
          <a:xfrm>
            <a:off x="2068401" y="5008818"/>
            <a:ext cx="1274454" cy="9009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a:t>
            </a:r>
          </a:p>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Happy</a:t>
            </a:r>
            <a:endParaRPr sz="2400" b="1" dirty="0">
              <a:solidFill>
                <a:srgbClr val="FF0000"/>
              </a:solidFill>
              <a:latin typeface="Calibri"/>
              <a:ea typeface="Calibri"/>
              <a:cs typeface="Calibri"/>
              <a:sym typeface="Calibri"/>
            </a:endParaRPr>
          </a:p>
        </p:txBody>
      </p:sp>
      <p:sp>
        <p:nvSpPr>
          <p:cNvPr id="100" name="Google Shape;100;p13"/>
          <p:cNvSpPr txBox="1"/>
          <p:nvPr/>
        </p:nvSpPr>
        <p:spPr>
          <a:xfrm>
            <a:off x="3903802" y="5014208"/>
            <a:ext cx="1083013" cy="7457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B</a:t>
            </a:r>
          </a:p>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Rich</a:t>
            </a:r>
            <a:endParaRPr sz="2400" b="1" dirty="0">
              <a:solidFill>
                <a:srgbClr val="FF0000"/>
              </a:solidFill>
              <a:latin typeface="Calibri"/>
              <a:ea typeface="Calibri"/>
              <a:cs typeface="Calibri"/>
              <a:sym typeface="Calibri"/>
            </a:endParaRPr>
          </a:p>
        </p:txBody>
      </p:sp>
      <p:sp>
        <p:nvSpPr>
          <p:cNvPr id="101" name="Google Shape;101;p13"/>
          <p:cNvSpPr txBox="1"/>
          <p:nvPr/>
        </p:nvSpPr>
        <p:spPr>
          <a:xfrm>
            <a:off x="3693291" y="4254614"/>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People</a:t>
            </a:r>
            <a:endParaRPr sz="2400" b="1" dirty="0">
              <a:solidFill>
                <a:srgbClr val="FF0000"/>
              </a:solidFill>
              <a:latin typeface="Calibri"/>
              <a:ea typeface="Calibri"/>
              <a:cs typeface="Calibri"/>
              <a:sym typeface="Calibri"/>
            </a:endParaRPr>
          </a:p>
        </p:txBody>
      </p:sp>
      <p:pic>
        <p:nvPicPr>
          <p:cNvPr id="17" name="Google Shape;102;p13">
            <a:extLst>
              <a:ext uri="{FF2B5EF4-FFF2-40B4-BE49-F238E27FC236}">
                <a16:creationId xmlns:a16="http://schemas.microsoft.com/office/drawing/2014/main" id="{5D5E0C1C-95DE-384B-AD65-D49C976EA70D}"/>
              </a:ext>
            </a:extLst>
          </p:cNvPr>
          <p:cNvPicPr preferRelativeResize="0"/>
          <p:nvPr/>
        </p:nvPicPr>
        <p:blipFill rotWithShape="1">
          <a:blip r:embed="rId5">
            <a:alphaModFix/>
          </a:blip>
          <a:srcRect/>
          <a:stretch/>
        </p:blipFill>
        <p:spPr>
          <a:xfrm>
            <a:off x="6903091" y="1553411"/>
            <a:ext cx="2946400" cy="660400"/>
          </a:xfrm>
          <a:prstGeom prst="rect">
            <a:avLst/>
          </a:prstGeom>
          <a:noFill/>
          <a:ln w="50800" cap="flat" cmpd="sng">
            <a:solidFill>
              <a:srgbClr val="00B050"/>
            </a:solidFill>
            <a:prstDash val="solid"/>
            <a:round/>
            <a:headEnd type="none" w="sm" len="sm"/>
            <a:tailEnd type="none" w="sm" len="sm"/>
          </a:ln>
        </p:spPr>
      </p:pic>
    </p:spTree>
    <p:extLst>
      <p:ext uri="{BB962C8B-B14F-4D97-AF65-F5344CB8AC3E}">
        <p14:creationId xmlns:p14="http://schemas.microsoft.com/office/powerpoint/2010/main" val="414973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133424-AF22-CA4F-9D1C-1219C4769656}"/>
              </a:ext>
            </a:extLst>
          </p:cNvPr>
          <p:cNvSpPr txBox="1"/>
          <p:nvPr/>
        </p:nvSpPr>
        <p:spPr>
          <a:xfrm>
            <a:off x="6486525" y="4241445"/>
            <a:ext cx="5705475" cy="2462213"/>
          </a:xfrm>
          <a:prstGeom prst="rect">
            <a:avLst/>
          </a:prstGeom>
          <a:noFill/>
        </p:spPr>
        <p:txBody>
          <a:bodyPr wrap="square" rtlCol="0">
            <a:spAutoFit/>
          </a:bodyPr>
          <a:lstStyle/>
          <a:p>
            <a:r>
              <a:rPr lang="en-US" dirty="0"/>
              <a:t>For proposition A and evidence B,</a:t>
            </a:r>
          </a:p>
          <a:p>
            <a:r>
              <a:rPr lang="en-US" dirty="0"/>
              <a:t>    P(A), the prior, is the initial degree of belief in A.</a:t>
            </a:r>
          </a:p>
          <a:p>
            <a:r>
              <a:rPr lang="en-US" dirty="0"/>
              <a:t>    P(A|B), the posterior, is the degree of belief having accounted for B.</a:t>
            </a:r>
          </a:p>
          <a:p>
            <a:r>
              <a:rPr lang="en-US" dirty="0"/>
              <a:t>    P(B|A)/P(B) – represents the support B provides for A.</a:t>
            </a:r>
          </a:p>
          <a:p>
            <a:endParaRPr lang="en-US" dirty="0"/>
          </a:p>
          <a:p>
            <a:r>
              <a:rPr lang="en-US" dirty="0"/>
              <a:t>See also Bayesian inference.</a:t>
            </a:r>
          </a:p>
          <a:p>
            <a:r>
              <a:rPr lang="en-US" dirty="0"/>
              <a:t>    – https://</a:t>
            </a:r>
            <a:r>
              <a:rPr lang="en-US" dirty="0" err="1"/>
              <a:t>en.wikipedia.org</a:t>
            </a:r>
            <a:r>
              <a:rPr lang="en-US" dirty="0"/>
              <a:t>/wiki/</a:t>
            </a:r>
            <a:r>
              <a:rPr lang="en-US" dirty="0" err="1"/>
              <a:t>Bayesian_inference</a:t>
            </a:r>
            <a:endParaRPr lang="en-US" dirty="0"/>
          </a:p>
          <a:p>
            <a:endParaRPr lang="en-US" dirty="0"/>
          </a:p>
          <a:p>
            <a:r>
              <a:rPr lang="en-US" b="1" dirty="0">
                <a:solidFill>
                  <a:srgbClr val="FF0000"/>
                </a:solidFill>
              </a:rPr>
              <a:t>Bayesian inference</a:t>
            </a:r>
            <a:r>
              <a:rPr lang="en-US" dirty="0"/>
              <a:t> is a method of statistical inference in which</a:t>
            </a:r>
          </a:p>
          <a:p>
            <a:r>
              <a:rPr lang="en-US" dirty="0"/>
              <a:t>Bayes’ theorem is used to update the probability for a hypothesis</a:t>
            </a:r>
          </a:p>
          <a:p>
            <a:r>
              <a:rPr lang="en-US" dirty="0"/>
              <a:t>as more evidence or information becomes available.</a:t>
            </a:r>
          </a:p>
        </p:txBody>
      </p:sp>
      <p:sp>
        <p:nvSpPr>
          <p:cNvPr id="5" name="TextBox 4">
            <a:extLst>
              <a:ext uri="{FF2B5EF4-FFF2-40B4-BE49-F238E27FC236}">
                <a16:creationId xmlns:a16="http://schemas.microsoft.com/office/drawing/2014/main" id="{DB6CFF65-663B-CB43-B815-53184C5B9CE5}"/>
              </a:ext>
            </a:extLst>
          </p:cNvPr>
          <p:cNvSpPr txBox="1"/>
          <p:nvPr/>
        </p:nvSpPr>
        <p:spPr>
          <a:xfrm>
            <a:off x="84083" y="86343"/>
            <a:ext cx="6011917" cy="6771084"/>
          </a:xfrm>
          <a:prstGeom prst="rect">
            <a:avLst/>
          </a:prstGeom>
          <a:noFill/>
        </p:spPr>
        <p:txBody>
          <a:bodyPr wrap="square" rtlCol="0">
            <a:spAutoFit/>
          </a:bodyPr>
          <a:lstStyle/>
          <a:p>
            <a:r>
              <a:rPr lang="en-US" dirty="0"/>
              <a:t>Bayes’ Theorem (Law, Rule)</a:t>
            </a:r>
          </a:p>
          <a:p>
            <a:r>
              <a:rPr lang="en-US" dirty="0"/>
              <a:t>– </a:t>
            </a:r>
            <a:r>
              <a:rPr lang="en-US" dirty="0">
                <a:hlinkClick r:id="rId2"/>
              </a:rPr>
              <a:t>https://en.wikipedia.org/wiki/Thomas_Bayes</a:t>
            </a:r>
            <a:r>
              <a:rPr lang="en-US" dirty="0"/>
              <a:t> - </a:t>
            </a:r>
            <a:br>
              <a:rPr lang="en-US" dirty="0"/>
            </a:br>
            <a:r>
              <a:rPr lang="en-US" dirty="0"/>
              <a:t>– </a:t>
            </a:r>
            <a:r>
              <a:rPr lang="en-US" dirty="0">
                <a:hlinkClick r:id="rId3"/>
              </a:rPr>
              <a:t>https://</a:t>
            </a:r>
            <a:r>
              <a:rPr lang="en-US" dirty="0" err="1">
                <a:hlinkClick r:id="rId3"/>
              </a:rPr>
              <a:t>en.wikipedia.org</a:t>
            </a:r>
            <a:r>
              <a:rPr lang="en-US" dirty="0">
                <a:hlinkClick r:id="rId3"/>
              </a:rPr>
              <a:t>/wiki/Bayes%27_theorem</a:t>
            </a:r>
            <a:r>
              <a:rPr lang="en-US" dirty="0"/>
              <a:t> –</a:t>
            </a:r>
          </a:p>
          <a:p>
            <a:r>
              <a:rPr lang="en-US" dirty="0"/>
              <a:t>– </a:t>
            </a:r>
            <a:r>
              <a:rPr lang="en-US" dirty="0">
                <a:hlinkClick r:id="rId4"/>
              </a:rPr>
              <a:t>https://</a:t>
            </a:r>
            <a:r>
              <a:rPr lang="en-US" dirty="0" err="1">
                <a:hlinkClick r:id="rId4"/>
              </a:rPr>
              <a:t>en.wikipedia.org</a:t>
            </a:r>
            <a:r>
              <a:rPr lang="en-US" dirty="0">
                <a:hlinkClick r:id="rId4"/>
              </a:rPr>
              <a:t>/wiki/</a:t>
            </a:r>
            <a:r>
              <a:rPr lang="en-US" dirty="0" err="1">
                <a:hlinkClick r:id="rId4"/>
              </a:rPr>
              <a:t>Bayesian_inference</a:t>
            </a:r>
            <a:r>
              <a:rPr lang="en-US" dirty="0"/>
              <a:t> –</a:t>
            </a:r>
          </a:p>
          <a:p>
            <a:endParaRPr lang="en-US" dirty="0"/>
          </a:p>
          <a:p>
            <a:r>
              <a:rPr lang="en-US" dirty="0"/>
              <a:t>P(A|B) = P(B|A)*P(A)/P(B)</a:t>
            </a:r>
          </a:p>
          <a:p>
            <a:endParaRPr lang="en-US" dirty="0"/>
          </a:p>
          <a:p>
            <a:r>
              <a:rPr lang="en-US" dirty="0"/>
              <a:t>where A and B are events and P(B) not equal 0.</a:t>
            </a:r>
          </a:p>
          <a:p>
            <a:endParaRPr lang="en-US" dirty="0"/>
          </a:p>
          <a:p>
            <a:r>
              <a:rPr lang="en-US" b="1" dirty="0">
                <a:solidFill>
                  <a:srgbClr val="FF0000"/>
                </a:solidFill>
              </a:rPr>
              <a:t>Frequentist interpretation of Bayes’ theorem.</a:t>
            </a:r>
          </a:p>
          <a:p>
            <a:r>
              <a:rPr lang="en-US" dirty="0"/>
              <a:t>Probability measures a proportion of outcomes.</a:t>
            </a:r>
          </a:p>
          <a:p>
            <a:r>
              <a:rPr lang="en-US" dirty="0"/>
              <a:t>Suppose an experiment is performed many times.</a:t>
            </a:r>
          </a:p>
          <a:p>
            <a:endParaRPr lang="en-US" dirty="0"/>
          </a:p>
          <a:p>
            <a:r>
              <a:rPr lang="en-US" dirty="0"/>
              <a:t>P(A) is the proportion of outcomes with property A,</a:t>
            </a:r>
          </a:p>
          <a:p>
            <a:r>
              <a:rPr lang="en-US" dirty="0"/>
              <a:t>and P(B) that with property B.</a:t>
            </a:r>
          </a:p>
          <a:p>
            <a:endParaRPr lang="en-US" dirty="0"/>
          </a:p>
          <a:p>
            <a:r>
              <a:rPr lang="en-US" dirty="0"/>
              <a:t>P(B|A) is the proportion of outcomes with property B </a:t>
            </a:r>
          </a:p>
          <a:p>
            <a:r>
              <a:rPr lang="en-US" dirty="0"/>
              <a:t>out of outcomes with property A,</a:t>
            </a:r>
          </a:p>
          <a:p>
            <a:endParaRPr lang="en-US" dirty="0"/>
          </a:p>
          <a:p>
            <a:r>
              <a:rPr lang="en-US" dirty="0"/>
              <a:t>and P(A|B) the proportion of those with A out of those with B.</a:t>
            </a:r>
          </a:p>
          <a:p>
            <a:endParaRPr lang="en-US" dirty="0"/>
          </a:p>
          <a:p>
            <a:r>
              <a:rPr lang="en-US" b="1" dirty="0">
                <a:solidFill>
                  <a:srgbClr val="FF0000"/>
                </a:solidFill>
              </a:rPr>
              <a:t>Bayesian interpretation of Bayes’ theorem.</a:t>
            </a:r>
          </a:p>
          <a:p>
            <a:r>
              <a:rPr lang="en-US" dirty="0"/>
              <a:t>Probability measures a degree of belief.</a:t>
            </a:r>
          </a:p>
          <a:p>
            <a:r>
              <a:rPr lang="en-US" dirty="0"/>
              <a:t>Bayes’ theorem then links the degree of belief in a proposition before (A)</a:t>
            </a:r>
          </a:p>
          <a:p>
            <a:r>
              <a:rPr lang="en-US" dirty="0"/>
              <a:t>and after (B) accounting for evidence.</a:t>
            </a:r>
          </a:p>
          <a:p>
            <a:endParaRPr lang="en-US" dirty="0"/>
          </a:p>
          <a:p>
            <a:r>
              <a:rPr lang="en-US" dirty="0"/>
              <a:t>For example, suppose it is believed with 50% certainty </a:t>
            </a:r>
          </a:p>
          <a:p>
            <a:r>
              <a:rPr lang="en-US" dirty="0"/>
              <a:t>that a coin is twice as likely to land heads than tails.</a:t>
            </a:r>
          </a:p>
          <a:p>
            <a:r>
              <a:rPr lang="en-US" dirty="0"/>
              <a:t>If the coin is flipped a number of times and the outcomes observed,</a:t>
            </a:r>
          </a:p>
          <a:p>
            <a:r>
              <a:rPr lang="en-US" dirty="0"/>
              <a:t>then that degree of belief may rise, fall or </a:t>
            </a:r>
          </a:p>
          <a:p>
            <a:r>
              <a:rPr lang="en-US" dirty="0"/>
              <a:t>remain the same depending on the results.</a:t>
            </a:r>
          </a:p>
        </p:txBody>
      </p:sp>
      <p:pic>
        <p:nvPicPr>
          <p:cNvPr id="3" name="Picture 2">
            <a:extLst>
              <a:ext uri="{FF2B5EF4-FFF2-40B4-BE49-F238E27FC236}">
                <a16:creationId xmlns:a16="http://schemas.microsoft.com/office/drawing/2014/main" id="{5C70D884-EC0B-1A48-94E2-CD2923F362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070850" y="177588"/>
            <a:ext cx="3822700" cy="2044700"/>
          </a:xfrm>
          <a:prstGeom prst="rect">
            <a:avLst/>
          </a:prstGeom>
        </p:spPr>
      </p:pic>
      <p:sp>
        <p:nvSpPr>
          <p:cNvPr id="6" name="TextBox 5">
            <a:extLst>
              <a:ext uri="{FF2B5EF4-FFF2-40B4-BE49-F238E27FC236}">
                <a16:creationId xmlns:a16="http://schemas.microsoft.com/office/drawing/2014/main" id="{6CB6F775-63F0-274F-A53D-9922B5035949}"/>
              </a:ext>
            </a:extLst>
          </p:cNvPr>
          <p:cNvSpPr txBox="1"/>
          <p:nvPr/>
        </p:nvSpPr>
        <p:spPr>
          <a:xfrm>
            <a:off x="8404392" y="2322095"/>
            <a:ext cx="3489158" cy="307777"/>
          </a:xfrm>
          <a:prstGeom prst="rect">
            <a:avLst/>
          </a:prstGeom>
          <a:noFill/>
        </p:spPr>
        <p:txBody>
          <a:bodyPr wrap="square" rtlCol="0">
            <a:spAutoFit/>
          </a:bodyPr>
          <a:lstStyle/>
          <a:p>
            <a:r>
              <a:rPr lang="en-US" dirty="0" err="1"/>
              <a:t>Thomas_Bayes</a:t>
            </a:r>
            <a:r>
              <a:rPr lang="en-US" dirty="0"/>
              <a:t> – (/’</a:t>
            </a:r>
            <a:r>
              <a:rPr lang="en-US" dirty="0" err="1"/>
              <a:t>be?z</a:t>
            </a:r>
            <a:r>
              <a:rPr lang="en-US" dirty="0"/>
              <a:t>/; 1701–1761)</a:t>
            </a:r>
          </a:p>
        </p:txBody>
      </p:sp>
    </p:spTree>
    <p:extLst>
      <p:ext uri="{BB962C8B-B14F-4D97-AF65-F5344CB8AC3E}">
        <p14:creationId xmlns:p14="http://schemas.microsoft.com/office/powerpoint/2010/main" val="822577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0212EB-D5F5-7C42-9867-3F4106A76AC3}"/>
              </a:ext>
            </a:extLst>
          </p:cNvPr>
          <p:cNvSpPr txBox="1"/>
          <p:nvPr/>
        </p:nvSpPr>
        <p:spPr>
          <a:xfrm>
            <a:off x="-1" y="37572"/>
            <a:ext cx="6694715" cy="523220"/>
          </a:xfrm>
          <a:prstGeom prst="rect">
            <a:avLst/>
          </a:prstGeom>
          <a:noFill/>
        </p:spPr>
        <p:txBody>
          <a:bodyPr wrap="square" rtlCol="0">
            <a:spAutoFit/>
          </a:bodyPr>
          <a:lstStyle/>
          <a:p>
            <a:r>
              <a:rPr lang="en-US" sz="2800" b="1" dirty="0"/>
              <a:t>Probability - Bayesian vs Frequentist</a:t>
            </a:r>
          </a:p>
        </p:txBody>
      </p:sp>
      <p:sp>
        <p:nvSpPr>
          <p:cNvPr id="5" name="TextBox 4">
            <a:extLst>
              <a:ext uri="{FF2B5EF4-FFF2-40B4-BE49-F238E27FC236}">
                <a16:creationId xmlns:a16="http://schemas.microsoft.com/office/drawing/2014/main" id="{AADE8889-8C42-E543-BA59-6986D4778221}"/>
              </a:ext>
            </a:extLst>
          </p:cNvPr>
          <p:cNvSpPr txBox="1"/>
          <p:nvPr/>
        </p:nvSpPr>
        <p:spPr>
          <a:xfrm>
            <a:off x="185221" y="4350908"/>
            <a:ext cx="5929952" cy="2462213"/>
          </a:xfrm>
          <a:prstGeom prst="rect">
            <a:avLst/>
          </a:prstGeom>
          <a:noFill/>
        </p:spPr>
        <p:txBody>
          <a:bodyPr wrap="square" rtlCol="0">
            <a:spAutoFit/>
          </a:bodyPr>
          <a:lstStyle/>
          <a:p>
            <a:r>
              <a:rPr lang="en-US" b="1" dirty="0">
                <a:solidFill>
                  <a:srgbClr val="FF0000"/>
                </a:solidFill>
              </a:rPr>
              <a:t>Frequentist (classical):</a:t>
            </a:r>
          </a:p>
          <a:p>
            <a:r>
              <a:rPr lang="en-US" dirty="0"/>
              <a:t>    Calculate means (estimates) and confidence intervals</a:t>
            </a:r>
          </a:p>
          <a:p>
            <a:r>
              <a:rPr lang="en-US" dirty="0"/>
              <a:t>    Problems treating missing data (</a:t>
            </a:r>
            <a:r>
              <a:rPr lang="en-US" b="1" dirty="0">
                <a:solidFill>
                  <a:srgbClr val="FF0000"/>
                </a:solidFill>
              </a:rPr>
              <a:t>survivorship bias</a:t>
            </a:r>
            <a:r>
              <a:rPr lang="en-US" dirty="0"/>
              <a:t>)</a:t>
            </a:r>
          </a:p>
          <a:p>
            <a:r>
              <a:rPr lang="en-US" dirty="0"/>
              <a:t>    Problems with hypothesis testing (</a:t>
            </a:r>
            <a:r>
              <a:rPr lang="en-US" b="1" dirty="0">
                <a:solidFill>
                  <a:srgbClr val="FF0000"/>
                </a:solidFill>
              </a:rPr>
              <a:t>p-hacking</a:t>
            </a:r>
            <a:r>
              <a:rPr lang="en-US" dirty="0"/>
              <a:t>)</a:t>
            </a:r>
          </a:p>
          <a:p>
            <a:endParaRPr lang="en-US" b="1" dirty="0">
              <a:solidFill>
                <a:srgbClr val="FF0000"/>
              </a:solidFill>
            </a:endParaRPr>
          </a:p>
          <a:p>
            <a:r>
              <a:rPr lang="en-US" b="1" dirty="0">
                <a:solidFill>
                  <a:srgbClr val="FF0000"/>
                </a:solidFill>
              </a:rPr>
              <a:t>Bayesian:</a:t>
            </a:r>
          </a:p>
          <a:p>
            <a:r>
              <a:rPr lang="en-US" dirty="0"/>
              <a:t>    Enumerate all possible hypotheses – and compute their probabilities.</a:t>
            </a:r>
          </a:p>
          <a:p>
            <a:r>
              <a:rPr lang="en-US" dirty="0"/>
              <a:t>    We make a (subjective) choice of “prior” (model, distribution)</a:t>
            </a:r>
          </a:p>
          <a:p>
            <a:r>
              <a:rPr lang="en-US" dirty="0"/>
              <a:t>    and produce posterior distribution.</a:t>
            </a:r>
          </a:p>
          <a:p>
            <a:r>
              <a:rPr lang="en-US" dirty="0"/>
              <a:t>    Allows for complex decision analysis under uncertainty.</a:t>
            </a:r>
          </a:p>
          <a:p>
            <a:endParaRPr lang="en-US" b="1" dirty="0">
              <a:solidFill>
                <a:srgbClr val="FF0000"/>
              </a:solidFill>
            </a:endParaRPr>
          </a:p>
        </p:txBody>
      </p:sp>
      <p:sp>
        <p:nvSpPr>
          <p:cNvPr id="6" name="TextBox 5">
            <a:extLst>
              <a:ext uri="{FF2B5EF4-FFF2-40B4-BE49-F238E27FC236}">
                <a16:creationId xmlns:a16="http://schemas.microsoft.com/office/drawing/2014/main" id="{D86CA22F-D1DB-184B-8C0D-193FFD538439}"/>
              </a:ext>
            </a:extLst>
          </p:cNvPr>
          <p:cNvSpPr txBox="1"/>
          <p:nvPr/>
        </p:nvSpPr>
        <p:spPr>
          <a:xfrm>
            <a:off x="6985379" y="682726"/>
            <a:ext cx="5206621" cy="1815882"/>
          </a:xfrm>
          <a:prstGeom prst="rect">
            <a:avLst/>
          </a:prstGeom>
          <a:noFill/>
        </p:spPr>
        <p:txBody>
          <a:bodyPr wrap="square" rtlCol="0">
            <a:spAutoFit/>
          </a:bodyPr>
          <a:lstStyle/>
          <a:p>
            <a:r>
              <a:rPr lang="en-US" b="1" dirty="0">
                <a:solidFill>
                  <a:srgbClr val="FF0000"/>
                </a:solidFill>
              </a:rPr>
              <a:t>Example1: </a:t>
            </a:r>
            <a:r>
              <a:rPr lang="en-US" dirty="0"/>
              <a:t>Polling, two candidates: Alice &amp; Bob.</a:t>
            </a:r>
          </a:p>
          <a:p>
            <a:r>
              <a:rPr lang="en-US" dirty="0"/>
              <a:t>52% of polled voters intend to vote for Alice.</a:t>
            </a:r>
          </a:p>
          <a:p>
            <a:r>
              <a:rPr lang="en-US" dirty="0"/>
              <a:t>Confidence interval [42%,62%], p-value = 0.34</a:t>
            </a:r>
          </a:p>
          <a:p>
            <a:r>
              <a:rPr lang="en-US" dirty="0"/>
              <a:t>What is the probability that Alice will win ?</a:t>
            </a:r>
          </a:p>
          <a:p>
            <a:r>
              <a:rPr lang="en-US" dirty="0"/>
              <a:t>Classical frequentist approach can not answer this question.</a:t>
            </a:r>
          </a:p>
          <a:p>
            <a:r>
              <a:rPr lang="en-US" dirty="0"/>
              <a:t>Bayesian method – result is a posterior distribution of possible </a:t>
            </a:r>
          </a:p>
          <a:p>
            <a:r>
              <a:rPr lang="en-US" dirty="0"/>
              <a:t>outcomes based on data.</a:t>
            </a:r>
          </a:p>
          <a:p>
            <a:r>
              <a:rPr lang="en-US" dirty="0"/>
              <a:t>Thus you can get your answer.</a:t>
            </a:r>
          </a:p>
        </p:txBody>
      </p:sp>
      <p:sp>
        <p:nvSpPr>
          <p:cNvPr id="7" name="TextBox 6">
            <a:extLst>
              <a:ext uri="{FF2B5EF4-FFF2-40B4-BE49-F238E27FC236}">
                <a16:creationId xmlns:a16="http://schemas.microsoft.com/office/drawing/2014/main" id="{E88A1638-21E4-C746-A837-4CF59231442C}"/>
              </a:ext>
            </a:extLst>
          </p:cNvPr>
          <p:cNvSpPr txBox="1"/>
          <p:nvPr/>
        </p:nvSpPr>
        <p:spPr>
          <a:xfrm>
            <a:off x="6985379" y="2596582"/>
            <a:ext cx="5206621" cy="1600438"/>
          </a:xfrm>
          <a:prstGeom prst="rect">
            <a:avLst/>
          </a:prstGeom>
          <a:noFill/>
        </p:spPr>
        <p:txBody>
          <a:bodyPr wrap="square" rtlCol="0">
            <a:spAutoFit/>
          </a:bodyPr>
          <a:lstStyle/>
          <a:p>
            <a:r>
              <a:rPr lang="en-US" b="1" dirty="0">
                <a:solidFill>
                  <a:srgbClr val="FF0000"/>
                </a:solidFill>
              </a:rPr>
              <a:t>Example2:</a:t>
            </a:r>
            <a:r>
              <a:rPr lang="en-US" dirty="0"/>
              <a:t> comparing two drugs A &amp; B.</a:t>
            </a:r>
          </a:p>
          <a:p>
            <a:r>
              <a:rPr lang="en-US" dirty="0"/>
              <a:t>A is better than B with p value &lt; 0.001</a:t>
            </a:r>
          </a:p>
          <a:p>
            <a:r>
              <a:rPr lang="en-US" dirty="0"/>
              <a:t>A is more expensive.</a:t>
            </a:r>
          </a:p>
          <a:p>
            <a:r>
              <a:rPr lang="en-US" dirty="0"/>
              <a:t>Which drug should we prescribe?</a:t>
            </a:r>
          </a:p>
          <a:p>
            <a:r>
              <a:rPr lang="en-US" dirty="0"/>
              <a:t>Cost-benefit. </a:t>
            </a:r>
          </a:p>
          <a:p>
            <a:r>
              <a:rPr lang="en-US" dirty="0"/>
              <a:t>Suppose we get predicted probability of survival with A and B.</a:t>
            </a:r>
          </a:p>
          <a:p>
            <a:r>
              <a:rPr lang="en-US" dirty="0"/>
              <a:t>We could then compute dollars per life saved. </a:t>
            </a:r>
          </a:p>
        </p:txBody>
      </p:sp>
      <p:sp>
        <p:nvSpPr>
          <p:cNvPr id="8" name="TextBox 7">
            <a:extLst>
              <a:ext uri="{FF2B5EF4-FFF2-40B4-BE49-F238E27FC236}">
                <a16:creationId xmlns:a16="http://schemas.microsoft.com/office/drawing/2014/main" id="{81EB3310-1369-7647-9FF9-5016F01991CC}"/>
              </a:ext>
            </a:extLst>
          </p:cNvPr>
          <p:cNvSpPr txBox="1"/>
          <p:nvPr/>
        </p:nvSpPr>
        <p:spPr>
          <a:xfrm>
            <a:off x="6985379" y="4294994"/>
            <a:ext cx="5206621" cy="954107"/>
          </a:xfrm>
          <a:prstGeom prst="rect">
            <a:avLst/>
          </a:prstGeom>
          <a:noFill/>
        </p:spPr>
        <p:txBody>
          <a:bodyPr wrap="square" rtlCol="0">
            <a:spAutoFit/>
          </a:bodyPr>
          <a:lstStyle/>
          <a:p>
            <a:r>
              <a:rPr lang="en-US" b="1" dirty="0">
                <a:solidFill>
                  <a:srgbClr val="FF0000"/>
                </a:solidFill>
              </a:rPr>
              <a:t>Example3:</a:t>
            </a:r>
            <a:r>
              <a:rPr lang="en-US" dirty="0"/>
              <a:t> Guessing game</a:t>
            </a:r>
          </a:p>
          <a:p>
            <a:r>
              <a:rPr lang="en-US" dirty="0"/>
              <a:t>You see the prize – and guess the price</a:t>
            </a:r>
          </a:p>
          <a:p>
            <a:r>
              <a:rPr lang="en-US" dirty="0"/>
              <a:t>Opponent sees a different prize – and guesses the price.</a:t>
            </a:r>
          </a:p>
          <a:p>
            <a:r>
              <a:rPr lang="en-US" dirty="0"/>
              <a:t>Whoever is closer (without going over) wins.</a:t>
            </a:r>
          </a:p>
        </p:txBody>
      </p:sp>
      <p:sp>
        <p:nvSpPr>
          <p:cNvPr id="9" name="TextBox 8">
            <a:extLst>
              <a:ext uri="{FF2B5EF4-FFF2-40B4-BE49-F238E27FC236}">
                <a16:creationId xmlns:a16="http://schemas.microsoft.com/office/drawing/2014/main" id="{9D171819-C6E6-4541-8406-01258005E5A5}"/>
              </a:ext>
            </a:extLst>
          </p:cNvPr>
          <p:cNvSpPr txBox="1"/>
          <p:nvPr/>
        </p:nvSpPr>
        <p:spPr>
          <a:xfrm>
            <a:off x="185220" y="4043131"/>
            <a:ext cx="5595582" cy="307777"/>
          </a:xfrm>
          <a:prstGeom prst="rect">
            <a:avLst/>
          </a:prstGeom>
          <a:noFill/>
        </p:spPr>
        <p:txBody>
          <a:bodyPr wrap="square" rtlCol="0">
            <a:spAutoFit/>
          </a:bodyPr>
          <a:lstStyle/>
          <a:p>
            <a:r>
              <a:rPr lang="en-US" dirty="0"/>
              <a:t>Allen Downey – </a:t>
            </a:r>
            <a:r>
              <a:rPr lang="en-US" dirty="0">
                <a:hlinkClick r:id="rId2"/>
              </a:rPr>
              <a:t>https://www.youtube.com/watch?v=R6d-AbkhBQ8</a:t>
            </a:r>
            <a:r>
              <a:rPr lang="en-US" dirty="0"/>
              <a:t> </a:t>
            </a:r>
          </a:p>
        </p:txBody>
      </p:sp>
      <p:sp>
        <p:nvSpPr>
          <p:cNvPr id="10" name="TextBox 9">
            <a:extLst>
              <a:ext uri="{FF2B5EF4-FFF2-40B4-BE49-F238E27FC236}">
                <a16:creationId xmlns:a16="http://schemas.microsoft.com/office/drawing/2014/main" id="{E9BADB20-D64C-6847-BE85-8D8A5503503B}"/>
              </a:ext>
            </a:extLst>
          </p:cNvPr>
          <p:cNvSpPr txBox="1"/>
          <p:nvPr/>
        </p:nvSpPr>
        <p:spPr>
          <a:xfrm>
            <a:off x="6985379" y="5526100"/>
            <a:ext cx="5206621" cy="307777"/>
          </a:xfrm>
          <a:prstGeom prst="rect">
            <a:avLst/>
          </a:prstGeom>
          <a:noFill/>
        </p:spPr>
        <p:txBody>
          <a:bodyPr wrap="square" rtlCol="0">
            <a:spAutoFit/>
          </a:bodyPr>
          <a:lstStyle/>
          <a:p>
            <a:r>
              <a:rPr lang="en-US" b="1" dirty="0">
                <a:solidFill>
                  <a:srgbClr val="FF0000"/>
                </a:solidFill>
              </a:rPr>
              <a:t>Example4: </a:t>
            </a:r>
            <a:r>
              <a:rPr lang="en-US" dirty="0"/>
              <a:t>MCMC (Markov-Chain Monte-Carlo)</a:t>
            </a:r>
          </a:p>
        </p:txBody>
      </p:sp>
      <p:sp>
        <p:nvSpPr>
          <p:cNvPr id="2" name="TextBox 1">
            <a:extLst>
              <a:ext uri="{FF2B5EF4-FFF2-40B4-BE49-F238E27FC236}">
                <a16:creationId xmlns:a16="http://schemas.microsoft.com/office/drawing/2014/main" id="{809CB213-96B1-CD42-937A-368036DCD1E0}"/>
              </a:ext>
            </a:extLst>
          </p:cNvPr>
          <p:cNvSpPr txBox="1"/>
          <p:nvPr/>
        </p:nvSpPr>
        <p:spPr>
          <a:xfrm>
            <a:off x="353867" y="868569"/>
            <a:ext cx="5560001" cy="2677656"/>
          </a:xfrm>
          <a:prstGeom prst="rect">
            <a:avLst/>
          </a:prstGeom>
          <a:noFill/>
        </p:spPr>
        <p:txBody>
          <a:bodyPr wrap="square" rtlCol="0">
            <a:spAutoFit/>
          </a:bodyPr>
          <a:lstStyle/>
          <a:p>
            <a:r>
              <a:rPr lang="en-US" dirty="0"/>
              <a:t>The </a:t>
            </a:r>
            <a:r>
              <a:rPr lang="en-US" b="1" dirty="0">
                <a:solidFill>
                  <a:srgbClr val="FF0000"/>
                </a:solidFill>
              </a:rPr>
              <a:t>Frequentist</a:t>
            </a:r>
            <a:r>
              <a:rPr lang="en-US" dirty="0"/>
              <a:t> see probability as something that has to do with a limiting frequency based on an observed proportion.</a:t>
            </a:r>
          </a:p>
          <a:p>
            <a:endParaRPr lang="en-US" dirty="0"/>
          </a:p>
          <a:p>
            <a:r>
              <a:rPr lang="en-US" dirty="0"/>
              <a:t>The </a:t>
            </a:r>
            <a:r>
              <a:rPr lang="en-US" b="1" dirty="0">
                <a:solidFill>
                  <a:srgbClr val="FF0000"/>
                </a:solidFill>
              </a:rPr>
              <a:t>Bayesian</a:t>
            </a:r>
            <a:r>
              <a:rPr lang="en-US" dirty="0"/>
              <a:t> is subjective and uses a priori beliefs to define a prior probability distribution on the possible values of the unknown parameters.</a:t>
            </a:r>
          </a:p>
          <a:p>
            <a:endParaRPr lang="en-US" dirty="0"/>
          </a:p>
          <a:p>
            <a:r>
              <a:rPr lang="en-US" dirty="0"/>
              <a:t>Frequentists accuse Bayesians for being subjective in selecting a prior model / distribution. </a:t>
            </a:r>
          </a:p>
          <a:p>
            <a:endParaRPr lang="en-US" dirty="0"/>
          </a:p>
          <a:p>
            <a:r>
              <a:rPr lang="en-US" dirty="0"/>
              <a:t>Bayesians snap back that at least they have a model, whereas Frequentists just calculate averages of observed data</a:t>
            </a:r>
          </a:p>
        </p:txBody>
      </p:sp>
    </p:spTree>
    <p:extLst>
      <p:ext uri="{BB962C8B-B14F-4D97-AF65-F5344CB8AC3E}">
        <p14:creationId xmlns:p14="http://schemas.microsoft.com/office/powerpoint/2010/main" val="1839179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FB964B-A29C-1649-A2C4-81BC78C24A50}"/>
              </a:ext>
            </a:extLst>
          </p:cNvPr>
          <p:cNvSpPr txBox="1"/>
          <p:nvPr/>
        </p:nvSpPr>
        <p:spPr>
          <a:xfrm>
            <a:off x="238539" y="225286"/>
            <a:ext cx="5579165" cy="6555641"/>
          </a:xfrm>
          <a:prstGeom prst="rect">
            <a:avLst/>
          </a:prstGeom>
          <a:noFill/>
        </p:spPr>
        <p:txBody>
          <a:bodyPr wrap="square" rtlCol="0">
            <a:spAutoFit/>
          </a:bodyPr>
          <a:lstStyle/>
          <a:p>
            <a:r>
              <a:rPr lang="en-US" b="1" dirty="0"/>
              <a:t>Bayesian vs Frequentist – Survivorship Bias in World War 2</a:t>
            </a:r>
          </a:p>
          <a:p>
            <a:endParaRPr lang="en-US" dirty="0"/>
          </a:p>
          <a:p>
            <a:r>
              <a:rPr lang="en-US" dirty="0"/>
              <a:t>During World War II the US military's concluded that the most-hit areas of the plane needed additional armor.</a:t>
            </a:r>
          </a:p>
          <a:p>
            <a:r>
              <a:rPr lang="en-US" dirty="0"/>
              <a:t>But statistician Abraham Wald (Statistical Research Group (SRG) at Columbia University) has recommended adding armor to the areas that showed the least damage. His reasoning was that the sample didn't include the planes which were shot down.</a:t>
            </a:r>
          </a:p>
          <a:p>
            <a:endParaRPr lang="en-US" dirty="0"/>
          </a:p>
          <a:p>
            <a:r>
              <a:rPr lang="en-US" dirty="0"/>
              <a:t>It is dangerous to use data "as is" to create a model,</a:t>
            </a:r>
            <a:br>
              <a:rPr lang="en-US" dirty="0"/>
            </a:br>
            <a:r>
              <a:rPr lang="en-US" dirty="0"/>
              <a:t>because the data may be biased to start with,</a:t>
            </a:r>
            <a:br>
              <a:rPr lang="en-US" dirty="0"/>
            </a:br>
            <a:r>
              <a:rPr lang="en-US" dirty="0"/>
              <a:t>and it can easily lead to creating a biased model</a:t>
            </a:r>
            <a:br>
              <a:rPr lang="en-US" dirty="0"/>
            </a:br>
            <a:br>
              <a:rPr lang="en-US" dirty="0"/>
            </a:br>
            <a:r>
              <a:rPr lang="en-US" dirty="0"/>
              <a:t>Problem occur when we have:</a:t>
            </a:r>
            <a:br>
              <a:rPr lang="en-US" dirty="0"/>
            </a:br>
            <a:r>
              <a:rPr lang="en-US" dirty="0"/>
              <a:t> - under-represented features (missing data)</a:t>
            </a:r>
            <a:br>
              <a:rPr lang="en-US" dirty="0"/>
            </a:br>
            <a:r>
              <a:rPr lang="en-US" dirty="0"/>
              <a:t> - over-represented features,</a:t>
            </a:r>
            <a:br>
              <a:rPr lang="en-US" dirty="0"/>
            </a:br>
            <a:r>
              <a:rPr lang="en-US" dirty="0"/>
              <a:t> - "target leakage" effect.</a:t>
            </a:r>
            <a:br>
              <a:rPr lang="en-US" dirty="0"/>
            </a:br>
            <a:br>
              <a:rPr lang="en-US" dirty="0"/>
            </a:br>
            <a:r>
              <a:rPr lang="en-US" dirty="0"/>
              <a:t>Survivorship bias:</a:t>
            </a:r>
            <a:br>
              <a:rPr lang="en-US" dirty="0"/>
            </a:br>
            <a:r>
              <a:rPr lang="en-US" dirty="0"/>
              <a:t> - </a:t>
            </a:r>
            <a:r>
              <a:rPr lang="en-US" dirty="0">
                <a:hlinkClick r:id="rId2"/>
              </a:rPr>
              <a:t>https://www.youtube.com/watch?v=B3YQJ5DwTzM</a:t>
            </a:r>
            <a:r>
              <a:rPr lang="en-US" dirty="0"/>
              <a:t> </a:t>
            </a:r>
            <a:br>
              <a:rPr lang="en-US" dirty="0"/>
            </a:br>
            <a:br>
              <a:rPr lang="en-US" dirty="0"/>
            </a:br>
            <a:r>
              <a:rPr lang="en-US" dirty="0"/>
              <a:t>Gender Bias:</a:t>
            </a:r>
            <a:br>
              <a:rPr lang="en-US" dirty="0"/>
            </a:br>
            <a:r>
              <a:rPr lang="en-US" dirty="0"/>
              <a:t> - </a:t>
            </a:r>
            <a:r>
              <a:rPr lang="en-US" dirty="0">
                <a:hlinkClick r:id="rId3"/>
              </a:rPr>
              <a:t>https://www.youtube.com/watch?v=p60-Jdq754A</a:t>
            </a:r>
            <a:r>
              <a:rPr lang="en-US" dirty="0"/>
              <a:t> </a:t>
            </a:r>
            <a:br>
              <a:rPr lang="en-US" dirty="0"/>
            </a:br>
            <a:br>
              <a:rPr lang="en-US" dirty="0"/>
            </a:br>
            <a:r>
              <a:rPr lang="en-US" dirty="0"/>
              <a:t>Bias in criminal justice:</a:t>
            </a:r>
            <a:br>
              <a:rPr lang="en-US" dirty="0"/>
            </a:br>
            <a:r>
              <a:rPr lang="en-US" dirty="0"/>
              <a:t> - </a:t>
            </a:r>
            <a:r>
              <a:rPr lang="en-US" dirty="0">
                <a:hlinkClick r:id="rId4"/>
              </a:rPr>
              <a:t>https://www.youtube.com/watch?v=Gi4YeRqfb24</a:t>
            </a:r>
            <a:r>
              <a:rPr lang="en-US" dirty="0"/>
              <a:t> </a:t>
            </a:r>
            <a:br>
              <a:rPr lang="en-US" dirty="0"/>
            </a:br>
            <a:br>
              <a:rPr lang="en-US" dirty="0"/>
            </a:br>
            <a:r>
              <a:rPr lang="en-US" dirty="0"/>
              <a:t>Target Leakage:</a:t>
            </a:r>
            <a:br>
              <a:rPr lang="en-US" dirty="0"/>
            </a:br>
            <a:r>
              <a:rPr lang="en-US" dirty="0"/>
              <a:t> - </a:t>
            </a:r>
            <a:r>
              <a:rPr lang="en-US" dirty="0">
                <a:hlinkClick r:id="rId5"/>
              </a:rPr>
              <a:t>https://www.youtube.com/watch?v=y8qaI5mpJeA</a:t>
            </a:r>
            <a:r>
              <a:rPr lang="en-US" dirty="0"/>
              <a:t> </a:t>
            </a:r>
          </a:p>
        </p:txBody>
      </p:sp>
      <p:pic>
        <p:nvPicPr>
          <p:cNvPr id="6" name="Picture 5">
            <a:extLst>
              <a:ext uri="{FF2B5EF4-FFF2-40B4-BE49-F238E27FC236}">
                <a16:creationId xmlns:a16="http://schemas.microsoft.com/office/drawing/2014/main" id="{EA27DDEE-0422-6E4F-AC95-3AFA579C3DB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17056" y="225286"/>
            <a:ext cx="5429170" cy="3419062"/>
          </a:xfrm>
          <a:prstGeom prst="rect">
            <a:avLst/>
          </a:prstGeom>
        </p:spPr>
      </p:pic>
    </p:spTree>
    <p:extLst>
      <p:ext uri="{BB962C8B-B14F-4D97-AF65-F5344CB8AC3E}">
        <p14:creationId xmlns:p14="http://schemas.microsoft.com/office/powerpoint/2010/main" val="3227577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9F7588-E09F-B248-9AF8-0614D59D3E5A}"/>
              </a:ext>
            </a:extLst>
          </p:cNvPr>
          <p:cNvSpPr txBox="1"/>
          <p:nvPr/>
        </p:nvSpPr>
        <p:spPr>
          <a:xfrm>
            <a:off x="0" y="0"/>
            <a:ext cx="7010400" cy="738664"/>
          </a:xfrm>
          <a:prstGeom prst="rect">
            <a:avLst/>
          </a:prstGeom>
          <a:noFill/>
        </p:spPr>
        <p:txBody>
          <a:bodyPr wrap="square" rtlCol="0">
            <a:spAutoFit/>
          </a:bodyPr>
          <a:lstStyle/>
          <a:p>
            <a:r>
              <a:rPr lang="en-US" sz="2800" b="1" dirty="0"/>
              <a:t>Boy or Girl Paradox</a:t>
            </a:r>
          </a:p>
          <a:p>
            <a:r>
              <a:rPr lang="en-US" b="1" dirty="0"/>
              <a:t>(a.k.a. "The Two Child Problem", "Mr. Smith's Children", "Mrs. Smith Problem").</a:t>
            </a:r>
          </a:p>
        </p:txBody>
      </p:sp>
      <p:sp>
        <p:nvSpPr>
          <p:cNvPr id="5" name="TextBox 4">
            <a:extLst>
              <a:ext uri="{FF2B5EF4-FFF2-40B4-BE49-F238E27FC236}">
                <a16:creationId xmlns:a16="http://schemas.microsoft.com/office/drawing/2014/main" id="{6C2F706E-77C7-AF44-9FCC-6397C644CBC6}"/>
              </a:ext>
            </a:extLst>
          </p:cNvPr>
          <p:cNvSpPr txBox="1"/>
          <p:nvPr/>
        </p:nvSpPr>
        <p:spPr>
          <a:xfrm>
            <a:off x="0" y="1341119"/>
            <a:ext cx="5413248" cy="5047536"/>
          </a:xfrm>
          <a:prstGeom prst="rect">
            <a:avLst/>
          </a:prstGeom>
          <a:noFill/>
        </p:spPr>
        <p:txBody>
          <a:bodyPr wrap="square" rtlCol="0">
            <a:spAutoFit/>
          </a:bodyPr>
          <a:lstStyle/>
          <a:p>
            <a:r>
              <a:rPr lang="en-US" dirty="0"/>
              <a:t>Initially formulated at 1959, when Martin Gardner featured it in his October 1959 "Mathematical Games column" in Scientific American. He titled it The Two Children Problem, and phrased the paradox as follows:</a:t>
            </a:r>
          </a:p>
          <a:p>
            <a:endParaRPr lang="en-US" dirty="0"/>
          </a:p>
          <a:p>
            <a:r>
              <a:rPr lang="en-US" dirty="0"/>
              <a:t>Question 1: Mr. Jones has two children. The older child is a girl. What is the probability that both children are girls?</a:t>
            </a:r>
          </a:p>
          <a:p>
            <a:endParaRPr lang="en-US" dirty="0"/>
          </a:p>
          <a:p>
            <a:endParaRPr lang="en-US" dirty="0"/>
          </a:p>
          <a:p>
            <a:endParaRPr lang="en-US" dirty="0"/>
          </a:p>
          <a:p>
            <a:r>
              <a:rPr lang="en-US" dirty="0"/>
              <a:t>Question 2: Mr. Smith has two children. At least one of them is a boy. What is the probability that both children are boys?</a:t>
            </a:r>
          </a:p>
          <a:p>
            <a:endParaRPr lang="en-US" dirty="0"/>
          </a:p>
          <a:p>
            <a:endParaRPr lang="en-US" dirty="0"/>
          </a:p>
          <a:p>
            <a:r>
              <a:rPr lang="en-US" dirty="0"/>
              <a:t> - </a:t>
            </a:r>
            <a:r>
              <a:rPr lang="en-US" dirty="0">
                <a:hlinkClick r:id="rId2"/>
              </a:rPr>
              <a:t>https://en.wikipedia.org/wiki/Boy_or_Girl_paradox</a:t>
            </a:r>
            <a:r>
              <a:rPr lang="en-US" dirty="0"/>
              <a:t> </a:t>
            </a:r>
          </a:p>
          <a:p>
            <a:endParaRPr lang="en-US" dirty="0"/>
          </a:p>
          <a:p>
            <a:endParaRPr lang="en-US" dirty="0"/>
          </a:p>
          <a:p>
            <a:r>
              <a:rPr lang="en-US" dirty="0"/>
              <a:t>video - This May Be The Most Counterintuitive Probability Paradox I've Ever Seen | Can you spot the error?</a:t>
            </a:r>
          </a:p>
          <a:p>
            <a:r>
              <a:rPr lang="en-US" dirty="0"/>
              <a:t>- </a:t>
            </a:r>
            <a:r>
              <a:rPr lang="en-US" dirty="0">
                <a:hlinkClick r:id="rId3"/>
              </a:rPr>
              <a:t>https://www.youtube.com/watch?v=bDZieLmya_I</a:t>
            </a:r>
            <a:endParaRPr lang="en-US" dirty="0"/>
          </a:p>
          <a:p>
            <a:endParaRPr lang="en-US" dirty="0"/>
          </a:p>
          <a:p>
            <a:r>
              <a:rPr lang="en-US" dirty="0"/>
              <a:t>video - The Boy or Girl Probability Paradox Resolved</a:t>
            </a:r>
          </a:p>
          <a:p>
            <a:r>
              <a:rPr lang="en-US" dirty="0"/>
              <a:t>- </a:t>
            </a:r>
            <a:r>
              <a:rPr lang="en-US" dirty="0">
                <a:hlinkClick r:id="rId4"/>
              </a:rPr>
              <a:t>https://www.youtube.com/watch?v=ElB350w8iJo</a:t>
            </a:r>
            <a:r>
              <a:rPr lang="en-US" dirty="0"/>
              <a:t> </a:t>
            </a:r>
          </a:p>
        </p:txBody>
      </p:sp>
      <p:pic>
        <p:nvPicPr>
          <p:cNvPr id="6" name="Picture 5">
            <a:extLst>
              <a:ext uri="{FF2B5EF4-FFF2-40B4-BE49-F238E27FC236}">
                <a16:creationId xmlns:a16="http://schemas.microsoft.com/office/drawing/2014/main" id="{CE8981C4-01EB-C345-AB38-EA6A36D18A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618118" y="1019080"/>
            <a:ext cx="1896973" cy="1431512"/>
          </a:xfrm>
          <a:prstGeom prst="rect">
            <a:avLst/>
          </a:prstGeom>
        </p:spPr>
      </p:pic>
      <p:pic>
        <p:nvPicPr>
          <p:cNvPr id="7" name="Picture 6">
            <a:extLst>
              <a:ext uri="{FF2B5EF4-FFF2-40B4-BE49-F238E27FC236}">
                <a16:creationId xmlns:a16="http://schemas.microsoft.com/office/drawing/2014/main" id="{CA566D42-48FC-5349-A28F-E08379F9426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618118" y="3154862"/>
            <a:ext cx="1659816" cy="1252547"/>
          </a:xfrm>
          <a:prstGeom prst="rect">
            <a:avLst/>
          </a:prstGeom>
        </p:spPr>
      </p:pic>
      <p:pic>
        <p:nvPicPr>
          <p:cNvPr id="8" name="Picture 7">
            <a:extLst>
              <a:ext uri="{FF2B5EF4-FFF2-40B4-BE49-F238E27FC236}">
                <a16:creationId xmlns:a16="http://schemas.microsoft.com/office/drawing/2014/main" id="{F6EBFE19-F7F6-8D45-95F9-7186733F377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888073" y="4407409"/>
            <a:ext cx="5219700" cy="1662181"/>
          </a:xfrm>
          <a:prstGeom prst="rect">
            <a:avLst/>
          </a:prstGeom>
        </p:spPr>
      </p:pic>
      <p:pic>
        <p:nvPicPr>
          <p:cNvPr id="9" name="Picture 8">
            <a:extLst>
              <a:ext uri="{FF2B5EF4-FFF2-40B4-BE49-F238E27FC236}">
                <a16:creationId xmlns:a16="http://schemas.microsoft.com/office/drawing/2014/main" id="{7F216E6E-201A-AE49-8004-C7E4DB60139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982533" y="6233057"/>
            <a:ext cx="3076149" cy="590550"/>
          </a:xfrm>
          <a:prstGeom prst="rect">
            <a:avLst/>
          </a:prstGeom>
        </p:spPr>
      </p:pic>
      <p:sp>
        <p:nvSpPr>
          <p:cNvPr id="10" name="TextBox 9">
            <a:extLst>
              <a:ext uri="{FF2B5EF4-FFF2-40B4-BE49-F238E27FC236}">
                <a16:creationId xmlns:a16="http://schemas.microsoft.com/office/drawing/2014/main" id="{6515EADD-2F8D-4D47-B4FB-237457FCE401}"/>
              </a:ext>
            </a:extLst>
          </p:cNvPr>
          <p:cNvSpPr txBox="1"/>
          <p:nvPr/>
        </p:nvSpPr>
        <p:spPr>
          <a:xfrm>
            <a:off x="7378700" y="1492681"/>
            <a:ext cx="838200" cy="307777"/>
          </a:xfrm>
          <a:prstGeom prst="rect">
            <a:avLst/>
          </a:prstGeom>
          <a:noFill/>
        </p:spPr>
        <p:txBody>
          <a:bodyPr wrap="square" rtlCol="0">
            <a:spAutoFit/>
          </a:bodyPr>
          <a:lstStyle/>
          <a:p>
            <a:r>
              <a:rPr lang="en-US" b="1" dirty="0">
                <a:solidFill>
                  <a:srgbClr val="FF0000"/>
                </a:solidFill>
              </a:rPr>
              <a:t>P = 1/2</a:t>
            </a:r>
          </a:p>
        </p:txBody>
      </p:sp>
      <p:sp>
        <p:nvSpPr>
          <p:cNvPr id="11" name="TextBox 10">
            <a:extLst>
              <a:ext uri="{FF2B5EF4-FFF2-40B4-BE49-F238E27FC236}">
                <a16:creationId xmlns:a16="http://schemas.microsoft.com/office/drawing/2014/main" id="{7FE20994-BE99-4142-BFCB-6E614279346F}"/>
              </a:ext>
            </a:extLst>
          </p:cNvPr>
          <p:cNvSpPr txBox="1"/>
          <p:nvPr/>
        </p:nvSpPr>
        <p:spPr>
          <a:xfrm>
            <a:off x="7378700" y="3603386"/>
            <a:ext cx="838200" cy="307777"/>
          </a:xfrm>
          <a:prstGeom prst="rect">
            <a:avLst/>
          </a:prstGeom>
          <a:noFill/>
        </p:spPr>
        <p:txBody>
          <a:bodyPr wrap="square" rtlCol="0">
            <a:spAutoFit/>
          </a:bodyPr>
          <a:lstStyle/>
          <a:p>
            <a:r>
              <a:rPr lang="en-US" b="1" dirty="0">
                <a:solidFill>
                  <a:srgbClr val="FF0000"/>
                </a:solidFill>
              </a:rPr>
              <a:t>P = 1/3</a:t>
            </a:r>
          </a:p>
        </p:txBody>
      </p:sp>
      <p:sp>
        <p:nvSpPr>
          <p:cNvPr id="14" name="Right Arrow 13">
            <a:extLst>
              <a:ext uri="{FF2B5EF4-FFF2-40B4-BE49-F238E27FC236}">
                <a16:creationId xmlns:a16="http://schemas.microsoft.com/office/drawing/2014/main" id="{FD13A09C-709B-8A40-A89E-21595B6F32E2}"/>
              </a:ext>
            </a:extLst>
          </p:cNvPr>
          <p:cNvSpPr/>
          <p:nvPr/>
        </p:nvSpPr>
        <p:spPr>
          <a:xfrm rot="966397">
            <a:off x="5705856" y="3835034"/>
            <a:ext cx="914400"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A5361324-BBC4-5342-9E8F-153114277AB2}"/>
              </a:ext>
            </a:extLst>
          </p:cNvPr>
          <p:cNvSpPr/>
          <p:nvPr/>
        </p:nvSpPr>
        <p:spPr>
          <a:xfrm rot="20081528">
            <a:off x="5758979" y="2104279"/>
            <a:ext cx="914400"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5259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84912" y="85118"/>
            <a:ext cx="5906814" cy="6771084"/>
          </a:xfrm>
          <a:prstGeom prst="rect">
            <a:avLst/>
          </a:prstGeom>
          <a:noFill/>
        </p:spPr>
        <p:txBody>
          <a:bodyPr wrap="square" rtlCol="0">
            <a:spAutoFit/>
          </a:bodyPr>
          <a:lstStyle/>
          <a:p>
            <a:r>
              <a:rPr lang="en-US" sz="1800" b="1" dirty="0"/>
              <a:t>Random Variable. Probability Distribution</a:t>
            </a:r>
          </a:p>
          <a:p>
            <a:br>
              <a:rPr lang="en-US" dirty="0"/>
            </a:br>
            <a:r>
              <a:rPr lang="en-US" b="1" dirty="0">
                <a:solidFill>
                  <a:srgbClr val="0070C0"/>
                </a:solidFill>
              </a:rPr>
              <a:t>Random variable </a:t>
            </a:r>
            <a:r>
              <a:rPr lang="en-US" dirty="0"/>
              <a:t>is a numerical variable taking different values.</a:t>
            </a:r>
          </a:p>
          <a:p>
            <a:r>
              <a:rPr lang="en-US" dirty="0"/>
              <a:t>Values may be </a:t>
            </a:r>
            <a:r>
              <a:rPr lang="en-US" b="1" dirty="0">
                <a:solidFill>
                  <a:srgbClr val="0070C0"/>
                </a:solidFill>
              </a:rPr>
              <a:t>discrete or continuous</a:t>
            </a:r>
            <a:r>
              <a:rPr lang="en-US" dirty="0"/>
              <a:t>.</a:t>
            </a:r>
          </a:p>
          <a:p>
            <a:endParaRPr lang="en-US" dirty="0"/>
          </a:p>
          <a:p>
            <a:r>
              <a:rPr lang="en-US" dirty="0"/>
              <a:t>For example, think of variable “x” which may have any real value between -10 and +10.</a:t>
            </a:r>
          </a:p>
          <a:p>
            <a:endParaRPr lang="en-US" dirty="0"/>
          </a:p>
          <a:p>
            <a:r>
              <a:rPr lang="en-US" dirty="0"/>
              <a:t>Or think of a variable “z” which can have discrete values 0,0.1,0.2, … 0.9, 1.0</a:t>
            </a:r>
          </a:p>
          <a:p>
            <a:endParaRPr lang="en-US" dirty="0"/>
          </a:p>
          <a:p>
            <a:r>
              <a:rPr lang="en-US" sz="2400" b="1" dirty="0">
                <a:solidFill>
                  <a:srgbClr val="FF0000"/>
                </a:solidFill>
              </a:rPr>
              <a:t>Discrete Case</a:t>
            </a:r>
          </a:p>
          <a:p>
            <a:r>
              <a:rPr lang="en-US" b="1" dirty="0">
                <a:solidFill>
                  <a:srgbClr val="0070C0"/>
                </a:solidFill>
              </a:rPr>
              <a:t>Probability function </a:t>
            </a:r>
            <a:r>
              <a:rPr lang="en-US" dirty="0"/>
              <a:t>P(x) of a discrete random variable “x” </a:t>
            </a:r>
          </a:p>
          <a:p>
            <a:r>
              <a:rPr lang="en-US" dirty="0"/>
              <a:t>is simply a function which gives probability of discrete values.</a:t>
            </a:r>
          </a:p>
          <a:p>
            <a:endParaRPr lang="en-US" dirty="0"/>
          </a:p>
          <a:p>
            <a:r>
              <a:rPr lang="en-US" dirty="0"/>
              <a:t>For example, if the random variable “x” may have two values: ( 0 or 1 ),</a:t>
            </a:r>
          </a:p>
          <a:p>
            <a:r>
              <a:rPr lang="en-US" dirty="0"/>
              <a:t>and if probabilities of those values are equal, then</a:t>
            </a:r>
          </a:p>
          <a:p>
            <a:endParaRPr lang="en-US" dirty="0"/>
          </a:p>
          <a:p>
            <a:r>
              <a:rPr lang="en-US" dirty="0"/>
              <a:t>P(0) = 0.5, f(1) = 0.5.</a:t>
            </a:r>
          </a:p>
          <a:p>
            <a:endParaRPr lang="en-US" dirty="0"/>
          </a:p>
          <a:p>
            <a:r>
              <a:rPr lang="en-US" dirty="0"/>
              <a:t>The sum of individual probabilities for all possible values should be 1.</a:t>
            </a:r>
          </a:p>
          <a:p>
            <a:endParaRPr lang="en-US" dirty="0"/>
          </a:p>
          <a:p>
            <a:r>
              <a:rPr lang="en-US" b="1" dirty="0">
                <a:solidFill>
                  <a:srgbClr val="0070C0"/>
                </a:solidFill>
              </a:rPr>
              <a:t>Expected value </a:t>
            </a:r>
            <a:r>
              <a:rPr lang="en-US" dirty="0"/>
              <a:t>is an weighted average of all values.</a:t>
            </a:r>
          </a:p>
          <a:p>
            <a:endParaRPr lang="en-US" dirty="0"/>
          </a:p>
          <a:p>
            <a:r>
              <a:rPr lang="en-US" dirty="0"/>
              <a:t>E(x) = sum(Xi*P(Xi)), where Xi goes through all allowed values of X.</a:t>
            </a:r>
          </a:p>
          <a:p>
            <a:endParaRPr lang="en-US" dirty="0"/>
          </a:p>
          <a:p>
            <a:r>
              <a:rPr lang="en-US" b="1" dirty="0">
                <a:solidFill>
                  <a:srgbClr val="0070C0"/>
                </a:solidFill>
              </a:rPr>
              <a:t>Variance = sigma squared </a:t>
            </a:r>
            <a:r>
              <a:rPr lang="en-US" dirty="0"/>
              <a:t>= sum( (Xi-E(x))**2 * P(Xi) )</a:t>
            </a:r>
          </a:p>
          <a:p>
            <a:endParaRPr lang="en-US" dirty="0"/>
          </a:p>
          <a:p>
            <a:r>
              <a:rPr lang="en-US" b="1" dirty="0">
                <a:solidFill>
                  <a:srgbClr val="0070C0"/>
                </a:solidFill>
              </a:rPr>
              <a:t>Standard Deviation </a:t>
            </a:r>
            <a:r>
              <a:rPr lang="en-US" dirty="0"/>
              <a:t>= sqrt(sigma squared)</a:t>
            </a:r>
          </a:p>
        </p:txBody>
      </p:sp>
      <p:sp>
        <p:nvSpPr>
          <p:cNvPr id="5" name="TextBox 4">
            <a:extLst>
              <a:ext uri="{FF2B5EF4-FFF2-40B4-BE49-F238E27FC236}">
                <a16:creationId xmlns:a16="http://schemas.microsoft.com/office/drawing/2014/main" id="{E72EEA3B-9D50-A145-B8FE-B6686486D979}"/>
              </a:ext>
            </a:extLst>
          </p:cNvPr>
          <p:cNvSpPr txBox="1"/>
          <p:nvPr/>
        </p:nvSpPr>
        <p:spPr>
          <a:xfrm>
            <a:off x="5991726" y="178676"/>
            <a:ext cx="6200274" cy="6494085"/>
          </a:xfrm>
          <a:prstGeom prst="rect">
            <a:avLst/>
          </a:prstGeom>
          <a:noFill/>
        </p:spPr>
        <p:txBody>
          <a:bodyPr wrap="square" rtlCol="0">
            <a:spAutoFit/>
          </a:bodyPr>
          <a:lstStyle/>
          <a:p>
            <a:r>
              <a:rPr lang="en-US" dirty="0"/>
              <a:t>Probability Density Function (PDF)  </a:t>
            </a:r>
          </a:p>
          <a:p>
            <a:r>
              <a:rPr lang="en-US" dirty="0"/>
              <a:t>vs.  Cumulative Probability Function ( CPF)</a:t>
            </a:r>
          </a:p>
          <a:p>
            <a:endParaRPr lang="en-US" dirty="0"/>
          </a:p>
          <a:p>
            <a:r>
              <a:rPr lang="en-US" sz="2400" b="1" dirty="0">
                <a:solidFill>
                  <a:srgbClr val="FF0000"/>
                </a:solidFill>
              </a:rPr>
              <a:t>Continuous Case</a:t>
            </a:r>
          </a:p>
          <a:p>
            <a:endParaRPr lang="en-US" dirty="0"/>
          </a:p>
          <a:p>
            <a:r>
              <a:rPr lang="en-US" b="1" dirty="0">
                <a:solidFill>
                  <a:srgbClr val="0070C0"/>
                </a:solidFill>
              </a:rPr>
              <a:t>Probability Density Function (PDF)</a:t>
            </a:r>
            <a:r>
              <a:rPr lang="en-US" dirty="0"/>
              <a:t> f(x) is a continuous function.</a:t>
            </a:r>
          </a:p>
          <a:p>
            <a:endParaRPr lang="en-US" dirty="0"/>
          </a:p>
          <a:p>
            <a:r>
              <a:rPr lang="en-US" dirty="0"/>
              <a:t>f(x)*dx gives probability that value is between x and </a:t>
            </a:r>
            <a:r>
              <a:rPr lang="en-US" dirty="0" err="1"/>
              <a:t>x+dx</a:t>
            </a:r>
            <a:r>
              <a:rPr lang="en-US" dirty="0"/>
              <a:t>.</a:t>
            </a:r>
          </a:p>
          <a:p>
            <a:endParaRPr lang="en-US" dirty="0"/>
          </a:p>
          <a:p>
            <a:r>
              <a:rPr lang="en-US" dirty="0"/>
              <a:t>The total integral of f(x)*dx should be equal to 1.</a:t>
            </a:r>
          </a:p>
          <a:p>
            <a:endParaRPr lang="en-US" dirty="0"/>
          </a:p>
          <a:p>
            <a:r>
              <a:rPr lang="en-US" b="1" dirty="0">
                <a:solidFill>
                  <a:srgbClr val="0070C0"/>
                </a:solidFill>
              </a:rPr>
              <a:t>Cumulative Probability Function (CPF)</a:t>
            </a:r>
          </a:p>
          <a:p>
            <a:r>
              <a:rPr lang="en-US" dirty="0"/>
              <a:t>This is simply a function F(x) which gives probability that value is less than x.</a:t>
            </a:r>
          </a:p>
          <a:p>
            <a:r>
              <a:rPr lang="en-US" dirty="0"/>
              <a:t>It monotonously grows from 0 to 1 as x grows (from small to large values).</a:t>
            </a:r>
          </a:p>
          <a:p>
            <a:endParaRPr lang="en-US" dirty="0"/>
          </a:p>
          <a:p>
            <a:endParaRPr lang="en-US" dirty="0"/>
          </a:p>
          <a:p>
            <a:r>
              <a:rPr lang="en-US" b="1" dirty="0">
                <a:solidFill>
                  <a:srgbClr val="0070C0"/>
                </a:solidFill>
              </a:rPr>
              <a:t>The PDF is a first derivative of CPF.</a:t>
            </a:r>
          </a:p>
          <a:p>
            <a:endParaRPr lang="en-US" dirty="0"/>
          </a:p>
          <a:p>
            <a:r>
              <a:rPr lang="en-US" dirty="0"/>
              <a:t>CPF(</a:t>
            </a:r>
            <a:r>
              <a:rPr lang="en-US" dirty="0" err="1"/>
              <a:t>x+dx</a:t>
            </a:r>
            <a:r>
              <a:rPr lang="en-US" dirty="0"/>
              <a:t>) – CPF(x) = = [Prob. of value &lt; (</a:t>
            </a:r>
            <a:r>
              <a:rPr lang="en-US" dirty="0" err="1"/>
              <a:t>x+dx</a:t>
            </a:r>
            <a:r>
              <a:rPr lang="en-US" dirty="0"/>
              <a:t>)] – [Prob. of value &lt; x] = f(x)*dx</a:t>
            </a:r>
          </a:p>
          <a:p>
            <a:endParaRPr lang="en-US" dirty="0"/>
          </a:p>
          <a:p>
            <a:r>
              <a:rPr lang="en-US" b="1" dirty="0">
                <a:solidFill>
                  <a:srgbClr val="0070C0"/>
                </a:solidFill>
              </a:rPr>
              <a:t>Mean value = Expected value</a:t>
            </a:r>
          </a:p>
          <a:p>
            <a:endParaRPr lang="en-US" dirty="0"/>
          </a:p>
          <a:p>
            <a:r>
              <a:rPr lang="en-US" dirty="0"/>
              <a:t>For discrete case we had:</a:t>
            </a:r>
          </a:p>
          <a:p>
            <a:r>
              <a:rPr lang="en-US" dirty="0"/>
              <a:t>E(x) = sum(Xi*P(Xi))</a:t>
            </a:r>
          </a:p>
          <a:p>
            <a:endParaRPr lang="en-US" dirty="0"/>
          </a:p>
          <a:p>
            <a:r>
              <a:rPr lang="en-US" dirty="0"/>
              <a:t>For continuous case this translates into</a:t>
            </a:r>
          </a:p>
          <a:p>
            <a:r>
              <a:rPr lang="en-US" dirty="0"/>
              <a:t>E(x) = Integral(</a:t>
            </a:r>
            <a:r>
              <a:rPr lang="en-US" dirty="0" err="1"/>
              <a:t>xF</a:t>
            </a:r>
            <a:r>
              <a:rPr lang="en-US" dirty="0"/>
              <a:t>(x)dx)</a:t>
            </a:r>
          </a:p>
        </p:txBody>
      </p:sp>
    </p:spTree>
    <p:extLst>
      <p:ext uri="{BB962C8B-B14F-4D97-AF65-F5344CB8AC3E}">
        <p14:creationId xmlns:p14="http://schemas.microsoft.com/office/powerpoint/2010/main" val="22494327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2907</TotalTime>
  <Words>2962</Words>
  <Application>Microsoft Macintosh PowerPoint</Application>
  <PresentationFormat>Widescreen</PresentationFormat>
  <Paragraphs>343</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 Math</vt:lpstr>
      <vt:lpstr>Monaco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287</cp:revision>
  <cp:lastPrinted>2021-01-18T18:48:20Z</cp:lastPrinted>
  <dcterms:modified xsi:type="dcterms:W3CDTF">2021-04-13T00:50:11Z</dcterms:modified>
</cp:coreProperties>
</file>