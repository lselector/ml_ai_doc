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0"/>
  </p:notesMasterIdLst>
  <p:sldIdLst>
    <p:sldId id="262" r:id="rId2"/>
    <p:sldId id="263" r:id="rId3"/>
    <p:sldId id="264" r:id="rId4"/>
    <p:sldId id="273" r:id="rId5"/>
    <p:sldId id="274" r:id="rId6"/>
    <p:sldId id="292" r:id="rId7"/>
    <p:sldId id="290" r:id="rId8"/>
    <p:sldId id="265"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442"/>
    <p:restoredTop sz="92203"/>
  </p:normalViewPr>
  <p:slideViewPr>
    <p:cSldViewPr snapToGrid="0" snapToObjects="1">
      <p:cViewPr varScale="1">
        <p:scale>
          <a:sx n="90" d="100"/>
          <a:sy n="90" d="100"/>
        </p:scale>
        <p:origin x="232" y="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630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quora.com/What-are-some-good-books-for-learning-probability-and-statistics"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n.wikipedia.org/wiki/Bayes%27_theorem" TargetMode="External"/><Relationship Id="rId2" Type="http://schemas.openxmlformats.org/officeDocument/2006/relationships/hyperlink" Target="https://en.wikipedia.org/wiki/Thomas_Bayes" TargetMode="External"/><Relationship Id="rId1" Type="http://schemas.openxmlformats.org/officeDocument/2006/relationships/slideLayout" Target="../slideLayouts/slideLayout2.xml"/><Relationship Id="rId5" Type="http://schemas.openxmlformats.org/officeDocument/2006/relationships/image" Target="../media/image2.jpeg"/><Relationship Id="rId4" Type="http://schemas.openxmlformats.org/officeDocument/2006/relationships/hyperlink" Target="https://en.wikipedia.org/wiki/Bayesian_inferenc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5.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7FF3915-155C-654B-9482-71A1ADB58F39}"/>
              </a:ext>
            </a:extLst>
          </p:cNvPr>
          <p:cNvSpPr txBox="1"/>
          <p:nvPr/>
        </p:nvSpPr>
        <p:spPr>
          <a:xfrm>
            <a:off x="157655" y="165651"/>
            <a:ext cx="3920359" cy="461665"/>
          </a:xfrm>
          <a:prstGeom prst="rect">
            <a:avLst/>
          </a:prstGeom>
          <a:noFill/>
        </p:spPr>
        <p:txBody>
          <a:bodyPr wrap="square" rtlCol="0">
            <a:spAutoFit/>
          </a:bodyPr>
          <a:lstStyle/>
          <a:p>
            <a:r>
              <a:rPr lang="en-US" sz="2400" b="1" dirty="0"/>
              <a:t>Probability &amp; Statistics</a:t>
            </a:r>
          </a:p>
        </p:txBody>
      </p:sp>
      <p:sp>
        <p:nvSpPr>
          <p:cNvPr id="5" name="TextBox 4">
            <a:extLst>
              <a:ext uri="{FF2B5EF4-FFF2-40B4-BE49-F238E27FC236}">
                <a16:creationId xmlns:a16="http://schemas.microsoft.com/office/drawing/2014/main" id="{0B4D9DED-88C7-6644-AF6D-10C72AB27353}"/>
              </a:ext>
            </a:extLst>
          </p:cNvPr>
          <p:cNvSpPr txBox="1"/>
          <p:nvPr/>
        </p:nvSpPr>
        <p:spPr>
          <a:xfrm>
            <a:off x="157655" y="998483"/>
            <a:ext cx="5549462" cy="5262979"/>
          </a:xfrm>
          <a:prstGeom prst="rect">
            <a:avLst/>
          </a:prstGeom>
          <a:noFill/>
        </p:spPr>
        <p:txBody>
          <a:bodyPr wrap="square" rtlCol="0">
            <a:spAutoFit/>
          </a:bodyPr>
          <a:lstStyle/>
          <a:p>
            <a:r>
              <a:rPr lang="en-US" dirty="0"/>
              <a:t>Books on probability and statistics</a:t>
            </a:r>
          </a:p>
          <a:p>
            <a:r>
              <a:rPr lang="en-US" dirty="0"/>
              <a:t>    </a:t>
            </a:r>
            <a:r>
              <a:rPr lang="en-US" dirty="0">
                <a:hlinkClick r:id="rId2"/>
              </a:rPr>
              <a:t>https://</a:t>
            </a:r>
            <a:r>
              <a:rPr lang="en-US" dirty="0" err="1">
                <a:hlinkClick r:id="rId2"/>
              </a:rPr>
              <a:t>www.quora.com</a:t>
            </a:r>
            <a:r>
              <a:rPr lang="en-US" dirty="0">
                <a:hlinkClick r:id="rId2"/>
              </a:rPr>
              <a:t>/What-are-some-good-books-for-learning-probability-and-statistics</a:t>
            </a:r>
            <a:endParaRPr lang="en-US" dirty="0"/>
          </a:p>
          <a:p>
            <a:endParaRPr lang="en-US" dirty="0"/>
          </a:p>
          <a:p>
            <a:r>
              <a:rPr lang="en-US" dirty="0"/>
              <a:t>Introduction to Probability Theory</a:t>
            </a:r>
          </a:p>
          <a:p>
            <a:endParaRPr lang="en-US" dirty="0"/>
          </a:p>
          <a:p>
            <a:r>
              <a:rPr lang="en-US" dirty="0"/>
              <a:t>Probability Definitions</a:t>
            </a:r>
          </a:p>
          <a:p>
            <a:r>
              <a:rPr lang="en-US" dirty="0"/>
              <a:t>Probability of an event is the measure of the likelihood that </a:t>
            </a:r>
          </a:p>
          <a:p>
            <a:r>
              <a:rPr lang="en-US" dirty="0"/>
              <a:t>the event will occur (in some experiment). </a:t>
            </a:r>
          </a:p>
          <a:p>
            <a:endParaRPr lang="en-US" dirty="0"/>
          </a:p>
          <a:p>
            <a:r>
              <a:rPr lang="en-US" dirty="0"/>
              <a:t>Probability is a number between 0 and 1. </a:t>
            </a:r>
          </a:p>
          <a:p>
            <a:r>
              <a:rPr lang="en-US" dirty="0"/>
              <a:t>But sometimes people express probability using </a:t>
            </a:r>
            <a:r>
              <a:rPr lang="en-US" dirty="0" err="1"/>
              <a:t>percents</a:t>
            </a:r>
            <a:r>
              <a:rPr lang="en-US" dirty="0"/>
              <a:t>.</a:t>
            </a:r>
          </a:p>
          <a:p>
            <a:endParaRPr lang="en-US" dirty="0"/>
          </a:p>
          <a:p>
            <a:r>
              <a:rPr lang="en-US" dirty="0"/>
              <a:t>0 – event is impossible</a:t>
            </a:r>
          </a:p>
          <a:p>
            <a:r>
              <a:rPr lang="en-US" dirty="0"/>
              <a:t>0.5 – the event is just as likely to occur as it is to not occur</a:t>
            </a:r>
          </a:p>
          <a:p>
            <a:r>
              <a:rPr lang="en-US" dirty="0"/>
              <a:t>1 – event will certainly happen, 100%.</a:t>
            </a:r>
          </a:p>
          <a:p>
            <a:endParaRPr lang="en-US" dirty="0"/>
          </a:p>
          <a:p>
            <a:r>
              <a:rPr lang="en-US" dirty="0"/>
              <a:t>The sum of probabilities of all outcomes of an experiment </a:t>
            </a:r>
          </a:p>
          <a:p>
            <a:r>
              <a:rPr lang="en-US" dirty="0"/>
              <a:t>should always be 1.</a:t>
            </a:r>
          </a:p>
          <a:p>
            <a:endParaRPr lang="en-US" dirty="0"/>
          </a:p>
          <a:p>
            <a:r>
              <a:rPr lang="en-US" dirty="0"/>
              <a:t>Outcomes can be combinations of individual events.</a:t>
            </a:r>
          </a:p>
          <a:p>
            <a:endParaRPr lang="en-US" dirty="0"/>
          </a:p>
          <a:p>
            <a:r>
              <a:rPr lang="en-US" dirty="0"/>
              <a:t>For example, if we throw one dice cube – there are 6 possible</a:t>
            </a:r>
          </a:p>
          <a:p>
            <a:r>
              <a:rPr lang="en-US" dirty="0"/>
              <a:t>outcomes (1,2,3,4,5,6), each one has same probability – 1/6.</a:t>
            </a:r>
          </a:p>
        </p:txBody>
      </p:sp>
      <p:sp>
        <p:nvSpPr>
          <p:cNvPr id="6" name="TextBox 5">
            <a:extLst>
              <a:ext uri="{FF2B5EF4-FFF2-40B4-BE49-F238E27FC236}">
                <a16:creationId xmlns:a16="http://schemas.microsoft.com/office/drawing/2014/main" id="{114DD0B7-6869-094A-81E2-14D593C7ED9E}"/>
              </a:ext>
            </a:extLst>
          </p:cNvPr>
          <p:cNvSpPr txBox="1"/>
          <p:nvPr/>
        </p:nvSpPr>
        <p:spPr>
          <a:xfrm>
            <a:off x="6096000" y="588579"/>
            <a:ext cx="6096000" cy="5816977"/>
          </a:xfrm>
          <a:prstGeom prst="rect">
            <a:avLst/>
          </a:prstGeom>
          <a:noFill/>
        </p:spPr>
        <p:txBody>
          <a:bodyPr wrap="square" rtlCol="0">
            <a:spAutoFit/>
          </a:bodyPr>
          <a:lstStyle/>
          <a:p>
            <a:r>
              <a:rPr lang="en-US" dirty="0"/>
              <a:t>If we throw 2 cubes, there are 6*6=36 possible combinations.</a:t>
            </a:r>
          </a:p>
          <a:p>
            <a:r>
              <a:rPr lang="en-US" dirty="0"/>
              <a:t>Probability of each combination is the same – 1/36.</a:t>
            </a:r>
          </a:p>
          <a:p>
            <a:endParaRPr lang="en-US" dirty="0"/>
          </a:p>
          <a:p>
            <a:r>
              <a:rPr lang="en-US" dirty="0"/>
              <a:t>If we define an outcome as a sum of numbers on top side of </a:t>
            </a:r>
          </a:p>
          <a:p>
            <a:r>
              <a:rPr lang="en-US" dirty="0"/>
              <a:t>cubes after the throw, then there are 11 possible outcomes:</a:t>
            </a:r>
          </a:p>
          <a:p>
            <a:endParaRPr lang="en-US" dirty="0"/>
          </a:p>
          <a:p>
            <a:r>
              <a:rPr lang="en-US" sz="1200" dirty="0">
                <a:solidFill>
                  <a:srgbClr val="0070C0"/>
                </a:solidFill>
                <a:latin typeface="Monaco" pitchFamily="2" charset="77"/>
              </a:rPr>
              <a:t>---------------------------------------------------------</a:t>
            </a:r>
          </a:p>
          <a:p>
            <a:r>
              <a:rPr lang="en-US" sz="1200" dirty="0">
                <a:solidFill>
                  <a:srgbClr val="0070C0"/>
                </a:solidFill>
                <a:latin typeface="Monaco" pitchFamily="2" charset="77"/>
              </a:rPr>
              <a:t>Sum    Combinations             Number of</a:t>
            </a:r>
          </a:p>
          <a:p>
            <a:r>
              <a:rPr lang="en-US" sz="1200" dirty="0">
                <a:solidFill>
                  <a:srgbClr val="0070C0"/>
                </a:solidFill>
                <a:latin typeface="Monaco" pitchFamily="2" charset="77"/>
              </a:rPr>
              <a:t>                                combinations  Probability</a:t>
            </a:r>
          </a:p>
          <a:p>
            <a:r>
              <a:rPr lang="en-US" sz="1200" dirty="0">
                <a:solidFill>
                  <a:srgbClr val="0070C0"/>
                </a:solidFill>
                <a:latin typeface="Monaco" pitchFamily="2" charset="77"/>
              </a:rPr>
              <a:t>---------------------------------------------------------</a:t>
            </a:r>
          </a:p>
          <a:p>
            <a:r>
              <a:rPr lang="en-US" sz="1200" dirty="0">
                <a:solidFill>
                  <a:srgbClr val="0070C0"/>
                </a:solidFill>
                <a:latin typeface="Monaco" pitchFamily="2" charset="77"/>
              </a:rPr>
              <a:t>2      1+1                          1             1/36</a:t>
            </a:r>
          </a:p>
          <a:p>
            <a:r>
              <a:rPr lang="en-US" sz="1200" dirty="0">
                <a:solidFill>
                  <a:srgbClr val="0070C0"/>
                </a:solidFill>
                <a:latin typeface="Monaco" pitchFamily="2" charset="77"/>
              </a:rPr>
              <a:t>3      1+2,2+1                      2             2/36</a:t>
            </a:r>
          </a:p>
          <a:p>
            <a:r>
              <a:rPr lang="en-US" sz="1200" dirty="0">
                <a:solidFill>
                  <a:srgbClr val="0070C0"/>
                </a:solidFill>
                <a:latin typeface="Monaco" pitchFamily="2" charset="77"/>
              </a:rPr>
              <a:t>4      1+3,2+2,3+1                  3             3/36</a:t>
            </a:r>
          </a:p>
          <a:p>
            <a:r>
              <a:rPr lang="en-US" sz="1200" dirty="0">
                <a:solidFill>
                  <a:srgbClr val="0070C0"/>
                </a:solidFill>
                <a:latin typeface="Monaco" pitchFamily="2" charset="77"/>
              </a:rPr>
              <a:t>5      1+4,2+3,3+2,4+1              4             4/36</a:t>
            </a:r>
          </a:p>
          <a:p>
            <a:r>
              <a:rPr lang="en-US" sz="1200" dirty="0">
                <a:solidFill>
                  <a:srgbClr val="0070C0"/>
                </a:solidFill>
                <a:latin typeface="Monaco" pitchFamily="2" charset="77"/>
              </a:rPr>
              <a:t>6      1+5,2+4,3+3,4+2,5+1          5             5/36</a:t>
            </a:r>
          </a:p>
          <a:p>
            <a:r>
              <a:rPr lang="en-US" sz="1200" dirty="0">
                <a:solidFill>
                  <a:srgbClr val="0070C0"/>
                </a:solidFill>
                <a:latin typeface="Monaco" pitchFamily="2" charset="77"/>
              </a:rPr>
              <a:t>7      1+6,2+5,3+4,4+3,5+2,6+1      6             6/36</a:t>
            </a:r>
          </a:p>
          <a:p>
            <a:r>
              <a:rPr lang="en-US" sz="1200" dirty="0">
                <a:solidFill>
                  <a:srgbClr val="0070C0"/>
                </a:solidFill>
                <a:latin typeface="Monaco" pitchFamily="2" charset="77"/>
              </a:rPr>
              <a:t>8      2+6,3+5,4+4,5+3,6+2          5             5/36</a:t>
            </a:r>
          </a:p>
          <a:p>
            <a:r>
              <a:rPr lang="en-US" sz="1200" dirty="0">
                <a:solidFill>
                  <a:srgbClr val="0070C0"/>
                </a:solidFill>
                <a:latin typeface="Monaco" pitchFamily="2" charset="77"/>
              </a:rPr>
              <a:t>9      3+6,4+5,5+4,6+3              4             4/36</a:t>
            </a:r>
          </a:p>
          <a:p>
            <a:r>
              <a:rPr lang="en-US" sz="1200" dirty="0">
                <a:solidFill>
                  <a:srgbClr val="0070C0"/>
                </a:solidFill>
                <a:latin typeface="Monaco" pitchFamily="2" charset="77"/>
              </a:rPr>
              <a:t>10     4+6,5+5,6+4                  3             3/36</a:t>
            </a:r>
          </a:p>
          <a:p>
            <a:r>
              <a:rPr lang="en-US" sz="1200" dirty="0">
                <a:solidFill>
                  <a:srgbClr val="0070C0"/>
                </a:solidFill>
                <a:latin typeface="Monaco" pitchFamily="2" charset="77"/>
              </a:rPr>
              <a:t>11     5+6,6+5                      2             2/36</a:t>
            </a:r>
          </a:p>
          <a:p>
            <a:r>
              <a:rPr lang="en-US" sz="1200" dirty="0">
                <a:solidFill>
                  <a:srgbClr val="0070C0"/>
                </a:solidFill>
                <a:latin typeface="Monaco" pitchFamily="2" charset="77"/>
              </a:rPr>
              <a:t>12     6+6                          1             1/36</a:t>
            </a:r>
          </a:p>
          <a:p>
            <a:r>
              <a:rPr lang="en-US" sz="1200" dirty="0">
                <a:solidFill>
                  <a:srgbClr val="0070C0"/>
                </a:solidFill>
                <a:latin typeface="Monaco" pitchFamily="2" charset="77"/>
              </a:rPr>
              <a:t>---------------------------------------------------------</a:t>
            </a:r>
          </a:p>
          <a:p>
            <a:r>
              <a:rPr lang="en-US" sz="1200" dirty="0">
                <a:solidFill>
                  <a:srgbClr val="0070C0"/>
                </a:solidFill>
                <a:latin typeface="Monaco" pitchFamily="2" charset="77"/>
              </a:rPr>
              <a:t>Total                              36              1</a:t>
            </a:r>
            <a:br>
              <a:rPr lang="en-US" sz="1200" dirty="0">
                <a:solidFill>
                  <a:srgbClr val="0070C0"/>
                </a:solidFill>
                <a:latin typeface="Monaco" pitchFamily="2" charset="77"/>
              </a:rPr>
            </a:br>
            <a:endParaRPr lang="en-US" dirty="0"/>
          </a:p>
          <a:p>
            <a:r>
              <a:rPr lang="en-US" dirty="0"/>
              <a:t>From the table above you see how some outcomes can result </a:t>
            </a:r>
          </a:p>
          <a:p>
            <a:r>
              <a:rPr lang="en-US" dirty="0"/>
              <a:t>from more combinations, thus have higher probability of happening.</a:t>
            </a:r>
          </a:p>
          <a:p>
            <a:endParaRPr lang="en-US" dirty="0"/>
          </a:p>
          <a:p>
            <a:r>
              <a:rPr lang="en-US" dirty="0"/>
              <a:t>Note: Events can be mutually exclusive, or not. </a:t>
            </a:r>
          </a:p>
          <a:p>
            <a:r>
              <a:rPr lang="en-US" dirty="0"/>
              <a:t>Also, events may be independent, or dependent on each other.</a:t>
            </a:r>
          </a:p>
        </p:txBody>
      </p:sp>
    </p:spTree>
    <p:extLst>
      <p:ext uri="{BB962C8B-B14F-4D97-AF65-F5344CB8AC3E}">
        <p14:creationId xmlns:p14="http://schemas.microsoft.com/office/powerpoint/2010/main" val="41246394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F33A883-0865-B144-AFA6-9A8B821FB9CB}"/>
              </a:ext>
            </a:extLst>
          </p:cNvPr>
          <p:cNvSpPr txBox="1"/>
          <p:nvPr/>
        </p:nvSpPr>
        <p:spPr>
          <a:xfrm>
            <a:off x="220717" y="283779"/>
            <a:ext cx="5728138" cy="5693866"/>
          </a:xfrm>
          <a:prstGeom prst="rect">
            <a:avLst/>
          </a:prstGeom>
          <a:noFill/>
        </p:spPr>
        <p:txBody>
          <a:bodyPr wrap="square" rtlCol="0">
            <a:spAutoFit/>
          </a:bodyPr>
          <a:lstStyle/>
          <a:p>
            <a:r>
              <a:rPr lang="en-US" b="1" dirty="0">
                <a:solidFill>
                  <a:srgbClr val="0070C0"/>
                </a:solidFill>
              </a:rPr>
              <a:t>Marginal Probability </a:t>
            </a:r>
            <a:r>
              <a:rPr lang="en-US" dirty="0"/>
              <a:t>= Simple Probability , a probability </a:t>
            </a:r>
          </a:p>
          <a:p>
            <a:r>
              <a:rPr lang="en-US" dirty="0"/>
              <a:t>of an independent event occurring.</a:t>
            </a:r>
          </a:p>
          <a:p>
            <a:endParaRPr lang="en-US" dirty="0"/>
          </a:p>
          <a:p>
            <a:r>
              <a:rPr lang="en-US" dirty="0"/>
              <a:t>The term “marginal variable” is used to refer to a subset </a:t>
            </a:r>
          </a:p>
          <a:p>
            <a:r>
              <a:rPr lang="en-US" dirty="0"/>
              <a:t>of variables in a table. They called “marginal” because they </a:t>
            </a:r>
          </a:p>
          <a:p>
            <a:r>
              <a:rPr lang="en-US" dirty="0"/>
              <a:t>used to be calculated by summing values in a table along </a:t>
            </a:r>
          </a:p>
          <a:p>
            <a:r>
              <a:rPr lang="en-US" dirty="0"/>
              <a:t>rows or columns , and writing the sum in the margins of the table.</a:t>
            </a:r>
          </a:p>
          <a:p>
            <a:endParaRPr lang="en-US" dirty="0"/>
          </a:p>
          <a:p>
            <a:r>
              <a:rPr lang="en-US" dirty="0"/>
              <a:t>Examples of assigning probability.</a:t>
            </a:r>
          </a:p>
          <a:p>
            <a:endParaRPr lang="en-US" dirty="0"/>
          </a:p>
          <a:p>
            <a:r>
              <a:rPr lang="en-US" b="1" dirty="0">
                <a:solidFill>
                  <a:srgbClr val="0070C0"/>
                </a:solidFill>
              </a:rPr>
              <a:t>Example 1. Tossing a coin.</a:t>
            </a:r>
          </a:p>
          <a:p>
            <a:endParaRPr lang="en-US" dirty="0"/>
          </a:p>
          <a:p>
            <a:r>
              <a:rPr lang="en-US" dirty="0"/>
              <a:t>Possible outcomes : (tails or heads).</a:t>
            </a:r>
          </a:p>
          <a:p>
            <a:r>
              <a:rPr lang="en-US" dirty="0"/>
              <a:t>Events (tails of heads) are mutually exclusive. </a:t>
            </a:r>
          </a:p>
          <a:p>
            <a:r>
              <a:rPr lang="en-US" dirty="0"/>
              <a:t>Their probabilities should be equal.</a:t>
            </a:r>
          </a:p>
          <a:p>
            <a:endParaRPr lang="en-US" dirty="0"/>
          </a:p>
          <a:p>
            <a:r>
              <a:rPr lang="en-US" dirty="0"/>
              <a:t>P</a:t>
            </a:r>
            <a:r>
              <a:rPr lang="en-US" baseline="-25000" dirty="0"/>
              <a:t>t</a:t>
            </a:r>
            <a:r>
              <a:rPr lang="en-US" dirty="0"/>
              <a:t> + P</a:t>
            </a:r>
            <a:r>
              <a:rPr lang="en-US" baseline="-25000" dirty="0"/>
              <a:t>h</a:t>
            </a:r>
            <a:r>
              <a:rPr lang="en-US" dirty="0"/>
              <a:t> = 1</a:t>
            </a:r>
          </a:p>
          <a:p>
            <a:r>
              <a:rPr lang="en-US" dirty="0"/>
              <a:t>P</a:t>
            </a:r>
            <a:r>
              <a:rPr lang="en-US" baseline="-25000" dirty="0"/>
              <a:t>t</a:t>
            </a:r>
            <a:r>
              <a:rPr lang="en-US" dirty="0"/>
              <a:t> = 0.5</a:t>
            </a:r>
          </a:p>
          <a:p>
            <a:r>
              <a:rPr lang="en-US" dirty="0"/>
              <a:t>P</a:t>
            </a:r>
            <a:r>
              <a:rPr lang="en-US" baseline="-25000" dirty="0"/>
              <a:t>h</a:t>
            </a:r>
            <a:r>
              <a:rPr lang="en-US" dirty="0"/>
              <a:t> = 0.5</a:t>
            </a:r>
          </a:p>
          <a:p>
            <a:endParaRPr lang="en-US" dirty="0"/>
          </a:p>
          <a:p>
            <a:r>
              <a:rPr lang="en-US" b="1" dirty="0">
                <a:solidFill>
                  <a:srgbClr val="0070C0"/>
                </a:solidFill>
              </a:rPr>
              <a:t>Example 2. Rolling a die.</a:t>
            </a:r>
          </a:p>
          <a:p>
            <a:endParaRPr lang="en-US" dirty="0"/>
          </a:p>
          <a:p>
            <a:r>
              <a:rPr lang="en-US" dirty="0"/>
              <a:t>Possible outcomes: (1,2,3,4,5,6).</a:t>
            </a:r>
          </a:p>
          <a:p>
            <a:r>
              <a:rPr lang="en-US" dirty="0"/>
              <a:t>They are mutually exclusive, probability equal, sum() = 1</a:t>
            </a:r>
          </a:p>
          <a:p>
            <a:r>
              <a:rPr lang="en-US" dirty="0"/>
              <a:t>So each probability = 1/6 = 0.167 3.</a:t>
            </a:r>
          </a:p>
        </p:txBody>
      </p:sp>
      <p:sp>
        <p:nvSpPr>
          <p:cNvPr id="5" name="TextBox 4">
            <a:extLst>
              <a:ext uri="{FF2B5EF4-FFF2-40B4-BE49-F238E27FC236}">
                <a16:creationId xmlns:a16="http://schemas.microsoft.com/office/drawing/2014/main" id="{4EFE259D-D05B-5F41-8BD0-9A4D34A8B30A}"/>
              </a:ext>
            </a:extLst>
          </p:cNvPr>
          <p:cNvSpPr txBox="1"/>
          <p:nvPr/>
        </p:nvSpPr>
        <p:spPr>
          <a:xfrm>
            <a:off x="6190593" y="663672"/>
            <a:ext cx="6001407" cy="3970318"/>
          </a:xfrm>
          <a:prstGeom prst="rect">
            <a:avLst/>
          </a:prstGeom>
          <a:noFill/>
        </p:spPr>
        <p:txBody>
          <a:bodyPr wrap="square" rtlCol="0">
            <a:spAutoFit/>
          </a:bodyPr>
          <a:lstStyle/>
          <a:p>
            <a:r>
              <a:rPr lang="en-US" b="1" dirty="0">
                <a:solidFill>
                  <a:srgbClr val="0070C0"/>
                </a:solidFill>
              </a:rPr>
              <a:t>Example 3. Job Search.</a:t>
            </a:r>
          </a:p>
          <a:p>
            <a:endParaRPr lang="en-US" dirty="0"/>
          </a:p>
          <a:p>
            <a:r>
              <a:rPr lang="en-US" dirty="0"/>
              <a:t>I get 2 emails with job descriptions every day, 10 per week.</a:t>
            </a:r>
          </a:p>
          <a:p>
            <a:endParaRPr lang="en-US" dirty="0"/>
          </a:p>
          <a:p>
            <a:r>
              <a:rPr lang="en-US" dirty="0"/>
              <a:t>Two of them may be a fit: 2 of 10 (0.2).</a:t>
            </a:r>
          </a:p>
          <a:p>
            <a:endParaRPr lang="en-US" dirty="0"/>
          </a:p>
          <a:p>
            <a:r>
              <a:rPr lang="en-US" dirty="0"/>
              <a:t>So I send an email that I am interested. </a:t>
            </a:r>
          </a:p>
          <a:p>
            <a:r>
              <a:rPr lang="en-US" dirty="0"/>
              <a:t>I am invited to every third position I requested (0.2/3 = 0.067)</a:t>
            </a:r>
          </a:p>
          <a:p>
            <a:endParaRPr lang="en-US" dirty="0"/>
          </a:p>
          <a:p>
            <a:r>
              <a:rPr lang="en-US" dirty="0"/>
              <a:t>And I get 1 position out of 10 initial interviews (0.0067).</a:t>
            </a:r>
          </a:p>
          <a:p>
            <a:endParaRPr lang="en-US" dirty="0"/>
          </a:p>
          <a:p>
            <a:r>
              <a:rPr lang="en-US" dirty="0"/>
              <a:t>So the probability that an incoming email will result </a:t>
            </a:r>
          </a:p>
          <a:p>
            <a:r>
              <a:rPr lang="en-US" dirty="0"/>
              <a:t>in a job is 0.0067, or ~1%. </a:t>
            </a:r>
          </a:p>
          <a:p>
            <a:r>
              <a:rPr lang="en-US" dirty="0"/>
              <a:t>So, I need to consider 100 positions (this will take 10 weeks), </a:t>
            </a:r>
          </a:p>
          <a:p>
            <a:r>
              <a:rPr lang="en-US" dirty="0"/>
              <a:t>send 20 emails asking to invite, go to 6..7 interviews, </a:t>
            </a:r>
          </a:p>
          <a:p>
            <a:r>
              <a:rPr lang="en-US" dirty="0"/>
              <a:t>and eventually get a job.</a:t>
            </a:r>
          </a:p>
          <a:p>
            <a:endParaRPr lang="en-US" dirty="0"/>
          </a:p>
          <a:p>
            <a:r>
              <a:rPr lang="en-US" dirty="0"/>
              <a:t>So job search takes 2..3 months.</a:t>
            </a:r>
          </a:p>
        </p:txBody>
      </p:sp>
    </p:spTree>
    <p:extLst>
      <p:ext uri="{BB962C8B-B14F-4D97-AF65-F5344CB8AC3E}">
        <p14:creationId xmlns:p14="http://schemas.microsoft.com/office/powerpoint/2010/main" val="8842660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258901"/>
            <a:ext cx="5675586" cy="6340197"/>
          </a:xfrm>
          <a:prstGeom prst="rect">
            <a:avLst/>
          </a:prstGeom>
          <a:noFill/>
        </p:spPr>
        <p:txBody>
          <a:bodyPr wrap="square" rtlCol="0">
            <a:spAutoFit/>
          </a:bodyPr>
          <a:lstStyle/>
          <a:p>
            <a:r>
              <a:rPr lang="en-US" b="1" dirty="0">
                <a:solidFill>
                  <a:srgbClr val="0070C0"/>
                </a:solidFill>
              </a:rPr>
              <a:t>Rules (Or, And, etc.)</a:t>
            </a:r>
          </a:p>
          <a:p>
            <a:endParaRPr lang="en-US" dirty="0"/>
          </a:p>
          <a:p>
            <a:r>
              <a:rPr lang="en-US" dirty="0"/>
              <a:t>Lets A be an event. </a:t>
            </a:r>
          </a:p>
          <a:p>
            <a:r>
              <a:rPr lang="en-US" dirty="0"/>
              <a:t>P(A) – </a:t>
            </a:r>
            <a:r>
              <a:rPr lang="en-US" dirty="0" err="1"/>
              <a:t>probabiltiy</a:t>
            </a:r>
            <a:r>
              <a:rPr lang="en-US" dirty="0"/>
              <a:t> of event A </a:t>
            </a:r>
          </a:p>
          <a:p>
            <a:r>
              <a:rPr lang="en-US" dirty="0"/>
              <a:t>then: P(A) + P(not A) = 1 </a:t>
            </a:r>
          </a:p>
          <a:p>
            <a:endParaRPr lang="en-US" dirty="0"/>
          </a:p>
          <a:p>
            <a:r>
              <a:rPr lang="en-US" dirty="0"/>
              <a:t>If A and B are events, then: </a:t>
            </a:r>
          </a:p>
          <a:p>
            <a:r>
              <a:rPr lang="en-US" dirty="0"/>
              <a:t>P(A or B) = P(A) + P(B) – P(A and B) </a:t>
            </a:r>
          </a:p>
          <a:p>
            <a:endParaRPr lang="en-US" dirty="0"/>
          </a:p>
          <a:p>
            <a:r>
              <a:rPr lang="en-US" dirty="0"/>
              <a:t>for mutually exclusive events P(A and B) = 0, </a:t>
            </a:r>
          </a:p>
          <a:p>
            <a:r>
              <a:rPr lang="en-US" dirty="0"/>
              <a:t>so P(A or B) = P(A) + P(B)</a:t>
            </a:r>
          </a:p>
          <a:p>
            <a:endParaRPr lang="en-US" dirty="0"/>
          </a:p>
          <a:p>
            <a:r>
              <a:rPr lang="en-US" b="1" dirty="0">
                <a:solidFill>
                  <a:srgbClr val="0070C0"/>
                </a:solidFill>
              </a:rPr>
              <a:t>Venn Diagrams</a:t>
            </a:r>
          </a:p>
          <a:p>
            <a:endParaRPr lang="en-US" dirty="0"/>
          </a:p>
          <a:p>
            <a:r>
              <a:rPr lang="en-US" dirty="0"/>
              <a:t>Venn Diagrams = Graphical representation of events as circles.</a:t>
            </a:r>
          </a:p>
          <a:p>
            <a:r>
              <a:rPr lang="en-US" dirty="0"/>
              <a:t>See many examples – just google images for: Venn Diagram A or B.</a:t>
            </a:r>
          </a:p>
          <a:p>
            <a:endParaRPr lang="en-US" dirty="0"/>
          </a:p>
          <a:p>
            <a:r>
              <a:rPr lang="en-US" dirty="0"/>
              <a:t>For example, this image shows Intersection (A and B),</a:t>
            </a:r>
          </a:p>
          <a:p>
            <a:r>
              <a:rPr lang="en-US" dirty="0"/>
              <a:t>negation of intersection (A but not B, or B but not A),</a:t>
            </a:r>
          </a:p>
          <a:p>
            <a:r>
              <a:rPr lang="en-US" dirty="0"/>
              <a:t>union (A or B), and subtraction (A but not B) :</a:t>
            </a:r>
          </a:p>
          <a:p>
            <a:endParaRPr lang="en-US" dirty="0"/>
          </a:p>
          <a:p>
            <a:r>
              <a:rPr lang="en-US" dirty="0"/>
              <a:t>Conditional Probability</a:t>
            </a:r>
          </a:p>
          <a:p>
            <a:r>
              <a:rPr lang="en-US" dirty="0"/>
              <a:t>P(A|B) – probability of A given that B has occurred.</a:t>
            </a:r>
          </a:p>
          <a:p>
            <a:r>
              <a:rPr lang="en-US" dirty="0"/>
              <a:t>P(A|B) = P(A and B) / P(B) (if P(B) is not zero)</a:t>
            </a:r>
          </a:p>
          <a:p>
            <a:endParaRPr lang="en-US" dirty="0"/>
          </a:p>
          <a:p>
            <a:r>
              <a:rPr lang="en-US" dirty="0"/>
              <a:t>If A &amp; B are independent form each other, then:</a:t>
            </a:r>
          </a:p>
          <a:p>
            <a:r>
              <a:rPr lang="en-US" dirty="0"/>
              <a:t>P(A|B) = P(A)</a:t>
            </a:r>
          </a:p>
          <a:p>
            <a:r>
              <a:rPr lang="en-US" dirty="0"/>
              <a:t>P(B|A) = P(B)</a:t>
            </a:r>
          </a:p>
        </p:txBody>
      </p:sp>
      <p:pic>
        <p:nvPicPr>
          <p:cNvPr id="2" name="Picture 1">
            <a:extLst>
              <a:ext uri="{FF2B5EF4-FFF2-40B4-BE49-F238E27FC236}">
                <a16:creationId xmlns:a16="http://schemas.microsoft.com/office/drawing/2014/main" id="{53B9C2FE-C703-344E-807C-1F34D0C8391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695908" y="258901"/>
            <a:ext cx="5143166" cy="6227906"/>
          </a:xfrm>
          <a:prstGeom prst="rect">
            <a:avLst/>
          </a:prstGeom>
        </p:spPr>
      </p:pic>
    </p:spTree>
    <p:extLst>
      <p:ext uri="{BB962C8B-B14F-4D97-AF65-F5344CB8AC3E}">
        <p14:creationId xmlns:p14="http://schemas.microsoft.com/office/powerpoint/2010/main" val="3345387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133424-AF22-CA4F-9D1C-1219C4769656}"/>
              </a:ext>
            </a:extLst>
          </p:cNvPr>
          <p:cNvSpPr txBox="1"/>
          <p:nvPr/>
        </p:nvSpPr>
        <p:spPr>
          <a:xfrm>
            <a:off x="6505765" y="4242179"/>
            <a:ext cx="5517931" cy="2462213"/>
          </a:xfrm>
          <a:prstGeom prst="rect">
            <a:avLst/>
          </a:prstGeom>
          <a:noFill/>
        </p:spPr>
        <p:txBody>
          <a:bodyPr wrap="square" rtlCol="0">
            <a:spAutoFit/>
          </a:bodyPr>
          <a:lstStyle/>
          <a:p>
            <a:r>
              <a:rPr lang="en-US" dirty="0"/>
              <a:t>For proposition A and evidence B,</a:t>
            </a:r>
          </a:p>
          <a:p>
            <a:r>
              <a:rPr lang="en-US" dirty="0"/>
              <a:t>P(A), the prior, is the initial degree of belief in A.</a:t>
            </a:r>
          </a:p>
          <a:p>
            <a:r>
              <a:rPr lang="en-US" dirty="0"/>
              <a:t>P(A|B), the posterior, is the degree of belief having accounted for B.</a:t>
            </a:r>
          </a:p>
          <a:p>
            <a:r>
              <a:rPr lang="en-US" dirty="0"/>
              <a:t>P(B|A)/P(B) – represents the support B provides for A.</a:t>
            </a:r>
          </a:p>
          <a:p>
            <a:endParaRPr lang="en-US" dirty="0"/>
          </a:p>
          <a:p>
            <a:r>
              <a:rPr lang="en-US" dirty="0"/>
              <a:t>See also Bayesian inference.</a:t>
            </a:r>
          </a:p>
          <a:p>
            <a:r>
              <a:rPr lang="en-US" dirty="0"/>
              <a:t>– https://</a:t>
            </a:r>
            <a:r>
              <a:rPr lang="en-US" dirty="0" err="1"/>
              <a:t>en.wikipedia.org</a:t>
            </a:r>
            <a:r>
              <a:rPr lang="en-US" dirty="0"/>
              <a:t>/wiki/</a:t>
            </a:r>
            <a:r>
              <a:rPr lang="en-US" dirty="0" err="1"/>
              <a:t>Bayesian_inference</a:t>
            </a:r>
            <a:endParaRPr lang="en-US" dirty="0"/>
          </a:p>
          <a:p>
            <a:endParaRPr lang="en-US" dirty="0"/>
          </a:p>
          <a:p>
            <a:r>
              <a:rPr lang="en-US" dirty="0"/>
              <a:t>Bayesian inference is a method of statistical inference in which</a:t>
            </a:r>
          </a:p>
          <a:p>
            <a:r>
              <a:rPr lang="en-US" dirty="0"/>
              <a:t>Bayes’ theorem is used to update the probability for a hypothesis</a:t>
            </a:r>
          </a:p>
          <a:p>
            <a:r>
              <a:rPr lang="en-US" dirty="0"/>
              <a:t>as more evidence or information becomes available.</a:t>
            </a:r>
          </a:p>
        </p:txBody>
      </p:sp>
      <p:sp>
        <p:nvSpPr>
          <p:cNvPr id="5" name="TextBox 4">
            <a:extLst>
              <a:ext uri="{FF2B5EF4-FFF2-40B4-BE49-F238E27FC236}">
                <a16:creationId xmlns:a16="http://schemas.microsoft.com/office/drawing/2014/main" id="{DB6CFF65-663B-CB43-B815-53184C5B9CE5}"/>
              </a:ext>
            </a:extLst>
          </p:cNvPr>
          <p:cNvSpPr txBox="1"/>
          <p:nvPr/>
        </p:nvSpPr>
        <p:spPr>
          <a:xfrm>
            <a:off x="84083" y="86343"/>
            <a:ext cx="6011917" cy="6771084"/>
          </a:xfrm>
          <a:prstGeom prst="rect">
            <a:avLst/>
          </a:prstGeom>
          <a:noFill/>
        </p:spPr>
        <p:txBody>
          <a:bodyPr wrap="square" rtlCol="0">
            <a:spAutoFit/>
          </a:bodyPr>
          <a:lstStyle/>
          <a:p>
            <a:r>
              <a:rPr lang="en-US" dirty="0"/>
              <a:t>Bayes’ Theorem (Law, Rule)</a:t>
            </a:r>
          </a:p>
          <a:p>
            <a:r>
              <a:rPr lang="en-US" dirty="0"/>
              <a:t>– </a:t>
            </a:r>
            <a:r>
              <a:rPr lang="en-US" dirty="0">
                <a:hlinkClick r:id="rId2"/>
              </a:rPr>
              <a:t>https://en.wikipedia.org/wiki/Thomas_Bayes</a:t>
            </a:r>
            <a:r>
              <a:rPr lang="en-US" dirty="0"/>
              <a:t> - </a:t>
            </a:r>
            <a:br>
              <a:rPr lang="en-US" dirty="0"/>
            </a:br>
            <a:r>
              <a:rPr lang="en-US" dirty="0"/>
              <a:t>– </a:t>
            </a:r>
            <a:r>
              <a:rPr lang="en-US" dirty="0">
                <a:hlinkClick r:id="rId3"/>
              </a:rPr>
              <a:t>https://</a:t>
            </a:r>
            <a:r>
              <a:rPr lang="en-US" dirty="0" err="1">
                <a:hlinkClick r:id="rId3"/>
              </a:rPr>
              <a:t>en.wikipedia.org</a:t>
            </a:r>
            <a:r>
              <a:rPr lang="en-US" dirty="0">
                <a:hlinkClick r:id="rId3"/>
              </a:rPr>
              <a:t>/wiki/Bayes%27_theorem</a:t>
            </a:r>
            <a:r>
              <a:rPr lang="en-US" dirty="0"/>
              <a:t> –</a:t>
            </a:r>
          </a:p>
          <a:p>
            <a:r>
              <a:rPr lang="en-US" dirty="0"/>
              <a:t>– </a:t>
            </a:r>
            <a:r>
              <a:rPr lang="en-US" dirty="0">
                <a:hlinkClick r:id="rId4"/>
              </a:rPr>
              <a:t>https://</a:t>
            </a:r>
            <a:r>
              <a:rPr lang="en-US" dirty="0" err="1">
                <a:hlinkClick r:id="rId4"/>
              </a:rPr>
              <a:t>en.wikipedia.org</a:t>
            </a:r>
            <a:r>
              <a:rPr lang="en-US" dirty="0">
                <a:hlinkClick r:id="rId4"/>
              </a:rPr>
              <a:t>/wiki/</a:t>
            </a:r>
            <a:r>
              <a:rPr lang="en-US" dirty="0" err="1">
                <a:hlinkClick r:id="rId4"/>
              </a:rPr>
              <a:t>Bayesian_inference</a:t>
            </a:r>
            <a:r>
              <a:rPr lang="en-US" dirty="0"/>
              <a:t> –</a:t>
            </a:r>
          </a:p>
          <a:p>
            <a:endParaRPr lang="en-US" dirty="0"/>
          </a:p>
          <a:p>
            <a:r>
              <a:rPr lang="en-US" dirty="0"/>
              <a:t>P(A|B) = P(B|A)*P(A)/P(B)</a:t>
            </a:r>
          </a:p>
          <a:p>
            <a:endParaRPr lang="en-US" dirty="0"/>
          </a:p>
          <a:p>
            <a:r>
              <a:rPr lang="en-US" dirty="0"/>
              <a:t>where A and B are events and P(B) not equal 0.</a:t>
            </a:r>
          </a:p>
          <a:p>
            <a:endParaRPr lang="en-US" dirty="0"/>
          </a:p>
          <a:p>
            <a:r>
              <a:rPr lang="en-US" dirty="0"/>
              <a:t>Frequentist interpretation of Bayes’ theorem.</a:t>
            </a:r>
          </a:p>
          <a:p>
            <a:r>
              <a:rPr lang="en-US" dirty="0"/>
              <a:t>Probability measures a proportion of outcomes.</a:t>
            </a:r>
          </a:p>
          <a:p>
            <a:r>
              <a:rPr lang="en-US" dirty="0"/>
              <a:t>Suppose an experiment is performed many times.</a:t>
            </a:r>
          </a:p>
          <a:p>
            <a:endParaRPr lang="en-US" dirty="0"/>
          </a:p>
          <a:p>
            <a:r>
              <a:rPr lang="en-US" dirty="0"/>
              <a:t>P(A) is the proportion of outcomes with property A,</a:t>
            </a:r>
          </a:p>
          <a:p>
            <a:r>
              <a:rPr lang="en-US" dirty="0"/>
              <a:t>and P(B) that with property B.</a:t>
            </a:r>
          </a:p>
          <a:p>
            <a:endParaRPr lang="en-US" dirty="0"/>
          </a:p>
          <a:p>
            <a:r>
              <a:rPr lang="en-US" dirty="0"/>
              <a:t>P(B|A) is the proportion of outcomes with property B </a:t>
            </a:r>
          </a:p>
          <a:p>
            <a:r>
              <a:rPr lang="en-US" dirty="0"/>
              <a:t>out of outcomes with property A,</a:t>
            </a:r>
          </a:p>
          <a:p>
            <a:endParaRPr lang="en-US" dirty="0"/>
          </a:p>
          <a:p>
            <a:r>
              <a:rPr lang="en-US" dirty="0"/>
              <a:t>and P(A|B) the proportion of those with A out of those with B.</a:t>
            </a:r>
          </a:p>
          <a:p>
            <a:endParaRPr lang="en-US" dirty="0"/>
          </a:p>
          <a:p>
            <a:r>
              <a:rPr lang="en-US" dirty="0"/>
              <a:t>Bayesian interpretation of Bayes’ theorem.</a:t>
            </a:r>
          </a:p>
          <a:p>
            <a:r>
              <a:rPr lang="en-US" dirty="0"/>
              <a:t>Probability measures a degree of belief.</a:t>
            </a:r>
          </a:p>
          <a:p>
            <a:r>
              <a:rPr lang="en-US" dirty="0"/>
              <a:t>Bayes’ theorem then links the degree of belief in a proposition before (A)</a:t>
            </a:r>
          </a:p>
          <a:p>
            <a:r>
              <a:rPr lang="en-US" dirty="0"/>
              <a:t>and after (B) accounting for evidence.</a:t>
            </a:r>
          </a:p>
          <a:p>
            <a:endParaRPr lang="en-US" dirty="0"/>
          </a:p>
          <a:p>
            <a:r>
              <a:rPr lang="en-US" dirty="0"/>
              <a:t>For example, suppose it is believed with 50% certainty </a:t>
            </a:r>
          </a:p>
          <a:p>
            <a:r>
              <a:rPr lang="en-US" dirty="0"/>
              <a:t>that a coin is twice as likely to land heads than tails.</a:t>
            </a:r>
          </a:p>
          <a:p>
            <a:r>
              <a:rPr lang="en-US" dirty="0"/>
              <a:t>If the coin is flipped a number of times and the outcomes observed,</a:t>
            </a:r>
          </a:p>
          <a:p>
            <a:r>
              <a:rPr lang="en-US" dirty="0"/>
              <a:t>then that degree of belief may rise, fall or </a:t>
            </a:r>
          </a:p>
          <a:p>
            <a:r>
              <a:rPr lang="en-US" dirty="0"/>
              <a:t>remain the same depending on the results.</a:t>
            </a:r>
          </a:p>
        </p:txBody>
      </p:sp>
      <p:pic>
        <p:nvPicPr>
          <p:cNvPr id="3" name="Picture 2">
            <a:extLst>
              <a:ext uri="{FF2B5EF4-FFF2-40B4-BE49-F238E27FC236}">
                <a16:creationId xmlns:a16="http://schemas.microsoft.com/office/drawing/2014/main" id="{5C70D884-EC0B-1A48-94E2-CD2923F3622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070850" y="177588"/>
            <a:ext cx="3822700" cy="2044700"/>
          </a:xfrm>
          <a:prstGeom prst="rect">
            <a:avLst/>
          </a:prstGeom>
        </p:spPr>
      </p:pic>
      <p:sp>
        <p:nvSpPr>
          <p:cNvPr id="6" name="TextBox 5">
            <a:extLst>
              <a:ext uri="{FF2B5EF4-FFF2-40B4-BE49-F238E27FC236}">
                <a16:creationId xmlns:a16="http://schemas.microsoft.com/office/drawing/2014/main" id="{6CB6F775-63F0-274F-A53D-9922B5035949}"/>
              </a:ext>
            </a:extLst>
          </p:cNvPr>
          <p:cNvSpPr txBox="1"/>
          <p:nvPr/>
        </p:nvSpPr>
        <p:spPr>
          <a:xfrm>
            <a:off x="8404392" y="2322095"/>
            <a:ext cx="3489158" cy="307777"/>
          </a:xfrm>
          <a:prstGeom prst="rect">
            <a:avLst/>
          </a:prstGeom>
          <a:noFill/>
        </p:spPr>
        <p:txBody>
          <a:bodyPr wrap="square" rtlCol="0">
            <a:spAutoFit/>
          </a:bodyPr>
          <a:lstStyle/>
          <a:p>
            <a:r>
              <a:rPr lang="en-US" dirty="0" err="1"/>
              <a:t>Thomas_Bayes</a:t>
            </a:r>
            <a:r>
              <a:rPr lang="en-US" dirty="0"/>
              <a:t> – (/’</a:t>
            </a:r>
            <a:r>
              <a:rPr lang="en-US" dirty="0" err="1"/>
              <a:t>be?z</a:t>
            </a:r>
            <a:r>
              <a:rPr lang="en-US" dirty="0"/>
              <a:t>/; 1701–1761)</a:t>
            </a:r>
          </a:p>
        </p:txBody>
      </p:sp>
    </p:spTree>
    <p:extLst>
      <p:ext uri="{BB962C8B-B14F-4D97-AF65-F5344CB8AC3E}">
        <p14:creationId xmlns:p14="http://schemas.microsoft.com/office/powerpoint/2010/main" val="822577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45811" y="978513"/>
                <a:ext cx="6187097" cy="2739291"/>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45811" y="978513"/>
                <a:ext cx="6187097" cy="2739291"/>
              </a:xfrm>
              <a:prstGeom prst="rect">
                <a:avLst/>
              </a:prstGeom>
              <a:blipFill>
                <a:blip r:embed="rId3"/>
                <a:stretch>
                  <a:fillRect l="-2051" t="-1743"/>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6532782" y="3589349"/>
            <a:ext cx="5637488" cy="327820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0" i="0" u="none" strike="noStrike" cap="none" dirty="0">
                <a:solidFill>
                  <a:schemeClr val="dk1"/>
                </a:solidFill>
                <a:latin typeface="Calibri"/>
                <a:ea typeface="Calibri"/>
                <a:cs typeface="Calibri"/>
                <a:sym typeface="Calibri"/>
              </a:rPr>
              <a:t>Intuitive explanation of Bayesian rule (on the left). </a:t>
            </a:r>
          </a:p>
          <a:p>
            <a:pPr marL="0" marR="0" lvl="0" indent="0" algn="l" rtl="0">
              <a:spcBef>
                <a:spcPts val="0"/>
              </a:spcBef>
              <a:spcAft>
                <a:spcPts val="0"/>
              </a:spcAft>
              <a:buNone/>
            </a:pPr>
            <a:r>
              <a:rPr lang="en-US" sz="1800"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 = 10% = probability of being rich given that Happy</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You can calculate green intersection using two methods:</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P(A|B)*P(B) = 80%*5% = 4%</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587787"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Thomas Bayes </a:t>
            </a:r>
            <a:br>
              <a:rPr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(1701–1761)</a:t>
            </a:r>
            <a:endParaRPr sz="180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351783" y="0"/>
            <a:ext cx="1818487" cy="2213811"/>
          </a:xfrm>
          <a:prstGeom prst="rect">
            <a:avLst/>
          </a:prstGeom>
          <a:noFill/>
          <a:ln>
            <a:noFill/>
          </a:ln>
        </p:spPr>
      </p:pic>
      <p:sp>
        <p:nvSpPr>
          <p:cNvPr id="96" name="Google Shape;96;p13"/>
          <p:cNvSpPr/>
          <p:nvPr/>
        </p:nvSpPr>
        <p:spPr>
          <a:xfrm>
            <a:off x="523454" y="4272171"/>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1166937" y="4576971"/>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3342855" y="5008818"/>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2068401" y="5008818"/>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Happy</a:t>
            </a:r>
            <a:endParaRPr sz="2400" b="1" dirty="0">
              <a:solidFill>
                <a:srgbClr val="FF0000"/>
              </a:solidFill>
              <a:latin typeface="Calibri"/>
              <a:ea typeface="Calibri"/>
              <a:cs typeface="Calibri"/>
              <a:sym typeface="Calibri"/>
            </a:endParaRPr>
          </a:p>
        </p:txBody>
      </p:sp>
      <p:sp>
        <p:nvSpPr>
          <p:cNvPr id="100" name="Google Shape;100;p13"/>
          <p:cNvSpPr txBox="1"/>
          <p:nvPr/>
        </p:nvSpPr>
        <p:spPr>
          <a:xfrm>
            <a:off x="3903802" y="5014208"/>
            <a:ext cx="1083013"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Rich</a:t>
            </a:r>
            <a:endParaRPr sz="2400" b="1" dirty="0">
              <a:solidFill>
                <a:srgbClr val="FF0000"/>
              </a:solidFill>
              <a:latin typeface="Calibri"/>
              <a:ea typeface="Calibri"/>
              <a:cs typeface="Calibri"/>
              <a:sym typeface="Calibri"/>
            </a:endParaRPr>
          </a:p>
        </p:txBody>
      </p:sp>
      <p:sp>
        <p:nvSpPr>
          <p:cNvPr id="101" name="Google Shape;101;p13"/>
          <p:cNvSpPr txBox="1"/>
          <p:nvPr/>
        </p:nvSpPr>
        <p:spPr>
          <a:xfrm>
            <a:off x="3693291" y="4254614"/>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903091" y="1553411"/>
            <a:ext cx="2946400" cy="660400"/>
          </a:xfrm>
          <a:prstGeom prst="rect">
            <a:avLst/>
          </a:prstGeom>
          <a:noFill/>
          <a:ln w="50800" cap="flat" cmpd="sng">
            <a:solidFill>
              <a:srgbClr val="00B050"/>
            </a:solidFill>
            <a:prstDash val="solid"/>
            <a:round/>
            <a:headEnd type="none" w="sm" len="sm"/>
            <a:tailEnd type="none" w="sm" len="sm"/>
          </a:ln>
        </p:spPr>
      </p:pic>
    </p:spTree>
    <p:extLst>
      <p:ext uri="{BB962C8B-B14F-4D97-AF65-F5344CB8AC3E}">
        <p14:creationId xmlns:p14="http://schemas.microsoft.com/office/powerpoint/2010/main" val="4149736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185221" y="4350908"/>
            <a:ext cx="5929952" cy="2462213"/>
          </a:xfrm>
          <a:prstGeom prst="rect">
            <a:avLst/>
          </a:prstGeom>
          <a:noFill/>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hypotheses – and compute their probabilities.</a:t>
            </a:r>
          </a:p>
          <a:p>
            <a:r>
              <a:rPr lang="en-US" dirty="0"/>
              <a:t>    We make a (subjective) choice of “prior” (model, distribution)</a:t>
            </a:r>
          </a:p>
          <a:p>
            <a:r>
              <a:rPr lang="en-US" dirty="0"/>
              <a:t>    and produce posterior distribution.</a:t>
            </a:r>
          </a:p>
          <a:p>
            <a:r>
              <a:rPr lang="en-US" dirty="0"/>
              <a:t>    Allows for complex decision analysis under uncertainty.</a:t>
            </a:r>
          </a:p>
          <a:p>
            <a:endParaRPr lang="en-US" b="1" dirty="0">
              <a:solidFill>
                <a:srgbClr val="FF0000"/>
              </a:solidFill>
            </a:endParaRPr>
          </a:p>
        </p:txBody>
      </p:sp>
      <p:sp>
        <p:nvSpPr>
          <p:cNvPr id="6" name="TextBox 5">
            <a:extLst>
              <a:ext uri="{FF2B5EF4-FFF2-40B4-BE49-F238E27FC236}">
                <a16:creationId xmlns:a16="http://schemas.microsoft.com/office/drawing/2014/main" id="{D86CA22F-D1DB-184B-8C0D-193FFD538439}"/>
              </a:ext>
            </a:extLst>
          </p:cNvPr>
          <p:cNvSpPr txBox="1"/>
          <p:nvPr/>
        </p:nvSpPr>
        <p:spPr>
          <a:xfrm>
            <a:off x="6985379" y="682726"/>
            <a:ext cx="5206621" cy="1815882"/>
          </a:xfrm>
          <a:prstGeom prst="rect">
            <a:avLst/>
          </a:prstGeom>
          <a:noFill/>
        </p:spPr>
        <p:txBody>
          <a:bodyPr wrap="square" rtlCol="0">
            <a:spAutoFit/>
          </a:bodyPr>
          <a:lstStyle/>
          <a:p>
            <a:r>
              <a:rPr lang="en-US" b="1" dirty="0">
                <a:solidFill>
                  <a:srgbClr val="FF0000"/>
                </a:solidFill>
              </a:rPr>
              <a:t>Example1: </a:t>
            </a:r>
            <a:r>
              <a:rPr lang="en-US" dirty="0"/>
              <a:t>Polling, two candidates: Alice &amp; Bob.</a:t>
            </a:r>
          </a:p>
          <a:p>
            <a:r>
              <a:rPr lang="en-US" dirty="0"/>
              <a:t>52% of polled voters intend to vote for Alice.</a:t>
            </a:r>
          </a:p>
          <a:p>
            <a:r>
              <a:rPr lang="en-US" dirty="0"/>
              <a:t>Confidence interval [42%,62%], p-value = 0.34</a:t>
            </a:r>
          </a:p>
          <a:p>
            <a:r>
              <a:rPr lang="en-US" dirty="0"/>
              <a:t>What is the probability that Alice will win ?</a:t>
            </a:r>
          </a:p>
          <a:p>
            <a:r>
              <a:rPr lang="en-US" dirty="0"/>
              <a:t>Classical frequentist approach can not answer this question.</a:t>
            </a:r>
          </a:p>
          <a:p>
            <a:r>
              <a:rPr lang="en-US" dirty="0"/>
              <a:t>Bayesian method – result is a posterior distribution of possible </a:t>
            </a:r>
          </a:p>
          <a:p>
            <a:r>
              <a:rPr lang="en-US" dirty="0"/>
              <a:t>outcomes based on data.</a:t>
            </a:r>
          </a:p>
          <a:p>
            <a:r>
              <a:rPr lang="en-US" dirty="0"/>
              <a:t>Thus you can get your answer.</a:t>
            </a:r>
          </a:p>
        </p:txBody>
      </p:sp>
      <p:sp>
        <p:nvSpPr>
          <p:cNvPr id="7" name="TextBox 6">
            <a:extLst>
              <a:ext uri="{FF2B5EF4-FFF2-40B4-BE49-F238E27FC236}">
                <a16:creationId xmlns:a16="http://schemas.microsoft.com/office/drawing/2014/main" id="{E88A1638-21E4-C746-A837-4CF59231442C}"/>
              </a:ext>
            </a:extLst>
          </p:cNvPr>
          <p:cNvSpPr txBox="1"/>
          <p:nvPr/>
        </p:nvSpPr>
        <p:spPr>
          <a:xfrm>
            <a:off x="6985379" y="2596582"/>
            <a:ext cx="5206621" cy="1600438"/>
          </a:xfrm>
          <a:prstGeom prst="rect">
            <a:avLst/>
          </a:prstGeom>
          <a:noFill/>
        </p:spPr>
        <p:txBody>
          <a:bodyPr wrap="square" rtlCol="0">
            <a:spAutoFit/>
          </a:bodyPr>
          <a:lstStyle/>
          <a:p>
            <a:r>
              <a:rPr lang="en-US" b="1" dirty="0">
                <a:solidFill>
                  <a:srgbClr val="FF0000"/>
                </a:solidFill>
              </a:rPr>
              <a:t>Example2:</a:t>
            </a:r>
            <a:r>
              <a:rPr lang="en-US" dirty="0"/>
              <a:t> comparing two drugs A &amp; B.</a:t>
            </a:r>
          </a:p>
          <a:p>
            <a:r>
              <a:rPr lang="en-US" dirty="0"/>
              <a:t>A is better than B with p value &lt; 0.001</a:t>
            </a:r>
          </a:p>
          <a:p>
            <a:r>
              <a:rPr lang="en-US" dirty="0"/>
              <a:t>A is more expensive.</a:t>
            </a:r>
          </a:p>
          <a:p>
            <a:r>
              <a:rPr lang="en-US" dirty="0"/>
              <a:t>Which drug should we prescribe?</a:t>
            </a:r>
          </a:p>
          <a:p>
            <a:r>
              <a:rPr lang="en-US" dirty="0"/>
              <a:t>Cost-benefit. </a:t>
            </a:r>
          </a:p>
          <a:p>
            <a:r>
              <a:rPr lang="en-US" dirty="0"/>
              <a:t>Suppose we get predicted probability of survival with A and B.</a:t>
            </a:r>
          </a:p>
          <a:p>
            <a:r>
              <a:rPr lang="en-US" dirty="0"/>
              <a:t>We could then compute dollars per life saved. </a:t>
            </a:r>
          </a:p>
        </p:txBody>
      </p:sp>
      <p:sp>
        <p:nvSpPr>
          <p:cNvPr id="8" name="TextBox 7">
            <a:extLst>
              <a:ext uri="{FF2B5EF4-FFF2-40B4-BE49-F238E27FC236}">
                <a16:creationId xmlns:a16="http://schemas.microsoft.com/office/drawing/2014/main" id="{81EB3310-1369-7647-9FF9-5016F01991CC}"/>
              </a:ext>
            </a:extLst>
          </p:cNvPr>
          <p:cNvSpPr txBox="1"/>
          <p:nvPr/>
        </p:nvSpPr>
        <p:spPr>
          <a:xfrm>
            <a:off x="6985379" y="4294994"/>
            <a:ext cx="5206621" cy="954107"/>
          </a:xfrm>
          <a:prstGeom prst="rect">
            <a:avLst/>
          </a:prstGeom>
          <a:noFill/>
        </p:spPr>
        <p:txBody>
          <a:bodyPr wrap="square" rtlCol="0">
            <a:spAutoFit/>
          </a:bodyPr>
          <a:lstStyle/>
          <a:p>
            <a:r>
              <a:rPr lang="en-US" b="1" dirty="0">
                <a:solidFill>
                  <a:srgbClr val="FF0000"/>
                </a:solidFill>
              </a:rPr>
              <a:t>Example3:</a:t>
            </a:r>
            <a:r>
              <a:rPr lang="en-US" dirty="0"/>
              <a:t> Guessing game</a:t>
            </a:r>
          </a:p>
          <a:p>
            <a:r>
              <a:rPr lang="en-US" dirty="0"/>
              <a:t>You see the prize – and guess the price</a:t>
            </a:r>
          </a:p>
          <a:p>
            <a:r>
              <a:rPr lang="en-US" dirty="0"/>
              <a:t>Opponent sees a different prize – and guesses the price.</a:t>
            </a:r>
          </a:p>
          <a:p>
            <a:r>
              <a:rPr lang="en-US" dirty="0"/>
              <a:t>Whoever is closer (without going over) wins.</a:t>
            </a:r>
          </a:p>
        </p:txBody>
      </p:sp>
      <p:sp>
        <p:nvSpPr>
          <p:cNvPr id="9" name="TextBox 8">
            <a:extLst>
              <a:ext uri="{FF2B5EF4-FFF2-40B4-BE49-F238E27FC236}">
                <a16:creationId xmlns:a16="http://schemas.microsoft.com/office/drawing/2014/main" id="{9D171819-C6E6-4541-8406-01258005E5A5}"/>
              </a:ext>
            </a:extLst>
          </p:cNvPr>
          <p:cNvSpPr txBox="1"/>
          <p:nvPr/>
        </p:nvSpPr>
        <p:spPr>
          <a:xfrm>
            <a:off x="185220" y="4043131"/>
            <a:ext cx="5595582" cy="307777"/>
          </a:xfrm>
          <a:prstGeom prst="rect">
            <a:avLst/>
          </a:prstGeom>
          <a:noFill/>
        </p:spPr>
        <p:txBody>
          <a:bodyPr wrap="square" rtlCol="0">
            <a:spAutoFit/>
          </a:bodyPr>
          <a:lstStyle/>
          <a:p>
            <a:r>
              <a:rPr lang="en-US" dirty="0"/>
              <a:t>Allen Downey – </a:t>
            </a:r>
            <a:r>
              <a:rPr lang="en-US" dirty="0">
                <a:hlinkClick r:id="rId2"/>
              </a:rPr>
              <a:t>https://www.youtube.com/watch?v=R6d-AbkhBQ8</a:t>
            </a:r>
            <a:r>
              <a:rPr lang="en-US" dirty="0"/>
              <a:t> </a:t>
            </a:r>
          </a:p>
        </p:txBody>
      </p:sp>
      <p:sp>
        <p:nvSpPr>
          <p:cNvPr id="10" name="TextBox 9">
            <a:extLst>
              <a:ext uri="{FF2B5EF4-FFF2-40B4-BE49-F238E27FC236}">
                <a16:creationId xmlns:a16="http://schemas.microsoft.com/office/drawing/2014/main" id="{E9BADB20-D64C-6847-BE85-8D8A5503503B}"/>
              </a:ext>
            </a:extLst>
          </p:cNvPr>
          <p:cNvSpPr txBox="1"/>
          <p:nvPr/>
        </p:nvSpPr>
        <p:spPr>
          <a:xfrm>
            <a:off x="6985379" y="5526100"/>
            <a:ext cx="5206621" cy="307777"/>
          </a:xfrm>
          <a:prstGeom prst="rect">
            <a:avLst/>
          </a:prstGeom>
          <a:noFill/>
        </p:spPr>
        <p:txBody>
          <a:bodyPr wrap="square" rtlCol="0">
            <a:spAutoFit/>
          </a:bodyPr>
          <a:lstStyle/>
          <a:p>
            <a:r>
              <a:rPr lang="en-US" b="1" dirty="0">
                <a:solidFill>
                  <a:srgbClr val="FF0000"/>
                </a:solidFill>
              </a:rPr>
              <a:t>Example4: </a:t>
            </a:r>
            <a:r>
              <a:rPr lang="en-US" dirty="0"/>
              <a:t>MCMC (Markov-Chain Monte-Carlo)</a:t>
            </a:r>
          </a:p>
        </p:txBody>
      </p:sp>
      <p:sp>
        <p:nvSpPr>
          <p:cNvPr id="2" name="TextBox 1">
            <a:extLst>
              <a:ext uri="{FF2B5EF4-FFF2-40B4-BE49-F238E27FC236}">
                <a16:creationId xmlns:a16="http://schemas.microsoft.com/office/drawing/2014/main" id="{809CB213-96B1-CD42-937A-368036DCD1E0}"/>
              </a:ext>
            </a:extLst>
          </p:cNvPr>
          <p:cNvSpPr txBox="1"/>
          <p:nvPr/>
        </p:nvSpPr>
        <p:spPr>
          <a:xfrm>
            <a:off x="353867" y="868569"/>
            <a:ext cx="5560001" cy="2677656"/>
          </a:xfrm>
          <a:prstGeom prst="rect">
            <a:avLst/>
          </a:prstGeom>
          <a:noFill/>
        </p:spPr>
        <p:txBody>
          <a:bodyPr wrap="square" rtlCol="0">
            <a:spAutoFit/>
          </a:bodyPr>
          <a:lstStyle/>
          <a:p>
            <a:r>
              <a:rPr lang="en-US" dirty="0"/>
              <a:t>The </a:t>
            </a:r>
            <a:r>
              <a:rPr lang="en-US" b="1" dirty="0">
                <a:solidFill>
                  <a:srgbClr val="FF0000"/>
                </a:solidFill>
              </a:rPr>
              <a:t>Frequentist</a:t>
            </a:r>
            <a:r>
              <a:rPr lang="en-US" dirty="0"/>
              <a:t> see probability as something that has to do with a limiting frequency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a:t>
            </a:r>
          </a:p>
          <a:p>
            <a:endParaRPr lang="en-US" dirty="0"/>
          </a:p>
          <a:p>
            <a:r>
              <a:rPr lang="en-US" dirty="0"/>
              <a:t>Frequentists accuse Bayesians for being subjective in selecting a prior model / distribution. </a:t>
            </a:r>
          </a:p>
          <a:p>
            <a:endParaRPr lang="en-US" dirty="0"/>
          </a:p>
          <a:p>
            <a:r>
              <a:rPr lang="en-US" dirty="0"/>
              <a:t>Bayesians snap back that at least they have a model, whereas Frequentists just calculate averages of observed data</a:t>
            </a:r>
          </a:p>
        </p:txBody>
      </p:sp>
    </p:spTree>
    <p:extLst>
      <p:ext uri="{BB962C8B-B14F-4D97-AF65-F5344CB8AC3E}">
        <p14:creationId xmlns:p14="http://schemas.microsoft.com/office/powerpoint/2010/main" val="18391790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238539" y="225286"/>
            <a:ext cx="5579165" cy="6555641"/>
          </a:xfrm>
          <a:prstGeom prst="rect">
            <a:avLst/>
          </a:prstGeom>
          <a:noFill/>
        </p:spPr>
        <p:txBody>
          <a:bodyPr wrap="square" rtlCol="0">
            <a:spAutoFit/>
          </a:bodyPr>
          <a:lstStyle/>
          <a:p>
            <a:r>
              <a:rPr lang="en-US" b="1" dirty="0"/>
              <a:t>Bayesian vs Frequentist – 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2275772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84912" y="85118"/>
            <a:ext cx="5906814" cy="6771084"/>
          </a:xfrm>
          <a:prstGeom prst="rect">
            <a:avLst/>
          </a:prstGeom>
          <a:noFill/>
        </p:spPr>
        <p:txBody>
          <a:bodyPr wrap="square" rtlCol="0">
            <a:spAutoFit/>
          </a:bodyPr>
          <a:lstStyle/>
          <a:p>
            <a:r>
              <a:rPr lang="en-US" sz="1800" b="1" dirty="0"/>
              <a:t>Random Variable. Probability Distribution</a:t>
            </a:r>
          </a:p>
          <a:p>
            <a:br>
              <a:rPr lang="en-US" dirty="0"/>
            </a:br>
            <a:r>
              <a:rPr lang="en-US" b="1" dirty="0">
                <a:solidFill>
                  <a:srgbClr val="0070C0"/>
                </a:solidFill>
              </a:rPr>
              <a:t>Random variable </a:t>
            </a:r>
            <a:r>
              <a:rPr lang="en-US" dirty="0"/>
              <a:t>is a numerical variable taking different values.</a:t>
            </a:r>
          </a:p>
          <a:p>
            <a:r>
              <a:rPr lang="en-US" dirty="0"/>
              <a:t>Values may be </a:t>
            </a:r>
            <a:r>
              <a:rPr lang="en-US" b="1" dirty="0">
                <a:solidFill>
                  <a:srgbClr val="0070C0"/>
                </a:solidFill>
              </a:rPr>
              <a:t>discrete or continuous</a:t>
            </a:r>
            <a:r>
              <a:rPr lang="en-US" dirty="0"/>
              <a:t>.</a:t>
            </a:r>
          </a:p>
          <a:p>
            <a:endParaRPr lang="en-US" dirty="0"/>
          </a:p>
          <a:p>
            <a:r>
              <a:rPr lang="en-US" dirty="0"/>
              <a:t>For example, think of variable “x” which may have any real value between -10 and +10.</a:t>
            </a:r>
          </a:p>
          <a:p>
            <a:endParaRPr lang="en-US" dirty="0"/>
          </a:p>
          <a:p>
            <a:r>
              <a:rPr lang="en-US" dirty="0"/>
              <a:t>Or think of a variable “z” which can have discrete values 0,0.1,0.2, … 0.9, 1.0</a:t>
            </a:r>
          </a:p>
          <a:p>
            <a:endParaRPr lang="en-US" dirty="0"/>
          </a:p>
          <a:p>
            <a:r>
              <a:rPr lang="en-US" sz="2400" b="1" dirty="0">
                <a:solidFill>
                  <a:srgbClr val="FF0000"/>
                </a:solidFill>
              </a:rPr>
              <a:t>Discrete Case</a:t>
            </a:r>
          </a:p>
          <a:p>
            <a:r>
              <a:rPr lang="en-US" b="1" dirty="0">
                <a:solidFill>
                  <a:srgbClr val="0070C0"/>
                </a:solidFill>
              </a:rPr>
              <a:t>Probability function </a:t>
            </a:r>
            <a:r>
              <a:rPr lang="en-US" dirty="0"/>
              <a:t>P(x) of a discrete random variable “x” </a:t>
            </a:r>
          </a:p>
          <a:p>
            <a:r>
              <a:rPr lang="en-US" dirty="0"/>
              <a:t>is simply a function which gives probability of discrete values.</a:t>
            </a:r>
          </a:p>
          <a:p>
            <a:endParaRPr lang="en-US" dirty="0"/>
          </a:p>
          <a:p>
            <a:r>
              <a:rPr lang="en-US" dirty="0"/>
              <a:t>For example, if the random variable “x” may have two values: ( 0 or 1 ),</a:t>
            </a:r>
          </a:p>
          <a:p>
            <a:r>
              <a:rPr lang="en-US" dirty="0"/>
              <a:t>and if probabilities of those values are equal, then</a:t>
            </a:r>
          </a:p>
          <a:p>
            <a:endParaRPr lang="en-US" dirty="0"/>
          </a:p>
          <a:p>
            <a:r>
              <a:rPr lang="en-US" dirty="0"/>
              <a:t>P(0) = 0.5, f(1) = 0.5.</a:t>
            </a:r>
          </a:p>
          <a:p>
            <a:endParaRPr lang="en-US" dirty="0"/>
          </a:p>
          <a:p>
            <a:r>
              <a:rPr lang="en-US" dirty="0"/>
              <a:t>The sum of individual probabilities for all possible values should be 1.</a:t>
            </a:r>
          </a:p>
          <a:p>
            <a:endParaRPr lang="en-US" dirty="0"/>
          </a:p>
          <a:p>
            <a:r>
              <a:rPr lang="en-US" b="1" dirty="0">
                <a:solidFill>
                  <a:srgbClr val="0070C0"/>
                </a:solidFill>
              </a:rPr>
              <a:t>Expected value </a:t>
            </a:r>
            <a:r>
              <a:rPr lang="en-US" dirty="0"/>
              <a:t>is an weighted average of all values.</a:t>
            </a:r>
          </a:p>
          <a:p>
            <a:endParaRPr lang="en-US" dirty="0"/>
          </a:p>
          <a:p>
            <a:r>
              <a:rPr lang="en-US" dirty="0"/>
              <a:t>E(x) = sum(Xi*P(Xi)), where Xi goes through all allowed values of X.</a:t>
            </a:r>
          </a:p>
          <a:p>
            <a:endParaRPr lang="en-US" dirty="0"/>
          </a:p>
          <a:p>
            <a:r>
              <a:rPr lang="en-US" b="1" dirty="0">
                <a:solidFill>
                  <a:srgbClr val="0070C0"/>
                </a:solidFill>
              </a:rPr>
              <a:t>Variance = sigma squared </a:t>
            </a:r>
            <a:r>
              <a:rPr lang="en-US" dirty="0"/>
              <a:t>= sum( (Xi-E(x))**2 * P(Xi) )</a:t>
            </a:r>
          </a:p>
          <a:p>
            <a:endParaRPr lang="en-US" dirty="0"/>
          </a:p>
          <a:p>
            <a:r>
              <a:rPr lang="en-US" b="1" dirty="0">
                <a:solidFill>
                  <a:srgbClr val="0070C0"/>
                </a:solidFill>
              </a:rPr>
              <a:t>Standard Deviation </a:t>
            </a:r>
            <a:r>
              <a:rPr lang="en-US" dirty="0"/>
              <a:t>= sqrt(sigma squared)</a:t>
            </a:r>
          </a:p>
        </p:txBody>
      </p:sp>
      <p:sp>
        <p:nvSpPr>
          <p:cNvPr id="5" name="TextBox 4">
            <a:extLst>
              <a:ext uri="{FF2B5EF4-FFF2-40B4-BE49-F238E27FC236}">
                <a16:creationId xmlns:a16="http://schemas.microsoft.com/office/drawing/2014/main" id="{E72EEA3B-9D50-A145-B8FE-B6686486D979}"/>
              </a:ext>
            </a:extLst>
          </p:cNvPr>
          <p:cNvSpPr txBox="1"/>
          <p:nvPr/>
        </p:nvSpPr>
        <p:spPr>
          <a:xfrm>
            <a:off x="5991726" y="178676"/>
            <a:ext cx="6200274" cy="6494085"/>
          </a:xfrm>
          <a:prstGeom prst="rect">
            <a:avLst/>
          </a:prstGeom>
          <a:noFill/>
        </p:spPr>
        <p:txBody>
          <a:bodyPr wrap="square" rtlCol="0">
            <a:spAutoFit/>
          </a:bodyPr>
          <a:lstStyle/>
          <a:p>
            <a:r>
              <a:rPr lang="en-US" dirty="0"/>
              <a:t>Probability Density Function (PDF)  </a:t>
            </a:r>
          </a:p>
          <a:p>
            <a:r>
              <a:rPr lang="en-US" dirty="0"/>
              <a:t>vs.  Cumulative Probability Function ( CPF)</a:t>
            </a:r>
          </a:p>
          <a:p>
            <a:endParaRPr lang="en-US" dirty="0"/>
          </a:p>
          <a:p>
            <a:r>
              <a:rPr lang="en-US" sz="2400" b="1" dirty="0">
                <a:solidFill>
                  <a:srgbClr val="FF0000"/>
                </a:solidFill>
              </a:rPr>
              <a:t>Continuous Case</a:t>
            </a:r>
          </a:p>
          <a:p>
            <a:endParaRPr lang="en-US" dirty="0"/>
          </a:p>
          <a:p>
            <a:r>
              <a:rPr lang="en-US" b="1" dirty="0">
                <a:solidFill>
                  <a:srgbClr val="0070C0"/>
                </a:solidFill>
              </a:rPr>
              <a:t>Probability Density Function (PDF)</a:t>
            </a:r>
            <a:r>
              <a:rPr lang="en-US" dirty="0"/>
              <a:t> f(x) is a continuous function.</a:t>
            </a:r>
          </a:p>
          <a:p>
            <a:endParaRPr lang="en-US" dirty="0"/>
          </a:p>
          <a:p>
            <a:r>
              <a:rPr lang="en-US" dirty="0"/>
              <a:t>f(x)*dx gives probability that value is between x and </a:t>
            </a:r>
            <a:r>
              <a:rPr lang="en-US" dirty="0" err="1"/>
              <a:t>x+dx</a:t>
            </a:r>
            <a:r>
              <a:rPr lang="en-US" dirty="0"/>
              <a:t>.</a:t>
            </a:r>
          </a:p>
          <a:p>
            <a:endParaRPr lang="en-US" dirty="0"/>
          </a:p>
          <a:p>
            <a:r>
              <a:rPr lang="en-US" dirty="0"/>
              <a:t>The total integral of f(x)*dx should be equal to 1.</a:t>
            </a:r>
          </a:p>
          <a:p>
            <a:endParaRPr lang="en-US" dirty="0"/>
          </a:p>
          <a:p>
            <a:r>
              <a:rPr lang="en-US" b="1" dirty="0">
                <a:solidFill>
                  <a:srgbClr val="0070C0"/>
                </a:solidFill>
              </a:rPr>
              <a:t>Cumulative Probability Function (CPF)</a:t>
            </a:r>
          </a:p>
          <a:p>
            <a:r>
              <a:rPr lang="en-US" dirty="0"/>
              <a:t>This is simply a function F(x) which gives probability that value is less than x.</a:t>
            </a:r>
          </a:p>
          <a:p>
            <a:r>
              <a:rPr lang="en-US" dirty="0"/>
              <a:t>It monotonously grows from 0 to 1 as x grows (from small to large values).</a:t>
            </a:r>
          </a:p>
          <a:p>
            <a:endParaRPr lang="en-US" dirty="0"/>
          </a:p>
          <a:p>
            <a:endParaRPr lang="en-US" dirty="0"/>
          </a:p>
          <a:p>
            <a:r>
              <a:rPr lang="en-US" b="1" dirty="0">
                <a:solidFill>
                  <a:srgbClr val="0070C0"/>
                </a:solidFill>
              </a:rPr>
              <a:t>The PDF is a first derivative of CPF.</a:t>
            </a:r>
          </a:p>
          <a:p>
            <a:endParaRPr lang="en-US" dirty="0"/>
          </a:p>
          <a:p>
            <a:r>
              <a:rPr lang="en-US" dirty="0"/>
              <a:t>CPF(</a:t>
            </a:r>
            <a:r>
              <a:rPr lang="en-US" dirty="0" err="1"/>
              <a:t>x+dx</a:t>
            </a:r>
            <a:r>
              <a:rPr lang="en-US" dirty="0"/>
              <a:t>) – CPF(x) = = [Prob. of value &lt; (</a:t>
            </a:r>
            <a:r>
              <a:rPr lang="en-US" dirty="0" err="1"/>
              <a:t>x+dx</a:t>
            </a:r>
            <a:r>
              <a:rPr lang="en-US" dirty="0"/>
              <a:t>)] – [Prob. of value &lt; x] = f(x)*dx</a:t>
            </a:r>
          </a:p>
          <a:p>
            <a:endParaRPr lang="en-US" dirty="0"/>
          </a:p>
          <a:p>
            <a:r>
              <a:rPr lang="en-US" b="1" dirty="0">
                <a:solidFill>
                  <a:srgbClr val="0070C0"/>
                </a:solidFill>
              </a:rPr>
              <a:t>Mean value = Expected value</a:t>
            </a:r>
          </a:p>
          <a:p>
            <a:endParaRPr lang="en-US" dirty="0"/>
          </a:p>
          <a:p>
            <a:r>
              <a:rPr lang="en-US" dirty="0"/>
              <a:t>For discrete case we had:</a:t>
            </a:r>
          </a:p>
          <a:p>
            <a:r>
              <a:rPr lang="en-US" dirty="0"/>
              <a:t>E(x) = sum(Xi*P(Xi))</a:t>
            </a:r>
          </a:p>
          <a:p>
            <a:endParaRPr lang="en-US" dirty="0"/>
          </a:p>
          <a:p>
            <a:r>
              <a:rPr lang="en-US" dirty="0"/>
              <a:t>For continuous case this translates into</a:t>
            </a:r>
          </a:p>
          <a:p>
            <a:r>
              <a:rPr lang="en-US" dirty="0"/>
              <a:t>E(x) = Integral(</a:t>
            </a:r>
            <a:r>
              <a:rPr lang="en-US" dirty="0" err="1"/>
              <a:t>xF</a:t>
            </a:r>
            <a:r>
              <a:rPr lang="en-US" dirty="0"/>
              <a:t>(x)dx)</a:t>
            </a:r>
          </a:p>
        </p:txBody>
      </p:sp>
    </p:spTree>
    <p:extLst>
      <p:ext uri="{BB962C8B-B14F-4D97-AF65-F5344CB8AC3E}">
        <p14:creationId xmlns:p14="http://schemas.microsoft.com/office/powerpoint/2010/main" val="2249432796"/>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2776</TotalTime>
  <Words>2419</Words>
  <Application>Microsoft Macintosh PowerPoint</Application>
  <PresentationFormat>Widescreen</PresentationFormat>
  <Paragraphs>289</Paragraphs>
  <Slides>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Cambria Math</vt:lpstr>
      <vt:lpstr>Monaco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273</cp:revision>
  <cp:lastPrinted>2020-09-21T17:22:59Z</cp:lastPrinted>
  <dcterms:modified xsi:type="dcterms:W3CDTF">2020-10-13T23:23:42Z</dcterms:modified>
</cp:coreProperties>
</file>