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62" r:id="rId2"/>
    <p:sldId id="263" r:id="rId3"/>
    <p:sldId id="264" r:id="rId4"/>
    <p:sldId id="294" r:id="rId5"/>
    <p:sldId id="256" r:id="rId6"/>
    <p:sldId id="295" r:id="rId7"/>
    <p:sldId id="296" r:id="rId8"/>
    <p:sldId id="297" r:id="rId9"/>
    <p:sldId id="265"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24"/>
    <p:restoredTop sz="92169"/>
  </p:normalViewPr>
  <p:slideViewPr>
    <p:cSldViewPr snapToGrid="0" snapToObjects="1">
      <p:cViewPr varScale="1">
        <p:scale>
          <a:sx n="105" d="100"/>
          <a:sy n="105" d="100"/>
        </p:scale>
        <p:origin x="108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quora.com/What-are-some-good-books-for-learning-probability-and-statistics"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6.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KhAUfqhLakw" TargetMode="Externa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7FF3915-155C-654B-9482-71A1ADB58F39}"/>
              </a:ext>
            </a:extLst>
          </p:cNvPr>
          <p:cNvSpPr txBox="1"/>
          <p:nvPr/>
        </p:nvSpPr>
        <p:spPr>
          <a:xfrm>
            <a:off x="157655" y="165651"/>
            <a:ext cx="3920359" cy="461665"/>
          </a:xfrm>
          <a:prstGeom prst="rect">
            <a:avLst/>
          </a:prstGeom>
          <a:noFill/>
        </p:spPr>
        <p:txBody>
          <a:bodyPr wrap="square" rtlCol="0">
            <a:spAutoFit/>
          </a:bodyPr>
          <a:lstStyle/>
          <a:p>
            <a:r>
              <a:rPr lang="en-US" sz="2400" b="1" dirty="0"/>
              <a:t>Probability &amp; Statistics</a:t>
            </a:r>
          </a:p>
        </p:txBody>
      </p:sp>
      <p:sp>
        <p:nvSpPr>
          <p:cNvPr id="5" name="TextBox 4">
            <a:extLst>
              <a:ext uri="{FF2B5EF4-FFF2-40B4-BE49-F238E27FC236}">
                <a16:creationId xmlns:a16="http://schemas.microsoft.com/office/drawing/2014/main" id="{0B4D9DED-88C7-6644-AF6D-10C72AB27353}"/>
              </a:ext>
            </a:extLst>
          </p:cNvPr>
          <p:cNvSpPr txBox="1"/>
          <p:nvPr/>
        </p:nvSpPr>
        <p:spPr>
          <a:xfrm>
            <a:off x="157655" y="998483"/>
            <a:ext cx="5549462" cy="5262979"/>
          </a:xfrm>
          <a:prstGeom prst="rect">
            <a:avLst/>
          </a:prstGeom>
          <a:noFill/>
        </p:spPr>
        <p:txBody>
          <a:bodyPr wrap="square" rtlCol="0">
            <a:spAutoFit/>
          </a:bodyPr>
          <a:lstStyle/>
          <a:p>
            <a:r>
              <a:rPr lang="en-US" dirty="0"/>
              <a:t>Books on probability and statistics</a:t>
            </a:r>
          </a:p>
          <a:p>
            <a:r>
              <a:rPr lang="en-US" dirty="0"/>
              <a:t>    </a:t>
            </a:r>
            <a:r>
              <a:rPr lang="en-US" dirty="0">
                <a:hlinkClick r:id="rId2"/>
              </a:rPr>
              <a:t>https://</a:t>
            </a:r>
            <a:r>
              <a:rPr lang="en-US" dirty="0" err="1">
                <a:hlinkClick r:id="rId2"/>
              </a:rPr>
              <a:t>www.quora.com</a:t>
            </a:r>
            <a:r>
              <a:rPr lang="en-US" dirty="0">
                <a:hlinkClick r:id="rId2"/>
              </a:rPr>
              <a:t>/What-are-some-good-books-for-learning-probability-and-statistics</a:t>
            </a:r>
            <a:endParaRPr lang="en-US" dirty="0"/>
          </a:p>
          <a:p>
            <a:endParaRPr lang="en-US" dirty="0"/>
          </a:p>
          <a:p>
            <a:r>
              <a:rPr lang="en-US" dirty="0"/>
              <a:t>Introduction to Probability Theory</a:t>
            </a:r>
          </a:p>
          <a:p>
            <a:endParaRPr lang="en-US" dirty="0"/>
          </a:p>
          <a:p>
            <a:r>
              <a:rPr lang="en-US" dirty="0"/>
              <a:t>Probability Definitions</a:t>
            </a:r>
          </a:p>
          <a:p>
            <a:r>
              <a:rPr lang="en-US" dirty="0"/>
              <a:t>Probability of an event is the measure of the likelihood that </a:t>
            </a:r>
          </a:p>
          <a:p>
            <a:r>
              <a:rPr lang="en-US" dirty="0"/>
              <a:t>the event will occur (in some experiment). </a:t>
            </a:r>
          </a:p>
          <a:p>
            <a:endParaRPr lang="en-US" dirty="0"/>
          </a:p>
          <a:p>
            <a:r>
              <a:rPr lang="en-US" dirty="0"/>
              <a:t>Probability is a number between 0 and 1. </a:t>
            </a:r>
          </a:p>
          <a:p>
            <a:r>
              <a:rPr lang="en-US" dirty="0"/>
              <a:t>But sometimes people express probability using </a:t>
            </a:r>
            <a:r>
              <a:rPr lang="en-US" dirty="0" err="1"/>
              <a:t>percents</a:t>
            </a:r>
            <a:r>
              <a:rPr lang="en-US" dirty="0"/>
              <a:t>.</a:t>
            </a:r>
          </a:p>
          <a:p>
            <a:endParaRPr lang="en-US" dirty="0"/>
          </a:p>
          <a:p>
            <a:r>
              <a:rPr lang="en-US" dirty="0"/>
              <a:t>0 – event is impossible</a:t>
            </a:r>
          </a:p>
          <a:p>
            <a:r>
              <a:rPr lang="en-US" dirty="0"/>
              <a:t>0.5 – the event is just as likely to occur as it is to not occur</a:t>
            </a:r>
          </a:p>
          <a:p>
            <a:r>
              <a:rPr lang="en-US" dirty="0"/>
              <a:t>1 – event will certainly happen, 100%.</a:t>
            </a:r>
          </a:p>
          <a:p>
            <a:endParaRPr lang="en-US" dirty="0"/>
          </a:p>
          <a:p>
            <a:r>
              <a:rPr lang="en-US" dirty="0"/>
              <a:t>The sum of probabilities of all outcomes of an experiment </a:t>
            </a:r>
          </a:p>
          <a:p>
            <a:r>
              <a:rPr lang="en-US" dirty="0"/>
              <a:t>should always be 1.</a:t>
            </a:r>
          </a:p>
          <a:p>
            <a:endParaRPr lang="en-US" dirty="0"/>
          </a:p>
          <a:p>
            <a:r>
              <a:rPr lang="en-US" dirty="0"/>
              <a:t>Outcomes can be combinations of individual events.</a:t>
            </a:r>
          </a:p>
          <a:p>
            <a:endParaRPr lang="en-US" dirty="0"/>
          </a:p>
          <a:p>
            <a:r>
              <a:rPr lang="en-US" dirty="0"/>
              <a:t>For example, if we throw one dice cube – there are 6 possible</a:t>
            </a:r>
          </a:p>
          <a:p>
            <a:r>
              <a:rPr lang="en-US" dirty="0"/>
              <a:t>outcomes (1,2,3,4,5,6), each one has same probability – 1/6.</a:t>
            </a:r>
          </a:p>
        </p:txBody>
      </p:sp>
      <p:sp>
        <p:nvSpPr>
          <p:cNvPr id="6" name="TextBox 5">
            <a:extLst>
              <a:ext uri="{FF2B5EF4-FFF2-40B4-BE49-F238E27FC236}">
                <a16:creationId xmlns:a16="http://schemas.microsoft.com/office/drawing/2014/main" id="{114DD0B7-6869-094A-81E2-14D593C7ED9E}"/>
              </a:ext>
            </a:extLst>
          </p:cNvPr>
          <p:cNvSpPr txBox="1"/>
          <p:nvPr/>
        </p:nvSpPr>
        <p:spPr>
          <a:xfrm>
            <a:off x="6096000" y="588579"/>
            <a:ext cx="6096000" cy="5816977"/>
          </a:xfrm>
          <a:prstGeom prst="rect">
            <a:avLst/>
          </a:prstGeom>
          <a:noFill/>
        </p:spPr>
        <p:txBody>
          <a:bodyPr wrap="square" rtlCol="0">
            <a:spAutoFit/>
          </a:bodyPr>
          <a:lstStyle/>
          <a:p>
            <a:r>
              <a:rPr lang="en-US" dirty="0"/>
              <a:t>If we throw 2 cubes, there are 6*6=36 possible combinations.</a:t>
            </a:r>
          </a:p>
          <a:p>
            <a:r>
              <a:rPr lang="en-US" dirty="0"/>
              <a:t>Probability of each combination is the same – 1/36.</a:t>
            </a:r>
          </a:p>
          <a:p>
            <a:endParaRPr lang="en-US" dirty="0"/>
          </a:p>
          <a:p>
            <a:r>
              <a:rPr lang="en-US" dirty="0"/>
              <a:t>If we define an outcome as a sum of numbers on top side of </a:t>
            </a:r>
          </a:p>
          <a:p>
            <a:r>
              <a:rPr lang="en-US" dirty="0"/>
              <a:t>cubes after the throw, then there are 11 possible outcomes:</a:t>
            </a:r>
          </a:p>
          <a:p>
            <a:endParaRPr lang="en-US" dirty="0"/>
          </a:p>
          <a:p>
            <a:r>
              <a:rPr lang="en-US" sz="1200" dirty="0">
                <a:solidFill>
                  <a:srgbClr val="0070C0"/>
                </a:solidFill>
                <a:latin typeface="Monaco" pitchFamily="2" charset="77"/>
              </a:rPr>
              <a:t>---------------------------------------------------------</a:t>
            </a:r>
          </a:p>
          <a:p>
            <a:r>
              <a:rPr lang="en-US" sz="1200" dirty="0">
                <a:solidFill>
                  <a:srgbClr val="0070C0"/>
                </a:solidFill>
                <a:latin typeface="Monaco" pitchFamily="2" charset="77"/>
              </a:rPr>
              <a:t>Sum    Combinations             Number of</a:t>
            </a:r>
          </a:p>
          <a:p>
            <a:r>
              <a:rPr lang="en-US" sz="1200" dirty="0">
                <a:solidFill>
                  <a:srgbClr val="0070C0"/>
                </a:solidFill>
                <a:latin typeface="Monaco" pitchFamily="2" charset="77"/>
              </a:rPr>
              <a:t>                                combinations  Probability</a:t>
            </a:r>
          </a:p>
          <a:p>
            <a:r>
              <a:rPr lang="en-US" sz="1200" dirty="0">
                <a:solidFill>
                  <a:srgbClr val="0070C0"/>
                </a:solidFill>
                <a:latin typeface="Monaco" pitchFamily="2" charset="77"/>
              </a:rPr>
              <a:t>---------------------------------------------------------</a:t>
            </a:r>
          </a:p>
          <a:p>
            <a:r>
              <a:rPr lang="en-US" sz="1200" dirty="0">
                <a:solidFill>
                  <a:srgbClr val="0070C0"/>
                </a:solidFill>
                <a:latin typeface="Monaco" pitchFamily="2" charset="77"/>
              </a:rPr>
              <a:t>2      1+1                          1             1/36</a:t>
            </a:r>
          </a:p>
          <a:p>
            <a:r>
              <a:rPr lang="en-US" sz="1200" dirty="0">
                <a:solidFill>
                  <a:srgbClr val="0070C0"/>
                </a:solidFill>
                <a:latin typeface="Monaco" pitchFamily="2" charset="77"/>
              </a:rPr>
              <a:t>3      1+2,2+1                      2             2/36</a:t>
            </a:r>
          </a:p>
          <a:p>
            <a:r>
              <a:rPr lang="en-US" sz="1200" dirty="0">
                <a:solidFill>
                  <a:srgbClr val="0070C0"/>
                </a:solidFill>
                <a:latin typeface="Monaco" pitchFamily="2" charset="77"/>
              </a:rPr>
              <a:t>4      1+3,2+2,3+1                  3             3/36</a:t>
            </a:r>
          </a:p>
          <a:p>
            <a:r>
              <a:rPr lang="en-US" sz="1200" dirty="0">
                <a:solidFill>
                  <a:srgbClr val="0070C0"/>
                </a:solidFill>
                <a:latin typeface="Monaco" pitchFamily="2" charset="77"/>
              </a:rPr>
              <a:t>5      1+4,2+3,3+2,4+1              4             4/36</a:t>
            </a:r>
          </a:p>
          <a:p>
            <a:r>
              <a:rPr lang="en-US" sz="1200" dirty="0">
                <a:solidFill>
                  <a:srgbClr val="0070C0"/>
                </a:solidFill>
                <a:latin typeface="Monaco" pitchFamily="2" charset="77"/>
              </a:rPr>
              <a:t>6      1+5,2+4,3+3,4+2,5+1          5             5/36</a:t>
            </a:r>
          </a:p>
          <a:p>
            <a:r>
              <a:rPr lang="en-US" sz="1200" dirty="0">
                <a:solidFill>
                  <a:srgbClr val="0070C0"/>
                </a:solidFill>
                <a:latin typeface="Monaco" pitchFamily="2" charset="77"/>
              </a:rPr>
              <a:t>7      1+6,2+5,3+4,4+3,5+2,6+1      6             6/36</a:t>
            </a:r>
          </a:p>
          <a:p>
            <a:r>
              <a:rPr lang="en-US" sz="1200" dirty="0">
                <a:solidFill>
                  <a:srgbClr val="0070C0"/>
                </a:solidFill>
                <a:latin typeface="Monaco" pitchFamily="2" charset="77"/>
              </a:rPr>
              <a:t>8      2+6,3+5,4+4,5+3,6+2          5             5/36</a:t>
            </a:r>
          </a:p>
          <a:p>
            <a:r>
              <a:rPr lang="en-US" sz="1200" dirty="0">
                <a:solidFill>
                  <a:srgbClr val="0070C0"/>
                </a:solidFill>
                <a:latin typeface="Monaco" pitchFamily="2" charset="77"/>
              </a:rPr>
              <a:t>9      3+6,4+5,5+4,6+3              4             4/36</a:t>
            </a:r>
          </a:p>
          <a:p>
            <a:r>
              <a:rPr lang="en-US" sz="1200" dirty="0">
                <a:solidFill>
                  <a:srgbClr val="0070C0"/>
                </a:solidFill>
                <a:latin typeface="Monaco" pitchFamily="2" charset="77"/>
              </a:rPr>
              <a:t>10     4+6,5+5,6+4                  3             3/36</a:t>
            </a:r>
          </a:p>
          <a:p>
            <a:r>
              <a:rPr lang="en-US" sz="1200" dirty="0">
                <a:solidFill>
                  <a:srgbClr val="0070C0"/>
                </a:solidFill>
                <a:latin typeface="Monaco" pitchFamily="2" charset="77"/>
              </a:rPr>
              <a:t>11     5+6,6+5                      2             2/36</a:t>
            </a:r>
          </a:p>
          <a:p>
            <a:r>
              <a:rPr lang="en-US" sz="1200" dirty="0">
                <a:solidFill>
                  <a:srgbClr val="0070C0"/>
                </a:solidFill>
                <a:latin typeface="Monaco" pitchFamily="2" charset="77"/>
              </a:rPr>
              <a:t>12     6+6                          1             1/36</a:t>
            </a:r>
          </a:p>
          <a:p>
            <a:r>
              <a:rPr lang="en-US" sz="1200" dirty="0">
                <a:solidFill>
                  <a:srgbClr val="0070C0"/>
                </a:solidFill>
                <a:latin typeface="Monaco" pitchFamily="2" charset="77"/>
              </a:rPr>
              <a:t>---------------------------------------------------------</a:t>
            </a:r>
          </a:p>
          <a:p>
            <a:r>
              <a:rPr lang="en-US" sz="1200" dirty="0">
                <a:solidFill>
                  <a:srgbClr val="0070C0"/>
                </a:solidFill>
                <a:latin typeface="Monaco" pitchFamily="2" charset="77"/>
              </a:rPr>
              <a:t>Total                              36              1</a:t>
            </a:r>
            <a:br>
              <a:rPr lang="en-US" sz="1200" dirty="0">
                <a:solidFill>
                  <a:srgbClr val="0070C0"/>
                </a:solidFill>
                <a:latin typeface="Monaco" pitchFamily="2" charset="77"/>
              </a:rPr>
            </a:br>
            <a:endParaRPr lang="en-US" dirty="0"/>
          </a:p>
          <a:p>
            <a:r>
              <a:rPr lang="en-US" dirty="0"/>
              <a:t>From the table above you see how some outcomes can result </a:t>
            </a:r>
          </a:p>
          <a:p>
            <a:r>
              <a:rPr lang="en-US" dirty="0"/>
              <a:t>from more combinations, thus have higher probability of happening.</a:t>
            </a:r>
          </a:p>
          <a:p>
            <a:endParaRPr lang="en-US" dirty="0"/>
          </a:p>
          <a:p>
            <a:r>
              <a:rPr lang="en-US" dirty="0"/>
              <a:t>Note: Events can be mutually exclusive, or not. </a:t>
            </a:r>
          </a:p>
          <a:p>
            <a:r>
              <a:rPr lang="en-US" dirty="0"/>
              <a:t>Also, events may be independent, or dependent on each other.</a:t>
            </a:r>
          </a:p>
        </p:txBody>
      </p:sp>
    </p:spTree>
    <p:extLst>
      <p:ext uri="{BB962C8B-B14F-4D97-AF65-F5344CB8AC3E}">
        <p14:creationId xmlns:p14="http://schemas.microsoft.com/office/powerpoint/2010/main" val="41246394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F33A883-0865-B144-AFA6-9A8B821FB9CB}"/>
              </a:ext>
            </a:extLst>
          </p:cNvPr>
          <p:cNvSpPr txBox="1"/>
          <p:nvPr/>
        </p:nvSpPr>
        <p:spPr>
          <a:xfrm>
            <a:off x="220717" y="283779"/>
            <a:ext cx="5728138" cy="5693866"/>
          </a:xfrm>
          <a:prstGeom prst="rect">
            <a:avLst/>
          </a:prstGeom>
          <a:noFill/>
        </p:spPr>
        <p:txBody>
          <a:bodyPr wrap="square" rtlCol="0">
            <a:spAutoFit/>
          </a:bodyPr>
          <a:lstStyle/>
          <a:p>
            <a:r>
              <a:rPr lang="en-US" b="1" dirty="0">
                <a:solidFill>
                  <a:srgbClr val="0070C0"/>
                </a:solidFill>
              </a:rPr>
              <a:t>Marginal Probability </a:t>
            </a:r>
            <a:r>
              <a:rPr lang="en-US" dirty="0"/>
              <a:t>= Simple Probability , a probability </a:t>
            </a:r>
          </a:p>
          <a:p>
            <a:r>
              <a:rPr lang="en-US" dirty="0"/>
              <a:t>of an independent event occurring.</a:t>
            </a:r>
          </a:p>
          <a:p>
            <a:endParaRPr lang="en-US" dirty="0"/>
          </a:p>
          <a:p>
            <a:r>
              <a:rPr lang="en-US" dirty="0"/>
              <a:t>The term “marginal variable” is used to refer to a subset </a:t>
            </a:r>
          </a:p>
          <a:p>
            <a:r>
              <a:rPr lang="en-US" dirty="0"/>
              <a:t>of variables in a table. They called “marginal” because they </a:t>
            </a:r>
          </a:p>
          <a:p>
            <a:r>
              <a:rPr lang="en-US" dirty="0"/>
              <a:t>used to be calculated by summing values in a table along </a:t>
            </a:r>
          </a:p>
          <a:p>
            <a:r>
              <a:rPr lang="en-US" dirty="0"/>
              <a:t>rows or columns , and writing the sum in the margins of the table.</a:t>
            </a:r>
          </a:p>
          <a:p>
            <a:endParaRPr lang="en-US" dirty="0"/>
          </a:p>
          <a:p>
            <a:r>
              <a:rPr lang="en-US" dirty="0"/>
              <a:t>Examples of assigning probability.</a:t>
            </a:r>
          </a:p>
          <a:p>
            <a:endParaRPr lang="en-US" dirty="0"/>
          </a:p>
          <a:p>
            <a:r>
              <a:rPr lang="en-US" b="1" dirty="0">
                <a:solidFill>
                  <a:srgbClr val="0070C0"/>
                </a:solidFill>
              </a:rPr>
              <a:t>Example 1. Tossing a coin.</a:t>
            </a:r>
          </a:p>
          <a:p>
            <a:endParaRPr lang="en-US" dirty="0"/>
          </a:p>
          <a:p>
            <a:r>
              <a:rPr lang="en-US" dirty="0"/>
              <a:t>Possible outcomes : (tails or heads).</a:t>
            </a:r>
          </a:p>
          <a:p>
            <a:r>
              <a:rPr lang="en-US" dirty="0"/>
              <a:t>Events (tails of heads) are mutually exclusive. </a:t>
            </a:r>
          </a:p>
          <a:p>
            <a:r>
              <a:rPr lang="en-US" dirty="0"/>
              <a:t>Their probabilities should be equal.</a:t>
            </a:r>
          </a:p>
          <a:p>
            <a:endParaRPr lang="en-US" dirty="0"/>
          </a:p>
          <a:p>
            <a:r>
              <a:rPr lang="en-US" dirty="0"/>
              <a:t>P</a:t>
            </a:r>
            <a:r>
              <a:rPr lang="en-US" baseline="-25000" dirty="0"/>
              <a:t>t</a:t>
            </a:r>
            <a:r>
              <a:rPr lang="en-US" dirty="0"/>
              <a:t> + P</a:t>
            </a:r>
            <a:r>
              <a:rPr lang="en-US" baseline="-25000" dirty="0"/>
              <a:t>h</a:t>
            </a:r>
            <a:r>
              <a:rPr lang="en-US" dirty="0"/>
              <a:t> = 1</a:t>
            </a:r>
          </a:p>
          <a:p>
            <a:r>
              <a:rPr lang="en-US" dirty="0"/>
              <a:t>P</a:t>
            </a:r>
            <a:r>
              <a:rPr lang="en-US" baseline="-25000" dirty="0"/>
              <a:t>t</a:t>
            </a:r>
            <a:r>
              <a:rPr lang="en-US" dirty="0"/>
              <a:t> = 0.5</a:t>
            </a:r>
          </a:p>
          <a:p>
            <a:r>
              <a:rPr lang="en-US" dirty="0"/>
              <a:t>P</a:t>
            </a:r>
            <a:r>
              <a:rPr lang="en-US" baseline="-25000" dirty="0"/>
              <a:t>h</a:t>
            </a:r>
            <a:r>
              <a:rPr lang="en-US" dirty="0"/>
              <a:t> = 0.5</a:t>
            </a:r>
          </a:p>
          <a:p>
            <a:endParaRPr lang="en-US" dirty="0"/>
          </a:p>
          <a:p>
            <a:r>
              <a:rPr lang="en-US" b="1" dirty="0">
                <a:solidFill>
                  <a:srgbClr val="0070C0"/>
                </a:solidFill>
              </a:rPr>
              <a:t>Example 2. Rolling a die.</a:t>
            </a:r>
          </a:p>
          <a:p>
            <a:endParaRPr lang="en-US" dirty="0"/>
          </a:p>
          <a:p>
            <a:r>
              <a:rPr lang="en-US" dirty="0"/>
              <a:t>Possible outcomes: (1,2,3,4,5,6).</a:t>
            </a:r>
          </a:p>
          <a:p>
            <a:r>
              <a:rPr lang="en-US" dirty="0"/>
              <a:t>They are mutually exclusive, probability equal, sum() = 1</a:t>
            </a:r>
          </a:p>
          <a:p>
            <a:r>
              <a:rPr lang="en-US" dirty="0"/>
              <a:t>So each probability = 1/6 = 0.167 3.</a:t>
            </a:r>
          </a:p>
        </p:txBody>
      </p:sp>
      <p:sp>
        <p:nvSpPr>
          <p:cNvPr id="5" name="TextBox 4">
            <a:extLst>
              <a:ext uri="{FF2B5EF4-FFF2-40B4-BE49-F238E27FC236}">
                <a16:creationId xmlns:a16="http://schemas.microsoft.com/office/drawing/2014/main" id="{4EFE259D-D05B-5F41-8BD0-9A4D34A8B30A}"/>
              </a:ext>
            </a:extLst>
          </p:cNvPr>
          <p:cNvSpPr txBox="1"/>
          <p:nvPr/>
        </p:nvSpPr>
        <p:spPr>
          <a:xfrm>
            <a:off x="6190593" y="663672"/>
            <a:ext cx="6001407" cy="3970318"/>
          </a:xfrm>
          <a:prstGeom prst="rect">
            <a:avLst/>
          </a:prstGeom>
          <a:noFill/>
        </p:spPr>
        <p:txBody>
          <a:bodyPr wrap="square" rtlCol="0">
            <a:spAutoFit/>
          </a:bodyPr>
          <a:lstStyle/>
          <a:p>
            <a:r>
              <a:rPr lang="en-US" b="1" dirty="0">
                <a:solidFill>
                  <a:srgbClr val="0070C0"/>
                </a:solidFill>
              </a:rPr>
              <a:t>Example 3. Job Search.</a:t>
            </a:r>
          </a:p>
          <a:p>
            <a:endParaRPr lang="en-US" dirty="0"/>
          </a:p>
          <a:p>
            <a:r>
              <a:rPr lang="en-US" dirty="0"/>
              <a:t>I get 2 emails with job descriptions every day, 10 per week.</a:t>
            </a:r>
          </a:p>
          <a:p>
            <a:endParaRPr lang="en-US" dirty="0"/>
          </a:p>
          <a:p>
            <a:r>
              <a:rPr lang="en-US" dirty="0"/>
              <a:t>Two of them may be a fit: 2 of 10 (0.2).</a:t>
            </a:r>
          </a:p>
          <a:p>
            <a:endParaRPr lang="en-US" dirty="0"/>
          </a:p>
          <a:p>
            <a:r>
              <a:rPr lang="en-US" dirty="0"/>
              <a:t>So I send an email that I am interested. </a:t>
            </a:r>
          </a:p>
          <a:p>
            <a:r>
              <a:rPr lang="en-US" dirty="0"/>
              <a:t>I am invited to every third position I requested (0.2/3 = 0.067)</a:t>
            </a:r>
          </a:p>
          <a:p>
            <a:endParaRPr lang="en-US" dirty="0"/>
          </a:p>
          <a:p>
            <a:r>
              <a:rPr lang="en-US" dirty="0"/>
              <a:t>And I get 1 position out of 10 initial interviews (0.0067).</a:t>
            </a:r>
          </a:p>
          <a:p>
            <a:endParaRPr lang="en-US" dirty="0"/>
          </a:p>
          <a:p>
            <a:r>
              <a:rPr lang="en-US" dirty="0"/>
              <a:t>So the probability that an incoming email will result </a:t>
            </a:r>
          </a:p>
          <a:p>
            <a:r>
              <a:rPr lang="en-US" dirty="0"/>
              <a:t>in a job is 0.0067, or ~1%. </a:t>
            </a:r>
          </a:p>
          <a:p>
            <a:r>
              <a:rPr lang="en-US" dirty="0"/>
              <a:t>So, I need to consider 100 positions (this will take 10 weeks), </a:t>
            </a:r>
          </a:p>
          <a:p>
            <a:r>
              <a:rPr lang="en-US" dirty="0"/>
              <a:t>send 20 emails asking to invite, go to 6..7 interviews, </a:t>
            </a:r>
          </a:p>
          <a:p>
            <a:r>
              <a:rPr lang="en-US" dirty="0"/>
              <a:t>and eventually get a job.</a:t>
            </a:r>
          </a:p>
          <a:p>
            <a:endParaRPr lang="en-US" dirty="0"/>
          </a:p>
          <a:p>
            <a:r>
              <a:rPr lang="en-US" dirty="0"/>
              <a:t>So job search takes 2..3 months.</a:t>
            </a:r>
          </a:p>
        </p:txBody>
      </p:sp>
    </p:spTree>
    <p:extLst>
      <p:ext uri="{BB962C8B-B14F-4D97-AF65-F5344CB8AC3E}">
        <p14:creationId xmlns:p14="http://schemas.microsoft.com/office/powerpoint/2010/main" val="8842660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189186" y="258901"/>
            <a:ext cx="5675586" cy="6340197"/>
          </a:xfrm>
          <a:prstGeom prst="rect">
            <a:avLst/>
          </a:prstGeom>
          <a:noFill/>
        </p:spPr>
        <p:txBody>
          <a:bodyPr wrap="square" rtlCol="0">
            <a:spAutoFit/>
          </a:bodyPr>
          <a:lstStyle/>
          <a:p>
            <a:r>
              <a:rPr lang="en-US" b="1" dirty="0">
                <a:solidFill>
                  <a:srgbClr val="0070C0"/>
                </a:solidFill>
              </a:rPr>
              <a:t>Rules (Or, And, etc.)</a:t>
            </a:r>
          </a:p>
          <a:p>
            <a:endParaRPr lang="en-US" dirty="0"/>
          </a:p>
          <a:p>
            <a:r>
              <a:rPr lang="en-US" dirty="0"/>
              <a:t>Lets A be an event. </a:t>
            </a:r>
          </a:p>
          <a:p>
            <a:r>
              <a:rPr lang="en-US" dirty="0"/>
              <a:t>P(A) – </a:t>
            </a:r>
            <a:r>
              <a:rPr lang="en-US" dirty="0" err="1"/>
              <a:t>probabiltiy</a:t>
            </a:r>
            <a:r>
              <a:rPr lang="en-US" dirty="0"/>
              <a:t> of event A </a:t>
            </a:r>
          </a:p>
          <a:p>
            <a:r>
              <a:rPr lang="en-US" dirty="0"/>
              <a:t>then: P(A) + P(not A) = 1 </a:t>
            </a:r>
          </a:p>
          <a:p>
            <a:endParaRPr lang="en-US" dirty="0"/>
          </a:p>
          <a:p>
            <a:r>
              <a:rPr lang="en-US" dirty="0"/>
              <a:t>If A and B are events, then: </a:t>
            </a:r>
          </a:p>
          <a:p>
            <a:r>
              <a:rPr lang="en-US" dirty="0"/>
              <a:t>P(A or B) = P(A) + P(B) – P(A and B) </a:t>
            </a:r>
          </a:p>
          <a:p>
            <a:endParaRPr lang="en-US" dirty="0"/>
          </a:p>
          <a:p>
            <a:r>
              <a:rPr lang="en-US" dirty="0"/>
              <a:t>for mutually exclusive events P(A and B) = 0, </a:t>
            </a:r>
          </a:p>
          <a:p>
            <a:r>
              <a:rPr lang="en-US" dirty="0"/>
              <a:t>so P(A or B) = P(A) + P(B)</a:t>
            </a:r>
          </a:p>
          <a:p>
            <a:endParaRPr lang="en-US" dirty="0"/>
          </a:p>
          <a:p>
            <a:r>
              <a:rPr lang="en-US" b="1" dirty="0">
                <a:solidFill>
                  <a:srgbClr val="0070C0"/>
                </a:solidFill>
              </a:rPr>
              <a:t>Venn Diagrams</a:t>
            </a:r>
          </a:p>
          <a:p>
            <a:endParaRPr lang="en-US" dirty="0"/>
          </a:p>
          <a:p>
            <a:r>
              <a:rPr lang="en-US" dirty="0"/>
              <a:t>Venn Diagrams = Graphical representation of events as circles.</a:t>
            </a:r>
          </a:p>
          <a:p>
            <a:r>
              <a:rPr lang="en-US" dirty="0"/>
              <a:t>See many examples – just google images for: Venn Diagram A or B.</a:t>
            </a:r>
          </a:p>
          <a:p>
            <a:endParaRPr lang="en-US" dirty="0"/>
          </a:p>
          <a:p>
            <a:r>
              <a:rPr lang="en-US" dirty="0"/>
              <a:t>For example, this image shows Intersection (A and B),</a:t>
            </a:r>
          </a:p>
          <a:p>
            <a:r>
              <a:rPr lang="en-US" dirty="0"/>
              <a:t>negation of intersection (A but not B, or B but not A),</a:t>
            </a:r>
          </a:p>
          <a:p>
            <a:r>
              <a:rPr lang="en-US" dirty="0"/>
              <a:t>union (A or B), and subtraction (A but not B) :</a:t>
            </a:r>
          </a:p>
          <a:p>
            <a:endParaRPr lang="en-US" dirty="0"/>
          </a:p>
          <a:p>
            <a:r>
              <a:rPr lang="en-US" dirty="0"/>
              <a:t>Conditional Probability</a:t>
            </a:r>
          </a:p>
          <a:p>
            <a:r>
              <a:rPr lang="en-US" dirty="0"/>
              <a:t>P(A|B) – probability of A given that B has occurred.</a:t>
            </a:r>
          </a:p>
          <a:p>
            <a:r>
              <a:rPr lang="en-US" dirty="0"/>
              <a:t>P(A|B) = P(A and B) / P(B) (if P(B) is not zero)</a:t>
            </a:r>
          </a:p>
          <a:p>
            <a:endParaRPr lang="en-US" dirty="0"/>
          </a:p>
          <a:p>
            <a:r>
              <a:rPr lang="en-US" dirty="0"/>
              <a:t>If A &amp; B are independent form each other, then:</a:t>
            </a:r>
          </a:p>
          <a:p>
            <a:r>
              <a:rPr lang="en-US" dirty="0"/>
              <a:t>P(A|B) = P(A)</a:t>
            </a:r>
          </a:p>
          <a:p>
            <a:r>
              <a:rPr lang="en-US" dirty="0"/>
              <a:t>P(B|A) = P(B)</a:t>
            </a:r>
          </a:p>
        </p:txBody>
      </p:sp>
      <p:pic>
        <p:nvPicPr>
          <p:cNvPr id="2" name="Picture 1">
            <a:extLst>
              <a:ext uri="{FF2B5EF4-FFF2-40B4-BE49-F238E27FC236}">
                <a16:creationId xmlns:a16="http://schemas.microsoft.com/office/drawing/2014/main" id="{53B9C2FE-C703-344E-807C-1F34D0C8391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95908" y="258901"/>
            <a:ext cx="5143166" cy="6227906"/>
          </a:xfrm>
          <a:prstGeom prst="rect">
            <a:avLst/>
          </a:prstGeom>
        </p:spPr>
      </p:pic>
    </p:spTree>
    <p:extLst>
      <p:ext uri="{BB962C8B-B14F-4D97-AF65-F5344CB8AC3E}">
        <p14:creationId xmlns:p14="http://schemas.microsoft.com/office/powerpoint/2010/main" val="33453871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80BCCA-2C61-AF4F-A60F-52F5007A8787}"/>
              </a:ext>
            </a:extLst>
          </p:cNvPr>
          <p:cNvSpPr txBox="1"/>
          <p:nvPr/>
        </p:nvSpPr>
        <p:spPr>
          <a:xfrm>
            <a:off x="100084" y="2987997"/>
            <a:ext cx="3938899" cy="523220"/>
          </a:xfrm>
          <a:prstGeom prst="rect">
            <a:avLst/>
          </a:prstGeom>
          <a:noFill/>
        </p:spPr>
        <p:txBody>
          <a:bodyPr wrap="none" rtlCol="0">
            <a:spAutoFit/>
          </a:bodyPr>
          <a:lstStyle/>
          <a:p>
            <a:r>
              <a:rPr lang="en-US" sz="2800" b="1" dirty="0"/>
              <a:t>Bonferroni Correction</a:t>
            </a:r>
          </a:p>
        </p:txBody>
      </p:sp>
      <p:sp>
        <p:nvSpPr>
          <p:cNvPr id="39" name="TextBox 38">
            <a:extLst>
              <a:ext uri="{FF2B5EF4-FFF2-40B4-BE49-F238E27FC236}">
                <a16:creationId xmlns:a16="http://schemas.microsoft.com/office/drawing/2014/main" id="{27A304D2-6800-2B40-9474-4647EA280910}"/>
              </a:ext>
            </a:extLst>
          </p:cNvPr>
          <p:cNvSpPr txBox="1"/>
          <p:nvPr/>
        </p:nvSpPr>
        <p:spPr>
          <a:xfrm>
            <a:off x="90466" y="3530593"/>
            <a:ext cx="8639198" cy="3323987"/>
          </a:xfrm>
          <a:prstGeom prst="rect">
            <a:avLst/>
          </a:prstGeom>
          <a:noFill/>
        </p:spPr>
        <p:txBody>
          <a:bodyPr wrap="square" rtlCol="0">
            <a:spAutoFit/>
          </a:bodyPr>
          <a:lstStyle/>
          <a:p>
            <a:r>
              <a:rPr lang="en-US" dirty="0"/>
              <a:t>When conducting multiple tests, the chance of getting a significant (type 1) error increases by pure chance. </a:t>
            </a:r>
          </a:p>
          <a:p>
            <a:r>
              <a:rPr lang="en-US" dirty="0"/>
              <a:t>To correct for this, we proportionally "decrease" the "alpha" value of each test.</a:t>
            </a:r>
          </a:p>
          <a:p>
            <a:endParaRPr lang="en-US" dirty="0"/>
          </a:p>
          <a:p>
            <a:r>
              <a:rPr lang="en-US" dirty="0"/>
              <a:t>Example:</a:t>
            </a:r>
          </a:p>
          <a:p>
            <a:r>
              <a:rPr lang="en-US" dirty="0"/>
              <a:t>Suppose we have Ng = 5 treatment groups.</a:t>
            </a:r>
          </a:p>
          <a:p>
            <a:r>
              <a:rPr lang="en-US" dirty="0"/>
              <a:t>Hull hypothesis is that group members are "equal" in all groups.</a:t>
            </a:r>
          </a:p>
          <a:p>
            <a:r>
              <a:rPr lang="en-US" dirty="0"/>
              <a:t>Alpha = 0.05 ("family alpha rate") – chance of rejecting H0</a:t>
            </a:r>
          </a:p>
          <a:p>
            <a:endParaRPr lang="en-US" dirty="0"/>
          </a:p>
          <a:p>
            <a:r>
              <a:rPr lang="en-US" dirty="0"/>
              <a:t>We decided to make 10 comparisons:</a:t>
            </a:r>
          </a:p>
          <a:p>
            <a:r>
              <a:rPr lang="en-US" dirty="0"/>
              <a:t>    1 to 2, 2 to 3, 3 to 4, 4 to 5, 1 to 3, 2 to 4, 3 to 5, 4 to 1,</a:t>
            </a:r>
          </a:p>
          <a:p>
            <a:r>
              <a:rPr lang="en-US" dirty="0"/>
              <a:t>    (1 &amp; 2) to (3 &amp; 4), (1 &amp; 2) to (4 &amp; 5)</a:t>
            </a:r>
          </a:p>
          <a:p>
            <a:endParaRPr lang="en-US" dirty="0"/>
          </a:p>
          <a:p>
            <a:r>
              <a:rPr lang="en-US" dirty="0"/>
              <a:t>We will use new corrected alpha </a:t>
            </a:r>
            <a:r>
              <a:rPr lang="en-US" dirty="0" err="1"/>
              <a:t>Alpha_new</a:t>
            </a:r>
            <a:r>
              <a:rPr lang="en-US" dirty="0"/>
              <a:t> = Alpha/10 = 0.005 for each of those 10 tests.</a:t>
            </a:r>
          </a:p>
          <a:p>
            <a:r>
              <a:rPr lang="en-US" dirty="0"/>
              <a:t>If any of the 10 tests rejects the H0 (using this small </a:t>
            </a:r>
            <a:r>
              <a:rPr lang="en-US" dirty="0" err="1"/>
              <a:t>Alpha_new</a:t>
            </a:r>
            <a:r>
              <a:rPr lang="en-US" dirty="0"/>
              <a:t> value of 0.005), </a:t>
            </a:r>
          </a:p>
          <a:p>
            <a:r>
              <a:rPr lang="en-US" dirty="0"/>
              <a:t>then we reject H0 for the whole "family".</a:t>
            </a:r>
          </a:p>
        </p:txBody>
      </p:sp>
      <p:sp>
        <p:nvSpPr>
          <p:cNvPr id="8" name="TextBox 7">
            <a:extLst>
              <a:ext uri="{FF2B5EF4-FFF2-40B4-BE49-F238E27FC236}">
                <a16:creationId xmlns:a16="http://schemas.microsoft.com/office/drawing/2014/main" id="{8040F7C3-0742-E84C-B6FF-4D1910EB83F6}"/>
              </a:ext>
            </a:extLst>
          </p:cNvPr>
          <p:cNvSpPr txBox="1"/>
          <p:nvPr/>
        </p:nvSpPr>
        <p:spPr>
          <a:xfrm>
            <a:off x="100084" y="618534"/>
            <a:ext cx="3956532" cy="307777"/>
          </a:xfrm>
          <a:prstGeom prst="rect">
            <a:avLst/>
          </a:prstGeom>
          <a:noFill/>
        </p:spPr>
        <p:txBody>
          <a:bodyPr wrap="square" rtlCol="0">
            <a:spAutoFit/>
          </a:bodyPr>
          <a:lstStyle/>
          <a:p>
            <a:r>
              <a:rPr lang="en-US" dirty="0"/>
              <a:t>P(A∪B) = P(A) + P(B) − P(A∩B) ≤ P(A) + P(B)</a:t>
            </a:r>
          </a:p>
        </p:txBody>
      </p:sp>
      <p:sp>
        <p:nvSpPr>
          <p:cNvPr id="41" name="TextBox 40">
            <a:extLst>
              <a:ext uri="{FF2B5EF4-FFF2-40B4-BE49-F238E27FC236}">
                <a16:creationId xmlns:a16="http://schemas.microsoft.com/office/drawing/2014/main" id="{3D618927-60E0-1D44-9633-4AD4142072CB}"/>
              </a:ext>
            </a:extLst>
          </p:cNvPr>
          <p:cNvSpPr txBox="1"/>
          <p:nvPr/>
        </p:nvSpPr>
        <p:spPr>
          <a:xfrm>
            <a:off x="100084" y="153888"/>
            <a:ext cx="3956532" cy="523220"/>
          </a:xfrm>
          <a:prstGeom prst="rect">
            <a:avLst/>
          </a:prstGeom>
          <a:noFill/>
        </p:spPr>
        <p:txBody>
          <a:bodyPr wrap="none" rtlCol="0">
            <a:spAutoFit/>
          </a:bodyPr>
          <a:lstStyle/>
          <a:p>
            <a:r>
              <a:rPr lang="en-US" sz="2800" b="1" dirty="0"/>
              <a:t>Union Bound Formula</a:t>
            </a:r>
          </a:p>
        </p:txBody>
      </p:sp>
      <p:pic>
        <p:nvPicPr>
          <p:cNvPr id="1058" name="Picture 34" descr="Intersection of Sets using Venn Diagram |Solved Examples of Intersection of  Sets">
            <a:extLst>
              <a:ext uri="{FF2B5EF4-FFF2-40B4-BE49-F238E27FC236}">
                <a16:creationId xmlns:a16="http://schemas.microsoft.com/office/drawing/2014/main" id="{3C3A0D9E-139D-E348-86E2-F8A5072E6B1A}"/>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4369196" y="64079"/>
            <a:ext cx="1449909" cy="907574"/>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6751AB79-B70C-CA4C-A7E6-0726676EC2C7}"/>
              </a:ext>
            </a:extLst>
          </p:cNvPr>
          <p:cNvSpPr txBox="1"/>
          <p:nvPr/>
        </p:nvSpPr>
        <p:spPr>
          <a:xfrm>
            <a:off x="100084" y="1062374"/>
            <a:ext cx="3799438" cy="523220"/>
          </a:xfrm>
          <a:prstGeom prst="rect">
            <a:avLst/>
          </a:prstGeom>
          <a:noFill/>
        </p:spPr>
        <p:txBody>
          <a:bodyPr wrap="none" rtlCol="0">
            <a:spAutoFit/>
          </a:bodyPr>
          <a:lstStyle/>
          <a:p>
            <a:r>
              <a:rPr lang="en-US" sz="2800" b="1" dirty="0"/>
              <a:t>Bonferroni Inequality</a:t>
            </a:r>
          </a:p>
        </p:txBody>
      </p:sp>
      <p:sp>
        <p:nvSpPr>
          <p:cNvPr id="44" name="TextBox 43">
            <a:extLst>
              <a:ext uri="{FF2B5EF4-FFF2-40B4-BE49-F238E27FC236}">
                <a16:creationId xmlns:a16="http://schemas.microsoft.com/office/drawing/2014/main" id="{A5B86BFC-66BE-A646-8F44-B9B94AC94CEF}"/>
              </a:ext>
            </a:extLst>
          </p:cNvPr>
          <p:cNvSpPr txBox="1"/>
          <p:nvPr/>
        </p:nvSpPr>
        <p:spPr>
          <a:xfrm>
            <a:off x="100084" y="1563204"/>
            <a:ext cx="4392492" cy="1169551"/>
          </a:xfrm>
          <a:prstGeom prst="rect">
            <a:avLst/>
          </a:prstGeom>
          <a:noFill/>
        </p:spPr>
        <p:txBody>
          <a:bodyPr wrap="square" rtlCol="0">
            <a:spAutoFit/>
          </a:bodyPr>
          <a:lstStyle/>
          <a:p>
            <a:r>
              <a:rPr lang="en-US" dirty="0"/>
              <a:t>P(A∩B) = P(A) + P(B) −  P(A∪B)  &gt;= P(A) + P(B) – 1</a:t>
            </a:r>
          </a:p>
          <a:p>
            <a:endParaRPr lang="en-US" dirty="0"/>
          </a:p>
          <a:p>
            <a:r>
              <a:rPr lang="en-US" dirty="0"/>
              <a:t>A = smart, B = beautiful</a:t>
            </a:r>
          </a:p>
          <a:p>
            <a:r>
              <a:rPr lang="en-US" dirty="0"/>
              <a:t>If P(A) ~ 0.9, and P(B) ~ 0.9, then P(A &amp; B) &gt;= 0.8</a:t>
            </a:r>
          </a:p>
          <a:p>
            <a:r>
              <a:rPr lang="en-US" dirty="0"/>
              <a:t>If P(A) ~ 0.5, and P(B) ~ 0.5, then P(A &amp; B) &gt;= 0.0</a:t>
            </a:r>
          </a:p>
        </p:txBody>
      </p:sp>
      <p:pic>
        <p:nvPicPr>
          <p:cNvPr id="1060" name="Picture 36">
            <a:extLst>
              <a:ext uri="{FF2B5EF4-FFF2-40B4-BE49-F238E27FC236}">
                <a16:creationId xmlns:a16="http://schemas.microsoft.com/office/drawing/2014/main" id="{3C44B8D3-E273-5A46-9144-D6C869F87247}"/>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310607" y="49778"/>
            <a:ext cx="2032000" cy="31369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147F983F-9CFE-A44E-A7B9-C3CFCB43D9EF}"/>
              </a:ext>
            </a:extLst>
          </p:cNvPr>
          <p:cNvSpPr txBox="1"/>
          <p:nvPr/>
        </p:nvSpPr>
        <p:spPr>
          <a:xfrm>
            <a:off x="9136015" y="3212688"/>
            <a:ext cx="2381184" cy="830997"/>
          </a:xfrm>
          <a:prstGeom prst="rect">
            <a:avLst/>
          </a:prstGeom>
          <a:noFill/>
        </p:spPr>
        <p:txBody>
          <a:bodyPr wrap="square" rtlCol="0">
            <a:spAutoFit/>
          </a:bodyPr>
          <a:lstStyle/>
          <a:p>
            <a:pPr algn="ctr"/>
            <a:r>
              <a:rPr lang="en-US" sz="1600" dirty="0"/>
              <a:t>Carlo Emilio Bonferroni</a:t>
            </a:r>
          </a:p>
          <a:p>
            <a:pPr algn="ctr"/>
            <a:r>
              <a:rPr lang="en-US" sz="1600" dirty="0"/>
              <a:t>1892 – 1960</a:t>
            </a:r>
          </a:p>
          <a:p>
            <a:pPr algn="ctr"/>
            <a:r>
              <a:rPr lang="en-US" sz="1600" dirty="0"/>
              <a:t>Florence, Italy</a:t>
            </a:r>
          </a:p>
        </p:txBody>
      </p:sp>
      <p:sp>
        <p:nvSpPr>
          <p:cNvPr id="19" name="Rectangle 18">
            <a:extLst>
              <a:ext uri="{FF2B5EF4-FFF2-40B4-BE49-F238E27FC236}">
                <a16:creationId xmlns:a16="http://schemas.microsoft.com/office/drawing/2014/main" id="{6119EA38-394B-1149-A5D7-5874CD2165C4}"/>
              </a:ext>
            </a:extLst>
          </p:cNvPr>
          <p:cNvSpPr/>
          <p:nvPr/>
        </p:nvSpPr>
        <p:spPr>
          <a:xfrm>
            <a:off x="6631776" y="1311966"/>
            <a:ext cx="1111216" cy="1235588"/>
          </a:xfrm>
          <a:prstGeom prst="rect">
            <a:avLst/>
          </a:prstGeom>
          <a:pattFill prst="pct70">
            <a:fgClr>
              <a:srgbClr val="00B0F0"/>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D1C1BF-D884-184D-AAB1-7C488C7A3375}"/>
              </a:ext>
            </a:extLst>
          </p:cNvPr>
          <p:cNvSpPr/>
          <p:nvPr/>
        </p:nvSpPr>
        <p:spPr>
          <a:xfrm>
            <a:off x="6630240" y="1056304"/>
            <a:ext cx="1111216"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70794473-3895-2444-8768-069DF41B1E0F}"/>
              </a:ext>
            </a:extLst>
          </p:cNvPr>
          <p:cNvSpPr/>
          <p:nvPr/>
        </p:nvSpPr>
        <p:spPr>
          <a:xfrm>
            <a:off x="6632060" y="2547554"/>
            <a:ext cx="1111216"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993AD7B-BEF4-2545-935A-69018E7C08C7}"/>
              </a:ext>
            </a:extLst>
          </p:cNvPr>
          <p:cNvSpPr txBox="1"/>
          <p:nvPr/>
        </p:nvSpPr>
        <p:spPr>
          <a:xfrm>
            <a:off x="6755917" y="1648679"/>
            <a:ext cx="891048" cy="461665"/>
          </a:xfrm>
          <a:prstGeom prst="rect">
            <a:avLst/>
          </a:prstGeom>
          <a:noFill/>
        </p:spPr>
        <p:txBody>
          <a:bodyPr wrap="square" rtlCol="0">
            <a:spAutoFit/>
          </a:bodyPr>
          <a:lstStyle/>
          <a:p>
            <a:r>
              <a:rPr lang="en-US" sz="2400" b="1" dirty="0"/>
              <a:t>A∩B</a:t>
            </a:r>
          </a:p>
        </p:txBody>
      </p:sp>
      <p:sp>
        <p:nvSpPr>
          <p:cNvPr id="24" name="TextBox 23">
            <a:extLst>
              <a:ext uri="{FF2B5EF4-FFF2-40B4-BE49-F238E27FC236}">
                <a16:creationId xmlns:a16="http://schemas.microsoft.com/office/drawing/2014/main" id="{CB6CAA4B-826F-844E-B3B2-51D85197766B}"/>
              </a:ext>
            </a:extLst>
          </p:cNvPr>
          <p:cNvSpPr txBox="1"/>
          <p:nvPr/>
        </p:nvSpPr>
        <p:spPr>
          <a:xfrm>
            <a:off x="7026486" y="2446517"/>
            <a:ext cx="340743" cy="461665"/>
          </a:xfrm>
          <a:prstGeom prst="rect">
            <a:avLst/>
          </a:prstGeom>
          <a:noFill/>
        </p:spPr>
        <p:txBody>
          <a:bodyPr wrap="square" rtlCol="0">
            <a:spAutoFit/>
          </a:bodyPr>
          <a:lstStyle/>
          <a:p>
            <a:r>
              <a:rPr lang="en-US" sz="2400" b="1" dirty="0"/>
              <a:t>B</a:t>
            </a:r>
          </a:p>
        </p:txBody>
      </p:sp>
      <p:sp>
        <p:nvSpPr>
          <p:cNvPr id="25" name="TextBox 24">
            <a:extLst>
              <a:ext uri="{FF2B5EF4-FFF2-40B4-BE49-F238E27FC236}">
                <a16:creationId xmlns:a16="http://schemas.microsoft.com/office/drawing/2014/main" id="{F59478F9-AB32-0445-AD45-45D8902525F5}"/>
              </a:ext>
            </a:extLst>
          </p:cNvPr>
          <p:cNvSpPr txBox="1"/>
          <p:nvPr/>
        </p:nvSpPr>
        <p:spPr>
          <a:xfrm>
            <a:off x="7016326" y="954577"/>
            <a:ext cx="340743" cy="461665"/>
          </a:xfrm>
          <a:prstGeom prst="rect">
            <a:avLst/>
          </a:prstGeom>
          <a:noFill/>
        </p:spPr>
        <p:txBody>
          <a:bodyPr wrap="square" rtlCol="0">
            <a:spAutoFit/>
          </a:bodyPr>
          <a:lstStyle/>
          <a:p>
            <a:r>
              <a:rPr lang="en-US" sz="2400" b="1" dirty="0"/>
              <a:t>A</a:t>
            </a:r>
          </a:p>
        </p:txBody>
      </p:sp>
      <p:sp>
        <p:nvSpPr>
          <p:cNvPr id="26" name="Rectangle 25">
            <a:extLst>
              <a:ext uri="{FF2B5EF4-FFF2-40B4-BE49-F238E27FC236}">
                <a16:creationId xmlns:a16="http://schemas.microsoft.com/office/drawing/2014/main" id="{6EAE7B57-E2D0-3140-9D83-18EB2EBD24F5}"/>
              </a:ext>
            </a:extLst>
          </p:cNvPr>
          <p:cNvSpPr/>
          <p:nvPr/>
        </p:nvSpPr>
        <p:spPr>
          <a:xfrm>
            <a:off x="4588603" y="1308617"/>
            <a:ext cx="1744290" cy="1235588"/>
          </a:xfrm>
          <a:prstGeom prst="rect">
            <a:avLst/>
          </a:prstGeom>
          <a:pattFill prst="pct70">
            <a:fgClr>
              <a:srgbClr val="00B0F0"/>
            </a:fgClr>
            <a:bgClr>
              <a:schemeClr val="bg1"/>
            </a:bgClr>
          </a:patt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21054823-EB2E-0842-8E00-3AD88F5A1450}"/>
              </a:ext>
            </a:extLst>
          </p:cNvPr>
          <p:cNvSpPr/>
          <p:nvPr/>
        </p:nvSpPr>
        <p:spPr>
          <a:xfrm>
            <a:off x="4587067" y="1052955"/>
            <a:ext cx="1744290"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9B47906-0491-E848-AB4F-B39CED1F7B2C}"/>
              </a:ext>
            </a:extLst>
          </p:cNvPr>
          <p:cNvSpPr/>
          <p:nvPr/>
        </p:nvSpPr>
        <p:spPr>
          <a:xfrm>
            <a:off x="4588887" y="2544205"/>
            <a:ext cx="1744290" cy="255662"/>
          </a:xfrm>
          <a:prstGeom prst="rect">
            <a:avLst/>
          </a:prstGeom>
          <a:pattFill prst="pct5">
            <a:fgClr>
              <a:schemeClr val="accent1"/>
            </a:fgClr>
            <a:bgClr>
              <a:schemeClr val="bg1"/>
            </a:bgClr>
          </a:patt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B06F8336-A5A2-6543-B55F-745D62CE5E83}"/>
              </a:ext>
            </a:extLst>
          </p:cNvPr>
          <p:cNvSpPr txBox="1"/>
          <p:nvPr/>
        </p:nvSpPr>
        <p:spPr>
          <a:xfrm>
            <a:off x="5013688" y="1645330"/>
            <a:ext cx="891048" cy="461665"/>
          </a:xfrm>
          <a:prstGeom prst="rect">
            <a:avLst/>
          </a:prstGeom>
          <a:noFill/>
        </p:spPr>
        <p:txBody>
          <a:bodyPr wrap="square" rtlCol="0">
            <a:spAutoFit/>
          </a:bodyPr>
          <a:lstStyle/>
          <a:p>
            <a:r>
              <a:rPr lang="en-US" sz="2400" b="1" dirty="0"/>
              <a:t>A∩B</a:t>
            </a:r>
          </a:p>
        </p:txBody>
      </p:sp>
      <p:sp>
        <p:nvSpPr>
          <p:cNvPr id="30" name="TextBox 29">
            <a:extLst>
              <a:ext uri="{FF2B5EF4-FFF2-40B4-BE49-F238E27FC236}">
                <a16:creationId xmlns:a16="http://schemas.microsoft.com/office/drawing/2014/main" id="{B6B312BC-AA97-A949-B869-DE72630F5310}"/>
              </a:ext>
            </a:extLst>
          </p:cNvPr>
          <p:cNvSpPr txBox="1"/>
          <p:nvPr/>
        </p:nvSpPr>
        <p:spPr>
          <a:xfrm>
            <a:off x="5284257" y="2443168"/>
            <a:ext cx="340743" cy="461665"/>
          </a:xfrm>
          <a:prstGeom prst="rect">
            <a:avLst/>
          </a:prstGeom>
          <a:noFill/>
        </p:spPr>
        <p:txBody>
          <a:bodyPr wrap="square" rtlCol="0">
            <a:spAutoFit/>
          </a:bodyPr>
          <a:lstStyle/>
          <a:p>
            <a:r>
              <a:rPr lang="en-US" sz="2400" b="1" dirty="0"/>
              <a:t>B</a:t>
            </a:r>
          </a:p>
        </p:txBody>
      </p:sp>
      <p:sp>
        <p:nvSpPr>
          <p:cNvPr id="31" name="TextBox 30">
            <a:extLst>
              <a:ext uri="{FF2B5EF4-FFF2-40B4-BE49-F238E27FC236}">
                <a16:creationId xmlns:a16="http://schemas.microsoft.com/office/drawing/2014/main" id="{6B667B8B-30DD-9444-BFC2-9A8B64F907CF}"/>
              </a:ext>
            </a:extLst>
          </p:cNvPr>
          <p:cNvSpPr txBox="1"/>
          <p:nvPr/>
        </p:nvSpPr>
        <p:spPr>
          <a:xfrm>
            <a:off x="5274097" y="951228"/>
            <a:ext cx="340743" cy="461665"/>
          </a:xfrm>
          <a:prstGeom prst="rect">
            <a:avLst/>
          </a:prstGeom>
          <a:noFill/>
        </p:spPr>
        <p:txBody>
          <a:bodyPr wrap="square" rtlCol="0">
            <a:spAutoFit/>
          </a:bodyPr>
          <a:lstStyle/>
          <a:p>
            <a:r>
              <a:rPr lang="en-US" sz="2400" b="1" dirty="0"/>
              <a:t>A</a:t>
            </a:r>
          </a:p>
        </p:txBody>
      </p:sp>
      <p:sp>
        <p:nvSpPr>
          <p:cNvPr id="32" name="Rectangle 31">
            <a:extLst>
              <a:ext uri="{FF2B5EF4-FFF2-40B4-BE49-F238E27FC236}">
                <a16:creationId xmlns:a16="http://schemas.microsoft.com/office/drawing/2014/main" id="{284D3EC6-34A6-1049-94C3-144A2434F4C3}"/>
              </a:ext>
            </a:extLst>
          </p:cNvPr>
          <p:cNvSpPr/>
          <p:nvPr/>
        </p:nvSpPr>
        <p:spPr>
          <a:xfrm>
            <a:off x="7751496" y="1053026"/>
            <a:ext cx="880188" cy="1746842"/>
          </a:xfrm>
          <a:prstGeom prst="rect">
            <a:avLst/>
          </a:prstGeom>
          <a:noFill/>
          <a:ln w="50800">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7941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538024" y="615729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spTree>
    <p:extLst>
      <p:ext uri="{BB962C8B-B14F-4D97-AF65-F5344CB8AC3E}">
        <p14:creationId xmlns:p14="http://schemas.microsoft.com/office/powerpoint/2010/main" val="333321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5F268-965F-C142-A102-83C02389B555}"/>
              </a:ext>
            </a:extLst>
          </p:cNvPr>
          <p:cNvSpPr txBox="1"/>
          <p:nvPr/>
        </p:nvSpPr>
        <p:spPr>
          <a:xfrm>
            <a:off x="84912" y="85118"/>
            <a:ext cx="5906814" cy="6771084"/>
          </a:xfrm>
          <a:prstGeom prst="rect">
            <a:avLst/>
          </a:prstGeom>
          <a:noFill/>
        </p:spPr>
        <p:txBody>
          <a:bodyPr wrap="square" rtlCol="0">
            <a:spAutoFit/>
          </a:bodyPr>
          <a:lstStyle/>
          <a:p>
            <a:r>
              <a:rPr lang="en-US" sz="1800" b="1" dirty="0"/>
              <a:t>Random Variable. Probability Distribution</a:t>
            </a:r>
          </a:p>
          <a:p>
            <a:br>
              <a:rPr lang="en-US" dirty="0"/>
            </a:br>
            <a:r>
              <a:rPr lang="en-US" b="1" dirty="0">
                <a:solidFill>
                  <a:srgbClr val="0070C0"/>
                </a:solidFill>
              </a:rPr>
              <a:t>Random variable </a:t>
            </a:r>
            <a:r>
              <a:rPr lang="en-US" dirty="0"/>
              <a:t>is a numerical variable taking different values.</a:t>
            </a:r>
          </a:p>
          <a:p>
            <a:r>
              <a:rPr lang="en-US" dirty="0"/>
              <a:t>Values may be </a:t>
            </a:r>
            <a:r>
              <a:rPr lang="en-US" b="1" dirty="0">
                <a:solidFill>
                  <a:srgbClr val="0070C0"/>
                </a:solidFill>
              </a:rPr>
              <a:t>discrete or continuous</a:t>
            </a:r>
            <a:r>
              <a:rPr lang="en-US" dirty="0"/>
              <a:t>.</a:t>
            </a:r>
          </a:p>
          <a:p>
            <a:endParaRPr lang="en-US" dirty="0"/>
          </a:p>
          <a:p>
            <a:r>
              <a:rPr lang="en-US" dirty="0"/>
              <a:t>For example, think of variable “x” which may have any real value between -10 and +10.</a:t>
            </a:r>
          </a:p>
          <a:p>
            <a:endParaRPr lang="en-US" dirty="0"/>
          </a:p>
          <a:p>
            <a:r>
              <a:rPr lang="en-US" dirty="0"/>
              <a:t>Or think of a variable “z” which can have discrete values 0,0.1,0.2, … 0.9, 1.0</a:t>
            </a:r>
          </a:p>
          <a:p>
            <a:endParaRPr lang="en-US" dirty="0"/>
          </a:p>
          <a:p>
            <a:r>
              <a:rPr lang="en-US" sz="2400" b="1" dirty="0">
                <a:solidFill>
                  <a:srgbClr val="FF0000"/>
                </a:solidFill>
              </a:rPr>
              <a:t>Discrete Case</a:t>
            </a:r>
          </a:p>
          <a:p>
            <a:r>
              <a:rPr lang="en-US" b="1" dirty="0">
                <a:solidFill>
                  <a:srgbClr val="0070C0"/>
                </a:solidFill>
              </a:rPr>
              <a:t>Probability function </a:t>
            </a:r>
            <a:r>
              <a:rPr lang="en-US" dirty="0"/>
              <a:t>P(x) of a discrete random variable “x” </a:t>
            </a:r>
          </a:p>
          <a:p>
            <a:r>
              <a:rPr lang="en-US" dirty="0"/>
              <a:t>is simply a function which gives probability of discrete values.</a:t>
            </a:r>
          </a:p>
          <a:p>
            <a:endParaRPr lang="en-US" dirty="0"/>
          </a:p>
          <a:p>
            <a:r>
              <a:rPr lang="en-US" dirty="0"/>
              <a:t>For example, if the random variable “x” may have two values: ( 0 or 1 ),</a:t>
            </a:r>
          </a:p>
          <a:p>
            <a:r>
              <a:rPr lang="en-US" dirty="0"/>
              <a:t>and if probabilities of those values are equal, then</a:t>
            </a:r>
          </a:p>
          <a:p>
            <a:endParaRPr lang="en-US" dirty="0"/>
          </a:p>
          <a:p>
            <a:r>
              <a:rPr lang="en-US" dirty="0"/>
              <a:t>P(0) = 0.5, f(1) = 0.5.</a:t>
            </a:r>
          </a:p>
          <a:p>
            <a:endParaRPr lang="en-US" dirty="0"/>
          </a:p>
          <a:p>
            <a:r>
              <a:rPr lang="en-US" dirty="0"/>
              <a:t>The sum of individual probabilities for all possible values should be 1.</a:t>
            </a:r>
          </a:p>
          <a:p>
            <a:endParaRPr lang="en-US" dirty="0"/>
          </a:p>
          <a:p>
            <a:r>
              <a:rPr lang="en-US" b="1" dirty="0">
                <a:solidFill>
                  <a:srgbClr val="0070C0"/>
                </a:solidFill>
              </a:rPr>
              <a:t>Expected value </a:t>
            </a:r>
            <a:r>
              <a:rPr lang="en-US" dirty="0"/>
              <a:t>is an weighted average of all values.</a:t>
            </a:r>
          </a:p>
          <a:p>
            <a:endParaRPr lang="en-US" dirty="0"/>
          </a:p>
          <a:p>
            <a:r>
              <a:rPr lang="en-US" dirty="0"/>
              <a:t>E(x) = sum(Xi*P(Xi)), where Xi goes through all allowed values of X.</a:t>
            </a:r>
          </a:p>
          <a:p>
            <a:endParaRPr lang="en-US" dirty="0"/>
          </a:p>
          <a:p>
            <a:r>
              <a:rPr lang="en-US" b="1" dirty="0">
                <a:solidFill>
                  <a:srgbClr val="0070C0"/>
                </a:solidFill>
              </a:rPr>
              <a:t>Variance = sigma squared </a:t>
            </a:r>
            <a:r>
              <a:rPr lang="en-US" dirty="0"/>
              <a:t>= sum( (Xi-E(x))**2 * P(Xi) )</a:t>
            </a:r>
          </a:p>
          <a:p>
            <a:endParaRPr lang="en-US" dirty="0"/>
          </a:p>
          <a:p>
            <a:r>
              <a:rPr lang="en-US" b="1" dirty="0">
                <a:solidFill>
                  <a:srgbClr val="0070C0"/>
                </a:solidFill>
              </a:rPr>
              <a:t>Standard Deviation </a:t>
            </a:r>
            <a:r>
              <a:rPr lang="en-US" dirty="0"/>
              <a:t>= sqrt(sigma squared)</a:t>
            </a:r>
          </a:p>
        </p:txBody>
      </p:sp>
      <p:sp>
        <p:nvSpPr>
          <p:cNvPr id="5" name="TextBox 4">
            <a:extLst>
              <a:ext uri="{FF2B5EF4-FFF2-40B4-BE49-F238E27FC236}">
                <a16:creationId xmlns:a16="http://schemas.microsoft.com/office/drawing/2014/main" id="{E72EEA3B-9D50-A145-B8FE-B6686486D979}"/>
              </a:ext>
            </a:extLst>
          </p:cNvPr>
          <p:cNvSpPr txBox="1"/>
          <p:nvPr/>
        </p:nvSpPr>
        <p:spPr>
          <a:xfrm>
            <a:off x="5991726" y="178676"/>
            <a:ext cx="6200274" cy="6494085"/>
          </a:xfrm>
          <a:prstGeom prst="rect">
            <a:avLst/>
          </a:prstGeom>
          <a:noFill/>
        </p:spPr>
        <p:txBody>
          <a:bodyPr wrap="square" rtlCol="0">
            <a:spAutoFit/>
          </a:bodyPr>
          <a:lstStyle/>
          <a:p>
            <a:r>
              <a:rPr lang="en-US" dirty="0"/>
              <a:t>Probability Density Function (PDF)  </a:t>
            </a:r>
          </a:p>
          <a:p>
            <a:r>
              <a:rPr lang="en-US" dirty="0"/>
              <a:t>vs.  Cumulative Probability Function ( CPF)</a:t>
            </a:r>
          </a:p>
          <a:p>
            <a:endParaRPr lang="en-US" dirty="0"/>
          </a:p>
          <a:p>
            <a:r>
              <a:rPr lang="en-US" sz="2400" b="1" dirty="0">
                <a:solidFill>
                  <a:srgbClr val="FF0000"/>
                </a:solidFill>
              </a:rPr>
              <a:t>Continuous Case</a:t>
            </a:r>
          </a:p>
          <a:p>
            <a:endParaRPr lang="en-US" dirty="0"/>
          </a:p>
          <a:p>
            <a:r>
              <a:rPr lang="en-US" b="1" dirty="0">
                <a:solidFill>
                  <a:srgbClr val="0070C0"/>
                </a:solidFill>
              </a:rPr>
              <a:t>Probability Density Function (PDF)</a:t>
            </a:r>
            <a:r>
              <a:rPr lang="en-US" dirty="0"/>
              <a:t> f(x) is a continuous function.</a:t>
            </a:r>
          </a:p>
          <a:p>
            <a:endParaRPr lang="en-US" dirty="0"/>
          </a:p>
          <a:p>
            <a:r>
              <a:rPr lang="en-US" dirty="0"/>
              <a:t>f(x)*dx gives probability that value is between x and </a:t>
            </a:r>
            <a:r>
              <a:rPr lang="en-US" dirty="0" err="1"/>
              <a:t>x+dx</a:t>
            </a:r>
            <a:r>
              <a:rPr lang="en-US" dirty="0"/>
              <a:t>.</a:t>
            </a:r>
          </a:p>
          <a:p>
            <a:endParaRPr lang="en-US" dirty="0"/>
          </a:p>
          <a:p>
            <a:r>
              <a:rPr lang="en-US" dirty="0"/>
              <a:t>The total integral of f(x)*dx should be equal to 1.</a:t>
            </a:r>
          </a:p>
          <a:p>
            <a:endParaRPr lang="en-US" dirty="0"/>
          </a:p>
          <a:p>
            <a:r>
              <a:rPr lang="en-US" b="1" dirty="0">
                <a:solidFill>
                  <a:srgbClr val="0070C0"/>
                </a:solidFill>
              </a:rPr>
              <a:t>Cumulative Probability Function (CPF)</a:t>
            </a:r>
          </a:p>
          <a:p>
            <a:r>
              <a:rPr lang="en-US" dirty="0"/>
              <a:t>This is simply a function F(x) which gives probability that value is less than x.</a:t>
            </a:r>
          </a:p>
          <a:p>
            <a:r>
              <a:rPr lang="en-US" dirty="0"/>
              <a:t>It monotonously grows from 0 to 1 as x grows (from small to large values).</a:t>
            </a:r>
          </a:p>
          <a:p>
            <a:endParaRPr lang="en-US" dirty="0"/>
          </a:p>
          <a:p>
            <a:endParaRPr lang="en-US" dirty="0"/>
          </a:p>
          <a:p>
            <a:r>
              <a:rPr lang="en-US" b="1" dirty="0">
                <a:solidFill>
                  <a:srgbClr val="0070C0"/>
                </a:solidFill>
              </a:rPr>
              <a:t>The PDF is a first derivative of CPF.</a:t>
            </a:r>
          </a:p>
          <a:p>
            <a:endParaRPr lang="en-US" dirty="0"/>
          </a:p>
          <a:p>
            <a:r>
              <a:rPr lang="en-US" dirty="0"/>
              <a:t>CPF(</a:t>
            </a:r>
            <a:r>
              <a:rPr lang="en-US" dirty="0" err="1"/>
              <a:t>x+dx</a:t>
            </a:r>
            <a:r>
              <a:rPr lang="en-US" dirty="0"/>
              <a:t>) – CPF(x) = = [Prob. of value &lt; (</a:t>
            </a:r>
            <a:r>
              <a:rPr lang="en-US" dirty="0" err="1"/>
              <a:t>x+dx</a:t>
            </a:r>
            <a:r>
              <a:rPr lang="en-US" dirty="0"/>
              <a:t>)] – [Prob. of value &lt; x] = f(x)*dx</a:t>
            </a:r>
          </a:p>
          <a:p>
            <a:endParaRPr lang="en-US" dirty="0"/>
          </a:p>
          <a:p>
            <a:r>
              <a:rPr lang="en-US" b="1" dirty="0">
                <a:solidFill>
                  <a:srgbClr val="0070C0"/>
                </a:solidFill>
              </a:rPr>
              <a:t>Mean value = Expected value</a:t>
            </a:r>
          </a:p>
          <a:p>
            <a:endParaRPr lang="en-US" dirty="0"/>
          </a:p>
          <a:p>
            <a:r>
              <a:rPr lang="en-US" dirty="0"/>
              <a:t>For discrete case we had:</a:t>
            </a:r>
          </a:p>
          <a:p>
            <a:r>
              <a:rPr lang="en-US" dirty="0"/>
              <a:t>E(x) = sum(Xi*P(Xi))</a:t>
            </a:r>
          </a:p>
          <a:p>
            <a:endParaRPr lang="en-US" dirty="0"/>
          </a:p>
          <a:p>
            <a:r>
              <a:rPr lang="en-US" dirty="0"/>
              <a:t>For continuous case this translates into</a:t>
            </a:r>
          </a:p>
          <a:p>
            <a:r>
              <a:rPr lang="en-US" dirty="0"/>
              <a:t>E(x) = Integral(</a:t>
            </a:r>
            <a:r>
              <a:rPr lang="en-US" dirty="0" err="1"/>
              <a:t>xF</a:t>
            </a:r>
            <a:r>
              <a:rPr lang="en-US" dirty="0"/>
              <a:t>(x)dx)</a:t>
            </a:r>
          </a:p>
        </p:txBody>
      </p:sp>
    </p:spTree>
    <p:extLst>
      <p:ext uri="{BB962C8B-B14F-4D97-AF65-F5344CB8AC3E}">
        <p14:creationId xmlns:p14="http://schemas.microsoft.com/office/powerpoint/2010/main" val="224943279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2910</TotalTime>
  <Words>2288</Words>
  <Application>Microsoft Macintosh PowerPoint</Application>
  <PresentationFormat>Widescreen</PresentationFormat>
  <Paragraphs>287</Paragraphs>
  <Slides>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Cambria Math</vt:lpstr>
      <vt:lpstr>Menlo</vt:lpstr>
      <vt:lpstr>Monaco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288</cp:revision>
  <cp:lastPrinted>2021-01-18T18:48:20Z</cp:lastPrinted>
  <dcterms:modified xsi:type="dcterms:W3CDTF">2021-05-02T19:15:05Z</dcterms:modified>
</cp:coreProperties>
</file>